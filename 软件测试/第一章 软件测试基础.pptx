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tags/tag17.xml" ContentType="application/vnd.openxmlformats-officedocument.presentationml.tags+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tags/tag18.xml" ContentType="application/vnd.openxmlformats-officedocument.presentationml.tags+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tags/tag19.xml" ContentType="application/vnd.openxmlformats-officedocument.presentationml.tags+xml"/>
  <Override PartName="/ppt/notesSlides/notesSlide80.xml" ContentType="application/vnd.openxmlformats-officedocument.presentationml.notesSlide+xml"/>
  <Override PartName="/ppt/tags/tag20.xml" ContentType="application/vnd.openxmlformats-officedocument.presentationml.tags+xml"/>
  <Override PartName="/ppt/notesSlides/notesSlide81.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1"/>
  </p:notesMasterIdLst>
  <p:handoutMasterIdLst>
    <p:handoutMasterId r:id="rId92"/>
  </p:handoutMasterIdLst>
  <p:sldIdLst>
    <p:sldId id="317" r:id="rId2"/>
    <p:sldId id="1182" r:id="rId3"/>
    <p:sldId id="325" r:id="rId4"/>
    <p:sldId id="328" r:id="rId5"/>
    <p:sldId id="926" r:id="rId6"/>
    <p:sldId id="927" r:id="rId7"/>
    <p:sldId id="942" r:id="rId8"/>
    <p:sldId id="929" r:id="rId9"/>
    <p:sldId id="1169" r:id="rId10"/>
    <p:sldId id="931" r:id="rId11"/>
    <p:sldId id="1170" r:id="rId12"/>
    <p:sldId id="932" r:id="rId13"/>
    <p:sldId id="934" r:id="rId14"/>
    <p:sldId id="933" r:id="rId15"/>
    <p:sldId id="936" r:id="rId16"/>
    <p:sldId id="937" r:id="rId17"/>
    <p:sldId id="938" r:id="rId18"/>
    <p:sldId id="940" r:id="rId19"/>
    <p:sldId id="1171" r:id="rId20"/>
    <p:sldId id="1175" r:id="rId21"/>
    <p:sldId id="1174" r:id="rId22"/>
    <p:sldId id="1173" r:id="rId23"/>
    <p:sldId id="944" r:id="rId24"/>
    <p:sldId id="945" r:id="rId25"/>
    <p:sldId id="946" r:id="rId26"/>
    <p:sldId id="949" r:id="rId27"/>
    <p:sldId id="950" r:id="rId28"/>
    <p:sldId id="952" r:id="rId29"/>
    <p:sldId id="1180" r:id="rId30"/>
    <p:sldId id="954" r:id="rId31"/>
    <p:sldId id="955" r:id="rId32"/>
    <p:sldId id="956" r:id="rId33"/>
    <p:sldId id="958" r:id="rId34"/>
    <p:sldId id="959" r:id="rId35"/>
    <p:sldId id="960" r:id="rId36"/>
    <p:sldId id="961" r:id="rId37"/>
    <p:sldId id="962" r:id="rId38"/>
    <p:sldId id="963" r:id="rId39"/>
    <p:sldId id="964" r:id="rId40"/>
    <p:sldId id="1176" r:id="rId41"/>
    <p:sldId id="965" r:id="rId42"/>
    <p:sldId id="966" r:id="rId43"/>
    <p:sldId id="1177" r:id="rId44"/>
    <p:sldId id="967" r:id="rId45"/>
    <p:sldId id="1179" r:id="rId46"/>
    <p:sldId id="1178" r:id="rId47"/>
    <p:sldId id="968" r:id="rId48"/>
    <p:sldId id="969" r:id="rId49"/>
    <p:sldId id="970" r:id="rId50"/>
    <p:sldId id="971" r:id="rId51"/>
    <p:sldId id="1184" r:id="rId52"/>
    <p:sldId id="973" r:id="rId53"/>
    <p:sldId id="976" r:id="rId54"/>
    <p:sldId id="972" r:id="rId55"/>
    <p:sldId id="980" r:id="rId56"/>
    <p:sldId id="947" r:id="rId57"/>
    <p:sldId id="948" r:id="rId58"/>
    <p:sldId id="981" r:id="rId59"/>
    <p:sldId id="986" r:id="rId60"/>
    <p:sldId id="987" r:id="rId61"/>
    <p:sldId id="988" r:id="rId62"/>
    <p:sldId id="989" r:id="rId63"/>
    <p:sldId id="990" r:id="rId64"/>
    <p:sldId id="991" r:id="rId65"/>
    <p:sldId id="992" r:id="rId66"/>
    <p:sldId id="993" r:id="rId67"/>
    <p:sldId id="994" r:id="rId68"/>
    <p:sldId id="1181" r:id="rId69"/>
    <p:sldId id="995" r:id="rId70"/>
    <p:sldId id="996" r:id="rId71"/>
    <p:sldId id="997" r:id="rId72"/>
    <p:sldId id="998" r:id="rId73"/>
    <p:sldId id="999" r:id="rId74"/>
    <p:sldId id="1000" r:id="rId75"/>
    <p:sldId id="1001" r:id="rId76"/>
    <p:sldId id="1002" r:id="rId77"/>
    <p:sldId id="1157" r:id="rId78"/>
    <p:sldId id="1158" r:id="rId79"/>
    <p:sldId id="1159" r:id="rId80"/>
    <p:sldId id="1161" r:id="rId81"/>
    <p:sldId id="1162" r:id="rId82"/>
    <p:sldId id="1163" r:id="rId83"/>
    <p:sldId id="1164" r:id="rId84"/>
    <p:sldId id="1165" r:id="rId85"/>
    <p:sldId id="1166" r:id="rId86"/>
    <p:sldId id="1167" r:id="rId87"/>
    <p:sldId id="1168" r:id="rId88"/>
    <p:sldId id="338" r:id="rId89"/>
    <p:sldId id="326" r:id="rId90"/>
  </p:sldIdLst>
  <p:sldSz cx="12190413" cy="6859588"/>
  <p:notesSz cx="6858000" cy="9144000"/>
  <p:custDataLst>
    <p:tags r:id="rId93"/>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4" userDrawn="1">
          <p15:clr>
            <a:srgbClr val="A4A3A4"/>
          </p15:clr>
        </p15:guide>
        <p15:guide id="2" pos="619" userDrawn="1">
          <p15:clr>
            <a:srgbClr val="A4A3A4"/>
          </p15:clr>
        </p15:guide>
        <p15:guide id="3" pos="7252" userDrawn="1">
          <p15:clr>
            <a:srgbClr val="A4A3A4"/>
          </p15:clr>
        </p15:guide>
      </p15:sldGuideLst>
    </p:ext>
    <p:ext uri="{2D200454-40CA-4A62-9FC3-DE9A4176ACB9}">
      <p15:notesGuideLst xmlns:p15="http://schemas.microsoft.com/office/powerpoint/2012/main">
        <p15:guide id="1" orient="horz" pos="3031">
          <p15:clr>
            <a:srgbClr val="A4A3A4"/>
          </p15:clr>
        </p15:guide>
        <p15:guide id="2" pos="221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孟方思" initials="mfs" lastIdx="1" clrIdx="0"/>
  <p:cmAuthor id="2" name="LD" initials="L" lastIdx="2" clrIdx="1"/>
  <p:cmAuthor id="3" name="Lv0593" initials="L" lastIdx="15" clrIdx="2"/>
  <p:cmAuthor id="4" name="Administrator" initials="A"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DA2"/>
    <a:srgbClr val="FF0000"/>
    <a:srgbClr val="006BBC"/>
    <a:srgbClr val="0075CC"/>
    <a:srgbClr val="008DF6"/>
    <a:srgbClr val="595959"/>
    <a:srgbClr val="1369B2"/>
    <a:srgbClr val="FAFAFA"/>
    <a:srgbClr val="F2F2F2"/>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42" autoAdjust="0"/>
    <p:restoredTop sz="94590" autoAdjust="0"/>
  </p:normalViewPr>
  <p:slideViewPr>
    <p:cSldViewPr showGuides="1">
      <p:cViewPr varScale="1">
        <p:scale>
          <a:sx n="115" d="100"/>
          <a:sy n="115" d="100"/>
        </p:scale>
        <p:origin x="514" y="86"/>
      </p:cViewPr>
      <p:guideLst>
        <p:guide orient="horz" pos="2274"/>
        <p:guide pos="619"/>
        <p:guide pos="7252"/>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2" d="100"/>
          <a:sy n="62" d="100"/>
        </p:scale>
        <p:origin x="2995" y="72"/>
      </p:cViewPr>
      <p:guideLst>
        <p:guide orient="horz" pos="3031"/>
        <p:guide pos="2216"/>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tags" Target="tags/tag1.xml"/><Relationship Id="rId9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2025/12/14</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2025/12/14</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A2D5C65-1371-46B2-A6CD-B4E439536BB5}" type="slidenum">
              <a:rPr lang="zh-CN" altLang="en-US" smtClean="0"/>
              <a:t>1</a:t>
            </a:fld>
            <a:endParaRPr lang="zh-CN" altLang="en-US"/>
          </a:p>
        </p:txBody>
      </p:sp>
    </p:spTree>
    <p:extLst>
      <p:ext uri="{BB962C8B-B14F-4D97-AF65-F5344CB8AC3E}">
        <p14:creationId xmlns:p14="http://schemas.microsoft.com/office/powerpoint/2010/main" val="1173000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2B553-7FC4-D48C-FF97-94C05D47323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68A7D7A-C52F-279C-359A-7AF3B99699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41B50D-7C42-FAAF-4DB5-8EEAE9BD027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8F81421-8176-9C6C-82D6-79EF6BD0D248}"/>
              </a:ext>
            </a:extLst>
          </p:cNvPr>
          <p:cNvSpPr>
            <a:spLocks noGrp="1"/>
          </p:cNvSpPr>
          <p:nvPr>
            <p:ph type="sldNum" sz="quarter" idx="5"/>
          </p:nvPr>
        </p:nvSpPr>
        <p:spPr/>
        <p:txBody>
          <a:bodyPr/>
          <a:lstStyle/>
          <a:p>
            <a:fld id="{4A2D5C65-1371-46B2-A6CD-B4E439536BB5}" type="slidenum">
              <a:rPr lang="zh-CN" altLang="en-US" smtClean="0"/>
              <a:t>2</a:t>
            </a:fld>
            <a:endParaRPr lang="zh-CN" altLang="en-US"/>
          </a:p>
        </p:txBody>
      </p:sp>
    </p:spTree>
    <p:extLst>
      <p:ext uri="{BB962C8B-B14F-4D97-AF65-F5344CB8AC3E}">
        <p14:creationId xmlns:p14="http://schemas.microsoft.com/office/powerpoint/2010/main" val="18544109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2A747-07C9-641F-503F-E2B8EC6AF1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B853763-AB36-D143-7E2D-1AD3D57ABCA3}"/>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D948D5E4-EEB6-343E-478C-37DE32BD9A9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1D7DB18-F09D-CE78-3C7C-25E0E53DCD3A}"/>
              </a:ext>
            </a:extLst>
          </p:cNvPr>
          <p:cNvSpPr>
            <a:spLocks noGrp="1"/>
          </p:cNvSpPr>
          <p:nvPr>
            <p:ph type="sldNum" sz="quarter" idx="10"/>
          </p:nvPr>
        </p:nvSpPr>
        <p:spPr/>
        <p:txBody>
          <a:bodyPr/>
          <a:lstStyle/>
          <a:p>
            <a:fld id="{7392B679-AE23-4750-8FB0-6513430B8953}" type="slidenum">
              <a:rPr lang="zh-CN" altLang="en-US" smtClean="0"/>
              <a:t>9</a:t>
            </a:fld>
            <a:endParaRPr lang="zh-CN" altLang="en-US"/>
          </a:p>
        </p:txBody>
      </p:sp>
    </p:spTree>
    <p:extLst>
      <p:ext uri="{BB962C8B-B14F-4D97-AF65-F5344CB8AC3E}">
        <p14:creationId xmlns:p14="http://schemas.microsoft.com/office/powerpoint/2010/main" val="365848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67966-8550-67F5-1BDC-8C9C1B4EEF9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D4F65F-2B78-6BE4-5A2B-8A03AD8AF9E8}"/>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F3538F8F-9ADE-F5B8-F20D-46233314DB5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8B8B31A-CB36-7948-B4C3-463529079F26}"/>
              </a:ext>
            </a:extLst>
          </p:cNvPr>
          <p:cNvSpPr>
            <a:spLocks noGrp="1"/>
          </p:cNvSpPr>
          <p:nvPr>
            <p:ph type="sldNum" sz="quarter" idx="10"/>
          </p:nvPr>
        </p:nvSpPr>
        <p:spPr/>
        <p:txBody>
          <a:bodyPr/>
          <a:lstStyle/>
          <a:p>
            <a:fld id="{7392B679-AE23-4750-8FB0-6513430B8953}" type="slidenum">
              <a:rPr lang="zh-CN" altLang="en-US" smtClean="0"/>
              <a:t>11</a:t>
            </a:fld>
            <a:endParaRPr lang="zh-CN" altLang="en-US"/>
          </a:p>
        </p:txBody>
      </p:sp>
    </p:spTree>
    <p:extLst>
      <p:ext uri="{BB962C8B-B14F-4D97-AF65-F5344CB8AC3E}">
        <p14:creationId xmlns:p14="http://schemas.microsoft.com/office/powerpoint/2010/main" val="28975741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BFECC-220A-0497-3187-966E01DE2E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B860ADB-BAC7-420D-0593-6742D458ADE3}"/>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770B06DB-8EC0-22AB-7433-5CB1B08C170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C921853-8E90-F17D-C737-64C8772346FA}"/>
              </a:ext>
            </a:extLst>
          </p:cNvPr>
          <p:cNvSpPr>
            <a:spLocks noGrp="1"/>
          </p:cNvSpPr>
          <p:nvPr>
            <p:ph type="sldNum" sz="quarter" idx="10"/>
          </p:nvPr>
        </p:nvSpPr>
        <p:spPr/>
        <p:txBody>
          <a:bodyPr/>
          <a:lstStyle/>
          <a:p>
            <a:fld id="{7392B679-AE23-4750-8FB0-6513430B8953}" type="slidenum">
              <a:rPr lang="zh-CN" altLang="en-US" smtClean="0"/>
              <a:t>19</a:t>
            </a:fld>
            <a:endParaRPr lang="zh-CN" altLang="en-US"/>
          </a:p>
        </p:txBody>
      </p:sp>
    </p:spTree>
    <p:extLst>
      <p:ext uri="{BB962C8B-B14F-4D97-AF65-F5344CB8AC3E}">
        <p14:creationId xmlns:p14="http://schemas.microsoft.com/office/powerpoint/2010/main" val="13830852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FC852-A85C-9BC0-35CE-8EB51FC4DA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90D5A78-59CC-B7CE-0769-087404BAC133}"/>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53379342-55F8-BEF7-9F60-22F2C1C5338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30FA7B5-A043-6A79-7E98-1FF419045589}"/>
              </a:ext>
            </a:extLst>
          </p:cNvPr>
          <p:cNvSpPr>
            <a:spLocks noGrp="1"/>
          </p:cNvSpPr>
          <p:nvPr>
            <p:ph type="sldNum" sz="quarter" idx="10"/>
          </p:nvPr>
        </p:nvSpPr>
        <p:spPr/>
        <p:txBody>
          <a:bodyPr/>
          <a:lstStyle/>
          <a:p>
            <a:fld id="{7392B679-AE23-4750-8FB0-6513430B8953}" type="slidenum">
              <a:rPr lang="zh-CN" altLang="en-US" smtClean="0"/>
              <a:t>20</a:t>
            </a:fld>
            <a:endParaRPr lang="zh-CN" altLang="en-US"/>
          </a:p>
        </p:txBody>
      </p:sp>
    </p:spTree>
    <p:extLst>
      <p:ext uri="{BB962C8B-B14F-4D97-AF65-F5344CB8AC3E}">
        <p14:creationId xmlns:p14="http://schemas.microsoft.com/office/powerpoint/2010/main" val="15339685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75F7F-8BE1-4C79-6EBE-5B22939821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AB7D20-BDE2-BB0E-CEFD-6AEB450C7AAC}"/>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0E696BFB-EF0D-0329-F7E3-4C7CF9AA231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407A10B-76E9-BEE3-B91F-D08C59DEEFF9}"/>
              </a:ext>
            </a:extLst>
          </p:cNvPr>
          <p:cNvSpPr>
            <a:spLocks noGrp="1"/>
          </p:cNvSpPr>
          <p:nvPr>
            <p:ph type="sldNum" sz="quarter" idx="10"/>
          </p:nvPr>
        </p:nvSpPr>
        <p:spPr/>
        <p:txBody>
          <a:bodyPr/>
          <a:lstStyle/>
          <a:p>
            <a:fld id="{7392B679-AE23-4750-8FB0-6513430B8953}" type="slidenum">
              <a:rPr lang="zh-CN" altLang="en-US" smtClean="0"/>
              <a:t>21</a:t>
            </a:fld>
            <a:endParaRPr lang="zh-CN" altLang="en-US"/>
          </a:p>
        </p:txBody>
      </p:sp>
    </p:spTree>
    <p:extLst>
      <p:ext uri="{BB962C8B-B14F-4D97-AF65-F5344CB8AC3E}">
        <p14:creationId xmlns:p14="http://schemas.microsoft.com/office/powerpoint/2010/main" val="42019372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17280-97B3-E061-3149-52E7EEE3D2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0D885C-82CE-159E-7C8A-06E31A3A6C24}"/>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6882096E-8F8F-20C9-4B2A-383271A186C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5570194-6288-F71D-76DB-05FB1B7C31FD}"/>
              </a:ext>
            </a:extLst>
          </p:cNvPr>
          <p:cNvSpPr>
            <a:spLocks noGrp="1"/>
          </p:cNvSpPr>
          <p:nvPr>
            <p:ph type="sldNum" sz="quarter" idx="10"/>
          </p:nvPr>
        </p:nvSpPr>
        <p:spPr/>
        <p:txBody>
          <a:bodyPr/>
          <a:lstStyle/>
          <a:p>
            <a:fld id="{7392B679-AE23-4750-8FB0-6513430B8953}" type="slidenum">
              <a:rPr lang="zh-CN" altLang="en-US" smtClean="0"/>
              <a:t>22</a:t>
            </a:fld>
            <a:endParaRPr lang="zh-CN" altLang="en-US"/>
          </a:p>
        </p:txBody>
      </p:sp>
    </p:spTree>
    <p:extLst>
      <p:ext uri="{BB962C8B-B14F-4D97-AF65-F5344CB8AC3E}">
        <p14:creationId xmlns:p14="http://schemas.microsoft.com/office/powerpoint/2010/main" val="40414199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24</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25</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26</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27</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28</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CA20C-0303-917E-D1C6-3BEF4C7400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A648ED1-F5B0-8E3E-59B3-FCCE4C857520}"/>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64BBFBDD-6BFF-44A8-836A-D709710BB8D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AF62F4A-8CBA-0DDB-A2F5-821B5640640E}"/>
              </a:ext>
            </a:extLst>
          </p:cNvPr>
          <p:cNvSpPr>
            <a:spLocks noGrp="1"/>
          </p:cNvSpPr>
          <p:nvPr>
            <p:ph type="sldNum" sz="quarter" idx="10"/>
          </p:nvPr>
        </p:nvSpPr>
        <p:spPr/>
        <p:txBody>
          <a:bodyPr/>
          <a:lstStyle/>
          <a:p>
            <a:fld id="{7392B679-AE23-4750-8FB0-6513430B8953}" type="slidenum">
              <a:rPr lang="zh-CN" altLang="en-US" smtClean="0"/>
              <a:t>29</a:t>
            </a:fld>
            <a:endParaRPr lang="zh-CN" altLang="en-US"/>
          </a:p>
        </p:txBody>
      </p:sp>
    </p:spTree>
    <p:extLst>
      <p:ext uri="{BB962C8B-B14F-4D97-AF65-F5344CB8AC3E}">
        <p14:creationId xmlns:p14="http://schemas.microsoft.com/office/powerpoint/2010/main" val="31521891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31</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33</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34</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35</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37</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38</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39</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16622-987F-6CF8-185C-A32BCE356C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F575DEF-8FFF-0643-DE80-C8890D4FCA39}"/>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6DF365AD-DF72-AC56-4572-6CE8AEF0785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B490C4F-FE1F-0020-985F-D63281EC5662}"/>
              </a:ext>
            </a:extLst>
          </p:cNvPr>
          <p:cNvSpPr>
            <a:spLocks noGrp="1"/>
          </p:cNvSpPr>
          <p:nvPr>
            <p:ph type="sldNum" sz="quarter" idx="10"/>
          </p:nvPr>
        </p:nvSpPr>
        <p:spPr/>
        <p:txBody>
          <a:bodyPr/>
          <a:lstStyle/>
          <a:p>
            <a:fld id="{7392B679-AE23-4750-8FB0-6513430B8953}" type="slidenum">
              <a:rPr lang="zh-CN" altLang="en-US" smtClean="0"/>
              <a:t>40</a:t>
            </a:fld>
            <a:endParaRPr lang="zh-CN" altLang="en-US"/>
          </a:p>
        </p:txBody>
      </p:sp>
    </p:spTree>
    <p:extLst>
      <p:ext uri="{BB962C8B-B14F-4D97-AF65-F5344CB8AC3E}">
        <p14:creationId xmlns:p14="http://schemas.microsoft.com/office/powerpoint/2010/main" val="38106968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41</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42</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A4AE1-E51C-235D-28FE-AB5225FD73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CEB30D7-6E9E-DFF5-C591-C81A92E2BAC0}"/>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570DEEC6-75A0-968B-5CC1-90174A48113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5FD3173-9E0C-4A10-D005-15F4D83A76FC}"/>
              </a:ext>
            </a:extLst>
          </p:cNvPr>
          <p:cNvSpPr>
            <a:spLocks noGrp="1"/>
          </p:cNvSpPr>
          <p:nvPr>
            <p:ph type="sldNum" sz="quarter" idx="10"/>
          </p:nvPr>
        </p:nvSpPr>
        <p:spPr/>
        <p:txBody>
          <a:bodyPr/>
          <a:lstStyle/>
          <a:p>
            <a:fld id="{7392B679-AE23-4750-8FB0-6513430B8953}" type="slidenum">
              <a:rPr lang="zh-CN" altLang="en-US" smtClean="0"/>
              <a:t>43</a:t>
            </a:fld>
            <a:endParaRPr lang="zh-CN" altLang="en-US"/>
          </a:p>
        </p:txBody>
      </p:sp>
    </p:spTree>
    <p:extLst>
      <p:ext uri="{BB962C8B-B14F-4D97-AF65-F5344CB8AC3E}">
        <p14:creationId xmlns:p14="http://schemas.microsoft.com/office/powerpoint/2010/main" val="20278924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44</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5ED61-8AF4-DB4C-564B-70D5748922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AE5964-D950-B695-7649-11D13BF48DDA}"/>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5E764829-40C5-94BE-8D23-A5E808933A6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4D3A6C3-C77B-60AA-D67B-974BA261772C}"/>
              </a:ext>
            </a:extLst>
          </p:cNvPr>
          <p:cNvSpPr>
            <a:spLocks noGrp="1"/>
          </p:cNvSpPr>
          <p:nvPr>
            <p:ph type="sldNum" sz="quarter" idx="10"/>
          </p:nvPr>
        </p:nvSpPr>
        <p:spPr/>
        <p:txBody>
          <a:bodyPr/>
          <a:lstStyle/>
          <a:p>
            <a:fld id="{7392B679-AE23-4750-8FB0-6513430B8953}" type="slidenum">
              <a:rPr lang="zh-CN" altLang="en-US" smtClean="0"/>
              <a:t>45</a:t>
            </a:fld>
            <a:endParaRPr lang="zh-CN" altLang="en-US"/>
          </a:p>
        </p:txBody>
      </p:sp>
    </p:spTree>
    <p:extLst>
      <p:ext uri="{BB962C8B-B14F-4D97-AF65-F5344CB8AC3E}">
        <p14:creationId xmlns:p14="http://schemas.microsoft.com/office/powerpoint/2010/main" val="14564819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E5546-1FB9-B327-69D3-6D1CCA299FF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6D4A522-71F2-C281-C9C2-11ECBEB1E23F}"/>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57B59AA8-C89B-38AF-77FD-7B3F651F061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A2BF005-98B3-7EDA-E200-EECD37B623F2}"/>
              </a:ext>
            </a:extLst>
          </p:cNvPr>
          <p:cNvSpPr>
            <a:spLocks noGrp="1"/>
          </p:cNvSpPr>
          <p:nvPr>
            <p:ph type="sldNum" sz="quarter" idx="10"/>
          </p:nvPr>
        </p:nvSpPr>
        <p:spPr/>
        <p:txBody>
          <a:bodyPr/>
          <a:lstStyle/>
          <a:p>
            <a:fld id="{7392B679-AE23-4750-8FB0-6513430B8953}" type="slidenum">
              <a:rPr lang="zh-CN" altLang="en-US" smtClean="0"/>
              <a:t>46</a:t>
            </a:fld>
            <a:endParaRPr lang="zh-CN" altLang="en-US"/>
          </a:p>
        </p:txBody>
      </p:sp>
    </p:spTree>
    <p:extLst>
      <p:ext uri="{BB962C8B-B14F-4D97-AF65-F5344CB8AC3E}">
        <p14:creationId xmlns:p14="http://schemas.microsoft.com/office/powerpoint/2010/main" val="37461148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47</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48</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49</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50</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F0FC0-162C-BCA1-DDFD-B76C876182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DEB430-CDD9-1D16-6137-166D41053AE1}"/>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455A46AD-90D4-0EFD-C1CA-42570AD26FC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FA08023-9037-5E64-B7C3-BD9553FC7D58}"/>
              </a:ext>
            </a:extLst>
          </p:cNvPr>
          <p:cNvSpPr>
            <a:spLocks noGrp="1"/>
          </p:cNvSpPr>
          <p:nvPr>
            <p:ph type="sldNum" sz="quarter" idx="10"/>
          </p:nvPr>
        </p:nvSpPr>
        <p:spPr/>
        <p:txBody>
          <a:bodyPr/>
          <a:lstStyle/>
          <a:p>
            <a:fld id="{7392B679-AE23-4750-8FB0-6513430B8953}" type="slidenum">
              <a:rPr lang="zh-CN" altLang="en-US" smtClean="0"/>
              <a:t>51</a:t>
            </a:fld>
            <a:endParaRPr lang="zh-CN" altLang="en-US"/>
          </a:p>
        </p:txBody>
      </p:sp>
    </p:spTree>
    <p:extLst>
      <p:ext uri="{BB962C8B-B14F-4D97-AF65-F5344CB8AC3E}">
        <p14:creationId xmlns:p14="http://schemas.microsoft.com/office/powerpoint/2010/main" val="182992375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52</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53</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54</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55</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56</a:t>
            </a:fld>
            <a:endParaRPr lang="zh-CN" altLang="en-US"/>
          </a:p>
        </p:txBody>
      </p:sp>
    </p:spTree>
    <p:extLst>
      <p:ext uri="{BB962C8B-B14F-4D97-AF65-F5344CB8AC3E}">
        <p14:creationId xmlns:p14="http://schemas.microsoft.com/office/powerpoint/2010/main" val="9465090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57</a:t>
            </a:fld>
            <a:endParaRPr lang="zh-CN" altLang="en-US"/>
          </a:p>
        </p:txBody>
      </p:sp>
    </p:spTree>
    <p:extLst>
      <p:ext uri="{BB962C8B-B14F-4D97-AF65-F5344CB8AC3E}">
        <p14:creationId xmlns:p14="http://schemas.microsoft.com/office/powerpoint/2010/main" val="299196883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58</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59</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60</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61</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62</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63</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64</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65</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66</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67</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20BFB-04DB-C463-C18A-F71BF270C58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A7D0DD-3BE9-B63A-9A2E-57CA4FAB13AF}"/>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F07E65B2-7162-B3C0-EB85-E290C17B614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2704625-64D3-226D-E0DE-B63CE163F618}"/>
              </a:ext>
            </a:extLst>
          </p:cNvPr>
          <p:cNvSpPr>
            <a:spLocks noGrp="1"/>
          </p:cNvSpPr>
          <p:nvPr>
            <p:ph type="sldNum" sz="quarter" idx="10"/>
          </p:nvPr>
        </p:nvSpPr>
        <p:spPr/>
        <p:txBody>
          <a:bodyPr/>
          <a:lstStyle/>
          <a:p>
            <a:fld id="{7392B679-AE23-4750-8FB0-6513430B8953}" type="slidenum">
              <a:rPr lang="zh-CN" altLang="en-US" smtClean="0"/>
              <a:t>68</a:t>
            </a:fld>
            <a:endParaRPr lang="zh-CN" altLang="en-US"/>
          </a:p>
        </p:txBody>
      </p:sp>
    </p:spTree>
    <p:extLst>
      <p:ext uri="{BB962C8B-B14F-4D97-AF65-F5344CB8AC3E}">
        <p14:creationId xmlns:p14="http://schemas.microsoft.com/office/powerpoint/2010/main" val="217876109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69</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70</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71</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72</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73</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74</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75</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76</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77</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78</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79</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80</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81</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82</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83</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84</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85</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86</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87</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88</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5794"/>
            <a:ext cx="12190413" cy="2413577"/>
            <a:chOff x="170694" y="178255"/>
            <a:chExt cx="3936004" cy="779007"/>
          </a:xfrm>
        </p:grpSpPr>
        <p:sp>
          <p:nvSpPr>
            <p:cNvPr id="44" name="等腰三角形 43"/>
            <p:cNvSpPr/>
            <p:nvPr/>
          </p:nvSpPr>
          <p:spPr>
            <a:xfrm>
              <a:off x="1270819" y="178255"/>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170694" y="600746"/>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48666" y="178257"/>
              <a:ext cx="1100951"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8484731"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756764"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620748"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5028797"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892781"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95047CD3-5254-B29B-CA22-098A4D7CAEA3}"/>
              </a:ext>
            </a:extLst>
          </p:cNvPr>
          <p:cNvPicPr>
            <a:picLocks noChangeAspect="1"/>
          </p:cNvPicPr>
          <p:nvPr userDrawn="1"/>
        </p:nvPicPr>
        <p:blipFill>
          <a:blip r:embed="rId2"/>
          <a:stretch>
            <a:fillRect/>
          </a:stretch>
        </p:blipFill>
        <p:spPr>
          <a:xfrm>
            <a:off x="9124663" y="49251"/>
            <a:ext cx="2631023" cy="68273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44197733-1E9A-90D7-9182-C9C8824481DB}"/>
              </a:ext>
            </a:extLst>
          </p:cNvPr>
          <p:cNvPicPr>
            <a:picLocks noChangeAspect="1"/>
          </p:cNvPicPr>
          <p:nvPr userDrawn="1"/>
        </p:nvPicPr>
        <p:blipFill>
          <a:blip r:embed="rId2">
            <a:alphaModFix amt="20000"/>
          </a:blip>
          <a:stretch>
            <a:fillRect/>
          </a:stretch>
        </p:blipFill>
        <p:spPr>
          <a:xfrm>
            <a:off x="8615206" y="3218535"/>
            <a:ext cx="3342857" cy="35428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D0398C0C-0DC8-E2CA-5B53-F443A37DC641}"/>
              </a:ext>
            </a:extLst>
          </p:cNvPr>
          <p:cNvPicPr>
            <a:picLocks noChangeAspect="1"/>
          </p:cNvPicPr>
          <p:nvPr userDrawn="1"/>
        </p:nvPicPr>
        <p:blipFill>
          <a:blip r:embed="rId2"/>
          <a:stretch>
            <a:fillRect/>
          </a:stretch>
        </p:blipFill>
        <p:spPr>
          <a:xfrm>
            <a:off x="8552086" y="477794"/>
            <a:ext cx="2631023" cy="68273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t>2025/12/14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userDrawn="1"/>
        </p:nvSpPr>
        <p:spPr>
          <a:xfrm>
            <a:off x="4334510" y="2411730"/>
            <a:ext cx="4063365" cy="1106805"/>
          </a:xfrm>
          <a:prstGeom prst="rect">
            <a:avLst/>
          </a:prstGeom>
          <a:noFill/>
        </p:spPr>
        <p:txBody>
          <a:bodyPr wrap="square" rtlCol="0">
            <a:spAutoFit/>
            <a:scene3d>
              <a:camera prst="orthographicFront"/>
              <a:lightRig rig="threePt" dir="t"/>
            </a:scene3d>
          </a:bodyPr>
          <a:lstStyle/>
          <a:p>
            <a:r>
              <a:rPr lang="zh-CN" altLang="en-US" sz="6600" dirty="0">
                <a:ln/>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谢谢</a:t>
            </a:r>
          </a:p>
        </p:txBody>
      </p:sp>
      <p:pic>
        <p:nvPicPr>
          <p:cNvPr id="3" name="图片 2">
            <a:extLst>
              <a:ext uri="{FF2B5EF4-FFF2-40B4-BE49-F238E27FC236}">
                <a16:creationId xmlns:a16="http://schemas.microsoft.com/office/drawing/2014/main" id="{2D2082BF-01F3-5603-8167-3C960D8034D6}"/>
              </a:ext>
            </a:extLst>
          </p:cNvPr>
          <p:cNvPicPr>
            <a:picLocks noChangeAspect="1"/>
          </p:cNvPicPr>
          <p:nvPr userDrawn="1"/>
        </p:nvPicPr>
        <p:blipFill>
          <a:blip r:embed="rId2">
            <a:alphaModFix amt="20000"/>
          </a:blip>
          <a:stretch>
            <a:fillRect/>
          </a:stretch>
        </p:blipFill>
        <p:spPr>
          <a:xfrm>
            <a:off x="8615206" y="3218535"/>
            <a:ext cx="3342857" cy="35428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grpSp>
        <p:nvGrpSpPr>
          <p:cNvPr id="19" name="组合 18">
            <a:extLst>
              <a:ext uri="{FF2B5EF4-FFF2-40B4-BE49-F238E27FC236}">
                <a16:creationId xmlns:a16="http://schemas.microsoft.com/office/drawing/2014/main" id="{AFE746C0-FC75-43A5-9650-7D7DD7F41FBE}"/>
              </a:ext>
            </a:extLst>
          </p:cNvPr>
          <p:cNvGrpSpPr/>
          <p:nvPr userDrawn="1"/>
        </p:nvGrpSpPr>
        <p:grpSpPr>
          <a:xfrm>
            <a:off x="1813104" y="1243248"/>
            <a:ext cx="8589253" cy="4373093"/>
            <a:chOff x="1865085" y="1469918"/>
            <a:chExt cx="8590371" cy="4372081"/>
          </a:xfrm>
          <a:solidFill>
            <a:schemeClr val="bg2"/>
          </a:solidFill>
        </p:grpSpPr>
        <p:grpSp>
          <p:nvGrpSpPr>
            <p:cNvPr id="15" name="组合 14">
              <a:extLst>
                <a:ext uri="{FF2B5EF4-FFF2-40B4-BE49-F238E27FC236}">
                  <a16:creationId xmlns:a16="http://schemas.microsoft.com/office/drawing/2014/main" id="{4C870E2F-390A-4919-82D6-9F4CD8A65CAF}"/>
                </a:ext>
              </a:extLst>
            </p:cNvPr>
            <p:cNvGrpSpPr/>
            <p:nvPr userDrawn="1"/>
          </p:nvGrpSpPr>
          <p:grpSpPr>
            <a:xfrm flipH="1">
              <a:off x="9178198" y="1469918"/>
              <a:ext cx="1277258" cy="4372081"/>
              <a:chOff x="1712685" y="1317518"/>
              <a:chExt cx="1277258" cy="4372081"/>
            </a:xfrm>
            <a:grpFill/>
          </p:grpSpPr>
          <p:sp>
            <p:nvSpPr>
              <p:cNvPr id="13" name="L 形 12">
                <a:extLst>
                  <a:ext uri="{FF2B5EF4-FFF2-40B4-BE49-F238E27FC236}">
                    <a16:creationId xmlns:a16="http://schemas.microsoft.com/office/drawing/2014/main" id="{179E9382-BCD3-4E3C-B808-5375ECD63E85}"/>
                  </a:ext>
                </a:extLst>
              </p:cNvPr>
              <p:cNvSpPr/>
              <p:nvPr userDrawn="1"/>
            </p:nvSpPr>
            <p:spPr>
              <a:xfrm>
                <a:off x="1712685" y="4847770"/>
                <a:ext cx="1277258" cy="841829"/>
              </a:xfrm>
              <a:prstGeom prst="corner">
                <a:avLst>
                  <a:gd name="adj1" fmla="val 13781"/>
                  <a:gd name="adj2" fmla="val 1435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4" name="L 形 13">
                <a:extLst>
                  <a:ext uri="{FF2B5EF4-FFF2-40B4-BE49-F238E27FC236}">
                    <a16:creationId xmlns:a16="http://schemas.microsoft.com/office/drawing/2014/main" id="{7DA58F62-7006-4EB2-836F-4DD244DE493A}"/>
                  </a:ext>
                </a:extLst>
              </p:cNvPr>
              <p:cNvSpPr/>
              <p:nvPr userDrawn="1"/>
            </p:nvSpPr>
            <p:spPr>
              <a:xfrm flipV="1">
                <a:off x="1712685" y="1317518"/>
                <a:ext cx="1277258" cy="841829"/>
              </a:xfrm>
              <a:prstGeom prst="corner">
                <a:avLst>
                  <a:gd name="adj1" fmla="val 13781"/>
                  <a:gd name="adj2" fmla="val 1435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grpSp>
          <p:nvGrpSpPr>
            <p:cNvPr id="16" name="组合 15">
              <a:extLst>
                <a:ext uri="{FF2B5EF4-FFF2-40B4-BE49-F238E27FC236}">
                  <a16:creationId xmlns:a16="http://schemas.microsoft.com/office/drawing/2014/main" id="{F9A99712-CCC3-483C-A798-68E4FC7865B8}"/>
                </a:ext>
              </a:extLst>
            </p:cNvPr>
            <p:cNvGrpSpPr/>
            <p:nvPr userDrawn="1"/>
          </p:nvGrpSpPr>
          <p:grpSpPr>
            <a:xfrm>
              <a:off x="1865085" y="1469918"/>
              <a:ext cx="1277258" cy="4372081"/>
              <a:chOff x="1712685" y="1317518"/>
              <a:chExt cx="1277258" cy="4372081"/>
            </a:xfrm>
            <a:grpFill/>
          </p:grpSpPr>
          <p:sp>
            <p:nvSpPr>
              <p:cNvPr id="17" name="L 形 16">
                <a:extLst>
                  <a:ext uri="{FF2B5EF4-FFF2-40B4-BE49-F238E27FC236}">
                    <a16:creationId xmlns:a16="http://schemas.microsoft.com/office/drawing/2014/main" id="{EF96550D-4322-40CE-A040-71416581E873}"/>
                  </a:ext>
                </a:extLst>
              </p:cNvPr>
              <p:cNvSpPr/>
              <p:nvPr userDrawn="1"/>
            </p:nvSpPr>
            <p:spPr>
              <a:xfrm>
                <a:off x="1712685" y="4847770"/>
                <a:ext cx="1277258" cy="841829"/>
              </a:xfrm>
              <a:prstGeom prst="corner">
                <a:avLst>
                  <a:gd name="adj1" fmla="val 13781"/>
                  <a:gd name="adj2" fmla="val 1435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8" name="L 形 17">
                <a:extLst>
                  <a:ext uri="{FF2B5EF4-FFF2-40B4-BE49-F238E27FC236}">
                    <a16:creationId xmlns:a16="http://schemas.microsoft.com/office/drawing/2014/main" id="{7DEEDBB8-9B1C-4482-BA0B-3AD4D2D3FDCC}"/>
                  </a:ext>
                </a:extLst>
              </p:cNvPr>
              <p:cNvSpPr/>
              <p:nvPr userDrawn="1"/>
            </p:nvSpPr>
            <p:spPr>
              <a:xfrm flipV="1">
                <a:off x="1712685" y="1317518"/>
                <a:ext cx="1277258" cy="841829"/>
              </a:xfrm>
              <a:prstGeom prst="corner">
                <a:avLst>
                  <a:gd name="adj1" fmla="val 13781"/>
                  <a:gd name="adj2" fmla="val 1435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grpSp>
      <p:sp>
        <p:nvSpPr>
          <p:cNvPr id="6" name="内容占位符 5">
            <a:extLst>
              <a:ext uri="{FF2B5EF4-FFF2-40B4-BE49-F238E27FC236}">
                <a16:creationId xmlns:a16="http://schemas.microsoft.com/office/drawing/2014/main" id="{F4AEAA1A-D2AC-4A5F-8477-7F66DD18E285}"/>
              </a:ext>
            </a:extLst>
          </p:cNvPr>
          <p:cNvSpPr>
            <a:spLocks noGrp="1"/>
          </p:cNvSpPr>
          <p:nvPr>
            <p:ph sz="quarter" idx="10" hasCustomPrompt="1"/>
          </p:nvPr>
        </p:nvSpPr>
        <p:spPr>
          <a:xfrm>
            <a:off x="3090376" y="3189673"/>
            <a:ext cx="6034889" cy="480242"/>
          </a:xfrm>
          <a:prstGeom prst="rect">
            <a:avLst/>
          </a:prstGeom>
        </p:spPr>
        <p:txBody>
          <a:bodyPr wrap="square" anchor="ctr" anchorCtr="1">
            <a:noAutofit/>
          </a:bodyPr>
          <a:lstStyle>
            <a:lvl1pPr marL="0" indent="0">
              <a:buNone/>
              <a:defRPr sz="5399">
                <a:latin typeface="微软雅黑" panose="020B0503020204020204" pitchFamily="34" charset="-122"/>
                <a:ea typeface="微软雅黑" panose="020B0503020204020204" pitchFamily="34" charset="-122"/>
              </a:defRPr>
            </a:lvl1pPr>
          </a:lstStyle>
          <a:p>
            <a:pPr lvl="0"/>
            <a:r>
              <a:rPr lang="zh-CN" altLang="en-US" dirty="0"/>
              <a:t>章节名称</a:t>
            </a:r>
          </a:p>
        </p:txBody>
      </p:sp>
    </p:spTree>
    <p:extLst>
      <p:ext uri="{BB962C8B-B14F-4D97-AF65-F5344CB8AC3E}">
        <p14:creationId xmlns:p14="http://schemas.microsoft.com/office/powerpoint/2010/main" val="832544610"/>
      </p:ext>
    </p:extLst>
  </p:cSld>
  <p:clrMapOvr>
    <a:masterClrMapping/>
  </p:clrMapOvr>
  <mc:AlternateContent xmlns:mc="http://schemas.openxmlformats.org/markup-compatibility/2006" xmlns:p14="http://schemas.microsoft.com/office/powerpoint/2010/main">
    <mc:Choice Requires="p14">
      <p:transition spd="med" p14:dur="700" advClick="0" advTm="5000">
        <p:fade/>
      </p:transition>
    </mc:Choice>
    <mc:Fallback xmlns="">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2025/12/14</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notesSlide" Target="../notesSlides/notesSlide22.xml"/><Relationship Id="rId2" Type="http://schemas.openxmlformats.org/officeDocument/2006/relationships/tags" Target="../tags/tag3.xml"/><Relationship Id="rId16"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7.svg"/></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7.sv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6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slide" Target="slide64.xml"/><Relationship Id="rId7" Type="http://schemas.openxmlformats.org/officeDocument/2006/relationships/slide" Target="slide3.xml"/><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slide" Target="slide71.xml"/><Relationship Id="rId5" Type="http://schemas.openxmlformats.org/officeDocument/2006/relationships/slide" Target="slide70.xml"/><Relationship Id="rId4" Type="http://schemas.openxmlformats.org/officeDocument/2006/relationships/slide" Target="slide6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 Id="rId4" Type="http://schemas.openxmlformats.org/officeDocument/2006/relationships/notesSlide" Target="../notesSlides/notesSlide8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6F92897-46F5-427A-B08F-C3CE9ABB07AB}"/>
              </a:ext>
            </a:extLst>
          </p:cNvPr>
          <p:cNvSpPr txBox="1"/>
          <p:nvPr/>
        </p:nvSpPr>
        <p:spPr>
          <a:xfrm>
            <a:off x="2639206" y="1201997"/>
            <a:ext cx="7190578" cy="1069706"/>
          </a:xfrm>
          <a:prstGeom prst="rect">
            <a:avLst/>
          </a:prstGeom>
          <a:noFill/>
        </p:spPr>
        <p:txBody>
          <a:bodyPr wrap="square" rtlCol="0">
            <a:spAutoFit/>
          </a:bodyPr>
          <a:lstStyle/>
          <a:p>
            <a:pPr>
              <a:lnSpc>
                <a:spcPct val="150000"/>
              </a:lnSpc>
            </a:pPr>
            <a:r>
              <a:rPr lang="zh-CN" altLang="en-US" sz="4800" dirty="0"/>
              <a:t>全国大学生软件测试大赛</a:t>
            </a:r>
            <a:endParaRPr lang="zh-CN" altLang="en-US" sz="4800" dirty="0">
              <a:latin typeface="微软雅黑" panose="020B0503020204020204" pitchFamily="34" charset="-122"/>
              <a:ea typeface="微软雅黑" panose="020B0503020204020204" pitchFamily="34" charset="-122"/>
            </a:endParaRPr>
          </a:p>
        </p:txBody>
      </p:sp>
      <p:pic>
        <p:nvPicPr>
          <p:cNvPr id="5" name="Picture 2">
            <a:extLst>
              <a:ext uri="{FF2B5EF4-FFF2-40B4-BE49-F238E27FC236}">
                <a16:creationId xmlns:a16="http://schemas.microsoft.com/office/drawing/2014/main" id="{D7CD2CEC-2221-25A6-5D02-2735B6F054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1664" y="2271703"/>
            <a:ext cx="2767082" cy="2767082"/>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83133D65-67F2-3800-6E7B-844A8C51EE8C}"/>
              </a:ext>
            </a:extLst>
          </p:cNvPr>
          <p:cNvSpPr txBox="1"/>
          <p:nvPr/>
        </p:nvSpPr>
        <p:spPr>
          <a:xfrm>
            <a:off x="3747434" y="5038785"/>
            <a:ext cx="4695541" cy="369332"/>
          </a:xfrm>
          <a:prstGeom prst="rect">
            <a:avLst/>
          </a:prstGeom>
          <a:noFill/>
        </p:spPr>
        <p:txBody>
          <a:bodyPr wrap="square" rtlCol="0">
            <a:spAutoFit/>
          </a:bodyPr>
          <a:lstStyle/>
          <a:p>
            <a:r>
              <a:rPr lang="en-US" altLang="zh-CN" sz="1800" dirty="0">
                <a:solidFill>
                  <a:schemeClr val="tx1">
                    <a:lumMod val="75000"/>
                    <a:lumOff val="25000"/>
                  </a:schemeClr>
                </a:solidFill>
                <a:latin typeface="微软雅黑" panose="020B0503020204020204" pitchFamily="34" charset="-122"/>
                <a:ea typeface="微软雅黑" panose="020B0503020204020204" pitchFamily="34" charset="-122"/>
              </a:rPr>
              <a:t>http://www.mooctest.org/#/home/index</a:t>
            </a:r>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114779"/>
      </p:ext>
    </p:extLst>
  </p:cSld>
  <p:clrMapOvr>
    <a:masterClrMapping/>
  </p:clrMapOvr>
  <mc:AlternateContent xmlns:mc="http://schemas.openxmlformats.org/markup-compatibility/2006" xmlns:p14="http://schemas.microsoft.com/office/powerpoint/2010/main">
    <mc:Choice Requires="p14">
      <p:transition spd="med" p14:dur="700" advClick="0" advTm="5000">
        <p:fade/>
      </p:transition>
    </mc:Choice>
    <mc:Fallback xmlns="">
      <p:transition spd="med" advClick="0" advTm="5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7E7F7-9BE5-8627-5693-B7AD71BDBE6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CF9345A2-2D74-CC72-B842-8F339A0BAB59}"/>
              </a:ext>
            </a:extLst>
          </p:cNvPr>
          <p:cNvSpPr txBox="1"/>
          <p:nvPr/>
        </p:nvSpPr>
        <p:spPr>
          <a:xfrm>
            <a:off x="2639206" y="1201997"/>
            <a:ext cx="7190578" cy="1069706"/>
          </a:xfrm>
          <a:prstGeom prst="rect">
            <a:avLst/>
          </a:prstGeom>
          <a:noFill/>
        </p:spPr>
        <p:txBody>
          <a:bodyPr wrap="square" rtlCol="0">
            <a:spAutoFit/>
          </a:bodyPr>
          <a:lstStyle/>
          <a:p>
            <a:pPr>
              <a:lnSpc>
                <a:spcPct val="150000"/>
              </a:lnSpc>
            </a:pPr>
            <a:r>
              <a:rPr lang="zh-CN" altLang="en-US" sz="4800" dirty="0"/>
              <a:t>全国大学生软件测试大赛</a:t>
            </a:r>
            <a:endParaRPr lang="zh-CN" altLang="en-US" sz="4800" dirty="0">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84405066-C241-2329-2B6C-FDE6A7603E53}"/>
              </a:ext>
            </a:extLst>
          </p:cNvPr>
          <p:cNvSpPr txBox="1"/>
          <p:nvPr/>
        </p:nvSpPr>
        <p:spPr>
          <a:xfrm>
            <a:off x="2279206" y="2565794"/>
            <a:ext cx="8189842" cy="1993238"/>
          </a:xfrm>
          <a:prstGeom prst="rect">
            <a:avLst/>
          </a:prstGeom>
          <a:noFill/>
        </p:spPr>
        <p:txBody>
          <a:bodyPr wrap="square" rtlCol="0">
            <a:spAutoFit/>
          </a:bodyPr>
          <a:lstStyle/>
          <a:p>
            <a:pPr>
              <a:lnSpc>
                <a:spcPct val="150000"/>
              </a:lnSpc>
            </a:pPr>
            <a:r>
              <a:rPr lang="zh-CN" altLang="en-US" sz="1400" dirty="0">
                <a:latin typeface="微软雅黑" panose="020B0503020204020204" pitchFamily="34" charset="-122"/>
                <a:ea typeface="微软雅黑" panose="020B0503020204020204" pitchFamily="34" charset="-122"/>
              </a:rPr>
              <a:t>三个分项赛：</a:t>
            </a:r>
          </a:p>
          <a:p>
            <a:pPr>
              <a:lnSpc>
                <a:spcPct val="150000"/>
              </a:lnSpc>
            </a:pP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）嵌入式测试；  （</a:t>
            </a: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Web</a:t>
            </a:r>
            <a:r>
              <a:rPr lang="zh-CN" altLang="en-US" sz="1400" dirty="0">
                <a:latin typeface="微软雅黑" panose="020B0503020204020204" pitchFamily="34" charset="-122"/>
                <a:ea typeface="微软雅黑" panose="020B0503020204020204" pitchFamily="34" charset="-122"/>
              </a:rPr>
              <a:t>应用测试；（</a:t>
            </a:r>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）开发者测试。</a:t>
            </a:r>
          </a:p>
          <a:p>
            <a:pPr>
              <a:lnSpc>
                <a:spcPct val="150000"/>
              </a:lnSpc>
            </a:pPr>
            <a:r>
              <a:rPr lang="zh-CN" altLang="en-US" sz="1400" dirty="0">
                <a:latin typeface="微软雅黑" panose="020B0503020204020204" pitchFamily="34" charset="-122"/>
                <a:ea typeface="微软雅黑" panose="020B0503020204020204" pitchFamily="34" charset="-122"/>
              </a:rPr>
              <a:t>比赛工具：</a:t>
            </a:r>
          </a:p>
          <a:p>
            <a:pPr>
              <a:lnSpc>
                <a:spcPct val="150000"/>
              </a:lnSpc>
            </a:pPr>
            <a:r>
              <a:rPr lang="en-US" altLang="zh-CN" sz="1400" dirty="0">
                <a:latin typeface="微软雅黑" panose="020B0503020204020204" pitchFamily="34" charset="-122"/>
                <a:ea typeface="微软雅黑" panose="020B0503020204020204" pitchFamily="34" charset="-122"/>
              </a:rPr>
              <a:t>(1) </a:t>
            </a:r>
            <a:r>
              <a:rPr lang="zh-CN" altLang="en-US" sz="1400" dirty="0">
                <a:latin typeface="微软雅黑" panose="020B0503020204020204" pitchFamily="34" charset="-122"/>
                <a:ea typeface="微软雅黑" panose="020B0503020204020204" pitchFamily="34" charset="-122"/>
              </a:rPr>
              <a:t>嵌入式测试采用凯云嵌入式系统测试教学实训平台；</a:t>
            </a:r>
          </a:p>
          <a:p>
            <a:pPr>
              <a:lnSpc>
                <a:spcPct val="150000"/>
              </a:lnSpc>
            </a:pPr>
            <a:r>
              <a:rPr lang="en-US" altLang="zh-CN" sz="1400" dirty="0">
                <a:latin typeface="微软雅黑" panose="020B0503020204020204" pitchFamily="34" charset="-122"/>
                <a:ea typeface="微软雅黑" panose="020B0503020204020204" pitchFamily="34" charset="-122"/>
              </a:rPr>
              <a:t>(2) Web</a:t>
            </a:r>
            <a:r>
              <a:rPr lang="zh-CN" altLang="en-US" sz="1400" dirty="0">
                <a:latin typeface="微软雅黑" panose="020B0503020204020204" pitchFamily="34" charset="-122"/>
                <a:ea typeface="微软雅黑" panose="020B0503020204020204" pitchFamily="34" charset="-122"/>
              </a:rPr>
              <a:t>应用测试采用慕测平台，使用</a:t>
            </a:r>
            <a:r>
              <a:rPr lang="en-US" altLang="zh-CN" sz="1400" dirty="0">
                <a:latin typeface="微软雅黑" panose="020B0503020204020204" pitchFamily="34" charset="-122"/>
                <a:ea typeface="微软雅黑" panose="020B0503020204020204" pitchFamily="34" charset="-122"/>
              </a:rPr>
              <a:t>Selenium</a:t>
            </a:r>
            <a:r>
              <a:rPr lang="zh-CN" altLang="en-US" sz="1400" dirty="0">
                <a:latin typeface="微软雅黑" panose="020B0503020204020204" pitchFamily="34" charset="-122"/>
                <a:ea typeface="微软雅黑" panose="020B0503020204020204" pitchFamily="34" charset="-122"/>
              </a:rPr>
              <a:t>编写自动化测试脚本，使用</a:t>
            </a:r>
            <a:r>
              <a:rPr lang="en-US" altLang="zh-CN" sz="1400" dirty="0" err="1">
                <a:latin typeface="微软雅黑" panose="020B0503020204020204" pitchFamily="34" charset="-122"/>
                <a:ea typeface="微软雅黑" panose="020B0503020204020204" pitchFamily="34" charset="-122"/>
              </a:rPr>
              <a:t>Jmeter</a:t>
            </a:r>
            <a:r>
              <a:rPr lang="zh-CN" altLang="en-US" sz="1400" dirty="0">
                <a:latin typeface="微软雅黑" panose="020B0503020204020204" pitchFamily="34" charset="-122"/>
                <a:ea typeface="微软雅黑" panose="020B0503020204020204" pitchFamily="34" charset="-122"/>
              </a:rPr>
              <a:t>编写性能测试脚本；</a:t>
            </a:r>
          </a:p>
          <a:p>
            <a:pPr>
              <a:lnSpc>
                <a:spcPct val="150000"/>
              </a:lnSpc>
            </a:pPr>
            <a:r>
              <a:rPr lang="en-US" altLang="zh-CN" sz="1400" dirty="0">
                <a:latin typeface="微软雅黑" panose="020B0503020204020204" pitchFamily="34" charset="-122"/>
                <a:ea typeface="微软雅黑" panose="020B0503020204020204" pitchFamily="34" charset="-122"/>
              </a:rPr>
              <a:t>(3) </a:t>
            </a:r>
            <a:r>
              <a:rPr lang="zh-CN" altLang="en-US" sz="1400" dirty="0">
                <a:latin typeface="微软雅黑" panose="020B0503020204020204" pitchFamily="34" charset="-122"/>
                <a:ea typeface="微软雅黑" panose="020B0503020204020204" pitchFamily="34" charset="-122"/>
              </a:rPr>
              <a:t>开发者测试采用慕测平台，使用</a:t>
            </a:r>
            <a:r>
              <a:rPr lang="en-US" altLang="zh-CN" sz="1400" dirty="0">
                <a:latin typeface="微软雅黑" panose="020B0503020204020204" pitchFamily="34" charset="-122"/>
                <a:ea typeface="微软雅黑" panose="020B0503020204020204" pitchFamily="34" charset="-122"/>
              </a:rPr>
              <a:t>Junit</a:t>
            </a:r>
            <a:r>
              <a:rPr lang="zh-CN" altLang="en-US" sz="1400" dirty="0">
                <a:latin typeface="微软雅黑" panose="020B0503020204020204" pitchFamily="34" charset="-122"/>
                <a:ea typeface="微软雅黑" panose="020B0503020204020204" pitchFamily="34" charset="-122"/>
              </a:rPr>
              <a:t>，提供</a:t>
            </a:r>
            <a:r>
              <a:rPr lang="en-US" altLang="zh-CN" sz="1400" dirty="0" err="1">
                <a:latin typeface="微软雅黑" panose="020B0503020204020204" pitchFamily="34" charset="-122"/>
                <a:ea typeface="微软雅黑" panose="020B0503020204020204" pitchFamily="34" charset="-122"/>
              </a:rPr>
              <a:t>WebIDE</a:t>
            </a:r>
            <a:r>
              <a:rPr lang="zh-CN" altLang="en-US" sz="1400" dirty="0">
                <a:latin typeface="微软雅黑" panose="020B0503020204020204" pitchFamily="34" charset="-122"/>
                <a:ea typeface="微软雅黑" panose="020B0503020204020204" pitchFamily="34" charset="-122"/>
              </a:rPr>
              <a:t>和</a:t>
            </a:r>
            <a:r>
              <a:rPr lang="en-US" altLang="zh-CN" sz="1400" dirty="0">
                <a:latin typeface="微软雅黑" panose="020B0503020204020204" pitchFamily="34" charset="-122"/>
                <a:ea typeface="微软雅黑" panose="020B0503020204020204" pitchFamily="34" charset="-122"/>
              </a:rPr>
              <a:t>Eclipse</a:t>
            </a:r>
            <a:r>
              <a:rPr lang="zh-CN" altLang="en-US" sz="1400" dirty="0">
                <a:latin typeface="微软雅黑" panose="020B0503020204020204" pitchFamily="34" charset="-122"/>
                <a:ea typeface="微软雅黑" panose="020B0503020204020204" pitchFamily="34" charset="-122"/>
              </a:rPr>
              <a:t>两种答题方案。</a:t>
            </a:r>
          </a:p>
        </p:txBody>
      </p:sp>
    </p:spTree>
    <p:extLst>
      <p:ext uri="{BB962C8B-B14F-4D97-AF65-F5344CB8AC3E}">
        <p14:creationId xmlns:p14="http://schemas.microsoft.com/office/powerpoint/2010/main" val="806655677"/>
      </p:ext>
    </p:extLst>
  </p:cSld>
  <p:clrMapOvr>
    <a:masterClrMapping/>
  </p:clrMapOvr>
  <mc:AlternateContent xmlns:mc="http://schemas.openxmlformats.org/markup-compatibility/2006" xmlns:p14="http://schemas.microsoft.com/office/powerpoint/2010/main">
    <mc:Choice Requires="p14">
      <p:transition spd="med" p14:dur="700" advClick="0" advTm="5000">
        <p:fade/>
      </p:transition>
    </mc:Choice>
    <mc:Fallback xmlns="">
      <p:transition spd="med" advClick="0" advTm="5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3503295" y="2637790"/>
            <a:ext cx="5504180" cy="783590"/>
          </a:xfrm>
          <a:prstGeom prst="rect">
            <a:avLst/>
          </a:prstGeom>
          <a:noFill/>
        </p:spPr>
        <p:txBody>
          <a:bodyPr wrap="square" rtlCol="0">
            <a:spAutoFit/>
          </a:bodyPr>
          <a:lstStyle/>
          <a:p>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第1章 软件测试基础</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631106" y="2205504"/>
            <a:ext cx="9039080" cy="196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现在已经步入了</a:t>
            </a:r>
            <a:r>
              <a:rPr lang="zh-CN" altLang="en-US" sz="2000" dirty="0">
                <a:solidFill>
                  <a:srgbClr val="0070C0"/>
                </a:solidFill>
                <a:latin typeface="微软雅黑" panose="020B0503020204020204" pitchFamily="34" charset="-122"/>
                <a:ea typeface="微软雅黑" panose="020B0503020204020204" pitchFamily="34" charset="-122"/>
              </a:rPr>
              <a:t>“智能化时代”</a:t>
            </a:r>
            <a:r>
              <a:rPr lang="zh-CN" altLang="en-US" sz="2000" dirty="0">
                <a:solidFill>
                  <a:srgbClr val="595959"/>
                </a:solidFill>
                <a:latin typeface="微软雅黑" panose="020B0503020204020204" pitchFamily="34" charset="-122"/>
                <a:ea typeface="微软雅黑" panose="020B0503020204020204" pitchFamily="34" charset="-122"/>
              </a:rPr>
              <a:t>，人们的工作与生活已经离不开软件，每天都会与各种各样的软件打交道。软件与其他产品一样都有质量要求，</a:t>
            </a:r>
            <a:r>
              <a:rPr lang="zh-CN" altLang="en-US" sz="2000" dirty="0">
                <a:solidFill>
                  <a:srgbClr val="0070C0"/>
                </a:solidFill>
                <a:latin typeface="微软雅黑" panose="020B0503020204020204" pitchFamily="34" charset="-122"/>
                <a:ea typeface="微软雅黑" panose="020B0503020204020204" pitchFamily="34" charset="-122"/>
              </a:rPr>
              <a:t>要想保证软件产品的质量</a:t>
            </a:r>
            <a:r>
              <a:rPr lang="zh-CN" altLang="en-US" sz="2000" dirty="0">
                <a:solidFill>
                  <a:srgbClr val="595959"/>
                </a:solidFill>
                <a:latin typeface="微软雅黑" panose="020B0503020204020204" pitchFamily="34" charset="-122"/>
                <a:ea typeface="微软雅黑" panose="020B0503020204020204" pitchFamily="34" charset="-122"/>
              </a:rPr>
              <a:t>，除了要求开发人员严格遵守软件开发的规范外，</a:t>
            </a:r>
            <a:r>
              <a:rPr lang="zh-CN" altLang="en-US" sz="2000" dirty="0">
                <a:solidFill>
                  <a:srgbClr val="0070C0"/>
                </a:solidFill>
                <a:latin typeface="微软雅黑" panose="020B0503020204020204" pitchFamily="34" charset="-122"/>
                <a:ea typeface="微软雅黑" panose="020B0503020204020204" pitchFamily="34" charset="-122"/>
              </a:rPr>
              <a:t>最重要的手段就是软件测试</a:t>
            </a:r>
            <a:r>
              <a:rPr lang="zh-CN" altLang="en-US" sz="2000" dirty="0">
                <a:solidFill>
                  <a:srgbClr val="595959"/>
                </a:solidFill>
                <a:latin typeface="微软雅黑" panose="020B0503020204020204" pitchFamily="34" charset="-122"/>
                <a:ea typeface="微软雅黑" panose="020B0503020204020204" pitchFamily="34" charset="-122"/>
              </a:rPr>
              <a:t>。本章将针对</a:t>
            </a:r>
            <a:r>
              <a:rPr lang="zh-CN" altLang="en-US" sz="2000" dirty="0">
                <a:solidFill>
                  <a:srgbClr val="0070C0"/>
                </a:solidFill>
                <a:latin typeface="微软雅黑" panose="020B0503020204020204" pitchFamily="34" charset="-122"/>
                <a:ea typeface="微软雅黑" panose="020B0503020204020204" pitchFamily="34" charset="-122"/>
              </a:rPr>
              <a:t>软件与软件测试</a:t>
            </a:r>
            <a:r>
              <a:rPr lang="zh-CN" altLang="en-US" sz="2000" dirty="0">
                <a:solidFill>
                  <a:srgbClr val="595959"/>
                </a:solidFill>
                <a:latin typeface="微软雅黑" panose="020B0503020204020204" pitchFamily="34" charset="-122"/>
                <a:ea typeface="微软雅黑" panose="020B0503020204020204" pitchFamily="34" charset="-122"/>
              </a:rPr>
              <a:t>的基础知识进行讲解。</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软件</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概述</a:t>
            </a:r>
            <a:endParaRPr lang="en-GB" altLang="zh-CN"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软件生命周期</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7" name="TextBox 35"/>
          <p:cNvSpPr txBox="1">
            <a:spLocks noChangeArrowheads="1"/>
          </p:cNvSpPr>
          <p:nvPr/>
        </p:nvSpPr>
        <p:spPr bwMode="auto">
          <a:xfrm>
            <a:off x="982767" y="1270164"/>
            <a:ext cx="10441160" cy="674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dirty="0">
                <a:solidFill>
                  <a:srgbClr val="595959"/>
                </a:solidFill>
                <a:latin typeface="微软雅黑" panose="020B0503020204020204" pitchFamily="34" charset="-122"/>
                <a:ea typeface="微软雅黑" panose="020B0503020204020204" pitchFamily="34" charset="-122"/>
              </a:rPr>
              <a:t>通常，可将</a:t>
            </a:r>
            <a:r>
              <a:rPr dirty="0">
                <a:solidFill>
                  <a:srgbClr val="0070C0"/>
                </a:solidFill>
                <a:latin typeface="微软雅黑" panose="020B0503020204020204" pitchFamily="34" charset="-122"/>
                <a:ea typeface="微软雅黑" panose="020B0503020204020204" pitchFamily="34" charset="-122"/>
              </a:rPr>
              <a:t>软件生命周期</a:t>
            </a:r>
            <a:r>
              <a:rPr dirty="0">
                <a:solidFill>
                  <a:srgbClr val="595959"/>
                </a:solidFill>
                <a:latin typeface="微软雅黑" panose="020B0503020204020204" pitchFamily="34" charset="-122"/>
                <a:ea typeface="微软雅黑" panose="020B0503020204020204" pitchFamily="34" charset="-122"/>
              </a:rPr>
              <a:t>划分为</a:t>
            </a:r>
            <a:r>
              <a:rPr dirty="0">
                <a:solidFill>
                  <a:srgbClr val="0070C0"/>
                </a:solidFill>
                <a:latin typeface="微软雅黑" panose="020B0503020204020204" pitchFamily="34" charset="-122"/>
                <a:ea typeface="微软雅黑" panose="020B0503020204020204" pitchFamily="34" charset="-122"/>
              </a:rPr>
              <a:t>6个阶段</a:t>
            </a:r>
            <a:r>
              <a:rPr lang="zh-CN" altLang="en-US" dirty="0">
                <a:solidFill>
                  <a:srgbClr val="595959"/>
                </a:solidFill>
                <a:latin typeface="微软雅黑" panose="020B0503020204020204" pitchFamily="34" charset="-122"/>
                <a:ea typeface="微软雅黑" panose="020B0503020204020204" pitchFamily="34" charset="-122"/>
              </a:rPr>
              <a:t>。</a:t>
            </a:r>
          </a:p>
        </p:txBody>
      </p:sp>
      <p:sp>
        <p:nvSpPr>
          <p:cNvPr id="4" name="任意多边形 3"/>
          <p:cNvSpPr/>
          <p:nvPr/>
        </p:nvSpPr>
        <p:spPr>
          <a:xfrm>
            <a:off x="1394854" y="3194394"/>
            <a:ext cx="1015751" cy="1015751"/>
          </a:xfrm>
          <a:custGeom>
            <a:avLst/>
            <a:gdLst>
              <a:gd name="connsiteX0" fmla="*/ 0 w 1015751"/>
              <a:gd name="connsiteY0" fmla="*/ 507876 h 1015751"/>
              <a:gd name="connsiteX1" fmla="*/ 507876 w 1015751"/>
              <a:gd name="connsiteY1" fmla="*/ 0 h 1015751"/>
              <a:gd name="connsiteX2" fmla="*/ 1015752 w 1015751"/>
              <a:gd name="connsiteY2" fmla="*/ 507876 h 1015751"/>
              <a:gd name="connsiteX3" fmla="*/ 507876 w 1015751"/>
              <a:gd name="connsiteY3" fmla="*/ 1015752 h 1015751"/>
              <a:gd name="connsiteX4" fmla="*/ 0 w 1015751"/>
              <a:gd name="connsiteY4" fmla="*/ 507876 h 1015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751" h="1015751">
                <a:moveTo>
                  <a:pt x="0" y="507876"/>
                </a:moveTo>
                <a:cubicBezTo>
                  <a:pt x="0" y="227384"/>
                  <a:pt x="227384" y="0"/>
                  <a:pt x="507876" y="0"/>
                </a:cubicBezTo>
                <a:cubicBezTo>
                  <a:pt x="788368" y="0"/>
                  <a:pt x="1015752" y="227384"/>
                  <a:pt x="1015752" y="507876"/>
                </a:cubicBezTo>
                <a:cubicBezTo>
                  <a:pt x="1015752" y="788368"/>
                  <a:pt x="788368" y="1015752"/>
                  <a:pt x="507876" y="1015752"/>
                </a:cubicBezTo>
                <a:cubicBezTo>
                  <a:pt x="227384" y="1015752"/>
                  <a:pt x="0" y="788368"/>
                  <a:pt x="0" y="507876"/>
                </a:cubicBezTo>
                <a:close/>
              </a:path>
            </a:pathLst>
          </a:custGeom>
          <a:solidFill>
            <a:srgbClr val="0075CC"/>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4153" tIns="174153" rIns="174153" bIns="174153" numCol="1" spcCol="1270" anchor="ctr" anchorCtr="0">
            <a:noAutofit/>
          </a:bodyPr>
          <a:lstStyle/>
          <a:p>
            <a:pPr lvl="0" algn="ctr" defTabSz="889000">
              <a:lnSpc>
                <a:spcPct val="90000"/>
              </a:lnSpc>
              <a:spcBef>
                <a:spcPct val="0"/>
              </a:spcBef>
              <a:spcAft>
                <a:spcPct val="35000"/>
              </a:spcAft>
            </a:pPr>
            <a:r>
              <a:rPr lang="zh-CN" altLang="en-US" sz="2000" b="1" kern="1200" dirty="0"/>
              <a:t>问题定义</a:t>
            </a:r>
          </a:p>
        </p:txBody>
      </p:sp>
      <p:sp>
        <p:nvSpPr>
          <p:cNvPr id="6" name="任意多边形 5"/>
          <p:cNvSpPr/>
          <p:nvPr/>
        </p:nvSpPr>
        <p:spPr>
          <a:xfrm>
            <a:off x="3009638" y="3194394"/>
            <a:ext cx="1015751" cy="1015751"/>
          </a:xfrm>
          <a:custGeom>
            <a:avLst/>
            <a:gdLst>
              <a:gd name="connsiteX0" fmla="*/ 0 w 1015751"/>
              <a:gd name="connsiteY0" fmla="*/ 507876 h 1015751"/>
              <a:gd name="connsiteX1" fmla="*/ 507876 w 1015751"/>
              <a:gd name="connsiteY1" fmla="*/ 0 h 1015751"/>
              <a:gd name="connsiteX2" fmla="*/ 1015752 w 1015751"/>
              <a:gd name="connsiteY2" fmla="*/ 507876 h 1015751"/>
              <a:gd name="connsiteX3" fmla="*/ 507876 w 1015751"/>
              <a:gd name="connsiteY3" fmla="*/ 1015752 h 1015751"/>
              <a:gd name="connsiteX4" fmla="*/ 0 w 1015751"/>
              <a:gd name="connsiteY4" fmla="*/ 507876 h 1015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751" h="1015751">
                <a:moveTo>
                  <a:pt x="0" y="507876"/>
                </a:moveTo>
                <a:cubicBezTo>
                  <a:pt x="0" y="227384"/>
                  <a:pt x="227384" y="0"/>
                  <a:pt x="507876" y="0"/>
                </a:cubicBezTo>
                <a:cubicBezTo>
                  <a:pt x="788368" y="0"/>
                  <a:pt x="1015752" y="227384"/>
                  <a:pt x="1015752" y="507876"/>
                </a:cubicBezTo>
                <a:cubicBezTo>
                  <a:pt x="1015752" y="788368"/>
                  <a:pt x="788368" y="1015752"/>
                  <a:pt x="507876" y="1015752"/>
                </a:cubicBezTo>
                <a:cubicBezTo>
                  <a:pt x="227384" y="1015752"/>
                  <a:pt x="0" y="788368"/>
                  <a:pt x="0" y="507876"/>
                </a:cubicBezTo>
                <a:close/>
              </a:path>
            </a:pathLst>
          </a:custGeom>
          <a:solidFill>
            <a:srgbClr val="0075CC"/>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4153" tIns="174153" rIns="174153" bIns="174153" numCol="1" spcCol="1270" anchor="ctr" anchorCtr="0">
            <a:noAutofit/>
          </a:bodyPr>
          <a:lstStyle/>
          <a:p>
            <a:pPr lvl="0" algn="ctr" defTabSz="889000">
              <a:lnSpc>
                <a:spcPct val="90000"/>
              </a:lnSpc>
              <a:spcBef>
                <a:spcPct val="0"/>
              </a:spcBef>
              <a:spcAft>
                <a:spcPct val="35000"/>
              </a:spcAft>
            </a:pPr>
            <a:r>
              <a:rPr lang="zh-CN" altLang="en-US" sz="2000" b="1" kern="1200" dirty="0"/>
              <a:t>需求分析</a:t>
            </a:r>
          </a:p>
        </p:txBody>
      </p:sp>
      <p:sp>
        <p:nvSpPr>
          <p:cNvPr id="8" name="任意多边形 7"/>
          <p:cNvSpPr/>
          <p:nvPr/>
        </p:nvSpPr>
        <p:spPr>
          <a:xfrm>
            <a:off x="4624422" y="3194393"/>
            <a:ext cx="1015751" cy="1015751"/>
          </a:xfrm>
          <a:custGeom>
            <a:avLst/>
            <a:gdLst>
              <a:gd name="connsiteX0" fmla="*/ 0 w 1015751"/>
              <a:gd name="connsiteY0" fmla="*/ 507876 h 1015751"/>
              <a:gd name="connsiteX1" fmla="*/ 507876 w 1015751"/>
              <a:gd name="connsiteY1" fmla="*/ 0 h 1015751"/>
              <a:gd name="connsiteX2" fmla="*/ 1015752 w 1015751"/>
              <a:gd name="connsiteY2" fmla="*/ 507876 h 1015751"/>
              <a:gd name="connsiteX3" fmla="*/ 507876 w 1015751"/>
              <a:gd name="connsiteY3" fmla="*/ 1015752 h 1015751"/>
              <a:gd name="connsiteX4" fmla="*/ 0 w 1015751"/>
              <a:gd name="connsiteY4" fmla="*/ 507876 h 1015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751" h="1015751">
                <a:moveTo>
                  <a:pt x="0" y="507876"/>
                </a:moveTo>
                <a:cubicBezTo>
                  <a:pt x="0" y="227384"/>
                  <a:pt x="227384" y="0"/>
                  <a:pt x="507876" y="0"/>
                </a:cubicBezTo>
                <a:cubicBezTo>
                  <a:pt x="788368" y="0"/>
                  <a:pt x="1015752" y="227384"/>
                  <a:pt x="1015752" y="507876"/>
                </a:cubicBezTo>
                <a:cubicBezTo>
                  <a:pt x="1015752" y="788368"/>
                  <a:pt x="788368" y="1015752"/>
                  <a:pt x="507876" y="1015752"/>
                </a:cubicBezTo>
                <a:cubicBezTo>
                  <a:pt x="227384" y="1015752"/>
                  <a:pt x="0" y="788368"/>
                  <a:pt x="0" y="507876"/>
                </a:cubicBezTo>
                <a:close/>
              </a:path>
            </a:pathLst>
          </a:custGeom>
          <a:solidFill>
            <a:srgbClr val="0075CC"/>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4153" tIns="174153" rIns="174153" bIns="174153" numCol="1" spcCol="1270" anchor="ctr" anchorCtr="0">
            <a:noAutofit/>
          </a:bodyPr>
          <a:lstStyle/>
          <a:p>
            <a:pPr lvl="0" algn="ctr" defTabSz="889000">
              <a:lnSpc>
                <a:spcPct val="90000"/>
              </a:lnSpc>
              <a:spcBef>
                <a:spcPct val="0"/>
              </a:spcBef>
              <a:spcAft>
                <a:spcPct val="35000"/>
              </a:spcAft>
            </a:pPr>
            <a:r>
              <a:rPr lang="zh-CN" altLang="en-US" sz="2000" b="1" kern="1200" dirty="0"/>
              <a:t>软件设计</a:t>
            </a:r>
          </a:p>
        </p:txBody>
      </p:sp>
      <p:sp>
        <p:nvSpPr>
          <p:cNvPr id="10" name="任意多边形 9"/>
          <p:cNvSpPr/>
          <p:nvPr/>
        </p:nvSpPr>
        <p:spPr>
          <a:xfrm>
            <a:off x="6239206" y="3213794"/>
            <a:ext cx="1015751" cy="1015751"/>
          </a:xfrm>
          <a:custGeom>
            <a:avLst/>
            <a:gdLst>
              <a:gd name="connsiteX0" fmla="*/ 0 w 1015751"/>
              <a:gd name="connsiteY0" fmla="*/ 507876 h 1015751"/>
              <a:gd name="connsiteX1" fmla="*/ 507876 w 1015751"/>
              <a:gd name="connsiteY1" fmla="*/ 0 h 1015751"/>
              <a:gd name="connsiteX2" fmla="*/ 1015752 w 1015751"/>
              <a:gd name="connsiteY2" fmla="*/ 507876 h 1015751"/>
              <a:gd name="connsiteX3" fmla="*/ 507876 w 1015751"/>
              <a:gd name="connsiteY3" fmla="*/ 1015752 h 1015751"/>
              <a:gd name="connsiteX4" fmla="*/ 0 w 1015751"/>
              <a:gd name="connsiteY4" fmla="*/ 507876 h 1015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751" h="1015751">
                <a:moveTo>
                  <a:pt x="0" y="507876"/>
                </a:moveTo>
                <a:cubicBezTo>
                  <a:pt x="0" y="227384"/>
                  <a:pt x="227384" y="0"/>
                  <a:pt x="507876" y="0"/>
                </a:cubicBezTo>
                <a:cubicBezTo>
                  <a:pt x="788368" y="0"/>
                  <a:pt x="1015752" y="227384"/>
                  <a:pt x="1015752" y="507876"/>
                </a:cubicBezTo>
                <a:cubicBezTo>
                  <a:pt x="1015752" y="788368"/>
                  <a:pt x="788368" y="1015752"/>
                  <a:pt x="507876" y="1015752"/>
                </a:cubicBezTo>
                <a:cubicBezTo>
                  <a:pt x="227384" y="1015752"/>
                  <a:pt x="0" y="788368"/>
                  <a:pt x="0" y="507876"/>
                </a:cubicBezTo>
                <a:close/>
              </a:path>
            </a:pathLst>
          </a:custGeom>
          <a:solidFill>
            <a:srgbClr val="0075CC"/>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4153" tIns="174153" rIns="174153" bIns="174153" numCol="1" spcCol="1270" anchor="ctr" anchorCtr="0">
            <a:noAutofit/>
          </a:bodyPr>
          <a:lstStyle/>
          <a:p>
            <a:pPr lvl="0" algn="ctr" defTabSz="889000">
              <a:lnSpc>
                <a:spcPct val="90000"/>
              </a:lnSpc>
              <a:spcBef>
                <a:spcPct val="0"/>
              </a:spcBef>
              <a:spcAft>
                <a:spcPct val="35000"/>
              </a:spcAft>
            </a:pPr>
            <a:r>
              <a:rPr lang="zh-CN" altLang="en-US" sz="2000" b="1" kern="1200" dirty="0"/>
              <a:t>软件开发</a:t>
            </a:r>
          </a:p>
        </p:txBody>
      </p:sp>
      <p:sp>
        <p:nvSpPr>
          <p:cNvPr id="12" name="任意多边形 11"/>
          <p:cNvSpPr/>
          <p:nvPr/>
        </p:nvSpPr>
        <p:spPr>
          <a:xfrm>
            <a:off x="7853990" y="3213794"/>
            <a:ext cx="1015751" cy="1015751"/>
          </a:xfrm>
          <a:custGeom>
            <a:avLst/>
            <a:gdLst>
              <a:gd name="connsiteX0" fmla="*/ 0 w 1015751"/>
              <a:gd name="connsiteY0" fmla="*/ 507876 h 1015751"/>
              <a:gd name="connsiteX1" fmla="*/ 507876 w 1015751"/>
              <a:gd name="connsiteY1" fmla="*/ 0 h 1015751"/>
              <a:gd name="connsiteX2" fmla="*/ 1015752 w 1015751"/>
              <a:gd name="connsiteY2" fmla="*/ 507876 h 1015751"/>
              <a:gd name="connsiteX3" fmla="*/ 507876 w 1015751"/>
              <a:gd name="connsiteY3" fmla="*/ 1015752 h 1015751"/>
              <a:gd name="connsiteX4" fmla="*/ 0 w 1015751"/>
              <a:gd name="connsiteY4" fmla="*/ 507876 h 1015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751" h="1015751">
                <a:moveTo>
                  <a:pt x="0" y="507876"/>
                </a:moveTo>
                <a:cubicBezTo>
                  <a:pt x="0" y="227384"/>
                  <a:pt x="227384" y="0"/>
                  <a:pt x="507876" y="0"/>
                </a:cubicBezTo>
                <a:cubicBezTo>
                  <a:pt x="788368" y="0"/>
                  <a:pt x="1015752" y="227384"/>
                  <a:pt x="1015752" y="507876"/>
                </a:cubicBezTo>
                <a:cubicBezTo>
                  <a:pt x="1015752" y="788368"/>
                  <a:pt x="788368" y="1015752"/>
                  <a:pt x="507876" y="1015752"/>
                </a:cubicBezTo>
                <a:cubicBezTo>
                  <a:pt x="227384" y="1015752"/>
                  <a:pt x="0" y="788368"/>
                  <a:pt x="0" y="507876"/>
                </a:cubicBezTo>
                <a:close/>
              </a:path>
            </a:pathLst>
          </a:custGeom>
          <a:solidFill>
            <a:srgbClr val="0075CC"/>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4153" tIns="174153" rIns="174153" bIns="174153" numCol="1" spcCol="1270" anchor="ctr" anchorCtr="0">
            <a:noAutofit/>
          </a:bodyPr>
          <a:lstStyle/>
          <a:p>
            <a:pPr lvl="0" algn="ctr" defTabSz="889000">
              <a:lnSpc>
                <a:spcPct val="90000"/>
              </a:lnSpc>
              <a:spcBef>
                <a:spcPct val="0"/>
              </a:spcBef>
              <a:spcAft>
                <a:spcPct val="35000"/>
              </a:spcAft>
            </a:pPr>
            <a:r>
              <a:rPr lang="zh-CN" altLang="en-US" sz="2000" b="1" kern="1200" dirty="0"/>
              <a:t>软件测试</a:t>
            </a:r>
          </a:p>
        </p:txBody>
      </p:sp>
      <p:sp>
        <p:nvSpPr>
          <p:cNvPr id="13" name="任意多边形 12"/>
          <p:cNvSpPr/>
          <p:nvPr/>
        </p:nvSpPr>
        <p:spPr>
          <a:xfrm>
            <a:off x="2467247" y="3530774"/>
            <a:ext cx="495935" cy="342900"/>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
        <p:nvSpPr>
          <p:cNvPr id="19" name="任意多边形 18"/>
          <p:cNvSpPr/>
          <p:nvPr/>
        </p:nvSpPr>
        <p:spPr>
          <a:xfrm>
            <a:off x="9468774" y="3203633"/>
            <a:ext cx="1015751" cy="1015751"/>
          </a:xfrm>
          <a:custGeom>
            <a:avLst/>
            <a:gdLst>
              <a:gd name="connsiteX0" fmla="*/ 0 w 1015751"/>
              <a:gd name="connsiteY0" fmla="*/ 507876 h 1015751"/>
              <a:gd name="connsiteX1" fmla="*/ 507876 w 1015751"/>
              <a:gd name="connsiteY1" fmla="*/ 0 h 1015751"/>
              <a:gd name="connsiteX2" fmla="*/ 1015752 w 1015751"/>
              <a:gd name="connsiteY2" fmla="*/ 507876 h 1015751"/>
              <a:gd name="connsiteX3" fmla="*/ 507876 w 1015751"/>
              <a:gd name="connsiteY3" fmla="*/ 1015752 h 1015751"/>
              <a:gd name="connsiteX4" fmla="*/ 0 w 1015751"/>
              <a:gd name="connsiteY4" fmla="*/ 507876 h 1015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751" h="1015751">
                <a:moveTo>
                  <a:pt x="0" y="507876"/>
                </a:moveTo>
                <a:cubicBezTo>
                  <a:pt x="0" y="227384"/>
                  <a:pt x="227384" y="0"/>
                  <a:pt x="507876" y="0"/>
                </a:cubicBezTo>
                <a:cubicBezTo>
                  <a:pt x="788368" y="0"/>
                  <a:pt x="1015752" y="227384"/>
                  <a:pt x="1015752" y="507876"/>
                </a:cubicBezTo>
                <a:cubicBezTo>
                  <a:pt x="1015752" y="788368"/>
                  <a:pt x="788368" y="1015752"/>
                  <a:pt x="507876" y="1015752"/>
                </a:cubicBezTo>
                <a:cubicBezTo>
                  <a:pt x="227384" y="1015752"/>
                  <a:pt x="0" y="788368"/>
                  <a:pt x="0" y="507876"/>
                </a:cubicBezTo>
                <a:close/>
              </a:path>
            </a:pathLst>
          </a:custGeom>
          <a:solidFill>
            <a:srgbClr val="0075CC"/>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4153" tIns="174153" rIns="174153" bIns="174153" numCol="1" spcCol="1270" anchor="ctr" anchorCtr="0">
            <a:noAutofit/>
          </a:bodyPr>
          <a:lstStyle/>
          <a:p>
            <a:pPr lvl="0" algn="ctr" defTabSz="889000">
              <a:lnSpc>
                <a:spcPct val="90000"/>
              </a:lnSpc>
              <a:spcBef>
                <a:spcPct val="0"/>
              </a:spcBef>
              <a:spcAft>
                <a:spcPct val="35000"/>
              </a:spcAft>
            </a:pPr>
            <a:r>
              <a:rPr lang="zh-CN" altLang="en-US" sz="2000" b="1" kern="1200" dirty="0"/>
              <a:t>软件维护</a:t>
            </a:r>
          </a:p>
        </p:txBody>
      </p:sp>
      <p:sp>
        <p:nvSpPr>
          <p:cNvPr id="22" name="任意多边形 21"/>
          <p:cNvSpPr/>
          <p:nvPr/>
        </p:nvSpPr>
        <p:spPr>
          <a:xfrm>
            <a:off x="4082138" y="3550261"/>
            <a:ext cx="496800" cy="342816"/>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
        <p:nvSpPr>
          <p:cNvPr id="23" name="任意多边形 22"/>
          <p:cNvSpPr/>
          <p:nvPr/>
        </p:nvSpPr>
        <p:spPr>
          <a:xfrm>
            <a:off x="5696922" y="3550261"/>
            <a:ext cx="496800" cy="342816"/>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
        <p:nvSpPr>
          <p:cNvPr id="24" name="任意多边形 23"/>
          <p:cNvSpPr/>
          <p:nvPr/>
        </p:nvSpPr>
        <p:spPr>
          <a:xfrm>
            <a:off x="7311706" y="3550261"/>
            <a:ext cx="496800" cy="342816"/>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
        <p:nvSpPr>
          <p:cNvPr id="26" name="任意多边形 25"/>
          <p:cNvSpPr/>
          <p:nvPr/>
        </p:nvSpPr>
        <p:spPr>
          <a:xfrm>
            <a:off x="8926490" y="3550261"/>
            <a:ext cx="496800" cy="342816"/>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627529"/>
            <a:ext cx="2797810" cy="3898265"/>
          </a:xfrm>
          <a:prstGeom prst="rect">
            <a:avLst/>
          </a:prstGeom>
        </p:spPr>
      </p:pic>
      <p:sp>
        <p:nvSpPr>
          <p:cNvPr id="13" name="椭圆形标注 12"/>
          <p:cNvSpPr/>
          <p:nvPr/>
        </p:nvSpPr>
        <p:spPr>
          <a:xfrm>
            <a:off x="2968625" y="1972209"/>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2050314"/>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625784"/>
            <a:ext cx="5669299"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熟悉</a:t>
            </a:r>
            <a:r>
              <a:rPr lang="en-US"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6</a:t>
            </a:r>
            <a:r>
              <a:rPr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个典型的软件开发模型</a:t>
            </a:r>
            <a:r>
              <a:rPr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，能够区分这</a:t>
            </a:r>
            <a:r>
              <a:rPr 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6</a:t>
            </a:r>
            <a:r>
              <a:rPr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个软件开发模型</a:t>
            </a:r>
            <a:endParaRPr lang="zh-CN"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9" name="组合 18"/>
          <p:cNvGrpSpPr/>
          <p:nvPr/>
        </p:nvGrpSpPr>
        <p:grpSpPr>
          <a:xfrm>
            <a:off x="5452110" y="3952139"/>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软件开发模型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软件开发模型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7" name="TextBox 35"/>
          <p:cNvSpPr txBox="1">
            <a:spLocks noChangeArrowheads="1"/>
          </p:cNvSpPr>
          <p:nvPr/>
        </p:nvSpPr>
        <p:spPr bwMode="auto">
          <a:xfrm>
            <a:off x="911012" y="838364"/>
            <a:ext cx="10441160" cy="1084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rPr>
              <a:t>下面根据</a:t>
            </a:r>
            <a:r>
              <a:rPr dirty="0" err="1">
                <a:solidFill>
                  <a:srgbClr val="595959"/>
                </a:solidFill>
                <a:latin typeface="微软雅黑" panose="020B0503020204020204" pitchFamily="34" charset="-122"/>
                <a:ea typeface="微软雅黑" panose="020B0503020204020204" pitchFamily="34" charset="-122"/>
              </a:rPr>
              <a:t>软件开发模型</a:t>
            </a:r>
            <a:r>
              <a:rPr lang="zh-CN" altLang="en-US" dirty="0">
                <a:solidFill>
                  <a:srgbClr val="595959"/>
                </a:solidFill>
                <a:latin typeface="微软雅黑" panose="020B0503020204020204" pitchFamily="34" charset="-122"/>
                <a:ea typeface="微软雅黑" panose="020B0503020204020204" pitchFamily="34" charset="-122"/>
              </a:rPr>
              <a:t>的</a:t>
            </a:r>
            <a:r>
              <a:rPr dirty="0">
                <a:solidFill>
                  <a:srgbClr val="595959"/>
                </a:solidFill>
                <a:latin typeface="微软雅黑" panose="020B0503020204020204" pitchFamily="34" charset="-122"/>
                <a:ea typeface="微软雅黑" panose="020B0503020204020204" pitchFamily="34" charset="-122"/>
              </a:rPr>
              <a:t>发展历史，介绍</a:t>
            </a:r>
            <a:r>
              <a:rPr lang="en-US" dirty="0">
                <a:solidFill>
                  <a:srgbClr val="0070C0"/>
                </a:solidFill>
                <a:latin typeface="微软雅黑" panose="020B0503020204020204" pitchFamily="34" charset="-122"/>
                <a:ea typeface="微软雅黑" panose="020B0503020204020204" pitchFamily="34" charset="-122"/>
              </a:rPr>
              <a:t>6</a:t>
            </a:r>
            <a:r>
              <a:rPr dirty="0">
                <a:solidFill>
                  <a:srgbClr val="0070C0"/>
                </a:solidFill>
                <a:latin typeface="微软雅黑" panose="020B0503020204020204" pitchFamily="34" charset="-122"/>
                <a:ea typeface="微软雅黑" panose="020B0503020204020204" pitchFamily="34" charset="-122"/>
              </a:rPr>
              <a:t>个典型的开发模型</a:t>
            </a:r>
            <a:r>
              <a:rPr lang="zh-CN" altLang="en-US" dirty="0">
                <a:solidFill>
                  <a:srgbClr val="595959"/>
                </a:solidFill>
                <a:latin typeface="微软雅黑" panose="020B0503020204020204" pitchFamily="34" charset="-122"/>
                <a:ea typeface="微软雅黑" panose="020B0503020204020204" pitchFamily="34" charset="-122"/>
              </a:rPr>
              <a:t>。</a:t>
            </a:r>
          </a:p>
          <a:p>
            <a:pPr algn="just">
              <a:lnSpc>
                <a:spcPct val="150000"/>
              </a:lnSpc>
            </a:pPr>
            <a:r>
              <a:rPr lang="en-US" altLang="zh-CN" sz="2000" b="1" dirty="0">
                <a:solidFill>
                  <a:srgbClr val="595959"/>
                </a:solidFill>
                <a:latin typeface="微软雅黑" panose="020B0503020204020204" pitchFamily="34" charset="-122"/>
                <a:ea typeface="微软雅黑" panose="020B0503020204020204" pitchFamily="34" charset="-122"/>
              </a:rPr>
              <a:t>1. 瀑布模型</a:t>
            </a:r>
            <a:endParaRPr sz="2000" b="1" dirty="0">
              <a:solidFill>
                <a:srgbClr val="595959"/>
              </a:solidFill>
              <a:latin typeface="微软雅黑" panose="020B0503020204020204" pitchFamily="34" charset="-122"/>
              <a:ea typeface="微软雅黑" panose="020B0503020204020204" pitchFamily="34" charset="-122"/>
            </a:endParaRPr>
          </a:p>
        </p:txBody>
      </p:sp>
      <p:sp>
        <p:nvSpPr>
          <p:cNvPr id="18" name="任意多边形 17"/>
          <p:cNvSpPr/>
          <p:nvPr/>
        </p:nvSpPr>
        <p:spPr>
          <a:xfrm>
            <a:off x="8975206" y="1597073"/>
            <a:ext cx="1778000" cy="534664"/>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制订</a:t>
            </a:r>
            <a:r>
              <a:rPr lang="zh-CN" altLang="en-US" sz="2000" b="1" kern="1200" dirty="0">
                <a:solidFill>
                  <a:schemeClr val="bg1"/>
                </a:solidFill>
              </a:rPr>
              <a:t>计划</a:t>
            </a:r>
          </a:p>
        </p:txBody>
      </p:sp>
      <p:sp>
        <p:nvSpPr>
          <p:cNvPr id="30" name="任意多边形 29"/>
          <p:cNvSpPr/>
          <p:nvPr/>
        </p:nvSpPr>
        <p:spPr>
          <a:xfrm>
            <a:off x="8975206" y="2420033"/>
            <a:ext cx="1778000" cy="534664"/>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kern="1200" dirty="0">
                <a:solidFill>
                  <a:schemeClr val="bg1"/>
                </a:solidFill>
              </a:rPr>
              <a:t>需求分析</a:t>
            </a:r>
          </a:p>
        </p:txBody>
      </p:sp>
      <p:sp>
        <p:nvSpPr>
          <p:cNvPr id="5" name="任意多边形 4"/>
          <p:cNvSpPr/>
          <p:nvPr/>
        </p:nvSpPr>
        <p:spPr>
          <a:xfrm>
            <a:off x="8975206" y="3242993"/>
            <a:ext cx="1778000" cy="534664"/>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软件设计</a:t>
            </a:r>
            <a:endParaRPr lang="zh-CN" altLang="en-US" sz="2000" b="1" kern="1200" dirty="0">
              <a:solidFill>
                <a:schemeClr val="bg1"/>
              </a:solidFill>
            </a:endParaRPr>
          </a:p>
        </p:txBody>
      </p:sp>
      <p:sp>
        <p:nvSpPr>
          <p:cNvPr id="32" name="任意多边形 31"/>
          <p:cNvSpPr/>
          <p:nvPr/>
        </p:nvSpPr>
        <p:spPr>
          <a:xfrm>
            <a:off x="8975206" y="4065953"/>
            <a:ext cx="1778000" cy="534664"/>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kern="1200" dirty="0">
                <a:solidFill>
                  <a:schemeClr val="bg1"/>
                </a:solidFill>
              </a:rPr>
              <a:t>程序编写</a:t>
            </a:r>
          </a:p>
        </p:txBody>
      </p:sp>
      <p:sp>
        <p:nvSpPr>
          <p:cNvPr id="33" name="任意多边形 32"/>
          <p:cNvSpPr/>
          <p:nvPr/>
        </p:nvSpPr>
        <p:spPr>
          <a:xfrm>
            <a:off x="8975206" y="4888913"/>
            <a:ext cx="1778000" cy="534664"/>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软件测试</a:t>
            </a:r>
            <a:endParaRPr lang="zh-CN" altLang="en-US" sz="2000" b="1" kern="1200" dirty="0">
              <a:solidFill>
                <a:schemeClr val="bg1"/>
              </a:solidFill>
            </a:endParaRPr>
          </a:p>
        </p:txBody>
      </p:sp>
      <p:sp>
        <p:nvSpPr>
          <p:cNvPr id="34" name="任意多边形 33"/>
          <p:cNvSpPr/>
          <p:nvPr/>
        </p:nvSpPr>
        <p:spPr>
          <a:xfrm>
            <a:off x="8975206" y="5711873"/>
            <a:ext cx="1778000" cy="534664"/>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运行维护</a:t>
            </a:r>
            <a:endParaRPr lang="zh-CN" altLang="en-US" sz="2000" b="1" kern="1200" dirty="0">
              <a:solidFill>
                <a:schemeClr val="bg1"/>
              </a:solidFill>
            </a:endParaRPr>
          </a:p>
        </p:txBody>
      </p:sp>
      <p:sp>
        <p:nvSpPr>
          <p:cNvPr id="35" name="任意多边形 34"/>
          <p:cNvSpPr/>
          <p:nvPr/>
        </p:nvSpPr>
        <p:spPr>
          <a:xfrm rot="5400000">
            <a:off x="9720576" y="2140898"/>
            <a:ext cx="270270" cy="288000"/>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
        <p:nvSpPr>
          <p:cNvPr id="36" name="任意多边形 35"/>
          <p:cNvSpPr/>
          <p:nvPr/>
        </p:nvSpPr>
        <p:spPr>
          <a:xfrm rot="5400000">
            <a:off x="9730735" y="2963858"/>
            <a:ext cx="270270" cy="288000"/>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
        <p:nvSpPr>
          <p:cNvPr id="37" name="任意多边形 36"/>
          <p:cNvSpPr/>
          <p:nvPr/>
        </p:nvSpPr>
        <p:spPr>
          <a:xfrm rot="5400000">
            <a:off x="9740895" y="3786818"/>
            <a:ext cx="270270" cy="288000"/>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
        <p:nvSpPr>
          <p:cNvPr id="38" name="任意多边形 37"/>
          <p:cNvSpPr/>
          <p:nvPr/>
        </p:nvSpPr>
        <p:spPr>
          <a:xfrm rot="5400000">
            <a:off x="9740895" y="4609778"/>
            <a:ext cx="270270" cy="288000"/>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
        <p:nvSpPr>
          <p:cNvPr id="39" name="任意多边形 38"/>
          <p:cNvSpPr/>
          <p:nvPr/>
        </p:nvSpPr>
        <p:spPr>
          <a:xfrm rot="5400000">
            <a:off x="9745276" y="5446714"/>
            <a:ext cx="270270" cy="288000"/>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
        <p:nvSpPr>
          <p:cNvPr id="16" name="TextBox 35"/>
          <p:cNvSpPr txBox="1">
            <a:spLocks noChangeArrowheads="1"/>
          </p:cNvSpPr>
          <p:nvPr/>
        </p:nvSpPr>
        <p:spPr bwMode="auto">
          <a:xfrm>
            <a:off x="910740" y="2223560"/>
            <a:ext cx="6014961" cy="1915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2000" dirty="0">
                <a:solidFill>
                  <a:srgbClr val="0070C0"/>
                </a:solidFill>
                <a:latin typeface="微软雅黑" panose="020B0503020204020204" pitchFamily="34" charset="-122"/>
                <a:ea typeface="微软雅黑" panose="020B0503020204020204" pitchFamily="34" charset="-122"/>
                <a:sym typeface="+mn-ea"/>
              </a:rPr>
              <a:t>瀑布模型</a:t>
            </a:r>
            <a:r>
              <a:rPr lang="zh-CN" altLang="en-US" sz="2000" dirty="0">
                <a:solidFill>
                  <a:srgbClr val="595959"/>
                </a:solidFill>
                <a:latin typeface="微软雅黑" panose="020B0503020204020204" pitchFamily="34" charset="-122"/>
                <a:ea typeface="微软雅黑" panose="020B0503020204020204" pitchFamily="34" charset="-122"/>
                <a:sym typeface="+mn-ea"/>
              </a:rPr>
              <a:t>为整个项目</a:t>
            </a:r>
            <a:r>
              <a:rPr lang="zh-CN" altLang="en-US" sz="2000" dirty="0">
                <a:solidFill>
                  <a:srgbClr val="0070C0"/>
                </a:solidFill>
                <a:latin typeface="微软雅黑" panose="020B0503020204020204" pitchFamily="34" charset="-122"/>
                <a:ea typeface="微软雅黑" panose="020B0503020204020204" pitchFamily="34" charset="-122"/>
                <a:sym typeface="+mn-ea"/>
              </a:rPr>
              <a:t>划分了清晰的检查点</a:t>
            </a:r>
            <a:r>
              <a:rPr lang="zh-CN" altLang="en-US" sz="2000" dirty="0">
                <a:solidFill>
                  <a:srgbClr val="595959"/>
                </a:solidFill>
                <a:latin typeface="微软雅黑" panose="020B0503020204020204" pitchFamily="34" charset="-122"/>
                <a:ea typeface="微软雅黑" panose="020B0503020204020204" pitchFamily="34" charset="-122"/>
                <a:sym typeface="+mn-ea"/>
              </a:rPr>
              <a:t>，当一个阶段完成之后，只需要把全部精力放在后面的开发上即可。这有利于大型软件开发人员的组织管理及工具的使用与研究，可以</a:t>
            </a:r>
            <a:r>
              <a:rPr lang="zh-CN" altLang="en-US" sz="2000" dirty="0">
                <a:solidFill>
                  <a:srgbClr val="0070C0"/>
                </a:solidFill>
                <a:latin typeface="微软雅黑" panose="020B0503020204020204" pitchFamily="34" charset="-122"/>
                <a:ea typeface="微软雅黑" panose="020B0503020204020204" pitchFamily="34" charset="-122"/>
                <a:sym typeface="+mn-ea"/>
              </a:rPr>
              <a:t>提高开发的效率</a:t>
            </a:r>
            <a:r>
              <a:rPr lang="zh-CN" altLang="en-US" sz="2000" dirty="0">
                <a:solidFill>
                  <a:srgbClr val="595959"/>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D6A67-100B-325C-AF7C-7CD93E0D8173}"/>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D0DEDBEF-34DB-C8DA-209B-18C03906DE31}"/>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软件开发模型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7" name="TextBox 35">
            <a:extLst>
              <a:ext uri="{FF2B5EF4-FFF2-40B4-BE49-F238E27FC236}">
                <a16:creationId xmlns:a16="http://schemas.microsoft.com/office/drawing/2014/main" id="{492FBBF3-B15C-D37E-929D-8696E9C9D77F}"/>
              </a:ext>
            </a:extLst>
          </p:cNvPr>
          <p:cNvSpPr txBox="1">
            <a:spLocks noChangeArrowheads="1"/>
          </p:cNvSpPr>
          <p:nvPr/>
        </p:nvSpPr>
        <p:spPr bwMode="auto">
          <a:xfrm>
            <a:off x="874626" y="1629794"/>
            <a:ext cx="10441160" cy="3108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20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瀑布模型强调</a:t>
            </a:r>
            <a:r>
              <a:rPr lang="zh-CN" altLang="en-US" sz="2000" dirty="0">
                <a:solidFill>
                  <a:srgbClr val="0075CC"/>
                </a:solidFill>
                <a:latin typeface="微软雅黑" panose="020B0503020204020204" pitchFamily="34" charset="-122"/>
                <a:ea typeface="微软雅黑" panose="020B0503020204020204" pitchFamily="34" charset="-122"/>
              </a:rPr>
              <a:t>文档</a:t>
            </a:r>
            <a:r>
              <a:rPr lang="zh-CN" altLang="en-US" sz="2000" dirty="0">
                <a:solidFill>
                  <a:srgbClr val="595959"/>
                </a:solidFill>
                <a:latin typeface="微软雅黑" panose="020B0503020204020204" pitchFamily="34" charset="-122"/>
                <a:ea typeface="微软雅黑" panose="020B0503020204020204" pitchFamily="34" charset="-122"/>
              </a:rPr>
              <a:t>的作用，并要求每个阶段都要仔细验证。但是，这种模型的</a:t>
            </a:r>
            <a:r>
              <a:rPr lang="zh-CN" altLang="en-US" sz="2000" dirty="0">
                <a:solidFill>
                  <a:srgbClr val="0075CC"/>
                </a:solidFill>
                <a:latin typeface="微软雅黑" panose="020B0503020204020204" pitchFamily="34" charset="-122"/>
                <a:ea typeface="微软雅黑" panose="020B0503020204020204" pitchFamily="34" charset="-122"/>
              </a:rPr>
              <a:t>线性过程太理想化</a:t>
            </a:r>
            <a:r>
              <a:rPr lang="zh-CN" altLang="en-US" sz="2000" dirty="0">
                <a:solidFill>
                  <a:srgbClr val="595959"/>
                </a:solidFill>
                <a:latin typeface="微软雅黑" panose="020B0503020204020204" pitchFamily="34" charset="-122"/>
                <a:ea typeface="微软雅黑" panose="020B0503020204020204" pitchFamily="34" charset="-122"/>
              </a:rPr>
              <a:t>，已</a:t>
            </a:r>
            <a:r>
              <a:rPr lang="zh-CN" altLang="en-US" sz="2000" dirty="0">
                <a:solidFill>
                  <a:srgbClr val="0075CC"/>
                </a:solidFill>
                <a:latin typeface="微软雅黑" panose="020B0503020204020204" pitchFamily="34" charset="-122"/>
                <a:ea typeface="微软雅黑" panose="020B0503020204020204" pitchFamily="34" charset="-122"/>
              </a:rPr>
              <a:t>不再适合现代的软件开发模式</a:t>
            </a:r>
            <a:r>
              <a:rPr lang="zh-CN" altLang="en-US" sz="2000" dirty="0">
                <a:solidFill>
                  <a:srgbClr val="595959"/>
                </a:solidFill>
                <a:latin typeface="微软雅黑" panose="020B0503020204020204" pitchFamily="34" charset="-122"/>
                <a:ea typeface="微软雅黑" panose="020B0503020204020204" pitchFamily="34" charset="-122"/>
              </a:rPr>
              <a:t>，几乎被业界抛弃。其主要问题有以下</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en-US" sz="2000" dirty="0">
                <a:solidFill>
                  <a:srgbClr val="595959"/>
                </a:solidFill>
                <a:latin typeface="微软雅黑" panose="020B0503020204020204" pitchFamily="34" charset="-122"/>
                <a:ea typeface="微软雅黑" panose="020B0503020204020204" pitchFamily="34" charset="-122"/>
              </a:rPr>
              <a:t>个方面 </a:t>
            </a:r>
            <a:endParaRPr lang="en-US" altLang="zh-CN" sz="2000" dirty="0">
              <a:solidFill>
                <a:srgbClr val="595959"/>
              </a:solidFill>
              <a:latin typeface="微软雅黑" panose="020B0503020204020204" pitchFamily="34" charset="-122"/>
              <a:ea typeface="微软雅黑" panose="020B0503020204020204" pitchFamily="34" charset="-122"/>
            </a:endParaRPr>
          </a:p>
          <a:p>
            <a:pPr indent="457200" algn="just">
              <a:lnSpc>
                <a:spcPct val="20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① 各个阶段的划分完全固定，阶段之间产生大量的文档，极大地增加了工作量。</a:t>
            </a:r>
          </a:p>
          <a:p>
            <a:pPr indent="457200" algn="just">
              <a:lnSpc>
                <a:spcPct val="20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② 由于开发模型是线性的，早期的错误可能要等到开发后期的测试阶段才能发现，从而增加了开发的风险。 </a:t>
            </a:r>
            <a:endParaRPr lang="en-US" altLang="zh-CN" sz="2000"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980273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软件开发模型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7" name="TextBox 35"/>
          <p:cNvSpPr txBox="1">
            <a:spLocks noChangeArrowheads="1"/>
          </p:cNvSpPr>
          <p:nvPr/>
        </p:nvSpPr>
        <p:spPr bwMode="auto">
          <a:xfrm>
            <a:off x="874182" y="838364"/>
            <a:ext cx="10441160" cy="530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2000" b="1" dirty="0">
                <a:solidFill>
                  <a:srgbClr val="595959"/>
                </a:solidFill>
                <a:latin typeface="微软雅黑" panose="020B0503020204020204" pitchFamily="34" charset="-122"/>
                <a:ea typeface="微软雅黑" panose="020B0503020204020204" pitchFamily="34" charset="-122"/>
              </a:rPr>
              <a:t>2.快速原型模型</a:t>
            </a:r>
            <a:endParaRPr lang="zh-CN" altLang="en-US" sz="2000" b="1" dirty="0">
              <a:solidFill>
                <a:srgbClr val="595959"/>
              </a:solidFill>
              <a:latin typeface="微软雅黑" panose="020B0503020204020204" pitchFamily="34" charset="-122"/>
              <a:ea typeface="微软雅黑" panose="020B0503020204020204" pitchFamily="34" charset="-122"/>
            </a:endParaRPr>
          </a:p>
        </p:txBody>
      </p:sp>
      <p:sp>
        <p:nvSpPr>
          <p:cNvPr id="6" name="任意多边形 5"/>
          <p:cNvSpPr/>
          <p:nvPr/>
        </p:nvSpPr>
        <p:spPr>
          <a:xfrm>
            <a:off x="8050666" y="1630051"/>
            <a:ext cx="1778000" cy="534664"/>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需求分析</a:t>
            </a:r>
            <a:endParaRPr lang="zh-CN" altLang="en-US" sz="2000" b="1" kern="1200" dirty="0">
              <a:solidFill>
                <a:schemeClr val="bg1"/>
              </a:solidFill>
            </a:endParaRPr>
          </a:p>
        </p:txBody>
      </p:sp>
      <p:sp>
        <p:nvSpPr>
          <p:cNvPr id="7" name="任意多边形 6"/>
          <p:cNvSpPr/>
          <p:nvPr/>
        </p:nvSpPr>
        <p:spPr>
          <a:xfrm>
            <a:off x="8050666" y="2506925"/>
            <a:ext cx="1778000" cy="534664"/>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构建原型</a:t>
            </a:r>
            <a:endParaRPr lang="zh-CN" altLang="en-US" sz="2000" b="1" kern="1200" dirty="0">
              <a:solidFill>
                <a:schemeClr val="bg1"/>
              </a:solidFill>
            </a:endParaRPr>
          </a:p>
        </p:txBody>
      </p:sp>
      <p:sp>
        <p:nvSpPr>
          <p:cNvPr id="8" name="任意多边形 7"/>
          <p:cNvSpPr/>
          <p:nvPr/>
        </p:nvSpPr>
        <p:spPr>
          <a:xfrm>
            <a:off x="8050666" y="3383799"/>
            <a:ext cx="1778000" cy="534664"/>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原型评价</a:t>
            </a:r>
            <a:endParaRPr lang="zh-CN" altLang="en-US" sz="2000" b="1" kern="1200" dirty="0">
              <a:solidFill>
                <a:schemeClr val="bg1"/>
              </a:solidFill>
            </a:endParaRPr>
          </a:p>
        </p:txBody>
      </p:sp>
      <p:sp>
        <p:nvSpPr>
          <p:cNvPr id="9" name="任意多边形 8"/>
          <p:cNvSpPr/>
          <p:nvPr/>
        </p:nvSpPr>
        <p:spPr>
          <a:xfrm>
            <a:off x="8050666" y="4260673"/>
            <a:ext cx="1778000" cy="694930"/>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确定最终</a:t>
            </a:r>
            <a:endParaRPr lang="en-US" altLang="zh-CN" sz="2000" b="1" dirty="0">
              <a:solidFill>
                <a:schemeClr val="bg1"/>
              </a:solidFill>
            </a:endParaRPr>
          </a:p>
          <a:p>
            <a:pPr lvl="0" algn="ctr" defTabSz="1200150">
              <a:lnSpc>
                <a:spcPct val="90000"/>
              </a:lnSpc>
              <a:spcBef>
                <a:spcPct val="0"/>
              </a:spcBef>
              <a:spcAft>
                <a:spcPct val="35000"/>
              </a:spcAft>
            </a:pPr>
            <a:r>
              <a:rPr lang="zh-CN" altLang="en-US" sz="2000" b="1" dirty="0">
                <a:solidFill>
                  <a:schemeClr val="bg1"/>
                </a:solidFill>
              </a:rPr>
              <a:t>需求</a:t>
            </a:r>
            <a:endParaRPr lang="zh-CN" altLang="en-US" sz="2000" b="1" kern="1200" dirty="0">
              <a:solidFill>
                <a:schemeClr val="bg1"/>
              </a:solidFill>
            </a:endParaRPr>
          </a:p>
        </p:txBody>
      </p:sp>
      <p:sp>
        <p:nvSpPr>
          <p:cNvPr id="10" name="任意多边形 9"/>
          <p:cNvSpPr/>
          <p:nvPr/>
        </p:nvSpPr>
        <p:spPr>
          <a:xfrm>
            <a:off x="8050666" y="5297811"/>
            <a:ext cx="1778000" cy="534664"/>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软件开发</a:t>
            </a:r>
            <a:endParaRPr lang="zh-CN" altLang="en-US" sz="2000" b="1" kern="1200" dirty="0">
              <a:solidFill>
                <a:schemeClr val="bg1"/>
              </a:solidFill>
            </a:endParaRPr>
          </a:p>
        </p:txBody>
      </p:sp>
      <p:sp>
        <p:nvSpPr>
          <p:cNvPr id="12" name="任意多边形 11"/>
          <p:cNvSpPr/>
          <p:nvPr/>
        </p:nvSpPr>
        <p:spPr>
          <a:xfrm rot="5400000">
            <a:off x="8784211" y="2190154"/>
            <a:ext cx="270270" cy="311651"/>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
        <p:nvSpPr>
          <p:cNvPr id="13" name="任意多边形 12"/>
          <p:cNvSpPr/>
          <p:nvPr/>
        </p:nvSpPr>
        <p:spPr>
          <a:xfrm rot="5400000">
            <a:off x="8794370" y="3067028"/>
            <a:ext cx="270270" cy="311651"/>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
        <p:nvSpPr>
          <p:cNvPr id="14" name="任意多边形 13"/>
          <p:cNvSpPr/>
          <p:nvPr/>
        </p:nvSpPr>
        <p:spPr>
          <a:xfrm rot="5400000">
            <a:off x="8804530" y="3943902"/>
            <a:ext cx="270270" cy="311651"/>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
        <p:nvSpPr>
          <p:cNvPr id="15" name="任意多边形 14"/>
          <p:cNvSpPr/>
          <p:nvPr/>
        </p:nvSpPr>
        <p:spPr>
          <a:xfrm rot="5400000">
            <a:off x="8804530" y="4981042"/>
            <a:ext cx="270270" cy="311651"/>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grpSp>
        <p:nvGrpSpPr>
          <p:cNvPr id="2" name="组合 1"/>
          <p:cNvGrpSpPr/>
          <p:nvPr/>
        </p:nvGrpSpPr>
        <p:grpSpPr>
          <a:xfrm>
            <a:off x="9869306" y="1897383"/>
            <a:ext cx="426720" cy="1753748"/>
            <a:chOff x="7112000" y="1825628"/>
            <a:chExt cx="589280" cy="1753748"/>
          </a:xfrm>
        </p:grpSpPr>
        <p:cxnSp>
          <p:nvCxnSpPr>
            <p:cNvPr id="3" name="直接连接符 2"/>
            <p:cNvCxnSpPr/>
            <p:nvPr/>
          </p:nvCxnSpPr>
          <p:spPr>
            <a:xfrm>
              <a:off x="7152640" y="3579376"/>
              <a:ext cx="548640" cy="0"/>
            </a:xfrm>
            <a:prstGeom prst="line">
              <a:avLst/>
            </a:prstGeom>
            <a:ln>
              <a:solidFill>
                <a:srgbClr val="0075CC"/>
              </a:solidFill>
              <a:prstDash val="sysDash"/>
            </a:ln>
          </p:spPr>
          <p:style>
            <a:lnRef idx="3">
              <a:schemeClr val="accent1"/>
            </a:lnRef>
            <a:fillRef idx="0">
              <a:schemeClr val="accent1"/>
            </a:fillRef>
            <a:effectRef idx="2">
              <a:schemeClr val="accent1"/>
            </a:effectRef>
            <a:fontRef idx="minor">
              <a:schemeClr val="tx1"/>
            </a:fontRef>
          </p:style>
        </p:cxnSp>
        <p:cxnSp>
          <p:nvCxnSpPr>
            <p:cNvPr id="4" name="直接连接符 3"/>
            <p:cNvCxnSpPr/>
            <p:nvPr/>
          </p:nvCxnSpPr>
          <p:spPr>
            <a:xfrm flipV="1">
              <a:off x="7701280" y="1825628"/>
              <a:ext cx="0" cy="1753748"/>
            </a:xfrm>
            <a:prstGeom prst="line">
              <a:avLst/>
            </a:prstGeom>
            <a:ln>
              <a:solidFill>
                <a:srgbClr val="0075CC"/>
              </a:solidFill>
              <a:prstDash val="sysDash"/>
            </a:ln>
          </p:spPr>
          <p:style>
            <a:lnRef idx="3">
              <a:schemeClr val="accent1"/>
            </a:lnRef>
            <a:fillRef idx="0">
              <a:schemeClr val="accent1"/>
            </a:fillRef>
            <a:effectRef idx="2">
              <a:schemeClr val="accent1"/>
            </a:effectRef>
            <a:fontRef idx="minor">
              <a:schemeClr val="tx1"/>
            </a:fontRef>
          </p:style>
        </p:cxnSp>
        <p:cxnSp>
          <p:nvCxnSpPr>
            <p:cNvPr id="11" name="直接箭头连接符 10"/>
            <p:cNvCxnSpPr/>
            <p:nvPr/>
          </p:nvCxnSpPr>
          <p:spPr>
            <a:xfrm flipH="1">
              <a:off x="7112000" y="1825628"/>
              <a:ext cx="589280" cy="0"/>
            </a:xfrm>
            <a:prstGeom prst="straightConnector1">
              <a:avLst/>
            </a:prstGeom>
            <a:ln>
              <a:solidFill>
                <a:srgbClr val="0075CC"/>
              </a:solidFill>
              <a:prstDash val="sysDash"/>
              <a:tailEnd type="arrow"/>
            </a:ln>
          </p:spPr>
          <p:style>
            <a:lnRef idx="3">
              <a:schemeClr val="accent1"/>
            </a:lnRef>
            <a:fillRef idx="0">
              <a:schemeClr val="accent1"/>
            </a:fillRef>
            <a:effectRef idx="2">
              <a:schemeClr val="accent1"/>
            </a:effectRef>
            <a:fontRef idx="minor">
              <a:schemeClr val="tx1"/>
            </a:fontRef>
          </p:style>
        </p:cxnSp>
      </p:grpSp>
      <p:sp>
        <p:nvSpPr>
          <p:cNvPr id="48" name="TextBox 47"/>
          <p:cNvSpPr txBox="1"/>
          <p:nvPr/>
        </p:nvSpPr>
        <p:spPr>
          <a:xfrm>
            <a:off x="10295391" y="2176780"/>
            <a:ext cx="551815" cy="1332230"/>
          </a:xfrm>
          <a:prstGeom prst="rect">
            <a:avLst/>
          </a:prstGeom>
          <a:noFill/>
        </p:spPr>
        <p:txBody>
          <a:bodyPr vert="eaVert" wrap="square" rtlCol="0">
            <a:spAutoFit/>
          </a:bodyPr>
          <a:lstStyle/>
          <a:p>
            <a:r>
              <a:rPr lang="zh-CN" altLang="en-US" b="1" dirty="0">
                <a:solidFill>
                  <a:srgbClr val="0070C0"/>
                </a:solidFill>
              </a:rPr>
              <a:t>细化需求</a:t>
            </a:r>
          </a:p>
        </p:txBody>
      </p:sp>
      <p:sp>
        <p:nvSpPr>
          <p:cNvPr id="16" name="TextBox 35"/>
          <p:cNvSpPr txBox="1">
            <a:spLocks noChangeArrowheads="1"/>
          </p:cNvSpPr>
          <p:nvPr/>
        </p:nvSpPr>
        <p:spPr bwMode="auto">
          <a:xfrm>
            <a:off x="874395" y="1577975"/>
            <a:ext cx="5166995" cy="3762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快速原型模型首先根据需求分析进行原型开发，即建造一个</a:t>
            </a:r>
            <a:r>
              <a:rPr lang="zh-CN" altLang="en-US" sz="2000" dirty="0">
                <a:solidFill>
                  <a:srgbClr val="0075CC"/>
                </a:solidFill>
                <a:latin typeface="微软雅黑" panose="020B0503020204020204" pitchFamily="34" charset="-122"/>
                <a:ea typeface="微软雅黑" panose="020B0503020204020204" pitchFamily="34" charset="-122"/>
              </a:rPr>
              <a:t>快速原型</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5CC"/>
                </a:solidFill>
                <a:latin typeface="微软雅黑" panose="020B0503020204020204" pitchFamily="34" charset="-122"/>
                <a:ea typeface="微软雅黑" panose="020B0503020204020204" pitchFamily="34" charset="-122"/>
              </a:rPr>
              <a:t>实现客户或未来的用户与系统的交互，然后用户或客户对原型进行评价，进一步细化待开发软件的需求</a:t>
            </a:r>
            <a:r>
              <a:rPr lang="zh-CN" altLang="en-US" sz="2000" dirty="0">
                <a:solidFill>
                  <a:srgbClr val="595959"/>
                </a:solidFill>
                <a:latin typeface="微软雅黑" panose="020B0503020204020204" pitchFamily="34" charset="-122"/>
                <a:ea typeface="微软雅黑" panose="020B0503020204020204" pitchFamily="34" charset="-122"/>
              </a:rPr>
              <a:t>。通过逐步调整原型使其满足客户的要求，开发人员最终确定客户的真正需求是什么；最后在快速原型的基础上开发客户满意的软件产品。</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5E014-EF64-A350-4793-79588A7C22DF}"/>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EB063B14-D763-215A-59CE-00D8E1293DB4}"/>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软件开发模型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7" name="文本框 16">
            <a:extLst>
              <a:ext uri="{FF2B5EF4-FFF2-40B4-BE49-F238E27FC236}">
                <a16:creationId xmlns:a16="http://schemas.microsoft.com/office/drawing/2014/main" id="{3AAEC55D-D37F-5D76-9A24-197CE1DF34EA}"/>
              </a:ext>
            </a:extLst>
          </p:cNvPr>
          <p:cNvSpPr txBox="1"/>
          <p:nvPr/>
        </p:nvSpPr>
        <p:spPr>
          <a:xfrm>
            <a:off x="874626" y="2853794"/>
            <a:ext cx="10441160" cy="1422954"/>
          </a:xfrm>
          <a:prstGeom prst="rect">
            <a:avLst/>
          </a:prstGeom>
          <a:noFill/>
        </p:spPr>
        <p:txBody>
          <a:bodyPr wrap="square">
            <a:spAutoFit/>
          </a:bodyPr>
          <a:lstStyle/>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与瀑布模型相比，</a:t>
            </a:r>
            <a:r>
              <a:rPr lang="zh-CN" altLang="en-US" sz="2000" dirty="0">
                <a:solidFill>
                  <a:srgbClr val="0070C0"/>
                </a:solidFill>
                <a:latin typeface="微软雅黑" panose="020B0503020204020204" pitchFamily="34" charset="-122"/>
                <a:ea typeface="微软雅黑" panose="020B0503020204020204" pitchFamily="34" charset="-122"/>
              </a:rPr>
              <a:t>快速原型模型规避了需求不明确带来的风险</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适用于不能预先确定需求的软件项目</a:t>
            </a:r>
            <a:r>
              <a:rPr lang="zh-CN" altLang="en-US" sz="2000" dirty="0">
                <a:solidFill>
                  <a:srgbClr val="595959"/>
                </a:solidFill>
                <a:latin typeface="微软雅黑" panose="020B0503020204020204" pitchFamily="34" charset="-122"/>
                <a:ea typeface="微软雅黑" panose="020B0503020204020204" pitchFamily="34" charset="-122"/>
              </a:rPr>
              <a:t>。快速原型模型的关键在于快速构建软件原型，但准确地设计出软件原型存在一定的难度，此外，这种开发模型也</a:t>
            </a:r>
            <a:r>
              <a:rPr lang="zh-CN" altLang="en-US" sz="2000" dirty="0">
                <a:solidFill>
                  <a:srgbClr val="0070C0"/>
                </a:solidFill>
                <a:latin typeface="微软雅黑" panose="020B0503020204020204" pitchFamily="34" charset="-122"/>
                <a:ea typeface="微软雅黑" panose="020B0503020204020204" pitchFamily="34" charset="-122"/>
              </a:rPr>
              <a:t>不利于开发人员对产品进行扩展</a:t>
            </a:r>
            <a:r>
              <a:rPr lang="zh-CN" altLang="en-US" sz="2000" dirty="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209484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软件开发模型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任意多边形 5"/>
          <p:cNvSpPr/>
          <p:nvPr/>
        </p:nvSpPr>
        <p:spPr>
          <a:xfrm>
            <a:off x="2240915" y="3812398"/>
            <a:ext cx="1645920" cy="534664"/>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需求分析</a:t>
            </a:r>
            <a:endParaRPr lang="zh-CN" altLang="en-US" sz="2000" b="1" kern="1200" dirty="0">
              <a:solidFill>
                <a:schemeClr val="bg1"/>
              </a:solidFill>
            </a:endParaRPr>
          </a:p>
        </p:txBody>
      </p:sp>
      <p:sp>
        <p:nvSpPr>
          <p:cNvPr id="7" name="任意多边形 6"/>
          <p:cNvSpPr/>
          <p:nvPr/>
        </p:nvSpPr>
        <p:spPr>
          <a:xfrm>
            <a:off x="4378749" y="3812398"/>
            <a:ext cx="1607818" cy="534664"/>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软件设计</a:t>
            </a:r>
            <a:endParaRPr lang="zh-CN" altLang="en-US" sz="2000" b="1" kern="1200" dirty="0">
              <a:solidFill>
                <a:schemeClr val="bg1"/>
              </a:solidFill>
            </a:endParaRPr>
          </a:p>
        </p:txBody>
      </p:sp>
      <p:sp>
        <p:nvSpPr>
          <p:cNvPr id="8" name="任意多边形 7"/>
          <p:cNvSpPr/>
          <p:nvPr/>
        </p:nvSpPr>
        <p:spPr>
          <a:xfrm>
            <a:off x="6478481" y="3853038"/>
            <a:ext cx="1518916" cy="534664"/>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编码</a:t>
            </a:r>
            <a:endParaRPr lang="zh-CN" altLang="en-US" sz="2000" b="1" kern="1200" dirty="0">
              <a:solidFill>
                <a:schemeClr val="bg1"/>
              </a:solidFill>
            </a:endParaRPr>
          </a:p>
        </p:txBody>
      </p:sp>
      <p:sp>
        <p:nvSpPr>
          <p:cNvPr id="9" name="任意多边形 8"/>
          <p:cNvSpPr/>
          <p:nvPr/>
        </p:nvSpPr>
        <p:spPr>
          <a:xfrm>
            <a:off x="8489314" y="3853038"/>
            <a:ext cx="1440175" cy="540036"/>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kern="1200" dirty="0">
                <a:solidFill>
                  <a:schemeClr val="bg1"/>
                </a:solidFill>
              </a:rPr>
              <a:t>测试</a:t>
            </a:r>
          </a:p>
        </p:txBody>
      </p:sp>
      <p:sp>
        <p:nvSpPr>
          <p:cNvPr id="10" name="任意多边形 9"/>
          <p:cNvSpPr/>
          <p:nvPr/>
        </p:nvSpPr>
        <p:spPr>
          <a:xfrm>
            <a:off x="3997657" y="3923904"/>
            <a:ext cx="270270" cy="311651"/>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
        <p:nvSpPr>
          <p:cNvPr id="11" name="任意多边形 10"/>
          <p:cNvSpPr/>
          <p:nvPr/>
        </p:nvSpPr>
        <p:spPr>
          <a:xfrm>
            <a:off x="6097389" y="3961858"/>
            <a:ext cx="270270" cy="311651"/>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
        <p:nvSpPr>
          <p:cNvPr id="12" name="任意多边形 11"/>
          <p:cNvSpPr/>
          <p:nvPr/>
        </p:nvSpPr>
        <p:spPr>
          <a:xfrm>
            <a:off x="8108219" y="3993894"/>
            <a:ext cx="270270" cy="311651"/>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
        <p:nvSpPr>
          <p:cNvPr id="2" name="TextBox 1"/>
          <p:cNvSpPr txBox="1"/>
          <p:nvPr/>
        </p:nvSpPr>
        <p:spPr>
          <a:xfrm>
            <a:off x="970915" y="3845026"/>
            <a:ext cx="1076960" cy="398780"/>
          </a:xfrm>
          <a:prstGeom prst="rect">
            <a:avLst/>
          </a:prstGeom>
          <a:noFill/>
        </p:spPr>
        <p:txBody>
          <a:bodyPr wrap="square" rtlCol="0">
            <a:spAutoFit/>
          </a:bodyPr>
          <a:lstStyle/>
          <a:p>
            <a:r>
              <a:rPr lang="zh-CN" altLang="en-US" sz="2000" dirty="0">
                <a:solidFill>
                  <a:srgbClr val="595959"/>
                </a:solidFill>
                <a:latin typeface="微软雅黑" panose="020B0503020204020204" pitchFamily="34" charset="-122"/>
                <a:ea typeface="微软雅黑" panose="020B0503020204020204" pitchFamily="34" charset="-122"/>
              </a:rPr>
              <a:t>迭代</a:t>
            </a:r>
            <a:r>
              <a:rPr lang="en-US" altLang="zh-CN" sz="2000" dirty="0">
                <a:solidFill>
                  <a:srgbClr val="595959"/>
                </a:solidFill>
                <a:latin typeface="微软雅黑" panose="020B0503020204020204" pitchFamily="34" charset="-122"/>
                <a:ea typeface="微软雅黑" panose="020B0503020204020204" pitchFamily="34" charset="-122"/>
              </a:rPr>
              <a:t>1</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14" name="TextBox 13"/>
          <p:cNvSpPr txBox="1"/>
          <p:nvPr/>
        </p:nvSpPr>
        <p:spPr>
          <a:xfrm>
            <a:off x="10040620" y="3906721"/>
            <a:ext cx="1452245" cy="398780"/>
          </a:xfrm>
          <a:prstGeom prst="rect">
            <a:avLst/>
          </a:prstGeom>
          <a:noFill/>
        </p:spPr>
        <p:txBody>
          <a:bodyPr wrap="square" rtlCol="0">
            <a:spAutoFit/>
          </a:bodyPr>
          <a:lstStyle/>
          <a:p>
            <a:r>
              <a:rPr lang="zh-CN" altLang="en-US" sz="2000" dirty="0">
                <a:solidFill>
                  <a:srgbClr val="595959"/>
                </a:solidFill>
                <a:latin typeface="微软雅黑" panose="020B0503020204020204" pitchFamily="34" charset="-122"/>
                <a:ea typeface="微软雅黑" panose="020B0503020204020204" pitchFamily="34" charset="-122"/>
              </a:rPr>
              <a:t>第</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个组件</a:t>
            </a:r>
          </a:p>
        </p:txBody>
      </p:sp>
      <p:sp>
        <p:nvSpPr>
          <p:cNvPr id="15" name="任意多边形 14"/>
          <p:cNvSpPr/>
          <p:nvPr/>
        </p:nvSpPr>
        <p:spPr>
          <a:xfrm>
            <a:off x="2230755" y="4543918"/>
            <a:ext cx="1645920" cy="534664"/>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需求分析</a:t>
            </a:r>
            <a:endParaRPr lang="zh-CN" altLang="en-US" sz="2000" b="1" kern="1200" dirty="0">
              <a:solidFill>
                <a:schemeClr val="bg1"/>
              </a:solidFill>
            </a:endParaRPr>
          </a:p>
        </p:txBody>
      </p:sp>
      <p:sp>
        <p:nvSpPr>
          <p:cNvPr id="16" name="任意多边形 15"/>
          <p:cNvSpPr/>
          <p:nvPr/>
        </p:nvSpPr>
        <p:spPr>
          <a:xfrm>
            <a:off x="4368589" y="4543918"/>
            <a:ext cx="1607818" cy="534664"/>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软件设计</a:t>
            </a:r>
            <a:endParaRPr lang="zh-CN" altLang="en-US" sz="2000" b="1" kern="1200" dirty="0">
              <a:solidFill>
                <a:schemeClr val="bg1"/>
              </a:solidFill>
            </a:endParaRPr>
          </a:p>
        </p:txBody>
      </p:sp>
      <p:sp>
        <p:nvSpPr>
          <p:cNvPr id="17" name="任意多边形 16"/>
          <p:cNvSpPr/>
          <p:nvPr/>
        </p:nvSpPr>
        <p:spPr>
          <a:xfrm>
            <a:off x="6468321" y="4584558"/>
            <a:ext cx="1518916" cy="534664"/>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编码</a:t>
            </a:r>
            <a:endParaRPr lang="zh-CN" altLang="en-US" sz="2000" b="1" kern="1200" dirty="0">
              <a:solidFill>
                <a:schemeClr val="bg1"/>
              </a:solidFill>
            </a:endParaRPr>
          </a:p>
        </p:txBody>
      </p:sp>
      <p:sp>
        <p:nvSpPr>
          <p:cNvPr id="18" name="任意多边形 17"/>
          <p:cNvSpPr/>
          <p:nvPr/>
        </p:nvSpPr>
        <p:spPr>
          <a:xfrm>
            <a:off x="8479154" y="4584558"/>
            <a:ext cx="1440175" cy="540036"/>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kern="1200" dirty="0">
                <a:solidFill>
                  <a:schemeClr val="bg1"/>
                </a:solidFill>
              </a:rPr>
              <a:t>测试</a:t>
            </a:r>
          </a:p>
        </p:txBody>
      </p:sp>
      <p:sp>
        <p:nvSpPr>
          <p:cNvPr id="19" name="任意多边形 18"/>
          <p:cNvSpPr/>
          <p:nvPr/>
        </p:nvSpPr>
        <p:spPr>
          <a:xfrm>
            <a:off x="3987497" y="4655424"/>
            <a:ext cx="270270" cy="311651"/>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
        <p:nvSpPr>
          <p:cNvPr id="21" name="任意多边形 20"/>
          <p:cNvSpPr/>
          <p:nvPr/>
        </p:nvSpPr>
        <p:spPr>
          <a:xfrm>
            <a:off x="6087229" y="4693378"/>
            <a:ext cx="270270" cy="311651"/>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
        <p:nvSpPr>
          <p:cNvPr id="22" name="任意多边形 21"/>
          <p:cNvSpPr/>
          <p:nvPr/>
        </p:nvSpPr>
        <p:spPr>
          <a:xfrm>
            <a:off x="8098059" y="4725414"/>
            <a:ext cx="270270" cy="311651"/>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
        <p:nvSpPr>
          <p:cNvPr id="23" name="TextBox 22"/>
          <p:cNvSpPr txBox="1"/>
          <p:nvPr/>
        </p:nvSpPr>
        <p:spPr>
          <a:xfrm>
            <a:off x="960755" y="4576546"/>
            <a:ext cx="1076960" cy="398780"/>
          </a:xfrm>
          <a:prstGeom prst="rect">
            <a:avLst/>
          </a:prstGeom>
          <a:noFill/>
        </p:spPr>
        <p:txBody>
          <a:bodyPr wrap="square" rtlCol="0">
            <a:spAutoFit/>
          </a:bodyPr>
          <a:lstStyle/>
          <a:p>
            <a:r>
              <a:rPr lang="zh-CN" altLang="en-US" sz="2000" dirty="0">
                <a:solidFill>
                  <a:srgbClr val="595959"/>
                </a:solidFill>
                <a:latin typeface="微软雅黑" panose="020B0503020204020204" pitchFamily="34" charset="-122"/>
                <a:ea typeface="微软雅黑" panose="020B0503020204020204" pitchFamily="34" charset="-122"/>
              </a:rPr>
              <a:t>迭代</a:t>
            </a:r>
            <a:r>
              <a:rPr lang="en-US" altLang="zh-CN" sz="2000" dirty="0">
                <a:solidFill>
                  <a:srgbClr val="595959"/>
                </a:solidFill>
                <a:latin typeface="微软雅黑" panose="020B0503020204020204" pitchFamily="34" charset="-122"/>
                <a:ea typeface="微软雅黑" panose="020B0503020204020204" pitchFamily="34" charset="-122"/>
              </a:rPr>
              <a:t>2</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24" name="TextBox 23"/>
          <p:cNvSpPr txBox="1"/>
          <p:nvPr/>
        </p:nvSpPr>
        <p:spPr>
          <a:xfrm>
            <a:off x="10068560" y="4601411"/>
            <a:ext cx="1374140" cy="398780"/>
          </a:xfrm>
          <a:prstGeom prst="rect">
            <a:avLst/>
          </a:prstGeom>
          <a:noFill/>
        </p:spPr>
        <p:txBody>
          <a:bodyPr wrap="square" rtlCol="0">
            <a:spAutoFit/>
          </a:bodyPr>
          <a:lstStyle/>
          <a:p>
            <a:r>
              <a:rPr lang="zh-CN" sz="2000" dirty="0">
                <a:solidFill>
                  <a:srgbClr val="595959"/>
                </a:solidFill>
                <a:latin typeface="微软雅黑" panose="020B0503020204020204" pitchFamily="34" charset="-122"/>
                <a:ea typeface="微软雅黑" panose="020B0503020204020204" pitchFamily="34" charset="-122"/>
              </a:rPr>
              <a:t>第</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en-US" sz="2000" dirty="0">
                <a:solidFill>
                  <a:srgbClr val="595959"/>
                </a:solidFill>
                <a:latin typeface="微软雅黑" panose="020B0503020204020204" pitchFamily="34" charset="-122"/>
                <a:ea typeface="微软雅黑" panose="020B0503020204020204" pitchFamily="34" charset="-122"/>
              </a:rPr>
              <a:t>个组件</a:t>
            </a:r>
          </a:p>
        </p:txBody>
      </p:sp>
      <p:sp>
        <p:nvSpPr>
          <p:cNvPr id="25" name="任意多边形 24"/>
          <p:cNvSpPr/>
          <p:nvPr/>
        </p:nvSpPr>
        <p:spPr>
          <a:xfrm>
            <a:off x="2240915" y="6017118"/>
            <a:ext cx="1645920" cy="534664"/>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需求分析</a:t>
            </a:r>
            <a:endParaRPr lang="zh-CN" altLang="en-US" sz="2000" b="1" kern="1200" dirty="0">
              <a:solidFill>
                <a:schemeClr val="bg1"/>
              </a:solidFill>
            </a:endParaRPr>
          </a:p>
        </p:txBody>
      </p:sp>
      <p:sp>
        <p:nvSpPr>
          <p:cNvPr id="26" name="任意多边形 25"/>
          <p:cNvSpPr/>
          <p:nvPr/>
        </p:nvSpPr>
        <p:spPr>
          <a:xfrm>
            <a:off x="4378749" y="6017118"/>
            <a:ext cx="1607818" cy="534664"/>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软件设计</a:t>
            </a:r>
            <a:endParaRPr lang="zh-CN" altLang="en-US" sz="2000" b="1" kern="1200" dirty="0">
              <a:solidFill>
                <a:schemeClr val="bg1"/>
              </a:solidFill>
            </a:endParaRPr>
          </a:p>
        </p:txBody>
      </p:sp>
      <p:sp>
        <p:nvSpPr>
          <p:cNvPr id="27" name="任意多边形 26"/>
          <p:cNvSpPr/>
          <p:nvPr/>
        </p:nvSpPr>
        <p:spPr>
          <a:xfrm>
            <a:off x="6478481" y="6057758"/>
            <a:ext cx="1518916" cy="534664"/>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编码</a:t>
            </a:r>
            <a:endParaRPr lang="zh-CN" altLang="en-US" sz="2000" b="1" kern="1200" dirty="0">
              <a:solidFill>
                <a:schemeClr val="bg1"/>
              </a:solidFill>
            </a:endParaRPr>
          </a:p>
        </p:txBody>
      </p:sp>
      <p:sp>
        <p:nvSpPr>
          <p:cNvPr id="28" name="任意多边形 27"/>
          <p:cNvSpPr/>
          <p:nvPr/>
        </p:nvSpPr>
        <p:spPr>
          <a:xfrm>
            <a:off x="8489314" y="6057758"/>
            <a:ext cx="1440175" cy="540036"/>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kern="1200" dirty="0">
                <a:solidFill>
                  <a:schemeClr val="bg1"/>
                </a:solidFill>
              </a:rPr>
              <a:t>测试</a:t>
            </a:r>
          </a:p>
        </p:txBody>
      </p:sp>
      <p:sp>
        <p:nvSpPr>
          <p:cNvPr id="30" name="任意多边形 29"/>
          <p:cNvSpPr/>
          <p:nvPr/>
        </p:nvSpPr>
        <p:spPr>
          <a:xfrm>
            <a:off x="3997657" y="6128624"/>
            <a:ext cx="270270" cy="311651"/>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
        <p:nvSpPr>
          <p:cNvPr id="4" name="任意多边形 3"/>
          <p:cNvSpPr/>
          <p:nvPr/>
        </p:nvSpPr>
        <p:spPr>
          <a:xfrm>
            <a:off x="6097389" y="6166578"/>
            <a:ext cx="270270" cy="311651"/>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
        <p:nvSpPr>
          <p:cNvPr id="32" name="任意多边形 31"/>
          <p:cNvSpPr/>
          <p:nvPr/>
        </p:nvSpPr>
        <p:spPr>
          <a:xfrm>
            <a:off x="8108219" y="6198614"/>
            <a:ext cx="270270" cy="311651"/>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kern="1200"/>
          </a:p>
        </p:txBody>
      </p:sp>
      <p:sp>
        <p:nvSpPr>
          <p:cNvPr id="33" name="TextBox 32"/>
          <p:cNvSpPr txBox="1"/>
          <p:nvPr/>
        </p:nvSpPr>
        <p:spPr>
          <a:xfrm>
            <a:off x="970915" y="6049746"/>
            <a:ext cx="1076960" cy="398780"/>
          </a:xfrm>
          <a:prstGeom prst="rect">
            <a:avLst/>
          </a:prstGeom>
          <a:noFill/>
        </p:spPr>
        <p:txBody>
          <a:bodyPr wrap="square" rtlCol="0">
            <a:spAutoFit/>
          </a:bodyPr>
          <a:lstStyle/>
          <a:p>
            <a:r>
              <a:rPr lang="zh-CN" altLang="en-US" sz="2000" dirty="0">
                <a:solidFill>
                  <a:srgbClr val="595959"/>
                </a:solidFill>
                <a:latin typeface="微软雅黑" panose="020B0503020204020204" pitchFamily="34" charset="-122"/>
                <a:ea typeface="微软雅黑" panose="020B0503020204020204" pitchFamily="34" charset="-122"/>
              </a:rPr>
              <a:t>迭代</a:t>
            </a:r>
            <a:r>
              <a:rPr lang="en-US" altLang="zh-CN" sz="2000" dirty="0">
                <a:solidFill>
                  <a:srgbClr val="595959"/>
                </a:solidFill>
                <a:latin typeface="微软雅黑" panose="020B0503020204020204" pitchFamily="34" charset="-122"/>
                <a:ea typeface="微软雅黑" panose="020B0503020204020204" pitchFamily="34" charset="-122"/>
              </a:rPr>
              <a:t>n</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34" name="TextBox 33"/>
          <p:cNvSpPr txBox="1"/>
          <p:nvPr/>
        </p:nvSpPr>
        <p:spPr>
          <a:xfrm>
            <a:off x="10118725" y="6079691"/>
            <a:ext cx="1428750" cy="398780"/>
          </a:xfrm>
          <a:prstGeom prst="rect">
            <a:avLst/>
          </a:prstGeom>
          <a:noFill/>
        </p:spPr>
        <p:txBody>
          <a:bodyPr wrap="square" rtlCol="0">
            <a:spAutoFit/>
          </a:bodyPr>
          <a:lstStyle/>
          <a:p>
            <a:r>
              <a:rPr lang="zh-CN" sz="2000" dirty="0">
                <a:solidFill>
                  <a:srgbClr val="595959"/>
                </a:solidFill>
                <a:latin typeface="微软雅黑" panose="020B0503020204020204" pitchFamily="34" charset="-122"/>
                <a:ea typeface="微软雅黑" panose="020B0503020204020204" pitchFamily="34" charset="-122"/>
              </a:rPr>
              <a:t>第</a:t>
            </a:r>
            <a:r>
              <a:rPr lang="en-US" altLang="zh-CN" sz="2000" dirty="0">
                <a:solidFill>
                  <a:srgbClr val="595959"/>
                </a:solidFill>
                <a:latin typeface="微软雅黑" panose="020B0503020204020204" pitchFamily="34" charset="-122"/>
                <a:ea typeface="微软雅黑" panose="020B0503020204020204" pitchFamily="34" charset="-122"/>
              </a:rPr>
              <a:t>n</a:t>
            </a:r>
            <a:r>
              <a:rPr lang="zh-CN" altLang="en-US" sz="2000" dirty="0">
                <a:solidFill>
                  <a:srgbClr val="595959"/>
                </a:solidFill>
                <a:latin typeface="微软雅黑" panose="020B0503020204020204" pitchFamily="34" charset="-122"/>
                <a:ea typeface="微软雅黑" panose="020B0503020204020204" pitchFamily="34" charset="-122"/>
              </a:rPr>
              <a:t>个组件</a:t>
            </a:r>
          </a:p>
        </p:txBody>
      </p:sp>
      <p:sp>
        <p:nvSpPr>
          <p:cNvPr id="5" name="TextBox 35"/>
          <p:cNvSpPr txBox="1">
            <a:spLocks noChangeArrowheads="1"/>
          </p:cNvSpPr>
          <p:nvPr/>
        </p:nvSpPr>
        <p:spPr bwMode="auto">
          <a:xfrm>
            <a:off x="874182" y="838364"/>
            <a:ext cx="10441160" cy="2838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2000" b="1" dirty="0">
                <a:solidFill>
                  <a:srgbClr val="595959"/>
                </a:solidFill>
                <a:latin typeface="微软雅黑" panose="020B0503020204020204" pitchFamily="34" charset="-122"/>
                <a:ea typeface="微软雅黑" panose="020B0503020204020204" pitchFamily="34" charset="-122"/>
              </a:rPr>
              <a:t>3.迭代模型</a:t>
            </a:r>
          </a:p>
          <a:p>
            <a:pPr indent="457200"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迭代模型又称为</a:t>
            </a:r>
            <a:r>
              <a:rPr lang="zh-CN" altLang="en-US" sz="2000" dirty="0">
                <a:solidFill>
                  <a:srgbClr val="0070C0"/>
                </a:solidFill>
                <a:latin typeface="微软雅黑" panose="020B0503020204020204" pitchFamily="34" charset="-122"/>
                <a:ea typeface="微软雅黑" panose="020B0503020204020204" pitchFamily="34" charset="-122"/>
              </a:rPr>
              <a:t>增量模型或演化模型</a:t>
            </a:r>
            <a:r>
              <a:rPr lang="zh-CN" altLang="en-US" sz="2000" dirty="0">
                <a:solidFill>
                  <a:srgbClr val="595959"/>
                </a:solidFill>
                <a:latin typeface="微软雅黑" panose="020B0503020204020204" pitchFamily="34" charset="-122"/>
                <a:ea typeface="微软雅黑" panose="020B0503020204020204" pitchFamily="34" charset="-122"/>
              </a:rPr>
              <a:t>，软件被作为一系列的</a:t>
            </a:r>
            <a:r>
              <a:rPr lang="zh-CN" altLang="en-US" sz="2000" dirty="0">
                <a:solidFill>
                  <a:srgbClr val="0075CC"/>
                </a:solidFill>
                <a:latin typeface="微软雅黑" panose="020B0503020204020204" pitchFamily="34" charset="-122"/>
                <a:ea typeface="微软雅黑" panose="020B0503020204020204" pitchFamily="34" charset="-122"/>
              </a:rPr>
              <a:t>增量构件来设计、实现、集成和测试</a:t>
            </a:r>
            <a:r>
              <a:rPr lang="zh-CN" altLang="en-US" sz="2000" dirty="0">
                <a:solidFill>
                  <a:srgbClr val="595959"/>
                </a:solidFill>
                <a:latin typeface="微软雅黑" panose="020B0503020204020204" pitchFamily="34" charset="-122"/>
                <a:ea typeface="微软雅黑" panose="020B0503020204020204" pitchFamily="34" charset="-122"/>
              </a:rPr>
              <a:t>，每一个构件是由多种相互作用的模块所形成的提供特定功能的代码片段构成的。它</a:t>
            </a:r>
            <a:r>
              <a:rPr lang="zh-CN" altLang="en-US" sz="2000" dirty="0">
                <a:solidFill>
                  <a:srgbClr val="0070C0"/>
                </a:solidFill>
                <a:latin typeface="微软雅黑" panose="020B0503020204020204" pitchFamily="34" charset="-122"/>
                <a:ea typeface="微软雅黑" panose="020B0503020204020204" pitchFamily="34" charset="-122"/>
              </a:rPr>
              <a:t>将一个完整的软件拆分成不同的组件</a:t>
            </a:r>
            <a:r>
              <a:rPr lang="zh-CN" altLang="en-US" sz="2000" dirty="0">
                <a:solidFill>
                  <a:srgbClr val="595959"/>
                </a:solidFill>
                <a:latin typeface="微软雅黑" panose="020B0503020204020204" pitchFamily="34" charset="-122"/>
                <a:ea typeface="微软雅黑" panose="020B0503020204020204" pitchFamily="34" charset="-122"/>
              </a:rPr>
              <a:t>，然后</a:t>
            </a:r>
            <a:r>
              <a:rPr lang="zh-CN" altLang="en-US" sz="2000" dirty="0">
                <a:solidFill>
                  <a:srgbClr val="0070C0"/>
                </a:solidFill>
                <a:latin typeface="微软雅黑" panose="020B0503020204020204" pitchFamily="34" charset="-122"/>
                <a:ea typeface="微软雅黑" panose="020B0503020204020204" pitchFamily="34" charset="-122"/>
              </a:rPr>
              <a:t>对每个组件进行开发测试</a:t>
            </a:r>
            <a:r>
              <a:rPr lang="zh-CN" altLang="en-US" sz="2000" dirty="0">
                <a:solidFill>
                  <a:srgbClr val="595959"/>
                </a:solidFill>
                <a:latin typeface="微软雅黑" panose="020B0503020204020204" pitchFamily="34" charset="-122"/>
                <a:ea typeface="微软雅黑" panose="020B0503020204020204" pitchFamily="34" charset="-122"/>
              </a:rPr>
              <a:t>，每测试完一个组件就将结果展现给用户，确定此组件的功能和性能是否满足用户需求，最终确定无误后，将组件集成到软件体系结构中。</a:t>
            </a:r>
          </a:p>
        </p:txBody>
      </p:sp>
      <p:sp>
        <p:nvSpPr>
          <p:cNvPr id="29" name="文本框 28"/>
          <p:cNvSpPr txBox="1"/>
          <p:nvPr/>
        </p:nvSpPr>
        <p:spPr>
          <a:xfrm>
            <a:off x="1191458" y="5328500"/>
            <a:ext cx="615553" cy="438574"/>
          </a:xfrm>
          <a:prstGeom prst="rect">
            <a:avLst/>
          </a:prstGeom>
          <a:noFill/>
        </p:spPr>
        <p:txBody>
          <a:bodyPr vert="eaVert" wrap="square" rtlCol="0">
            <a:spAutoFit/>
          </a:bodyPr>
          <a:lstStyle/>
          <a:p>
            <a:r>
              <a:rPr lang="en-US" altLang="zh-CN" sz="280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2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6049722" y="5333689"/>
            <a:ext cx="615553" cy="438574"/>
          </a:xfrm>
          <a:prstGeom prst="rect">
            <a:avLst/>
          </a:prstGeom>
          <a:noFill/>
        </p:spPr>
        <p:txBody>
          <a:bodyPr vert="eaVert" wrap="square" rtlCol="0">
            <a:spAutoFit/>
          </a:bodyPr>
          <a:lstStyle/>
          <a:p>
            <a:r>
              <a:rPr lang="en-US" altLang="zh-CN" sz="280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2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6" name="文本框 35"/>
          <p:cNvSpPr txBox="1"/>
          <p:nvPr/>
        </p:nvSpPr>
        <p:spPr>
          <a:xfrm>
            <a:off x="10525323" y="5328500"/>
            <a:ext cx="615553" cy="438574"/>
          </a:xfrm>
          <a:prstGeom prst="rect">
            <a:avLst/>
          </a:prstGeom>
          <a:noFill/>
        </p:spPr>
        <p:txBody>
          <a:bodyPr vert="eaVert" wrap="square" rtlCol="0">
            <a:spAutoFit/>
          </a:bodyPr>
          <a:lstStyle/>
          <a:p>
            <a:r>
              <a:rPr lang="en-US" altLang="zh-CN" sz="280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2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软件开发模型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7" name="TextBox 35"/>
          <p:cNvSpPr txBox="1">
            <a:spLocks noChangeArrowheads="1"/>
          </p:cNvSpPr>
          <p:nvPr/>
        </p:nvSpPr>
        <p:spPr bwMode="auto">
          <a:xfrm>
            <a:off x="874182" y="1270164"/>
            <a:ext cx="10441160" cy="3762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buClrTx/>
              <a:buSzTx/>
              <a:buFontTx/>
            </a:pPr>
            <a:r>
              <a:rPr lang="zh-CN" altLang="en-US" sz="2000" dirty="0">
                <a:solidFill>
                  <a:srgbClr val="0070C0"/>
                </a:solidFill>
                <a:latin typeface="微软雅黑" panose="020B0503020204020204" pitchFamily="34" charset="-122"/>
                <a:ea typeface="微软雅黑" panose="020B0503020204020204" pitchFamily="34" charset="-122"/>
              </a:rPr>
              <a:t>迭代开发模型可以</a:t>
            </a:r>
            <a:r>
              <a:rPr lang="zh-CN" altLang="en-US" sz="2000" dirty="0">
                <a:solidFill>
                  <a:srgbClr val="595959"/>
                </a:solidFill>
                <a:latin typeface="微软雅黑" panose="020B0503020204020204" pitchFamily="34" charset="-122"/>
                <a:ea typeface="微软雅黑" panose="020B0503020204020204" pitchFamily="34" charset="-122"/>
              </a:rPr>
              <a:t>很好地</a:t>
            </a:r>
            <a:r>
              <a:rPr lang="zh-CN" altLang="en-US" sz="2000" dirty="0">
                <a:solidFill>
                  <a:srgbClr val="0070C0"/>
                </a:solidFill>
                <a:latin typeface="微软雅黑" panose="020B0503020204020204" pitchFamily="34" charset="-122"/>
                <a:ea typeface="微软雅黑" panose="020B0503020204020204" pitchFamily="34" charset="-122"/>
              </a:rPr>
              <a:t>适应用户需求变更</a:t>
            </a:r>
            <a:r>
              <a:rPr lang="zh-CN" altLang="en-US" sz="2000" dirty="0">
                <a:solidFill>
                  <a:srgbClr val="595959"/>
                </a:solidFill>
                <a:latin typeface="微软雅黑" panose="020B0503020204020204" pitchFamily="34" charset="-122"/>
                <a:ea typeface="微软雅黑" panose="020B0503020204020204" pitchFamily="34" charset="-122"/>
              </a:rPr>
              <a:t>，它以逐个组件的形式交付产品，用户可以经常看到产品，如果某个组件没有满足用户需求，则只需要更改这一个组件，这</a:t>
            </a:r>
            <a:r>
              <a:rPr lang="zh-CN" altLang="en-US" sz="2000" dirty="0">
                <a:solidFill>
                  <a:srgbClr val="0070C0"/>
                </a:solidFill>
                <a:latin typeface="微软雅黑" panose="020B0503020204020204" pitchFamily="34" charset="-122"/>
                <a:ea typeface="微软雅黑" panose="020B0503020204020204" pitchFamily="34" charset="-122"/>
              </a:rPr>
              <a:t>降低</a:t>
            </a:r>
            <a:r>
              <a:rPr lang="zh-CN" altLang="en-US" sz="2000" dirty="0">
                <a:solidFill>
                  <a:srgbClr val="595959"/>
                </a:solidFill>
                <a:latin typeface="微软雅黑" panose="020B0503020204020204" pitchFamily="34" charset="-122"/>
                <a:ea typeface="微软雅黑" panose="020B0503020204020204" pitchFamily="34" charset="-122"/>
              </a:rPr>
              <a:t>了</a:t>
            </a:r>
            <a:r>
              <a:rPr lang="zh-CN" altLang="en-US" sz="2000" dirty="0">
                <a:solidFill>
                  <a:srgbClr val="0070C0"/>
                </a:solidFill>
                <a:latin typeface="微软雅黑" panose="020B0503020204020204" pitchFamily="34" charset="-122"/>
                <a:ea typeface="微软雅黑" panose="020B0503020204020204" pitchFamily="34" charset="-122"/>
              </a:rPr>
              <a:t>软件开发的成本与风险</a:t>
            </a:r>
            <a:r>
              <a:rPr lang="zh-CN" altLang="en-US" sz="2000" dirty="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a:p>
            <a:pPr indent="457200" algn="just">
              <a:lnSpc>
                <a:spcPct val="150000"/>
              </a:lnSpc>
              <a:buClrTx/>
              <a:buSzTx/>
              <a:buFontTx/>
            </a:pPr>
            <a:endParaRPr lang="en-US" altLang="zh-CN" sz="2000" dirty="0">
              <a:solidFill>
                <a:srgbClr val="595959"/>
              </a:solidFill>
              <a:latin typeface="微软雅黑" panose="020B0503020204020204" pitchFamily="34" charset="-122"/>
              <a:ea typeface="微软雅黑" panose="020B0503020204020204" pitchFamily="34" charset="-122"/>
            </a:endParaRPr>
          </a:p>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但是由于各个构件是逐渐并入已有的软件体系结构中的，所以加入的构件必须不破坏已构造好的系统部分，这需要软件具备</a:t>
            </a:r>
            <a:r>
              <a:rPr lang="zh-CN" altLang="en-US" sz="2000" dirty="0">
                <a:solidFill>
                  <a:srgbClr val="0075CC"/>
                </a:solidFill>
                <a:latin typeface="微软雅黑" panose="020B0503020204020204" pitchFamily="34" charset="-122"/>
                <a:ea typeface="微软雅黑" panose="020B0503020204020204" pitchFamily="34" charset="-122"/>
              </a:rPr>
              <a:t>开放式的体系结构</a:t>
            </a:r>
            <a:r>
              <a:rPr lang="zh-CN" altLang="en-US" sz="2000" dirty="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其次，在开发过程中，需求的变化是不可避免的。正是因为迭代模型以逐个组件的形式开发、修改，很</a:t>
            </a:r>
            <a:r>
              <a:rPr lang="zh-CN" altLang="en-US" sz="2000" dirty="0">
                <a:solidFill>
                  <a:srgbClr val="0070C0"/>
                </a:solidFill>
                <a:latin typeface="微软雅黑" panose="020B0503020204020204" pitchFamily="34" charset="-122"/>
                <a:ea typeface="微软雅黑" panose="020B0503020204020204" pitchFamily="34" charset="-122"/>
              </a:rPr>
              <a:t>容易退化为“边做边改”的开发形式</a:t>
            </a:r>
            <a:r>
              <a:rPr lang="zh-CN" altLang="en-US" sz="2000" dirty="0">
                <a:solidFill>
                  <a:srgbClr val="595959"/>
                </a:solidFill>
                <a:latin typeface="微软雅黑" panose="020B0503020204020204" pitchFamily="34" charset="-122"/>
                <a:ea typeface="微软雅黑" panose="020B0503020204020204" pitchFamily="34" charset="-122"/>
              </a:rPr>
              <a:t>，从而</a:t>
            </a:r>
            <a:r>
              <a:rPr lang="zh-CN" altLang="en-US" sz="2000" dirty="0">
                <a:solidFill>
                  <a:srgbClr val="0070C0"/>
                </a:solidFill>
                <a:latin typeface="微软雅黑" panose="020B0503020204020204" pitchFamily="34" charset="-122"/>
                <a:ea typeface="微软雅黑" panose="020B0503020204020204" pitchFamily="34" charset="-122"/>
              </a:rPr>
              <a:t>失去对软件开发过程的整体控制</a:t>
            </a:r>
            <a:r>
              <a:rPr lang="zh-CN" altLang="en-US" sz="2000" dirty="0">
                <a:solidFill>
                  <a:srgbClr val="595959"/>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软件开发模型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TextBox 35"/>
          <p:cNvSpPr txBox="1">
            <a:spLocks noChangeArrowheads="1"/>
          </p:cNvSpPr>
          <p:nvPr/>
        </p:nvSpPr>
        <p:spPr bwMode="auto">
          <a:xfrm>
            <a:off x="838835" y="844550"/>
            <a:ext cx="5253355" cy="4535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2000" b="1" dirty="0">
                <a:solidFill>
                  <a:srgbClr val="595959"/>
                </a:solidFill>
                <a:latin typeface="微软雅黑" panose="020B0503020204020204" pitchFamily="34" charset="-122"/>
                <a:ea typeface="微软雅黑" panose="020B0503020204020204" pitchFamily="34" charset="-122"/>
              </a:rPr>
              <a:t>4.螺旋模型</a:t>
            </a:r>
          </a:p>
          <a:p>
            <a:pPr indent="457200" algn="just">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endParaRPr>
          </a:p>
          <a:p>
            <a:pPr indent="457200"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螺旋模型</a:t>
            </a:r>
            <a:r>
              <a:rPr lang="zh-CN" altLang="en-US" sz="2000" dirty="0">
                <a:solidFill>
                  <a:srgbClr val="0070C0"/>
                </a:solidFill>
                <a:latin typeface="微软雅黑" panose="020B0503020204020204" pitchFamily="34" charset="-122"/>
                <a:ea typeface="微软雅黑" panose="020B0503020204020204" pitchFamily="34" charset="-122"/>
              </a:rPr>
              <a:t>融合了瀑布模型和快速原型模型</a:t>
            </a:r>
            <a:r>
              <a:rPr lang="zh-CN" altLang="en-US" sz="2000" dirty="0">
                <a:solidFill>
                  <a:srgbClr val="595959"/>
                </a:solidFill>
                <a:latin typeface="微软雅黑" panose="020B0503020204020204" pitchFamily="34" charset="-122"/>
                <a:ea typeface="微软雅黑" panose="020B0503020204020204" pitchFamily="34" charset="-122"/>
              </a:rPr>
              <a:t>，它最大的特点是</a:t>
            </a:r>
            <a:r>
              <a:rPr lang="zh-CN" altLang="en-US" sz="2000" dirty="0">
                <a:solidFill>
                  <a:srgbClr val="0070C0"/>
                </a:solidFill>
                <a:latin typeface="微软雅黑" panose="020B0503020204020204" pitchFamily="34" charset="-122"/>
                <a:ea typeface="微软雅黑" panose="020B0503020204020204" pitchFamily="34" charset="-122"/>
              </a:rPr>
              <a:t>引入了其他模型所忽略的风险分析</a:t>
            </a:r>
            <a:r>
              <a:rPr lang="zh-CN" altLang="en-US" sz="2000" dirty="0">
                <a:solidFill>
                  <a:srgbClr val="595959"/>
                </a:solidFill>
                <a:latin typeface="微软雅黑" panose="020B0503020204020204" pitchFamily="34" charset="-122"/>
                <a:ea typeface="微软雅黑" panose="020B0503020204020204" pitchFamily="34" charset="-122"/>
              </a:rPr>
              <a:t>。如果项目不能排除重大风险，就停止项目从而减小损失，这种模型比较</a:t>
            </a:r>
            <a:r>
              <a:rPr lang="zh-CN" altLang="en-US" sz="2000" dirty="0">
                <a:solidFill>
                  <a:srgbClr val="0070C0"/>
                </a:solidFill>
                <a:latin typeface="微软雅黑" panose="020B0503020204020204" pitchFamily="34" charset="-122"/>
                <a:ea typeface="微软雅黑" panose="020B0503020204020204" pitchFamily="34" charset="-122"/>
              </a:rPr>
              <a:t>适用于开发复杂的大型软件</a:t>
            </a:r>
            <a:r>
              <a:rPr lang="zh-CN" altLang="en-US" sz="2000" dirty="0">
                <a:solidFill>
                  <a:srgbClr val="595959"/>
                </a:solidFill>
                <a:latin typeface="微软雅黑" panose="020B0503020204020204" pitchFamily="34" charset="-122"/>
                <a:ea typeface="微软雅黑" panose="020B0503020204020204" pitchFamily="34" charset="-122"/>
              </a:rPr>
              <a:t>。螺旋模型的若干个阶段是沿着螺线方式进行的，螺旋模型的开发过程如右图所示。</a:t>
            </a:r>
          </a:p>
        </p:txBody>
      </p:sp>
      <p:pic>
        <p:nvPicPr>
          <p:cNvPr id="3" name="图片 2">
            <a:extLst>
              <a:ext uri="{FF2B5EF4-FFF2-40B4-BE49-F238E27FC236}">
                <a16:creationId xmlns:a16="http://schemas.microsoft.com/office/drawing/2014/main" id="{2B52D7DC-2709-CEB6-846A-0F64FBA873AF}"/>
              </a:ext>
            </a:extLst>
          </p:cNvPr>
          <p:cNvPicPr>
            <a:picLocks noChangeAspect="1"/>
          </p:cNvPicPr>
          <p:nvPr/>
        </p:nvPicPr>
        <p:blipFill>
          <a:blip r:embed="rId3"/>
          <a:srcRect b="5841"/>
          <a:stretch>
            <a:fillRect/>
          </a:stretch>
        </p:blipFill>
        <p:spPr>
          <a:xfrm>
            <a:off x="6554890" y="1510749"/>
            <a:ext cx="4825468" cy="383808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012"/>
          <p:cNvSpPr/>
          <p:nvPr/>
        </p:nvSpPr>
        <p:spPr>
          <a:xfrm>
            <a:off x="7055425" y="1053794"/>
            <a:ext cx="3561372" cy="1686613"/>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3" name="Shape 2013"/>
          <p:cNvSpPr/>
          <p:nvPr/>
        </p:nvSpPr>
        <p:spPr>
          <a:xfrm>
            <a:off x="7055425" y="2984270"/>
            <a:ext cx="3561372" cy="1684827"/>
          </a:xfrm>
          <a:prstGeom prst="roundRect">
            <a:avLst>
              <a:gd name="adj" fmla="val 6925"/>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4" name="Shape 2014"/>
          <p:cNvSpPr/>
          <p:nvPr/>
        </p:nvSpPr>
        <p:spPr>
          <a:xfrm>
            <a:off x="1581951" y="2983377"/>
            <a:ext cx="3561372" cy="1686612"/>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5" name="Shape 2015"/>
          <p:cNvSpPr/>
          <p:nvPr/>
        </p:nvSpPr>
        <p:spPr>
          <a:xfrm>
            <a:off x="1581951" y="1053794"/>
            <a:ext cx="3561372" cy="1686613"/>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6" name="Shape 2016"/>
          <p:cNvSpPr/>
          <p:nvPr/>
        </p:nvSpPr>
        <p:spPr>
          <a:xfrm>
            <a:off x="4651927" y="1421435"/>
            <a:ext cx="2887903" cy="28879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a:miter lim="400000"/>
          </a:ln>
        </p:spPr>
        <p:txBody>
          <a:bodyPr lIns="25400" tIns="25400" rIns="25400" bIns="25400"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7" name="Shape 2021"/>
          <p:cNvSpPr/>
          <p:nvPr/>
        </p:nvSpPr>
        <p:spPr>
          <a:xfrm>
            <a:off x="2215694" y="1631894"/>
            <a:ext cx="2612724" cy="894748"/>
          </a:xfrm>
          <a:prstGeom prst="rect">
            <a:avLst/>
          </a:prstGeom>
          <a:ln w="12700">
            <a:miter lim="400000"/>
          </a:ln>
        </p:spPr>
        <p:txBody>
          <a:bodyPr lIns="0" tIns="0" rIns="0" bIns="0"/>
          <a:lstStyle>
            <a:lvl1pPr algn="l">
              <a:lnSpc>
                <a:spcPct val="120000"/>
              </a:lnSpc>
              <a:spcBef>
                <a:spcPts val="2500"/>
              </a:spcBef>
              <a:defRPr sz="2000">
                <a:solidFill>
                  <a:srgbClr val="53585F"/>
                </a:solidFill>
              </a:defRPr>
            </a:lvl1pPr>
          </a:lstStyle>
          <a:p>
            <a:pPr algn="just"/>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确定软件目标，制定实施方案，并且列出项目开发的限制条件。</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8" name="Shape 2022"/>
          <p:cNvSpPr/>
          <p:nvPr/>
        </p:nvSpPr>
        <p:spPr>
          <a:xfrm>
            <a:off x="2032325" y="1129716"/>
            <a:ext cx="1869332" cy="401615"/>
          </a:xfrm>
          <a:prstGeom prst="rect">
            <a:avLst/>
          </a:prstGeom>
          <a:ln w="12700">
            <a:miter lim="400000"/>
          </a:ln>
        </p:spPr>
        <p:txBody>
          <a:bodyPr lIns="0" tIns="0" rIns="0" bIns="0" anchor="ctr"/>
          <a:lstStyle>
            <a:lvl1pPr algn="l">
              <a:lnSpc>
                <a:spcPct val="120000"/>
              </a:lnSpc>
              <a:defRPr sz="3500">
                <a:solidFill>
                  <a:srgbClr val="53585F"/>
                </a:solidFill>
              </a:defRPr>
            </a:lvl1pPr>
          </a:lstStyle>
          <a:p>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制定计划</a:t>
            </a:r>
          </a:p>
        </p:txBody>
      </p:sp>
      <p:sp>
        <p:nvSpPr>
          <p:cNvPr id="9" name="Shape 2023"/>
          <p:cNvSpPr/>
          <p:nvPr/>
        </p:nvSpPr>
        <p:spPr>
          <a:xfrm>
            <a:off x="2146757" y="3617321"/>
            <a:ext cx="2681661" cy="838091"/>
          </a:xfrm>
          <a:prstGeom prst="rect">
            <a:avLst/>
          </a:prstGeom>
          <a:ln w="12700">
            <a:miter lim="400000"/>
          </a:ln>
        </p:spPr>
        <p:txBody>
          <a:bodyPr lIns="0" tIns="0" rIns="0" bIns="0"/>
          <a:lstStyle>
            <a:lvl1pPr algn="l">
              <a:lnSpc>
                <a:spcPct val="120000"/>
              </a:lnSpc>
              <a:spcBef>
                <a:spcPts val="2500"/>
              </a:spcBef>
              <a:defRPr sz="2000">
                <a:solidFill>
                  <a:srgbClr val="53585F"/>
                </a:solidFill>
              </a:defRPr>
            </a:lvl1pPr>
          </a:lstStyle>
          <a:p>
            <a:pPr algn="just"/>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开发产品并进行验证。</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0" name="Shape 2024"/>
          <p:cNvSpPr/>
          <p:nvPr/>
        </p:nvSpPr>
        <p:spPr>
          <a:xfrm>
            <a:off x="2017842" y="3044404"/>
            <a:ext cx="1869332" cy="401615"/>
          </a:xfrm>
          <a:prstGeom prst="rect">
            <a:avLst/>
          </a:prstGeom>
          <a:ln w="12700">
            <a:miter lim="400000"/>
          </a:ln>
        </p:spPr>
        <p:txBody>
          <a:bodyPr lIns="0" tIns="0" rIns="0" bIns="0" anchor="ctr"/>
          <a:lstStyle>
            <a:lvl1pPr algn="l">
              <a:lnSpc>
                <a:spcPct val="120000"/>
              </a:lnSpc>
              <a:defRPr sz="3500">
                <a:solidFill>
                  <a:srgbClr val="53585F"/>
                </a:solidFill>
              </a:defRPr>
            </a:lvl1pPr>
          </a:lstStyle>
          <a:p>
            <a:r>
              <a:rPr lang="zh-CN" altLang="en-US" sz="1800" b="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用户评估</a:t>
            </a:r>
            <a:endPar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1" name="Shape 2025"/>
          <p:cNvSpPr/>
          <p:nvPr/>
        </p:nvSpPr>
        <p:spPr>
          <a:xfrm>
            <a:off x="7610640" y="1714650"/>
            <a:ext cx="2450184" cy="894748"/>
          </a:xfrm>
          <a:prstGeom prst="rect">
            <a:avLst/>
          </a:prstGeom>
          <a:ln w="12700">
            <a:miter lim="400000"/>
          </a:ln>
        </p:spPr>
        <p:txBody>
          <a:bodyPr lIns="0" tIns="0" rIns="0" bIns="0"/>
          <a:lstStyle>
            <a:lvl1pPr algn="r">
              <a:lnSpc>
                <a:spcPct val="120000"/>
              </a:lnSpc>
              <a:spcBef>
                <a:spcPts val="4500"/>
              </a:spcBef>
              <a:defRPr sz="2000">
                <a:solidFill>
                  <a:srgbClr val="53585F"/>
                </a:solidFill>
              </a:defRPr>
            </a:lvl1pPr>
          </a:lstStyle>
          <a:p>
            <a:pPr algn="just"/>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评价所制定的实施方案，识别风险并消除风险</a:t>
            </a:r>
            <a:r>
              <a:rPr 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p>
        </p:txBody>
      </p:sp>
      <p:sp>
        <p:nvSpPr>
          <p:cNvPr id="12" name="Shape 2026"/>
          <p:cNvSpPr/>
          <p:nvPr/>
        </p:nvSpPr>
        <p:spPr>
          <a:xfrm>
            <a:off x="8290343" y="1169570"/>
            <a:ext cx="1869332" cy="401615"/>
          </a:xfrm>
          <a:prstGeom prst="rect">
            <a:avLst/>
          </a:prstGeom>
          <a:ln w="12700">
            <a:miter lim="400000"/>
          </a:ln>
        </p:spPr>
        <p:txBody>
          <a:bodyPr lIns="0" tIns="0" rIns="0" bIns="0" anchor="ctr"/>
          <a:lstStyle>
            <a:lvl1pPr algn="r">
              <a:defRPr sz="3500">
                <a:solidFill>
                  <a:srgbClr val="53585F"/>
                </a:solidFill>
              </a:defRPr>
            </a:lvl1pPr>
          </a:lstStyle>
          <a:p>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风险分析</a:t>
            </a:r>
          </a:p>
        </p:txBody>
      </p:sp>
      <p:sp>
        <p:nvSpPr>
          <p:cNvPr id="13" name="Shape 2027"/>
          <p:cNvSpPr/>
          <p:nvPr/>
        </p:nvSpPr>
        <p:spPr>
          <a:xfrm>
            <a:off x="7417552" y="3550816"/>
            <a:ext cx="2719389" cy="758520"/>
          </a:xfrm>
          <a:prstGeom prst="rect">
            <a:avLst/>
          </a:prstGeom>
          <a:ln w="12700">
            <a:miter lim="400000"/>
          </a:ln>
        </p:spPr>
        <p:txBody>
          <a:bodyPr lIns="0" tIns="0" rIns="0" bIns="0"/>
          <a:lstStyle>
            <a:lvl1pPr algn="r">
              <a:lnSpc>
                <a:spcPct val="120000"/>
              </a:lnSpc>
              <a:spcBef>
                <a:spcPts val="4500"/>
              </a:spcBef>
              <a:defRPr sz="2000">
                <a:solidFill>
                  <a:srgbClr val="53585F"/>
                </a:solidFill>
              </a:defRPr>
            </a:lvl1pPr>
          </a:lstStyle>
          <a:p>
            <a:pPr algn="just"/>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用户</a:t>
            </a:r>
            <a:r>
              <a:rPr sz="16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对产品进行审核</a:t>
            </a: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r>
              <a:rPr sz="16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评估</a:t>
            </a:r>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，提出修正建议，制定下一步计划。</a:t>
            </a:r>
          </a:p>
        </p:txBody>
      </p:sp>
      <p:sp>
        <p:nvSpPr>
          <p:cNvPr id="14" name="Shape 2028"/>
          <p:cNvSpPr/>
          <p:nvPr/>
        </p:nvSpPr>
        <p:spPr>
          <a:xfrm>
            <a:off x="8470233" y="3043934"/>
            <a:ext cx="1869332" cy="401615"/>
          </a:xfrm>
          <a:prstGeom prst="rect">
            <a:avLst/>
          </a:prstGeom>
          <a:ln w="12700">
            <a:miter lim="400000"/>
          </a:ln>
        </p:spPr>
        <p:txBody>
          <a:bodyPr lIns="0" tIns="0" rIns="0" bIns="0" anchor="ctr"/>
          <a:lstStyle>
            <a:lvl1pPr algn="r">
              <a:defRPr sz="3500">
                <a:solidFill>
                  <a:srgbClr val="53585F"/>
                </a:solidFill>
              </a:defRPr>
            </a:lvl1pPr>
          </a:lstStyle>
          <a:p>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实施工程</a:t>
            </a:r>
          </a:p>
        </p:txBody>
      </p:sp>
      <p:grpSp>
        <p:nvGrpSpPr>
          <p:cNvPr id="15" name="Group 2031"/>
          <p:cNvGrpSpPr/>
          <p:nvPr/>
        </p:nvGrpSpPr>
        <p:grpSpPr>
          <a:xfrm>
            <a:off x="1107307" y="1419358"/>
            <a:ext cx="955485" cy="955485"/>
            <a:chOff x="0" y="0"/>
            <a:chExt cx="1910968" cy="1910968"/>
          </a:xfrm>
        </p:grpSpPr>
        <p:sp>
          <p:nvSpPr>
            <p:cNvPr id="16" name="Shape 2029"/>
            <p:cNvSpPr/>
            <p:nvPr/>
          </p:nvSpPr>
          <p:spPr>
            <a:xfrm>
              <a:off x="0" y="0"/>
              <a:ext cx="1910969" cy="191096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33867" tIns="33867" rIns="33867" bIns="33867"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7" name="Shape 2030"/>
            <p:cNvSpPr/>
            <p:nvPr/>
          </p:nvSpPr>
          <p:spPr>
            <a:xfrm>
              <a:off x="553362" y="560070"/>
              <a:ext cx="804244" cy="706915"/>
            </a:xfrm>
            <a:custGeom>
              <a:avLst/>
              <a:gdLst/>
              <a:ahLst/>
              <a:cxnLst>
                <a:cxn ang="0">
                  <a:pos x="wd2" y="hd2"/>
                </a:cxn>
                <a:cxn ang="5400000">
                  <a:pos x="wd2" y="hd2"/>
                </a:cxn>
                <a:cxn ang="10800000">
                  <a:pos x="wd2" y="hd2"/>
                </a:cxn>
                <a:cxn ang="16200000">
                  <a:pos x="wd2" y="hd2"/>
                </a:cxn>
              </a:cxnLst>
              <a:rect l="0" t="0" r="r" b="b"/>
              <a:pathLst>
                <a:path w="21600" h="21600" extrusionOk="0">
                  <a:moveTo>
                    <a:pt x="8071" y="8035"/>
                  </a:moveTo>
                  <a:lnTo>
                    <a:pt x="11327" y="9235"/>
                  </a:lnTo>
                  <a:lnTo>
                    <a:pt x="14583" y="4904"/>
                  </a:lnTo>
                  <a:lnTo>
                    <a:pt x="15088" y="4330"/>
                  </a:lnTo>
                  <a:lnTo>
                    <a:pt x="17289" y="6157"/>
                  </a:lnTo>
                  <a:lnTo>
                    <a:pt x="17289" y="3078"/>
                  </a:lnTo>
                  <a:lnTo>
                    <a:pt x="17289" y="0"/>
                  </a:lnTo>
                  <a:lnTo>
                    <a:pt x="14583" y="626"/>
                  </a:lnTo>
                  <a:lnTo>
                    <a:pt x="11878" y="1200"/>
                  </a:lnTo>
                  <a:lnTo>
                    <a:pt x="14033" y="3704"/>
                  </a:lnTo>
                  <a:lnTo>
                    <a:pt x="10777" y="7409"/>
                  </a:lnTo>
                  <a:lnTo>
                    <a:pt x="7567" y="6157"/>
                  </a:lnTo>
                  <a:lnTo>
                    <a:pt x="5411" y="10487"/>
                  </a:lnTo>
                  <a:lnTo>
                    <a:pt x="2155" y="9235"/>
                  </a:lnTo>
                  <a:lnTo>
                    <a:pt x="550" y="14817"/>
                  </a:lnTo>
                  <a:lnTo>
                    <a:pt x="0" y="16017"/>
                  </a:lnTo>
                  <a:lnTo>
                    <a:pt x="1055" y="16643"/>
                  </a:lnTo>
                  <a:lnTo>
                    <a:pt x="2706" y="11113"/>
                  </a:lnTo>
                  <a:lnTo>
                    <a:pt x="5916" y="12313"/>
                  </a:lnTo>
                  <a:lnTo>
                    <a:pt x="8071" y="8035"/>
                  </a:lnTo>
                  <a:lnTo>
                    <a:pt x="8071" y="8035"/>
                  </a:lnTo>
                  <a:close/>
                  <a:moveTo>
                    <a:pt x="6466" y="21600"/>
                  </a:moveTo>
                  <a:lnTo>
                    <a:pt x="6466" y="16643"/>
                  </a:lnTo>
                  <a:lnTo>
                    <a:pt x="3761" y="16643"/>
                  </a:lnTo>
                  <a:lnTo>
                    <a:pt x="3761" y="21600"/>
                  </a:lnTo>
                  <a:lnTo>
                    <a:pt x="6466" y="21600"/>
                  </a:lnTo>
                  <a:lnTo>
                    <a:pt x="6466" y="21600"/>
                  </a:lnTo>
                  <a:close/>
                  <a:moveTo>
                    <a:pt x="10227" y="21600"/>
                  </a:moveTo>
                  <a:lnTo>
                    <a:pt x="7567" y="21600"/>
                  </a:lnTo>
                  <a:lnTo>
                    <a:pt x="7567" y="14817"/>
                  </a:lnTo>
                  <a:lnTo>
                    <a:pt x="10227" y="14817"/>
                  </a:lnTo>
                  <a:lnTo>
                    <a:pt x="10227" y="21600"/>
                  </a:lnTo>
                  <a:lnTo>
                    <a:pt x="10227" y="21600"/>
                  </a:lnTo>
                  <a:close/>
                  <a:moveTo>
                    <a:pt x="14033" y="21600"/>
                  </a:moveTo>
                  <a:lnTo>
                    <a:pt x="11327" y="21600"/>
                  </a:lnTo>
                  <a:lnTo>
                    <a:pt x="11327" y="12313"/>
                  </a:lnTo>
                  <a:lnTo>
                    <a:pt x="14033" y="12313"/>
                  </a:lnTo>
                  <a:lnTo>
                    <a:pt x="14033" y="21600"/>
                  </a:lnTo>
                  <a:lnTo>
                    <a:pt x="14033" y="21600"/>
                  </a:lnTo>
                  <a:close/>
                  <a:moveTo>
                    <a:pt x="17794" y="21600"/>
                  </a:moveTo>
                  <a:lnTo>
                    <a:pt x="15088" y="21600"/>
                  </a:lnTo>
                  <a:lnTo>
                    <a:pt x="15088" y="9861"/>
                  </a:lnTo>
                  <a:lnTo>
                    <a:pt x="17794" y="9861"/>
                  </a:lnTo>
                  <a:lnTo>
                    <a:pt x="17794" y="21600"/>
                  </a:lnTo>
                  <a:lnTo>
                    <a:pt x="17794" y="21600"/>
                  </a:lnTo>
                  <a:close/>
                  <a:moveTo>
                    <a:pt x="18894" y="6783"/>
                  </a:moveTo>
                  <a:lnTo>
                    <a:pt x="18894" y="21600"/>
                  </a:lnTo>
                  <a:lnTo>
                    <a:pt x="21600" y="21600"/>
                  </a:lnTo>
                  <a:lnTo>
                    <a:pt x="21600" y="6783"/>
                  </a:lnTo>
                  <a:lnTo>
                    <a:pt x="18894" y="6783"/>
                  </a:lnTo>
                  <a:close/>
                </a:path>
              </a:pathLst>
            </a:custGeom>
            <a:solidFill>
              <a:srgbClr val="FFFFFF"/>
            </a:solidFill>
            <a:ln w="12700" cap="flat">
              <a:noFill/>
              <a:miter lim="400000"/>
            </a:ln>
            <a:effectLst/>
          </p:spPr>
          <p:txBody>
            <a:bodyPr wrap="square" lIns="0" tIns="0" rIns="0" bIns="0" numCol="1" anchor="t">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grpSp>
      <p:grpSp>
        <p:nvGrpSpPr>
          <p:cNvPr id="18" name="Group 2034"/>
          <p:cNvGrpSpPr/>
          <p:nvPr/>
        </p:nvGrpSpPr>
        <p:grpSpPr>
          <a:xfrm>
            <a:off x="1109974" y="3351609"/>
            <a:ext cx="950151" cy="950151"/>
            <a:chOff x="0" y="0"/>
            <a:chExt cx="1900299" cy="1900299"/>
          </a:xfrm>
        </p:grpSpPr>
        <p:sp>
          <p:nvSpPr>
            <p:cNvPr id="19" name="Shape 2032"/>
            <p:cNvSpPr/>
            <p:nvPr/>
          </p:nvSpPr>
          <p:spPr>
            <a:xfrm>
              <a:off x="0" y="0"/>
              <a:ext cx="1900300" cy="190030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33867" tIns="33867" rIns="33867" bIns="33867"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20" name="Shape 2033"/>
            <p:cNvSpPr/>
            <p:nvPr/>
          </p:nvSpPr>
          <p:spPr>
            <a:xfrm rot="10800000" flipH="1">
              <a:off x="548028" y="596692"/>
              <a:ext cx="804244" cy="706916"/>
            </a:xfrm>
            <a:custGeom>
              <a:avLst/>
              <a:gdLst/>
              <a:ahLst/>
              <a:cxnLst>
                <a:cxn ang="0">
                  <a:pos x="wd2" y="hd2"/>
                </a:cxn>
                <a:cxn ang="5400000">
                  <a:pos x="wd2" y="hd2"/>
                </a:cxn>
                <a:cxn ang="10800000">
                  <a:pos x="wd2" y="hd2"/>
                </a:cxn>
                <a:cxn ang="16200000">
                  <a:pos x="wd2" y="hd2"/>
                </a:cxn>
              </a:cxnLst>
              <a:rect l="0" t="0" r="r" b="b"/>
              <a:pathLst>
                <a:path w="21600" h="21600" extrusionOk="0">
                  <a:moveTo>
                    <a:pt x="8071" y="8035"/>
                  </a:moveTo>
                  <a:lnTo>
                    <a:pt x="11327" y="9235"/>
                  </a:lnTo>
                  <a:lnTo>
                    <a:pt x="14583" y="4904"/>
                  </a:lnTo>
                  <a:lnTo>
                    <a:pt x="15088" y="4330"/>
                  </a:lnTo>
                  <a:lnTo>
                    <a:pt x="17289" y="6157"/>
                  </a:lnTo>
                  <a:lnTo>
                    <a:pt x="17289" y="3078"/>
                  </a:lnTo>
                  <a:lnTo>
                    <a:pt x="17289" y="0"/>
                  </a:lnTo>
                  <a:lnTo>
                    <a:pt x="14583" y="626"/>
                  </a:lnTo>
                  <a:lnTo>
                    <a:pt x="11878" y="1200"/>
                  </a:lnTo>
                  <a:lnTo>
                    <a:pt x="14033" y="3704"/>
                  </a:lnTo>
                  <a:lnTo>
                    <a:pt x="10777" y="7409"/>
                  </a:lnTo>
                  <a:lnTo>
                    <a:pt x="7567" y="6157"/>
                  </a:lnTo>
                  <a:lnTo>
                    <a:pt x="5411" y="10487"/>
                  </a:lnTo>
                  <a:lnTo>
                    <a:pt x="2155" y="9235"/>
                  </a:lnTo>
                  <a:lnTo>
                    <a:pt x="550" y="14817"/>
                  </a:lnTo>
                  <a:lnTo>
                    <a:pt x="0" y="16017"/>
                  </a:lnTo>
                  <a:lnTo>
                    <a:pt x="1055" y="16643"/>
                  </a:lnTo>
                  <a:lnTo>
                    <a:pt x="2706" y="11113"/>
                  </a:lnTo>
                  <a:lnTo>
                    <a:pt x="5916" y="12313"/>
                  </a:lnTo>
                  <a:lnTo>
                    <a:pt x="8071" y="8035"/>
                  </a:lnTo>
                  <a:lnTo>
                    <a:pt x="8071" y="8035"/>
                  </a:lnTo>
                  <a:close/>
                  <a:moveTo>
                    <a:pt x="6466" y="21600"/>
                  </a:moveTo>
                  <a:lnTo>
                    <a:pt x="6466" y="16643"/>
                  </a:lnTo>
                  <a:lnTo>
                    <a:pt x="3761" y="16643"/>
                  </a:lnTo>
                  <a:lnTo>
                    <a:pt x="3761" y="21600"/>
                  </a:lnTo>
                  <a:lnTo>
                    <a:pt x="6466" y="21600"/>
                  </a:lnTo>
                  <a:lnTo>
                    <a:pt x="6466" y="21600"/>
                  </a:lnTo>
                  <a:close/>
                  <a:moveTo>
                    <a:pt x="10227" y="21600"/>
                  </a:moveTo>
                  <a:lnTo>
                    <a:pt x="7567" y="21600"/>
                  </a:lnTo>
                  <a:lnTo>
                    <a:pt x="7567" y="14817"/>
                  </a:lnTo>
                  <a:lnTo>
                    <a:pt x="10227" y="14817"/>
                  </a:lnTo>
                  <a:lnTo>
                    <a:pt x="10227" y="21600"/>
                  </a:lnTo>
                  <a:lnTo>
                    <a:pt x="10227" y="21600"/>
                  </a:lnTo>
                  <a:close/>
                  <a:moveTo>
                    <a:pt x="14033" y="21600"/>
                  </a:moveTo>
                  <a:lnTo>
                    <a:pt x="11327" y="21600"/>
                  </a:lnTo>
                  <a:lnTo>
                    <a:pt x="11327" y="12313"/>
                  </a:lnTo>
                  <a:lnTo>
                    <a:pt x="14033" y="12313"/>
                  </a:lnTo>
                  <a:lnTo>
                    <a:pt x="14033" y="21600"/>
                  </a:lnTo>
                  <a:lnTo>
                    <a:pt x="14033" y="21600"/>
                  </a:lnTo>
                  <a:close/>
                  <a:moveTo>
                    <a:pt x="17794" y="21600"/>
                  </a:moveTo>
                  <a:lnTo>
                    <a:pt x="15088" y="21600"/>
                  </a:lnTo>
                  <a:lnTo>
                    <a:pt x="15088" y="9861"/>
                  </a:lnTo>
                  <a:lnTo>
                    <a:pt x="17794" y="9861"/>
                  </a:lnTo>
                  <a:lnTo>
                    <a:pt x="17794" y="21600"/>
                  </a:lnTo>
                  <a:lnTo>
                    <a:pt x="17794" y="21600"/>
                  </a:lnTo>
                  <a:close/>
                  <a:moveTo>
                    <a:pt x="18894" y="6783"/>
                  </a:moveTo>
                  <a:lnTo>
                    <a:pt x="18894" y="21600"/>
                  </a:lnTo>
                  <a:lnTo>
                    <a:pt x="21600" y="21600"/>
                  </a:lnTo>
                  <a:lnTo>
                    <a:pt x="21600" y="6783"/>
                  </a:lnTo>
                  <a:lnTo>
                    <a:pt x="18894" y="6783"/>
                  </a:lnTo>
                  <a:close/>
                </a:path>
              </a:pathLst>
            </a:custGeom>
            <a:solidFill>
              <a:srgbClr val="FFFFFF"/>
            </a:solidFill>
            <a:ln w="12700" cap="flat">
              <a:noFill/>
              <a:miter lim="400000"/>
            </a:ln>
            <a:effectLst/>
          </p:spPr>
          <p:txBody>
            <a:bodyPr wrap="square" lIns="0" tIns="0" rIns="0" bIns="0" numCol="1" anchor="t">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grpSp>
      <p:sp>
        <p:nvSpPr>
          <p:cNvPr id="21" name="Shape 2035"/>
          <p:cNvSpPr/>
          <p:nvPr/>
        </p:nvSpPr>
        <p:spPr>
          <a:xfrm>
            <a:off x="10136941" y="3351607"/>
            <a:ext cx="950152" cy="95015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25400" tIns="25400" rIns="25400" bIns="25400"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grpSp>
        <p:nvGrpSpPr>
          <p:cNvPr id="22" name="Group 2040"/>
          <p:cNvGrpSpPr/>
          <p:nvPr/>
        </p:nvGrpSpPr>
        <p:grpSpPr>
          <a:xfrm>
            <a:off x="10131634" y="1419358"/>
            <a:ext cx="955485" cy="955485"/>
            <a:chOff x="0" y="0"/>
            <a:chExt cx="1910968" cy="1910968"/>
          </a:xfrm>
        </p:grpSpPr>
        <p:sp>
          <p:nvSpPr>
            <p:cNvPr id="23" name="Shape 2038"/>
            <p:cNvSpPr/>
            <p:nvPr/>
          </p:nvSpPr>
          <p:spPr>
            <a:xfrm>
              <a:off x="0" y="0"/>
              <a:ext cx="1910969" cy="191096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33867" tIns="33867" rIns="33867" bIns="33867"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24" name="Shape 2039"/>
            <p:cNvSpPr/>
            <p:nvPr/>
          </p:nvSpPr>
          <p:spPr>
            <a:xfrm>
              <a:off x="657404" y="557107"/>
              <a:ext cx="596161" cy="749014"/>
            </a:xfrm>
            <a:custGeom>
              <a:avLst/>
              <a:gdLst/>
              <a:ahLst/>
              <a:cxnLst>
                <a:cxn ang="0">
                  <a:pos x="wd2" y="hd2"/>
                </a:cxn>
                <a:cxn ang="5400000">
                  <a:pos x="wd2" y="hd2"/>
                </a:cxn>
                <a:cxn ang="10800000">
                  <a:pos x="wd2" y="hd2"/>
                </a:cxn>
                <a:cxn ang="16200000">
                  <a:pos x="wd2" y="hd2"/>
                </a:cxn>
              </a:cxnLst>
              <a:rect l="0" t="0" r="r" b="b"/>
              <a:pathLst>
                <a:path w="21015" h="21072" extrusionOk="0">
                  <a:moveTo>
                    <a:pt x="17468" y="6506"/>
                  </a:moveTo>
                  <a:cubicBezTo>
                    <a:pt x="16410" y="7763"/>
                    <a:pt x="15333" y="6878"/>
                    <a:pt x="13824" y="5996"/>
                  </a:cubicBezTo>
                  <a:cubicBezTo>
                    <a:pt x="12317" y="5116"/>
                    <a:pt x="10950" y="4575"/>
                    <a:pt x="12006" y="3318"/>
                  </a:cubicBezTo>
                  <a:cubicBezTo>
                    <a:pt x="13062" y="2059"/>
                    <a:pt x="15140" y="1754"/>
                    <a:pt x="16648" y="2634"/>
                  </a:cubicBezTo>
                  <a:cubicBezTo>
                    <a:pt x="18155" y="3515"/>
                    <a:pt x="18522" y="5248"/>
                    <a:pt x="17468" y="6506"/>
                  </a:cubicBezTo>
                  <a:close/>
                  <a:moveTo>
                    <a:pt x="20868" y="4865"/>
                  </a:moveTo>
                  <a:cubicBezTo>
                    <a:pt x="20191" y="1663"/>
                    <a:pt x="16530" y="-474"/>
                    <a:pt x="12691" y="90"/>
                  </a:cubicBezTo>
                  <a:cubicBezTo>
                    <a:pt x="8853" y="655"/>
                    <a:pt x="5613" y="3118"/>
                    <a:pt x="6290" y="6320"/>
                  </a:cubicBezTo>
                  <a:cubicBezTo>
                    <a:pt x="6436" y="7009"/>
                    <a:pt x="6840" y="8088"/>
                    <a:pt x="7318" y="8862"/>
                  </a:cubicBezTo>
                  <a:lnTo>
                    <a:pt x="346" y="17166"/>
                  </a:lnTo>
                  <a:cubicBezTo>
                    <a:pt x="90" y="17473"/>
                    <a:pt x="-56" y="18024"/>
                    <a:pt x="20" y="18392"/>
                  </a:cubicBezTo>
                  <a:lnTo>
                    <a:pt x="470" y="20511"/>
                  </a:lnTo>
                  <a:cubicBezTo>
                    <a:pt x="547" y="20879"/>
                    <a:pt x="971" y="21126"/>
                    <a:pt x="1412" y="21061"/>
                  </a:cubicBezTo>
                  <a:lnTo>
                    <a:pt x="3454" y="20761"/>
                  </a:lnTo>
                  <a:cubicBezTo>
                    <a:pt x="3895" y="20696"/>
                    <a:pt x="4457" y="20387"/>
                    <a:pt x="4700" y="20072"/>
                  </a:cubicBezTo>
                  <a:lnTo>
                    <a:pt x="7456" y="16513"/>
                  </a:lnTo>
                  <a:lnTo>
                    <a:pt x="7480" y="16490"/>
                  </a:lnTo>
                  <a:lnTo>
                    <a:pt x="9346" y="16216"/>
                  </a:lnTo>
                  <a:lnTo>
                    <a:pt x="12566" y="12046"/>
                  </a:lnTo>
                  <a:cubicBezTo>
                    <a:pt x="13623" y="12195"/>
                    <a:pt x="15142" y="12146"/>
                    <a:pt x="16039" y="12013"/>
                  </a:cubicBezTo>
                  <a:cubicBezTo>
                    <a:pt x="19878" y="11449"/>
                    <a:pt x="21544" y="8068"/>
                    <a:pt x="20868" y="4865"/>
                  </a:cubicBezTo>
                  <a:close/>
                </a:path>
              </a:pathLst>
            </a:custGeom>
            <a:solidFill>
              <a:srgbClr val="FFFFFF"/>
            </a:solidFill>
            <a:ln w="12700" cap="flat">
              <a:noFill/>
              <a:miter lim="400000"/>
            </a:ln>
            <a:effectLst/>
          </p:spPr>
          <p:txBody>
            <a:bodyPr wrap="square" lIns="0" tIns="0" rIns="0" bIns="0"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grpSp>
      <p:sp>
        <p:nvSpPr>
          <p:cNvPr id="26" name="Text Placeholder 5"/>
          <p:cNvSpPr txBox="1"/>
          <p:nvPr/>
        </p:nvSpPr>
        <p:spPr>
          <a:xfrm>
            <a:off x="5327650" y="2428932"/>
            <a:ext cx="1696085" cy="792480"/>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zh-CN" altLang="en-US" sz="2665" b="1" dirty="0">
                <a:solidFill>
                  <a:schemeClr val="bg1"/>
                </a:solidFill>
                <a:latin typeface="微软雅黑" panose="020B0503020204020204" pitchFamily="34" charset="-122"/>
                <a:ea typeface="微软雅黑" panose="020B0503020204020204" pitchFamily="34" charset="-122"/>
                <a:cs typeface="+mn-ea"/>
                <a:sym typeface="+mn-lt"/>
              </a:rPr>
              <a:t>螺旋模型的</a:t>
            </a:r>
            <a:r>
              <a:rPr lang="en-US" altLang="zh-CN" sz="2665" b="1" dirty="0">
                <a:solidFill>
                  <a:schemeClr val="bg1"/>
                </a:solidFill>
                <a:latin typeface="微软雅黑" panose="020B0503020204020204" pitchFamily="34" charset="-122"/>
                <a:ea typeface="微软雅黑" panose="020B0503020204020204" pitchFamily="34" charset="-122"/>
                <a:cs typeface="+mn-ea"/>
                <a:sym typeface="+mn-lt"/>
              </a:rPr>
              <a:t>4</a:t>
            </a:r>
            <a:r>
              <a:rPr lang="zh-CN" altLang="en-US" sz="2665" b="1" dirty="0">
                <a:solidFill>
                  <a:schemeClr val="bg1"/>
                </a:solidFill>
                <a:latin typeface="微软雅黑" panose="020B0503020204020204" pitchFamily="34" charset="-122"/>
                <a:ea typeface="微软雅黑" panose="020B0503020204020204" pitchFamily="34" charset="-122"/>
                <a:cs typeface="+mn-ea"/>
                <a:sym typeface="+mn-lt"/>
              </a:rPr>
              <a:t>个象限</a:t>
            </a:r>
          </a:p>
        </p:txBody>
      </p:sp>
      <p:sp>
        <p:nvSpPr>
          <p:cNvPr id="30" name="Shape 2036"/>
          <p:cNvSpPr/>
          <p:nvPr/>
        </p:nvSpPr>
        <p:spPr>
          <a:xfrm>
            <a:off x="10410956" y="3612214"/>
            <a:ext cx="402123" cy="428939"/>
          </a:xfrm>
          <a:custGeom>
            <a:avLst/>
            <a:gdLst/>
            <a:ahLst/>
            <a:cxnLst>
              <a:cxn ang="0">
                <a:pos x="wd2" y="hd2"/>
              </a:cxn>
              <a:cxn ang="5400000">
                <a:pos x="wd2" y="hd2"/>
              </a:cxn>
              <a:cxn ang="10800000">
                <a:pos x="wd2" y="hd2"/>
              </a:cxn>
              <a:cxn ang="16200000">
                <a:pos x="wd2" y="hd2"/>
              </a:cxn>
            </a:cxnLst>
            <a:rect l="0" t="0" r="r" b="b"/>
            <a:pathLst>
              <a:path w="21153" h="21260" extrusionOk="0">
                <a:moveTo>
                  <a:pt x="11752" y="11733"/>
                </a:moveTo>
                <a:lnTo>
                  <a:pt x="9401" y="11733"/>
                </a:lnTo>
                <a:lnTo>
                  <a:pt x="9401" y="5975"/>
                </a:lnTo>
                <a:lnTo>
                  <a:pt x="11752" y="5975"/>
                </a:lnTo>
                <a:cubicBezTo>
                  <a:pt x="11752" y="5975"/>
                  <a:pt x="11752" y="11733"/>
                  <a:pt x="11752" y="11733"/>
                </a:cubicBezTo>
                <a:close/>
                <a:moveTo>
                  <a:pt x="11752" y="15276"/>
                </a:moveTo>
                <a:lnTo>
                  <a:pt x="9401" y="15276"/>
                </a:lnTo>
                <a:lnTo>
                  <a:pt x="9401" y="12951"/>
                </a:lnTo>
                <a:lnTo>
                  <a:pt x="11752" y="12951"/>
                </a:lnTo>
                <a:cubicBezTo>
                  <a:pt x="11752" y="12951"/>
                  <a:pt x="11752" y="15276"/>
                  <a:pt x="11752" y="15276"/>
                </a:cubicBezTo>
                <a:close/>
                <a:moveTo>
                  <a:pt x="20789" y="13227"/>
                </a:moveTo>
                <a:lnTo>
                  <a:pt x="18761" y="11523"/>
                </a:lnTo>
                <a:cubicBezTo>
                  <a:pt x="18172" y="11029"/>
                  <a:pt x="18172" y="10223"/>
                  <a:pt x="18761" y="9729"/>
                </a:cubicBezTo>
                <a:lnTo>
                  <a:pt x="20789" y="8025"/>
                </a:lnTo>
                <a:cubicBezTo>
                  <a:pt x="21376" y="7532"/>
                  <a:pt x="21220" y="7072"/>
                  <a:pt x="20441" y="7001"/>
                </a:cubicBezTo>
                <a:lnTo>
                  <a:pt x="17751" y="6761"/>
                </a:lnTo>
                <a:cubicBezTo>
                  <a:pt x="16971" y="6692"/>
                  <a:pt x="16552" y="6061"/>
                  <a:pt x="16819" y="5360"/>
                </a:cubicBezTo>
                <a:lnTo>
                  <a:pt x="18247" y="1615"/>
                </a:lnTo>
                <a:cubicBezTo>
                  <a:pt x="18515" y="912"/>
                  <a:pt x="18188" y="656"/>
                  <a:pt x="17520" y="1047"/>
                </a:cubicBezTo>
                <a:lnTo>
                  <a:pt x="14346" y="2896"/>
                </a:lnTo>
                <a:cubicBezTo>
                  <a:pt x="13678" y="3285"/>
                  <a:pt x="12815" y="3072"/>
                  <a:pt x="12430" y="2423"/>
                </a:cubicBezTo>
                <a:lnTo>
                  <a:pt x="11279" y="489"/>
                </a:lnTo>
                <a:cubicBezTo>
                  <a:pt x="10893" y="-160"/>
                  <a:pt x="10255" y="-164"/>
                  <a:pt x="9860" y="481"/>
                </a:cubicBezTo>
                <a:lnTo>
                  <a:pt x="8793" y="2232"/>
                </a:lnTo>
                <a:cubicBezTo>
                  <a:pt x="8398" y="2877"/>
                  <a:pt x="7493" y="3153"/>
                  <a:pt x="6781" y="2844"/>
                </a:cubicBezTo>
                <a:lnTo>
                  <a:pt x="4900" y="2031"/>
                </a:lnTo>
                <a:cubicBezTo>
                  <a:pt x="4188" y="1723"/>
                  <a:pt x="3639" y="2080"/>
                  <a:pt x="3682" y="2825"/>
                </a:cubicBezTo>
                <a:lnTo>
                  <a:pt x="3784" y="4615"/>
                </a:lnTo>
                <a:cubicBezTo>
                  <a:pt x="3826" y="5360"/>
                  <a:pt x="3242" y="6128"/>
                  <a:pt x="2486" y="6320"/>
                </a:cubicBezTo>
                <a:lnTo>
                  <a:pt x="670" y="6780"/>
                </a:lnTo>
                <a:cubicBezTo>
                  <a:pt x="-85" y="6972"/>
                  <a:pt x="-224" y="7532"/>
                  <a:pt x="365" y="8025"/>
                </a:cubicBezTo>
                <a:lnTo>
                  <a:pt x="2394" y="9729"/>
                </a:lnTo>
                <a:cubicBezTo>
                  <a:pt x="2981" y="10223"/>
                  <a:pt x="2981" y="11029"/>
                  <a:pt x="2394" y="11523"/>
                </a:cubicBezTo>
                <a:lnTo>
                  <a:pt x="365" y="13225"/>
                </a:lnTo>
                <a:cubicBezTo>
                  <a:pt x="-224" y="13720"/>
                  <a:pt x="-68" y="14196"/>
                  <a:pt x="709" y="14285"/>
                </a:cubicBezTo>
                <a:lnTo>
                  <a:pt x="3171" y="14567"/>
                </a:lnTo>
                <a:cubicBezTo>
                  <a:pt x="3948" y="14656"/>
                  <a:pt x="4381" y="15309"/>
                  <a:pt x="4133" y="16017"/>
                </a:cubicBezTo>
                <a:lnTo>
                  <a:pt x="2869" y="19625"/>
                </a:lnTo>
                <a:cubicBezTo>
                  <a:pt x="2622" y="20333"/>
                  <a:pt x="2976" y="20609"/>
                  <a:pt x="3655" y="20240"/>
                </a:cubicBezTo>
                <a:lnTo>
                  <a:pt x="6549" y="18661"/>
                </a:lnTo>
                <a:cubicBezTo>
                  <a:pt x="7229" y="18291"/>
                  <a:pt x="8143" y="18495"/>
                  <a:pt x="8581" y="19113"/>
                </a:cubicBezTo>
                <a:lnTo>
                  <a:pt x="9782" y="20816"/>
                </a:lnTo>
                <a:cubicBezTo>
                  <a:pt x="10219" y="21436"/>
                  <a:pt x="10875" y="21403"/>
                  <a:pt x="11240" y="20741"/>
                </a:cubicBezTo>
                <a:lnTo>
                  <a:pt x="12297" y="18823"/>
                </a:lnTo>
                <a:cubicBezTo>
                  <a:pt x="12660" y="18160"/>
                  <a:pt x="13532" y="17891"/>
                  <a:pt x="14234" y="18221"/>
                </a:cubicBezTo>
                <a:lnTo>
                  <a:pt x="16272" y="19181"/>
                </a:lnTo>
                <a:cubicBezTo>
                  <a:pt x="16974" y="19511"/>
                  <a:pt x="17514" y="19172"/>
                  <a:pt x="17472" y="18427"/>
                </a:cubicBezTo>
                <a:lnTo>
                  <a:pt x="17370" y="16637"/>
                </a:lnTo>
                <a:cubicBezTo>
                  <a:pt x="17327" y="15891"/>
                  <a:pt x="17912" y="15124"/>
                  <a:pt x="18668" y="14932"/>
                </a:cubicBezTo>
                <a:lnTo>
                  <a:pt x="20482" y="14472"/>
                </a:lnTo>
                <a:cubicBezTo>
                  <a:pt x="21239" y="14280"/>
                  <a:pt x="21376" y="13720"/>
                  <a:pt x="20789" y="13227"/>
                </a:cubicBezTo>
                <a:close/>
              </a:path>
            </a:pathLst>
          </a:custGeom>
          <a:solidFill>
            <a:srgbClr val="FFFFFF"/>
          </a:solidFill>
          <a:ln w="12700" cap="flat">
            <a:noFill/>
            <a:miter lim="400000"/>
          </a:ln>
          <a:effectLst/>
        </p:spPr>
        <p:txBody>
          <a:bodyPr wrap="square" lIns="0" tIns="0" rIns="0" bIns="0"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软件开发模型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3" name="文本框 32">
            <a:extLst>
              <a:ext uri="{FF2B5EF4-FFF2-40B4-BE49-F238E27FC236}">
                <a16:creationId xmlns:a16="http://schemas.microsoft.com/office/drawing/2014/main" id="{0CCA764A-8434-1A6A-3B50-A5B00BE7B5BA}"/>
              </a:ext>
            </a:extLst>
          </p:cNvPr>
          <p:cNvSpPr txBox="1"/>
          <p:nvPr/>
        </p:nvSpPr>
        <p:spPr>
          <a:xfrm>
            <a:off x="1322608" y="4842916"/>
            <a:ext cx="9545195" cy="1889876"/>
          </a:xfrm>
          <a:prstGeom prst="rect">
            <a:avLst/>
          </a:prstGeom>
          <a:noFill/>
        </p:spPr>
        <p:txBody>
          <a:bodyPr wrap="square">
            <a:spAutoFit/>
          </a:bodyPr>
          <a:lstStyle/>
          <a:p>
            <a:pPr indent="457200">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完成一个螺旋周期后，会基于</a:t>
            </a:r>
            <a:r>
              <a:rPr lang="zh-CN" altLang="en-US" sz="2000" dirty="0">
                <a:solidFill>
                  <a:srgbClr val="0070C0"/>
                </a:solidFill>
                <a:latin typeface="微软雅黑" panose="020B0503020204020204" pitchFamily="34" charset="-122"/>
                <a:ea typeface="微软雅黑" panose="020B0503020204020204" pitchFamily="34" charset="-122"/>
              </a:rPr>
              <a:t>客户评估和风险应对</a:t>
            </a:r>
            <a:r>
              <a:rPr lang="zh-CN" altLang="en-US" sz="2000" dirty="0">
                <a:solidFill>
                  <a:srgbClr val="595959"/>
                </a:solidFill>
                <a:latin typeface="微软雅黑" panose="020B0503020204020204" pitchFamily="34" charset="-122"/>
                <a:ea typeface="微软雅黑" panose="020B0503020204020204" pitchFamily="34" charset="-122"/>
              </a:rPr>
              <a:t>的结果，再次进入 “制订计划” 阶段，开启</a:t>
            </a:r>
            <a:r>
              <a:rPr lang="zh-CN" altLang="en-US" sz="2000" dirty="0">
                <a:solidFill>
                  <a:srgbClr val="0070C0"/>
                </a:solidFill>
                <a:latin typeface="微软雅黑" panose="020B0503020204020204" pitchFamily="34" charset="-122"/>
                <a:ea typeface="微软雅黑" panose="020B0503020204020204" pitchFamily="34" charset="-122"/>
              </a:rPr>
              <a:t>下一个螺旋周期</a:t>
            </a:r>
            <a:r>
              <a:rPr lang="zh-CN" altLang="en-US" sz="2000" dirty="0">
                <a:solidFill>
                  <a:srgbClr val="595959"/>
                </a:solidFill>
                <a:latin typeface="微软雅黑" panose="020B0503020204020204" pitchFamily="34" charset="-122"/>
                <a:ea typeface="微软雅黑" panose="020B0503020204020204" pitchFamily="34" charset="-122"/>
              </a:rPr>
              <a:t>。每一次循环，软件在功能、质量、稳定性等方面都会得到</a:t>
            </a:r>
            <a:r>
              <a:rPr lang="zh-CN" altLang="en-US" sz="2000" dirty="0">
                <a:solidFill>
                  <a:srgbClr val="0070C0"/>
                </a:solidFill>
                <a:latin typeface="微软雅黑" panose="020B0503020204020204" pitchFamily="34" charset="-122"/>
                <a:ea typeface="微软雅黑" panose="020B0503020204020204" pitchFamily="34" charset="-122"/>
              </a:rPr>
              <a:t>进一步提升</a:t>
            </a:r>
            <a:r>
              <a:rPr lang="zh-CN" altLang="en-US" sz="2000" dirty="0">
                <a:solidFill>
                  <a:srgbClr val="595959"/>
                </a:solidFill>
                <a:latin typeface="微软雅黑" panose="020B0503020204020204" pitchFamily="34" charset="-122"/>
                <a:ea typeface="微软雅黑" panose="020B0503020204020204" pitchFamily="34" charset="-122"/>
              </a:rPr>
              <a:t>，累计成本也会随着周期推进而</a:t>
            </a:r>
            <a:r>
              <a:rPr lang="zh-CN" altLang="en-US" sz="2000" dirty="0">
                <a:solidFill>
                  <a:srgbClr val="0070C0"/>
                </a:solidFill>
                <a:latin typeface="微软雅黑" panose="020B0503020204020204" pitchFamily="34" charset="-122"/>
                <a:ea typeface="微软雅黑" panose="020B0503020204020204" pitchFamily="34" charset="-122"/>
              </a:rPr>
              <a:t>增加</a:t>
            </a:r>
            <a:r>
              <a:rPr lang="zh-CN" altLang="en-US" sz="2000" dirty="0">
                <a:solidFill>
                  <a:srgbClr val="595959"/>
                </a:solidFill>
                <a:latin typeface="微软雅黑" panose="020B0503020204020204" pitchFamily="34" charset="-122"/>
                <a:ea typeface="微软雅黑" panose="020B0503020204020204" pitchFamily="34" charset="-122"/>
              </a:rPr>
              <a:t>，最终逐步构建出符合需求的成熟软件产品。</a:t>
            </a:r>
            <a:endParaRPr lang="zh-CN" altLang="en-US" sz="2000" dirty="0"/>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软件开发模型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TextBox 35"/>
          <p:cNvSpPr txBox="1">
            <a:spLocks noChangeArrowheads="1"/>
          </p:cNvSpPr>
          <p:nvPr/>
        </p:nvSpPr>
        <p:spPr bwMode="auto">
          <a:xfrm>
            <a:off x="1055370" y="838200"/>
            <a:ext cx="8249285" cy="835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2000" b="1" dirty="0">
                <a:solidFill>
                  <a:srgbClr val="595959"/>
                </a:solidFill>
                <a:latin typeface="微软雅黑" panose="020B0503020204020204" pitchFamily="34" charset="-122"/>
                <a:ea typeface="微软雅黑" panose="020B0503020204020204" pitchFamily="34" charset="-122"/>
              </a:rPr>
              <a:t>5.敏捷模型</a:t>
            </a:r>
          </a:p>
          <a:p>
            <a:pPr algn="just">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127125" y="1673860"/>
            <a:ext cx="9591675" cy="3339934"/>
          </a:xfrm>
          <a:prstGeom prst="rect">
            <a:avLst/>
          </a:prstGeom>
          <a:noFill/>
        </p:spPr>
        <p:txBody>
          <a:bodyPr wrap="square" rtlCol="0" anchor="t">
            <a:noAutofit/>
          </a:bodyPr>
          <a:lstStyle/>
          <a:p>
            <a:pPr indent="457200" algn="just">
              <a:lnSpc>
                <a:spcPct val="150000"/>
              </a:lnSpc>
            </a:pPr>
            <a:r>
              <a:rPr lang="zh-CN" altLang="en-US" sz="2000" dirty="0">
                <a:solidFill>
                  <a:srgbClr val="0070C0"/>
                </a:solidFill>
                <a:latin typeface="微软雅黑" panose="020B0503020204020204" pitchFamily="34" charset="-122"/>
                <a:ea typeface="微软雅黑" panose="020B0503020204020204" pitchFamily="34" charset="-122"/>
                <a:sym typeface="+mn-ea"/>
              </a:rPr>
              <a:t>敏捷模型</a:t>
            </a:r>
            <a:r>
              <a:rPr lang="zh-CN" altLang="en-US" sz="2000" dirty="0">
                <a:solidFill>
                  <a:srgbClr val="595959"/>
                </a:solidFill>
                <a:latin typeface="微软雅黑" panose="020B0503020204020204" pitchFamily="34" charset="-122"/>
                <a:ea typeface="微软雅黑" panose="020B0503020204020204" pitchFamily="34" charset="-122"/>
                <a:sym typeface="+mn-ea"/>
              </a:rPr>
              <a:t>是20世纪90年代兴起的一种软件开发模型，它</a:t>
            </a:r>
            <a:r>
              <a:rPr lang="zh-CN" altLang="en-US" sz="2000" dirty="0">
                <a:solidFill>
                  <a:srgbClr val="0070C0"/>
                </a:solidFill>
                <a:latin typeface="微软雅黑" panose="020B0503020204020204" pitchFamily="34" charset="-122"/>
                <a:ea typeface="微软雅黑" panose="020B0503020204020204" pitchFamily="34" charset="-122"/>
                <a:sym typeface="+mn-ea"/>
              </a:rPr>
              <a:t>以用户的需求进化为核心</a:t>
            </a: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zh-CN" altLang="en-US" sz="2000" dirty="0">
                <a:solidFill>
                  <a:srgbClr val="0070C0"/>
                </a:solidFill>
                <a:latin typeface="微软雅黑" panose="020B0503020204020204" pitchFamily="34" charset="-122"/>
                <a:ea typeface="微软雅黑" panose="020B0503020204020204" pitchFamily="34" charset="-122"/>
                <a:sym typeface="+mn-ea"/>
              </a:rPr>
              <a:t>采用循序渐进的方式进行软件开发</a:t>
            </a:r>
            <a:r>
              <a:rPr lang="zh-CN" altLang="en-US" sz="2000" dirty="0">
                <a:solidFill>
                  <a:srgbClr val="595959"/>
                </a:solidFill>
                <a:latin typeface="微软雅黑" panose="020B0503020204020204" pitchFamily="34" charset="-122"/>
                <a:ea typeface="微软雅黑" panose="020B0503020204020204" pitchFamily="34" charset="-122"/>
                <a:sym typeface="+mn-ea"/>
              </a:rPr>
              <a:t>。</a:t>
            </a:r>
            <a:endParaRPr lang="en-US" altLang="zh-CN" sz="2000" dirty="0">
              <a:solidFill>
                <a:srgbClr val="595959"/>
              </a:solidFill>
              <a:latin typeface="微软雅黑" panose="020B0503020204020204" pitchFamily="34" charset="-122"/>
              <a:ea typeface="微软雅黑" panose="020B0503020204020204" pitchFamily="34" charset="-122"/>
              <a:sym typeface="+mn-ea"/>
            </a:endParaRPr>
          </a:p>
          <a:p>
            <a:pPr algn="just">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endParaRPr>
          </a:p>
          <a:p>
            <a:pPr indent="457200"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mn-ea"/>
              </a:rPr>
              <a:t>敏捷模型还有一个重要的概念——</a:t>
            </a:r>
            <a:r>
              <a:rPr lang="zh-CN" altLang="en-US" sz="2000" dirty="0">
                <a:solidFill>
                  <a:srgbClr val="0070C0"/>
                </a:solidFill>
                <a:latin typeface="微软雅黑" panose="020B0503020204020204" pitchFamily="34" charset="-122"/>
                <a:ea typeface="微软雅黑" panose="020B0503020204020204" pitchFamily="34" charset="-122"/>
                <a:sym typeface="+mn-ea"/>
              </a:rPr>
              <a:t>迭代</a:t>
            </a:r>
            <a:r>
              <a:rPr lang="zh-CN" altLang="en-US" sz="2000" dirty="0">
                <a:solidFill>
                  <a:srgbClr val="595959"/>
                </a:solidFill>
                <a:latin typeface="微软雅黑" panose="020B0503020204020204" pitchFamily="34" charset="-122"/>
                <a:ea typeface="微软雅黑" panose="020B0503020204020204" pitchFamily="34" charset="-122"/>
                <a:sym typeface="+mn-ea"/>
              </a:rPr>
              <a:t>，即不断对产品进行细微、渐进式地改进，每改进一小部分都要进行评估，如果这部分的改进可行，再逐步扩大改进范围。在敏捷模型中，软件开发不再是线性的，</a:t>
            </a:r>
            <a:r>
              <a:rPr lang="zh-CN" altLang="en-US" sz="2000" dirty="0">
                <a:solidFill>
                  <a:srgbClr val="0070C0"/>
                </a:solidFill>
                <a:latin typeface="微软雅黑" panose="020B0503020204020204" pitchFamily="34" charset="-122"/>
                <a:ea typeface="微软雅黑" panose="020B0503020204020204" pitchFamily="34" charset="-122"/>
                <a:sym typeface="+mn-ea"/>
              </a:rPr>
              <a:t>开发的同时也会进行测试工作</a:t>
            </a:r>
            <a:r>
              <a:rPr lang="zh-CN" altLang="en-US" sz="2000" dirty="0">
                <a:solidFill>
                  <a:srgbClr val="595959"/>
                </a:solidFill>
                <a:latin typeface="微软雅黑" panose="020B0503020204020204" pitchFamily="34" charset="-122"/>
                <a:ea typeface="微软雅黑" panose="020B0503020204020204" pitchFamily="34" charset="-122"/>
                <a:sym typeface="+mn-ea"/>
              </a:rPr>
              <a:t>，甚至</a:t>
            </a:r>
            <a:r>
              <a:rPr lang="zh-CN" altLang="en-US" sz="2000" dirty="0">
                <a:solidFill>
                  <a:srgbClr val="0070C0"/>
                </a:solidFill>
                <a:latin typeface="微软雅黑" panose="020B0503020204020204" pitchFamily="34" charset="-122"/>
                <a:ea typeface="微软雅黑" panose="020B0503020204020204" pitchFamily="34" charset="-122"/>
                <a:sym typeface="+mn-ea"/>
              </a:rPr>
              <a:t>可以提前写好测试代码</a:t>
            </a:r>
            <a:r>
              <a:rPr lang="zh-CN" altLang="en-US" sz="2000" dirty="0">
                <a:solidFill>
                  <a:srgbClr val="595959"/>
                </a:solidFill>
                <a:latin typeface="微软雅黑" panose="020B0503020204020204" pitchFamily="34" charset="-122"/>
                <a:ea typeface="微软雅黑" panose="020B0503020204020204" pitchFamily="34" charset="-122"/>
                <a:sym typeface="+mn-ea"/>
              </a:rPr>
              <a:t>，因此对于敏捷模型，有</a:t>
            </a:r>
            <a:r>
              <a:rPr lang="zh-CN" altLang="en-US" sz="2000" dirty="0">
                <a:solidFill>
                  <a:srgbClr val="0070C0"/>
                </a:solidFill>
                <a:latin typeface="微软雅黑" panose="020B0503020204020204" pitchFamily="34" charset="-122"/>
                <a:ea typeface="微软雅黑" panose="020B0503020204020204" pitchFamily="34" charset="-122"/>
                <a:sym typeface="+mn-ea"/>
              </a:rPr>
              <a:t>“开发未动，测试先行”</a:t>
            </a:r>
            <a:r>
              <a:rPr lang="zh-CN" altLang="en-US" sz="2000" dirty="0">
                <a:solidFill>
                  <a:srgbClr val="595959"/>
                </a:solidFill>
                <a:latin typeface="微软雅黑" panose="020B0503020204020204" pitchFamily="34" charset="-122"/>
                <a:ea typeface="微软雅黑" panose="020B0503020204020204" pitchFamily="34" charset="-122"/>
                <a:sym typeface="+mn-ea"/>
              </a:rPr>
              <a:t>的说法。</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软件开发模型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127125" y="981710"/>
            <a:ext cx="9591675" cy="3778250"/>
          </a:xfrm>
          <a:prstGeom prst="rect">
            <a:avLst/>
          </a:prstGeom>
          <a:noFill/>
        </p:spPr>
        <p:txBody>
          <a:bodyPr wrap="square" rtlCol="0" anchor="t">
            <a:noAutofit/>
          </a:bodyPr>
          <a:lstStyle/>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相比于传统的软件开发模型，敏捷模型</a:t>
            </a:r>
            <a:r>
              <a:rPr lang="zh-CN" altLang="en-US" sz="2000" dirty="0">
                <a:solidFill>
                  <a:srgbClr val="0070C0"/>
                </a:solidFill>
                <a:latin typeface="微软雅黑" panose="020B0503020204020204" pitchFamily="34" charset="-122"/>
                <a:ea typeface="微软雅黑" panose="020B0503020204020204" pitchFamily="34" charset="-122"/>
                <a:sym typeface="+mn-ea"/>
              </a:rPr>
              <a:t>更注重“人”在软件开发中的作用</a:t>
            </a:r>
            <a:r>
              <a:rPr lang="zh-CN" altLang="en-US" sz="2000" dirty="0">
                <a:solidFill>
                  <a:srgbClr val="595959"/>
                </a:solidFill>
                <a:latin typeface="微软雅黑" panose="020B0503020204020204" pitchFamily="34" charset="-122"/>
                <a:ea typeface="微软雅黑" panose="020B0503020204020204" pitchFamily="34" charset="-122"/>
                <a:sym typeface="+mn-ea"/>
              </a:rPr>
              <a:t>，参与项目的各部门人员应该紧密合作、快速有效地沟通（如面对面沟通），</a:t>
            </a:r>
            <a:r>
              <a:rPr lang="zh-CN" altLang="en-US" sz="2000" dirty="0">
                <a:solidFill>
                  <a:srgbClr val="0070C0"/>
                </a:solidFill>
                <a:latin typeface="微软雅黑" panose="020B0503020204020204" pitchFamily="34" charset="-122"/>
                <a:ea typeface="微软雅黑" panose="020B0503020204020204" pitchFamily="34" charset="-122"/>
                <a:sym typeface="+mn-ea"/>
              </a:rPr>
              <a:t>提出需求的用户可以全程参与到开发过程中</a:t>
            </a:r>
            <a:r>
              <a:rPr lang="zh-CN" altLang="en-US" sz="2000" dirty="0">
                <a:solidFill>
                  <a:srgbClr val="595959"/>
                </a:solidFill>
                <a:latin typeface="微软雅黑" panose="020B0503020204020204" pitchFamily="34" charset="-122"/>
                <a:ea typeface="微软雅黑" panose="020B0503020204020204" pitchFamily="34" charset="-122"/>
                <a:sym typeface="+mn-ea"/>
              </a:rPr>
              <a:t>，以</a:t>
            </a:r>
            <a:r>
              <a:rPr lang="zh-CN" altLang="en-US" sz="2000" dirty="0">
                <a:solidFill>
                  <a:srgbClr val="0070C0"/>
                </a:solidFill>
                <a:latin typeface="微软雅黑" panose="020B0503020204020204" pitchFamily="34" charset="-122"/>
                <a:ea typeface="微软雅黑" panose="020B0503020204020204" pitchFamily="34" charset="-122"/>
                <a:sym typeface="+mn-ea"/>
              </a:rPr>
              <a:t>适应</a:t>
            </a:r>
            <a:r>
              <a:rPr lang="zh-CN" altLang="en-US" sz="2000" dirty="0">
                <a:solidFill>
                  <a:srgbClr val="595959"/>
                </a:solidFill>
                <a:latin typeface="微软雅黑" panose="020B0503020204020204" pitchFamily="34" charset="-122"/>
                <a:ea typeface="微软雅黑" panose="020B0503020204020204" pitchFamily="34" charset="-122"/>
                <a:sym typeface="+mn-ea"/>
              </a:rPr>
              <a:t>软件</a:t>
            </a:r>
            <a:r>
              <a:rPr lang="zh-CN" altLang="en-US" sz="2000" dirty="0">
                <a:solidFill>
                  <a:srgbClr val="0070C0"/>
                </a:solidFill>
                <a:latin typeface="微软雅黑" panose="020B0503020204020204" pitchFamily="34" charset="-122"/>
                <a:ea typeface="微软雅黑" panose="020B0503020204020204" pitchFamily="34" charset="-122"/>
                <a:sym typeface="+mn-ea"/>
              </a:rPr>
              <a:t>频繁的需求变更</a:t>
            </a:r>
            <a:r>
              <a:rPr lang="zh-CN" altLang="en-US" sz="2000" dirty="0">
                <a:solidFill>
                  <a:srgbClr val="595959"/>
                </a:solidFill>
                <a:latin typeface="微软雅黑" panose="020B0503020204020204" pitchFamily="34" charset="-122"/>
                <a:ea typeface="微软雅黑" panose="020B0503020204020204" pitchFamily="34" charset="-122"/>
                <a:sym typeface="+mn-ea"/>
              </a:rPr>
              <a:t>。为此，敏捷模型描述了一套软件开发的原则，具体如下。</a:t>
            </a:r>
          </a:p>
          <a:p>
            <a:pPr marL="936000" indent="-342900" algn="just">
              <a:lnSpc>
                <a:spcPct val="150000"/>
              </a:lnSpc>
              <a:buClrTx/>
              <a:buSzTx/>
              <a:buFont typeface="Wingdings" panose="05000000000000000000" charset="0"/>
              <a:buChar char="l"/>
            </a:pPr>
            <a:r>
              <a:rPr lang="zh-CN" altLang="en-US" sz="2000" dirty="0">
                <a:solidFill>
                  <a:srgbClr val="595959"/>
                </a:solidFill>
                <a:latin typeface="微软雅黑" panose="020B0503020204020204" pitchFamily="34" charset="-122"/>
                <a:ea typeface="微软雅黑" panose="020B0503020204020204" pitchFamily="34" charset="-122"/>
                <a:sym typeface="+mn-ea"/>
              </a:rPr>
              <a:t>个体和交互重于过程和工具。</a:t>
            </a:r>
          </a:p>
          <a:p>
            <a:pPr marL="936000" indent="-342900" algn="just">
              <a:lnSpc>
                <a:spcPct val="150000"/>
              </a:lnSpc>
              <a:buClrTx/>
              <a:buSzTx/>
              <a:buFont typeface="Wingdings" panose="05000000000000000000" charset="0"/>
              <a:buChar char="l"/>
            </a:pPr>
            <a:r>
              <a:rPr lang="zh-CN" altLang="en-US" sz="2000" dirty="0">
                <a:solidFill>
                  <a:srgbClr val="595959"/>
                </a:solidFill>
                <a:latin typeface="微软雅黑" panose="020B0503020204020204" pitchFamily="34" charset="-122"/>
                <a:ea typeface="微软雅黑" panose="020B0503020204020204" pitchFamily="34" charset="-122"/>
                <a:sym typeface="+mn-ea"/>
              </a:rPr>
              <a:t>可用软件重于完备文档。</a:t>
            </a:r>
          </a:p>
          <a:p>
            <a:pPr marL="936000" indent="-342900" algn="just">
              <a:lnSpc>
                <a:spcPct val="150000"/>
              </a:lnSpc>
              <a:buClrTx/>
              <a:buSzTx/>
              <a:buFont typeface="Wingdings" panose="05000000000000000000" charset="0"/>
              <a:buChar char="l"/>
            </a:pPr>
            <a:r>
              <a:rPr lang="zh-CN" altLang="en-US" sz="2000" dirty="0">
                <a:solidFill>
                  <a:srgbClr val="595959"/>
                </a:solidFill>
                <a:latin typeface="微软雅黑" panose="020B0503020204020204" pitchFamily="34" charset="-122"/>
                <a:ea typeface="微软雅黑" panose="020B0503020204020204" pitchFamily="34" charset="-122"/>
                <a:sym typeface="+mn-ea"/>
              </a:rPr>
              <a:t>用户协作重于合同谈判。</a:t>
            </a:r>
          </a:p>
          <a:p>
            <a:pPr marL="936000" indent="-342900" algn="just">
              <a:lnSpc>
                <a:spcPct val="150000"/>
              </a:lnSpc>
              <a:buClrTx/>
              <a:buSzTx/>
              <a:buFont typeface="Wingdings" panose="05000000000000000000" charset="0"/>
              <a:buChar char="l"/>
            </a:pPr>
            <a:r>
              <a:rPr lang="zh-CN" altLang="en-US" sz="2000" dirty="0">
                <a:solidFill>
                  <a:srgbClr val="595959"/>
                </a:solidFill>
                <a:latin typeface="微软雅黑" panose="020B0503020204020204" pitchFamily="34" charset="-122"/>
                <a:ea typeface="微软雅黑" panose="020B0503020204020204" pitchFamily="34" charset="-122"/>
                <a:sym typeface="+mn-ea"/>
              </a:rPr>
              <a:t>响应变化重于遵循计划。</a:t>
            </a:r>
          </a:p>
          <a:p>
            <a:pPr indent="457200" algn="just">
              <a:lnSpc>
                <a:spcPct val="150000"/>
              </a:lnSpc>
              <a:buClrTx/>
              <a:buSzTx/>
              <a:buFont typeface="Wingdings" panose="05000000000000000000" charset="0"/>
              <a:buNone/>
            </a:pPr>
            <a:r>
              <a:rPr lang="zh-CN" altLang="en-US" sz="2000" dirty="0">
                <a:solidFill>
                  <a:srgbClr val="595959"/>
                </a:solidFill>
                <a:latin typeface="微软雅黑" panose="020B0503020204020204" pitchFamily="34" charset="-122"/>
                <a:ea typeface="微软雅黑" panose="020B0503020204020204" pitchFamily="34" charset="-122"/>
                <a:sym typeface="+mn-ea"/>
              </a:rPr>
              <a:t>对于较大的项目，参与开发的人员越多，有效沟通越困难，因此</a:t>
            </a:r>
            <a:r>
              <a:rPr lang="zh-CN" altLang="en-US" sz="2000" dirty="0">
                <a:solidFill>
                  <a:srgbClr val="0070C0"/>
                </a:solidFill>
                <a:latin typeface="微软雅黑" panose="020B0503020204020204" pitchFamily="34" charset="-122"/>
                <a:ea typeface="微软雅黑" panose="020B0503020204020204" pitchFamily="34" charset="-122"/>
                <a:sym typeface="+mn-ea"/>
              </a:rPr>
              <a:t>敏捷模型比较适用于小型项目的开发</a:t>
            </a:r>
            <a:r>
              <a:rPr lang="zh-CN" altLang="en-US" sz="2000" dirty="0">
                <a:solidFill>
                  <a:srgbClr val="595959"/>
                </a:solidFill>
                <a:latin typeface="微软雅黑" panose="020B0503020204020204" pitchFamily="34" charset="-122"/>
                <a:ea typeface="微软雅黑" panose="020B0503020204020204" pitchFamily="34" charset="-122"/>
                <a:sym typeface="+mn-ea"/>
              </a:rPr>
              <a:t>，而不太适用于大型项目的开发。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形 22" descr="讲故事"/>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67" y="1398145"/>
            <a:ext cx="1015842" cy="1015842"/>
          </a:xfrm>
          <a:prstGeom prst="rect">
            <a:avLst/>
          </a:prstGeom>
        </p:spPr>
      </p:pic>
      <p:sp>
        <p:nvSpPr>
          <p:cNvPr id="25" name="矩形 24"/>
          <p:cNvSpPr/>
          <p:nvPr/>
        </p:nvSpPr>
        <p:spPr>
          <a:xfrm>
            <a:off x="2150286" y="1608089"/>
            <a:ext cx="2513792"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2107565" y="1743710"/>
            <a:ext cx="2557145" cy="398780"/>
          </a:xfrm>
          <a:prstGeom prst="rect">
            <a:avLst/>
          </a:prstGeom>
          <a:noFill/>
        </p:spPr>
        <p:txBody>
          <a:bodyPr wrap="square" rtlCol="0">
            <a:spAutoFit/>
          </a:bodyPr>
          <a:lstStyle/>
          <a:p>
            <a:pPr algn="dist"/>
            <a:r>
              <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敏捷模型的开发方式</a:t>
            </a:r>
          </a:p>
        </p:txBody>
      </p:sp>
      <p:sp>
        <p:nvSpPr>
          <p:cNvPr id="27" name="矩形 26"/>
          <p:cNvSpPr/>
          <p:nvPr/>
        </p:nvSpPr>
        <p:spPr>
          <a:xfrm>
            <a:off x="4768664"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4956363"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软件开发模型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0" name="矩形 19"/>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7" name="矩形 6"/>
          <p:cNvSpPr/>
          <p:nvPr/>
        </p:nvSpPr>
        <p:spPr>
          <a:xfrm>
            <a:off x="3693160" y="2964815"/>
            <a:ext cx="6803390" cy="1407795"/>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latin typeface="微软雅黑" panose="020B0503020204020204" pitchFamily="34" charset="-122"/>
              <a:ea typeface="微软雅黑" panose="020B0503020204020204" pitchFamily="34" charset="-122"/>
              <a:cs typeface="+mn-ea"/>
              <a:sym typeface="+mn-lt"/>
            </a:endParaRPr>
          </a:p>
        </p:txBody>
      </p:sp>
      <p:sp>
        <p:nvSpPr>
          <p:cNvPr id="29" name="矩形 28"/>
          <p:cNvSpPr/>
          <p:nvPr/>
        </p:nvSpPr>
        <p:spPr>
          <a:xfrm>
            <a:off x="4768772" y="2747121"/>
            <a:ext cx="4686911" cy="43662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r>
              <a:rPr lang="zh-CN" altLang="en-US" sz="1865" dirty="0">
                <a:latin typeface="微软雅黑" panose="020B0503020204020204" pitchFamily="34" charset="-122"/>
                <a:ea typeface="微软雅黑" panose="020B0503020204020204" pitchFamily="34" charset="-122"/>
                <a:cs typeface="+mn-ea"/>
                <a:sym typeface="+mn-lt"/>
              </a:rPr>
              <a:t>Scrum</a:t>
            </a:r>
          </a:p>
        </p:txBody>
      </p:sp>
      <p:sp>
        <p:nvSpPr>
          <p:cNvPr id="30" name="六边形 29"/>
          <p:cNvSpPr/>
          <p:nvPr/>
        </p:nvSpPr>
        <p:spPr>
          <a:xfrm>
            <a:off x="1185788" y="3650400"/>
            <a:ext cx="1587263" cy="1368152"/>
          </a:xfrm>
          <a:prstGeom prst="hexag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r>
              <a:rPr lang="zh-CN" altLang="en-US" sz="2000" b="1" dirty="0">
                <a:latin typeface="微软雅黑" panose="020B0503020204020204" pitchFamily="34" charset="-122"/>
                <a:ea typeface="微软雅黑" panose="020B0503020204020204" pitchFamily="34" charset="-122"/>
                <a:cs typeface="+mn-ea"/>
                <a:sym typeface="+mn-lt"/>
              </a:rPr>
              <a:t>敏捷模型的开发方式</a:t>
            </a:r>
          </a:p>
        </p:txBody>
      </p:sp>
      <p:cxnSp>
        <p:nvCxnSpPr>
          <p:cNvPr id="16" name="直接箭头连接符 15"/>
          <p:cNvCxnSpPr/>
          <p:nvPr/>
        </p:nvCxnSpPr>
        <p:spPr>
          <a:xfrm flipV="1">
            <a:off x="2594208" y="3573566"/>
            <a:ext cx="1052830" cy="436880"/>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2594208" y="4721373"/>
            <a:ext cx="1052830" cy="580390"/>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7" name="TextBox 33"/>
          <p:cNvSpPr txBox="1"/>
          <p:nvPr/>
        </p:nvSpPr>
        <p:spPr>
          <a:xfrm>
            <a:off x="4087498" y="3183662"/>
            <a:ext cx="6049460" cy="1156857"/>
          </a:xfrm>
          <a:prstGeom prst="rect">
            <a:avLst/>
          </a:prstGeom>
          <a:noFill/>
        </p:spPr>
        <p:txBody>
          <a:bodyPr wrap="square" lIns="91445" tIns="45721" rIns="91445" bIns="45721" rtlCol="0">
            <a:spAutoFit/>
          </a:bodyPr>
          <a:lstStyle/>
          <a:p>
            <a:pPr indent="457200" algn="just">
              <a:lnSpc>
                <a:spcPct val="150000"/>
              </a:lnSpc>
            </a:pP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Scrum是一个开发管理框架</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。在使用Scrum开发方式的团队中，一般</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会选出一个Scrum Master（产品负责人）</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全面负责产品的开发过程。</a:t>
            </a:r>
          </a:p>
        </p:txBody>
      </p:sp>
      <p:sp>
        <p:nvSpPr>
          <p:cNvPr id="38" name="矩形 37"/>
          <p:cNvSpPr/>
          <p:nvPr/>
        </p:nvSpPr>
        <p:spPr>
          <a:xfrm>
            <a:off x="3651250" y="4716780"/>
            <a:ext cx="6803390" cy="14076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latin typeface="微软雅黑" panose="020B0503020204020204" pitchFamily="34" charset="-122"/>
              <a:ea typeface="微软雅黑" panose="020B0503020204020204" pitchFamily="34" charset="-122"/>
              <a:cs typeface="+mn-ea"/>
              <a:sym typeface="+mn-lt"/>
            </a:endParaRPr>
          </a:p>
        </p:txBody>
      </p:sp>
      <p:sp>
        <p:nvSpPr>
          <p:cNvPr id="39" name="矩形 38"/>
          <p:cNvSpPr/>
          <p:nvPr/>
        </p:nvSpPr>
        <p:spPr>
          <a:xfrm>
            <a:off x="4726862" y="4509523"/>
            <a:ext cx="4686911" cy="43662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5" tIns="45721" rIns="91445" bIns="45721" numCol="1" spcCol="0" rtlCol="0" fromWordArt="0" anchor="ctr" anchorCtr="0" forceAA="0" compatLnSpc="1">
            <a:noAutofit/>
          </a:bodyPr>
          <a:lstStyle/>
          <a:p>
            <a:pPr lvl="0" algn="ctr"/>
            <a:r>
              <a:rPr lang="zh-CN" altLang="en-US" sz="1865" dirty="0">
                <a:latin typeface="微软雅黑" panose="020B0503020204020204" pitchFamily="34" charset="-122"/>
                <a:ea typeface="微软雅黑" panose="020B0503020204020204" pitchFamily="34" charset="-122"/>
                <a:cs typeface="+mn-ea"/>
                <a:sym typeface="+mn-lt"/>
              </a:rPr>
              <a:t>Kanban</a:t>
            </a:r>
          </a:p>
        </p:txBody>
      </p:sp>
      <p:sp>
        <p:nvSpPr>
          <p:cNvPr id="40" name="TextBox 39"/>
          <p:cNvSpPr txBox="1"/>
          <p:nvPr/>
        </p:nvSpPr>
        <p:spPr>
          <a:xfrm>
            <a:off x="4045588" y="4945800"/>
            <a:ext cx="6049460" cy="787525"/>
          </a:xfrm>
          <a:prstGeom prst="rect">
            <a:avLst/>
          </a:prstGeom>
          <a:noFill/>
        </p:spPr>
        <p:txBody>
          <a:bodyPr wrap="square" lIns="91445" tIns="45721" rIns="91445" bIns="45721" rtlCol="0">
            <a:spAutoFit/>
          </a:bodyPr>
          <a:lstStyle/>
          <a:p>
            <a:pPr lvl="0" indent="457200" algn="l">
              <a:lnSpc>
                <a:spcPct val="150000"/>
              </a:lnSpc>
            </a:pP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Kanban</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开发方式将工作细分成任务，</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将工作流程显示在“看板卡”上</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，每个人都能</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及时了解自己的工作任务及工作进度</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C45C4-1F5A-381F-9106-7354FB59622D}"/>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763314BF-580C-E23C-E9B3-B5B429E3A7F6}"/>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软件开发模型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TextBox 35">
            <a:extLst>
              <a:ext uri="{FF2B5EF4-FFF2-40B4-BE49-F238E27FC236}">
                <a16:creationId xmlns:a16="http://schemas.microsoft.com/office/drawing/2014/main" id="{54E789CD-CD84-E94A-1B24-E18E05A4B650}"/>
              </a:ext>
            </a:extLst>
          </p:cNvPr>
          <p:cNvSpPr txBox="1">
            <a:spLocks noChangeArrowheads="1"/>
          </p:cNvSpPr>
          <p:nvPr/>
        </p:nvSpPr>
        <p:spPr bwMode="auto">
          <a:xfrm>
            <a:off x="1055370" y="838200"/>
            <a:ext cx="8249285" cy="835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2000" b="1" dirty="0">
                <a:solidFill>
                  <a:srgbClr val="595959"/>
                </a:solidFill>
                <a:latin typeface="微软雅黑" panose="020B0503020204020204" pitchFamily="34" charset="-122"/>
                <a:ea typeface="微软雅黑" panose="020B0503020204020204" pitchFamily="34" charset="-122"/>
              </a:rPr>
              <a:t>6.DevOps</a:t>
            </a:r>
          </a:p>
          <a:p>
            <a:pPr algn="just">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7A8FFA24-C857-947E-FF4D-705F9B9CA159}"/>
              </a:ext>
            </a:extLst>
          </p:cNvPr>
          <p:cNvSpPr txBox="1"/>
          <p:nvPr/>
        </p:nvSpPr>
        <p:spPr>
          <a:xfrm>
            <a:off x="1022245" y="2094668"/>
            <a:ext cx="4320080" cy="3339934"/>
          </a:xfrm>
          <a:prstGeom prst="rect">
            <a:avLst/>
          </a:prstGeom>
          <a:noFill/>
        </p:spPr>
        <p:txBody>
          <a:bodyPr wrap="square" rtlCol="0" anchor="t">
            <a:noAutofit/>
          </a:bodyPr>
          <a:lstStyle/>
          <a:p>
            <a:pPr indent="457200"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DevOps </a:t>
            </a:r>
            <a:r>
              <a:rPr lang="zh-CN" altLang="en-US" sz="2000" dirty="0">
                <a:solidFill>
                  <a:srgbClr val="595959"/>
                </a:solidFill>
                <a:latin typeface="微软雅黑" panose="020B0503020204020204" pitchFamily="34" charset="-122"/>
                <a:ea typeface="微软雅黑" panose="020B0503020204020204" pitchFamily="34" charset="-122"/>
              </a:rPr>
              <a:t>是 </a:t>
            </a:r>
            <a:r>
              <a:rPr lang="en-US" altLang="zh-CN" sz="2000" dirty="0">
                <a:solidFill>
                  <a:srgbClr val="0070C0"/>
                </a:solidFill>
                <a:latin typeface="微软雅黑" panose="020B0503020204020204" pitchFamily="34" charset="-122"/>
                <a:ea typeface="微软雅黑" panose="020B0503020204020204" pitchFamily="34" charset="-122"/>
              </a:rPr>
              <a:t>Development</a:t>
            </a:r>
            <a:r>
              <a:rPr lang="zh-CN" altLang="en-US" sz="2000" dirty="0">
                <a:solidFill>
                  <a:srgbClr val="595959"/>
                </a:solidFill>
                <a:latin typeface="微软雅黑" panose="020B0503020204020204" pitchFamily="34" charset="-122"/>
                <a:ea typeface="微软雅黑" panose="020B0503020204020204" pitchFamily="34" charset="-122"/>
              </a:rPr>
              <a:t>（开发）和 </a:t>
            </a:r>
            <a:r>
              <a:rPr lang="en-US" altLang="zh-CN" sz="2000" dirty="0">
                <a:solidFill>
                  <a:srgbClr val="0070C0"/>
                </a:solidFill>
                <a:latin typeface="微软雅黑" panose="020B0503020204020204" pitchFamily="34" charset="-122"/>
                <a:ea typeface="微软雅黑" panose="020B0503020204020204" pitchFamily="34" charset="-122"/>
              </a:rPr>
              <a:t>Operations</a:t>
            </a:r>
            <a:r>
              <a:rPr lang="zh-CN" altLang="en-US" sz="2000" dirty="0">
                <a:solidFill>
                  <a:srgbClr val="595959"/>
                </a:solidFill>
                <a:latin typeface="微软雅黑" panose="020B0503020204020204" pitchFamily="34" charset="-122"/>
                <a:ea typeface="微软雅黑" panose="020B0503020204020204" pitchFamily="34" charset="-122"/>
              </a:rPr>
              <a:t>（运维）的组合词 ，是一组</a:t>
            </a:r>
            <a:r>
              <a:rPr lang="zh-CN" altLang="en-US" sz="2000" dirty="0">
                <a:solidFill>
                  <a:srgbClr val="0070C0"/>
                </a:solidFill>
                <a:latin typeface="微软雅黑" panose="020B0503020204020204" pitchFamily="34" charset="-122"/>
                <a:ea typeface="微软雅黑" panose="020B0503020204020204" pitchFamily="34" charset="-122"/>
              </a:rPr>
              <a:t>过程、方法与系统</a:t>
            </a:r>
            <a:r>
              <a:rPr lang="zh-CN" altLang="en-US" sz="2000" dirty="0">
                <a:solidFill>
                  <a:srgbClr val="595959"/>
                </a:solidFill>
                <a:latin typeface="微软雅黑" panose="020B0503020204020204" pitchFamily="34" charset="-122"/>
                <a:ea typeface="微软雅黑" panose="020B0503020204020204" pitchFamily="34" charset="-122"/>
              </a:rPr>
              <a:t>的统称，用于促进开发、技术运营和质量保障部门之间的沟通、协作与整合，同时也是一种</a:t>
            </a:r>
            <a:r>
              <a:rPr lang="zh-CN" altLang="en-US" sz="2000" dirty="0">
                <a:solidFill>
                  <a:srgbClr val="0070C0"/>
                </a:solidFill>
                <a:latin typeface="微软雅黑" panose="020B0503020204020204" pitchFamily="34" charset="-122"/>
                <a:ea typeface="微软雅黑" panose="020B0503020204020204" pitchFamily="34" charset="-122"/>
              </a:rPr>
              <a:t>文化理念、实践和工具集</a:t>
            </a:r>
            <a:r>
              <a:rPr lang="zh-CN" altLang="en-US" sz="2000" dirty="0">
                <a:solidFill>
                  <a:srgbClr val="595959"/>
                </a:solidFill>
                <a:latin typeface="微软雅黑" panose="020B0503020204020204" pitchFamily="34" charset="-122"/>
                <a:ea typeface="微软雅黑" panose="020B0503020204020204" pitchFamily="34" charset="-122"/>
              </a:rPr>
              <a:t>。</a:t>
            </a:r>
          </a:p>
        </p:txBody>
      </p:sp>
      <p:pic>
        <p:nvPicPr>
          <p:cNvPr id="2050" name="Picture 2">
            <a:extLst>
              <a:ext uri="{FF2B5EF4-FFF2-40B4-BE49-F238E27FC236}">
                <a16:creationId xmlns:a16="http://schemas.microsoft.com/office/drawing/2014/main" id="{E2E62143-47C0-03F5-81B9-A34E69D484D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75206" y="1409194"/>
            <a:ext cx="6186656" cy="404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19025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BD1C2-3553-E329-FC36-F28EBB1D160D}"/>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E2812422-7661-D2C5-8319-B2BE1D4F159D}"/>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软件开发模型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a:extLst>
              <a:ext uri="{FF2B5EF4-FFF2-40B4-BE49-F238E27FC236}">
                <a16:creationId xmlns:a16="http://schemas.microsoft.com/office/drawing/2014/main" id="{429A0E6E-DC42-B07F-7567-94BC92364265}"/>
              </a:ext>
            </a:extLst>
          </p:cNvPr>
          <p:cNvSpPr txBox="1"/>
          <p:nvPr/>
        </p:nvSpPr>
        <p:spPr>
          <a:xfrm>
            <a:off x="839206" y="2533327"/>
            <a:ext cx="10728000" cy="4136467"/>
          </a:xfrm>
          <a:prstGeom prst="rect">
            <a:avLst/>
          </a:prstGeom>
          <a:noFill/>
        </p:spPr>
        <p:txBody>
          <a:bodyPr wrap="square" rtlCol="0" anchor="t">
            <a:noAutofit/>
          </a:bodyPr>
          <a:lstStyle/>
          <a:p>
            <a:pPr marL="342900" indent="-342900" algn="just">
              <a:lnSpc>
                <a:spcPct val="150000"/>
              </a:lnSpc>
              <a:buClrTx/>
              <a:buSzTx/>
              <a:buFont typeface="Wingdings" panose="05000000000000000000" pitchFamily="2" charset="2"/>
              <a:buChar char="l"/>
            </a:pPr>
            <a:r>
              <a:rPr lang="zh-CN" altLang="en-US" sz="2000" dirty="0">
                <a:solidFill>
                  <a:srgbClr val="0070C0"/>
                </a:solidFill>
                <a:latin typeface="微软雅黑" panose="020B0503020204020204" pitchFamily="34" charset="-122"/>
                <a:ea typeface="微软雅黑" panose="020B0503020204020204" pitchFamily="34" charset="-122"/>
                <a:sym typeface="+mn-ea"/>
              </a:rPr>
              <a:t>规划</a:t>
            </a:r>
            <a:r>
              <a:rPr lang="en-US" altLang="zh-CN" sz="2000" dirty="0">
                <a:solidFill>
                  <a:srgbClr val="0070C0"/>
                </a:solidFill>
                <a:latin typeface="微软雅黑" panose="020B0503020204020204" pitchFamily="34" charset="-122"/>
                <a:ea typeface="微软雅黑" panose="020B0503020204020204" pitchFamily="34" charset="-122"/>
                <a:sym typeface="+mn-ea"/>
              </a:rPr>
              <a:t>(PLAN)</a:t>
            </a:r>
            <a:r>
              <a:rPr lang="zh-CN" altLang="en-US" sz="2000" dirty="0">
                <a:solidFill>
                  <a:srgbClr val="595959"/>
                </a:solidFill>
                <a:latin typeface="微软雅黑" panose="020B0503020204020204" pitchFamily="34" charset="-122"/>
                <a:ea typeface="微软雅黑" panose="020B0503020204020204" pitchFamily="34" charset="-122"/>
                <a:sym typeface="+mn-ea"/>
              </a:rPr>
              <a:t>：确定下一个版本软件的新特性和功能需求。</a:t>
            </a:r>
            <a:endParaRPr lang="en-US" altLang="zh-CN" sz="2000" dirty="0">
              <a:solidFill>
                <a:srgbClr val="595959"/>
              </a:solidFill>
              <a:latin typeface="微软雅黑" panose="020B0503020204020204" pitchFamily="34" charset="-122"/>
              <a:ea typeface="微软雅黑" panose="020B0503020204020204" pitchFamily="34" charset="-122"/>
              <a:sym typeface="+mn-ea"/>
            </a:endParaRPr>
          </a:p>
          <a:p>
            <a:pPr marL="342900" indent="-342900" algn="just">
              <a:lnSpc>
                <a:spcPct val="150000"/>
              </a:lnSpc>
              <a:buClrTx/>
              <a:buSzTx/>
              <a:buFont typeface="Wingdings" panose="05000000000000000000" pitchFamily="2" charset="2"/>
              <a:buChar char="l"/>
            </a:pPr>
            <a:r>
              <a:rPr lang="zh-CN" altLang="en-US" sz="2000" dirty="0">
                <a:solidFill>
                  <a:srgbClr val="0070C0"/>
                </a:solidFill>
                <a:latin typeface="微软雅黑" panose="020B0503020204020204" pitchFamily="34" charset="-122"/>
                <a:ea typeface="微软雅黑" panose="020B0503020204020204" pitchFamily="34" charset="-122"/>
                <a:sym typeface="+mn-ea"/>
              </a:rPr>
              <a:t>编码</a:t>
            </a:r>
            <a:r>
              <a:rPr lang="en-US" altLang="zh-CN" sz="2000" dirty="0">
                <a:solidFill>
                  <a:srgbClr val="0070C0"/>
                </a:solidFill>
                <a:latin typeface="微软雅黑" panose="020B0503020204020204" pitchFamily="34" charset="-122"/>
                <a:ea typeface="微软雅黑" panose="020B0503020204020204" pitchFamily="34" charset="-122"/>
                <a:sym typeface="+mn-ea"/>
              </a:rPr>
              <a:t>(CODE)</a:t>
            </a:r>
            <a:r>
              <a:rPr lang="zh-CN" altLang="en-US" sz="2000" dirty="0">
                <a:solidFill>
                  <a:srgbClr val="595959"/>
                </a:solidFill>
                <a:latin typeface="微软雅黑" panose="020B0503020204020204" pitchFamily="34" charset="-122"/>
                <a:ea typeface="微软雅黑" panose="020B0503020204020204" pitchFamily="34" charset="-122"/>
                <a:sym typeface="+mn-ea"/>
              </a:rPr>
              <a:t>：开发人员编写代码。</a:t>
            </a:r>
            <a:endParaRPr lang="en-US" altLang="zh-CN" sz="2000" dirty="0">
              <a:solidFill>
                <a:srgbClr val="595959"/>
              </a:solidFill>
              <a:latin typeface="微软雅黑" panose="020B0503020204020204" pitchFamily="34" charset="-122"/>
              <a:ea typeface="微软雅黑" panose="020B0503020204020204" pitchFamily="34" charset="-122"/>
              <a:sym typeface="+mn-ea"/>
            </a:endParaRPr>
          </a:p>
          <a:p>
            <a:pPr marL="342900" indent="-342900" algn="just">
              <a:lnSpc>
                <a:spcPct val="150000"/>
              </a:lnSpc>
              <a:buClrTx/>
              <a:buSzTx/>
              <a:buFont typeface="Wingdings" panose="05000000000000000000" pitchFamily="2" charset="2"/>
              <a:buChar char="l"/>
            </a:pPr>
            <a:r>
              <a:rPr lang="zh-CN" altLang="en-US" sz="2000" dirty="0">
                <a:solidFill>
                  <a:srgbClr val="0070C0"/>
                </a:solidFill>
                <a:latin typeface="微软雅黑" panose="020B0503020204020204" pitchFamily="34" charset="-122"/>
                <a:ea typeface="微软雅黑" panose="020B0503020204020204" pitchFamily="34" charset="-122"/>
                <a:sym typeface="+mn-ea"/>
              </a:rPr>
              <a:t>集成</a:t>
            </a:r>
            <a:r>
              <a:rPr lang="en-US" altLang="zh-CN" sz="2000" dirty="0">
                <a:solidFill>
                  <a:srgbClr val="0070C0"/>
                </a:solidFill>
                <a:latin typeface="微软雅黑" panose="020B0503020204020204" pitchFamily="34" charset="-122"/>
                <a:ea typeface="微软雅黑" panose="020B0503020204020204" pitchFamily="34" charset="-122"/>
                <a:sym typeface="+mn-ea"/>
              </a:rPr>
              <a:t>(BUILD)</a:t>
            </a:r>
            <a:r>
              <a:rPr lang="zh-CN" altLang="en-US" sz="2000" dirty="0">
                <a:solidFill>
                  <a:srgbClr val="595959"/>
                </a:solidFill>
                <a:latin typeface="微软雅黑" panose="020B0503020204020204" pitchFamily="34" charset="-122"/>
                <a:ea typeface="微软雅黑" panose="020B0503020204020204" pitchFamily="34" charset="-122"/>
                <a:sym typeface="+mn-ea"/>
              </a:rPr>
              <a:t>：新代码被集成到现有代码库中，然后进行测试和打包，为发布和部署做准备</a:t>
            </a:r>
            <a:endParaRPr lang="en-US" altLang="zh-CN" sz="2000" dirty="0">
              <a:solidFill>
                <a:srgbClr val="595959"/>
              </a:solidFill>
              <a:latin typeface="微软雅黑" panose="020B0503020204020204" pitchFamily="34" charset="-122"/>
              <a:ea typeface="微软雅黑" panose="020B0503020204020204" pitchFamily="34" charset="-122"/>
              <a:sym typeface="+mn-ea"/>
            </a:endParaRPr>
          </a:p>
          <a:p>
            <a:pPr marL="342900" indent="-342900" algn="just">
              <a:lnSpc>
                <a:spcPct val="150000"/>
              </a:lnSpc>
              <a:buClrTx/>
              <a:buSzTx/>
              <a:buFont typeface="Wingdings" panose="05000000000000000000" pitchFamily="2" charset="2"/>
              <a:buChar char="l"/>
            </a:pPr>
            <a:r>
              <a:rPr lang="zh-CN" altLang="en-US" sz="2000" dirty="0">
                <a:solidFill>
                  <a:srgbClr val="0070C0"/>
                </a:solidFill>
                <a:latin typeface="微软雅黑" panose="020B0503020204020204" pitchFamily="34" charset="-122"/>
                <a:ea typeface="微软雅黑" panose="020B0503020204020204" pitchFamily="34" charset="-122"/>
                <a:sym typeface="+mn-ea"/>
              </a:rPr>
              <a:t>测试</a:t>
            </a:r>
            <a:r>
              <a:rPr lang="en-US" altLang="zh-CN" sz="2000" dirty="0">
                <a:solidFill>
                  <a:srgbClr val="0070C0"/>
                </a:solidFill>
                <a:latin typeface="微软雅黑" panose="020B0503020204020204" pitchFamily="34" charset="-122"/>
                <a:ea typeface="微软雅黑" panose="020B0503020204020204" pitchFamily="34" charset="-122"/>
                <a:sym typeface="+mn-ea"/>
              </a:rPr>
              <a:t>(TEST)</a:t>
            </a:r>
            <a:r>
              <a:rPr lang="zh-CN" altLang="en-US" sz="2000" dirty="0">
                <a:solidFill>
                  <a:srgbClr val="595959"/>
                </a:solidFill>
                <a:latin typeface="微软雅黑" panose="020B0503020204020204" pitchFamily="34" charset="-122"/>
                <a:ea typeface="微软雅黑" panose="020B0503020204020204" pitchFamily="34" charset="-122"/>
                <a:sym typeface="+mn-ea"/>
              </a:rPr>
              <a:t>：进行各类测试，包括单元测试、集成测试、系统测试、用户验收测试等。</a:t>
            </a:r>
            <a:endParaRPr lang="en-US" altLang="zh-CN" sz="2000" dirty="0">
              <a:solidFill>
                <a:srgbClr val="595959"/>
              </a:solidFill>
              <a:latin typeface="微软雅黑" panose="020B0503020204020204" pitchFamily="34" charset="-122"/>
              <a:ea typeface="微软雅黑" panose="020B0503020204020204" pitchFamily="34" charset="-122"/>
              <a:sym typeface="+mn-ea"/>
            </a:endParaRPr>
          </a:p>
          <a:p>
            <a:pPr marL="342900" indent="-342900" algn="just">
              <a:lnSpc>
                <a:spcPct val="150000"/>
              </a:lnSpc>
              <a:buClrTx/>
              <a:buSzTx/>
              <a:buFont typeface="Wingdings" panose="05000000000000000000" pitchFamily="2" charset="2"/>
              <a:buChar char="l"/>
            </a:pPr>
            <a:r>
              <a:rPr lang="zh-CN" altLang="en-US" sz="2000" dirty="0">
                <a:solidFill>
                  <a:srgbClr val="0070C0"/>
                </a:solidFill>
                <a:latin typeface="微软雅黑" panose="020B0503020204020204" pitchFamily="34" charset="-122"/>
                <a:ea typeface="微软雅黑" panose="020B0503020204020204" pitchFamily="34" charset="-122"/>
                <a:sym typeface="+mn-ea"/>
              </a:rPr>
              <a:t>发布</a:t>
            </a:r>
            <a:r>
              <a:rPr lang="en-US" altLang="zh-CN" sz="2000" dirty="0">
                <a:solidFill>
                  <a:srgbClr val="0070C0"/>
                </a:solidFill>
                <a:latin typeface="微软雅黑" panose="020B0503020204020204" pitchFamily="34" charset="-122"/>
                <a:ea typeface="微软雅黑" panose="020B0503020204020204" pitchFamily="34" charset="-122"/>
                <a:sym typeface="+mn-ea"/>
              </a:rPr>
              <a:t>(RELEASE)</a:t>
            </a:r>
            <a:r>
              <a:rPr lang="zh-CN" altLang="en-US" sz="2000" dirty="0">
                <a:solidFill>
                  <a:srgbClr val="595959"/>
                </a:solidFill>
                <a:latin typeface="微软雅黑" panose="020B0503020204020204" pitchFamily="34" charset="-122"/>
                <a:ea typeface="微软雅黑" panose="020B0503020204020204" pitchFamily="34" charset="-122"/>
                <a:sym typeface="+mn-ea"/>
              </a:rPr>
              <a:t>：将经开发、测试的软件版本以正式可用状态交付给用户或投入生产环境</a:t>
            </a:r>
          </a:p>
          <a:p>
            <a:pPr marL="342900" indent="-342900" algn="just">
              <a:lnSpc>
                <a:spcPct val="150000"/>
              </a:lnSpc>
              <a:buClrTx/>
              <a:buSzTx/>
              <a:buFont typeface="Wingdings" panose="05000000000000000000" pitchFamily="2" charset="2"/>
              <a:buChar char="l"/>
            </a:pPr>
            <a:r>
              <a:rPr lang="zh-CN" altLang="en-US" sz="2000" dirty="0">
                <a:solidFill>
                  <a:srgbClr val="0070C0"/>
                </a:solidFill>
                <a:latin typeface="微软雅黑" panose="020B0503020204020204" pitchFamily="34" charset="-122"/>
                <a:ea typeface="微软雅黑" panose="020B0503020204020204" pitchFamily="34" charset="-122"/>
                <a:sym typeface="+mn-ea"/>
              </a:rPr>
              <a:t>部署</a:t>
            </a:r>
            <a:r>
              <a:rPr lang="en-US" altLang="zh-CN" sz="2000" dirty="0">
                <a:solidFill>
                  <a:srgbClr val="0070C0"/>
                </a:solidFill>
                <a:latin typeface="微软雅黑" panose="020B0503020204020204" pitchFamily="34" charset="-122"/>
                <a:ea typeface="微软雅黑" panose="020B0503020204020204" pitchFamily="34" charset="-122"/>
                <a:sym typeface="+mn-ea"/>
              </a:rPr>
              <a:t>(DEPLOY)</a:t>
            </a:r>
            <a:r>
              <a:rPr lang="zh-CN" altLang="en-US" sz="2000" dirty="0">
                <a:solidFill>
                  <a:srgbClr val="595959"/>
                </a:solidFill>
                <a:latin typeface="微软雅黑" panose="020B0503020204020204" pitchFamily="34" charset="-122"/>
                <a:ea typeface="微软雅黑" panose="020B0503020204020204" pitchFamily="34" charset="-122"/>
                <a:sym typeface="+mn-ea"/>
              </a:rPr>
              <a:t>：将经过测试的软件部署到生产环境。</a:t>
            </a:r>
          </a:p>
          <a:p>
            <a:pPr marL="342900" indent="-342900" algn="just">
              <a:lnSpc>
                <a:spcPct val="150000"/>
              </a:lnSpc>
              <a:buClrTx/>
              <a:buSzTx/>
              <a:buFont typeface="Wingdings" panose="05000000000000000000" pitchFamily="2" charset="2"/>
              <a:buChar char="l"/>
            </a:pPr>
            <a:r>
              <a:rPr lang="zh-CN" altLang="en-US" sz="2000" dirty="0">
                <a:solidFill>
                  <a:srgbClr val="0070C0"/>
                </a:solidFill>
                <a:latin typeface="微软雅黑" panose="020B0503020204020204" pitchFamily="34" charset="-122"/>
                <a:ea typeface="微软雅黑" panose="020B0503020204020204" pitchFamily="34" charset="-122"/>
                <a:sym typeface="+mn-ea"/>
              </a:rPr>
              <a:t>运维</a:t>
            </a:r>
            <a:r>
              <a:rPr lang="en-US" altLang="zh-CN" sz="2000" dirty="0">
                <a:solidFill>
                  <a:srgbClr val="0070C0"/>
                </a:solidFill>
                <a:latin typeface="微软雅黑" panose="020B0503020204020204" pitchFamily="34" charset="-122"/>
                <a:ea typeface="微软雅黑" panose="020B0503020204020204" pitchFamily="34" charset="-122"/>
                <a:sym typeface="+mn-ea"/>
              </a:rPr>
              <a:t>(OPERATE)</a:t>
            </a:r>
            <a:r>
              <a:rPr lang="zh-CN" altLang="en-US" sz="2000" dirty="0">
                <a:solidFill>
                  <a:srgbClr val="595959"/>
                </a:solidFill>
                <a:latin typeface="微软雅黑" panose="020B0503020204020204" pitchFamily="34" charset="-122"/>
                <a:ea typeface="微软雅黑" panose="020B0503020204020204" pitchFamily="34" charset="-122"/>
                <a:sym typeface="+mn-ea"/>
              </a:rPr>
              <a:t>：对生产环境中的软件进行监控和维护，确保其稳定运行。</a:t>
            </a:r>
          </a:p>
          <a:p>
            <a:pPr marL="342900" indent="-342900" algn="just">
              <a:lnSpc>
                <a:spcPct val="150000"/>
              </a:lnSpc>
              <a:buClrTx/>
              <a:buSzTx/>
              <a:buFont typeface="Wingdings" panose="05000000000000000000" pitchFamily="2" charset="2"/>
              <a:buChar char="l"/>
            </a:pPr>
            <a:r>
              <a:rPr lang="zh-CN" altLang="en-US" sz="2000" dirty="0">
                <a:solidFill>
                  <a:srgbClr val="0070C0"/>
                </a:solidFill>
                <a:latin typeface="微软雅黑" panose="020B0503020204020204" pitchFamily="34" charset="-122"/>
                <a:ea typeface="微软雅黑" panose="020B0503020204020204" pitchFamily="34" charset="-122"/>
                <a:sym typeface="+mn-ea"/>
              </a:rPr>
              <a:t>监控与反馈</a:t>
            </a:r>
            <a:r>
              <a:rPr lang="en-US" altLang="zh-CN" sz="2000" dirty="0">
                <a:solidFill>
                  <a:srgbClr val="0070C0"/>
                </a:solidFill>
                <a:latin typeface="微软雅黑" panose="020B0503020204020204" pitchFamily="34" charset="-122"/>
                <a:ea typeface="微软雅黑" panose="020B0503020204020204" pitchFamily="34" charset="-122"/>
                <a:sym typeface="+mn-ea"/>
              </a:rPr>
              <a:t>(MONITOR)</a:t>
            </a:r>
            <a:r>
              <a:rPr lang="zh-CN" altLang="en-US" sz="2000" dirty="0">
                <a:solidFill>
                  <a:srgbClr val="595959"/>
                </a:solidFill>
                <a:latin typeface="微软雅黑" panose="020B0503020204020204" pitchFamily="34" charset="-122"/>
                <a:ea typeface="微软雅黑" panose="020B0503020204020204" pitchFamily="34" charset="-122"/>
                <a:sym typeface="+mn-ea"/>
              </a:rPr>
              <a:t>：持续监控软件在生产环境中的性能、用户行为等数据，收集用户反馈，根据这些信息为下一轮的开发和优化提供依据，形成一个持续改进的闭环。</a:t>
            </a:r>
          </a:p>
        </p:txBody>
      </p:sp>
      <p:sp>
        <p:nvSpPr>
          <p:cNvPr id="5" name="TextBox 35">
            <a:extLst>
              <a:ext uri="{FF2B5EF4-FFF2-40B4-BE49-F238E27FC236}">
                <a16:creationId xmlns:a16="http://schemas.microsoft.com/office/drawing/2014/main" id="{D7AAA300-4E4D-832C-862B-E09376D26ECE}"/>
              </a:ext>
            </a:extLst>
          </p:cNvPr>
          <p:cNvSpPr txBox="1">
            <a:spLocks noChangeArrowheads="1"/>
          </p:cNvSpPr>
          <p:nvPr/>
        </p:nvSpPr>
        <p:spPr bwMode="auto">
          <a:xfrm>
            <a:off x="1055370" y="838200"/>
            <a:ext cx="8249285" cy="647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b="1" dirty="0">
                <a:solidFill>
                  <a:srgbClr val="595959"/>
                </a:solidFill>
                <a:latin typeface="微软雅黑" panose="020B0503020204020204" pitchFamily="34" charset="-122"/>
                <a:ea typeface="微软雅黑" panose="020B0503020204020204" pitchFamily="34" charset="-122"/>
              </a:rPr>
              <a:t>生命周期</a:t>
            </a:r>
            <a:endParaRPr lang="en-US" altLang="zh-CN" sz="2000" b="1" dirty="0">
              <a:solidFill>
                <a:srgbClr val="595959"/>
              </a:solidFill>
              <a:latin typeface="微软雅黑" panose="020B0503020204020204" pitchFamily="34" charset="-122"/>
              <a:ea typeface="微软雅黑" panose="020B0503020204020204" pitchFamily="34" charset="-122"/>
            </a:endParaRPr>
          </a:p>
          <a:p>
            <a:pPr algn="just">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3" name="Picture 2">
            <a:extLst>
              <a:ext uri="{FF2B5EF4-FFF2-40B4-BE49-F238E27FC236}">
                <a16:creationId xmlns:a16="http://schemas.microsoft.com/office/drawing/2014/main" id="{CA92AAD3-A403-5299-D28B-0A6527D9E72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79370" y="909794"/>
            <a:ext cx="3747632" cy="2448000"/>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D1438587-C919-F5F8-B2B4-7D91DC5E7761}"/>
              </a:ext>
            </a:extLst>
          </p:cNvPr>
          <p:cNvSpPr txBox="1"/>
          <p:nvPr/>
        </p:nvSpPr>
        <p:spPr>
          <a:xfrm>
            <a:off x="839206" y="1453327"/>
            <a:ext cx="6624000" cy="1080000"/>
          </a:xfrm>
          <a:prstGeom prst="rect">
            <a:avLst/>
          </a:prstGeom>
          <a:noFill/>
        </p:spPr>
        <p:txBody>
          <a:bodyPr wrap="square" rtlCol="0" anchor="t">
            <a:noAutofit/>
          </a:bodyPr>
          <a:lstStyle/>
          <a:p>
            <a:pPr indent="457200" algn="just">
              <a:lnSpc>
                <a:spcPct val="150000"/>
              </a:lnSpc>
              <a:buClrTx/>
              <a:buSzTx/>
            </a:pPr>
            <a:r>
              <a:rPr lang="en-US" altLang="zh-CN" sz="2000" dirty="0">
                <a:solidFill>
                  <a:srgbClr val="595959"/>
                </a:solidFill>
                <a:latin typeface="微软雅黑" panose="020B0503020204020204" pitchFamily="34" charset="-122"/>
                <a:ea typeface="微软雅黑" panose="020B0503020204020204" pitchFamily="34" charset="-122"/>
                <a:sym typeface="+mn-ea"/>
              </a:rPr>
              <a:t>DevOps </a:t>
            </a:r>
            <a:r>
              <a:rPr lang="zh-CN" altLang="en-US" sz="2000" dirty="0">
                <a:solidFill>
                  <a:srgbClr val="595959"/>
                </a:solidFill>
                <a:latin typeface="微软雅黑" panose="020B0503020204020204" pitchFamily="34" charset="-122"/>
                <a:ea typeface="微软雅黑" panose="020B0503020204020204" pitchFamily="34" charset="-122"/>
                <a:sym typeface="+mn-ea"/>
              </a:rPr>
              <a:t>生命周期通常由多个阶段组成，不同组织的阶段名称和顺序可能有所差异，但一般包含以下核心步骤：</a:t>
            </a:r>
          </a:p>
        </p:txBody>
      </p:sp>
    </p:spTree>
    <p:extLst>
      <p:ext uri="{BB962C8B-B14F-4D97-AF65-F5344CB8AC3E}">
        <p14:creationId xmlns:p14="http://schemas.microsoft.com/office/powerpoint/2010/main" val="2855154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2CA51-2352-A777-9EB3-F01D4FA1F679}"/>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20DC403F-E8FE-8A47-AF73-935326FCE252}"/>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软件开发模型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a:extLst>
              <a:ext uri="{FF2B5EF4-FFF2-40B4-BE49-F238E27FC236}">
                <a16:creationId xmlns:a16="http://schemas.microsoft.com/office/drawing/2014/main" id="{6FBB75DD-DF50-40B6-4387-18E5B8D2BA15}"/>
              </a:ext>
            </a:extLst>
          </p:cNvPr>
          <p:cNvSpPr txBox="1"/>
          <p:nvPr/>
        </p:nvSpPr>
        <p:spPr>
          <a:xfrm>
            <a:off x="1129332" y="1388252"/>
            <a:ext cx="9591675" cy="4993542"/>
          </a:xfrm>
          <a:prstGeom prst="rect">
            <a:avLst/>
          </a:prstGeom>
          <a:noFill/>
        </p:spPr>
        <p:txBody>
          <a:bodyPr wrap="square" rtlCol="0" anchor="t">
            <a:noAutofit/>
          </a:bodyPr>
          <a:lstStyle/>
          <a:p>
            <a:pPr marL="342900" indent="-342900" algn="just">
              <a:lnSpc>
                <a:spcPct val="130000"/>
              </a:lnSpc>
              <a:buClrTx/>
              <a:buSzTx/>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sym typeface="+mn-ea"/>
              </a:rPr>
              <a:t>版本控制工具：如 </a:t>
            </a:r>
            <a:r>
              <a:rPr lang="en-US" altLang="zh-CN" sz="2000" dirty="0">
                <a:solidFill>
                  <a:srgbClr val="0070C0"/>
                </a:solidFill>
                <a:latin typeface="微软雅黑" panose="020B0503020204020204" pitchFamily="34" charset="-122"/>
                <a:ea typeface="微软雅黑" panose="020B0503020204020204" pitchFamily="34" charset="-122"/>
                <a:sym typeface="+mn-ea"/>
              </a:rPr>
              <a:t>Git</a:t>
            </a:r>
            <a:r>
              <a:rPr lang="zh-CN" altLang="en-US" sz="2000" dirty="0">
                <a:solidFill>
                  <a:srgbClr val="595959"/>
                </a:solidFill>
                <a:latin typeface="微软雅黑" panose="020B0503020204020204" pitchFamily="34" charset="-122"/>
                <a:ea typeface="微软雅黑" panose="020B0503020204020204" pitchFamily="34" charset="-122"/>
                <a:sym typeface="+mn-ea"/>
              </a:rPr>
              <a:t>，提供</a:t>
            </a:r>
            <a:r>
              <a:rPr lang="zh-CN" altLang="en-US" sz="2000" dirty="0">
                <a:solidFill>
                  <a:srgbClr val="0070C0"/>
                </a:solidFill>
                <a:latin typeface="微软雅黑" panose="020B0503020204020204" pitchFamily="34" charset="-122"/>
                <a:ea typeface="微软雅黑" panose="020B0503020204020204" pitchFamily="34" charset="-122"/>
                <a:sym typeface="+mn-ea"/>
              </a:rPr>
              <a:t>分支管理、合并和重写存储库历史记录</a:t>
            </a:r>
            <a:r>
              <a:rPr lang="zh-CN" altLang="en-US" sz="2000" dirty="0">
                <a:solidFill>
                  <a:srgbClr val="595959"/>
                </a:solidFill>
                <a:latin typeface="微软雅黑" panose="020B0503020204020204" pitchFamily="34" charset="-122"/>
                <a:ea typeface="微软雅黑" panose="020B0503020204020204" pitchFamily="34" charset="-122"/>
                <a:sym typeface="+mn-ea"/>
              </a:rPr>
              <a:t>等功能，便于团队成员协作开发和管理代码版本。</a:t>
            </a:r>
          </a:p>
          <a:p>
            <a:pPr marL="342900" indent="-342900" algn="just">
              <a:lnSpc>
                <a:spcPct val="130000"/>
              </a:lnSpc>
              <a:buClrTx/>
              <a:buSzTx/>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sym typeface="+mn-ea"/>
              </a:rPr>
              <a:t>构建工具：像 </a:t>
            </a:r>
            <a:r>
              <a:rPr lang="en-US" altLang="zh-CN" sz="2000" dirty="0">
                <a:solidFill>
                  <a:srgbClr val="0070C0"/>
                </a:solidFill>
                <a:latin typeface="微软雅黑" panose="020B0503020204020204" pitchFamily="34" charset="-122"/>
                <a:ea typeface="微软雅黑" panose="020B0503020204020204" pitchFamily="34" charset="-122"/>
                <a:sym typeface="+mn-ea"/>
              </a:rPr>
              <a:t>Jenkins</a:t>
            </a:r>
            <a:r>
              <a:rPr lang="zh-CN" altLang="en-US" sz="2000" dirty="0">
                <a:solidFill>
                  <a:srgbClr val="595959"/>
                </a:solidFill>
                <a:latin typeface="微软雅黑" panose="020B0503020204020204" pitchFamily="34" charset="-122"/>
                <a:ea typeface="微软雅黑" panose="020B0503020204020204" pitchFamily="34" charset="-122"/>
                <a:sym typeface="+mn-ea"/>
              </a:rPr>
              <a:t>，用于</a:t>
            </a:r>
            <a:r>
              <a:rPr lang="zh-CN" altLang="en-US" sz="2000" dirty="0">
                <a:solidFill>
                  <a:srgbClr val="0070C0"/>
                </a:solidFill>
                <a:latin typeface="微软雅黑" panose="020B0503020204020204" pitchFamily="34" charset="-122"/>
                <a:ea typeface="微软雅黑" panose="020B0503020204020204" pitchFamily="34" charset="-122"/>
                <a:sym typeface="+mn-ea"/>
              </a:rPr>
              <a:t>自动构建软件项目</a:t>
            </a:r>
            <a:r>
              <a:rPr lang="zh-CN" altLang="en-US" sz="2000" dirty="0">
                <a:solidFill>
                  <a:srgbClr val="595959"/>
                </a:solidFill>
                <a:latin typeface="微软雅黑" panose="020B0503020204020204" pitchFamily="34" charset="-122"/>
                <a:ea typeface="微软雅黑" panose="020B0503020204020204" pitchFamily="34" charset="-122"/>
                <a:sym typeface="+mn-ea"/>
              </a:rPr>
              <a:t>，将源代码编译成可执行的程序或软件包。</a:t>
            </a:r>
          </a:p>
          <a:p>
            <a:pPr marL="342900" indent="-342900" algn="just">
              <a:lnSpc>
                <a:spcPct val="130000"/>
              </a:lnSpc>
              <a:buClrTx/>
              <a:buSzTx/>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sym typeface="+mn-ea"/>
              </a:rPr>
              <a:t>配置管理工具：例如 </a:t>
            </a:r>
            <a:r>
              <a:rPr lang="en-US" altLang="zh-CN" sz="2000" dirty="0">
                <a:solidFill>
                  <a:srgbClr val="0070C0"/>
                </a:solidFill>
                <a:latin typeface="微软雅黑" panose="020B0503020204020204" pitchFamily="34" charset="-122"/>
                <a:ea typeface="微软雅黑" panose="020B0503020204020204" pitchFamily="34" charset="-122"/>
                <a:sym typeface="+mn-ea"/>
              </a:rPr>
              <a:t>Ansible</a:t>
            </a:r>
            <a:r>
              <a:rPr lang="zh-CN" altLang="en-US" sz="2000" dirty="0">
                <a:solidFill>
                  <a:srgbClr val="0070C0"/>
                </a:solidFill>
                <a:latin typeface="微软雅黑" panose="020B0503020204020204" pitchFamily="34" charset="-122"/>
                <a:ea typeface="微软雅黑" panose="020B0503020204020204" pitchFamily="34" charset="-122"/>
                <a:sym typeface="+mn-ea"/>
              </a:rPr>
              <a:t>、</a:t>
            </a:r>
            <a:r>
              <a:rPr lang="en-US" altLang="zh-CN" sz="2000" dirty="0">
                <a:solidFill>
                  <a:srgbClr val="0070C0"/>
                </a:solidFill>
                <a:latin typeface="微软雅黑" panose="020B0503020204020204" pitchFamily="34" charset="-122"/>
                <a:ea typeface="微软雅黑" panose="020B0503020204020204" pitchFamily="34" charset="-122"/>
                <a:sym typeface="+mn-ea"/>
              </a:rPr>
              <a:t>Chef </a:t>
            </a:r>
            <a:r>
              <a:rPr lang="zh-CN" altLang="en-US" sz="2000" dirty="0">
                <a:solidFill>
                  <a:srgbClr val="595959"/>
                </a:solidFill>
                <a:latin typeface="微软雅黑" panose="020B0503020204020204" pitchFamily="34" charset="-122"/>
                <a:ea typeface="微软雅黑" panose="020B0503020204020204" pitchFamily="34" charset="-122"/>
                <a:sym typeface="+mn-ea"/>
              </a:rPr>
              <a:t>等，用于</a:t>
            </a:r>
            <a:r>
              <a:rPr lang="zh-CN" altLang="en-US" sz="2000" dirty="0">
                <a:solidFill>
                  <a:srgbClr val="0070C0"/>
                </a:solidFill>
                <a:latin typeface="微软雅黑" panose="020B0503020204020204" pitchFamily="34" charset="-122"/>
                <a:ea typeface="微软雅黑" panose="020B0503020204020204" pitchFamily="34" charset="-122"/>
                <a:sym typeface="+mn-ea"/>
              </a:rPr>
              <a:t>自动化配置服务器和管理基础设施</a:t>
            </a:r>
            <a:r>
              <a:rPr lang="zh-CN" altLang="en-US" sz="2000" dirty="0">
                <a:solidFill>
                  <a:srgbClr val="595959"/>
                </a:solidFill>
                <a:latin typeface="微软雅黑" panose="020B0503020204020204" pitchFamily="34" charset="-122"/>
                <a:ea typeface="微软雅黑" panose="020B0503020204020204" pitchFamily="34" charset="-122"/>
                <a:sym typeface="+mn-ea"/>
              </a:rPr>
              <a:t>，确保环境的一致性。</a:t>
            </a:r>
          </a:p>
          <a:p>
            <a:pPr marL="342900" indent="-342900" algn="just">
              <a:lnSpc>
                <a:spcPct val="130000"/>
              </a:lnSpc>
              <a:buClrTx/>
              <a:buSzTx/>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sym typeface="+mn-ea"/>
              </a:rPr>
              <a:t>容器化平台：以 </a:t>
            </a:r>
            <a:r>
              <a:rPr lang="en-US" altLang="zh-CN" sz="2000" dirty="0">
                <a:solidFill>
                  <a:srgbClr val="0070C0"/>
                </a:solidFill>
                <a:latin typeface="微软雅黑" panose="020B0503020204020204" pitchFamily="34" charset="-122"/>
                <a:ea typeface="微软雅黑" panose="020B0503020204020204" pitchFamily="34" charset="-122"/>
                <a:sym typeface="+mn-ea"/>
              </a:rPr>
              <a:t>Docker </a:t>
            </a:r>
            <a:r>
              <a:rPr lang="zh-CN" altLang="en-US" sz="2000" dirty="0">
                <a:solidFill>
                  <a:srgbClr val="595959"/>
                </a:solidFill>
                <a:latin typeface="微软雅黑" panose="020B0503020204020204" pitchFamily="34" charset="-122"/>
                <a:ea typeface="微软雅黑" panose="020B0503020204020204" pitchFamily="34" charset="-122"/>
                <a:sym typeface="+mn-ea"/>
              </a:rPr>
              <a:t>为代表，</a:t>
            </a:r>
            <a:r>
              <a:rPr lang="en-US" altLang="zh-CN" sz="2000" dirty="0">
                <a:solidFill>
                  <a:srgbClr val="595959"/>
                </a:solidFill>
                <a:latin typeface="微软雅黑" panose="020B0503020204020204" pitchFamily="34" charset="-122"/>
                <a:ea typeface="微软雅黑" panose="020B0503020204020204" pitchFamily="34" charset="-122"/>
                <a:sym typeface="+mn-ea"/>
              </a:rPr>
              <a:t>Docker </a:t>
            </a:r>
            <a:r>
              <a:rPr lang="zh-CN" altLang="en-US" sz="2000" dirty="0">
                <a:solidFill>
                  <a:srgbClr val="595959"/>
                </a:solidFill>
                <a:latin typeface="微软雅黑" panose="020B0503020204020204" pitchFamily="34" charset="-122"/>
                <a:ea typeface="微软雅黑" panose="020B0503020204020204" pitchFamily="34" charset="-122"/>
                <a:sym typeface="+mn-ea"/>
              </a:rPr>
              <a:t>用于</a:t>
            </a:r>
            <a:r>
              <a:rPr lang="zh-CN" altLang="en-US" sz="2000" dirty="0">
                <a:solidFill>
                  <a:srgbClr val="0070C0"/>
                </a:solidFill>
                <a:latin typeface="微软雅黑" panose="020B0503020204020204" pitchFamily="34" charset="-122"/>
                <a:ea typeface="微软雅黑" panose="020B0503020204020204" pitchFamily="34" charset="-122"/>
                <a:sym typeface="+mn-ea"/>
              </a:rPr>
              <a:t>创建、打包和分发应用程序及其依赖项，实现环境隔离</a:t>
            </a:r>
            <a:r>
              <a:rPr lang="zh-CN" altLang="en-US" sz="2000" dirty="0">
                <a:solidFill>
                  <a:srgbClr val="595959"/>
                </a:solidFill>
                <a:latin typeface="微软雅黑" panose="020B0503020204020204" pitchFamily="34" charset="-122"/>
                <a:ea typeface="微软雅黑" panose="020B0503020204020204" pitchFamily="34" charset="-122"/>
                <a:sym typeface="+mn-ea"/>
              </a:rPr>
              <a:t>。</a:t>
            </a:r>
          </a:p>
          <a:p>
            <a:pPr marL="342900" indent="-342900" algn="just">
              <a:lnSpc>
                <a:spcPct val="130000"/>
              </a:lnSpc>
              <a:buClrTx/>
              <a:buSzTx/>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sym typeface="+mn-ea"/>
              </a:rPr>
              <a:t>监控和日志工具：比如 </a:t>
            </a:r>
            <a:r>
              <a:rPr lang="en-US" altLang="zh-CN" sz="2000" dirty="0">
                <a:solidFill>
                  <a:srgbClr val="0070C0"/>
                </a:solidFill>
                <a:latin typeface="微软雅黑" panose="020B0503020204020204" pitchFamily="34" charset="-122"/>
                <a:ea typeface="微软雅黑" panose="020B0503020204020204" pitchFamily="34" charset="-122"/>
                <a:sym typeface="+mn-ea"/>
              </a:rPr>
              <a:t>Prometheus </a:t>
            </a:r>
            <a:r>
              <a:rPr lang="zh-CN" altLang="en-US" sz="2000" dirty="0">
                <a:solidFill>
                  <a:srgbClr val="0070C0"/>
                </a:solidFill>
                <a:latin typeface="微软雅黑" panose="020B0503020204020204" pitchFamily="34" charset="-122"/>
                <a:ea typeface="微软雅黑" panose="020B0503020204020204" pitchFamily="34" charset="-122"/>
                <a:sym typeface="+mn-ea"/>
              </a:rPr>
              <a:t>和 </a:t>
            </a:r>
            <a:r>
              <a:rPr lang="en-US" altLang="zh-CN" sz="2000" dirty="0">
                <a:solidFill>
                  <a:srgbClr val="0070C0"/>
                </a:solidFill>
                <a:latin typeface="微软雅黑" panose="020B0503020204020204" pitchFamily="34" charset="-122"/>
                <a:ea typeface="微软雅黑" panose="020B0503020204020204" pitchFamily="34" charset="-122"/>
                <a:sym typeface="+mn-ea"/>
              </a:rPr>
              <a:t>ELK Stack</a:t>
            </a: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Elasticsearch</a:t>
            </a: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Logstash</a:t>
            </a: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Kibana</a:t>
            </a: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Prometheus </a:t>
            </a:r>
            <a:r>
              <a:rPr lang="zh-CN" altLang="en-US" sz="2000" dirty="0">
                <a:solidFill>
                  <a:srgbClr val="595959"/>
                </a:solidFill>
                <a:latin typeface="微软雅黑" panose="020B0503020204020204" pitchFamily="34" charset="-122"/>
                <a:ea typeface="微软雅黑" panose="020B0503020204020204" pitchFamily="34" charset="-122"/>
                <a:sym typeface="+mn-ea"/>
              </a:rPr>
              <a:t>用于</a:t>
            </a:r>
            <a:r>
              <a:rPr lang="zh-CN" altLang="en-US" sz="2000" dirty="0">
                <a:solidFill>
                  <a:srgbClr val="0070C0"/>
                </a:solidFill>
                <a:latin typeface="微软雅黑" panose="020B0503020204020204" pitchFamily="34" charset="-122"/>
                <a:ea typeface="微软雅黑" panose="020B0503020204020204" pitchFamily="34" charset="-122"/>
                <a:sym typeface="+mn-ea"/>
              </a:rPr>
              <a:t>监控系统指标</a:t>
            </a: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ELK Stack </a:t>
            </a:r>
            <a:r>
              <a:rPr lang="zh-CN" altLang="en-US" sz="2000" dirty="0">
                <a:solidFill>
                  <a:srgbClr val="595959"/>
                </a:solidFill>
                <a:latin typeface="微软雅黑" panose="020B0503020204020204" pitchFamily="34" charset="-122"/>
                <a:ea typeface="微软雅黑" panose="020B0503020204020204" pitchFamily="34" charset="-122"/>
                <a:sym typeface="+mn-ea"/>
              </a:rPr>
              <a:t>用于</a:t>
            </a:r>
            <a:r>
              <a:rPr lang="zh-CN" altLang="en-US" sz="2000" dirty="0">
                <a:solidFill>
                  <a:srgbClr val="0070C0"/>
                </a:solidFill>
                <a:latin typeface="微软雅黑" panose="020B0503020204020204" pitchFamily="34" charset="-122"/>
                <a:ea typeface="微软雅黑" panose="020B0503020204020204" pitchFamily="34" charset="-122"/>
                <a:sym typeface="+mn-ea"/>
              </a:rPr>
              <a:t>收集、存储和分析日志数据</a:t>
            </a:r>
            <a:r>
              <a:rPr lang="zh-CN" altLang="en-US" sz="2000" dirty="0">
                <a:solidFill>
                  <a:srgbClr val="595959"/>
                </a:solidFill>
                <a:latin typeface="微软雅黑" panose="020B0503020204020204" pitchFamily="34" charset="-122"/>
                <a:ea typeface="微软雅黑" panose="020B0503020204020204" pitchFamily="34" charset="-122"/>
                <a:sym typeface="+mn-ea"/>
              </a:rPr>
              <a:t>，帮助团队了解系统运行状况和排查问题</a:t>
            </a:r>
          </a:p>
          <a:p>
            <a:pPr marL="593100" algn="just">
              <a:lnSpc>
                <a:spcPct val="130000"/>
              </a:lnSpc>
              <a:buClrTx/>
              <a:buSzTx/>
            </a:pP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5" name="TextBox 35">
            <a:extLst>
              <a:ext uri="{FF2B5EF4-FFF2-40B4-BE49-F238E27FC236}">
                <a16:creationId xmlns:a16="http://schemas.microsoft.com/office/drawing/2014/main" id="{07F201C6-BBB7-44B0-7F32-26875D847D8D}"/>
              </a:ext>
            </a:extLst>
          </p:cNvPr>
          <p:cNvSpPr txBox="1">
            <a:spLocks noChangeArrowheads="1"/>
          </p:cNvSpPr>
          <p:nvPr/>
        </p:nvSpPr>
        <p:spPr bwMode="auto">
          <a:xfrm>
            <a:off x="1055370" y="838200"/>
            <a:ext cx="8249285" cy="647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b="1" dirty="0">
                <a:solidFill>
                  <a:srgbClr val="595959"/>
                </a:solidFill>
                <a:latin typeface="微软雅黑" panose="020B0503020204020204" pitchFamily="34" charset="-122"/>
                <a:ea typeface="微软雅黑" panose="020B0503020204020204" pitchFamily="34" charset="-122"/>
              </a:rPr>
              <a:t>工具链</a:t>
            </a:r>
            <a:endParaRPr lang="en-US" altLang="zh-CN" sz="2000" b="1" dirty="0">
              <a:solidFill>
                <a:srgbClr val="595959"/>
              </a:solidFill>
              <a:latin typeface="微软雅黑" panose="020B0503020204020204" pitchFamily="34" charset="-122"/>
              <a:ea typeface="微软雅黑" panose="020B0503020204020204" pitchFamily="34" charset="-122"/>
            </a:endParaRPr>
          </a:p>
          <a:p>
            <a:pPr algn="just">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712403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FE1FD-38D3-B2B8-09CE-275B86E526B8}"/>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9A908EE6-D58D-5C2C-B526-474A333DB0BB}"/>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软件开发模型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a:extLst>
              <a:ext uri="{FF2B5EF4-FFF2-40B4-BE49-F238E27FC236}">
                <a16:creationId xmlns:a16="http://schemas.microsoft.com/office/drawing/2014/main" id="{F60985CC-3D91-50C4-A42C-52AE77F6DC63}"/>
              </a:ext>
            </a:extLst>
          </p:cNvPr>
          <p:cNvSpPr txBox="1"/>
          <p:nvPr/>
        </p:nvSpPr>
        <p:spPr>
          <a:xfrm>
            <a:off x="1129332" y="1388252"/>
            <a:ext cx="9591675" cy="5472000"/>
          </a:xfrm>
          <a:prstGeom prst="rect">
            <a:avLst/>
          </a:prstGeom>
          <a:noFill/>
        </p:spPr>
        <p:txBody>
          <a:bodyPr wrap="square" rtlCol="0" anchor="t">
            <a:noAutofit/>
          </a:bodyPr>
          <a:lstStyle/>
          <a:p>
            <a:pPr marL="342900" indent="-342900" algn="just">
              <a:lnSpc>
                <a:spcPct val="150000"/>
              </a:lnSpc>
              <a:buClrTx/>
              <a:buSzTx/>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sym typeface="+mn-ea"/>
              </a:rPr>
              <a:t>文化与沟通：强调</a:t>
            </a:r>
            <a:r>
              <a:rPr lang="zh-CN" altLang="en-US" sz="2000" dirty="0">
                <a:solidFill>
                  <a:srgbClr val="0070C0"/>
                </a:solidFill>
                <a:latin typeface="微软雅黑" panose="020B0503020204020204" pitchFamily="34" charset="-122"/>
                <a:ea typeface="微软雅黑" panose="020B0503020204020204" pitchFamily="34" charset="-122"/>
                <a:sym typeface="+mn-ea"/>
              </a:rPr>
              <a:t>跨职能团队之间的开放沟通和协作</a:t>
            </a: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zh-CN" altLang="en-US" sz="2000" dirty="0">
                <a:solidFill>
                  <a:srgbClr val="0070C0"/>
                </a:solidFill>
                <a:latin typeface="微软雅黑" panose="020B0503020204020204" pitchFamily="34" charset="-122"/>
                <a:ea typeface="微软雅黑" panose="020B0503020204020204" pitchFamily="34" charset="-122"/>
                <a:sym typeface="+mn-ea"/>
              </a:rPr>
              <a:t>打破</a:t>
            </a:r>
            <a:r>
              <a:rPr lang="zh-CN" altLang="en-US" sz="2000" dirty="0">
                <a:solidFill>
                  <a:srgbClr val="595959"/>
                </a:solidFill>
                <a:latin typeface="微软雅黑" panose="020B0503020204020204" pitchFamily="34" charset="-122"/>
                <a:ea typeface="微软雅黑" panose="020B0503020204020204" pitchFamily="34" charset="-122"/>
                <a:sym typeface="+mn-ea"/>
              </a:rPr>
              <a:t>开发、测试、运维等团队之间的</a:t>
            </a:r>
            <a:r>
              <a:rPr lang="zh-CN" altLang="en-US" sz="2000" dirty="0">
                <a:solidFill>
                  <a:srgbClr val="0070C0"/>
                </a:solidFill>
                <a:latin typeface="微软雅黑" panose="020B0503020204020204" pitchFamily="34" charset="-122"/>
                <a:ea typeface="微软雅黑" panose="020B0503020204020204" pitchFamily="34" charset="-122"/>
                <a:sym typeface="+mn-ea"/>
              </a:rPr>
              <a:t>壁垒</a:t>
            </a:r>
            <a:r>
              <a:rPr lang="zh-CN" altLang="en-US" sz="2000" dirty="0">
                <a:solidFill>
                  <a:srgbClr val="595959"/>
                </a:solidFill>
                <a:latin typeface="微软雅黑" panose="020B0503020204020204" pitchFamily="34" charset="-122"/>
                <a:ea typeface="微软雅黑" panose="020B0503020204020204" pitchFamily="34" charset="-122"/>
                <a:sym typeface="+mn-ea"/>
              </a:rPr>
              <a:t>，提倡所有团队成员对项目的成功</a:t>
            </a:r>
            <a:r>
              <a:rPr lang="zh-CN" altLang="en-US" sz="2000" dirty="0">
                <a:solidFill>
                  <a:srgbClr val="0070C0"/>
                </a:solidFill>
                <a:latin typeface="微软雅黑" panose="020B0503020204020204" pitchFamily="34" charset="-122"/>
                <a:ea typeface="微软雅黑" panose="020B0503020204020204" pitchFamily="34" charset="-122"/>
                <a:sym typeface="+mn-ea"/>
              </a:rPr>
              <a:t>共同承担责任</a:t>
            </a:r>
            <a:r>
              <a:rPr lang="zh-CN" altLang="en-US" sz="2000" dirty="0">
                <a:solidFill>
                  <a:srgbClr val="595959"/>
                </a:solidFill>
                <a:latin typeface="微软雅黑" panose="020B0503020204020204" pitchFamily="34" charset="-122"/>
                <a:ea typeface="微软雅黑" panose="020B0503020204020204" pitchFamily="34" charset="-122"/>
                <a:sym typeface="+mn-ea"/>
              </a:rPr>
              <a:t>。</a:t>
            </a:r>
          </a:p>
          <a:p>
            <a:pPr marL="342900" indent="-342900" algn="just">
              <a:lnSpc>
                <a:spcPct val="150000"/>
              </a:lnSpc>
              <a:buClrTx/>
              <a:buSzTx/>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sym typeface="+mn-ea"/>
              </a:rPr>
              <a:t>持续集成与持续交付（</a:t>
            </a:r>
            <a:r>
              <a:rPr lang="en-US" altLang="zh-CN" sz="2000" dirty="0">
                <a:solidFill>
                  <a:srgbClr val="595959"/>
                </a:solidFill>
                <a:latin typeface="微软雅黑" panose="020B0503020204020204" pitchFamily="34" charset="-122"/>
                <a:ea typeface="微软雅黑" panose="020B0503020204020204" pitchFamily="34" charset="-122"/>
                <a:sym typeface="+mn-ea"/>
              </a:rPr>
              <a:t>CI/CD</a:t>
            </a:r>
            <a:r>
              <a:rPr lang="zh-CN" altLang="en-US" sz="2000" dirty="0">
                <a:solidFill>
                  <a:srgbClr val="595959"/>
                </a:solidFill>
                <a:latin typeface="微软雅黑" panose="020B0503020204020204" pitchFamily="34" charset="-122"/>
                <a:ea typeface="微软雅黑" panose="020B0503020204020204" pitchFamily="34" charset="-122"/>
                <a:sym typeface="+mn-ea"/>
              </a:rPr>
              <a:t>） ：</a:t>
            </a:r>
          </a:p>
          <a:p>
            <a:pPr marL="720000" indent="-342900" algn="just">
              <a:lnSpc>
                <a:spcPct val="150000"/>
              </a:lnSpc>
              <a:buClrTx/>
              <a:buSzTx/>
              <a:buFont typeface="Arial" panose="020B0604020202020204" pitchFamily="34" charset="0"/>
              <a:buChar char="•"/>
            </a:pPr>
            <a:r>
              <a:rPr lang="zh-CN" altLang="en-US" sz="2000" dirty="0">
                <a:solidFill>
                  <a:srgbClr val="0070C0"/>
                </a:solidFill>
                <a:latin typeface="微软雅黑" panose="020B0503020204020204" pitchFamily="34" charset="-122"/>
                <a:ea typeface="微软雅黑" panose="020B0503020204020204" pitchFamily="34" charset="-122"/>
                <a:sym typeface="+mn-ea"/>
              </a:rPr>
              <a:t>持续集成（</a:t>
            </a:r>
            <a:r>
              <a:rPr lang="en-US" altLang="zh-CN" sz="2000" dirty="0">
                <a:solidFill>
                  <a:srgbClr val="0070C0"/>
                </a:solidFill>
                <a:latin typeface="微软雅黑" panose="020B0503020204020204" pitchFamily="34" charset="-122"/>
                <a:ea typeface="微软雅黑" panose="020B0503020204020204" pitchFamily="34" charset="-122"/>
                <a:sym typeface="+mn-ea"/>
              </a:rPr>
              <a:t>CI</a:t>
            </a:r>
            <a:r>
              <a:rPr lang="zh-CN" altLang="en-US" sz="2000" dirty="0">
                <a:solidFill>
                  <a:srgbClr val="0070C0"/>
                </a:solidFill>
                <a:latin typeface="微软雅黑" panose="020B0503020204020204" pitchFamily="34" charset="-122"/>
                <a:ea typeface="微软雅黑" panose="020B0503020204020204" pitchFamily="34" charset="-122"/>
                <a:sym typeface="+mn-ea"/>
              </a:rPr>
              <a:t>）</a:t>
            </a:r>
            <a:r>
              <a:rPr lang="zh-CN" altLang="en-US" sz="2000" dirty="0">
                <a:solidFill>
                  <a:srgbClr val="595959"/>
                </a:solidFill>
                <a:latin typeface="微软雅黑" panose="020B0503020204020204" pitchFamily="34" charset="-122"/>
                <a:ea typeface="微软雅黑" panose="020B0503020204020204" pitchFamily="34" charset="-122"/>
                <a:sym typeface="+mn-ea"/>
              </a:rPr>
              <a:t>：允许多个开发人员</a:t>
            </a:r>
            <a:r>
              <a:rPr lang="zh-CN" altLang="en-US" sz="2000" dirty="0">
                <a:solidFill>
                  <a:srgbClr val="0070C0"/>
                </a:solidFill>
                <a:latin typeface="微软雅黑" panose="020B0503020204020204" pitchFamily="34" charset="-122"/>
                <a:ea typeface="微软雅黑" panose="020B0503020204020204" pitchFamily="34" charset="-122"/>
                <a:sym typeface="+mn-ea"/>
              </a:rPr>
              <a:t>频繁地将代码集成到共享存储库</a:t>
            </a:r>
            <a:r>
              <a:rPr lang="zh-CN" altLang="en-US" sz="2000" dirty="0">
                <a:solidFill>
                  <a:srgbClr val="595959"/>
                </a:solidFill>
                <a:latin typeface="微软雅黑" panose="020B0503020204020204" pitchFamily="34" charset="-122"/>
                <a:ea typeface="微软雅黑" panose="020B0503020204020204" pitchFamily="34" charset="-122"/>
                <a:sym typeface="+mn-ea"/>
              </a:rPr>
              <a:t>中，每当代码更改合并时，</a:t>
            </a:r>
            <a:r>
              <a:rPr lang="zh-CN" altLang="en-US" sz="2000" dirty="0">
                <a:solidFill>
                  <a:srgbClr val="0070C0"/>
                </a:solidFill>
                <a:latin typeface="微软雅黑" panose="020B0503020204020204" pitchFamily="34" charset="-122"/>
                <a:ea typeface="微软雅黑" panose="020B0503020204020204" pitchFamily="34" charset="-122"/>
                <a:sym typeface="+mn-ea"/>
              </a:rPr>
              <a:t>自动运行构建和测试流程</a:t>
            </a:r>
            <a:r>
              <a:rPr lang="zh-CN" altLang="en-US" sz="2000" dirty="0">
                <a:solidFill>
                  <a:srgbClr val="595959"/>
                </a:solidFill>
                <a:latin typeface="微软雅黑" panose="020B0503020204020204" pitchFamily="34" charset="-122"/>
                <a:ea typeface="微软雅黑" panose="020B0503020204020204" pitchFamily="34" charset="-122"/>
                <a:sym typeface="+mn-ea"/>
              </a:rPr>
              <a:t>，以确保代码的正确性和兼容性，尽早发现集成问题。</a:t>
            </a:r>
          </a:p>
          <a:p>
            <a:pPr marL="720000" indent="-342900" algn="just">
              <a:lnSpc>
                <a:spcPct val="150000"/>
              </a:lnSpc>
              <a:buClrTx/>
              <a:buSzTx/>
              <a:buFont typeface="Arial" panose="020B0604020202020204" pitchFamily="34" charset="0"/>
              <a:buChar char="•"/>
            </a:pPr>
            <a:r>
              <a:rPr lang="zh-CN" altLang="en-US" sz="2000" dirty="0">
                <a:solidFill>
                  <a:srgbClr val="0070C0"/>
                </a:solidFill>
                <a:latin typeface="微软雅黑" panose="020B0503020204020204" pitchFamily="34" charset="-122"/>
                <a:ea typeface="微软雅黑" panose="020B0503020204020204" pitchFamily="34" charset="-122"/>
                <a:sym typeface="+mn-ea"/>
              </a:rPr>
              <a:t>持续交付</a:t>
            </a:r>
            <a:r>
              <a:rPr lang="en-US" altLang="zh-CN" sz="2000" dirty="0">
                <a:solidFill>
                  <a:srgbClr val="0070C0"/>
                </a:solidFill>
                <a:latin typeface="微软雅黑" panose="020B0503020204020204" pitchFamily="34" charset="-122"/>
                <a:ea typeface="微软雅黑" panose="020B0503020204020204" pitchFamily="34" charset="-122"/>
                <a:sym typeface="+mn-ea"/>
              </a:rPr>
              <a:t>/</a:t>
            </a:r>
            <a:r>
              <a:rPr lang="zh-CN" altLang="en-US" sz="2000" dirty="0">
                <a:solidFill>
                  <a:srgbClr val="0070C0"/>
                </a:solidFill>
                <a:latin typeface="微软雅黑" panose="020B0503020204020204" pitchFamily="34" charset="-122"/>
                <a:ea typeface="微软雅黑" panose="020B0503020204020204" pitchFamily="34" charset="-122"/>
                <a:sym typeface="+mn-ea"/>
              </a:rPr>
              <a:t>持续部署（</a:t>
            </a:r>
            <a:r>
              <a:rPr lang="en-US" altLang="zh-CN" sz="2000" dirty="0">
                <a:solidFill>
                  <a:srgbClr val="0070C0"/>
                </a:solidFill>
                <a:latin typeface="微软雅黑" panose="020B0503020204020204" pitchFamily="34" charset="-122"/>
                <a:ea typeface="微软雅黑" panose="020B0503020204020204" pitchFamily="34" charset="-122"/>
                <a:sym typeface="+mn-ea"/>
              </a:rPr>
              <a:t>CD</a:t>
            </a:r>
            <a:r>
              <a:rPr lang="zh-CN" altLang="en-US" sz="2000" dirty="0">
                <a:solidFill>
                  <a:srgbClr val="0070C0"/>
                </a:solidFill>
                <a:latin typeface="微软雅黑" panose="020B0503020204020204" pitchFamily="34" charset="-122"/>
                <a:ea typeface="微软雅黑" panose="020B0503020204020204" pitchFamily="34" charset="-122"/>
                <a:sym typeface="+mn-ea"/>
              </a:rPr>
              <a:t>）</a:t>
            </a:r>
            <a:r>
              <a:rPr lang="zh-CN" altLang="en-US" sz="2000" dirty="0">
                <a:solidFill>
                  <a:srgbClr val="595959"/>
                </a:solidFill>
                <a:latin typeface="微软雅黑" panose="020B0503020204020204" pitchFamily="34" charset="-122"/>
                <a:ea typeface="微软雅黑" panose="020B0503020204020204" pitchFamily="34" charset="-122"/>
                <a:sym typeface="+mn-ea"/>
              </a:rPr>
              <a:t>：确保软件可以</a:t>
            </a:r>
            <a:r>
              <a:rPr lang="zh-CN" altLang="en-US" sz="2000" dirty="0">
                <a:solidFill>
                  <a:srgbClr val="0070C0"/>
                </a:solidFill>
                <a:latin typeface="微软雅黑" panose="020B0503020204020204" pitchFamily="34" charset="-122"/>
                <a:ea typeface="微软雅黑" panose="020B0503020204020204" pitchFamily="34" charset="-122"/>
                <a:sym typeface="+mn-ea"/>
              </a:rPr>
              <a:t>随时部署至生产环境，无需大量人工干预</a:t>
            </a:r>
            <a:r>
              <a:rPr lang="zh-CN" altLang="en-US" sz="2000" dirty="0">
                <a:solidFill>
                  <a:srgbClr val="595959"/>
                </a:solidFill>
                <a:latin typeface="微软雅黑" panose="020B0503020204020204" pitchFamily="34" charset="-122"/>
                <a:ea typeface="微软雅黑" panose="020B0503020204020204" pitchFamily="34" charset="-122"/>
                <a:sym typeface="+mn-ea"/>
              </a:rPr>
              <a:t>。团队还可以选择使用功能标记，有条不紊地向用户交付新代码，而不是一次性全部发布，提高了软件开发团队的交付速度、生产力和可持续性。</a:t>
            </a:r>
          </a:p>
          <a:p>
            <a:pPr marL="342900" indent="-342900" algn="just">
              <a:lnSpc>
                <a:spcPct val="150000"/>
              </a:lnSpc>
              <a:buClrTx/>
              <a:buSzTx/>
              <a:buFont typeface="Wingdings" panose="05000000000000000000" pitchFamily="2" charset="2"/>
              <a:buChar char="l"/>
            </a:pPr>
            <a:r>
              <a:rPr lang="zh-CN" altLang="en-US" sz="2000" dirty="0">
                <a:solidFill>
                  <a:srgbClr val="595959"/>
                </a:solidFill>
                <a:latin typeface="微软雅黑" panose="020B0503020204020204" pitchFamily="34" charset="-122"/>
                <a:ea typeface="微软雅黑" panose="020B0503020204020204" pitchFamily="34" charset="-122"/>
                <a:sym typeface="+mn-ea"/>
              </a:rPr>
              <a:t>敏捷性与灵活性：支持</a:t>
            </a:r>
            <a:r>
              <a:rPr lang="zh-CN" altLang="en-US" sz="2000" dirty="0">
                <a:solidFill>
                  <a:srgbClr val="0070C0"/>
                </a:solidFill>
                <a:latin typeface="微软雅黑" panose="020B0503020204020204" pitchFamily="34" charset="-122"/>
                <a:ea typeface="微软雅黑" panose="020B0503020204020204" pitchFamily="34" charset="-122"/>
                <a:sym typeface="+mn-ea"/>
              </a:rPr>
              <a:t>敏捷方法论</a:t>
            </a:r>
            <a:r>
              <a:rPr lang="zh-CN" altLang="en-US" sz="2000" dirty="0">
                <a:solidFill>
                  <a:srgbClr val="595959"/>
                </a:solidFill>
                <a:latin typeface="微软雅黑" panose="020B0503020204020204" pitchFamily="34" charset="-122"/>
                <a:ea typeface="微软雅黑" panose="020B0503020204020204" pitchFamily="34" charset="-122"/>
                <a:sym typeface="+mn-ea"/>
              </a:rPr>
              <a:t>，如 </a:t>
            </a:r>
            <a:r>
              <a:rPr lang="en-US" altLang="zh-CN" sz="2000" dirty="0">
                <a:solidFill>
                  <a:srgbClr val="595959"/>
                </a:solidFill>
                <a:latin typeface="微软雅黑" panose="020B0503020204020204" pitchFamily="34" charset="-122"/>
                <a:ea typeface="微软雅黑" panose="020B0503020204020204" pitchFamily="34" charset="-122"/>
                <a:sym typeface="+mn-ea"/>
              </a:rPr>
              <a:t>Scrum </a:t>
            </a:r>
            <a:r>
              <a:rPr lang="zh-CN" altLang="en-US" sz="2000" dirty="0">
                <a:solidFill>
                  <a:srgbClr val="595959"/>
                </a:solidFill>
                <a:latin typeface="微软雅黑" panose="020B0503020204020204" pitchFamily="34" charset="-122"/>
                <a:ea typeface="微软雅黑" panose="020B0503020204020204" pitchFamily="34" charset="-122"/>
                <a:sym typeface="+mn-ea"/>
              </a:rPr>
              <a:t>和 </a:t>
            </a:r>
            <a:r>
              <a:rPr lang="en-US" altLang="zh-CN" sz="2000" dirty="0">
                <a:solidFill>
                  <a:srgbClr val="595959"/>
                </a:solidFill>
                <a:latin typeface="微软雅黑" panose="020B0503020204020204" pitchFamily="34" charset="-122"/>
                <a:ea typeface="微软雅黑" panose="020B0503020204020204" pitchFamily="34" charset="-122"/>
                <a:sym typeface="+mn-ea"/>
              </a:rPr>
              <a:t>Kanban </a:t>
            </a:r>
            <a:r>
              <a:rPr lang="zh-CN" altLang="en-US" sz="2000" dirty="0">
                <a:solidFill>
                  <a:srgbClr val="595959"/>
                </a:solidFill>
                <a:latin typeface="微软雅黑" panose="020B0503020204020204" pitchFamily="34" charset="-122"/>
                <a:ea typeface="微软雅黑" panose="020B0503020204020204" pitchFamily="34" charset="-122"/>
                <a:sym typeface="+mn-ea"/>
              </a:rPr>
              <a:t>等，通过短周期的迭代开发，快速响应需求变化，实现快速迭代和适应变化的能力。</a:t>
            </a:r>
          </a:p>
          <a:p>
            <a:pPr marL="593100" algn="just">
              <a:lnSpc>
                <a:spcPct val="150000"/>
              </a:lnSpc>
              <a:buClrTx/>
              <a:buSzTx/>
            </a:pP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5" name="TextBox 35">
            <a:extLst>
              <a:ext uri="{FF2B5EF4-FFF2-40B4-BE49-F238E27FC236}">
                <a16:creationId xmlns:a16="http://schemas.microsoft.com/office/drawing/2014/main" id="{B6CF8BE0-D55C-17B1-0C52-922E4DB69931}"/>
              </a:ext>
            </a:extLst>
          </p:cNvPr>
          <p:cNvSpPr txBox="1">
            <a:spLocks noChangeArrowheads="1"/>
          </p:cNvSpPr>
          <p:nvPr/>
        </p:nvSpPr>
        <p:spPr bwMode="auto">
          <a:xfrm>
            <a:off x="1055370" y="838200"/>
            <a:ext cx="8249285" cy="647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b="1" dirty="0">
                <a:solidFill>
                  <a:srgbClr val="595959"/>
                </a:solidFill>
                <a:latin typeface="微软雅黑" panose="020B0503020204020204" pitchFamily="34" charset="-122"/>
                <a:ea typeface="微软雅黑" panose="020B0503020204020204" pitchFamily="34" charset="-122"/>
              </a:rPr>
              <a:t>关键特性</a:t>
            </a:r>
            <a:endParaRPr lang="en-US" altLang="zh-CN" sz="2000" b="1" dirty="0">
              <a:solidFill>
                <a:srgbClr val="595959"/>
              </a:solidFill>
              <a:latin typeface="微软雅黑" panose="020B0503020204020204" pitchFamily="34" charset="-122"/>
              <a:ea typeface="微软雅黑" panose="020B0503020204020204" pitchFamily="34" charset="-122"/>
            </a:endParaRPr>
          </a:p>
          <a:p>
            <a:pPr algn="just">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702143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27125" y="981710"/>
            <a:ext cx="10046970" cy="2042795"/>
          </a:xfrm>
          <a:prstGeom prst="rect">
            <a:avLst/>
          </a:prstGeom>
          <a:noFill/>
        </p:spPr>
        <p:txBody>
          <a:bodyPr wrap="square" rtlCol="0" anchor="t">
            <a:noAutofit/>
          </a:bodyPr>
          <a:lstStyle/>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从</a:t>
            </a:r>
            <a:r>
              <a:rPr lang="zh-CN" altLang="en-US" sz="2000" dirty="0">
                <a:solidFill>
                  <a:srgbClr val="0070C0"/>
                </a:solidFill>
                <a:latin typeface="微软雅黑" panose="020B0503020204020204" pitchFamily="34" charset="-122"/>
                <a:ea typeface="微软雅黑" panose="020B0503020204020204" pitchFamily="34" charset="-122"/>
                <a:sym typeface="+mn-ea"/>
              </a:rPr>
              <a:t>软件质量的概念</a:t>
            </a: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zh-CN" altLang="en-US" sz="2000" dirty="0">
                <a:solidFill>
                  <a:srgbClr val="0070C0"/>
                </a:solidFill>
                <a:latin typeface="微软雅黑" panose="020B0503020204020204" pitchFamily="34" charset="-122"/>
                <a:ea typeface="微软雅黑" panose="020B0503020204020204" pitchFamily="34" charset="-122"/>
                <a:sym typeface="+mn-ea"/>
              </a:rPr>
              <a:t>软件质量模型</a:t>
            </a: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zh-CN" altLang="en-US" sz="2000" dirty="0">
                <a:solidFill>
                  <a:srgbClr val="0070C0"/>
                </a:solidFill>
                <a:latin typeface="微软雅黑" panose="020B0503020204020204" pitchFamily="34" charset="-122"/>
                <a:ea typeface="微软雅黑" panose="020B0503020204020204" pitchFamily="34" charset="-122"/>
                <a:sym typeface="+mn-ea"/>
              </a:rPr>
              <a:t>影响软件质量的因素</a:t>
            </a:r>
            <a:r>
              <a:rPr lang="zh-CN" altLang="en-US" sz="2000" dirty="0">
                <a:solidFill>
                  <a:srgbClr val="595959"/>
                </a:solidFill>
                <a:latin typeface="微软雅黑" panose="020B0503020204020204" pitchFamily="34" charset="-122"/>
                <a:ea typeface="微软雅黑" panose="020B0503020204020204" pitchFamily="34" charset="-122"/>
                <a:sym typeface="+mn-ea"/>
              </a:rPr>
              <a:t>这3个方面介绍软件质量的相关知识。</a:t>
            </a:r>
          </a:p>
          <a:p>
            <a:pPr algn="just">
              <a:lnSpc>
                <a:spcPct val="150000"/>
              </a:lnSpc>
              <a:buClrTx/>
              <a:buSzTx/>
              <a:buFontTx/>
            </a:pPr>
            <a:r>
              <a:rPr lang="zh-CN" altLang="en-US" sz="2000" b="1" dirty="0">
                <a:solidFill>
                  <a:srgbClr val="595959"/>
                </a:solidFill>
                <a:latin typeface="微软雅黑" panose="020B0503020204020204" pitchFamily="34" charset="-122"/>
                <a:ea typeface="微软雅黑" panose="020B0503020204020204" pitchFamily="34" charset="-122"/>
                <a:sym typeface="+mn-ea"/>
              </a:rPr>
              <a:t>1.</a:t>
            </a:r>
            <a:r>
              <a:rPr lang="en-US" altLang="zh-CN" sz="2000" b="1" dirty="0">
                <a:solidFill>
                  <a:srgbClr val="595959"/>
                </a:solidFill>
                <a:latin typeface="微软雅黑" panose="020B0503020204020204" pitchFamily="34" charset="-122"/>
                <a:ea typeface="微软雅黑" panose="020B0503020204020204" pitchFamily="34" charset="-122"/>
                <a:sym typeface="+mn-ea"/>
              </a:rPr>
              <a:t> </a:t>
            </a:r>
            <a:r>
              <a:rPr lang="zh-CN" altLang="en-US" sz="2000" b="1" dirty="0">
                <a:solidFill>
                  <a:srgbClr val="595959"/>
                </a:solidFill>
                <a:latin typeface="微软雅黑" panose="020B0503020204020204" pitchFamily="34" charset="-122"/>
                <a:ea typeface="微软雅黑" panose="020B0503020204020204" pitchFamily="34" charset="-122"/>
                <a:sym typeface="+mn-ea"/>
              </a:rPr>
              <a:t>软件质量的概念</a:t>
            </a:r>
          </a:p>
          <a:p>
            <a:pPr indent="457200" algn="just">
              <a:lnSpc>
                <a:spcPct val="150000"/>
              </a:lnSpc>
              <a:buClrTx/>
              <a:buSzTx/>
              <a:buFont typeface="Wingdings" panose="05000000000000000000" charset="0"/>
              <a:buNone/>
            </a:pPr>
            <a:r>
              <a:rPr lang="zh-CN" altLang="en-US" sz="2000" dirty="0">
                <a:solidFill>
                  <a:srgbClr val="0070C0"/>
                </a:solidFill>
                <a:latin typeface="微软雅黑" panose="020B0503020204020204" pitchFamily="34" charset="-122"/>
                <a:ea typeface="微软雅黑" panose="020B0503020204020204" pitchFamily="34" charset="-122"/>
                <a:sym typeface="+mn-ea"/>
              </a:rPr>
              <a:t>软件质量</a:t>
            </a:r>
            <a:r>
              <a:rPr lang="zh-CN" altLang="en-US" sz="2000" dirty="0">
                <a:solidFill>
                  <a:srgbClr val="595959"/>
                </a:solidFill>
                <a:latin typeface="微软雅黑" panose="020B0503020204020204" pitchFamily="34" charset="-122"/>
                <a:ea typeface="微软雅黑" panose="020B0503020204020204" pitchFamily="34" charset="-122"/>
                <a:sym typeface="+mn-ea"/>
              </a:rPr>
              <a:t>是指</a:t>
            </a:r>
            <a:r>
              <a:rPr lang="zh-CN" altLang="en-US" sz="2000" dirty="0">
                <a:solidFill>
                  <a:srgbClr val="0070C0"/>
                </a:solidFill>
                <a:latin typeface="微软雅黑" panose="020B0503020204020204" pitchFamily="34" charset="-122"/>
                <a:ea typeface="微软雅黑" panose="020B0503020204020204" pitchFamily="34" charset="-122"/>
                <a:sym typeface="+mn-ea"/>
              </a:rPr>
              <a:t>软件产品满足基本需求和隐式需求的程度</a:t>
            </a:r>
            <a:r>
              <a:rPr lang="zh-CN" altLang="en-US" sz="2000" dirty="0">
                <a:solidFill>
                  <a:srgbClr val="595959"/>
                </a:solidFill>
                <a:latin typeface="微软雅黑" panose="020B0503020204020204" pitchFamily="34" charset="-122"/>
                <a:ea typeface="微软雅黑" panose="020B0503020204020204" pitchFamily="34" charset="-122"/>
                <a:sym typeface="+mn-ea"/>
              </a:rPr>
              <a:t>。</a:t>
            </a:r>
          </a:p>
          <a:p>
            <a:pPr indent="0" algn="just">
              <a:lnSpc>
                <a:spcPct val="150000"/>
              </a:lnSpc>
              <a:buClrTx/>
              <a:buSzTx/>
              <a:buFont typeface="Wingdings" panose="05000000000000000000" charset="0"/>
              <a:buNone/>
            </a:pPr>
            <a:endParaRPr lang="zh-CN" altLang="en-US" sz="2000" dirty="0">
              <a:solidFill>
                <a:srgbClr val="595959"/>
              </a:solidFill>
              <a:latin typeface="微软雅黑" panose="020B0503020204020204" pitchFamily="34" charset="-122"/>
              <a:ea typeface="微软雅黑" panose="020B0503020204020204" pitchFamily="34" charset="-122"/>
              <a:sym typeface="+mn-ea"/>
            </a:endParaRP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	</a:t>
            </a: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软件质量概述</a:t>
            </a:r>
          </a:p>
        </p:txBody>
      </p:sp>
      <p:sp>
        <p:nvSpPr>
          <p:cNvPr id="20" name="MH_SubTitle_1"/>
          <p:cNvSpPr/>
          <p:nvPr>
            <p:custDataLst>
              <p:tags r:id="rId1"/>
            </p:custDataLst>
          </p:nvPr>
        </p:nvSpPr>
        <p:spPr>
          <a:xfrm>
            <a:off x="2463185" y="3263977"/>
            <a:ext cx="2600325" cy="51117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满足需求规定</a:t>
            </a:r>
          </a:p>
        </p:txBody>
      </p:sp>
      <p:sp>
        <p:nvSpPr>
          <p:cNvPr id="21" name="MH_Other_1"/>
          <p:cNvSpPr/>
          <p:nvPr>
            <p:custDataLst>
              <p:tags r:id="rId2"/>
            </p:custDataLst>
          </p:nvPr>
        </p:nvSpPr>
        <p:spPr>
          <a:xfrm>
            <a:off x="4582496" y="3304299"/>
            <a:ext cx="431800" cy="431800"/>
          </a:xfrm>
          <a:custGeom>
            <a:avLst/>
            <a:gdLst>
              <a:gd name="connsiteX0" fmla="*/ 162177 w 379914"/>
              <a:gd name="connsiteY0" fmla="*/ 97631 h 379866"/>
              <a:gd name="connsiteX1" fmla="*/ 219804 w 379914"/>
              <a:gd name="connsiteY1" fmla="*/ 189932 h 379866"/>
              <a:gd name="connsiteX2" fmla="*/ 162177 w 379914"/>
              <a:gd name="connsiteY2" fmla="*/ 282233 h 379866"/>
              <a:gd name="connsiteX3" fmla="*/ 198210 w 379914"/>
              <a:gd name="connsiteY3" fmla="*/ 282233 h 379866"/>
              <a:gd name="connsiteX4" fmla="*/ 255837 w 379914"/>
              <a:gd name="connsiteY4" fmla="*/ 189932 h 379866"/>
              <a:gd name="connsiteX5" fmla="*/ 198210 w 379914"/>
              <a:gd name="connsiteY5" fmla="*/ 97631 h 379866"/>
              <a:gd name="connsiteX6" fmla="*/ 189957 w 379914"/>
              <a:gd name="connsiteY6" fmla="*/ 0 h 379866"/>
              <a:gd name="connsiteX7" fmla="*/ 379914 w 379914"/>
              <a:gd name="connsiteY7" fmla="*/ 189933 h 379866"/>
              <a:gd name="connsiteX8" fmla="*/ 189957 w 379914"/>
              <a:gd name="connsiteY8" fmla="*/ 379866 h 379866"/>
              <a:gd name="connsiteX9" fmla="*/ 0 w 379914"/>
              <a:gd name="connsiteY9" fmla="*/ 189933 h 379866"/>
              <a:gd name="connsiteX10" fmla="*/ 189957 w 379914"/>
              <a:gd name="connsiteY10" fmla="*/ 0 h 37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914" h="379866">
                <a:moveTo>
                  <a:pt x="162177" y="97631"/>
                </a:moveTo>
                <a:lnTo>
                  <a:pt x="219804" y="189932"/>
                </a:lnTo>
                <a:lnTo>
                  <a:pt x="162177" y="282233"/>
                </a:lnTo>
                <a:lnTo>
                  <a:pt x="198210" y="282233"/>
                </a:lnTo>
                <a:lnTo>
                  <a:pt x="255837" y="189932"/>
                </a:lnTo>
                <a:lnTo>
                  <a:pt x="198210" y="97631"/>
                </a:lnTo>
                <a:close/>
                <a:moveTo>
                  <a:pt x="189957" y="0"/>
                </a:moveTo>
                <a:cubicBezTo>
                  <a:pt x="294867" y="0"/>
                  <a:pt x="379914" y="85036"/>
                  <a:pt x="379914" y="189933"/>
                </a:cubicBezTo>
                <a:cubicBezTo>
                  <a:pt x="379914" y="294830"/>
                  <a:pt x="294867" y="379866"/>
                  <a:pt x="189957" y="379866"/>
                </a:cubicBezTo>
                <a:cubicBezTo>
                  <a:pt x="85047" y="379866"/>
                  <a:pt x="0" y="294830"/>
                  <a:pt x="0" y="189933"/>
                </a:cubicBezTo>
                <a:cubicBezTo>
                  <a:pt x="0" y="85036"/>
                  <a:pt x="85047" y="0"/>
                  <a:pt x="189957"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a:ln>
                <a:noFill/>
              </a:ln>
              <a:solidFill>
                <a:srgbClr val="84CBC5"/>
              </a:solidFill>
              <a:effectLst/>
              <a:uLnTx/>
              <a:uFillTx/>
              <a:latin typeface="微软雅黑" panose="020B0503020204020204" pitchFamily="34" charset="-122"/>
              <a:ea typeface="微软雅黑" panose="020B0503020204020204" pitchFamily="34" charset="-122"/>
              <a:cs typeface="+mn-lt"/>
            </a:endParaRPr>
          </a:p>
        </p:txBody>
      </p:sp>
      <p:sp>
        <p:nvSpPr>
          <p:cNvPr id="22" name="MH_Text_1"/>
          <p:cNvSpPr>
            <a:spLocks noChangeArrowheads="1"/>
          </p:cNvSpPr>
          <p:nvPr>
            <p:custDataLst>
              <p:tags r:id="rId3"/>
            </p:custDataLst>
          </p:nvPr>
        </p:nvSpPr>
        <p:spPr bwMode="auto">
          <a:xfrm>
            <a:off x="5155021" y="3191516"/>
            <a:ext cx="2976027" cy="709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fontAlgn="auto">
              <a:lnSpc>
                <a:spcPts val="1800"/>
              </a:lnSpc>
              <a:spcBef>
                <a:spcPts val="0"/>
              </a:spcBef>
              <a:spcAft>
                <a:spcPts val="0"/>
              </a:spcAft>
              <a:buClrTx/>
              <a:buSzTx/>
              <a:buFontTx/>
              <a:buNone/>
              <a:defRPr/>
            </a:pPr>
            <a:r>
              <a:rPr lang="zh-CN" altLang="en-US" sz="1600" dirty="0">
                <a:solidFill>
                  <a:srgbClr val="595959"/>
                </a:solidFill>
                <a:latin typeface="微软雅黑" panose="020B0503020204020204" pitchFamily="34" charset="-122"/>
                <a:ea typeface="微软雅黑" panose="020B0503020204020204" pitchFamily="34" charset="-122"/>
                <a:sym typeface="+mn-ea"/>
              </a:rPr>
              <a:t>软件产品</a:t>
            </a:r>
            <a:r>
              <a:rPr lang="zh-CN" altLang="en-US" sz="1600" dirty="0">
                <a:solidFill>
                  <a:srgbClr val="0070C0"/>
                </a:solidFill>
                <a:latin typeface="微软雅黑" panose="020B0503020204020204" pitchFamily="34" charset="-122"/>
                <a:ea typeface="微软雅黑" panose="020B0503020204020204" pitchFamily="34" charset="-122"/>
                <a:sym typeface="+mn-ea"/>
              </a:rPr>
              <a:t>符合开发</a:t>
            </a:r>
            <a:r>
              <a:rPr lang="zh-CN" altLang="en-US" sz="1600">
                <a:solidFill>
                  <a:srgbClr val="0070C0"/>
                </a:solidFill>
                <a:latin typeface="微软雅黑" panose="020B0503020204020204" pitchFamily="34" charset="-122"/>
                <a:ea typeface="微软雅黑" panose="020B0503020204020204" pitchFamily="34" charset="-122"/>
                <a:sym typeface="+mn-ea"/>
              </a:rPr>
              <a:t>者明确给定的</a:t>
            </a:r>
            <a:r>
              <a:rPr lang="zh-CN" altLang="en-US" sz="1600" dirty="0">
                <a:solidFill>
                  <a:srgbClr val="0070C0"/>
                </a:solidFill>
                <a:latin typeface="微软雅黑" panose="020B0503020204020204" pitchFamily="34" charset="-122"/>
                <a:ea typeface="微软雅黑" panose="020B0503020204020204" pitchFamily="34" charset="-122"/>
                <a:sym typeface="+mn-ea"/>
              </a:rPr>
              <a:t>目标</a:t>
            </a:r>
            <a:r>
              <a:rPr lang="zh-CN" altLang="en-US" sz="1600" dirty="0">
                <a:solidFill>
                  <a:srgbClr val="595959"/>
                </a:solidFill>
                <a:latin typeface="微软雅黑" panose="020B0503020204020204" pitchFamily="34" charset="-122"/>
                <a:ea typeface="微软雅黑" panose="020B0503020204020204" pitchFamily="34" charset="-122"/>
                <a:sym typeface="+mn-ea"/>
              </a:rPr>
              <a:t>，并且</a:t>
            </a:r>
            <a:r>
              <a:rPr lang="zh-CN" altLang="en-US" sz="1600" dirty="0">
                <a:solidFill>
                  <a:srgbClr val="0070C0"/>
                </a:solidFill>
                <a:latin typeface="微软雅黑" panose="020B0503020204020204" pitchFamily="34" charset="-122"/>
                <a:ea typeface="微软雅黑" panose="020B0503020204020204" pitchFamily="34" charset="-122"/>
                <a:sym typeface="+mn-ea"/>
              </a:rPr>
              <a:t>能可靠运行</a:t>
            </a:r>
            <a:r>
              <a:rPr lang="zh-CN" altLang="en-US" sz="1600" dirty="0">
                <a:solidFill>
                  <a:srgbClr val="595959"/>
                </a:solidFill>
                <a:latin typeface="微软雅黑" panose="020B0503020204020204" pitchFamily="34" charset="-122"/>
                <a:ea typeface="微软雅黑" panose="020B0503020204020204" pitchFamily="34" charset="-122"/>
                <a:sym typeface="+mn-ea"/>
              </a:rPr>
              <a:t>。</a:t>
            </a:r>
          </a:p>
        </p:txBody>
      </p:sp>
      <p:sp>
        <p:nvSpPr>
          <p:cNvPr id="23" name="MH_SubTitle_2"/>
          <p:cNvSpPr/>
          <p:nvPr>
            <p:custDataLst>
              <p:tags r:id="rId4"/>
            </p:custDataLst>
          </p:nvPr>
        </p:nvSpPr>
        <p:spPr>
          <a:xfrm>
            <a:off x="2463185" y="4469523"/>
            <a:ext cx="2600325" cy="51117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p>
            <a:pPr lvl="0">
              <a:spcBef>
                <a:spcPts val="0"/>
              </a:spcBef>
              <a:spcAft>
                <a:spcPts val="0"/>
              </a:spcAft>
              <a:buClrTx/>
              <a:buSzTx/>
              <a:buFontTx/>
              <a:defRPr/>
            </a:pPr>
            <a:r>
              <a:rPr lang="zh-CN" altLang="en-US" sz="2000" noProof="0">
                <a:ln>
                  <a:noFill/>
                </a:ln>
                <a:solidFill>
                  <a:srgbClr val="FFFFFF"/>
                </a:solidFill>
                <a:effectLst/>
                <a:uLnTx/>
                <a:uFillTx/>
                <a:latin typeface="微软雅黑" panose="020B0503020204020204" pitchFamily="34" charset="-122"/>
                <a:ea typeface="微软雅黑" panose="020B0503020204020204" pitchFamily="34" charset="-122"/>
                <a:sym typeface="+mn-ea"/>
              </a:rPr>
              <a:t>满足用户基本需求</a:t>
            </a:r>
            <a:endParaRPr lang="zh-CN" altLang="en-US" sz="2000" noProof="0" dirty="0">
              <a:ln>
                <a:noFill/>
              </a:ln>
              <a:solidFill>
                <a:srgbClr val="FFFFFF"/>
              </a:solidFill>
              <a:effectLst/>
              <a:uLnTx/>
              <a:uFillTx/>
              <a:latin typeface="微软雅黑" panose="020B0503020204020204" pitchFamily="34" charset="-122"/>
              <a:ea typeface="微软雅黑" panose="020B0503020204020204" pitchFamily="34" charset="-122"/>
              <a:sym typeface="+mn-ea"/>
            </a:endParaRPr>
          </a:p>
        </p:txBody>
      </p:sp>
      <p:sp>
        <p:nvSpPr>
          <p:cNvPr id="24" name="MH_Other_2"/>
          <p:cNvSpPr/>
          <p:nvPr>
            <p:custDataLst>
              <p:tags r:id="rId5"/>
            </p:custDataLst>
          </p:nvPr>
        </p:nvSpPr>
        <p:spPr>
          <a:xfrm>
            <a:off x="4582496" y="4509209"/>
            <a:ext cx="431800" cy="431800"/>
          </a:xfrm>
          <a:custGeom>
            <a:avLst/>
            <a:gdLst>
              <a:gd name="connsiteX0" fmla="*/ 162177 w 379914"/>
              <a:gd name="connsiteY0" fmla="*/ 97631 h 379866"/>
              <a:gd name="connsiteX1" fmla="*/ 219804 w 379914"/>
              <a:gd name="connsiteY1" fmla="*/ 189932 h 379866"/>
              <a:gd name="connsiteX2" fmla="*/ 162177 w 379914"/>
              <a:gd name="connsiteY2" fmla="*/ 282233 h 379866"/>
              <a:gd name="connsiteX3" fmla="*/ 198210 w 379914"/>
              <a:gd name="connsiteY3" fmla="*/ 282233 h 379866"/>
              <a:gd name="connsiteX4" fmla="*/ 255837 w 379914"/>
              <a:gd name="connsiteY4" fmla="*/ 189932 h 379866"/>
              <a:gd name="connsiteX5" fmla="*/ 198210 w 379914"/>
              <a:gd name="connsiteY5" fmla="*/ 97631 h 379866"/>
              <a:gd name="connsiteX6" fmla="*/ 189957 w 379914"/>
              <a:gd name="connsiteY6" fmla="*/ 0 h 379866"/>
              <a:gd name="connsiteX7" fmla="*/ 379914 w 379914"/>
              <a:gd name="connsiteY7" fmla="*/ 189933 h 379866"/>
              <a:gd name="connsiteX8" fmla="*/ 189957 w 379914"/>
              <a:gd name="connsiteY8" fmla="*/ 379866 h 379866"/>
              <a:gd name="connsiteX9" fmla="*/ 0 w 379914"/>
              <a:gd name="connsiteY9" fmla="*/ 189933 h 379866"/>
              <a:gd name="connsiteX10" fmla="*/ 189957 w 379914"/>
              <a:gd name="connsiteY10" fmla="*/ 0 h 37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914" h="379866">
                <a:moveTo>
                  <a:pt x="162177" y="97631"/>
                </a:moveTo>
                <a:lnTo>
                  <a:pt x="219804" y="189932"/>
                </a:lnTo>
                <a:lnTo>
                  <a:pt x="162177" y="282233"/>
                </a:lnTo>
                <a:lnTo>
                  <a:pt x="198210" y="282233"/>
                </a:lnTo>
                <a:lnTo>
                  <a:pt x="255837" y="189932"/>
                </a:lnTo>
                <a:lnTo>
                  <a:pt x="198210" y="97631"/>
                </a:lnTo>
                <a:close/>
                <a:moveTo>
                  <a:pt x="189957" y="0"/>
                </a:moveTo>
                <a:cubicBezTo>
                  <a:pt x="294867" y="0"/>
                  <a:pt x="379914" y="85036"/>
                  <a:pt x="379914" y="189933"/>
                </a:cubicBezTo>
                <a:cubicBezTo>
                  <a:pt x="379914" y="294830"/>
                  <a:pt x="294867" y="379866"/>
                  <a:pt x="189957" y="379866"/>
                </a:cubicBezTo>
                <a:cubicBezTo>
                  <a:pt x="85047" y="379866"/>
                  <a:pt x="0" y="294830"/>
                  <a:pt x="0" y="189933"/>
                </a:cubicBezTo>
                <a:cubicBezTo>
                  <a:pt x="0" y="85036"/>
                  <a:pt x="85047" y="0"/>
                  <a:pt x="189957"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a:ln>
                <a:noFill/>
              </a:ln>
              <a:solidFill>
                <a:srgbClr val="84CBC5"/>
              </a:solidFill>
              <a:effectLst/>
              <a:uLnTx/>
              <a:uFillTx/>
              <a:latin typeface="微软雅黑" panose="020B0503020204020204" pitchFamily="34" charset="-122"/>
              <a:ea typeface="微软雅黑" panose="020B0503020204020204" pitchFamily="34" charset="-122"/>
              <a:cs typeface="+mn-lt"/>
            </a:endParaRPr>
          </a:p>
        </p:txBody>
      </p:sp>
      <p:sp>
        <p:nvSpPr>
          <p:cNvPr id="25" name="MH_Text_2"/>
          <p:cNvSpPr>
            <a:spLocks noChangeArrowheads="1"/>
          </p:cNvSpPr>
          <p:nvPr>
            <p:custDataLst>
              <p:tags r:id="rId6"/>
            </p:custDataLst>
          </p:nvPr>
        </p:nvSpPr>
        <p:spPr bwMode="auto">
          <a:xfrm>
            <a:off x="5187621" y="4420996"/>
            <a:ext cx="2904978" cy="709613"/>
          </a:xfrm>
          <a:prstGeom prst="rect">
            <a:avLst/>
          </a:prstGeom>
          <a:noFill/>
          <a:ln>
            <a:noFill/>
          </a:ln>
          <a:extLst>
            <a:ext uri="{909E8E84-426E-40DD-AFC4-6F175D3DCCD1}">
              <a14:hiddenFill xmlns:a14="http://schemas.microsoft.com/office/drawing/2010/main">
                <a:solidFill>
                  <a:srgbClr val="FFFFFF"/>
                </a:solidFill>
              </a14:hiddenFill>
            </a:ext>
          </a:extLst>
        </p:spPr>
        <p:txBody>
          <a:bodyPr anchor="ctr">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gn="l">
              <a:lnSpc>
                <a:spcPts val="18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sym typeface="+mn-ea"/>
              </a:rPr>
              <a:t>软件产品的需求是</a:t>
            </a:r>
            <a:r>
              <a:rPr lang="zh-CN" altLang="en-US" sz="1600">
                <a:solidFill>
                  <a:srgbClr val="595959"/>
                </a:solidFill>
                <a:latin typeface="微软雅黑" panose="020B0503020204020204" pitchFamily="34" charset="-122"/>
                <a:ea typeface="微软雅黑" panose="020B0503020204020204" pitchFamily="34" charset="-122"/>
                <a:sym typeface="+mn-ea"/>
              </a:rPr>
              <a:t>由用户给出的，软件开发最终</a:t>
            </a:r>
            <a:r>
              <a:rPr lang="zh-CN" altLang="en-US" sz="1600" dirty="0">
                <a:solidFill>
                  <a:srgbClr val="595959"/>
                </a:solidFill>
                <a:latin typeface="微软雅黑" panose="020B0503020204020204" pitchFamily="34" charset="-122"/>
                <a:ea typeface="微软雅黑" panose="020B0503020204020204" pitchFamily="34" charset="-122"/>
                <a:sym typeface="+mn-ea"/>
              </a:rPr>
              <a:t>的</a:t>
            </a:r>
            <a:r>
              <a:rPr lang="zh-CN" altLang="en-US" sz="1600" dirty="0">
                <a:solidFill>
                  <a:srgbClr val="0070C0"/>
                </a:solidFill>
                <a:latin typeface="微软雅黑" panose="020B0503020204020204" pitchFamily="34" charset="-122"/>
                <a:ea typeface="微软雅黑" panose="020B0503020204020204" pitchFamily="34" charset="-122"/>
                <a:sym typeface="+mn-ea"/>
              </a:rPr>
              <a:t>目的就是</a:t>
            </a:r>
            <a:r>
              <a:rPr lang="zh-CN" altLang="en-US" sz="1600">
                <a:solidFill>
                  <a:srgbClr val="0070C0"/>
                </a:solidFill>
                <a:latin typeface="微软雅黑" panose="020B0503020204020204" pitchFamily="34" charset="-122"/>
                <a:ea typeface="微软雅黑" panose="020B0503020204020204" pitchFamily="34" charset="-122"/>
                <a:sym typeface="+mn-ea"/>
              </a:rPr>
              <a:t>满足用户基本需求</a:t>
            </a:r>
            <a:r>
              <a:rPr lang="zh-CN" altLang="en-US" sz="1600" dirty="0">
                <a:solidFill>
                  <a:srgbClr val="0070C0"/>
                </a:solidFill>
                <a:latin typeface="微软雅黑" panose="020B0503020204020204" pitchFamily="34" charset="-122"/>
                <a:ea typeface="微软雅黑" panose="020B0503020204020204" pitchFamily="34" charset="-122"/>
                <a:sym typeface="+mn-ea"/>
              </a:rPr>
              <a:t>，解决用户的实际问题</a:t>
            </a:r>
            <a:r>
              <a:rPr lang="zh-CN" altLang="en-US" sz="1600" dirty="0">
                <a:solidFill>
                  <a:srgbClr val="595959"/>
                </a:solidFill>
                <a:latin typeface="微软雅黑" panose="020B0503020204020204" pitchFamily="34" charset="-122"/>
                <a:ea typeface="微软雅黑" panose="020B0503020204020204" pitchFamily="34" charset="-122"/>
                <a:sym typeface="+mn-ea"/>
              </a:rPr>
              <a:t>。</a:t>
            </a:r>
          </a:p>
        </p:txBody>
      </p:sp>
      <p:sp>
        <p:nvSpPr>
          <p:cNvPr id="26" name="MH_SubTitle_3"/>
          <p:cNvSpPr/>
          <p:nvPr>
            <p:custDataLst>
              <p:tags r:id="rId7"/>
            </p:custDataLst>
          </p:nvPr>
        </p:nvSpPr>
        <p:spPr>
          <a:xfrm>
            <a:off x="2463185" y="5689779"/>
            <a:ext cx="2600325" cy="51117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p>
            <a:pPr lvl="0" algn="l">
              <a:spcBef>
                <a:spcPts val="0"/>
              </a:spcBef>
              <a:spcAft>
                <a:spcPts val="0"/>
              </a:spcAft>
              <a:buClrTx/>
              <a:buSzTx/>
              <a:buFontTx/>
              <a:defRPr/>
            </a:pPr>
            <a:r>
              <a:rPr lang="en-US" altLang="zh-CN" sz="2000" noProof="0" dirty="0">
                <a:ln>
                  <a:noFill/>
                </a:ln>
                <a:solidFill>
                  <a:srgbClr val="FFFFFF"/>
                </a:solidFill>
                <a:effectLst/>
                <a:uLnTx/>
                <a:uFillTx/>
                <a:latin typeface="微软雅黑" panose="020B0503020204020204" pitchFamily="34" charset="-122"/>
                <a:ea typeface="微软雅黑" panose="020B0503020204020204" pitchFamily="34" charset="-122"/>
                <a:sym typeface="+mn-ea"/>
              </a:rPr>
              <a:t> </a:t>
            </a:r>
            <a:r>
              <a:rPr lang="zh-CN" altLang="en-US" sz="2000" noProof="0" dirty="0">
                <a:ln>
                  <a:noFill/>
                </a:ln>
                <a:solidFill>
                  <a:srgbClr val="FFFFFF"/>
                </a:solidFill>
                <a:effectLst/>
                <a:uLnTx/>
                <a:uFillTx/>
                <a:latin typeface="微软雅黑" panose="020B0503020204020204" pitchFamily="34" charset="-122"/>
                <a:ea typeface="微软雅黑" panose="020B0503020204020204" pitchFamily="34" charset="-122"/>
                <a:sym typeface="+mn-ea"/>
              </a:rPr>
              <a:t>满足用户隐式需求</a:t>
            </a:r>
          </a:p>
        </p:txBody>
      </p:sp>
      <p:sp>
        <p:nvSpPr>
          <p:cNvPr id="27" name="MH_Other_3"/>
          <p:cNvSpPr/>
          <p:nvPr>
            <p:custDataLst>
              <p:tags r:id="rId8"/>
            </p:custDataLst>
          </p:nvPr>
        </p:nvSpPr>
        <p:spPr>
          <a:xfrm>
            <a:off x="4582496" y="5729465"/>
            <a:ext cx="431800" cy="431800"/>
          </a:xfrm>
          <a:custGeom>
            <a:avLst/>
            <a:gdLst>
              <a:gd name="connsiteX0" fmla="*/ 162177 w 379914"/>
              <a:gd name="connsiteY0" fmla="*/ 97631 h 379866"/>
              <a:gd name="connsiteX1" fmla="*/ 219804 w 379914"/>
              <a:gd name="connsiteY1" fmla="*/ 189932 h 379866"/>
              <a:gd name="connsiteX2" fmla="*/ 162177 w 379914"/>
              <a:gd name="connsiteY2" fmla="*/ 282233 h 379866"/>
              <a:gd name="connsiteX3" fmla="*/ 198210 w 379914"/>
              <a:gd name="connsiteY3" fmla="*/ 282233 h 379866"/>
              <a:gd name="connsiteX4" fmla="*/ 255837 w 379914"/>
              <a:gd name="connsiteY4" fmla="*/ 189932 h 379866"/>
              <a:gd name="connsiteX5" fmla="*/ 198210 w 379914"/>
              <a:gd name="connsiteY5" fmla="*/ 97631 h 379866"/>
              <a:gd name="connsiteX6" fmla="*/ 189957 w 379914"/>
              <a:gd name="connsiteY6" fmla="*/ 0 h 379866"/>
              <a:gd name="connsiteX7" fmla="*/ 379914 w 379914"/>
              <a:gd name="connsiteY7" fmla="*/ 189933 h 379866"/>
              <a:gd name="connsiteX8" fmla="*/ 189957 w 379914"/>
              <a:gd name="connsiteY8" fmla="*/ 379866 h 379866"/>
              <a:gd name="connsiteX9" fmla="*/ 0 w 379914"/>
              <a:gd name="connsiteY9" fmla="*/ 189933 h 379866"/>
              <a:gd name="connsiteX10" fmla="*/ 189957 w 379914"/>
              <a:gd name="connsiteY10" fmla="*/ 0 h 37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914" h="379866">
                <a:moveTo>
                  <a:pt x="162177" y="97631"/>
                </a:moveTo>
                <a:lnTo>
                  <a:pt x="219804" y="189932"/>
                </a:lnTo>
                <a:lnTo>
                  <a:pt x="162177" y="282233"/>
                </a:lnTo>
                <a:lnTo>
                  <a:pt x="198210" y="282233"/>
                </a:lnTo>
                <a:lnTo>
                  <a:pt x="255837" y="189932"/>
                </a:lnTo>
                <a:lnTo>
                  <a:pt x="198210" y="97631"/>
                </a:lnTo>
                <a:close/>
                <a:moveTo>
                  <a:pt x="189957" y="0"/>
                </a:moveTo>
                <a:cubicBezTo>
                  <a:pt x="294867" y="0"/>
                  <a:pt x="379914" y="85036"/>
                  <a:pt x="379914" y="189933"/>
                </a:cubicBezTo>
                <a:cubicBezTo>
                  <a:pt x="379914" y="294830"/>
                  <a:pt x="294867" y="379866"/>
                  <a:pt x="189957" y="379866"/>
                </a:cubicBezTo>
                <a:cubicBezTo>
                  <a:pt x="85047" y="379866"/>
                  <a:pt x="0" y="294830"/>
                  <a:pt x="0" y="189933"/>
                </a:cubicBezTo>
                <a:cubicBezTo>
                  <a:pt x="0" y="85036"/>
                  <a:pt x="85047" y="0"/>
                  <a:pt x="189957"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a:ln>
                <a:noFill/>
              </a:ln>
              <a:solidFill>
                <a:srgbClr val="84CBC5"/>
              </a:solidFill>
              <a:effectLst/>
              <a:uLnTx/>
              <a:uFillTx/>
              <a:latin typeface="微软雅黑" panose="020B0503020204020204" pitchFamily="34" charset="-122"/>
              <a:ea typeface="微软雅黑" panose="020B0503020204020204" pitchFamily="34" charset="-122"/>
              <a:cs typeface="+mn-lt"/>
            </a:endParaRPr>
          </a:p>
        </p:txBody>
      </p:sp>
      <p:sp>
        <p:nvSpPr>
          <p:cNvPr id="28" name="MH_Text_3"/>
          <p:cNvSpPr>
            <a:spLocks noChangeArrowheads="1"/>
          </p:cNvSpPr>
          <p:nvPr>
            <p:custDataLst>
              <p:tags r:id="rId9"/>
            </p:custDataLst>
          </p:nvPr>
        </p:nvSpPr>
        <p:spPr bwMode="auto">
          <a:xfrm>
            <a:off x="5155021" y="5618270"/>
            <a:ext cx="2904975" cy="709612"/>
          </a:xfrm>
          <a:prstGeom prst="rect">
            <a:avLst/>
          </a:prstGeom>
          <a:noFill/>
          <a:ln>
            <a:noFill/>
          </a:ln>
          <a:extLst>
            <a:ext uri="{909E8E84-426E-40DD-AFC4-6F175D3DCCD1}">
              <a14:hiddenFill xmlns:a14="http://schemas.microsoft.com/office/drawing/2010/main">
                <a:solidFill>
                  <a:srgbClr val="FFFFFF"/>
                </a:solidFill>
              </a14:hiddenFill>
            </a:ext>
          </a:extLst>
        </p:spPr>
        <p:txBody>
          <a:bodyPr anchor="ctr">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gn="l">
              <a:lnSpc>
                <a:spcPts val="18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sym typeface="+mn-ea"/>
              </a:rPr>
              <a:t>软件产品除了满足</a:t>
            </a:r>
            <a:r>
              <a:rPr lang="zh-CN" altLang="en-US" sz="1600">
                <a:solidFill>
                  <a:srgbClr val="595959"/>
                </a:solidFill>
                <a:latin typeface="微软雅黑" panose="020B0503020204020204" pitchFamily="34" charset="-122"/>
                <a:ea typeface="微软雅黑" panose="020B0503020204020204" pitchFamily="34" charset="-122"/>
                <a:sym typeface="+mn-ea"/>
              </a:rPr>
              <a:t>用户的基本需求</a:t>
            </a:r>
            <a:r>
              <a:rPr lang="zh-CN" altLang="en-US" sz="1600" dirty="0">
                <a:solidFill>
                  <a:srgbClr val="595959"/>
                </a:solidFill>
                <a:latin typeface="微软雅黑" panose="020B0503020204020204" pitchFamily="34" charset="-122"/>
                <a:ea typeface="微软雅黑" panose="020B0503020204020204" pitchFamily="34" charset="-122"/>
                <a:sym typeface="+mn-ea"/>
              </a:rPr>
              <a:t>外，</a:t>
            </a:r>
            <a:r>
              <a:rPr lang="zh-CN" altLang="en-US" sz="1600">
                <a:solidFill>
                  <a:srgbClr val="595959"/>
                </a:solidFill>
                <a:latin typeface="微软雅黑" panose="020B0503020204020204" pitchFamily="34" charset="-122"/>
                <a:ea typeface="微软雅黑" panose="020B0503020204020204" pitchFamily="34" charset="-122"/>
                <a:sym typeface="+mn-ea"/>
              </a:rPr>
              <a:t>如果还能</a:t>
            </a:r>
            <a:r>
              <a:rPr lang="zh-CN" altLang="en-US" sz="1600">
                <a:solidFill>
                  <a:srgbClr val="0070C0"/>
                </a:solidFill>
                <a:latin typeface="微软雅黑" panose="020B0503020204020204" pitchFamily="34" charset="-122"/>
                <a:ea typeface="微软雅黑" panose="020B0503020204020204" pitchFamily="34" charset="-122"/>
                <a:sym typeface="+mn-ea"/>
              </a:rPr>
              <a:t>满足用户</a:t>
            </a:r>
            <a:r>
              <a:rPr lang="zh-CN" altLang="en-US" sz="1600" dirty="0">
                <a:solidFill>
                  <a:srgbClr val="0070C0"/>
                </a:solidFill>
                <a:latin typeface="微软雅黑" panose="020B0503020204020204" pitchFamily="34" charset="-122"/>
                <a:ea typeface="微软雅黑" panose="020B0503020204020204" pitchFamily="34" charset="-122"/>
                <a:sym typeface="+mn-ea"/>
              </a:rPr>
              <a:t>的隐式需求</a:t>
            </a:r>
            <a:r>
              <a:rPr lang="zh-CN" altLang="en-US" sz="1600" dirty="0">
                <a:solidFill>
                  <a:srgbClr val="595959"/>
                </a:solidFill>
                <a:latin typeface="微软雅黑" panose="020B0503020204020204" pitchFamily="34" charset="-122"/>
                <a:ea typeface="微软雅黑" panose="020B0503020204020204" pitchFamily="34" charset="-122"/>
                <a:sym typeface="+mn-ea"/>
              </a:rPr>
              <a:t>，将会</a:t>
            </a:r>
            <a:r>
              <a:rPr lang="zh-CN" altLang="en-US" sz="1600">
                <a:solidFill>
                  <a:srgbClr val="0070C0"/>
                </a:solidFill>
                <a:latin typeface="微软雅黑" panose="020B0503020204020204" pitchFamily="34" charset="-122"/>
                <a:ea typeface="微软雅黑" panose="020B0503020204020204" pitchFamily="34" charset="-122"/>
                <a:sym typeface="+mn-ea"/>
              </a:rPr>
              <a:t>极大地提升</a:t>
            </a:r>
            <a:r>
              <a:rPr lang="zh-CN" altLang="en-US" sz="1600" dirty="0">
                <a:solidFill>
                  <a:srgbClr val="0070C0"/>
                </a:solidFill>
                <a:latin typeface="微软雅黑" panose="020B0503020204020204" pitchFamily="34" charset="-122"/>
                <a:ea typeface="微软雅黑" panose="020B0503020204020204" pitchFamily="34" charset="-122"/>
                <a:sym typeface="+mn-ea"/>
              </a:rPr>
              <a:t>用户满意度</a:t>
            </a:r>
            <a:r>
              <a:rPr lang="zh-CN" altLang="en-US" sz="1600" dirty="0">
                <a:solidFill>
                  <a:srgbClr val="595959"/>
                </a:solidFill>
                <a:latin typeface="微软雅黑" panose="020B0503020204020204" pitchFamily="34" charset="-122"/>
                <a:ea typeface="微软雅黑" panose="020B0503020204020204" pitchFamily="34" charset="-122"/>
                <a:sym typeface="+mn-ea"/>
              </a:rPr>
              <a:t>，这就意味着软件质量更高。</a:t>
            </a:r>
          </a:p>
        </p:txBody>
      </p:sp>
      <p:sp>
        <p:nvSpPr>
          <p:cNvPr id="29" name="MH_Title_1"/>
          <p:cNvSpPr/>
          <p:nvPr>
            <p:custDataLst>
              <p:tags r:id="rId10"/>
            </p:custDataLst>
          </p:nvPr>
        </p:nvSpPr>
        <p:spPr>
          <a:xfrm>
            <a:off x="1696161" y="3607842"/>
            <a:ext cx="498260" cy="2417757"/>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500" b="1" i="0" u="none" strike="noStrike" kern="1200" cap="none" spc="10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满足高质量软件的</a:t>
            </a:r>
            <a:r>
              <a:rPr kumimoji="0" lang="en-US" altLang="zh-CN" sz="1500" b="1" i="0" u="none" strike="noStrike" kern="1200" cap="none" spc="10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3</a:t>
            </a:r>
            <a:r>
              <a:rPr kumimoji="0" lang="zh-CN" altLang="en-US" sz="1500" b="1" i="0" u="none" strike="noStrike" kern="1200" cap="none" spc="10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个需求</a:t>
            </a:r>
          </a:p>
        </p:txBody>
      </p:sp>
      <p:cxnSp>
        <p:nvCxnSpPr>
          <p:cNvPr id="30" name="PA_直接连接符 2"/>
          <p:cNvCxnSpPr/>
          <p:nvPr>
            <p:custDataLst>
              <p:tags r:id="rId11"/>
            </p:custDataLst>
          </p:nvPr>
        </p:nvCxnSpPr>
        <p:spPr>
          <a:xfrm>
            <a:off x="1675415" y="3294040"/>
            <a:ext cx="0" cy="3045363"/>
          </a:xfrm>
          <a:prstGeom prst="line">
            <a:avLst/>
          </a:prstGeom>
          <a:ln>
            <a:solidFill>
              <a:srgbClr val="6BAFE1"/>
            </a:solidFill>
          </a:ln>
        </p:spPr>
        <p:style>
          <a:lnRef idx="1">
            <a:schemeClr val="accent1"/>
          </a:lnRef>
          <a:fillRef idx="0">
            <a:schemeClr val="accent1"/>
          </a:fillRef>
          <a:effectRef idx="0">
            <a:schemeClr val="accent1"/>
          </a:effectRef>
          <a:fontRef idx="minor">
            <a:schemeClr val="tx1"/>
          </a:fontRef>
        </p:style>
      </p:cxnSp>
      <p:cxnSp>
        <p:nvCxnSpPr>
          <p:cNvPr id="32" name="PA_直接连接符 2"/>
          <p:cNvCxnSpPr/>
          <p:nvPr>
            <p:custDataLst>
              <p:tags r:id="rId12"/>
            </p:custDataLst>
          </p:nvPr>
        </p:nvCxnSpPr>
        <p:spPr>
          <a:xfrm>
            <a:off x="2194421" y="3294038"/>
            <a:ext cx="0" cy="3045363"/>
          </a:xfrm>
          <a:prstGeom prst="line">
            <a:avLst/>
          </a:prstGeom>
          <a:ln>
            <a:solidFill>
              <a:srgbClr val="6BAFE1"/>
            </a:solidFill>
            <a:prstDash val="dash"/>
          </a:ln>
        </p:spPr>
        <p:style>
          <a:lnRef idx="1">
            <a:schemeClr val="accent1"/>
          </a:lnRef>
          <a:fillRef idx="0">
            <a:schemeClr val="accent1"/>
          </a:fillRef>
          <a:effectRef idx="0">
            <a:schemeClr val="accent1"/>
          </a:effectRef>
          <a:fontRef idx="minor">
            <a:schemeClr val="tx1"/>
          </a:fontRef>
        </p:style>
      </p:cxnSp>
      <p:cxnSp>
        <p:nvCxnSpPr>
          <p:cNvPr id="33" name="PA_StraightArrowConnector 4"/>
          <p:cNvCxnSpPr/>
          <p:nvPr>
            <p:custDataLst>
              <p:tags r:id="rId13"/>
            </p:custDataLst>
          </p:nvPr>
        </p:nvCxnSpPr>
        <p:spPr>
          <a:xfrm>
            <a:off x="8060000" y="3519564"/>
            <a:ext cx="979659" cy="0"/>
          </a:xfrm>
          <a:prstGeom prst="straightConnector1">
            <a:avLst/>
          </a:prstGeom>
          <a:ln w="12700">
            <a:solidFill>
              <a:srgbClr val="01407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4" name="PA_StraightArrowConnector 4"/>
          <p:cNvCxnSpPr/>
          <p:nvPr>
            <p:custDataLst>
              <p:tags r:id="rId14"/>
            </p:custDataLst>
          </p:nvPr>
        </p:nvCxnSpPr>
        <p:spPr>
          <a:xfrm>
            <a:off x="8059999" y="4769360"/>
            <a:ext cx="979659" cy="0"/>
          </a:xfrm>
          <a:prstGeom prst="straightConnector1">
            <a:avLst/>
          </a:prstGeom>
          <a:ln w="12700">
            <a:solidFill>
              <a:srgbClr val="01407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5" name="PA_StraightArrowConnector 4"/>
          <p:cNvCxnSpPr/>
          <p:nvPr>
            <p:custDataLst>
              <p:tags r:id="rId15"/>
            </p:custDataLst>
          </p:nvPr>
        </p:nvCxnSpPr>
        <p:spPr>
          <a:xfrm>
            <a:off x="8059996" y="6025599"/>
            <a:ext cx="979659" cy="0"/>
          </a:xfrm>
          <a:prstGeom prst="straightConnector1">
            <a:avLst/>
          </a:prstGeom>
          <a:ln w="12700">
            <a:solidFill>
              <a:srgbClr val="014076"/>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6" name="arrow-on-target_68291"/>
          <p:cNvSpPr>
            <a:spLocks noChangeAspect="1"/>
          </p:cNvSpPr>
          <p:nvPr/>
        </p:nvSpPr>
        <p:spPr bwMode="auto">
          <a:xfrm>
            <a:off x="9383603" y="5729716"/>
            <a:ext cx="609685" cy="609685"/>
          </a:xfrm>
          <a:custGeom>
            <a:avLst/>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rgbClr val="0070C0"/>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lt"/>
            </a:endParaRPr>
          </a:p>
        </p:txBody>
      </p:sp>
      <p:sp>
        <p:nvSpPr>
          <p:cNvPr id="37" name="computer-service_78951"/>
          <p:cNvSpPr>
            <a:spLocks noChangeAspect="1"/>
          </p:cNvSpPr>
          <p:nvPr/>
        </p:nvSpPr>
        <p:spPr bwMode="auto">
          <a:xfrm>
            <a:off x="9383603" y="3170241"/>
            <a:ext cx="609685" cy="565858"/>
          </a:xfrm>
          <a:custGeom>
            <a:avLst/>
            <a:gdLst>
              <a:gd name="connsiteX0" fmla="*/ 288132 w 338138"/>
              <a:gd name="connsiteY0" fmla="*/ 223343 h 313831"/>
              <a:gd name="connsiteX1" fmla="*/ 279400 w 338138"/>
              <a:gd name="connsiteY1" fmla="*/ 231281 h 313831"/>
              <a:gd name="connsiteX2" fmla="*/ 288132 w 338138"/>
              <a:gd name="connsiteY2" fmla="*/ 239219 h 313831"/>
              <a:gd name="connsiteX3" fmla="*/ 296864 w 338138"/>
              <a:gd name="connsiteY3" fmla="*/ 231281 h 313831"/>
              <a:gd name="connsiteX4" fmla="*/ 288132 w 338138"/>
              <a:gd name="connsiteY4" fmla="*/ 223343 h 313831"/>
              <a:gd name="connsiteX5" fmla="*/ 261938 w 338138"/>
              <a:gd name="connsiteY5" fmla="*/ 223343 h 313831"/>
              <a:gd name="connsiteX6" fmla="*/ 254000 w 338138"/>
              <a:gd name="connsiteY6" fmla="*/ 231281 h 313831"/>
              <a:gd name="connsiteX7" fmla="*/ 261938 w 338138"/>
              <a:gd name="connsiteY7" fmla="*/ 239219 h 313831"/>
              <a:gd name="connsiteX8" fmla="*/ 269876 w 338138"/>
              <a:gd name="connsiteY8" fmla="*/ 231281 h 313831"/>
              <a:gd name="connsiteX9" fmla="*/ 261938 w 338138"/>
              <a:gd name="connsiteY9" fmla="*/ 223343 h 313831"/>
              <a:gd name="connsiteX10" fmla="*/ 116535 w 338138"/>
              <a:gd name="connsiteY10" fmla="*/ 45543 h 313831"/>
              <a:gd name="connsiteX11" fmla="*/ 141773 w 338138"/>
              <a:gd name="connsiteY11" fmla="*/ 88073 h 313831"/>
              <a:gd name="connsiteX12" fmla="*/ 108565 w 338138"/>
              <a:gd name="connsiteY12" fmla="*/ 102693 h 313831"/>
              <a:gd name="connsiteX13" fmla="*/ 87312 w 338138"/>
              <a:gd name="connsiteY13" fmla="*/ 74783 h 313831"/>
              <a:gd name="connsiteX14" fmla="*/ 116535 w 338138"/>
              <a:gd name="connsiteY14" fmla="*/ 45543 h 313831"/>
              <a:gd name="connsiteX15" fmla="*/ 254349 w 338138"/>
              <a:gd name="connsiteY15" fmla="*/ 30428 h 313831"/>
              <a:gd name="connsiteX16" fmla="*/ 275361 w 338138"/>
              <a:gd name="connsiteY16" fmla="*/ 48787 h 313831"/>
              <a:gd name="connsiteX17" fmla="*/ 255662 w 338138"/>
              <a:gd name="connsiteY17" fmla="*/ 85507 h 313831"/>
              <a:gd name="connsiteX18" fmla="*/ 266168 w 338138"/>
              <a:gd name="connsiteY18" fmla="*/ 89441 h 313831"/>
              <a:gd name="connsiteX19" fmla="*/ 289806 w 338138"/>
              <a:gd name="connsiteY19" fmla="*/ 80261 h 313831"/>
              <a:gd name="connsiteX20" fmla="*/ 287180 w 338138"/>
              <a:gd name="connsiteY20" fmla="*/ 109113 h 313831"/>
              <a:gd name="connsiteX21" fmla="*/ 225458 w 338138"/>
              <a:gd name="connsiteY21" fmla="*/ 111735 h 313831"/>
              <a:gd name="connsiteX22" fmla="*/ 92823 w 338138"/>
              <a:gd name="connsiteY22" fmla="*/ 166815 h 313831"/>
              <a:gd name="connsiteX23" fmla="*/ 75751 w 338138"/>
              <a:gd name="connsiteY23" fmla="*/ 127472 h 313831"/>
              <a:gd name="connsiteX24" fmla="*/ 208386 w 338138"/>
              <a:gd name="connsiteY24" fmla="*/ 72393 h 313831"/>
              <a:gd name="connsiteX25" fmla="*/ 242530 w 338138"/>
              <a:gd name="connsiteY25" fmla="*/ 33050 h 313831"/>
              <a:gd name="connsiteX26" fmla="*/ 254349 w 338138"/>
              <a:gd name="connsiteY26" fmla="*/ 30428 h 313831"/>
              <a:gd name="connsiteX27" fmla="*/ 186871 w 338138"/>
              <a:gd name="connsiteY27" fmla="*/ 24906 h 313831"/>
              <a:gd name="connsiteX28" fmla="*/ 231775 w 338138"/>
              <a:gd name="connsiteY28" fmla="*/ 24906 h 313831"/>
              <a:gd name="connsiteX29" fmla="*/ 207282 w 338138"/>
              <a:gd name="connsiteY29" fmla="*/ 48190 h 313831"/>
              <a:gd name="connsiteX30" fmla="*/ 201839 w 338138"/>
              <a:gd name="connsiteY30" fmla="*/ 59831 h 313831"/>
              <a:gd name="connsiteX31" fmla="*/ 184150 w 338138"/>
              <a:gd name="connsiteY31" fmla="*/ 45603 h 313831"/>
              <a:gd name="connsiteX32" fmla="*/ 186871 w 338138"/>
              <a:gd name="connsiteY32" fmla="*/ 24906 h 313831"/>
              <a:gd name="connsiteX33" fmla="*/ 18492 w 338138"/>
              <a:gd name="connsiteY33" fmla="*/ 24906 h 313831"/>
              <a:gd name="connsiteX34" fmla="*/ 43588 w 338138"/>
              <a:gd name="connsiteY34" fmla="*/ 24906 h 313831"/>
              <a:gd name="connsiteX35" fmla="*/ 46230 w 338138"/>
              <a:gd name="connsiteY35" fmla="*/ 46015 h 313831"/>
              <a:gd name="connsiteX36" fmla="*/ 29059 w 338138"/>
              <a:gd name="connsiteY36" fmla="*/ 63166 h 313831"/>
              <a:gd name="connsiteX37" fmla="*/ 31700 w 338138"/>
              <a:gd name="connsiteY37" fmla="*/ 96148 h 313831"/>
              <a:gd name="connsiteX38" fmla="*/ 31700 w 338138"/>
              <a:gd name="connsiteY38" fmla="*/ 206969 h 313831"/>
              <a:gd name="connsiteX39" fmla="*/ 39626 w 338138"/>
              <a:gd name="connsiteY39" fmla="*/ 214884 h 313831"/>
              <a:gd name="connsiteX40" fmla="*/ 298512 w 338138"/>
              <a:gd name="connsiteY40" fmla="*/ 214884 h 313831"/>
              <a:gd name="connsiteX41" fmla="*/ 306438 w 338138"/>
              <a:gd name="connsiteY41" fmla="*/ 206969 h 313831"/>
              <a:gd name="connsiteX42" fmla="*/ 306438 w 338138"/>
              <a:gd name="connsiteY42" fmla="*/ 104064 h 313831"/>
              <a:gd name="connsiteX43" fmla="*/ 306438 w 338138"/>
              <a:gd name="connsiteY43" fmla="*/ 77678 h 313831"/>
              <a:gd name="connsiteX44" fmla="*/ 274737 w 338138"/>
              <a:gd name="connsiteY44" fmla="*/ 61846 h 313831"/>
              <a:gd name="connsiteX45" fmla="*/ 281341 w 338138"/>
              <a:gd name="connsiteY45" fmla="*/ 59208 h 313831"/>
              <a:gd name="connsiteX46" fmla="*/ 280021 w 338138"/>
              <a:gd name="connsiteY46" fmla="*/ 24906 h 313831"/>
              <a:gd name="connsiteX47" fmla="*/ 319646 w 338138"/>
              <a:gd name="connsiteY47" fmla="*/ 24906 h 313831"/>
              <a:gd name="connsiteX48" fmla="*/ 338138 w 338138"/>
              <a:gd name="connsiteY48" fmla="*/ 43376 h 313831"/>
              <a:gd name="connsiteX49" fmla="*/ 338138 w 338138"/>
              <a:gd name="connsiteY49" fmla="*/ 234674 h 313831"/>
              <a:gd name="connsiteX50" fmla="*/ 319646 w 338138"/>
              <a:gd name="connsiteY50" fmla="*/ 251825 h 313831"/>
              <a:gd name="connsiteX51" fmla="*/ 200769 w 338138"/>
              <a:gd name="connsiteY51" fmla="*/ 251825 h 313831"/>
              <a:gd name="connsiteX52" fmla="*/ 216620 w 338138"/>
              <a:gd name="connsiteY52" fmla="*/ 290084 h 313831"/>
              <a:gd name="connsiteX53" fmla="*/ 224545 w 338138"/>
              <a:gd name="connsiteY53" fmla="*/ 290084 h 313831"/>
              <a:gd name="connsiteX54" fmla="*/ 235112 w 338138"/>
              <a:gd name="connsiteY54" fmla="*/ 301958 h 313831"/>
              <a:gd name="connsiteX55" fmla="*/ 224545 w 338138"/>
              <a:gd name="connsiteY55" fmla="*/ 313831 h 313831"/>
              <a:gd name="connsiteX56" fmla="*/ 113593 w 338138"/>
              <a:gd name="connsiteY56" fmla="*/ 313831 h 313831"/>
              <a:gd name="connsiteX57" fmla="*/ 103026 w 338138"/>
              <a:gd name="connsiteY57" fmla="*/ 301958 h 313831"/>
              <a:gd name="connsiteX58" fmla="*/ 113593 w 338138"/>
              <a:gd name="connsiteY58" fmla="*/ 290084 h 313831"/>
              <a:gd name="connsiteX59" fmla="*/ 121518 w 338138"/>
              <a:gd name="connsiteY59" fmla="*/ 290084 h 313831"/>
              <a:gd name="connsiteX60" fmla="*/ 137369 w 338138"/>
              <a:gd name="connsiteY60" fmla="*/ 251825 h 313831"/>
              <a:gd name="connsiteX61" fmla="*/ 18492 w 338138"/>
              <a:gd name="connsiteY61" fmla="*/ 251825 h 313831"/>
              <a:gd name="connsiteX62" fmla="*/ 0 w 338138"/>
              <a:gd name="connsiteY62" fmla="*/ 234674 h 313831"/>
              <a:gd name="connsiteX63" fmla="*/ 0 w 338138"/>
              <a:gd name="connsiteY63" fmla="*/ 43376 h 313831"/>
              <a:gd name="connsiteX64" fmla="*/ 18492 w 338138"/>
              <a:gd name="connsiteY64" fmla="*/ 24906 h 313831"/>
              <a:gd name="connsiteX65" fmla="*/ 109666 w 338138"/>
              <a:gd name="connsiteY65" fmla="*/ 1 h 313831"/>
              <a:gd name="connsiteX66" fmla="*/ 126932 w 338138"/>
              <a:gd name="connsiteY66" fmla="*/ 267 h 313831"/>
              <a:gd name="connsiteX67" fmla="*/ 133580 w 338138"/>
              <a:gd name="connsiteY67" fmla="*/ 18637 h 313831"/>
              <a:gd name="connsiteX68" fmla="*/ 144218 w 338138"/>
              <a:gd name="connsiteY68" fmla="*/ 22573 h 313831"/>
              <a:gd name="connsiteX69" fmla="*/ 177460 w 338138"/>
              <a:gd name="connsiteY69" fmla="*/ 29134 h 313831"/>
              <a:gd name="connsiteX70" fmla="*/ 168152 w 338138"/>
              <a:gd name="connsiteY70" fmla="*/ 47504 h 313831"/>
              <a:gd name="connsiteX71" fmla="*/ 173471 w 338138"/>
              <a:gd name="connsiteY71" fmla="*/ 58001 h 313831"/>
              <a:gd name="connsiteX72" fmla="*/ 192087 w 338138"/>
              <a:gd name="connsiteY72" fmla="*/ 67186 h 313831"/>
              <a:gd name="connsiteX73" fmla="*/ 154855 w 338138"/>
              <a:gd name="connsiteY73" fmla="*/ 82931 h 313831"/>
              <a:gd name="connsiteX74" fmla="*/ 116294 w 338138"/>
              <a:gd name="connsiteY74" fmla="*/ 35695 h 313831"/>
              <a:gd name="connsiteX75" fmla="*/ 76403 w 338138"/>
              <a:gd name="connsiteY75" fmla="*/ 75059 h 313831"/>
              <a:gd name="connsiteX76" fmla="*/ 93689 w 338138"/>
              <a:gd name="connsiteY76" fmla="*/ 107862 h 313831"/>
              <a:gd name="connsiteX77" fmla="*/ 59117 w 338138"/>
              <a:gd name="connsiteY77" fmla="*/ 124919 h 313831"/>
              <a:gd name="connsiteX78" fmla="*/ 63106 w 338138"/>
              <a:gd name="connsiteY78" fmla="*/ 102613 h 313831"/>
              <a:gd name="connsiteX79" fmla="*/ 59117 w 338138"/>
              <a:gd name="connsiteY79" fmla="*/ 92116 h 313831"/>
              <a:gd name="connsiteX80" fmla="*/ 40501 w 338138"/>
              <a:gd name="connsiteY80" fmla="*/ 63249 h 313831"/>
              <a:gd name="connsiteX81" fmla="*/ 59117 w 338138"/>
              <a:gd name="connsiteY81" fmla="*/ 58001 h 313831"/>
              <a:gd name="connsiteX82" fmla="*/ 63106 w 338138"/>
              <a:gd name="connsiteY82" fmla="*/ 47504 h 313831"/>
              <a:gd name="connsiteX83" fmla="*/ 69755 w 338138"/>
              <a:gd name="connsiteY83" fmla="*/ 14700 h 313831"/>
              <a:gd name="connsiteX84" fmla="*/ 88370 w 338138"/>
              <a:gd name="connsiteY84" fmla="*/ 22573 h 313831"/>
              <a:gd name="connsiteX85" fmla="*/ 99008 w 338138"/>
              <a:gd name="connsiteY85" fmla="*/ 18637 h 313831"/>
              <a:gd name="connsiteX86" fmla="*/ 109666 w 338138"/>
              <a:gd name="connsiteY86" fmla="*/ 1 h 313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38138" h="313831">
                <a:moveTo>
                  <a:pt x="288132" y="223343"/>
                </a:moveTo>
                <a:cubicBezTo>
                  <a:pt x="283309" y="223343"/>
                  <a:pt x="279400" y="226897"/>
                  <a:pt x="279400" y="231281"/>
                </a:cubicBezTo>
                <a:cubicBezTo>
                  <a:pt x="279400" y="235665"/>
                  <a:pt x="283309" y="239219"/>
                  <a:pt x="288132" y="239219"/>
                </a:cubicBezTo>
                <a:cubicBezTo>
                  <a:pt x="292955" y="239219"/>
                  <a:pt x="296864" y="235665"/>
                  <a:pt x="296864" y="231281"/>
                </a:cubicBezTo>
                <a:cubicBezTo>
                  <a:pt x="296864" y="226897"/>
                  <a:pt x="292955" y="223343"/>
                  <a:pt x="288132" y="223343"/>
                </a:cubicBezTo>
                <a:close/>
                <a:moveTo>
                  <a:pt x="261938" y="223343"/>
                </a:moveTo>
                <a:cubicBezTo>
                  <a:pt x="257554" y="223343"/>
                  <a:pt x="254000" y="226897"/>
                  <a:pt x="254000" y="231281"/>
                </a:cubicBezTo>
                <a:cubicBezTo>
                  <a:pt x="254000" y="235665"/>
                  <a:pt x="257554" y="239219"/>
                  <a:pt x="261938" y="239219"/>
                </a:cubicBezTo>
                <a:cubicBezTo>
                  <a:pt x="266322" y="239219"/>
                  <a:pt x="269876" y="235665"/>
                  <a:pt x="269876" y="231281"/>
                </a:cubicBezTo>
                <a:cubicBezTo>
                  <a:pt x="269876" y="226897"/>
                  <a:pt x="266322" y="223343"/>
                  <a:pt x="261938" y="223343"/>
                </a:cubicBezTo>
                <a:close/>
                <a:moveTo>
                  <a:pt x="116535" y="45543"/>
                </a:moveTo>
                <a:cubicBezTo>
                  <a:pt x="137788" y="45543"/>
                  <a:pt x="152400" y="68137"/>
                  <a:pt x="141773" y="88073"/>
                </a:cubicBezTo>
                <a:cubicBezTo>
                  <a:pt x="141773" y="88073"/>
                  <a:pt x="141773" y="88073"/>
                  <a:pt x="108565" y="102693"/>
                </a:cubicBezTo>
                <a:cubicBezTo>
                  <a:pt x="96610" y="98706"/>
                  <a:pt x="87312" y="88073"/>
                  <a:pt x="87312" y="74783"/>
                </a:cubicBezTo>
                <a:cubicBezTo>
                  <a:pt x="87312" y="58834"/>
                  <a:pt x="100595" y="45543"/>
                  <a:pt x="116535" y="45543"/>
                </a:cubicBezTo>
                <a:close/>
                <a:moveTo>
                  <a:pt x="254349" y="30428"/>
                </a:moveTo>
                <a:cubicBezTo>
                  <a:pt x="271421" y="26493"/>
                  <a:pt x="284553" y="44853"/>
                  <a:pt x="275361" y="48787"/>
                </a:cubicBezTo>
                <a:cubicBezTo>
                  <a:pt x="242530" y="63213"/>
                  <a:pt x="243843" y="57967"/>
                  <a:pt x="255662" y="85507"/>
                </a:cubicBezTo>
                <a:cubicBezTo>
                  <a:pt x="256976" y="89441"/>
                  <a:pt x="262228" y="92064"/>
                  <a:pt x="266168" y="89441"/>
                </a:cubicBezTo>
                <a:cubicBezTo>
                  <a:pt x="266168" y="89441"/>
                  <a:pt x="266168" y="89441"/>
                  <a:pt x="289806" y="80261"/>
                </a:cubicBezTo>
                <a:cubicBezTo>
                  <a:pt x="297685" y="76327"/>
                  <a:pt x="301625" y="99933"/>
                  <a:pt x="287180" y="109113"/>
                </a:cubicBezTo>
                <a:cubicBezTo>
                  <a:pt x="260915" y="124850"/>
                  <a:pt x="259602" y="123538"/>
                  <a:pt x="225458" y="111735"/>
                </a:cubicBezTo>
                <a:cubicBezTo>
                  <a:pt x="225458" y="111735"/>
                  <a:pt x="225458" y="111735"/>
                  <a:pt x="92823" y="166815"/>
                </a:cubicBezTo>
                <a:cubicBezTo>
                  <a:pt x="66559" y="177306"/>
                  <a:pt x="50800" y="137964"/>
                  <a:pt x="75751" y="127472"/>
                </a:cubicBezTo>
                <a:cubicBezTo>
                  <a:pt x="75751" y="127472"/>
                  <a:pt x="75751" y="127472"/>
                  <a:pt x="208386" y="72393"/>
                </a:cubicBezTo>
                <a:cubicBezTo>
                  <a:pt x="217579" y="54033"/>
                  <a:pt x="222832" y="38296"/>
                  <a:pt x="242530" y="33050"/>
                </a:cubicBezTo>
                <a:cubicBezTo>
                  <a:pt x="242530" y="33050"/>
                  <a:pt x="242530" y="33050"/>
                  <a:pt x="254349" y="30428"/>
                </a:cubicBezTo>
                <a:close/>
                <a:moveTo>
                  <a:pt x="186871" y="24906"/>
                </a:moveTo>
                <a:cubicBezTo>
                  <a:pt x="186871" y="24906"/>
                  <a:pt x="186871" y="24906"/>
                  <a:pt x="231775" y="24906"/>
                </a:cubicBezTo>
                <a:cubicBezTo>
                  <a:pt x="220889" y="30080"/>
                  <a:pt x="212725" y="37841"/>
                  <a:pt x="207282" y="48190"/>
                </a:cubicBezTo>
                <a:cubicBezTo>
                  <a:pt x="207282" y="48190"/>
                  <a:pt x="207282" y="48190"/>
                  <a:pt x="201839" y="59831"/>
                </a:cubicBezTo>
                <a:cubicBezTo>
                  <a:pt x="200479" y="52070"/>
                  <a:pt x="193675" y="45603"/>
                  <a:pt x="184150" y="45603"/>
                </a:cubicBezTo>
                <a:cubicBezTo>
                  <a:pt x="190954" y="39135"/>
                  <a:pt x="190954" y="31374"/>
                  <a:pt x="186871" y="24906"/>
                </a:cubicBezTo>
                <a:close/>
                <a:moveTo>
                  <a:pt x="18492" y="24906"/>
                </a:moveTo>
                <a:cubicBezTo>
                  <a:pt x="18492" y="24906"/>
                  <a:pt x="18492" y="24906"/>
                  <a:pt x="43588" y="24906"/>
                </a:cubicBezTo>
                <a:cubicBezTo>
                  <a:pt x="39626" y="32822"/>
                  <a:pt x="40946" y="40738"/>
                  <a:pt x="46230" y="46015"/>
                </a:cubicBezTo>
                <a:cubicBezTo>
                  <a:pt x="36984" y="46015"/>
                  <a:pt x="29059" y="53931"/>
                  <a:pt x="29059" y="63166"/>
                </a:cubicBezTo>
                <a:cubicBezTo>
                  <a:pt x="29059" y="82955"/>
                  <a:pt x="27738" y="89552"/>
                  <a:pt x="31700" y="96148"/>
                </a:cubicBezTo>
                <a:cubicBezTo>
                  <a:pt x="31700" y="96148"/>
                  <a:pt x="31700" y="96148"/>
                  <a:pt x="31700" y="206969"/>
                </a:cubicBezTo>
                <a:cubicBezTo>
                  <a:pt x="31700" y="210926"/>
                  <a:pt x="35663" y="214884"/>
                  <a:pt x="39626" y="214884"/>
                </a:cubicBezTo>
                <a:cubicBezTo>
                  <a:pt x="39626" y="214884"/>
                  <a:pt x="39626" y="214884"/>
                  <a:pt x="298512" y="214884"/>
                </a:cubicBezTo>
                <a:cubicBezTo>
                  <a:pt x="302475" y="214884"/>
                  <a:pt x="306438" y="210926"/>
                  <a:pt x="306438" y="206969"/>
                </a:cubicBezTo>
                <a:cubicBezTo>
                  <a:pt x="306438" y="206969"/>
                  <a:pt x="306438" y="206969"/>
                  <a:pt x="306438" y="104064"/>
                </a:cubicBezTo>
                <a:cubicBezTo>
                  <a:pt x="309079" y="96148"/>
                  <a:pt x="310400" y="86913"/>
                  <a:pt x="306438" y="77678"/>
                </a:cubicBezTo>
                <a:cubicBezTo>
                  <a:pt x="306438" y="59208"/>
                  <a:pt x="306438" y="61846"/>
                  <a:pt x="274737" y="61846"/>
                </a:cubicBezTo>
                <a:cubicBezTo>
                  <a:pt x="274737" y="61846"/>
                  <a:pt x="274737" y="61846"/>
                  <a:pt x="281341" y="59208"/>
                </a:cubicBezTo>
                <a:cubicBezTo>
                  <a:pt x="293229" y="53931"/>
                  <a:pt x="294550" y="38099"/>
                  <a:pt x="280021" y="24906"/>
                </a:cubicBezTo>
                <a:cubicBezTo>
                  <a:pt x="280021" y="24906"/>
                  <a:pt x="280021" y="24906"/>
                  <a:pt x="319646" y="24906"/>
                </a:cubicBezTo>
                <a:cubicBezTo>
                  <a:pt x="330213" y="24906"/>
                  <a:pt x="338138" y="34141"/>
                  <a:pt x="338138" y="43376"/>
                </a:cubicBezTo>
                <a:cubicBezTo>
                  <a:pt x="338138" y="43376"/>
                  <a:pt x="338138" y="43376"/>
                  <a:pt x="338138" y="234674"/>
                </a:cubicBezTo>
                <a:cubicBezTo>
                  <a:pt x="338138" y="243909"/>
                  <a:pt x="330213" y="251825"/>
                  <a:pt x="319646" y="251825"/>
                </a:cubicBezTo>
                <a:cubicBezTo>
                  <a:pt x="319646" y="251825"/>
                  <a:pt x="319646" y="251825"/>
                  <a:pt x="200769" y="251825"/>
                </a:cubicBezTo>
                <a:cubicBezTo>
                  <a:pt x="200769" y="251825"/>
                  <a:pt x="200769" y="251825"/>
                  <a:pt x="216620" y="290084"/>
                </a:cubicBezTo>
                <a:cubicBezTo>
                  <a:pt x="216620" y="290084"/>
                  <a:pt x="216620" y="290084"/>
                  <a:pt x="224545" y="290084"/>
                </a:cubicBezTo>
                <a:cubicBezTo>
                  <a:pt x="229828" y="290084"/>
                  <a:pt x="235112" y="295361"/>
                  <a:pt x="235112" y="301958"/>
                </a:cubicBezTo>
                <a:cubicBezTo>
                  <a:pt x="235112" y="308554"/>
                  <a:pt x="229828" y="313831"/>
                  <a:pt x="224545" y="313831"/>
                </a:cubicBezTo>
                <a:cubicBezTo>
                  <a:pt x="224545" y="313831"/>
                  <a:pt x="224545" y="313831"/>
                  <a:pt x="113593" y="313831"/>
                </a:cubicBezTo>
                <a:cubicBezTo>
                  <a:pt x="108310" y="313831"/>
                  <a:pt x="103026" y="308554"/>
                  <a:pt x="103026" y="301958"/>
                </a:cubicBezTo>
                <a:cubicBezTo>
                  <a:pt x="103026" y="295361"/>
                  <a:pt x="108310" y="290084"/>
                  <a:pt x="113593" y="290084"/>
                </a:cubicBezTo>
                <a:cubicBezTo>
                  <a:pt x="113593" y="290084"/>
                  <a:pt x="113593" y="290084"/>
                  <a:pt x="121518" y="290084"/>
                </a:cubicBezTo>
                <a:cubicBezTo>
                  <a:pt x="121518" y="290084"/>
                  <a:pt x="121518" y="290084"/>
                  <a:pt x="137369" y="251825"/>
                </a:cubicBezTo>
                <a:cubicBezTo>
                  <a:pt x="137369" y="251825"/>
                  <a:pt x="137369" y="251825"/>
                  <a:pt x="18492" y="251825"/>
                </a:cubicBezTo>
                <a:cubicBezTo>
                  <a:pt x="7925" y="251825"/>
                  <a:pt x="0" y="243909"/>
                  <a:pt x="0" y="234674"/>
                </a:cubicBezTo>
                <a:cubicBezTo>
                  <a:pt x="0" y="234674"/>
                  <a:pt x="0" y="234674"/>
                  <a:pt x="0" y="43376"/>
                </a:cubicBezTo>
                <a:cubicBezTo>
                  <a:pt x="0" y="34141"/>
                  <a:pt x="7925" y="24906"/>
                  <a:pt x="18492" y="24906"/>
                </a:cubicBezTo>
                <a:close/>
                <a:moveTo>
                  <a:pt x="109666" y="1"/>
                </a:moveTo>
                <a:cubicBezTo>
                  <a:pt x="113718" y="21"/>
                  <a:pt x="119286" y="267"/>
                  <a:pt x="126932" y="267"/>
                </a:cubicBezTo>
                <a:cubicBezTo>
                  <a:pt x="134910" y="267"/>
                  <a:pt x="133580" y="10764"/>
                  <a:pt x="133580" y="18637"/>
                </a:cubicBezTo>
                <a:cubicBezTo>
                  <a:pt x="137569" y="19949"/>
                  <a:pt x="140229" y="21261"/>
                  <a:pt x="144218" y="22573"/>
                </a:cubicBezTo>
                <a:cubicBezTo>
                  <a:pt x="158845" y="6828"/>
                  <a:pt x="154855" y="8140"/>
                  <a:pt x="177460" y="29134"/>
                </a:cubicBezTo>
                <a:cubicBezTo>
                  <a:pt x="182779" y="35695"/>
                  <a:pt x="174801" y="40943"/>
                  <a:pt x="168152" y="47504"/>
                </a:cubicBezTo>
                <a:cubicBezTo>
                  <a:pt x="170812" y="50128"/>
                  <a:pt x="172142" y="54065"/>
                  <a:pt x="173471" y="58001"/>
                </a:cubicBezTo>
                <a:cubicBezTo>
                  <a:pt x="188098" y="58001"/>
                  <a:pt x="192087" y="55377"/>
                  <a:pt x="192087" y="67186"/>
                </a:cubicBezTo>
                <a:cubicBezTo>
                  <a:pt x="192087" y="67186"/>
                  <a:pt x="192087" y="67186"/>
                  <a:pt x="154855" y="82931"/>
                </a:cubicBezTo>
                <a:cubicBezTo>
                  <a:pt x="160174" y="58001"/>
                  <a:pt x="140229" y="35695"/>
                  <a:pt x="116294" y="35695"/>
                </a:cubicBezTo>
                <a:cubicBezTo>
                  <a:pt x="93689" y="35695"/>
                  <a:pt x="76403" y="52753"/>
                  <a:pt x="76403" y="75059"/>
                </a:cubicBezTo>
                <a:cubicBezTo>
                  <a:pt x="76403" y="88180"/>
                  <a:pt x="83052" y="101301"/>
                  <a:pt x="93689" y="107862"/>
                </a:cubicBezTo>
                <a:cubicBezTo>
                  <a:pt x="73744" y="117047"/>
                  <a:pt x="67095" y="118359"/>
                  <a:pt x="59117" y="124919"/>
                </a:cubicBezTo>
                <a:cubicBezTo>
                  <a:pt x="48479" y="114422"/>
                  <a:pt x="49809" y="115734"/>
                  <a:pt x="63106" y="102613"/>
                </a:cubicBezTo>
                <a:cubicBezTo>
                  <a:pt x="61776" y="98677"/>
                  <a:pt x="60447" y="96053"/>
                  <a:pt x="59117" y="92116"/>
                </a:cubicBezTo>
                <a:cubicBezTo>
                  <a:pt x="36512" y="92116"/>
                  <a:pt x="40501" y="94740"/>
                  <a:pt x="40501" y="63249"/>
                </a:cubicBezTo>
                <a:cubicBezTo>
                  <a:pt x="40501" y="55377"/>
                  <a:pt x="51139" y="58001"/>
                  <a:pt x="59117" y="58001"/>
                </a:cubicBezTo>
                <a:cubicBezTo>
                  <a:pt x="60447" y="54065"/>
                  <a:pt x="61776" y="50128"/>
                  <a:pt x="63106" y="47504"/>
                </a:cubicBezTo>
                <a:cubicBezTo>
                  <a:pt x="47150" y="31759"/>
                  <a:pt x="48479" y="35695"/>
                  <a:pt x="69755" y="14700"/>
                </a:cubicBezTo>
                <a:cubicBezTo>
                  <a:pt x="76403" y="8140"/>
                  <a:pt x="81722" y="17325"/>
                  <a:pt x="88370" y="22573"/>
                </a:cubicBezTo>
                <a:cubicBezTo>
                  <a:pt x="91030" y="21261"/>
                  <a:pt x="95019" y="19949"/>
                  <a:pt x="99008" y="18637"/>
                </a:cubicBezTo>
                <a:cubicBezTo>
                  <a:pt x="99008" y="1907"/>
                  <a:pt x="97512" y="-61"/>
                  <a:pt x="109666" y="1"/>
                </a:cubicBezTo>
                <a:close/>
              </a:path>
            </a:pathLst>
          </a:custGeom>
          <a:solidFill>
            <a:srgbClr val="0070C0"/>
          </a:solidFill>
          <a:ln>
            <a:noFill/>
          </a:ln>
        </p:spPr>
        <p:txBody>
          <a:bodyPr/>
          <a:lstStyle/>
          <a:p>
            <a:endParaRPr lang="zh-CN" altLang="en-US"/>
          </a:p>
        </p:txBody>
      </p:sp>
      <p:sp>
        <p:nvSpPr>
          <p:cNvPr id="38" name="graph_134483"/>
          <p:cNvSpPr>
            <a:spLocks noChangeAspect="1"/>
          </p:cNvSpPr>
          <p:nvPr/>
        </p:nvSpPr>
        <p:spPr bwMode="auto">
          <a:xfrm>
            <a:off x="9383603" y="4377908"/>
            <a:ext cx="609685" cy="555432"/>
          </a:xfrm>
          <a:custGeom>
            <a:avLst/>
            <a:gdLst>
              <a:gd name="connsiteX0" fmla="*/ 260506 w 331788"/>
              <a:gd name="connsiteY0" fmla="*/ 76839 h 302264"/>
              <a:gd name="connsiteX1" fmla="*/ 326604 w 331788"/>
              <a:gd name="connsiteY1" fmla="*/ 76839 h 302264"/>
              <a:gd name="connsiteX2" fmla="*/ 326604 w 331788"/>
              <a:gd name="connsiteY2" fmla="*/ 291959 h 302264"/>
              <a:gd name="connsiteX3" fmla="*/ 331788 w 331788"/>
              <a:gd name="connsiteY3" fmla="*/ 297111 h 302264"/>
              <a:gd name="connsiteX4" fmla="*/ 326604 w 331788"/>
              <a:gd name="connsiteY4" fmla="*/ 302264 h 302264"/>
              <a:gd name="connsiteX5" fmla="*/ 5184 w 331788"/>
              <a:gd name="connsiteY5" fmla="*/ 302264 h 302264"/>
              <a:gd name="connsiteX6" fmla="*/ 0 w 331788"/>
              <a:gd name="connsiteY6" fmla="*/ 297111 h 302264"/>
              <a:gd name="connsiteX7" fmla="*/ 5184 w 331788"/>
              <a:gd name="connsiteY7" fmla="*/ 291959 h 302264"/>
              <a:gd name="connsiteX8" fmla="*/ 11664 w 331788"/>
              <a:gd name="connsiteY8" fmla="*/ 291959 h 302264"/>
              <a:gd name="connsiteX9" fmla="*/ 11664 w 331788"/>
              <a:gd name="connsiteY9" fmla="*/ 214670 h 302264"/>
              <a:gd name="connsiteX10" fmla="*/ 77763 w 331788"/>
              <a:gd name="connsiteY10" fmla="*/ 214670 h 302264"/>
              <a:gd name="connsiteX11" fmla="*/ 77763 w 331788"/>
              <a:gd name="connsiteY11" fmla="*/ 291959 h 302264"/>
              <a:gd name="connsiteX12" fmla="*/ 94612 w 331788"/>
              <a:gd name="connsiteY12" fmla="*/ 291959 h 302264"/>
              <a:gd name="connsiteX13" fmla="*/ 94612 w 331788"/>
              <a:gd name="connsiteY13" fmla="*/ 165721 h 302264"/>
              <a:gd name="connsiteX14" fmla="*/ 160710 w 331788"/>
              <a:gd name="connsiteY14" fmla="*/ 165721 h 302264"/>
              <a:gd name="connsiteX15" fmla="*/ 160710 w 331788"/>
              <a:gd name="connsiteY15" fmla="*/ 291959 h 302264"/>
              <a:gd name="connsiteX16" fmla="*/ 177559 w 331788"/>
              <a:gd name="connsiteY16" fmla="*/ 291959 h 302264"/>
              <a:gd name="connsiteX17" fmla="*/ 177559 w 331788"/>
              <a:gd name="connsiteY17" fmla="*/ 121924 h 302264"/>
              <a:gd name="connsiteX18" fmla="*/ 243657 w 331788"/>
              <a:gd name="connsiteY18" fmla="*/ 121924 h 302264"/>
              <a:gd name="connsiteX19" fmla="*/ 243657 w 331788"/>
              <a:gd name="connsiteY19" fmla="*/ 291959 h 302264"/>
              <a:gd name="connsiteX20" fmla="*/ 260506 w 331788"/>
              <a:gd name="connsiteY20" fmla="*/ 291959 h 302264"/>
              <a:gd name="connsiteX21" fmla="*/ 260506 w 331788"/>
              <a:gd name="connsiteY21" fmla="*/ 76839 h 302264"/>
              <a:gd name="connsiteX22" fmla="*/ 212230 w 331788"/>
              <a:gd name="connsiteY22" fmla="*/ 334 h 302264"/>
              <a:gd name="connsiteX23" fmla="*/ 259954 w 331788"/>
              <a:gd name="connsiteY23" fmla="*/ 4179 h 302264"/>
              <a:gd name="connsiteX24" fmla="*/ 261244 w 331788"/>
              <a:gd name="connsiteY24" fmla="*/ 5460 h 302264"/>
              <a:gd name="connsiteX25" fmla="*/ 262534 w 331788"/>
              <a:gd name="connsiteY25" fmla="*/ 5460 h 302264"/>
              <a:gd name="connsiteX26" fmla="*/ 263823 w 331788"/>
              <a:gd name="connsiteY26" fmla="*/ 6742 h 302264"/>
              <a:gd name="connsiteX27" fmla="*/ 263823 w 331788"/>
              <a:gd name="connsiteY27" fmla="*/ 8024 h 302264"/>
              <a:gd name="connsiteX28" fmla="*/ 265113 w 331788"/>
              <a:gd name="connsiteY28" fmla="*/ 8024 h 302264"/>
              <a:gd name="connsiteX29" fmla="*/ 265113 w 331788"/>
              <a:gd name="connsiteY29" fmla="*/ 9305 h 302264"/>
              <a:gd name="connsiteX30" fmla="*/ 265113 w 331788"/>
              <a:gd name="connsiteY30" fmla="*/ 10587 h 302264"/>
              <a:gd name="connsiteX31" fmla="*/ 265113 w 331788"/>
              <a:gd name="connsiteY31" fmla="*/ 11869 h 302264"/>
              <a:gd name="connsiteX32" fmla="*/ 263823 w 331788"/>
              <a:gd name="connsiteY32" fmla="*/ 11869 h 302264"/>
              <a:gd name="connsiteX33" fmla="*/ 244476 w 331788"/>
              <a:gd name="connsiteY33" fmla="*/ 55445 h 302264"/>
              <a:gd name="connsiteX34" fmla="*/ 239316 w 331788"/>
              <a:gd name="connsiteY34" fmla="*/ 58008 h 302264"/>
              <a:gd name="connsiteX35" fmla="*/ 238026 w 331788"/>
              <a:gd name="connsiteY35" fmla="*/ 58008 h 302264"/>
              <a:gd name="connsiteX36" fmla="*/ 234157 w 331788"/>
              <a:gd name="connsiteY36" fmla="*/ 50318 h 302264"/>
              <a:gd name="connsiteX37" fmla="*/ 247055 w 331788"/>
              <a:gd name="connsiteY37" fmla="*/ 23403 h 302264"/>
              <a:gd name="connsiteX38" fmla="*/ 47129 w 331788"/>
              <a:gd name="connsiteY38" fmla="*/ 137470 h 302264"/>
              <a:gd name="connsiteX39" fmla="*/ 44549 w 331788"/>
              <a:gd name="connsiteY39" fmla="*/ 138752 h 302264"/>
              <a:gd name="connsiteX40" fmla="*/ 40680 w 331788"/>
              <a:gd name="connsiteY40" fmla="*/ 136189 h 302264"/>
              <a:gd name="connsiteX41" fmla="*/ 41970 w 331788"/>
              <a:gd name="connsiteY41" fmla="*/ 128499 h 302264"/>
              <a:gd name="connsiteX42" fmla="*/ 241896 w 331788"/>
              <a:gd name="connsiteY42" fmla="*/ 13150 h 302264"/>
              <a:gd name="connsiteX43" fmla="*/ 212230 w 331788"/>
              <a:gd name="connsiteY43" fmla="*/ 10587 h 302264"/>
              <a:gd name="connsiteX44" fmla="*/ 207070 w 331788"/>
              <a:gd name="connsiteY44" fmla="*/ 5460 h 302264"/>
              <a:gd name="connsiteX45" fmla="*/ 212230 w 331788"/>
              <a:gd name="connsiteY45" fmla="*/ 334 h 302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31788" h="302264">
                <a:moveTo>
                  <a:pt x="260506" y="76839"/>
                </a:moveTo>
                <a:cubicBezTo>
                  <a:pt x="260506" y="76839"/>
                  <a:pt x="260506" y="76839"/>
                  <a:pt x="326604" y="76839"/>
                </a:cubicBezTo>
                <a:cubicBezTo>
                  <a:pt x="326604" y="76839"/>
                  <a:pt x="326604" y="76839"/>
                  <a:pt x="326604" y="291959"/>
                </a:cubicBezTo>
                <a:cubicBezTo>
                  <a:pt x="329196" y="291959"/>
                  <a:pt x="331788" y="294535"/>
                  <a:pt x="331788" y="297111"/>
                </a:cubicBezTo>
                <a:cubicBezTo>
                  <a:pt x="331788" y="299688"/>
                  <a:pt x="329196" y="302264"/>
                  <a:pt x="326604" y="302264"/>
                </a:cubicBezTo>
                <a:cubicBezTo>
                  <a:pt x="326604" y="302264"/>
                  <a:pt x="326604" y="302264"/>
                  <a:pt x="5184" y="302264"/>
                </a:cubicBezTo>
                <a:cubicBezTo>
                  <a:pt x="2592" y="302264"/>
                  <a:pt x="0" y="299688"/>
                  <a:pt x="0" y="297111"/>
                </a:cubicBezTo>
                <a:cubicBezTo>
                  <a:pt x="0" y="294535"/>
                  <a:pt x="2592" y="291959"/>
                  <a:pt x="5184" y="291959"/>
                </a:cubicBezTo>
                <a:cubicBezTo>
                  <a:pt x="5184" y="291959"/>
                  <a:pt x="5184" y="291959"/>
                  <a:pt x="11664" y="291959"/>
                </a:cubicBezTo>
                <a:cubicBezTo>
                  <a:pt x="11664" y="291959"/>
                  <a:pt x="11664" y="291959"/>
                  <a:pt x="11664" y="214670"/>
                </a:cubicBezTo>
                <a:cubicBezTo>
                  <a:pt x="11664" y="214670"/>
                  <a:pt x="11664" y="214670"/>
                  <a:pt x="77763" y="214670"/>
                </a:cubicBezTo>
                <a:cubicBezTo>
                  <a:pt x="77763" y="214670"/>
                  <a:pt x="77763" y="214670"/>
                  <a:pt x="77763" y="291959"/>
                </a:cubicBezTo>
                <a:cubicBezTo>
                  <a:pt x="77763" y="291959"/>
                  <a:pt x="77763" y="291959"/>
                  <a:pt x="94612" y="291959"/>
                </a:cubicBezTo>
                <a:cubicBezTo>
                  <a:pt x="94612" y="291959"/>
                  <a:pt x="94612" y="291959"/>
                  <a:pt x="94612" y="165721"/>
                </a:cubicBezTo>
                <a:cubicBezTo>
                  <a:pt x="94612" y="165721"/>
                  <a:pt x="94612" y="165721"/>
                  <a:pt x="160710" y="165721"/>
                </a:cubicBezTo>
                <a:cubicBezTo>
                  <a:pt x="160710" y="165721"/>
                  <a:pt x="160710" y="165721"/>
                  <a:pt x="160710" y="291959"/>
                </a:cubicBezTo>
                <a:cubicBezTo>
                  <a:pt x="160710" y="291959"/>
                  <a:pt x="160710" y="291959"/>
                  <a:pt x="177559" y="291959"/>
                </a:cubicBezTo>
                <a:cubicBezTo>
                  <a:pt x="177559" y="291959"/>
                  <a:pt x="177559" y="291959"/>
                  <a:pt x="177559" y="121924"/>
                </a:cubicBezTo>
                <a:cubicBezTo>
                  <a:pt x="177559" y="121924"/>
                  <a:pt x="177559" y="121924"/>
                  <a:pt x="243657" y="121924"/>
                </a:cubicBezTo>
                <a:cubicBezTo>
                  <a:pt x="243657" y="121924"/>
                  <a:pt x="243657" y="121924"/>
                  <a:pt x="243657" y="291959"/>
                </a:cubicBezTo>
                <a:cubicBezTo>
                  <a:pt x="243657" y="291959"/>
                  <a:pt x="243657" y="291959"/>
                  <a:pt x="260506" y="291959"/>
                </a:cubicBezTo>
                <a:cubicBezTo>
                  <a:pt x="260506" y="291959"/>
                  <a:pt x="260506" y="291959"/>
                  <a:pt x="260506" y="76839"/>
                </a:cubicBezTo>
                <a:close/>
                <a:moveTo>
                  <a:pt x="212230" y="334"/>
                </a:moveTo>
                <a:cubicBezTo>
                  <a:pt x="212230" y="334"/>
                  <a:pt x="212230" y="334"/>
                  <a:pt x="259954" y="4179"/>
                </a:cubicBezTo>
                <a:cubicBezTo>
                  <a:pt x="259954" y="4179"/>
                  <a:pt x="261244" y="4179"/>
                  <a:pt x="261244" y="5460"/>
                </a:cubicBezTo>
                <a:cubicBezTo>
                  <a:pt x="262534" y="5460"/>
                  <a:pt x="262534" y="5460"/>
                  <a:pt x="262534" y="5460"/>
                </a:cubicBezTo>
                <a:cubicBezTo>
                  <a:pt x="262534" y="5460"/>
                  <a:pt x="263823" y="6742"/>
                  <a:pt x="263823" y="6742"/>
                </a:cubicBezTo>
                <a:cubicBezTo>
                  <a:pt x="263823" y="6742"/>
                  <a:pt x="263823" y="8024"/>
                  <a:pt x="263823" y="8024"/>
                </a:cubicBezTo>
                <a:cubicBezTo>
                  <a:pt x="263823" y="8024"/>
                  <a:pt x="265113" y="8024"/>
                  <a:pt x="265113" y="8024"/>
                </a:cubicBezTo>
                <a:cubicBezTo>
                  <a:pt x="265113" y="8024"/>
                  <a:pt x="265113" y="8024"/>
                  <a:pt x="265113" y="9305"/>
                </a:cubicBezTo>
                <a:cubicBezTo>
                  <a:pt x="265113" y="9305"/>
                  <a:pt x="265113" y="10587"/>
                  <a:pt x="265113" y="10587"/>
                </a:cubicBezTo>
                <a:cubicBezTo>
                  <a:pt x="265113" y="10587"/>
                  <a:pt x="265113" y="11869"/>
                  <a:pt x="265113" y="11869"/>
                </a:cubicBezTo>
                <a:cubicBezTo>
                  <a:pt x="263823" y="11869"/>
                  <a:pt x="263823" y="11869"/>
                  <a:pt x="263823" y="11869"/>
                </a:cubicBezTo>
                <a:cubicBezTo>
                  <a:pt x="263823" y="11869"/>
                  <a:pt x="263823" y="11869"/>
                  <a:pt x="244476" y="55445"/>
                </a:cubicBezTo>
                <a:cubicBezTo>
                  <a:pt x="244476" y="56726"/>
                  <a:pt x="241896" y="58008"/>
                  <a:pt x="239316" y="58008"/>
                </a:cubicBezTo>
                <a:cubicBezTo>
                  <a:pt x="239316" y="58008"/>
                  <a:pt x="238026" y="58008"/>
                  <a:pt x="238026" y="58008"/>
                </a:cubicBezTo>
                <a:cubicBezTo>
                  <a:pt x="234157" y="56726"/>
                  <a:pt x="232867" y="52881"/>
                  <a:pt x="234157" y="50318"/>
                </a:cubicBezTo>
                <a:cubicBezTo>
                  <a:pt x="234157" y="50318"/>
                  <a:pt x="234157" y="50318"/>
                  <a:pt x="247055" y="23403"/>
                </a:cubicBezTo>
                <a:cubicBezTo>
                  <a:pt x="247055" y="23403"/>
                  <a:pt x="247055" y="23403"/>
                  <a:pt x="47129" y="137470"/>
                </a:cubicBezTo>
                <a:cubicBezTo>
                  <a:pt x="47129" y="138752"/>
                  <a:pt x="45839" y="138752"/>
                  <a:pt x="44549" y="138752"/>
                </a:cubicBezTo>
                <a:cubicBezTo>
                  <a:pt x="43260" y="138752"/>
                  <a:pt x="40680" y="137470"/>
                  <a:pt x="40680" y="136189"/>
                </a:cubicBezTo>
                <a:cubicBezTo>
                  <a:pt x="38100" y="133625"/>
                  <a:pt x="39390" y="129780"/>
                  <a:pt x="41970" y="128499"/>
                </a:cubicBezTo>
                <a:cubicBezTo>
                  <a:pt x="41970" y="128499"/>
                  <a:pt x="41970" y="128499"/>
                  <a:pt x="241896" y="13150"/>
                </a:cubicBezTo>
                <a:cubicBezTo>
                  <a:pt x="241896" y="13150"/>
                  <a:pt x="241896" y="13150"/>
                  <a:pt x="212230" y="10587"/>
                </a:cubicBezTo>
                <a:cubicBezTo>
                  <a:pt x="208360" y="10587"/>
                  <a:pt x="207070" y="8024"/>
                  <a:pt x="207070" y="5460"/>
                </a:cubicBezTo>
                <a:cubicBezTo>
                  <a:pt x="207070" y="1615"/>
                  <a:pt x="209650" y="-948"/>
                  <a:pt x="212230" y="334"/>
                </a:cubicBezTo>
                <a:close/>
              </a:path>
            </a:pathLst>
          </a:custGeom>
          <a:solidFill>
            <a:srgbClr val="0070C0"/>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71880" y="909955"/>
            <a:ext cx="10046970" cy="1532255"/>
          </a:xfrm>
          <a:prstGeom prst="rect">
            <a:avLst/>
          </a:prstGeom>
          <a:noFill/>
        </p:spPr>
        <p:txBody>
          <a:bodyPr wrap="square" rtlCol="0" anchor="t">
            <a:noAutofit/>
          </a:bodyPr>
          <a:lstStyle/>
          <a:p>
            <a:pPr algn="just">
              <a:lnSpc>
                <a:spcPct val="150000"/>
              </a:lnSpc>
              <a:buClrTx/>
              <a:buSzTx/>
              <a:buFontTx/>
            </a:pPr>
            <a:r>
              <a:rPr lang="zh-CN" altLang="en-US" sz="2000" b="1" dirty="0">
                <a:solidFill>
                  <a:srgbClr val="595959"/>
                </a:solidFill>
                <a:latin typeface="微软雅黑" panose="020B0503020204020204" pitchFamily="34" charset="-122"/>
                <a:ea typeface="微软雅黑" panose="020B0503020204020204" pitchFamily="34" charset="-122"/>
                <a:sym typeface="+mn-ea"/>
              </a:rPr>
              <a:t>2.</a:t>
            </a:r>
            <a:r>
              <a:rPr lang="en-US" altLang="zh-CN" sz="2000" b="1" dirty="0">
                <a:solidFill>
                  <a:srgbClr val="595959"/>
                </a:solidFill>
                <a:latin typeface="微软雅黑" panose="020B0503020204020204" pitchFamily="34" charset="-122"/>
                <a:ea typeface="微软雅黑" panose="020B0503020204020204" pitchFamily="34" charset="-122"/>
                <a:sym typeface="+mn-ea"/>
              </a:rPr>
              <a:t> </a:t>
            </a:r>
            <a:r>
              <a:rPr lang="zh-CN" altLang="en-US" sz="2000" b="1" dirty="0">
                <a:solidFill>
                  <a:srgbClr val="595959"/>
                </a:solidFill>
                <a:latin typeface="微软雅黑" panose="020B0503020204020204" pitchFamily="34" charset="-122"/>
                <a:ea typeface="微软雅黑" panose="020B0503020204020204" pitchFamily="34" charset="-122"/>
                <a:sym typeface="+mn-ea"/>
              </a:rPr>
              <a:t>软件质量模型</a:t>
            </a:r>
          </a:p>
          <a:p>
            <a:pPr indent="457200" algn="just">
              <a:lnSpc>
                <a:spcPct val="150000"/>
              </a:lnSpc>
              <a:buClrTx/>
              <a:buSzTx/>
              <a:buFont typeface="Wingdings" panose="05000000000000000000" charset="0"/>
              <a:buNone/>
            </a:pPr>
            <a:r>
              <a:rPr lang="zh-CN" altLang="en-US" sz="2000" dirty="0">
                <a:solidFill>
                  <a:srgbClr val="0070C0"/>
                </a:solidFill>
                <a:latin typeface="微软雅黑" panose="020B0503020204020204" pitchFamily="34" charset="-122"/>
                <a:ea typeface="微软雅黑" panose="020B0503020204020204" pitchFamily="34" charset="-122"/>
                <a:sym typeface="+mn-ea"/>
              </a:rPr>
              <a:t>ISO</a:t>
            </a:r>
            <a:r>
              <a:rPr lang="en-US" altLang="zh-CN" sz="2000" dirty="0">
                <a:solidFill>
                  <a:srgbClr val="0070C0"/>
                </a:solidFill>
                <a:latin typeface="微软雅黑" panose="020B0503020204020204" pitchFamily="34" charset="-122"/>
                <a:ea typeface="微软雅黑" panose="020B0503020204020204" pitchFamily="34" charset="-122"/>
                <a:sym typeface="+mn-ea"/>
              </a:rPr>
              <a:t>/IEC</a:t>
            </a:r>
            <a:r>
              <a:rPr lang="zh-CN" altLang="en-US" sz="2000" dirty="0">
                <a:solidFill>
                  <a:srgbClr val="0070C0"/>
                </a:solidFill>
                <a:latin typeface="微软雅黑" panose="020B0503020204020204" pitchFamily="34" charset="-122"/>
                <a:ea typeface="微软雅黑" panose="020B0503020204020204" pitchFamily="34" charset="-122"/>
                <a:sym typeface="+mn-ea"/>
              </a:rPr>
              <a:t> 9126</a:t>
            </a:r>
            <a:r>
              <a:rPr lang="en-US" altLang="zh-CN" sz="2000" dirty="0">
                <a:solidFill>
                  <a:srgbClr val="0070C0"/>
                </a:solidFill>
                <a:latin typeface="微软雅黑" panose="020B0503020204020204" pitchFamily="34" charset="-122"/>
                <a:ea typeface="微软雅黑" panose="020B0503020204020204" pitchFamily="34" charset="-122"/>
                <a:sym typeface="+mn-ea"/>
              </a:rPr>
              <a:t>:</a:t>
            </a:r>
            <a:r>
              <a:rPr lang="zh-CN" altLang="en-US" sz="2000" dirty="0">
                <a:solidFill>
                  <a:srgbClr val="0070C0"/>
                </a:solidFill>
                <a:latin typeface="微软雅黑" panose="020B0503020204020204" pitchFamily="34" charset="-122"/>
                <a:ea typeface="微软雅黑" panose="020B0503020204020204" pitchFamily="34" charset="-122"/>
                <a:sym typeface="+mn-ea"/>
              </a:rPr>
              <a:t>1991</a:t>
            </a:r>
            <a:r>
              <a:rPr lang="zh-CN" altLang="en-US" sz="2000" dirty="0">
                <a:solidFill>
                  <a:srgbClr val="595959"/>
                </a:solidFill>
                <a:latin typeface="微软雅黑" panose="020B0503020204020204" pitchFamily="34" charset="-122"/>
                <a:ea typeface="微软雅黑" panose="020B0503020204020204" pitchFamily="34" charset="-122"/>
                <a:sym typeface="+mn-ea"/>
              </a:rPr>
              <a:t>是一个通用的</a:t>
            </a:r>
            <a:r>
              <a:rPr lang="zh-CN" altLang="en-US" sz="2000" dirty="0">
                <a:solidFill>
                  <a:srgbClr val="0070C0"/>
                </a:solidFill>
                <a:latin typeface="微软雅黑" panose="020B0503020204020204" pitchFamily="34" charset="-122"/>
                <a:ea typeface="微软雅黑" panose="020B0503020204020204" pitchFamily="34" charset="-122"/>
                <a:sym typeface="+mn-ea"/>
              </a:rPr>
              <a:t>评价软件质量的国际标准</a:t>
            </a:r>
            <a:r>
              <a:rPr lang="zh-CN" altLang="en-US" sz="2000" dirty="0">
                <a:solidFill>
                  <a:srgbClr val="595959"/>
                </a:solidFill>
                <a:latin typeface="微软雅黑" panose="020B0503020204020204" pitchFamily="34" charset="-122"/>
                <a:ea typeface="微软雅黑" panose="020B0503020204020204" pitchFamily="34" charset="-122"/>
                <a:sym typeface="+mn-ea"/>
              </a:rPr>
              <a:t>，它不仅对软件质量进行了定义，而且制定了软件测试的规范流程，包括</a:t>
            </a:r>
            <a:r>
              <a:rPr lang="zh-CN" altLang="en-US" sz="2000" dirty="0">
                <a:solidFill>
                  <a:srgbClr val="0070C0"/>
                </a:solidFill>
                <a:latin typeface="微软雅黑" panose="020B0503020204020204" pitchFamily="34" charset="-122"/>
                <a:ea typeface="微软雅黑" panose="020B0503020204020204" pitchFamily="34" charset="-122"/>
                <a:sym typeface="+mn-ea"/>
              </a:rPr>
              <a:t>测试计划的撰写</a:t>
            </a: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zh-CN" altLang="en-US" sz="2000" dirty="0">
                <a:solidFill>
                  <a:srgbClr val="0070C0"/>
                </a:solidFill>
                <a:latin typeface="微软雅黑" panose="020B0503020204020204" pitchFamily="34" charset="-122"/>
                <a:ea typeface="微软雅黑" panose="020B0503020204020204" pitchFamily="34" charset="-122"/>
                <a:sym typeface="+mn-ea"/>
              </a:rPr>
              <a:t>测试用例的设计</a:t>
            </a:r>
            <a:r>
              <a:rPr lang="zh-CN" altLang="en-US" sz="2000" dirty="0">
                <a:solidFill>
                  <a:srgbClr val="595959"/>
                </a:solidFill>
                <a:latin typeface="微软雅黑" panose="020B0503020204020204" pitchFamily="34" charset="-122"/>
                <a:ea typeface="微软雅黑" panose="020B0503020204020204" pitchFamily="34" charset="-122"/>
                <a:sym typeface="+mn-ea"/>
              </a:rPr>
              <a:t>等。</a:t>
            </a:r>
            <a:r>
              <a:rPr lang="zh-CN" altLang="en-US" sz="2000" dirty="0">
                <a:solidFill>
                  <a:srgbClr val="0070C0"/>
                </a:solidFill>
                <a:latin typeface="微软雅黑" panose="020B0503020204020204" pitchFamily="34" charset="-122"/>
                <a:ea typeface="微软雅黑" panose="020B0503020204020204" pitchFamily="34" charset="-122"/>
                <a:sym typeface="+mn-ea"/>
              </a:rPr>
              <a:t>ISO</a:t>
            </a:r>
            <a:r>
              <a:rPr lang="en-US" altLang="zh-CN" sz="2000" dirty="0">
                <a:solidFill>
                  <a:srgbClr val="0070C0"/>
                </a:solidFill>
                <a:latin typeface="微软雅黑" panose="020B0503020204020204" pitchFamily="34" charset="-122"/>
                <a:ea typeface="微软雅黑" panose="020B0503020204020204" pitchFamily="34" charset="-122"/>
                <a:sym typeface="+mn-ea"/>
              </a:rPr>
              <a:t>/IEC</a:t>
            </a:r>
            <a:r>
              <a:rPr lang="zh-CN" altLang="en-US" sz="2000" dirty="0">
                <a:solidFill>
                  <a:srgbClr val="0070C0"/>
                </a:solidFill>
                <a:latin typeface="微软雅黑" panose="020B0503020204020204" pitchFamily="34" charset="-122"/>
                <a:ea typeface="微软雅黑" panose="020B0503020204020204" pitchFamily="34" charset="-122"/>
                <a:sym typeface="+mn-ea"/>
              </a:rPr>
              <a:t> 9126</a:t>
            </a:r>
            <a:r>
              <a:rPr lang="en-US" altLang="zh-CN" sz="2000" dirty="0">
                <a:solidFill>
                  <a:srgbClr val="0070C0"/>
                </a:solidFill>
                <a:latin typeface="微软雅黑" panose="020B0503020204020204" pitchFamily="34" charset="-122"/>
                <a:ea typeface="微软雅黑" panose="020B0503020204020204" pitchFamily="34" charset="-122"/>
                <a:sym typeface="+mn-ea"/>
              </a:rPr>
              <a:t>:</a:t>
            </a:r>
            <a:r>
              <a:rPr lang="zh-CN" altLang="en-US" sz="2000" dirty="0">
                <a:solidFill>
                  <a:srgbClr val="0070C0"/>
                </a:solidFill>
                <a:latin typeface="微软雅黑" panose="020B0503020204020204" pitchFamily="34" charset="-122"/>
                <a:ea typeface="微软雅黑" panose="020B0503020204020204" pitchFamily="34" charset="-122"/>
                <a:sym typeface="+mn-ea"/>
              </a:rPr>
              <a:t>1991软件质量管理模型</a:t>
            </a:r>
            <a:r>
              <a:rPr lang="zh-CN" altLang="en-US" sz="2000" dirty="0">
                <a:solidFill>
                  <a:srgbClr val="595959"/>
                </a:solidFill>
                <a:latin typeface="微软雅黑" panose="020B0503020204020204" pitchFamily="34" charset="-122"/>
                <a:ea typeface="微软雅黑" panose="020B0503020204020204" pitchFamily="34" charset="-122"/>
                <a:sym typeface="+mn-ea"/>
              </a:rPr>
              <a:t>如下图所示。</a:t>
            </a: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软件质量概述</a:t>
            </a:r>
          </a:p>
        </p:txBody>
      </p:sp>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7206" y="3069794"/>
            <a:ext cx="5700420" cy="351471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软件质量概述</a:t>
            </a:r>
          </a:p>
        </p:txBody>
      </p:sp>
      <p:grpSp>
        <p:nvGrpSpPr>
          <p:cNvPr id="19" name="组合 18"/>
          <p:cNvGrpSpPr/>
          <p:nvPr/>
        </p:nvGrpSpPr>
        <p:grpSpPr>
          <a:xfrm>
            <a:off x="4151206" y="1263983"/>
            <a:ext cx="3633306" cy="3489263"/>
            <a:chOff x="4279345" y="1987898"/>
            <a:chExt cx="3633306" cy="3489263"/>
          </a:xfrm>
        </p:grpSpPr>
        <p:sp>
          <p:nvSpPr>
            <p:cNvPr id="20" name="Freeform 6"/>
            <p:cNvSpPr/>
            <p:nvPr/>
          </p:nvSpPr>
          <p:spPr bwMode="auto">
            <a:xfrm>
              <a:off x="6730633" y="3053229"/>
              <a:ext cx="1182018" cy="1364059"/>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bg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zh-CN" altLang="en-US" sz="1600"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1" name="Freeform 7"/>
            <p:cNvSpPr/>
            <p:nvPr/>
          </p:nvSpPr>
          <p:spPr bwMode="auto">
            <a:xfrm>
              <a:off x="4279345" y="3053229"/>
              <a:ext cx="1180655" cy="1364059"/>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rgbClr val="0070C0"/>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zh-CN" altLang="en-US" sz="1600"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2" name="Freeform 8"/>
            <p:cNvSpPr/>
            <p:nvPr/>
          </p:nvSpPr>
          <p:spPr bwMode="auto">
            <a:xfrm>
              <a:off x="4891486" y="1987898"/>
              <a:ext cx="1180655" cy="1365423"/>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bg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zh-CN" altLang="en-US" sz="1600"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3" name="Freeform 9"/>
            <p:cNvSpPr/>
            <p:nvPr/>
          </p:nvSpPr>
          <p:spPr bwMode="auto">
            <a:xfrm>
              <a:off x="6119857" y="1987898"/>
              <a:ext cx="1180655" cy="1365423"/>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rgbClr val="0070C0"/>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zh-CN" altLang="en-US" sz="1600"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4" name="Freeform 10"/>
            <p:cNvSpPr/>
            <p:nvPr/>
          </p:nvSpPr>
          <p:spPr bwMode="auto">
            <a:xfrm>
              <a:off x="4891486" y="4111738"/>
              <a:ext cx="1180655" cy="1365423"/>
            </a:xfrm>
            <a:custGeom>
              <a:avLst/>
              <a:gdLst>
                <a:gd name="T0" fmla="*/ 1130 w 2260"/>
                <a:gd name="T1" fmla="*/ 0 h 2609"/>
                <a:gd name="T2" fmla="*/ 1695 w 2260"/>
                <a:gd name="T3" fmla="*/ 326 h 2609"/>
                <a:gd name="T4" fmla="*/ 2260 w 2260"/>
                <a:gd name="T5" fmla="*/ 652 h 2609"/>
                <a:gd name="T6" fmla="*/ 2260 w 2260"/>
                <a:gd name="T7" fmla="*/ 1305 h 2609"/>
                <a:gd name="T8" fmla="*/ 2260 w 2260"/>
                <a:gd name="T9" fmla="*/ 1957 h 2609"/>
                <a:gd name="T10" fmla="*/ 1695 w 2260"/>
                <a:gd name="T11" fmla="*/ 2283 h 2609"/>
                <a:gd name="T12" fmla="*/ 1130 w 2260"/>
                <a:gd name="T13" fmla="*/ 2609 h 2609"/>
                <a:gd name="T14" fmla="*/ 565 w 2260"/>
                <a:gd name="T15" fmla="*/ 2283 h 2609"/>
                <a:gd name="T16" fmla="*/ 0 w 2260"/>
                <a:gd name="T17" fmla="*/ 1957 h 2609"/>
                <a:gd name="T18" fmla="*/ 0 w 2260"/>
                <a:gd name="T19" fmla="*/ 1305 h 2609"/>
                <a:gd name="T20" fmla="*/ 0 w 2260"/>
                <a:gd name="T21" fmla="*/ 652 h 2609"/>
                <a:gd name="T22" fmla="*/ 565 w 2260"/>
                <a:gd name="T23" fmla="*/ 326 h 2609"/>
                <a:gd name="T24" fmla="*/ 1130 w 2260"/>
                <a:gd name="T25" fmla="*/ 0 h 2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09">
                  <a:moveTo>
                    <a:pt x="1130" y="0"/>
                  </a:moveTo>
                  <a:lnTo>
                    <a:pt x="1695" y="326"/>
                  </a:lnTo>
                  <a:lnTo>
                    <a:pt x="2260" y="652"/>
                  </a:lnTo>
                  <a:lnTo>
                    <a:pt x="2260" y="1305"/>
                  </a:lnTo>
                  <a:lnTo>
                    <a:pt x="2260" y="1957"/>
                  </a:lnTo>
                  <a:lnTo>
                    <a:pt x="1695" y="2283"/>
                  </a:lnTo>
                  <a:lnTo>
                    <a:pt x="1130" y="2609"/>
                  </a:lnTo>
                  <a:lnTo>
                    <a:pt x="565" y="2283"/>
                  </a:lnTo>
                  <a:lnTo>
                    <a:pt x="0" y="1957"/>
                  </a:lnTo>
                  <a:lnTo>
                    <a:pt x="0" y="1305"/>
                  </a:lnTo>
                  <a:lnTo>
                    <a:pt x="0" y="652"/>
                  </a:lnTo>
                  <a:lnTo>
                    <a:pt x="565" y="326"/>
                  </a:lnTo>
                  <a:lnTo>
                    <a:pt x="1130" y="0"/>
                  </a:lnTo>
                  <a:close/>
                </a:path>
              </a:pathLst>
            </a:custGeom>
            <a:solidFill>
              <a:schemeClr val="bg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zh-CN" altLang="en-US" sz="1600"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5" name="Freeform 11"/>
            <p:cNvSpPr/>
            <p:nvPr/>
          </p:nvSpPr>
          <p:spPr bwMode="auto">
            <a:xfrm>
              <a:off x="6119857" y="4111738"/>
              <a:ext cx="1180655" cy="1365423"/>
            </a:xfrm>
            <a:custGeom>
              <a:avLst/>
              <a:gdLst>
                <a:gd name="T0" fmla="*/ 1130 w 2260"/>
                <a:gd name="T1" fmla="*/ 0 h 2609"/>
                <a:gd name="T2" fmla="*/ 1695 w 2260"/>
                <a:gd name="T3" fmla="*/ 326 h 2609"/>
                <a:gd name="T4" fmla="*/ 2260 w 2260"/>
                <a:gd name="T5" fmla="*/ 652 h 2609"/>
                <a:gd name="T6" fmla="*/ 2260 w 2260"/>
                <a:gd name="T7" fmla="*/ 1305 h 2609"/>
                <a:gd name="T8" fmla="*/ 2260 w 2260"/>
                <a:gd name="T9" fmla="*/ 1957 h 2609"/>
                <a:gd name="T10" fmla="*/ 1695 w 2260"/>
                <a:gd name="T11" fmla="*/ 2283 h 2609"/>
                <a:gd name="T12" fmla="*/ 1130 w 2260"/>
                <a:gd name="T13" fmla="*/ 2609 h 2609"/>
                <a:gd name="T14" fmla="*/ 565 w 2260"/>
                <a:gd name="T15" fmla="*/ 2283 h 2609"/>
                <a:gd name="T16" fmla="*/ 0 w 2260"/>
                <a:gd name="T17" fmla="*/ 1957 h 2609"/>
                <a:gd name="T18" fmla="*/ 0 w 2260"/>
                <a:gd name="T19" fmla="*/ 1305 h 2609"/>
                <a:gd name="T20" fmla="*/ 0 w 2260"/>
                <a:gd name="T21" fmla="*/ 652 h 2609"/>
                <a:gd name="T22" fmla="*/ 565 w 2260"/>
                <a:gd name="T23" fmla="*/ 326 h 2609"/>
                <a:gd name="T24" fmla="*/ 1130 w 2260"/>
                <a:gd name="T25" fmla="*/ 0 h 2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09">
                  <a:moveTo>
                    <a:pt x="1130" y="0"/>
                  </a:moveTo>
                  <a:lnTo>
                    <a:pt x="1695" y="326"/>
                  </a:lnTo>
                  <a:lnTo>
                    <a:pt x="2260" y="652"/>
                  </a:lnTo>
                  <a:lnTo>
                    <a:pt x="2260" y="1305"/>
                  </a:lnTo>
                  <a:lnTo>
                    <a:pt x="2260" y="1957"/>
                  </a:lnTo>
                  <a:lnTo>
                    <a:pt x="1695" y="2283"/>
                  </a:lnTo>
                  <a:lnTo>
                    <a:pt x="1130" y="2609"/>
                  </a:lnTo>
                  <a:lnTo>
                    <a:pt x="565" y="2283"/>
                  </a:lnTo>
                  <a:lnTo>
                    <a:pt x="0" y="1957"/>
                  </a:lnTo>
                  <a:lnTo>
                    <a:pt x="0" y="1305"/>
                  </a:lnTo>
                  <a:lnTo>
                    <a:pt x="0" y="652"/>
                  </a:lnTo>
                  <a:lnTo>
                    <a:pt x="565" y="326"/>
                  </a:lnTo>
                  <a:lnTo>
                    <a:pt x="1130" y="0"/>
                  </a:lnTo>
                  <a:close/>
                </a:path>
              </a:pathLst>
            </a:custGeom>
            <a:solidFill>
              <a:srgbClr val="0070C0"/>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zh-CN" altLang="en-US" sz="1600"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6" name="Freeform 13"/>
            <p:cNvSpPr>
              <a:spLocks noEditPoints="1"/>
            </p:cNvSpPr>
            <p:nvPr/>
          </p:nvSpPr>
          <p:spPr bwMode="auto">
            <a:xfrm>
              <a:off x="4628361" y="3477450"/>
              <a:ext cx="526251" cy="519707"/>
            </a:xfrm>
            <a:custGeom>
              <a:avLst/>
              <a:gdLst>
                <a:gd name="T0" fmla="*/ 909 w 1006"/>
                <a:gd name="T1" fmla="*/ 858 h 995"/>
                <a:gd name="T2" fmla="*/ 805 w 1006"/>
                <a:gd name="T3" fmla="*/ 858 h 995"/>
                <a:gd name="T4" fmla="*/ 969 w 1006"/>
                <a:gd name="T5" fmla="*/ 97 h 995"/>
                <a:gd name="T6" fmla="*/ 834 w 1006"/>
                <a:gd name="T7" fmla="*/ 0 h 995"/>
                <a:gd name="T8" fmla="*/ 472 w 1006"/>
                <a:gd name="T9" fmla="*/ 323 h 995"/>
                <a:gd name="T10" fmla="*/ 421 w 1006"/>
                <a:gd name="T11" fmla="*/ 397 h 995"/>
                <a:gd name="T12" fmla="*/ 376 w 1006"/>
                <a:gd name="T13" fmla="*/ 419 h 995"/>
                <a:gd name="T14" fmla="*/ 381 w 1006"/>
                <a:gd name="T15" fmla="*/ 556 h 995"/>
                <a:gd name="T16" fmla="*/ 89 w 1006"/>
                <a:gd name="T17" fmla="*/ 810 h 995"/>
                <a:gd name="T18" fmla="*/ 57 w 1006"/>
                <a:gd name="T19" fmla="*/ 995 h 995"/>
                <a:gd name="T20" fmla="*/ 208 w 1006"/>
                <a:gd name="T21" fmla="*/ 844 h 995"/>
                <a:gd name="T22" fmla="*/ 445 w 1006"/>
                <a:gd name="T23" fmla="*/ 621 h 995"/>
                <a:gd name="T24" fmla="*/ 578 w 1006"/>
                <a:gd name="T25" fmla="*/ 621 h 995"/>
                <a:gd name="T26" fmla="*/ 616 w 1006"/>
                <a:gd name="T27" fmla="*/ 537 h 995"/>
                <a:gd name="T28" fmla="*/ 674 w 1006"/>
                <a:gd name="T29" fmla="*/ 525 h 995"/>
                <a:gd name="T30" fmla="*/ 969 w 1006"/>
                <a:gd name="T31" fmla="*/ 97 h 995"/>
                <a:gd name="T32" fmla="*/ 392 w 1006"/>
                <a:gd name="T33" fmla="*/ 325 h 995"/>
                <a:gd name="T34" fmla="*/ 404 w 1006"/>
                <a:gd name="T35" fmla="*/ 312 h 995"/>
                <a:gd name="T36" fmla="*/ 436 w 1006"/>
                <a:gd name="T37" fmla="*/ 281 h 995"/>
                <a:gd name="T38" fmla="*/ 215 w 1006"/>
                <a:gd name="T39" fmla="*/ 1 h 995"/>
                <a:gd name="T40" fmla="*/ 280 w 1006"/>
                <a:gd name="T41" fmla="*/ 160 h 995"/>
                <a:gd name="T42" fmla="*/ 21 w 1006"/>
                <a:gd name="T43" fmla="*/ 195 h 995"/>
                <a:gd name="T44" fmla="*/ 232 w 1006"/>
                <a:gd name="T45" fmla="*/ 447 h 995"/>
                <a:gd name="T46" fmla="*/ 303 w 1006"/>
                <a:gd name="T47" fmla="*/ 433 h 995"/>
                <a:gd name="T48" fmla="*/ 363 w 1006"/>
                <a:gd name="T49" fmla="*/ 354 h 995"/>
                <a:gd name="T50" fmla="*/ 672 w 1006"/>
                <a:gd name="T51" fmla="*/ 606 h 995"/>
                <a:gd name="T52" fmla="*/ 617 w 1006"/>
                <a:gd name="T53" fmla="*/ 660 h 995"/>
                <a:gd name="T54" fmla="*/ 741 w 1006"/>
                <a:gd name="T55" fmla="*/ 871 h 995"/>
                <a:gd name="T56" fmla="*/ 869 w 1006"/>
                <a:gd name="T57" fmla="*/ 995 h 995"/>
                <a:gd name="T58" fmla="*/ 980 w 1006"/>
                <a:gd name="T59" fmla="*/ 825 h 995"/>
                <a:gd name="T60" fmla="*/ 702 w 1006"/>
                <a:gd name="T61" fmla="*/ 576 h 995"/>
                <a:gd name="T62" fmla="*/ 658 w 1006"/>
                <a:gd name="T63" fmla="*/ 579 h 9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06" h="995">
                  <a:moveTo>
                    <a:pt x="857" y="806"/>
                  </a:moveTo>
                  <a:cubicBezTo>
                    <a:pt x="886" y="806"/>
                    <a:pt x="909" y="829"/>
                    <a:pt x="909" y="858"/>
                  </a:cubicBezTo>
                  <a:cubicBezTo>
                    <a:pt x="909" y="887"/>
                    <a:pt x="886" y="910"/>
                    <a:pt x="857" y="910"/>
                  </a:cubicBezTo>
                  <a:cubicBezTo>
                    <a:pt x="828" y="910"/>
                    <a:pt x="805" y="887"/>
                    <a:pt x="805" y="858"/>
                  </a:cubicBezTo>
                  <a:cubicBezTo>
                    <a:pt x="805" y="829"/>
                    <a:pt x="828" y="806"/>
                    <a:pt x="857" y="806"/>
                  </a:cubicBezTo>
                  <a:close/>
                  <a:moveTo>
                    <a:pt x="969" y="97"/>
                  </a:moveTo>
                  <a:lnTo>
                    <a:pt x="900" y="28"/>
                  </a:lnTo>
                  <a:cubicBezTo>
                    <a:pt x="882" y="9"/>
                    <a:pt x="858" y="0"/>
                    <a:pt x="834" y="0"/>
                  </a:cubicBezTo>
                  <a:cubicBezTo>
                    <a:pt x="810" y="0"/>
                    <a:pt x="786" y="9"/>
                    <a:pt x="767" y="28"/>
                  </a:cubicBezTo>
                  <a:lnTo>
                    <a:pt x="472" y="323"/>
                  </a:lnTo>
                  <a:cubicBezTo>
                    <a:pt x="481" y="340"/>
                    <a:pt x="475" y="367"/>
                    <a:pt x="460" y="381"/>
                  </a:cubicBezTo>
                  <a:cubicBezTo>
                    <a:pt x="451" y="391"/>
                    <a:pt x="435" y="397"/>
                    <a:pt x="421" y="397"/>
                  </a:cubicBezTo>
                  <a:cubicBezTo>
                    <a:pt x="414" y="397"/>
                    <a:pt x="408" y="396"/>
                    <a:pt x="402" y="393"/>
                  </a:cubicBezTo>
                  <a:lnTo>
                    <a:pt x="376" y="419"/>
                  </a:lnTo>
                  <a:cubicBezTo>
                    <a:pt x="340" y="455"/>
                    <a:pt x="340" y="515"/>
                    <a:pt x="376" y="552"/>
                  </a:cubicBezTo>
                  <a:lnTo>
                    <a:pt x="381" y="556"/>
                  </a:lnTo>
                  <a:lnTo>
                    <a:pt x="151" y="787"/>
                  </a:lnTo>
                  <a:lnTo>
                    <a:pt x="89" y="810"/>
                  </a:lnTo>
                  <a:lnTo>
                    <a:pt x="0" y="938"/>
                  </a:lnTo>
                  <a:lnTo>
                    <a:pt x="57" y="995"/>
                  </a:lnTo>
                  <a:lnTo>
                    <a:pt x="185" y="906"/>
                  </a:lnTo>
                  <a:lnTo>
                    <a:pt x="208" y="844"/>
                  </a:lnTo>
                  <a:lnTo>
                    <a:pt x="439" y="614"/>
                  </a:lnTo>
                  <a:lnTo>
                    <a:pt x="445" y="621"/>
                  </a:lnTo>
                  <a:cubicBezTo>
                    <a:pt x="464" y="639"/>
                    <a:pt x="488" y="648"/>
                    <a:pt x="512" y="648"/>
                  </a:cubicBezTo>
                  <a:cubicBezTo>
                    <a:pt x="536" y="648"/>
                    <a:pt x="560" y="639"/>
                    <a:pt x="578" y="621"/>
                  </a:cubicBezTo>
                  <a:lnTo>
                    <a:pt x="604" y="595"/>
                  </a:lnTo>
                  <a:cubicBezTo>
                    <a:pt x="596" y="577"/>
                    <a:pt x="602" y="551"/>
                    <a:pt x="616" y="537"/>
                  </a:cubicBezTo>
                  <a:cubicBezTo>
                    <a:pt x="626" y="527"/>
                    <a:pt x="642" y="521"/>
                    <a:pt x="656" y="521"/>
                  </a:cubicBezTo>
                  <a:cubicBezTo>
                    <a:pt x="662" y="521"/>
                    <a:pt x="669" y="522"/>
                    <a:pt x="674" y="525"/>
                  </a:cubicBezTo>
                  <a:lnTo>
                    <a:pt x="969" y="230"/>
                  </a:lnTo>
                  <a:cubicBezTo>
                    <a:pt x="1006" y="193"/>
                    <a:pt x="1006" y="133"/>
                    <a:pt x="969" y="97"/>
                  </a:cubicBezTo>
                  <a:close/>
                  <a:moveTo>
                    <a:pt x="363" y="354"/>
                  </a:moveTo>
                  <a:lnTo>
                    <a:pt x="392" y="325"/>
                  </a:lnTo>
                  <a:lnTo>
                    <a:pt x="418" y="338"/>
                  </a:lnTo>
                  <a:lnTo>
                    <a:pt x="404" y="312"/>
                  </a:lnTo>
                  <a:lnTo>
                    <a:pt x="433" y="284"/>
                  </a:lnTo>
                  <a:lnTo>
                    <a:pt x="436" y="281"/>
                  </a:lnTo>
                  <a:cubicBezTo>
                    <a:pt x="442" y="264"/>
                    <a:pt x="446" y="248"/>
                    <a:pt x="446" y="233"/>
                  </a:cubicBezTo>
                  <a:cubicBezTo>
                    <a:pt x="446" y="115"/>
                    <a:pt x="333" y="0"/>
                    <a:pt x="215" y="1"/>
                  </a:cubicBezTo>
                  <a:cubicBezTo>
                    <a:pt x="214" y="1"/>
                    <a:pt x="201" y="15"/>
                    <a:pt x="193" y="22"/>
                  </a:cubicBezTo>
                  <a:cubicBezTo>
                    <a:pt x="288" y="117"/>
                    <a:pt x="280" y="102"/>
                    <a:pt x="280" y="160"/>
                  </a:cubicBezTo>
                  <a:cubicBezTo>
                    <a:pt x="280" y="207"/>
                    <a:pt x="205" y="282"/>
                    <a:pt x="159" y="282"/>
                  </a:cubicBezTo>
                  <a:cubicBezTo>
                    <a:pt x="99" y="282"/>
                    <a:pt x="118" y="291"/>
                    <a:pt x="21" y="195"/>
                  </a:cubicBezTo>
                  <a:cubicBezTo>
                    <a:pt x="14" y="202"/>
                    <a:pt x="0" y="215"/>
                    <a:pt x="0" y="216"/>
                  </a:cubicBezTo>
                  <a:cubicBezTo>
                    <a:pt x="2" y="334"/>
                    <a:pt x="113" y="447"/>
                    <a:pt x="232" y="447"/>
                  </a:cubicBezTo>
                  <a:cubicBezTo>
                    <a:pt x="253" y="447"/>
                    <a:pt x="276" y="440"/>
                    <a:pt x="299" y="429"/>
                  </a:cubicBezTo>
                  <a:lnTo>
                    <a:pt x="303" y="433"/>
                  </a:lnTo>
                  <a:cubicBezTo>
                    <a:pt x="310" y="414"/>
                    <a:pt x="322" y="395"/>
                    <a:pt x="337" y="380"/>
                  </a:cubicBezTo>
                  <a:lnTo>
                    <a:pt x="363" y="354"/>
                  </a:lnTo>
                  <a:close/>
                  <a:moveTo>
                    <a:pt x="658" y="579"/>
                  </a:moveTo>
                  <a:lnTo>
                    <a:pt x="672" y="606"/>
                  </a:lnTo>
                  <a:lnTo>
                    <a:pt x="644" y="634"/>
                  </a:lnTo>
                  <a:lnTo>
                    <a:pt x="617" y="660"/>
                  </a:lnTo>
                  <a:cubicBezTo>
                    <a:pt x="602" y="675"/>
                    <a:pt x="584" y="687"/>
                    <a:pt x="564" y="694"/>
                  </a:cubicBezTo>
                  <a:lnTo>
                    <a:pt x="741" y="871"/>
                  </a:lnTo>
                  <a:lnTo>
                    <a:pt x="824" y="983"/>
                  </a:lnTo>
                  <a:lnTo>
                    <a:pt x="869" y="995"/>
                  </a:lnTo>
                  <a:lnTo>
                    <a:pt x="992" y="871"/>
                  </a:lnTo>
                  <a:lnTo>
                    <a:pt x="980" y="825"/>
                  </a:lnTo>
                  <a:lnTo>
                    <a:pt x="869" y="743"/>
                  </a:lnTo>
                  <a:lnTo>
                    <a:pt x="702" y="576"/>
                  </a:lnTo>
                  <a:lnTo>
                    <a:pt x="685" y="592"/>
                  </a:lnTo>
                  <a:lnTo>
                    <a:pt x="658" y="579"/>
                  </a:lnTo>
                  <a:close/>
                </a:path>
              </a:pathLst>
            </a:custGeom>
            <a:solidFill>
              <a:schemeClr val="bg1">
                <a:lumMod val="95000"/>
              </a:schemeClr>
            </a:solidFill>
            <a:ln>
              <a:noFill/>
            </a:ln>
          </p:spPr>
          <p:txBody>
            <a:bodyPr vert="horz" wrap="square" lIns="68571" tIns="34285" rIns="68571" bIns="34285" numCol="1" anchor="t" anchorCtr="0" compatLnSpc="1"/>
            <a:lstStyle/>
            <a:p>
              <a:pPr>
                <a:defRPr/>
              </a:pPr>
              <a:endParaRPr lang="zh-CN" altLang="en-US"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7" name="Freeform 14"/>
            <p:cNvSpPr>
              <a:spLocks noEditPoints="1"/>
            </p:cNvSpPr>
            <p:nvPr/>
          </p:nvSpPr>
          <p:spPr bwMode="auto">
            <a:xfrm>
              <a:off x="5311395" y="2357559"/>
              <a:ext cx="377646" cy="515614"/>
            </a:xfrm>
            <a:custGeom>
              <a:avLst/>
              <a:gdLst>
                <a:gd name="T0" fmla="*/ 95 w 723"/>
                <a:gd name="T1" fmla="*/ 160 h 986"/>
                <a:gd name="T2" fmla="*/ 80 w 723"/>
                <a:gd name="T3" fmla="*/ 986 h 986"/>
                <a:gd name="T4" fmla="*/ 723 w 723"/>
                <a:gd name="T5" fmla="*/ 242 h 986"/>
                <a:gd name="T6" fmla="*/ 668 w 723"/>
                <a:gd name="T7" fmla="*/ 260 h 986"/>
                <a:gd name="T8" fmla="*/ 83 w 723"/>
                <a:gd name="T9" fmla="*/ 929 h 986"/>
                <a:gd name="T10" fmla="*/ 313 w 723"/>
                <a:gd name="T11" fmla="*/ 105 h 986"/>
                <a:gd name="T12" fmla="*/ 410 w 723"/>
                <a:gd name="T13" fmla="*/ 105 h 986"/>
                <a:gd name="T14" fmla="*/ 360 w 723"/>
                <a:gd name="T15" fmla="*/ 157 h 986"/>
                <a:gd name="T16" fmla="*/ 253 w 723"/>
                <a:gd name="T17" fmla="*/ 107 h 986"/>
                <a:gd name="T18" fmla="*/ 133 w 723"/>
                <a:gd name="T19" fmla="*/ 250 h 986"/>
                <a:gd name="T20" fmla="*/ 590 w 723"/>
                <a:gd name="T21" fmla="*/ 250 h 986"/>
                <a:gd name="T22" fmla="*/ 470 w 723"/>
                <a:gd name="T23" fmla="*/ 107 h 986"/>
                <a:gd name="T24" fmla="*/ 253 w 723"/>
                <a:gd name="T25" fmla="*/ 107 h 986"/>
                <a:gd name="T26" fmla="*/ 255 w 723"/>
                <a:gd name="T27" fmla="*/ 749 h 986"/>
                <a:gd name="T28" fmla="*/ 175 w 723"/>
                <a:gd name="T29" fmla="*/ 771 h 986"/>
                <a:gd name="T30" fmla="*/ 158 w 723"/>
                <a:gd name="T31" fmla="*/ 789 h 986"/>
                <a:gd name="T32" fmla="*/ 255 w 723"/>
                <a:gd name="T33" fmla="*/ 796 h 986"/>
                <a:gd name="T34" fmla="*/ 153 w 723"/>
                <a:gd name="T35" fmla="*/ 846 h 986"/>
                <a:gd name="T36" fmla="*/ 280 w 723"/>
                <a:gd name="T37" fmla="*/ 784 h 986"/>
                <a:gd name="T38" fmla="*/ 280 w 723"/>
                <a:gd name="T39" fmla="*/ 744 h 986"/>
                <a:gd name="T40" fmla="*/ 128 w 723"/>
                <a:gd name="T41" fmla="*/ 751 h 986"/>
                <a:gd name="T42" fmla="*/ 248 w 723"/>
                <a:gd name="T43" fmla="*/ 879 h 986"/>
                <a:gd name="T44" fmla="*/ 248 w 723"/>
                <a:gd name="T45" fmla="*/ 387 h 986"/>
                <a:gd name="T46" fmla="*/ 175 w 723"/>
                <a:gd name="T47" fmla="*/ 409 h 986"/>
                <a:gd name="T48" fmla="*/ 200 w 723"/>
                <a:gd name="T49" fmla="*/ 474 h 986"/>
                <a:gd name="T50" fmla="*/ 153 w 723"/>
                <a:gd name="T51" fmla="*/ 492 h 986"/>
                <a:gd name="T52" fmla="*/ 248 w 723"/>
                <a:gd name="T53" fmla="*/ 362 h 986"/>
                <a:gd name="T54" fmla="*/ 128 w 723"/>
                <a:gd name="T55" fmla="*/ 489 h 986"/>
                <a:gd name="T56" fmla="*/ 279 w 723"/>
                <a:gd name="T57" fmla="*/ 416 h 986"/>
                <a:gd name="T58" fmla="*/ 278 w 723"/>
                <a:gd name="T59" fmla="*/ 382 h 986"/>
                <a:gd name="T60" fmla="*/ 255 w 723"/>
                <a:gd name="T61" fmla="*/ 582 h 986"/>
                <a:gd name="T62" fmla="*/ 158 w 723"/>
                <a:gd name="T63" fmla="*/ 607 h 986"/>
                <a:gd name="T64" fmla="*/ 255 w 723"/>
                <a:gd name="T65" fmla="*/ 672 h 986"/>
                <a:gd name="T66" fmla="*/ 280 w 723"/>
                <a:gd name="T67" fmla="*/ 563 h 986"/>
                <a:gd name="T68" fmla="*/ 128 w 723"/>
                <a:gd name="T69" fmla="*/ 569 h 986"/>
                <a:gd name="T70" fmla="*/ 255 w 723"/>
                <a:gd name="T71" fmla="*/ 696 h 986"/>
                <a:gd name="T72" fmla="*/ 334 w 723"/>
                <a:gd name="T73" fmla="*/ 538 h 986"/>
                <a:gd name="T74" fmla="*/ 378 w 723"/>
                <a:gd name="T75" fmla="*/ 836 h 986"/>
                <a:gd name="T76" fmla="*/ 580 w 723"/>
                <a:gd name="T77" fmla="*/ 774 h 986"/>
                <a:gd name="T78" fmla="*/ 370 w 723"/>
                <a:gd name="T79" fmla="*/ 829 h 986"/>
                <a:gd name="T80" fmla="*/ 580 w 723"/>
                <a:gd name="T81" fmla="*/ 587 h 986"/>
                <a:gd name="T82" fmla="*/ 370 w 723"/>
                <a:gd name="T83" fmla="*/ 474 h 986"/>
                <a:gd name="T84" fmla="*/ 370 w 723"/>
                <a:gd name="T85" fmla="*/ 407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23" h="986">
                  <a:moveTo>
                    <a:pt x="55" y="260"/>
                  </a:moveTo>
                  <a:cubicBezTo>
                    <a:pt x="55" y="232"/>
                    <a:pt x="68" y="218"/>
                    <a:pt x="95" y="217"/>
                  </a:cubicBezTo>
                  <a:lnTo>
                    <a:pt x="95" y="160"/>
                  </a:lnTo>
                  <a:cubicBezTo>
                    <a:pt x="45" y="161"/>
                    <a:pt x="0" y="193"/>
                    <a:pt x="0" y="242"/>
                  </a:cubicBezTo>
                  <a:lnTo>
                    <a:pt x="0" y="906"/>
                  </a:lnTo>
                  <a:cubicBezTo>
                    <a:pt x="0" y="947"/>
                    <a:pt x="40" y="986"/>
                    <a:pt x="80" y="986"/>
                  </a:cubicBezTo>
                  <a:lnTo>
                    <a:pt x="643" y="986"/>
                  </a:lnTo>
                  <a:cubicBezTo>
                    <a:pt x="683" y="986"/>
                    <a:pt x="723" y="947"/>
                    <a:pt x="723" y="906"/>
                  </a:cubicBezTo>
                  <a:lnTo>
                    <a:pt x="723" y="242"/>
                  </a:lnTo>
                  <a:cubicBezTo>
                    <a:pt x="723" y="193"/>
                    <a:pt x="678" y="161"/>
                    <a:pt x="628" y="160"/>
                  </a:cubicBezTo>
                  <a:lnTo>
                    <a:pt x="628" y="217"/>
                  </a:lnTo>
                  <a:cubicBezTo>
                    <a:pt x="655" y="218"/>
                    <a:pt x="668" y="232"/>
                    <a:pt x="668" y="260"/>
                  </a:cubicBezTo>
                  <a:lnTo>
                    <a:pt x="668" y="889"/>
                  </a:lnTo>
                  <a:cubicBezTo>
                    <a:pt x="668" y="908"/>
                    <a:pt x="659" y="929"/>
                    <a:pt x="640" y="929"/>
                  </a:cubicBezTo>
                  <a:lnTo>
                    <a:pt x="83" y="929"/>
                  </a:lnTo>
                  <a:cubicBezTo>
                    <a:pt x="61" y="929"/>
                    <a:pt x="55" y="906"/>
                    <a:pt x="55" y="884"/>
                  </a:cubicBezTo>
                  <a:lnTo>
                    <a:pt x="55" y="260"/>
                  </a:lnTo>
                  <a:close/>
                  <a:moveTo>
                    <a:pt x="313" y="105"/>
                  </a:moveTo>
                  <a:cubicBezTo>
                    <a:pt x="313" y="82"/>
                    <a:pt x="335" y="60"/>
                    <a:pt x="358" y="60"/>
                  </a:cubicBezTo>
                  <a:lnTo>
                    <a:pt x="365" y="60"/>
                  </a:lnTo>
                  <a:cubicBezTo>
                    <a:pt x="388" y="60"/>
                    <a:pt x="410" y="82"/>
                    <a:pt x="410" y="105"/>
                  </a:cubicBezTo>
                  <a:lnTo>
                    <a:pt x="410" y="110"/>
                  </a:lnTo>
                  <a:cubicBezTo>
                    <a:pt x="410" y="135"/>
                    <a:pt x="388" y="157"/>
                    <a:pt x="363" y="157"/>
                  </a:cubicBezTo>
                  <a:lnTo>
                    <a:pt x="360" y="157"/>
                  </a:lnTo>
                  <a:cubicBezTo>
                    <a:pt x="335" y="157"/>
                    <a:pt x="313" y="135"/>
                    <a:pt x="313" y="110"/>
                  </a:cubicBezTo>
                  <a:lnTo>
                    <a:pt x="313" y="105"/>
                  </a:lnTo>
                  <a:close/>
                  <a:moveTo>
                    <a:pt x="253" y="107"/>
                  </a:moveTo>
                  <a:lnTo>
                    <a:pt x="173" y="107"/>
                  </a:lnTo>
                  <a:cubicBezTo>
                    <a:pt x="145" y="107"/>
                    <a:pt x="133" y="120"/>
                    <a:pt x="133" y="147"/>
                  </a:cubicBezTo>
                  <a:lnTo>
                    <a:pt x="133" y="250"/>
                  </a:lnTo>
                  <a:cubicBezTo>
                    <a:pt x="133" y="267"/>
                    <a:pt x="144" y="285"/>
                    <a:pt x="160" y="285"/>
                  </a:cubicBezTo>
                  <a:lnTo>
                    <a:pt x="563" y="285"/>
                  </a:lnTo>
                  <a:cubicBezTo>
                    <a:pt x="579" y="285"/>
                    <a:pt x="590" y="267"/>
                    <a:pt x="590" y="250"/>
                  </a:cubicBezTo>
                  <a:lnTo>
                    <a:pt x="590" y="147"/>
                  </a:lnTo>
                  <a:cubicBezTo>
                    <a:pt x="590" y="120"/>
                    <a:pt x="578" y="107"/>
                    <a:pt x="550" y="107"/>
                  </a:cubicBezTo>
                  <a:lnTo>
                    <a:pt x="470" y="107"/>
                  </a:lnTo>
                  <a:cubicBezTo>
                    <a:pt x="470" y="52"/>
                    <a:pt x="423" y="0"/>
                    <a:pt x="370" y="0"/>
                  </a:cubicBezTo>
                  <a:lnTo>
                    <a:pt x="353" y="0"/>
                  </a:lnTo>
                  <a:cubicBezTo>
                    <a:pt x="300" y="0"/>
                    <a:pt x="253" y="52"/>
                    <a:pt x="253" y="107"/>
                  </a:cubicBezTo>
                  <a:close/>
                  <a:moveTo>
                    <a:pt x="153" y="756"/>
                  </a:moveTo>
                  <a:cubicBezTo>
                    <a:pt x="153" y="751"/>
                    <a:pt x="154" y="749"/>
                    <a:pt x="160" y="749"/>
                  </a:cubicBezTo>
                  <a:lnTo>
                    <a:pt x="255" y="749"/>
                  </a:lnTo>
                  <a:lnTo>
                    <a:pt x="255" y="756"/>
                  </a:lnTo>
                  <a:cubicBezTo>
                    <a:pt x="255" y="764"/>
                    <a:pt x="216" y="787"/>
                    <a:pt x="208" y="791"/>
                  </a:cubicBezTo>
                  <a:cubicBezTo>
                    <a:pt x="201" y="786"/>
                    <a:pt x="186" y="771"/>
                    <a:pt x="175" y="771"/>
                  </a:cubicBezTo>
                  <a:lnTo>
                    <a:pt x="173" y="771"/>
                  </a:lnTo>
                  <a:cubicBezTo>
                    <a:pt x="167" y="771"/>
                    <a:pt x="158" y="780"/>
                    <a:pt x="158" y="786"/>
                  </a:cubicBezTo>
                  <a:lnTo>
                    <a:pt x="158" y="789"/>
                  </a:lnTo>
                  <a:cubicBezTo>
                    <a:pt x="158" y="795"/>
                    <a:pt x="193" y="834"/>
                    <a:pt x="200" y="834"/>
                  </a:cubicBezTo>
                  <a:lnTo>
                    <a:pt x="203" y="834"/>
                  </a:lnTo>
                  <a:cubicBezTo>
                    <a:pt x="208" y="834"/>
                    <a:pt x="247" y="802"/>
                    <a:pt x="255" y="796"/>
                  </a:cubicBezTo>
                  <a:cubicBezTo>
                    <a:pt x="255" y="810"/>
                    <a:pt x="261" y="854"/>
                    <a:pt x="248" y="854"/>
                  </a:cubicBezTo>
                  <a:lnTo>
                    <a:pt x="160" y="854"/>
                  </a:lnTo>
                  <a:cubicBezTo>
                    <a:pt x="154" y="854"/>
                    <a:pt x="153" y="852"/>
                    <a:pt x="153" y="846"/>
                  </a:cubicBezTo>
                  <a:lnTo>
                    <a:pt x="153" y="756"/>
                  </a:lnTo>
                  <a:close/>
                  <a:moveTo>
                    <a:pt x="248" y="879"/>
                  </a:moveTo>
                  <a:cubicBezTo>
                    <a:pt x="295" y="879"/>
                    <a:pt x="277" y="827"/>
                    <a:pt x="280" y="784"/>
                  </a:cubicBezTo>
                  <a:cubicBezTo>
                    <a:pt x="282" y="762"/>
                    <a:pt x="337" y="742"/>
                    <a:pt x="343" y="721"/>
                  </a:cubicBezTo>
                  <a:lnTo>
                    <a:pt x="335" y="721"/>
                  </a:lnTo>
                  <a:cubicBezTo>
                    <a:pt x="318" y="721"/>
                    <a:pt x="293" y="737"/>
                    <a:pt x="280" y="744"/>
                  </a:cubicBezTo>
                  <a:cubicBezTo>
                    <a:pt x="274" y="735"/>
                    <a:pt x="268" y="724"/>
                    <a:pt x="253" y="724"/>
                  </a:cubicBezTo>
                  <a:lnTo>
                    <a:pt x="155" y="724"/>
                  </a:lnTo>
                  <a:cubicBezTo>
                    <a:pt x="141" y="724"/>
                    <a:pt x="128" y="737"/>
                    <a:pt x="128" y="751"/>
                  </a:cubicBezTo>
                  <a:lnTo>
                    <a:pt x="128" y="851"/>
                  </a:lnTo>
                  <a:cubicBezTo>
                    <a:pt x="128" y="868"/>
                    <a:pt x="143" y="879"/>
                    <a:pt x="160" y="879"/>
                  </a:cubicBezTo>
                  <a:lnTo>
                    <a:pt x="248" y="879"/>
                  </a:lnTo>
                  <a:close/>
                  <a:moveTo>
                    <a:pt x="153" y="394"/>
                  </a:moveTo>
                  <a:cubicBezTo>
                    <a:pt x="153" y="389"/>
                    <a:pt x="154" y="387"/>
                    <a:pt x="160" y="387"/>
                  </a:cubicBezTo>
                  <a:lnTo>
                    <a:pt x="248" y="387"/>
                  </a:lnTo>
                  <a:cubicBezTo>
                    <a:pt x="253" y="387"/>
                    <a:pt x="255" y="389"/>
                    <a:pt x="255" y="394"/>
                  </a:cubicBezTo>
                  <a:cubicBezTo>
                    <a:pt x="255" y="401"/>
                    <a:pt x="213" y="429"/>
                    <a:pt x="208" y="429"/>
                  </a:cubicBezTo>
                  <a:cubicBezTo>
                    <a:pt x="203" y="429"/>
                    <a:pt x="190" y="409"/>
                    <a:pt x="175" y="409"/>
                  </a:cubicBezTo>
                  <a:cubicBezTo>
                    <a:pt x="168" y="409"/>
                    <a:pt x="158" y="417"/>
                    <a:pt x="158" y="424"/>
                  </a:cubicBezTo>
                  <a:lnTo>
                    <a:pt x="158" y="427"/>
                  </a:lnTo>
                  <a:cubicBezTo>
                    <a:pt x="158" y="437"/>
                    <a:pt x="192" y="470"/>
                    <a:pt x="200" y="474"/>
                  </a:cubicBezTo>
                  <a:lnTo>
                    <a:pt x="255" y="434"/>
                  </a:lnTo>
                  <a:lnTo>
                    <a:pt x="255" y="492"/>
                  </a:lnTo>
                  <a:lnTo>
                    <a:pt x="153" y="492"/>
                  </a:lnTo>
                  <a:lnTo>
                    <a:pt x="153" y="394"/>
                  </a:lnTo>
                  <a:close/>
                  <a:moveTo>
                    <a:pt x="278" y="382"/>
                  </a:moveTo>
                  <a:cubicBezTo>
                    <a:pt x="275" y="369"/>
                    <a:pt x="264" y="362"/>
                    <a:pt x="248" y="362"/>
                  </a:cubicBezTo>
                  <a:lnTo>
                    <a:pt x="160" y="362"/>
                  </a:lnTo>
                  <a:cubicBezTo>
                    <a:pt x="143" y="362"/>
                    <a:pt x="128" y="373"/>
                    <a:pt x="128" y="390"/>
                  </a:cubicBezTo>
                  <a:lnTo>
                    <a:pt x="128" y="489"/>
                  </a:lnTo>
                  <a:cubicBezTo>
                    <a:pt x="128" y="504"/>
                    <a:pt x="141" y="517"/>
                    <a:pt x="155" y="517"/>
                  </a:cubicBezTo>
                  <a:lnTo>
                    <a:pt x="253" y="517"/>
                  </a:lnTo>
                  <a:cubicBezTo>
                    <a:pt x="292" y="517"/>
                    <a:pt x="280" y="455"/>
                    <a:pt x="279" y="416"/>
                  </a:cubicBezTo>
                  <a:lnTo>
                    <a:pt x="343" y="362"/>
                  </a:lnTo>
                  <a:cubicBezTo>
                    <a:pt x="343" y="362"/>
                    <a:pt x="338" y="360"/>
                    <a:pt x="338" y="360"/>
                  </a:cubicBezTo>
                  <a:cubicBezTo>
                    <a:pt x="313" y="360"/>
                    <a:pt x="293" y="381"/>
                    <a:pt x="278" y="382"/>
                  </a:cubicBezTo>
                  <a:close/>
                  <a:moveTo>
                    <a:pt x="153" y="569"/>
                  </a:moveTo>
                  <a:lnTo>
                    <a:pt x="255" y="569"/>
                  </a:lnTo>
                  <a:lnTo>
                    <a:pt x="255" y="582"/>
                  </a:lnTo>
                  <a:lnTo>
                    <a:pt x="208" y="612"/>
                  </a:lnTo>
                  <a:lnTo>
                    <a:pt x="176" y="588"/>
                  </a:lnTo>
                  <a:cubicBezTo>
                    <a:pt x="168" y="593"/>
                    <a:pt x="158" y="595"/>
                    <a:pt x="158" y="607"/>
                  </a:cubicBezTo>
                  <a:cubicBezTo>
                    <a:pt x="158" y="614"/>
                    <a:pt x="193" y="654"/>
                    <a:pt x="200" y="654"/>
                  </a:cubicBezTo>
                  <a:cubicBezTo>
                    <a:pt x="212" y="654"/>
                    <a:pt x="242" y="620"/>
                    <a:pt x="255" y="617"/>
                  </a:cubicBezTo>
                  <a:lnTo>
                    <a:pt x="255" y="672"/>
                  </a:lnTo>
                  <a:lnTo>
                    <a:pt x="153" y="672"/>
                  </a:lnTo>
                  <a:lnTo>
                    <a:pt x="153" y="569"/>
                  </a:lnTo>
                  <a:close/>
                  <a:moveTo>
                    <a:pt x="280" y="563"/>
                  </a:moveTo>
                  <a:cubicBezTo>
                    <a:pt x="275" y="555"/>
                    <a:pt x="269" y="544"/>
                    <a:pt x="255" y="544"/>
                  </a:cubicBezTo>
                  <a:lnTo>
                    <a:pt x="153" y="544"/>
                  </a:lnTo>
                  <a:cubicBezTo>
                    <a:pt x="140" y="544"/>
                    <a:pt x="128" y="557"/>
                    <a:pt x="128" y="569"/>
                  </a:cubicBezTo>
                  <a:lnTo>
                    <a:pt x="128" y="672"/>
                  </a:lnTo>
                  <a:cubicBezTo>
                    <a:pt x="128" y="684"/>
                    <a:pt x="140" y="696"/>
                    <a:pt x="153" y="696"/>
                  </a:cubicBezTo>
                  <a:lnTo>
                    <a:pt x="255" y="696"/>
                  </a:lnTo>
                  <a:cubicBezTo>
                    <a:pt x="291" y="696"/>
                    <a:pt x="280" y="632"/>
                    <a:pt x="279" y="596"/>
                  </a:cubicBezTo>
                  <a:lnTo>
                    <a:pt x="343" y="542"/>
                  </a:lnTo>
                  <a:lnTo>
                    <a:pt x="334" y="538"/>
                  </a:lnTo>
                  <a:lnTo>
                    <a:pt x="280" y="563"/>
                  </a:lnTo>
                  <a:close/>
                  <a:moveTo>
                    <a:pt x="370" y="829"/>
                  </a:moveTo>
                  <a:cubicBezTo>
                    <a:pt x="370" y="834"/>
                    <a:pt x="372" y="836"/>
                    <a:pt x="378" y="836"/>
                  </a:cubicBezTo>
                  <a:lnTo>
                    <a:pt x="573" y="836"/>
                  </a:lnTo>
                  <a:cubicBezTo>
                    <a:pt x="579" y="836"/>
                    <a:pt x="580" y="834"/>
                    <a:pt x="580" y="829"/>
                  </a:cubicBezTo>
                  <a:lnTo>
                    <a:pt x="580" y="774"/>
                  </a:lnTo>
                  <a:cubicBezTo>
                    <a:pt x="580" y="768"/>
                    <a:pt x="579" y="766"/>
                    <a:pt x="573" y="766"/>
                  </a:cubicBezTo>
                  <a:lnTo>
                    <a:pt x="370" y="766"/>
                  </a:lnTo>
                  <a:lnTo>
                    <a:pt x="370" y="829"/>
                  </a:lnTo>
                  <a:close/>
                  <a:moveTo>
                    <a:pt x="370" y="654"/>
                  </a:moveTo>
                  <a:lnTo>
                    <a:pt x="580" y="654"/>
                  </a:lnTo>
                  <a:lnTo>
                    <a:pt x="580" y="587"/>
                  </a:lnTo>
                  <a:lnTo>
                    <a:pt x="370" y="587"/>
                  </a:lnTo>
                  <a:lnTo>
                    <a:pt x="370" y="654"/>
                  </a:lnTo>
                  <a:close/>
                  <a:moveTo>
                    <a:pt x="370" y="474"/>
                  </a:moveTo>
                  <a:lnTo>
                    <a:pt x="523" y="474"/>
                  </a:lnTo>
                  <a:lnTo>
                    <a:pt x="523" y="407"/>
                  </a:lnTo>
                  <a:lnTo>
                    <a:pt x="370" y="407"/>
                  </a:lnTo>
                  <a:lnTo>
                    <a:pt x="370" y="474"/>
                  </a:lnTo>
                  <a:close/>
                </a:path>
              </a:pathLst>
            </a:custGeom>
            <a:solidFill>
              <a:srgbClr val="0070C0"/>
            </a:solidFill>
            <a:ln>
              <a:noFill/>
            </a:ln>
          </p:spPr>
          <p:txBody>
            <a:bodyPr vert="horz" wrap="square" lIns="68571" tIns="34285" rIns="68571" bIns="34285" numCol="1" anchor="t" anchorCtr="0" compatLnSpc="1"/>
            <a:lstStyle/>
            <a:p>
              <a:pPr>
                <a:defRPr/>
              </a:pPr>
              <a:endParaRPr lang="zh-CN" altLang="en-US"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8" name="Freeform 15"/>
            <p:cNvSpPr>
              <a:spLocks noEditPoints="1"/>
            </p:cNvSpPr>
            <p:nvPr/>
          </p:nvSpPr>
          <p:spPr bwMode="auto">
            <a:xfrm>
              <a:off x="6411612" y="2414849"/>
              <a:ext cx="599870" cy="514251"/>
            </a:xfrm>
            <a:custGeom>
              <a:avLst/>
              <a:gdLst>
                <a:gd name="T0" fmla="*/ 737 w 1149"/>
                <a:gd name="T1" fmla="*/ 427 h 983"/>
                <a:gd name="T2" fmla="*/ 640 w 1149"/>
                <a:gd name="T3" fmla="*/ 427 h 983"/>
                <a:gd name="T4" fmla="*/ 616 w 1149"/>
                <a:gd name="T5" fmla="*/ 502 h 983"/>
                <a:gd name="T6" fmla="*/ 640 w 1149"/>
                <a:gd name="T7" fmla="*/ 810 h 983"/>
                <a:gd name="T8" fmla="*/ 575 w 1149"/>
                <a:gd name="T9" fmla="*/ 921 h 983"/>
                <a:gd name="T10" fmla="*/ 514 w 1149"/>
                <a:gd name="T11" fmla="*/ 810 h 983"/>
                <a:gd name="T12" fmla="*/ 549 w 1149"/>
                <a:gd name="T13" fmla="*/ 503 h 983"/>
                <a:gd name="T14" fmla="*/ 524 w 1149"/>
                <a:gd name="T15" fmla="*/ 427 h 983"/>
                <a:gd name="T16" fmla="*/ 417 w 1149"/>
                <a:gd name="T17" fmla="*/ 427 h 983"/>
                <a:gd name="T18" fmla="*/ 417 w 1149"/>
                <a:gd name="T19" fmla="*/ 427 h 983"/>
                <a:gd name="T20" fmla="*/ 241 w 1149"/>
                <a:gd name="T21" fmla="*/ 612 h 983"/>
                <a:gd name="T22" fmla="*/ 266 w 1149"/>
                <a:gd name="T23" fmla="*/ 801 h 983"/>
                <a:gd name="T24" fmla="*/ 443 w 1149"/>
                <a:gd name="T25" fmla="*/ 983 h 983"/>
                <a:gd name="T26" fmla="*/ 711 w 1149"/>
                <a:gd name="T27" fmla="*/ 983 h 983"/>
                <a:gd name="T28" fmla="*/ 888 w 1149"/>
                <a:gd name="T29" fmla="*/ 799 h 983"/>
                <a:gd name="T30" fmla="*/ 913 w 1149"/>
                <a:gd name="T31" fmla="*/ 609 h 983"/>
                <a:gd name="T32" fmla="*/ 737 w 1149"/>
                <a:gd name="T33" fmla="*/ 427 h 983"/>
                <a:gd name="T34" fmla="*/ 218 w 1149"/>
                <a:gd name="T35" fmla="*/ 308 h 983"/>
                <a:gd name="T36" fmla="*/ 330 w 1149"/>
                <a:gd name="T37" fmla="*/ 196 h 983"/>
                <a:gd name="T38" fmla="*/ 218 w 1149"/>
                <a:gd name="T39" fmla="*/ 83 h 983"/>
                <a:gd name="T40" fmla="*/ 105 w 1149"/>
                <a:gd name="T41" fmla="*/ 196 h 983"/>
                <a:gd name="T42" fmla="*/ 218 w 1149"/>
                <a:gd name="T43" fmla="*/ 308 h 983"/>
                <a:gd name="T44" fmla="*/ 318 w 1149"/>
                <a:gd name="T45" fmla="*/ 344 h 983"/>
                <a:gd name="T46" fmla="*/ 118 w 1149"/>
                <a:gd name="T47" fmla="*/ 344 h 983"/>
                <a:gd name="T48" fmla="*/ 118 w 1149"/>
                <a:gd name="T49" fmla="*/ 343 h 983"/>
                <a:gd name="T50" fmla="*/ 7 w 1149"/>
                <a:gd name="T51" fmla="*/ 458 h 983"/>
                <a:gd name="T52" fmla="*/ 23 w 1149"/>
                <a:gd name="T53" fmla="*/ 577 h 983"/>
                <a:gd name="T54" fmla="*/ 134 w 1149"/>
                <a:gd name="T55" fmla="*/ 689 h 983"/>
                <a:gd name="T56" fmla="*/ 191 w 1149"/>
                <a:gd name="T57" fmla="*/ 689 h 983"/>
                <a:gd name="T58" fmla="*/ 180 w 1149"/>
                <a:gd name="T59" fmla="*/ 606 h 983"/>
                <a:gd name="T60" fmla="*/ 180 w 1149"/>
                <a:gd name="T61" fmla="*/ 606 h 983"/>
                <a:gd name="T62" fmla="*/ 180 w 1149"/>
                <a:gd name="T63" fmla="*/ 606 h 983"/>
                <a:gd name="T64" fmla="*/ 231 w 1149"/>
                <a:gd name="T65" fmla="*/ 449 h 983"/>
                <a:gd name="T66" fmla="*/ 308 w 1149"/>
                <a:gd name="T67" fmla="*/ 393 h 983"/>
                <a:gd name="T68" fmla="*/ 387 w 1149"/>
                <a:gd name="T69" fmla="*/ 367 h 983"/>
                <a:gd name="T70" fmla="*/ 318 w 1149"/>
                <a:gd name="T71" fmla="*/ 344 h 983"/>
                <a:gd name="T72" fmla="*/ 931 w 1149"/>
                <a:gd name="T73" fmla="*/ 308 h 983"/>
                <a:gd name="T74" fmla="*/ 1043 w 1149"/>
                <a:gd name="T75" fmla="*/ 196 h 983"/>
                <a:gd name="T76" fmla="*/ 931 w 1149"/>
                <a:gd name="T77" fmla="*/ 83 h 983"/>
                <a:gd name="T78" fmla="*/ 819 w 1149"/>
                <a:gd name="T79" fmla="*/ 196 h 983"/>
                <a:gd name="T80" fmla="*/ 931 w 1149"/>
                <a:gd name="T81" fmla="*/ 308 h 983"/>
                <a:gd name="T82" fmla="*/ 1031 w 1149"/>
                <a:gd name="T83" fmla="*/ 344 h 983"/>
                <a:gd name="T84" fmla="*/ 831 w 1149"/>
                <a:gd name="T85" fmla="*/ 344 h 983"/>
                <a:gd name="T86" fmla="*/ 831 w 1149"/>
                <a:gd name="T87" fmla="*/ 343 h 983"/>
                <a:gd name="T88" fmla="*/ 763 w 1149"/>
                <a:gd name="T89" fmla="*/ 366 h 983"/>
                <a:gd name="T90" fmla="*/ 847 w 1149"/>
                <a:gd name="T91" fmla="*/ 393 h 983"/>
                <a:gd name="T92" fmla="*/ 925 w 1149"/>
                <a:gd name="T93" fmla="*/ 450 h 983"/>
                <a:gd name="T94" fmla="*/ 974 w 1149"/>
                <a:gd name="T95" fmla="*/ 603 h 983"/>
                <a:gd name="T96" fmla="*/ 974 w 1149"/>
                <a:gd name="T97" fmla="*/ 603 h 983"/>
                <a:gd name="T98" fmla="*/ 974 w 1149"/>
                <a:gd name="T99" fmla="*/ 603 h 983"/>
                <a:gd name="T100" fmla="*/ 962 w 1149"/>
                <a:gd name="T101" fmla="*/ 689 h 983"/>
                <a:gd name="T102" fmla="*/ 1015 w 1149"/>
                <a:gd name="T103" fmla="*/ 689 h 983"/>
                <a:gd name="T104" fmla="*/ 1126 w 1149"/>
                <a:gd name="T105" fmla="*/ 575 h 983"/>
                <a:gd name="T106" fmla="*/ 1142 w 1149"/>
                <a:gd name="T107" fmla="*/ 456 h 983"/>
                <a:gd name="T108" fmla="*/ 1031 w 1149"/>
                <a:gd name="T109" fmla="*/ 344 h 983"/>
                <a:gd name="T110" fmla="*/ 756 w 1149"/>
                <a:gd name="T111" fmla="*/ 184 h 983"/>
                <a:gd name="T112" fmla="*/ 577 w 1149"/>
                <a:gd name="T113" fmla="*/ 369 h 983"/>
                <a:gd name="T114" fmla="*/ 398 w 1149"/>
                <a:gd name="T115" fmla="*/ 184 h 983"/>
                <a:gd name="T116" fmla="*/ 577 w 1149"/>
                <a:gd name="T117" fmla="*/ 0 h 983"/>
                <a:gd name="T118" fmla="*/ 756 w 1149"/>
                <a:gd name="T119" fmla="*/ 184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49" h="983">
                  <a:moveTo>
                    <a:pt x="737" y="427"/>
                  </a:moveTo>
                  <a:lnTo>
                    <a:pt x="640" y="427"/>
                  </a:lnTo>
                  <a:cubicBezTo>
                    <a:pt x="641" y="437"/>
                    <a:pt x="642" y="483"/>
                    <a:pt x="616" y="502"/>
                  </a:cubicBezTo>
                  <a:cubicBezTo>
                    <a:pt x="616" y="502"/>
                    <a:pt x="658" y="735"/>
                    <a:pt x="640" y="810"/>
                  </a:cubicBezTo>
                  <a:cubicBezTo>
                    <a:pt x="633" y="842"/>
                    <a:pt x="606" y="921"/>
                    <a:pt x="575" y="921"/>
                  </a:cubicBezTo>
                  <a:cubicBezTo>
                    <a:pt x="544" y="920"/>
                    <a:pt x="520" y="841"/>
                    <a:pt x="514" y="810"/>
                  </a:cubicBezTo>
                  <a:cubicBezTo>
                    <a:pt x="499" y="735"/>
                    <a:pt x="549" y="503"/>
                    <a:pt x="549" y="503"/>
                  </a:cubicBezTo>
                  <a:cubicBezTo>
                    <a:pt x="541" y="500"/>
                    <a:pt x="527" y="486"/>
                    <a:pt x="524" y="427"/>
                  </a:cubicBezTo>
                  <a:lnTo>
                    <a:pt x="417" y="427"/>
                  </a:lnTo>
                  <a:lnTo>
                    <a:pt x="417" y="427"/>
                  </a:lnTo>
                  <a:cubicBezTo>
                    <a:pt x="320" y="427"/>
                    <a:pt x="229" y="510"/>
                    <a:pt x="241" y="612"/>
                  </a:cubicBezTo>
                  <a:lnTo>
                    <a:pt x="266" y="801"/>
                  </a:lnTo>
                  <a:cubicBezTo>
                    <a:pt x="286" y="902"/>
                    <a:pt x="345" y="983"/>
                    <a:pt x="443" y="983"/>
                  </a:cubicBezTo>
                  <a:lnTo>
                    <a:pt x="711" y="983"/>
                  </a:lnTo>
                  <a:cubicBezTo>
                    <a:pt x="809" y="983"/>
                    <a:pt x="868" y="899"/>
                    <a:pt x="888" y="799"/>
                  </a:cubicBezTo>
                  <a:lnTo>
                    <a:pt x="913" y="609"/>
                  </a:lnTo>
                  <a:cubicBezTo>
                    <a:pt x="925" y="510"/>
                    <a:pt x="834" y="427"/>
                    <a:pt x="737" y="427"/>
                  </a:cubicBezTo>
                  <a:close/>
                  <a:moveTo>
                    <a:pt x="218" y="308"/>
                  </a:moveTo>
                  <a:cubicBezTo>
                    <a:pt x="280" y="308"/>
                    <a:pt x="330" y="258"/>
                    <a:pt x="330" y="196"/>
                  </a:cubicBezTo>
                  <a:cubicBezTo>
                    <a:pt x="330" y="134"/>
                    <a:pt x="280" y="83"/>
                    <a:pt x="218" y="83"/>
                  </a:cubicBezTo>
                  <a:cubicBezTo>
                    <a:pt x="156" y="83"/>
                    <a:pt x="105" y="134"/>
                    <a:pt x="105" y="196"/>
                  </a:cubicBezTo>
                  <a:cubicBezTo>
                    <a:pt x="105" y="258"/>
                    <a:pt x="156" y="308"/>
                    <a:pt x="218" y="308"/>
                  </a:cubicBezTo>
                  <a:close/>
                  <a:moveTo>
                    <a:pt x="318" y="344"/>
                  </a:moveTo>
                  <a:lnTo>
                    <a:pt x="118" y="344"/>
                  </a:lnTo>
                  <a:lnTo>
                    <a:pt x="118" y="343"/>
                  </a:lnTo>
                  <a:cubicBezTo>
                    <a:pt x="57" y="343"/>
                    <a:pt x="0" y="395"/>
                    <a:pt x="7" y="458"/>
                  </a:cubicBezTo>
                  <a:lnTo>
                    <a:pt x="23" y="577"/>
                  </a:lnTo>
                  <a:cubicBezTo>
                    <a:pt x="35" y="639"/>
                    <a:pt x="73" y="689"/>
                    <a:pt x="134" y="689"/>
                  </a:cubicBezTo>
                  <a:lnTo>
                    <a:pt x="191" y="689"/>
                  </a:lnTo>
                  <a:lnTo>
                    <a:pt x="180" y="606"/>
                  </a:lnTo>
                  <a:lnTo>
                    <a:pt x="180" y="606"/>
                  </a:lnTo>
                  <a:lnTo>
                    <a:pt x="180" y="606"/>
                  </a:lnTo>
                  <a:cubicBezTo>
                    <a:pt x="173" y="549"/>
                    <a:pt x="191" y="493"/>
                    <a:pt x="231" y="449"/>
                  </a:cubicBezTo>
                  <a:cubicBezTo>
                    <a:pt x="252" y="425"/>
                    <a:pt x="279" y="406"/>
                    <a:pt x="308" y="393"/>
                  </a:cubicBezTo>
                  <a:cubicBezTo>
                    <a:pt x="333" y="379"/>
                    <a:pt x="359" y="371"/>
                    <a:pt x="387" y="367"/>
                  </a:cubicBezTo>
                  <a:cubicBezTo>
                    <a:pt x="367" y="352"/>
                    <a:pt x="343" y="344"/>
                    <a:pt x="318" y="344"/>
                  </a:cubicBezTo>
                  <a:close/>
                  <a:moveTo>
                    <a:pt x="931" y="308"/>
                  </a:moveTo>
                  <a:cubicBezTo>
                    <a:pt x="993" y="308"/>
                    <a:pt x="1043" y="258"/>
                    <a:pt x="1043" y="196"/>
                  </a:cubicBezTo>
                  <a:cubicBezTo>
                    <a:pt x="1043" y="134"/>
                    <a:pt x="993" y="83"/>
                    <a:pt x="931" y="83"/>
                  </a:cubicBezTo>
                  <a:cubicBezTo>
                    <a:pt x="869" y="83"/>
                    <a:pt x="819" y="134"/>
                    <a:pt x="819" y="196"/>
                  </a:cubicBezTo>
                  <a:cubicBezTo>
                    <a:pt x="819" y="258"/>
                    <a:pt x="869" y="308"/>
                    <a:pt x="931" y="308"/>
                  </a:cubicBezTo>
                  <a:close/>
                  <a:moveTo>
                    <a:pt x="1031" y="344"/>
                  </a:moveTo>
                  <a:lnTo>
                    <a:pt x="831" y="344"/>
                  </a:lnTo>
                  <a:lnTo>
                    <a:pt x="831" y="343"/>
                  </a:lnTo>
                  <a:cubicBezTo>
                    <a:pt x="806" y="343"/>
                    <a:pt x="782" y="352"/>
                    <a:pt x="763" y="366"/>
                  </a:cubicBezTo>
                  <a:cubicBezTo>
                    <a:pt x="792" y="370"/>
                    <a:pt x="821" y="379"/>
                    <a:pt x="847" y="393"/>
                  </a:cubicBezTo>
                  <a:cubicBezTo>
                    <a:pt x="877" y="406"/>
                    <a:pt x="903" y="426"/>
                    <a:pt x="925" y="450"/>
                  </a:cubicBezTo>
                  <a:cubicBezTo>
                    <a:pt x="963" y="494"/>
                    <a:pt x="981" y="548"/>
                    <a:pt x="974" y="603"/>
                  </a:cubicBezTo>
                  <a:lnTo>
                    <a:pt x="974" y="603"/>
                  </a:lnTo>
                  <a:lnTo>
                    <a:pt x="974" y="603"/>
                  </a:lnTo>
                  <a:lnTo>
                    <a:pt x="962" y="689"/>
                  </a:lnTo>
                  <a:lnTo>
                    <a:pt x="1015" y="689"/>
                  </a:lnTo>
                  <a:cubicBezTo>
                    <a:pt x="1076" y="689"/>
                    <a:pt x="1114" y="637"/>
                    <a:pt x="1126" y="575"/>
                  </a:cubicBezTo>
                  <a:lnTo>
                    <a:pt x="1142" y="456"/>
                  </a:lnTo>
                  <a:cubicBezTo>
                    <a:pt x="1149" y="395"/>
                    <a:pt x="1092" y="344"/>
                    <a:pt x="1031" y="344"/>
                  </a:cubicBezTo>
                  <a:close/>
                  <a:moveTo>
                    <a:pt x="756" y="184"/>
                  </a:moveTo>
                  <a:cubicBezTo>
                    <a:pt x="756" y="286"/>
                    <a:pt x="676" y="369"/>
                    <a:pt x="577" y="369"/>
                  </a:cubicBezTo>
                  <a:cubicBezTo>
                    <a:pt x="478" y="369"/>
                    <a:pt x="398" y="286"/>
                    <a:pt x="398" y="184"/>
                  </a:cubicBezTo>
                  <a:cubicBezTo>
                    <a:pt x="398" y="82"/>
                    <a:pt x="478" y="0"/>
                    <a:pt x="577" y="0"/>
                  </a:cubicBezTo>
                  <a:cubicBezTo>
                    <a:pt x="676" y="0"/>
                    <a:pt x="756" y="82"/>
                    <a:pt x="756" y="184"/>
                  </a:cubicBezTo>
                  <a:close/>
                </a:path>
              </a:pathLst>
            </a:custGeom>
            <a:solidFill>
              <a:schemeClr val="bg1">
                <a:lumMod val="95000"/>
              </a:schemeClr>
            </a:solidFill>
            <a:ln>
              <a:noFill/>
            </a:ln>
          </p:spPr>
          <p:txBody>
            <a:bodyPr vert="horz" wrap="square" lIns="68571" tIns="34285" rIns="68571" bIns="34285" numCol="1" anchor="t" anchorCtr="0" compatLnSpc="1"/>
            <a:lstStyle/>
            <a:p>
              <a:pPr>
                <a:defRPr/>
              </a:pPr>
              <a:endParaRPr lang="zh-CN" altLang="en-US"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9" name="Freeform 17"/>
            <p:cNvSpPr>
              <a:spLocks noEditPoints="1"/>
            </p:cNvSpPr>
            <p:nvPr/>
          </p:nvSpPr>
          <p:spPr bwMode="auto">
            <a:xfrm>
              <a:off x="7043691" y="3474722"/>
              <a:ext cx="526251" cy="527891"/>
            </a:xfrm>
            <a:custGeom>
              <a:avLst/>
              <a:gdLst>
                <a:gd name="T0" fmla="*/ 504 w 1008"/>
                <a:gd name="T1" fmla="*/ 1009 h 1009"/>
                <a:gd name="T2" fmla="*/ 0 w 1008"/>
                <a:gd name="T3" fmla="*/ 504 h 1009"/>
                <a:gd name="T4" fmla="*/ 504 w 1008"/>
                <a:gd name="T5" fmla="*/ 0 h 1009"/>
                <a:gd name="T6" fmla="*/ 1008 w 1008"/>
                <a:gd name="T7" fmla="*/ 504 h 1009"/>
                <a:gd name="T8" fmla="*/ 504 w 1008"/>
                <a:gd name="T9" fmla="*/ 1009 h 1009"/>
                <a:gd name="T10" fmla="*/ 725 w 1008"/>
                <a:gd name="T11" fmla="*/ 769 h 1009"/>
                <a:gd name="T12" fmla="*/ 725 w 1008"/>
                <a:gd name="T13" fmla="*/ 769 h 1009"/>
                <a:gd name="T14" fmla="*/ 538 w 1008"/>
                <a:gd name="T15" fmla="*/ 586 h 1009"/>
                <a:gd name="T16" fmla="*/ 504 w 1008"/>
                <a:gd name="T17" fmla="*/ 592 h 1009"/>
                <a:gd name="T18" fmla="*/ 416 w 1008"/>
                <a:gd name="T19" fmla="*/ 504 h 1009"/>
                <a:gd name="T20" fmla="*/ 456 w 1008"/>
                <a:gd name="T21" fmla="*/ 431 h 1009"/>
                <a:gd name="T22" fmla="*/ 456 w 1008"/>
                <a:gd name="T23" fmla="*/ 179 h 1009"/>
                <a:gd name="T24" fmla="*/ 553 w 1008"/>
                <a:gd name="T25" fmla="*/ 179 h 1009"/>
                <a:gd name="T26" fmla="*/ 553 w 1008"/>
                <a:gd name="T27" fmla="*/ 431 h 1009"/>
                <a:gd name="T28" fmla="*/ 592 w 1008"/>
                <a:gd name="T29" fmla="*/ 504 h 1009"/>
                <a:gd name="T30" fmla="*/ 586 w 1008"/>
                <a:gd name="T31" fmla="*/ 536 h 1009"/>
                <a:gd name="T32" fmla="*/ 774 w 1008"/>
                <a:gd name="T33" fmla="*/ 719 h 1009"/>
                <a:gd name="T34" fmla="*/ 725 w 1008"/>
                <a:gd name="T35" fmla="*/ 769 h 1009"/>
                <a:gd name="T36" fmla="*/ 168 w 1008"/>
                <a:gd name="T37" fmla="*/ 471 h 1009"/>
                <a:gd name="T38" fmla="*/ 168 w 1008"/>
                <a:gd name="T39" fmla="*/ 471 h 1009"/>
                <a:gd name="T40" fmla="*/ 234 w 1008"/>
                <a:gd name="T41" fmla="*/ 471 h 1009"/>
                <a:gd name="T42" fmla="*/ 234 w 1008"/>
                <a:gd name="T43" fmla="*/ 538 h 1009"/>
                <a:gd name="T44" fmla="*/ 168 w 1008"/>
                <a:gd name="T45" fmla="*/ 538 h 1009"/>
                <a:gd name="T46" fmla="*/ 168 w 1008"/>
                <a:gd name="T47" fmla="*/ 471 h 1009"/>
                <a:gd name="T48" fmla="*/ 774 w 1008"/>
                <a:gd name="T49" fmla="*/ 471 h 1009"/>
                <a:gd name="T50" fmla="*/ 774 w 1008"/>
                <a:gd name="T51" fmla="*/ 471 h 1009"/>
                <a:gd name="T52" fmla="*/ 840 w 1008"/>
                <a:gd name="T53" fmla="*/ 471 h 1009"/>
                <a:gd name="T54" fmla="*/ 840 w 1008"/>
                <a:gd name="T55" fmla="*/ 538 h 1009"/>
                <a:gd name="T56" fmla="*/ 774 w 1008"/>
                <a:gd name="T57" fmla="*/ 538 h 1009"/>
                <a:gd name="T58" fmla="*/ 774 w 1008"/>
                <a:gd name="T59" fmla="*/ 471 h 1009"/>
                <a:gd name="T60" fmla="*/ 470 w 1008"/>
                <a:gd name="T61" fmla="*/ 840 h 1009"/>
                <a:gd name="T62" fmla="*/ 470 w 1008"/>
                <a:gd name="T63" fmla="*/ 840 h 1009"/>
                <a:gd name="T64" fmla="*/ 470 w 1008"/>
                <a:gd name="T65" fmla="*/ 775 h 1009"/>
                <a:gd name="T66" fmla="*/ 538 w 1008"/>
                <a:gd name="T67" fmla="*/ 775 h 1009"/>
                <a:gd name="T68" fmla="*/ 538 w 1008"/>
                <a:gd name="T69" fmla="*/ 840 h 1009"/>
                <a:gd name="T70" fmla="*/ 470 w 1008"/>
                <a:gd name="T71" fmla="*/ 840 h 1009"/>
                <a:gd name="T72" fmla="*/ 504 w 1008"/>
                <a:gd name="T73" fmla="*/ 912 h 1009"/>
                <a:gd name="T74" fmla="*/ 504 w 1008"/>
                <a:gd name="T75" fmla="*/ 912 h 1009"/>
                <a:gd name="T76" fmla="*/ 912 w 1008"/>
                <a:gd name="T77" fmla="*/ 504 h 1009"/>
                <a:gd name="T78" fmla="*/ 504 w 1008"/>
                <a:gd name="T79" fmla="*/ 97 h 1009"/>
                <a:gd name="T80" fmla="*/ 96 w 1008"/>
                <a:gd name="T81" fmla="*/ 504 h 1009"/>
                <a:gd name="T82" fmla="*/ 504 w 1008"/>
                <a:gd name="T83" fmla="*/ 912 h 10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08" h="1009">
                  <a:moveTo>
                    <a:pt x="504" y="1009"/>
                  </a:moveTo>
                  <a:cubicBezTo>
                    <a:pt x="226" y="1009"/>
                    <a:pt x="0" y="783"/>
                    <a:pt x="0" y="504"/>
                  </a:cubicBezTo>
                  <a:cubicBezTo>
                    <a:pt x="0" y="226"/>
                    <a:pt x="226" y="0"/>
                    <a:pt x="504" y="0"/>
                  </a:cubicBezTo>
                  <a:cubicBezTo>
                    <a:pt x="782" y="0"/>
                    <a:pt x="1008" y="226"/>
                    <a:pt x="1008" y="504"/>
                  </a:cubicBezTo>
                  <a:cubicBezTo>
                    <a:pt x="1008" y="783"/>
                    <a:pt x="782" y="1009"/>
                    <a:pt x="504" y="1009"/>
                  </a:cubicBezTo>
                  <a:close/>
                  <a:moveTo>
                    <a:pt x="725" y="769"/>
                  </a:moveTo>
                  <a:lnTo>
                    <a:pt x="725" y="769"/>
                  </a:lnTo>
                  <a:lnTo>
                    <a:pt x="538" y="586"/>
                  </a:lnTo>
                  <a:cubicBezTo>
                    <a:pt x="528" y="590"/>
                    <a:pt x="516" y="592"/>
                    <a:pt x="504" y="592"/>
                  </a:cubicBezTo>
                  <a:cubicBezTo>
                    <a:pt x="455" y="592"/>
                    <a:pt x="416" y="553"/>
                    <a:pt x="416" y="504"/>
                  </a:cubicBezTo>
                  <a:cubicBezTo>
                    <a:pt x="416" y="474"/>
                    <a:pt x="432" y="447"/>
                    <a:pt x="456" y="431"/>
                  </a:cubicBezTo>
                  <a:lnTo>
                    <a:pt x="456" y="179"/>
                  </a:lnTo>
                  <a:cubicBezTo>
                    <a:pt x="456" y="115"/>
                    <a:pt x="553" y="115"/>
                    <a:pt x="553" y="179"/>
                  </a:cubicBezTo>
                  <a:lnTo>
                    <a:pt x="553" y="431"/>
                  </a:lnTo>
                  <a:cubicBezTo>
                    <a:pt x="576" y="447"/>
                    <a:pt x="592" y="474"/>
                    <a:pt x="592" y="504"/>
                  </a:cubicBezTo>
                  <a:cubicBezTo>
                    <a:pt x="592" y="516"/>
                    <a:pt x="590" y="526"/>
                    <a:pt x="586" y="536"/>
                  </a:cubicBezTo>
                  <a:lnTo>
                    <a:pt x="774" y="719"/>
                  </a:lnTo>
                  <a:cubicBezTo>
                    <a:pt x="806" y="751"/>
                    <a:pt x="758" y="801"/>
                    <a:pt x="725" y="769"/>
                  </a:cubicBezTo>
                  <a:close/>
                  <a:moveTo>
                    <a:pt x="168" y="471"/>
                  </a:moveTo>
                  <a:lnTo>
                    <a:pt x="168" y="471"/>
                  </a:lnTo>
                  <a:lnTo>
                    <a:pt x="234" y="471"/>
                  </a:lnTo>
                  <a:cubicBezTo>
                    <a:pt x="278" y="471"/>
                    <a:pt x="278" y="538"/>
                    <a:pt x="234" y="538"/>
                  </a:cubicBezTo>
                  <a:lnTo>
                    <a:pt x="168" y="538"/>
                  </a:lnTo>
                  <a:cubicBezTo>
                    <a:pt x="123" y="538"/>
                    <a:pt x="123" y="471"/>
                    <a:pt x="168" y="471"/>
                  </a:cubicBezTo>
                  <a:close/>
                  <a:moveTo>
                    <a:pt x="774" y="471"/>
                  </a:moveTo>
                  <a:lnTo>
                    <a:pt x="774" y="471"/>
                  </a:lnTo>
                  <a:lnTo>
                    <a:pt x="840" y="471"/>
                  </a:lnTo>
                  <a:cubicBezTo>
                    <a:pt x="885" y="471"/>
                    <a:pt x="885" y="538"/>
                    <a:pt x="840" y="538"/>
                  </a:cubicBezTo>
                  <a:lnTo>
                    <a:pt x="774" y="538"/>
                  </a:lnTo>
                  <a:cubicBezTo>
                    <a:pt x="730" y="538"/>
                    <a:pt x="730" y="471"/>
                    <a:pt x="774" y="471"/>
                  </a:cubicBezTo>
                  <a:close/>
                  <a:moveTo>
                    <a:pt x="470" y="840"/>
                  </a:moveTo>
                  <a:lnTo>
                    <a:pt x="470" y="840"/>
                  </a:lnTo>
                  <a:lnTo>
                    <a:pt x="470" y="775"/>
                  </a:lnTo>
                  <a:cubicBezTo>
                    <a:pt x="470" y="730"/>
                    <a:pt x="538" y="730"/>
                    <a:pt x="538" y="775"/>
                  </a:cubicBezTo>
                  <a:lnTo>
                    <a:pt x="538" y="840"/>
                  </a:lnTo>
                  <a:cubicBezTo>
                    <a:pt x="538" y="885"/>
                    <a:pt x="470" y="885"/>
                    <a:pt x="470" y="840"/>
                  </a:cubicBezTo>
                  <a:close/>
                  <a:moveTo>
                    <a:pt x="504" y="912"/>
                  </a:moveTo>
                  <a:lnTo>
                    <a:pt x="504" y="912"/>
                  </a:lnTo>
                  <a:cubicBezTo>
                    <a:pt x="729" y="912"/>
                    <a:pt x="912" y="730"/>
                    <a:pt x="912" y="504"/>
                  </a:cubicBezTo>
                  <a:cubicBezTo>
                    <a:pt x="912" y="279"/>
                    <a:pt x="729" y="97"/>
                    <a:pt x="504" y="97"/>
                  </a:cubicBezTo>
                  <a:cubicBezTo>
                    <a:pt x="279" y="97"/>
                    <a:pt x="96" y="279"/>
                    <a:pt x="96" y="504"/>
                  </a:cubicBezTo>
                  <a:cubicBezTo>
                    <a:pt x="96" y="730"/>
                    <a:pt x="279" y="912"/>
                    <a:pt x="504" y="912"/>
                  </a:cubicBezTo>
                  <a:close/>
                </a:path>
              </a:pathLst>
            </a:custGeom>
            <a:solidFill>
              <a:srgbClr val="0070C0"/>
            </a:solidFill>
            <a:ln>
              <a:noFill/>
            </a:ln>
          </p:spPr>
          <p:txBody>
            <a:bodyPr vert="horz" wrap="square" lIns="68571" tIns="34285" rIns="68571" bIns="34285" numCol="1" anchor="t" anchorCtr="0" compatLnSpc="1"/>
            <a:lstStyle/>
            <a:p>
              <a:pPr>
                <a:defRPr/>
              </a:pPr>
              <a:endParaRPr lang="zh-CN" altLang="en-US"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30" name="组合 29"/>
            <p:cNvGrpSpPr/>
            <p:nvPr/>
          </p:nvGrpSpPr>
          <p:grpSpPr>
            <a:xfrm>
              <a:off x="6421528" y="4525290"/>
              <a:ext cx="580037" cy="538318"/>
              <a:chOff x="5928340" y="670992"/>
              <a:chExt cx="506444" cy="470018"/>
            </a:xfrm>
            <a:solidFill>
              <a:schemeClr val="bg1">
                <a:lumMod val="95000"/>
              </a:schemeClr>
            </a:solidFill>
          </p:grpSpPr>
          <p:sp>
            <p:nvSpPr>
              <p:cNvPr id="37" name="Freeform 36"/>
              <p:cNvSpPr>
                <a:spLocks noEditPoints="1"/>
              </p:cNvSpPr>
              <p:nvPr/>
            </p:nvSpPr>
            <p:spPr bwMode="auto">
              <a:xfrm>
                <a:off x="5993909" y="670992"/>
                <a:ext cx="241151" cy="160240"/>
              </a:xfrm>
              <a:custGeom>
                <a:avLst/>
                <a:gdLst>
                  <a:gd name="T0" fmla="*/ 133 w 372"/>
                  <a:gd name="T1" fmla="*/ 185 h 247"/>
                  <a:gd name="T2" fmla="*/ 118 w 372"/>
                  <a:gd name="T3" fmla="*/ 152 h 247"/>
                  <a:gd name="T4" fmla="*/ 136 w 372"/>
                  <a:gd name="T5" fmla="*/ 115 h 247"/>
                  <a:gd name="T6" fmla="*/ 180 w 372"/>
                  <a:gd name="T7" fmla="*/ 100 h 247"/>
                  <a:gd name="T8" fmla="*/ 180 w 372"/>
                  <a:gd name="T9" fmla="*/ 84 h 247"/>
                  <a:gd name="T10" fmla="*/ 205 w 372"/>
                  <a:gd name="T11" fmla="*/ 84 h 247"/>
                  <a:gd name="T12" fmla="*/ 205 w 372"/>
                  <a:gd name="T13" fmla="*/ 99 h 247"/>
                  <a:gd name="T14" fmla="*/ 246 w 372"/>
                  <a:gd name="T15" fmla="*/ 114 h 247"/>
                  <a:gd name="T16" fmla="*/ 263 w 372"/>
                  <a:gd name="T17" fmla="*/ 152 h 247"/>
                  <a:gd name="T18" fmla="*/ 221 w 372"/>
                  <a:gd name="T19" fmla="*/ 152 h 247"/>
                  <a:gd name="T20" fmla="*/ 215 w 372"/>
                  <a:gd name="T21" fmla="*/ 136 h 247"/>
                  <a:gd name="T22" fmla="*/ 167 w 372"/>
                  <a:gd name="T23" fmla="*/ 134 h 247"/>
                  <a:gd name="T24" fmla="*/ 167 w 372"/>
                  <a:gd name="T25" fmla="*/ 156 h 247"/>
                  <a:gd name="T26" fmla="*/ 217 w 372"/>
                  <a:gd name="T27" fmla="*/ 171 h 247"/>
                  <a:gd name="T28" fmla="*/ 251 w 372"/>
                  <a:gd name="T29" fmla="*/ 188 h 247"/>
                  <a:gd name="T30" fmla="*/ 266 w 372"/>
                  <a:gd name="T31" fmla="*/ 223 h 247"/>
                  <a:gd name="T32" fmla="*/ 265 w 372"/>
                  <a:gd name="T33" fmla="*/ 234 h 247"/>
                  <a:gd name="T34" fmla="*/ 259 w 372"/>
                  <a:gd name="T35" fmla="*/ 246 h 247"/>
                  <a:gd name="T36" fmla="*/ 222 w 372"/>
                  <a:gd name="T37" fmla="*/ 230 h 247"/>
                  <a:gd name="T38" fmla="*/ 217 w 372"/>
                  <a:gd name="T39" fmla="*/ 217 h 247"/>
                  <a:gd name="T40" fmla="*/ 133 w 372"/>
                  <a:gd name="T41" fmla="*/ 185 h 247"/>
                  <a:gd name="T42" fmla="*/ 191 w 372"/>
                  <a:gd name="T43" fmla="*/ 39 h 247"/>
                  <a:gd name="T44" fmla="*/ 83 w 372"/>
                  <a:gd name="T45" fmla="*/ 83 h 247"/>
                  <a:gd name="T46" fmla="*/ 39 w 372"/>
                  <a:gd name="T47" fmla="*/ 191 h 247"/>
                  <a:gd name="T48" fmla="*/ 44 w 372"/>
                  <a:gd name="T49" fmla="*/ 231 h 247"/>
                  <a:gd name="T50" fmla="*/ 9 w 372"/>
                  <a:gd name="T51" fmla="*/ 247 h 247"/>
                  <a:gd name="T52" fmla="*/ 0 w 372"/>
                  <a:gd name="T53" fmla="*/ 191 h 247"/>
                  <a:gd name="T54" fmla="*/ 56 w 372"/>
                  <a:gd name="T55" fmla="*/ 56 h 247"/>
                  <a:gd name="T56" fmla="*/ 191 w 372"/>
                  <a:gd name="T57" fmla="*/ 0 h 247"/>
                  <a:gd name="T58" fmla="*/ 326 w 372"/>
                  <a:gd name="T59" fmla="*/ 56 h 247"/>
                  <a:gd name="T60" fmla="*/ 372 w 372"/>
                  <a:gd name="T61" fmla="*/ 132 h 247"/>
                  <a:gd name="T62" fmla="*/ 339 w 372"/>
                  <a:gd name="T63" fmla="*/ 152 h 247"/>
                  <a:gd name="T64" fmla="*/ 299 w 372"/>
                  <a:gd name="T65" fmla="*/ 83 h 247"/>
                  <a:gd name="T66" fmla="*/ 191 w 372"/>
                  <a:gd name="T67" fmla="*/ 39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2" h="247">
                    <a:moveTo>
                      <a:pt x="133" y="185"/>
                    </a:moveTo>
                    <a:cubicBezTo>
                      <a:pt x="123" y="177"/>
                      <a:pt x="118" y="166"/>
                      <a:pt x="118" y="152"/>
                    </a:cubicBezTo>
                    <a:cubicBezTo>
                      <a:pt x="118" y="136"/>
                      <a:pt x="124" y="124"/>
                      <a:pt x="136" y="115"/>
                    </a:cubicBezTo>
                    <a:cubicBezTo>
                      <a:pt x="147" y="105"/>
                      <a:pt x="160" y="100"/>
                      <a:pt x="180" y="100"/>
                    </a:cubicBezTo>
                    <a:cubicBezTo>
                      <a:pt x="180" y="84"/>
                      <a:pt x="180" y="84"/>
                      <a:pt x="180" y="84"/>
                    </a:cubicBezTo>
                    <a:cubicBezTo>
                      <a:pt x="205" y="84"/>
                      <a:pt x="205" y="84"/>
                      <a:pt x="205" y="84"/>
                    </a:cubicBezTo>
                    <a:cubicBezTo>
                      <a:pt x="205" y="99"/>
                      <a:pt x="205" y="99"/>
                      <a:pt x="205" y="99"/>
                    </a:cubicBezTo>
                    <a:cubicBezTo>
                      <a:pt x="224" y="100"/>
                      <a:pt x="235" y="104"/>
                      <a:pt x="246" y="114"/>
                    </a:cubicBezTo>
                    <a:cubicBezTo>
                      <a:pt x="257" y="123"/>
                      <a:pt x="262" y="136"/>
                      <a:pt x="263" y="152"/>
                    </a:cubicBezTo>
                    <a:cubicBezTo>
                      <a:pt x="221" y="152"/>
                      <a:pt x="221" y="152"/>
                      <a:pt x="221" y="152"/>
                    </a:cubicBezTo>
                    <a:cubicBezTo>
                      <a:pt x="220" y="145"/>
                      <a:pt x="218" y="140"/>
                      <a:pt x="215" y="136"/>
                    </a:cubicBezTo>
                    <a:cubicBezTo>
                      <a:pt x="208" y="128"/>
                      <a:pt x="176" y="128"/>
                      <a:pt x="167" y="134"/>
                    </a:cubicBezTo>
                    <a:cubicBezTo>
                      <a:pt x="161" y="139"/>
                      <a:pt x="160" y="151"/>
                      <a:pt x="167" y="156"/>
                    </a:cubicBezTo>
                    <a:cubicBezTo>
                      <a:pt x="175" y="162"/>
                      <a:pt x="205" y="167"/>
                      <a:pt x="217" y="171"/>
                    </a:cubicBezTo>
                    <a:cubicBezTo>
                      <a:pt x="232" y="176"/>
                      <a:pt x="244" y="181"/>
                      <a:pt x="251" y="188"/>
                    </a:cubicBezTo>
                    <a:cubicBezTo>
                      <a:pt x="261" y="197"/>
                      <a:pt x="266" y="208"/>
                      <a:pt x="266" y="223"/>
                    </a:cubicBezTo>
                    <a:cubicBezTo>
                      <a:pt x="266" y="227"/>
                      <a:pt x="266" y="231"/>
                      <a:pt x="265" y="234"/>
                    </a:cubicBezTo>
                    <a:cubicBezTo>
                      <a:pt x="263" y="238"/>
                      <a:pt x="261" y="242"/>
                      <a:pt x="259" y="246"/>
                    </a:cubicBezTo>
                    <a:cubicBezTo>
                      <a:pt x="247" y="240"/>
                      <a:pt x="235" y="235"/>
                      <a:pt x="222" y="230"/>
                    </a:cubicBezTo>
                    <a:cubicBezTo>
                      <a:pt x="223" y="225"/>
                      <a:pt x="221" y="220"/>
                      <a:pt x="217" y="217"/>
                    </a:cubicBezTo>
                    <a:cubicBezTo>
                      <a:pt x="200" y="204"/>
                      <a:pt x="158" y="207"/>
                      <a:pt x="133" y="185"/>
                    </a:cubicBezTo>
                    <a:close/>
                    <a:moveTo>
                      <a:pt x="191" y="39"/>
                    </a:moveTo>
                    <a:cubicBezTo>
                      <a:pt x="149" y="39"/>
                      <a:pt x="111" y="56"/>
                      <a:pt x="83" y="83"/>
                    </a:cubicBezTo>
                    <a:cubicBezTo>
                      <a:pt x="56" y="111"/>
                      <a:pt x="39" y="149"/>
                      <a:pt x="39" y="191"/>
                    </a:cubicBezTo>
                    <a:cubicBezTo>
                      <a:pt x="39" y="205"/>
                      <a:pt x="40" y="219"/>
                      <a:pt x="44" y="231"/>
                    </a:cubicBezTo>
                    <a:cubicBezTo>
                      <a:pt x="32" y="236"/>
                      <a:pt x="20" y="241"/>
                      <a:pt x="9" y="247"/>
                    </a:cubicBezTo>
                    <a:cubicBezTo>
                      <a:pt x="3" y="229"/>
                      <a:pt x="0" y="210"/>
                      <a:pt x="0" y="191"/>
                    </a:cubicBezTo>
                    <a:cubicBezTo>
                      <a:pt x="0" y="138"/>
                      <a:pt x="22" y="91"/>
                      <a:pt x="56" y="56"/>
                    </a:cubicBezTo>
                    <a:cubicBezTo>
                      <a:pt x="91" y="22"/>
                      <a:pt x="138" y="0"/>
                      <a:pt x="191" y="0"/>
                    </a:cubicBezTo>
                    <a:cubicBezTo>
                      <a:pt x="244" y="0"/>
                      <a:pt x="291" y="22"/>
                      <a:pt x="326" y="56"/>
                    </a:cubicBezTo>
                    <a:cubicBezTo>
                      <a:pt x="347" y="77"/>
                      <a:pt x="363" y="103"/>
                      <a:pt x="372" y="132"/>
                    </a:cubicBezTo>
                    <a:cubicBezTo>
                      <a:pt x="361" y="138"/>
                      <a:pt x="349" y="145"/>
                      <a:pt x="339" y="152"/>
                    </a:cubicBezTo>
                    <a:cubicBezTo>
                      <a:pt x="332" y="126"/>
                      <a:pt x="318" y="102"/>
                      <a:pt x="299" y="83"/>
                    </a:cubicBezTo>
                    <a:cubicBezTo>
                      <a:pt x="271" y="56"/>
                      <a:pt x="233" y="39"/>
                      <a:pt x="191"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9" tIns="34295" rIns="68589" bIns="34295" numCol="1" anchor="t" anchorCtr="0" compatLnSpc="1"/>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8" name="Freeform 37"/>
              <p:cNvSpPr>
                <a:spLocks noEditPoints="1"/>
              </p:cNvSpPr>
              <p:nvPr/>
            </p:nvSpPr>
            <p:spPr bwMode="auto">
              <a:xfrm>
                <a:off x="6183208" y="766203"/>
                <a:ext cx="251576" cy="263409"/>
              </a:xfrm>
              <a:custGeom>
                <a:avLst/>
                <a:gdLst>
                  <a:gd name="T0" fmla="*/ 41 w 388"/>
                  <a:gd name="T1" fmla="*/ 59 h 406"/>
                  <a:gd name="T2" fmla="*/ 185 w 388"/>
                  <a:gd name="T3" fmla="*/ 0 h 406"/>
                  <a:gd name="T4" fmla="*/ 329 w 388"/>
                  <a:gd name="T5" fmla="*/ 59 h 406"/>
                  <a:gd name="T6" fmla="*/ 388 w 388"/>
                  <a:gd name="T7" fmla="*/ 203 h 406"/>
                  <a:gd name="T8" fmla="*/ 329 w 388"/>
                  <a:gd name="T9" fmla="*/ 347 h 406"/>
                  <a:gd name="T10" fmla="*/ 185 w 388"/>
                  <a:gd name="T11" fmla="*/ 406 h 406"/>
                  <a:gd name="T12" fmla="*/ 111 w 388"/>
                  <a:gd name="T13" fmla="*/ 393 h 406"/>
                  <a:gd name="T14" fmla="*/ 116 w 388"/>
                  <a:gd name="T15" fmla="*/ 342 h 406"/>
                  <a:gd name="T16" fmla="*/ 36 w 388"/>
                  <a:gd name="T17" fmla="*/ 149 h 406"/>
                  <a:gd name="T18" fmla="*/ 0 w 388"/>
                  <a:gd name="T19" fmla="*/ 119 h 406"/>
                  <a:gd name="T20" fmla="*/ 41 w 388"/>
                  <a:gd name="T21" fmla="*/ 59 h 406"/>
                  <a:gd name="T22" fmla="*/ 123 w 388"/>
                  <a:gd name="T23" fmla="*/ 197 h 406"/>
                  <a:gd name="T24" fmla="*/ 107 w 388"/>
                  <a:gd name="T25" fmla="*/ 161 h 406"/>
                  <a:gd name="T26" fmla="*/ 126 w 388"/>
                  <a:gd name="T27" fmla="*/ 121 h 406"/>
                  <a:gd name="T28" fmla="*/ 173 w 388"/>
                  <a:gd name="T29" fmla="*/ 105 h 406"/>
                  <a:gd name="T30" fmla="*/ 173 w 388"/>
                  <a:gd name="T31" fmla="*/ 88 h 406"/>
                  <a:gd name="T32" fmla="*/ 200 w 388"/>
                  <a:gd name="T33" fmla="*/ 88 h 406"/>
                  <a:gd name="T34" fmla="*/ 200 w 388"/>
                  <a:gd name="T35" fmla="*/ 104 h 406"/>
                  <a:gd name="T36" fmla="*/ 244 w 388"/>
                  <a:gd name="T37" fmla="*/ 120 h 406"/>
                  <a:gd name="T38" fmla="*/ 262 w 388"/>
                  <a:gd name="T39" fmla="*/ 161 h 406"/>
                  <a:gd name="T40" fmla="*/ 217 w 388"/>
                  <a:gd name="T41" fmla="*/ 161 h 406"/>
                  <a:gd name="T42" fmla="*/ 211 w 388"/>
                  <a:gd name="T43" fmla="*/ 144 h 406"/>
                  <a:gd name="T44" fmla="*/ 160 w 388"/>
                  <a:gd name="T45" fmla="*/ 142 h 406"/>
                  <a:gd name="T46" fmla="*/ 159 w 388"/>
                  <a:gd name="T47" fmla="*/ 165 h 406"/>
                  <a:gd name="T48" fmla="*/ 213 w 388"/>
                  <a:gd name="T49" fmla="*/ 181 h 406"/>
                  <a:gd name="T50" fmla="*/ 250 w 388"/>
                  <a:gd name="T51" fmla="*/ 200 h 406"/>
                  <a:gd name="T52" fmla="*/ 265 w 388"/>
                  <a:gd name="T53" fmla="*/ 237 h 406"/>
                  <a:gd name="T54" fmla="*/ 248 w 388"/>
                  <a:gd name="T55" fmla="*/ 279 h 406"/>
                  <a:gd name="T56" fmla="*/ 198 w 388"/>
                  <a:gd name="T57" fmla="*/ 296 h 406"/>
                  <a:gd name="T58" fmla="*/ 198 w 388"/>
                  <a:gd name="T59" fmla="*/ 318 h 406"/>
                  <a:gd name="T60" fmla="*/ 172 w 388"/>
                  <a:gd name="T61" fmla="*/ 318 h 406"/>
                  <a:gd name="T62" fmla="*/ 172 w 388"/>
                  <a:gd name="T63" fmla="*/ 296 h 406"/>
                  <a:gd name="T64" fmla="*/ 123 w 388"/>
                  <a:gd name="T65" fmla="*/ 279 h 406"/>
                  <a:gd name="T66" fmla="*/ 105 w 388"/>
                  <a:gd name="T67" fmla="*/ 233 h 406"/>
                  <a:gd name="T68" fmla="*/ 152 w 388"/>
                  <a:gd name="T69" fmla="*/ 233 h 406"/>
                  <a:gd name="T70" fmla="*/ 158 w 388"/>
                  <a:gd name="T71" fmla="*/ 254 h 406"/>
                  <a:gd name="T72" fmla="*/ 212 w 388"/>
                  <a:gd name="T73" fmla="*/ 256 h 406"/>
                  <a:gd name="T74" fmla="*/ 213 w 388"/>
                  <a:gd name="T75" fmla="*/ 231 h 406"/>
                  <a:gd name="T76" fmla="*/ 123 w 388"/>
                  <a:gd name="T77" fmla="*/ 197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88" h="406">
                    <a:moveTo>
                      <a:pt x="41" y="59"/>
                    </a:moveTo>
                    <a:cubicBezTo>
                      <a:pt x="78" y="22"/>
                      <a:pt x="129" y="0"/>
                      <a:pt x="185" y="0"/>
                    </a:cubicBezTo>
                    <a:cubicBezTo>
                      <a:pt x="241" y="0"/>
                      <a:pt x="292" y="22"/>
                      <a:pt x="329" y="59"/>
                    </a:cubicBezTo>
                    <a:cubicBezTo>
                      <a:pt x="366" y="96"/>
                      <a:pt x="388" y="147"/>
                      <a:pt x="388" y="203"/>
                    </a:cubicBezTo>
                    <a:cubicBezTo>
                      <a:pt x="388" y="259"/>
                      <a:pt x="366" y="310"/>
                      <a:pt x="329" y="347"/>
                    </a:cubicBezTo>
                    <a:cubicBezTo>
                      <a:pt x="292" y="384"/>
                      <a:pt x="241" y="406"/>
                      <a:pt x="185" y="406"/>
                    </a:cubicBezTo>
                    <a:cubicBezTo>
                      <a:pt x="159" y="406"/>
                      <a:pt x="134" y="401"/>
                      <a:pt x="111" y="393"/>
                    </a:cubicBezTo>
                    <a:cubicBezTo>
                      <a:pt x="114" y="376"/>
                      <a:pt x="116" y="359"/>
                      <a:pt x="116" y="342"/>
                    </a:cubicBezTo>
                    <a:cubicBezTo>
                      <a:pt x="116" y="270"/>
                      <a:pt x="87" y="200"/>
                      <a:pt x="36" y="149"/>
                    </a:cubicBezTo>
                    <a:cubicBezTo>
                      <a:pt x="25" y="138"/>
                      <a:pt x="13" y="128"/>
                      <a:pt x="0" y="119"/>
                    </a:cubicBezTo>
                    <a:cubicBezTo>
                      <a:pt x="10" y="96"/>
                      <a:pt x="24" y="76"/>
                      <a:pt x="41" y="59"/>
                    </a:cubicBezTo>
                    <a:close/>
                    <a:moveTo>
                      <a:pt x="123" y="197"/>
                    </a:moveTo>
                    <a:cubicBezTo>
                      <a:pt x="112" y="188"/>
                      <a:pt x="107" y="176"/>
                      <a:pt x="107" y="161"/>
                    </a:cubicBezTo>
                    <a:cubicBezTo>
                      <a:pt x="107" y="144"/>
                      <a:pt x="113" y="131"/>
                      <a:pt x="126" y="121"/>
                    </a:cubicBezTo>
                    <a:cubicBezTo>
                      <a:pt x="138" y="111"/>
                      <a:pt x="152" y="105"/>
                      <a:pt x="173" y="105"/>
                    </a:cubicBezTo>
                    <a:cubicBezTo>
                      <a:pt x="173" y="88"/>
                      <a:pt x="173" y="88"/>
                      <a:pt x="173" y="88"/>
                    </a:cubicBezTo>
                    <a:cubicBezTo>
                      <a:pt x="200" y="88"/>
                      <a:pt x="200" y="88"/>
                      <a:pt x="200" y="88"/>
                    </a:cubicBezTo>
                    <a:cubicBezTo>
                      <a:pt x="200" y="104"/>
                      <a:pt x="200" y="104"/>
                      <a:pt x="200" y="104"/>
                    </a:cubicBezTo>
                    <a:cubicBezTo>
                      <a:pt x="220" y="105"/>
                      <a:pt x="233" y="110"/>
                      <a:pt x="244" y="120"/>
                    </a:cubicBezTo>
                    <a:cubicBezTo>
                      <a:pt x="255" y="130"/>
                      <a:pt x="261" y="143"/>
                      <a:pt x="262" y="161"/>
                    </a:cubicBezTo>
                    <a:cubicBezTo>
                      <a:pt x="217" y="161"/>
                      <a:pt x="217" y="161"/>
                      <a:pt x="217" y="161"/>
                    </a:cubicBezTo>
                    <a:cubicBezTo>
                      <a:pt x="216" y="154"/>
                      <a:pt x="214" y="148"/>
                      <a:pt x="211" y="144"/>
                    </a:cubicBezTo>
                    <a:cubicBezTo>
                      <a:pt x="203" y="135"/>
                      <a:pt x="168" y="135"/>
                      <a:pt x="160" y="142"/>
                    </a:cubicBezTo>
                    <a:cubicBezTo>
                      <a:pt x="152" y="147"/>
                      <a:pt x="152" y="160"/>
                      <a:pt x="159" y="165"/>
                    </a:cubicBezTo>
                    <a:cubicBezTo>
                      <a:pt x="168" y="172"/>
                      <a:pt x="200" y="177"/>
                      <a:pt x="213" y="181"/>
                    </a:cubicBezTo>
                    <a:cubicBezTo>
                      <a:pt x="229" y="186"/>
                      <a:pt x="242" y="193"/>
                      <a:pt x="250" y="200"/>
                    </a:cubicBezTo>
                    <a:cubicBezTo>
                      <a:pt x="260" y="209"/>
                      <a:pt x="265" y="221"/>
                      <a:pt x="265" y="237"/>
                    </a:cubicBezTo>
                    <a:cubicBezTo>
                      <a:pt x="265" y="256"/>
                      <a:pt x="260" y="270"/>
                      <a:pt x="248" y="279"/>
                    </a:cubicBezTo>
                    <a:cubicBezTo>
                      <a:pt x="236" y="289"/>
                      <a:pt x="222" y="295"/>
                      <a:pt x="198" y="296"/>
                    </a:cubicBezTo>
                    <a:cubicBezTo>
                      <a:pt x="198" y="318"/>
                      <a:pt x="198" y="318"/>
                      <a:pt x="198" y="318"/>
                    </a:cubicBezTo>
                    <a:cubicBezTo>
                      <a:pt x="172" y="318"/>
                      <a:pt x="172" y="318"/>
                      <a:pt x="172" y="318"/>
                    </a:cubicBezTo>
                    <a:cubicBezTo>
                      <a:pt x="172" y="296"/>
                      <a:pt x="172" y="296"/>
                      <a:pt x="172" y="296"/>
                    </a:cubicBezTo>
                    <a:cubicBezTo>
                      <a:pt x="150" y="295"/>
                      <a:pt x="136" y="290"/>
                      <a:pt x="123" y="279"/>
                    </a:cubicBezTo>
                    <a:cubicBezTo>
                      <a:pt x="111" y="268"/>
                      <a:pt x="105" y="252"/>
                      <a:pt x="105" y="233"/>
                    </a:cubicBezTo>
                    <a:cubicBezTo>
                      <a:pt x="152" y="233"/>
                      <a:pt x="152" y="233"/>
                      <a:pt x="152" y="233"/>
                    </a:cubicBezTo>
                    <a:cubicBezTo>
                      <a:pt x="153" y="243"/>
                      <a:pt x="155" y="250"/>
                      <a:pt x="158" y="254"/>
                    </a:cubicBezTo>
                    <a:cubicBezTo>
                      <a:pt x="167" y="265"/>
                      <a:pt x="203" y="263"/>
                      <a:pt x="212" y="256"/>
                    </a:cubicBezTo>
                    <a:cubicBezTo>
                      <a:pt x="220" y="251"/>
                      <a:pt x="221" y="237"/>
                      <a:pt x="213" y="231"/>
                    </a:cubicBezTo>
                    <a:cubicBezTo>
                      <a:pt x="195" y="216"/>
                      <a:pt x="150" y="220"/>
                      <a:pt x="123"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9" tIns="34295" rIns="68589" bIns="34295" numCol="1" anchor="t" anchorCtr="0" compatLnSpc="1"/>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9" name="Freeform 38"/>
              <p:cNvSpPr>
                <a:spLocks noEditPoints="1"/>
              </p:cNvSpPr>
              <p:nvPr/>
            </p:nvSpPr>
            <p:spPr bwMode="auto">
              <a:xfrm>
                <a:off x="5928340" y="836444"/>
                <a:ext cx="304799" cy="304566"/>
              </a:xfrm>
              <a:custGeom>
                <a:avLst/>
                <a:gdLst>
                  <a:gd name="T0" fmla="*/ 235 w 470"/>
                  <a:gd name="T1" fmla="*/ 57 h 470"/>
                  <a:gd name="T2" fmla="*/ 109 w 470"/>
                  <a:gd name="T3" fmla="*/ 109 h 470"/>
                  <a:gd name="T4" fmla="*/ 57 w 470"/>
                  <a:gd name="T5" fmla="*/ 235 h 470"/>
                  <a:gd name="T6" fmla="*/ 109 w 470"/>
                  <a:gd name="T7" fmla="*/ 361 h 470"/>
                  <a:gd name="T8" fmla="*/ 235 w 470"/>
                  <a:gd name="T9" fmla="*/ 413 h 470"/>
                  <a:gd name="T10" fmla="*/ 361 w 470"/>
                  <a:gd name="T11" fmla="*/ 361 h 470"/>
                  <a:gd name="T12" fmla="*/ 413 w 470"/>
                  <a:gd name="T13" fmla="*/ 235 h 470"/>
                  <a:gd name="T14" fmla="*/ 361 w 470"/>
                  <a:gd name="T15" fmla="*/ 109 h 470"/>
                  <a:gd name="T16" fmla="*/ 235 w 470"/>
                  <a:gd name="T17" fmla="*/ 57 h 470"/>
                  <a:gd name="T18" fmla="*/ 170 w 470"/>
                  <a:gd name="T19" fmla="*/ 228 h 470"/>
                  <a:gd name="T20" fmla="*/ 154 w 470"/>
                  <a:gd name="T21" fmla="*/ 191 h 470"/>
                  <a:gd name="T22" fmla="*/ 173 w 470"/>
                  <a:gd name="T23" fmla="*/ 149 h 470"/>
                  <a:gd name="T24" fmla="*/ 222 w 470"/>
                  <a:gd name="T25" fmla="*/ 132 h 470"/>
                  <a:gd name="T26" fmla="*/ 222 w 470"/>
                  <a:gd name="T27" fmla="*/ 114 h 470"/>
                  <a:gd name="T28" fmla="*/ 251 w 470"/>
                  <a:gd name="T29" fmla="*/ 114 h 470"/>
                  <a:gd name="T30" fmla="*/ 251 w 470"/>
                  <a:gd name="T31" fmla="*/ 132 h 470"/>
                  <a:gd name="T32" fmla="*/ 296 w 470"/>
                  <a:gd name="T33" fmla="*/ 148 h 470"/>
                  <a:gd name="T34" fmla="*/ 314 w 470"/>
                  <a:gd name="T35" fmla="*/ 190 h 470"/>
                  <a:gd name="T36" fmla="*/ 267 w 470"/>
                  <a:gd name="T37" fmla="*/ 190 h 470"/>
                  <a:gd name="T38" fmla="*/ 262 w 470"/>
                  <a:gd name="T39" fmla="*/ 173 h 470"/>
                  <a:gd name="T40" fmla="*/ 208 w 470"/>
                  <a:gd name="T41" fmla="*/ 171 h 470"/>
                  <a:gd name="T42" fmla="*/ 208 w 470"/>
                  <a:gd name="T43" fmla="*/ 196 h 470"/>
                  <a:gd name="T44" fmla="*/ 264 w 470"/>
                  <a:gd name="T45" fmla="*/ 212 h 470"/>
                  <a:gd name="T46" fmla="*/ 302 w 470"/>
                  <a:gd name="T47" fmla="*/ 231 h 470"/>
                  <a:gd name="T48" fmla="*/ 318 w 470"/>
                  <a:gd name="T49" fmla="*/ 271 h 470"/>
                  <a:gd name="T50" fmla="*/ 300 w 470"/>
                  <a:gd name="T51" fmla="*/ 314 h 470"/>
                  <a:gd name="T52" fmla="*/ 248 w 470"/>
                  <a:gd name="T53" fmla="*/ 333 h 470"/>
                  <a:gd name="T54" fmla="*/ 248 w 470"/>
                  <a:gd name="T55" fmla="*/ 355 h 470"/>
                  <a:gd name="T56" fmla="*/ 219 w 470"/>
                  <a:gd name="T57" fmla="*/ 355 h 470"/>
                  <a:gd name="T58" fmla="*/ 219 w 470"/>
                  <a:gd name="T59" fmla="*/ 333 h 470"/>
                  <a:gd name="T60" fmla="*/ 171 w 470"/>
                  <a:gd name="T61" fmla="*/ 313 h 470"/>
                  <a:gd name="T62" fmla="*/ 151 w 470"/>
                  <a:gd name="T63" fmla="*/ 266 h 470"/>
                  <a:gd name="T64" fmla="*/ 201 w 470"/>
                  <a:gd name="T65" fmla="*/ 266 h 470"/>
                  <a:gd name="T66" fmla="*/ 207 w 470"/>
                  <a:gd name="T67" fmla="*/ 288 h 470"/>
                  <a:gd name="T68" fmla="*/ 263 w 470"/>
                  <a:gd name="T69" fmla="*/ 290 h 470"/>
                  <a:gd name="T70" fmla="*/ 264 w 470"/>
                  <a:gd name="T71" fmla="*/ 264 h 470"/>
                  <a:gd name="T72" fmla="*/ 170 w 470"/>
                  <a:gd name="T73" fmla="*/ 228 h 470"/>
                  <a:gd name="T74" fmla="*/ 69 w 470"/>
                  <a:gd name="T75" fmla="*/ 69 h 470"/>
                  <a:gd name="T76" fmla="*/ 235 w 470"/>
                  <a:gd name="T77" fmla="*/ 0 h 470"/>
                  <a:gd name="T78" fmla="*/ 401 w 470"/>
                  <a:gd name="T79" fmla="*/ 69 h 470"/>
                  <a:gd name="T80" fmla="*/ 470 w 470"/>
                  <a:gd name="T81" fmla="*/ 235 h 470"/>
                  <a:gd name="T82" fmla="*/ 401 w 470"/>
                  <a:gd name="T83" fmla="*/ 401 h 470"/>
                  <a:gd name="T84" fmla="*/ 235 w 470"/>
                  <a:gd name="T85" fmla="*/ 470 h 470"/>
                  <a:gd name="T86" fmla="*/ 69 w 470"/>
                  <a:gd name="T87" fmla="*/ 401 h 470"/>
                  <a:gd name="T88" fmla="*/ 0 w 470"/>
                  <a:gd name="T89" fmla="*/ 235 h 470"/>
                  <a:gd name="T90" fmla="*/ 69 w 470"/>
                  <a:gd name="T91" fmla="*/ 69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70" h="470">
                    <a:moveTo>
                      <a:pt x="235" y="57"/>
                    </a:moveTo>
                    <a:cubicBezTo>
                      <a:pt x="186" y="57"/>
                      <a:pt x="141" y="77"/>
                      <a:pt x="109" y="109"/>
                    </a:cubicBezTo>
                    <a:cubicBezTo>
                      <a:pt x="77" y="141"/>
                      <a:pt x="57" y="186"/>
                      <a:pt x="57" y="235"/>
                    </a:cubicBezTo>
                    <a:cubicBezTo>
                      <a:pt x="57" y="284"/>
                      <a:pt x="77" y="328"/>
                      <a:pt x="109" y="361"/>
                    </a:cubicBezTo>
                    <a:cubicBezTo>
                      <a:pt x="141" y="393"/>
                      <a:pt x="186" y="413"/>
                      <a:pt x="235" y="413"/>
                    </a:cubicBezTo>
                    <a:cubicBezTo>
                      <a:pt x="284" y="413"/>
                      <a:pt x="328" y="393"/>
                      <a:pt x="361" y="361"/>
                    </a:cubicBezTo>
                    <a:cubicBezTo>
                      <a:pt x="393" y="328"/>
                      <a:pt x="413" y="284"/>
                      <a:pt x="413" y="235"/>
                    </a:cubicBezTo>
                    <a:cubicBezTo>
                      <a:pt x="413" y="186"/>
                      <a:pt x="393" y="141"/>
                      <a:pt x="361" y="109"/>
                    </a:cubicBezTo>
                    <a:cubicBezTo>
                      <a:pt x="328" y="77"/>
                      <a:pt x="284" y="57"/>
                      <a:pt x="235" y="57"/>
                    </a:cubicBezTo>
                    <a:close/>
                    <a:moveTo>
                      <a:pt x="170" y="228"/>
                    </a:moveTo>
                    <a:cubicBezTo>
                      <a:pt x="159" y="219"/>
                      <a:pt x="154" y="207"/>
                      <a:pt x="154" y="191"/>
                    </a:cubicBezTo>
                    <a:cubicBezTo>
                      <a:pt x="154" y="174"/>
                      <a:pt x="160" y="160"/>
                      <a:pt x="173" y="149"/>
                    </a:cubicBezTo>
                    <a:cubicBezTo>
                      <a:pt x="186" y="139"/>
                      <a:pt x="200" y="133"/>
                      <a:pt x="222" y="132"/>
                    </a:cubicBezTo>
                    <a:cubicBezTo>
                      <a:pt x="222" y="114"/>
                      <a:pt x="222" y="114"/>
                      <a:pt x="222" y="114"/>
                    </a:cubicBezTo>
                    <a:cubicBezTo>
                      <a:pt x="251" y="114"/>
                      <a:pt x="251" y="114"/>
                      <a:pt x="251" y="114"/>
                    </a:cubicBezTo>
                    <a:cubicBezTo>
                      <a:pt x="251" y="132"/>
                      <a:pt x="251" y="132"/>
                      <a:pt x="251" y="132"/>
                    </a:cubicBezTo>
                    <a:cubicBezTo>
                      <a:pt x="272" y="133"/>
                      <a:pt x="284" y="138"/>
                      <a:pt x="296" y="148"/>
                    </a:cubicBezTo>
                    <a:cubicBezTo>
                      <a:pt x="308" y="158"/>
                      <a:pt x="313" y="172"/>
                      <a:pt x="314" y="190"/>
                    </a:cubicBezTo>
                    <a:cubicBezTo>
                      <a:pt x="267" y="190"/>
                      <a:pt x="267" y="190"/>
                      <a:pt x="267" y="190"/>
                    </a:cubicBezTo>
                    <a:cubicBezTo>
                      <a:pt x="266" y="182"/>
                      <a:pt x="265" y="177"/>
                      <a:pt x="262" y="173"/>
                    </a:cubicBezTo>
                    <a:cubicBezTo>
                      <a:pt x="254" y="164"/>
                      <a:pt x="218" y="164"/>
                      <a:pt x="208" y="171"/>
                    </a:cubicBezTo>
                    <a:cubicBezTo>
                      <a:pt x="201" y="177"/>
                      <a:pt x="200" y="190"/>
                      <a:pt x="208" y="196"/>
                    </a:cubicBezTo>
                    <a:cubicBezTo>
                      <a:pt x="217" y="203"/>
                      <a:pt x="250" y="208"/>
                      <a:pt x="264" y="212"/>
                    </a:cubicBezTo>
                    <a:cubicBezTo>
                      <a:pt x="281" y="218"/>
                      <a:pt x="294" y="224"/>
                      <a:pt x="302" y="231"/>
                    </a:cubicBezTo>
                    <a:cubicBezTo>
                      <a:pt x="313" y="241"/>
                      <a:pt x="318" y="254"/>
                      <a:pt x="318" y="271"/>
                    </a:cubicBezTo>
                    <a:cubicBezTo>
                      <a:pt x="319" y="290"/>
                      <a:pt x="312" y="304"/>
                      <a:pt x="300" y="314"/>
                    </a:cubicBezTo>
                    <a:cubicBezTo>
                      <a:pt x="288" y="325"/>
                      <a:pt x="272" y="332"/>
                      <a:pt x="248" y="333"/>
                    </a:cubicBezTo>
                    <a:cubicBezTo>
                      <a:pt x="248" y="355"/>
                      <a:pt x="248" y="355"/>
                      <a:pt x="248" y="355"/>
                    </a:cubicBezTo>
                    <a:cubicBezTo>
                      <a:pt x="219" y="355"/>
                      <a:pt x="219" y="355"/>
                      <a:pt x="219" y="355"/>
                    </a:cubicBezTo>
                    <a:cubicBezTo>
                      <a:pt x="219" y="333"/>
                      <a:pt x="219" y="333"/>
                      <a:pt x="219" y="333"/>
                    </a:cubicBezTo>
                    <a:cubicBezTo>
                      <a:pt x="196" y="333"/>
                      <a:pt x="183" y="325"/>
                      <a:pt x="171" y="313"/>
                    </a:cubicBezTo>
                    <a:cubicBezTo>
                      <a:pt x="158" y="302"/>
                      <a:pt x="151" y="286"/>
                      <a:pt x="151" y="266"/>
                    </a:cubicBezTo>
                    <a:cubicBezTo>
                      <a:pt x="201" y="266"/>
                      <a:pt x="201" y="266"/>
                      <a:pt x="201" y="266"/>
                    </a:cubicBezTo>
                    <a:cubicBezTo>
                      <a:pt x="202" y="276"/>
                      <a:pt x="204" y="283"/>
                      <a:pt x="207" y="288"/>
                    </a:cubicBezTo>
                    <a:cubicBezTo>
                      <a:pt x="216" y="299"/>
                      <a:pt x="254" y="297"/>
                      <a:pt x="263" y="290"/>
                    </a:cubicBezTo>
                    <a:cubicBezTo>
                      <a:pt x="272" y="284"/>
                      <a:pt x="272" y="271"/>
                      <a:pt x="264" y="264"/>
                    </a:cubicBezTo>
                    <a:cubicBezTo>
                      <a:pt x="245" y="249"/>
                      <a:pt x="198" y="252"/>
                      <a:pt x="170" y="228"/>
                    </a:cubicBezTo>
                    <a:close/>
                    <a:moveTo>
                      <a:pt x="69" y="69"/>
                    </a:moveTo>
                    <a:cubicBezTo>
                      <a:pt x="111" y="26"/>
                      <a:pt x="170" y="0"/>
                      <a:pt x="235" y="0"/>
                    </a:cubicBezTo>
                    <a:cubicBezTo>
                      <a:pt x="300" y="0"/>
                      <a:pt x="359" y="26"/>
                      <a:pt x="401" y="69"/>
                    </a:cubicBezTo>
                    <a:cubicBezTo>
                      <a:pt x="444" y="111"/>
                      <a:pt x="470" y="170"/>
                      <a:pt x="470" y="235"/>
                    </a:cubicBezTo>
                    <a:cubicBezTo>
                      <a:pt x="470" y="300"/>
                      <a:pt x="444" y="359"/>
                      <a:pt x="401" y="401"/>
                    </a:cubicBezTo>
                    <a:cubicBezTo>
                      <a:pt x="359" y="444"/>
                      <a:pt x="300" y="470"/>
                      <a:pt x="235" y="470"/>
                    </a:cubicBezTo>
                    <a:cubicBezTo>
                      <a:pt x="170" y="470"/>
                      <a:pt x="111" y="444"/>
                      <a:pt x="69" y="401"/>
                    </a:cubicBezTo>
                    <a:cubicBezTo>
                      <a:pt x="26" y="359"/>
                      <a:pt x="0" y="300"/>
                      <a:pt x="0" y="235"/>
                    </a:cubicBezTo>
                    <a:cubicBezTo>
                      <a:pt x="0" y="170"/>
                      <a:pt x="26" y="111"/>
                      <a:pt x="69"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9" tIns="34295" rIns="68589" bIns="34295" numCol="1" anchor="t" anchorCtr="0" compatLnSpc="1"/>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31" name="组合 30"/>
            <p:cNvGrpSpPr/>
            <p:nvPr/>
          </p:nvGrpSpPr>
          <p:grpSpPr>
            <a:xfrm>
              <a:off x="5199891" y="4517161"/>
              <a:ext cx="490612" cy="536441"/>
              <a:chOff x="697828" y="4453123"/>
              <a:chExt cx="229831" cy="251300"/>
            </a:xfrm>
            <a:solidFill>
              <a:schemeClr val="bg1">
                <a:lumMod val="95000"/>
              </a:schemeClr>
            </a:solidFill>
          </p:grpSpPr>
          <p:sp>
            <p:nvSpPr>
              <p:cNvPr id="32" name="Freeform 665"/>
              <p:cNvSpPr/>
              <p:nvPr/>
            </p:nvSpPr>
            <p:spPr bwMode="auto">
              <a:xfrm>
                <a:off x="697828" y="4453123"/>
                <a:ext cx="229831" cy="177458"/>
              </a:xfrm>
              <a:custGeom>
                <a:avLst/>
                <a:gdLst>
                  <a:gd name="T0" fmla="*/ 179 w 193"/>
                  <a:gd name="T1" fmla="*/ 54 h 149"/>
                  <a:gd name="T2" fmla="*/ 193 w 193"/>
                  <a:gd name="T3" fmla="*/ 0 h 149"/>
                  <a:gd name="T4" fmla="*/ 138 w 193"/>
                  <a:gd name="T5" fmla="*/ 13 h 149"/>
                  <a:gd name="T6" fmla="*/ 152 w 193"/>
                  <a:gd name="T7" fmla="*/ 27 h 149"/>
                  <a:gd name="T8" fmla="*/ 99 w 193"/>
                  <a:gd name="T9" fmla="*/ 79 h 149"/>
                  <a:gd name="T10" fmla="*/ 77 w 193"/>
                  <a:gd name="T11" fmla="*/ 57 h 149"/>
                  <a:gd name="T12" fmla="*/ 0 w 193"/>
                  <a:gd name="T13" fmla="*/ 134 h 149"/>
                  <a:gd name="T14" fmla="*/ 15 w 193"/>
                  <a:gd name="T15" fmla="*/ 149 h 149"/>
                  <a:gd name="T16" fmla="*/ 15 w 193"/>
                  <a:gd name="T17" fmla="*/ 149 h 149"/>
                  <a:gd name="T18" fmla="*/ 77 w 193"/>
                  <a:gd name="T19" fmla="*/ 87 h 149"/>
                  <a:gd name="T20" fmla="*/ 99 w 193"/>
                  <a:gd name="T21" fmla="*/ 108 h 149"/>
                  <a:gd name="T22" fmla="*/ 167 w 193"/>
                  <a:gd name="T23" fmla="*/ 41 h 149"/>
                  <a:gd name="T24" fmla="*/ 179 w 193"/>
                  <a:gd name="T25" fmla="*/ 5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3" h="149">
                    <a:moveTo>
                      <a:pt x="179" y="54"/>
                    </a:moveTo>
                    <a:lnTo>
                      <a:pt x="193" y="0"/>
                    </a:lnTo>
                    <a:lnTo>
                      <a:pt x="138" y="13"/>
                    </a:lnTo>
                    <a:lnTo>
                      <a:pt x="152" y="27"/>
                    </a:lnTo>
                    <a:lnTo>
                      <a:pt x="99" y="79"/>
                    </a:lnTo>
                    <a:lnTo>
                      <a:pt x="77" y="57"/>
                    </a:lnTo>
                    <a:lnTo>
                      <a:pt x="0" y="134"/>
                    </a:lnTo>
                    <a:lnTo>
                      <a:pt x="15" y="149"/>
                    </a:lnTo>
                    <a:lnTo>
                      <a:pt x="15" y="149"/>
                    </a:lnTo>
                    <a:lnTo>
                      <a:pt x="77" y="87"/>
                    </a:lnTo>
                    <a:lnTo>
                      <a:pt x="99" y="108"/>
                    </a:lnTo>
                    <a:lnTo>
                      <a:pt x="167" y="41"/>
                    </a:lnTo>
                    <a:lnTo>
                      <a:pt x="179" y="54"/>
                    </a:lnTo>
                    <a:close/>
                  </a:path>
                </a:pathLst>
              </a:custGeom>
              <a:solidFill>
                <a:srgbClr val="0070C0"/>
              </a:solidFill>
              <a:ln>
                <a:noFill/>
              </a:ln>
            </p:spPr>
            <p:txBody>
              <a:bodyPr vert="horz" wrap="square" lIns="68589" tIns="34295" rIns="68589" bIns="34295" numCol="1" anchor="t" anchorCtr="0" compatLnSpc="1"/>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3" name="Rectangle 666"/>
              <p:cNvSpPr>
                <a:spLocks noChangeArrowheads="1"/>
              </p:cNvSpPr>
              <p:nvPr/>
            </p:nvSpPr>
            <p:spPr bwMode="auto">
              <a:xfrm>
                <a:off x="718073" y="4643682"/>
                <a:ext cx="33343" cy="60741"/>
              </a:xfrm>
              <a:prstGeom prst="rect">
                <a:avLst/>
              </a:prstGeom>
              <a:solidFill>
                <a:srgbClr val="0070C0"/>
              </a:solidFill>
              <a:ln>
                <a:noFill/>
              </a:ln>
            </p:spPr>
            <p:txBody>
              <a:bodyPr vert="horz" wrap="square" lIns="68589" tIns="34295" rIns="68589" bIns="34295" numCol="1" anchor="t" anchorCtr="0" compatLnSpc="1"/>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4" name="Rectangle 667"/>
              <p:cNvSpPr>
                <a:spLocks noChangeArrowheads="1"/>
              </p:cNvSpPr>
              <p:nvPr/>
            </p:nvSpPr>
            <p:spPr bwMode="auto">
              <a:xfrm>
                <a:off x="772851" y="4613906"/>
                <a:ext cx="33343" cy="90515"/>
              </a:xfrm>
              <a:prstGeom prst="rect">
                <a:avLst/>
              </a:prstGeom>
              <a:solidFill>
                <a:srgbClr val="0070C0"/>
              </a:solidFill>
              <a:ln>
                <a:noFill/>
              </a:ln>
            </p:spPr>
            <p:txBody>
              <a:bodyPr vert="horz" wrap="square" lIns="68589" tIns="34295" rIns="68589" bIns="34295" numCol="1" anchor="t" anchorCtr="0" compatLnSpc="1"/>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5" name="Rectangle 668"/>
              <p:cNvSpPr>
                <a:spLocks noChangeArrowheads="1"/>
              </p:cNvSpPr>
              <p:nvPr/>
            </p:nvSpPr>
            <p:spPr bwMode="auto">
              <a:xfrm>
                <a:off x="828820" y="4584131"/>
                <a:ext cx="33343" cy="120291"/>
              </a:xfrm>
              <a:prstGeom prst="rect">
                <a:avLst/>
              </a:prstGeom>
              <a:solidFill>
                <a:srgbClr val="0070C0"/>
              </a:solidFill>
              <a:ln>
                <a:noFill/>
              </a:ln>
            </p:spPr>
            <p:txBody>
              <a:bodyPr vert="horz" wrap="square" lIns="68589" tIns="34295" rIns="68589" bIns="34295" numCol="1" anchor="t" anchorCtr="0" compatLnSpc="1"/>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6" name="Rectangle 669"/>
              <p:cNvSpPr>
                <a:spLocks noChangeArrowheads="1"/>
              </p:cNvSpPr>
              <p:nvPr/>
            </p:nvSpPr>
            <p:spPr bwMode="auto">
              <a:xfrm>
                <a:off x="883598" y="4554357"/>
                <a:ext cx="33343" cy="150065"/>
              </a:xfrm>
              <a:prstGeom prst="rect">
                <a:avLst/>
              </a:prstGeom>
              <a:solidFill>
                <a:srgbClr val="0070C0"/>
              </a:solidFill>
              <a:ln>
                <a:noFill/>
              </a:ln>
            </p:spPr>
            <p:txBody>
              <a:bodyPr vert="horz" wrap="square" lIns="68589" tIns="34295" rIns="68589" bIns="34295" numCol="1" anchor="t" anchorCtr="0" compatLnSpc="1"/>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grpSp>
        <p:nvGrpSpPr>
          <p:cNvPr id="40" name="组合 39"/>
          <p:cNvGrpSpPr/>
          <p:nvPr/>
        </p:nvGrpSpPr>
        <p:grpSpPr>
          <a:xfrm>
            <a:off x="7601186" y="1015798"/>
            <a:ext cx="3127727" cy="1420257"/>
            <a:chOff x="7729325" y="1739713"/>
            <a:chExt cx="3127727" cy="1420257"/>
          </a:xfrm>
        </p:grpSpPr>
        <p:sp>
          <p:nvSpPr>
            <p:cNvPr id="41" name="TextBox 76"/>
            <p:cNvSpPr txBox="1"/>
            <p:nvPr/>
          </p:nvSpPr>
          <p:spPr>
            <a:xfrm>
              <a:off x="7729326" y="1739713"/>
              <a:ext cx="1588845" cy="398780"/>
            </a:xfrm>
            <a:prstGeom prst="rect">
              <a:avLst/>
            </a:prstGeom>
            <a:noFill/>
          </p:spPr>
          <p:txBody>
            <a:bodyPr wrap="square" rtlCol="0">
              <a:spAutoFit/>
            </a:bodyPr>
            <a:lstStyle/>
            <a:p>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效率</a:t>
              </a:r>
            </a:p>
          </p:txBody>
        </p:sp>
        <p:sp>
          <p:nvSpPr>
            <p:cNvPr id="42" name="文本框 41"/>
            <p:cNvSpPr txBox="1"/>
            <p:nvPr/>
          </p:nvSpPr>
          <p:spPr>
            <a:xfrm>
              <a:off x="7729325" y="2109045"/>
              <a:ext cx="3127727" cy="1050925"/>
            </a:xfrm>
            <a:prstGeom prst="rect">
              <a:avLst/>
            </a:prstGeom>
            <a:noFill/>
          </p:spPr>
          <p:txBody>
            <a:bodyPr wrap="square" rtlCol="0">
              <a:spAutoFit/>
            </a:bodyPr>
            <a:lstStyle/>
            <a:p>
              <a:pPr>
                <a:lnSpc>
                  <a:spcPct val="130000"/>
                </a:lnSpc>
              </a:pPr>
              <a:r>
                <a:rPr lang="zh-CN" altLang="en-US" sz="16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在指定条件下，相对于所有资源的数量，软件产品</a:t>
              </a:r>
              <a:r>
                <a:rPr lang="zh-CN" altLang="en-US" sz="1600"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可提供适当性能的能力</a:t>
              </a:r>
              <a:r>
                <a:rPr lang="zh-CN" altLang="en-US" sz="16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p>
          </p:txBody>
        </p:sp>
      </p:grpSp>
      <p:grpSp>
        <p:nvGrpSpPr>
          <p:cNvPr id="43" name="组合 42"/>
          <p:cNvGrpSpPr/>
          <p:nvPr/>
        </p:nvGrpSpPr>
        <p:grpSpPr>
          <a:xfrm>
            <a:off x="7601186" y="4071329"/>
            <a:ext cx="2967703" cy="1100217"/>
            <a:chOff x="7729325" y="4795244"/>
            <a:chExt cx="2967703" cy="1100217"/>
          </a:xfrm>
        </p:grpSpPr>
        <p:sp>
          <p:nvSpPr>
            <p:cNvPr id="44" name="TextBox 76"/>
            <p:cNvSpPr txBox="1"/>
            <p:nvPr/>
          </p:nvSpPr>
          <p:spPr>
            <a:xfrm>
              <a:off x="7729326" y="4795244"/>
              <a:ext cx="1458217" cy="398780"/>
            </a:xfrm>
            <a:prstGeom prst="rect">
              <a:avLst/>
            </a:prstGeom>
            <a:noFill/>
          </p:spPr>
          <p:txBody>
            <a:bodyPr wrap="square" rtlCol="0">
              <a:spAutoFit/>
            </a:bodyPr>
            <a:lstStyle/>
            <a:p>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可移植性</a:t>
              </a:r>
            </a:p>
          </p:txBody>
        </p:sp>
        <p:sp>
          <p:nvSpPr>
            <p:cNvPr id="45" name="文本框 44"/>
            <p:cNvSpPr txBox="1"/>
            <p:nvPr/>
          </p:nvSpPr>
          <p:spPr>
            <a:xfrm>
              <a:off x="7729325" y="5164576"/>
              <a:ext cx="2967703" cy="730885"/>
            </a:xfrm>
            <a:prstGeom prst="rect">
              <a:avLst/>
            </a:prstGeom>
            <a:noFill/>
          </p:spPr>
          <p:txBody>
            <a:bodyPr wrap="square" rtlCol="0">
              <a:spAutoFit/>
            </a:bodyPr>
            <a:lstStyle/>
            <a:p>
              <a:pPr>
                <a:lnSpc>
                  <a:spcPct val="130000"/>
                </a:lnSpc>
              </a:pPr>
              <a:r>
                <a:rPr lang="zh-CN" altLang="en-US" sz="16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指软件产品</a:t>
              </a:r>
              <a:r>
                <a:rPr lang="zh-CN" altLang="en-US" sz="1600"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从一个环境迁移到另一个环境的能力</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sym typeface="Arial" panose="020B0604020202020204" pitchFamily="34" charset="0"/>
                </a:rPr>
                <a:t>。</a:t>
              </a:r>
            </a:p>
          </p:txBody>
        </p:sp>
      </p:grpSp>
      <p:grpSp>
        <p:nvGrpSpPr>
          <p:cNvPr id="46" name="组合 45"/>
          <p:cNvGrpSpPr/>
          <p:nvPr/>
        </p:nvGrpSpPr>
        <p:grpSpPr>
          <a:xfrm>
            <a:off x="8330392" y="2502816"/>
            <a:ext cx="2964212" cy="1420257"/>
            <a:chOff x="8458531" y="3226731"/>
            <a:chExt cx="2964212" cy="1420257"/>
          </a:xfrm>
        </p:grpSpPr>
        <p:sp>
          <p:nvSpPr>
            <p:cNvPr id="47" name="TextBox 76"/>
            <p:cNvSpPr txBox="1"/>
            <p:nvPr/>
          </p:nvSpPr>
          <p:spPr>
            <a:xfrm>
              <a:off x="8458531" y="3226731"/>
              <a:ext cx="1628898" cy="398780"/>
            </a:xfrm>
            <a:prstGeom prst="rect">
              <a:avLst/>
            </a:prstGeom>
            <a:noFill/>
          </p:spPr>
          <p:txBody>
            <a:bodyPr wrap="square" rtlCol="0">
              <a:spAutoFit/>
            </a:bodyPr>
            <a:lstStyle/>
            <a:p>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可维护性</a:t>
              </a:r>
            </a:p>
          </p:txBody>
        </p:sp>
        <p:sp>
          <p:nvSpPr>
            <p:cNvPr id="48" name="文本框 47"/>
            <p:cNvSpPr txBox="1"/>
            <p:nvPr/>
          </p:nvSpPr>
          <p:spPr>
            <a:xfrm>
              <a:off x="8458531" y="3596063"/>
              <a:ext cx="2964212" cy="1050925"/>
            </a:xfrm>
            <a:prstGeom prst="rect">
              <a:avLst/>
            </a:prstGeom>
            <a:noFill/>
          </p:spPr>
          <p:txBody>
            <a:bodyPr wrap="square" rtlCol="0">
              <a:spAutoFit/>
            </a:bodyPr>
            <a:lstStyle/>
            <a:p>
              <a:pPr>
                <a:lnSpc>
                  <a:spcPct val="130000"/>
                </a:lnSpc>
              </a:pPr>
              <a:r>
                <a:rPr lang="zh-CN" altLang="en-US" sz="16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指</a:t>
              </a:r>
              <a:r>
                <a:rPr lang="zh-CN" altLang="en-US" sz="1600"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软件产品被修改的能力</a:t>
              </a:r>
              <a:r>
                <a:rPr lang="zh-CN" altLang="en-US" sz="16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。修改包括修正、优化和功能规格变更的说明。</a:t>
              </a:r>
            </a:p>
          </p:txBody>
        </p:sp>
      </p:grpSp>
      <p:grpSp>
        <p:nvGrpSpPr>
          <p:cNvPr id="49" name="组合 48"/>
          <p:cNvGrpSpPr/>
          <p:nvPr/>
        </p:nvGrpSpPr>
        <p:grpSpPr>
          <a:xfrm>
            <a:off x="1304832" y="1015798"/>
            <a:ext cx="3007109" cy="1421928"/>
            <a:chOff x="1402713" y="1739713"/>
            <a:chExt cx="3007109" cy="1421928"/>
          </a:xfrm>
        </p:grpSpPr>
        <p:sp>
          <p:nvSpPr>
            <p:cNvPr id="50" name="TextBox 76"/>
            <p:cNvSpPr txBox="1"/>
            <p:nvPr/>
          </p:nvSpPr>
          <p:spPr>
            <a:xfrm>
              <a:off x="2832043" y="1739713"/>
              <a:ext cx="1577779" cy="398780"/>
            </a:xfrm>
            <a:prstGeom prst="rect">
              <a:avLst/>
            </a:prstGeom>
            <a:noFill/>
          </p:spPr>
          <p:txBody>
            <a:bodyPr wrap="square" rtlCol="0">
              <a:spAutoFit/>
            </a:bodyPr>
            <a:lstStyle/>
            <a:p>
              <a:pPr algn="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功能性</a:t>
              </a:r>
            </a:p>
          </p:txBody>
        </p:sp>
        <p:sp>
          <p:nvSpPr>
            <p:cNvPr id="51" name="文本框 50"/>
            <p:cNvSpPr txBox="1"/>
            <p:nvPr/>
          </p:nvSpPr>
          <p:spPr>
            <a:xfrm>
              <a:off x="1402713" y="2109045"/>
              <a:ext cx="3007109" cy="1052596"/>
            </a:xfrm>
            <a:prstGeom prst="rect">
              <a:avLst/>
            </a:prstGeom>
            <a:noFill/>
          </p:spPr>
          <p:txBody>
            <a:bodyPr wrap="square" rtlCol="0">
              <a:spAutoFit/>
            </a:bodyPr>
            <a:lstStyle/>
            <a:p>
              <a:pPr algn="l">
                <a:lnSpc>
                  <a:spcPct val="130000"/>
                </a:lnSpc>
              </a:pPr>
              <a:r>
                <a:rPr lang="zh-CN" altLang="en-US" sz="16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在指定条件下，软件产品</a:t>
              </a:r>
              <a:r>
                <a:rPr lang="zh-CN" altLang="en-US" sz="1600"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满足用户基本需求和隐式需求</a:t>
              </a:r>
              <a:r>
                <a:rPr lang="zh-CN" altLang="en-US" sz="16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的能力。</a:t>
              </a:r>
            </a:p>
          </p:txBody>
        </p:sp>
      </p:grpSp>
      <p:grpSp>
        <p:nvGrpSpPr>
          <p:cNvPr id="52" name="组合 51"/>
          <p:cNvGrpSpPr/>
          <p:nvPr/>
        </p:nvGrpSpPr>
        <p:grpSpPr>
          <a:xfrm>
            <a:off x="1304832" y="4071329"/>
            <a:ext cx="2976851" cy="1070678"/>
            <a:chOff x="1432971" y="4795244"/>
            <a:chExt cx="2976851" cy="1070678"/>
          </a:xfrm>
        </p:grpSpPr>
        <p:sp>
          <p:nvSpPr>
            <p:cNvPr id="53" name="TextBox 76"/>
            <p:cNvSpPr txBox="1"/>
            <p:nvPr/>
          </p:nvSpPr>
          <p:spPr>
            <a:xfrm>
              <a:off x="3022325" y="4795244"/>
              <a:ext cx="1387497" cy="398780"/>
            </a:xfrm>
            <a:prstGeom prst="rect">
              <a:avLst/>
            </a:prstGeom>
            <a:noFill/>
          </p:spPr>
          <p:txBody>
            <a:bodyPr wrap="square" rtlCol="0">
              <a:spAutoFit/>
            </a:bodyPr>
            <a:lstStyle/>
            <a:p>
              <a:pPr algn="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可使用性</a:t>
              </a:r>
            </a:p>
          </p:txBody>
        </p:sp>
        <p:sp>
          <p:nvSpPr>
            <p:cNvPr id="54" name="文本框 53"/>
            <p:cNvSpPr txBox="1"/>
            <p:nvPr/>
          </p:nvSpPr>
          <p:spPr>
            <a:xfrm>
              <a:off x="1432971" y="5164576"/>
              <a:ext cx="2976851" cy="701346"/>
            </a:xfrm>
            <a:prstGeom prst="rect">
              <a:avLst/>
            </a:prstGeom>
            <a:noFill/>
          </p:spPr>
          <p:txBody>
            <a:bodyPr wrap="square" rtlCol="0">
              <a:spAutoFit/>
            </a:bodyPr>
            <a:lstStyle/>
            <a:p>
              <a:pPr algn="l">
                <a:lnSpc>
                  <a:spcPct val="130000"/>
                </a:lnSpc>
              </a:pPr>
              <a:r>
                <a:rPr lang="zh-CN" altLang="en-US" sz="16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在指定条件下，软件产品</a:t>
              </a:r>
              <a:r>
                <a:rPr lang="zh-CN" altLang="en-US" sz="1600"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被使用、理解、学习的能力</a:t>
              </a:r>
              <a:r>
                <a:rPr lang="zh-CN" altLang="en-US" sz="16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p>
          </p:txBody>
        </p:sp>
      </p:grpSp>
      <p:grpSp>
        <p:nvGrpSpPr>
          <p:cNvPr id="55" name="组合 54"/>
          <p:cNvGrpSpPr/>
          <p:nvPr/>
        </p:nvGrpSpPr>
        <p:grpSpPr>
          <a:xfrm>
            <a:off x="529826" y="2502816"/>
            <a:ext cx="3017566" cy="1100217"/>
            <a:chOff x="657965" y="3226731"/>
            <a:chExt cx="3017566" cy="1100217"/>
          </a:xfrm>
        </p:grpSpPr>
        <p:sp>
          <p:nvSpPr>
            <p:cNvPr id="56" name="TextBox 76"/>
            <p:cNvSpPr txBox="1"/>
            <p:nvPr/>
          </p:nvSpPr>
          <p:spPr>
            <a:xfrm>
              <a:off x="2235200" y="3226731"/>
              <a:ext cx="1440331" cy="398780"/>
            </a:xfrm>
            <a:prstGeom prst="rect">
              <a:avLst/>
            </a:prstGeom>
            <a:noFill/>
          </p:spPr>
          <p:txBody>
            <a:bodyPr wrap="square" rtlCol="0">
              <a:spAutoFit/>
            </a:bodyPr>
            <a:lstStyle/>
            <a:p>
              <a:pPr algn="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可靠性</a:t>
              </a:r>
            </a:p>
          </p:txBody>
        </p:sp>
        <p:sp>
          <p:nvSpPr>
            <p:cNvPr id="57" name="文本框 56"/>
            <p:cNvSpPr txBox="1"/>
            <p:nvPr/>
          </p:nvSpPr>
          <p:spPr>
            <a:xfrm>
              <a:off x="657965" y="3596063"/>
              <a:ext cx="3017566" cy="730885"/>
            </a:xfrm>
            <a:prstGeom prst="rect">
              <a:avLst/>
            </a:prstGeom>
            <a:noFill/>
          </p:spPr>
          <p:txBody>
            <a:bodyPr wrap="square" rtlCol="0">
              <a:spAutoFit/>
            </a:bodyPr>
            <a:lstStyle/>
            <a:p>
              <a:pPr algn="l">
                <a:lnSpc>
                  <a:spcPct val="130000"/>
                </a:lnSpc>
              </a:pPr>
              <a:r>
                <a:rPr lang="zh-CN" altLang="en-US" sz="16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在指定条件下使用时，软件产品</a:t>
              </a:r>
              <a:r>
                <a:rPr lang="zh-CN" altLang="en-US" sz="1600"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维持规定的性能级别的能力</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sym typeface="Arial" panose="020B0604020202020204" pitchFamily="34" charset="0"/>
                </a:rPr>
                <a:t>。</a:t>
              </a:r>
            </a:p>
          </p:txBody>
        </p:sp>
      </p:grpSp>
      <p:sp>
        <p:nvSpPr>
          <p:cNvPr id="5" name="文本框 4">
            <a:extLst>
              <a:ext uri="{FF2B5EF4-FFF2-40B4-BE49-F238E27FC236}">
                <a16:creationId xmlns:a16="http://schemas.microsoft.com/office/drawing/2014/main" id="{6F0993CE-AB98-D3D2-A876-9B9ED2624453}"/>
              </a:ext>
            </a:extLst>
          </p:cNvPr>
          <p:cNvSpPr txBox="1"/>
          <p:nvPr/>
        </p:nvSpPr>
        <p:spPr>
          <a:xfrm>
            <a:off x="407138" y="5800244"/>
            <a:ext cx="3096000" cy="461665"/>
          </a:xfrm>
          <a:prstGeom prst="rect">
            <a:avLst/>
          </a:prstGeom>
          <a:noFill/>
        </p:spPr>
        <p:txBody>
          <a:bodyPr wrap="square">
            <a:spAutoFit/>
          </a:bodyPr>
          <a:lstStyle/>
          <a:p>
            <a:r>
              <a:rPr lang="en-US" altLang="zh-CN" sz="2400" dirty="0">
                <a:solidFill>
                  <a:srgbClr val="FF0000"/>
                </a:solidFill>
                <a:latin typeface="微软雅黑" panose="020B0503020204020204" pitchFamily="34" charset="-122"/>
                <a:ea typeface="微软雅黑" panose="020B0503020204020204" pitchFamily="34" charset="-122"/>
                <a:sym typeface="+mn-ea"/>
              </a:rPr>
              <a:t>ISO/IEC 25002:2024</a:t>
            </a:r>
            <a:endParaRPr lang="zh-CN" altLang="en-US" dirty="0">
              <a:solidFill>
                <a:srgbClr val="FF0000"/>
              </a:solidFill>
            </a:endParaRPr>
          </a:p>
        </p:txBody>
      </p:sp>
      <p:sp>
        <p:nvSpPr>
          <p:cNvPr id="4" name="文本框 3">
            <a:extLst>
              <a:ext uri="{FF2B5EF4-FFF2-40B4-BE49-F238E27FC236}">
                <a16:creationId xmlns:a16="http://schemas.microsoft.com/office/drawing/2014/main" id="{4624985C-2987-0FE6-8E65-D305FB551D76}"/>
              </a:ext>
            </a:extLst>
          </p:cNvPr>
          <p:cNvSpPr txBox="1"/>
          <p:nvPr/>
        </p:nvSpPr>
        <p:spPr>
          <a:xfrm>
            <a:off x="3790042" y="5532115"/>
            <a:ext cx="6697164" cy="400110"/>
          </a:xfrm>
          <a:prstGeom prst="rect">
            <a:avLst/>
          </a:prstGeom>
          <a:noFill/>
        </p:spPr>
        <p:txBody>
          <a:bodyPr wrap="square">
            <a:spAutoFit/>
          </a:bodyPr>
          <a:lstStyle/>
          <a:p>
            <a:pPr marL="342900" indent="-342900">
              <a:buFont typeface="Arial" panose="020B0604020202020204" pitchFamily="34" charset="0"/>
              <a:buChar char="•"/>
            </a:pPr>
            <a:r>
              <a:rPr lang="zh-CN" altLang="en-US" sz="2000" dirty="0">
                <a:solidFill>
                  <a:srgbClr val="FF0000"/>
                </a:solidFill>
                <a:latin typeface="微软雅黑" panose="020B0503020204020204" pitchFamily="34" charset="-122"/>
                <a:ea typeface="微软雅黑" panose="020B0503020204020204" pitchFamily="34" charset="-122"/>
                <a:sym typeface="+mn-ea"/>
              </a:rPr>
              <a:t>兼容性：</a:t>
            </a:r>
            <a:r>
              <a:rPr lang="zh-CN" altLang="en-US" sz="1600" dirty="0">
                <a:solidFill>
                  <a:srgbClr val="595959"/>
                </a:solidFill>
                <a:latin typeface="微软雅黑" panose="020B0503020204020204" pitchFamily="34" charset="-122"/>
                <a:ea typeface="微软雅黑" panose="020B0503020204020204" pitchFamily="34" charset="-122"/>
                <a:sym typeface="+mn-ea"/>
              </a:rPr>
              <a:t>产品与其他系统或产品共存和协同工作的能力</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067B9390-16B8-76C5-BE68-D95607B8A624}"/>
              </a:ext>
            </a:extLst>
          </p:cNvPr>
          <p:cNvSpPr txBox="1"/>
          <p:nvPr/>
        </p:nvSpPr>
        <p:spPr>
          <a:xfrm>
            <a:off x="3790042" y="6031077"/>
            <a:ext cx="6697163" cy="646331"/>
          </a:xfrm>
          <a:prstGeom prst="rect">
            <a:avLst/>
          </a:prstGeom>
          <a:noFill/>
        </p:spPr>
        <p:txBody>
          <a:bodyPr wrap="square">
            <a:spAutoFit/>
          </a:bodyPr>
          <a:lstStyle/>
          <a:p>
            <a:pPr marL="342900" indent="-342900">
              <a:buFont typeface="Arial" panose="020B0604020202020204" pitchFamily="34" charset="0"/>
              <a:buChar char="•"/>
            </a:pPr>
            <a:r>
              <a:rPr lang="zh-CN" altLang="en-US" sz="2000" dirty="0">
                <a:solidFill>
                  <a:srgbClr val="FF0000"/>
                </a:solidFill>
                <a:latin typeface="微软雅黑" panose="020B0503020204020204" pitchFamily="34" charset="-122"/>
                <a:ea typeface="微软雅黑" panose="020B0503020204020204" pitchFamily="34" charset="-122"/>
                <a:sym typeface="+mn-ea"/>
              </a:rPr>
              <a:t>安全性：</a:t>
            </a:r>
            <a:r>
              <a:rPr lang="zh-CN" altLang="en-US" sz="1600" dirty="0">
                <a:solidFill>
                  <a:srgbClr val="595959"/>
                </a:solidFill>
                <a:latin typeface="微软雅黑" panose="020B0503020204020204" pitchFamily="34" charset="-122"/>
                <a:ea typeface="微软雅黑" panose="020B0503020204020204" pitchFamily="34" charset="-122"/>
                <a:sym typeface="+mn-ea"/>
              </a:rPr>
              <a:t>保护信息和资产免受未经授权的访问、使用、披露、中断、修改或销毁的能力</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71880" y="909955"/>
            <a:ext cx="10046970" cy="621665"/>
          </a:xfrm>
          <a:prstGeom prst="rect">
            <a:avLst/>
          </a:prstGeom>
          <a:noFill/>
        </p:spPr>
        <p:txBody>
          <a:bodyPr wrap="square" rtlCol="0" anchor="t">
            <a:noAutofit/>
          </a:bodyPr>
          <a:lstStyle/>
          <a:p>
            <a:pPr algn="just">
              <a:lnSpc>
                <a:spcPct val="150000"/>
              </a:lnSpc>
              <a:buClrTx/>
              <a:buSzTx/>
              <a:buFontTx/>
            </a:pPr>
            <a:r>
              <a:rPr lang="en-US" altLang="zh-CN" sz="2000" b="1" dirty="0">
                <a:solidFill>
                  <a:srgbClr val="595959"/>
                </a:solidFill>
                <a:latin typeface="微软雅黑" panose="020B0503020204020204" pitchFamily="34" charset="-122"/>
                <a:ea typeface="微软雅黑" panose="020B0503020204020204" pitchFamily="34" charset="-122"/>
                <a:sym typeface="+mn-ea"/>
              </a:rPr>
              <a:t>3</a:t>
            </a:r>
            <a:r>
              <a:rPr lang="zh-CN" altLang="en-US" sz="2000" b="1" dirty="0">
                <a:solidFill>
                  <a:srgbClr val="595959"/>
                </a:solidFill>
                <a:latin typeface="微软雅黑" panose="020B0503020204020204" pitchFamily="34" charset="-122"/>
                <a:ea typeface="微软雅黑" panose="020B0503020204020204" pitchFamily="34" charset="-122"/>
                <a:sym typeface="+mn-ea"/>
              </a:rPr>
              <a:t>.</a:t>
            </a:r>
            <a:r>
              <a:rPr lang="en-US" altLang="zh-CN" sz="2000" b="1" dirty="0">
                <a:solidFill>
                  <a:srgbClr val="595959"/>
                </a:solidFill>
                <a:latin typeface="微软雅黑" panose="020B0503020204020204" pitchFamily="34" charset="-122"/>
                <a:ea typeface="微软雅黑" panose="020B0503020204020204" pitchFamily="34" charset="-122"/>
                <a:sym typeface="+mn-ea"/>
              </a:rPr>
              <a:t> </a:t>
            </a:r>
            <a:r>
              <a:rPr lang="zh-CN" altLang="en-US" sz="2000" b="1" dirty="0">
                <a:solidFill>
                  <a:srgbClr val="595959"/>
                </a:solidFill>
                <a:latin typeface="微软雅黑" panose="020B0503020204020204" pitchFamily="34" charset="-122"/>
                <a:ea typeface="微软雅黑" panose="020B0503020204020204" pitchFamily="34" charset="-122"/>
                <a:sym typeface="+mn-ea"/>
              </a:rPr>
              <a:t>影响软件质量</a:t>
            </a:r>
            <a:r>
              <a:rPr lang="zh-CN" altLang="en-US" sz="2000" b="1">
                <a:solidFill>
                  <a:srgbClr val="595959"/>
                </a:solidFill>
                <a:latin typeface="微软雅黑" panose="020B0503020204020204" pitchFamily="34" charset="-122"/>
                <a:ea typeface="微软雅黑" panose="020B0503020204020204" pitchFamily="34" charset="-122"/>
                <a:sym typeface="+mn-ea"/>
              </a:rPr>
              <a:t>的因素</a:t>
            </a: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软件质量概述</a:t>
            </a:r>
          </a:p>
        </p:txBody>
      </p:sp>
      <p:sp>
        <p:nvSpPr>
          <p:cNvPr id="6" name="Shape 2012"/>
          <p:cNvSpPr/>
          <p:nvPr/>
        </p:nvSpPr>
        <p:spPr>
          <a:xfrm>
            <a:off x="7055425" y="1908447"/>
            <a:ext cx="3561372" cy="1686613"/>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7" name="Shape 2013"/>
          <p:cNvSpPr/>
          <p:nvPr/>
        </p:nvSpPr>
        <p:spPr>
          <a:xfrm>
            <a:off x="7055425" y="3838923"/>
            <a:ext cx="3561372" cy="1684827"/>
          </a:xfrm>
          <a:prstGeom prst="roundRect">
            <a:avLst>
              <a:gd name="adj" fmla="val 6925"/>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8" name="Shape 2014"/>
          <p:cNvSpPr/>
          <p:nvPr/>
        </p:nvSpPr>
        <p:spPr>
          <a:xfrm>
            <a:off x="1581951" y="3838030"/>
            <a:ext cx="3561372" cy="1686612"/>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9" name="Shape 2015"/>
          <p:cNvSpPr/>
          <p:nvPr/>
        </p:nvSpPr>
        <p:spPr>
          <a:xfrm>
            <a:off x="1581951" y="1908447"/>
            <a:ext cx="3561372" cy="1686613"/>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0" name="Shape 2016"/>
          <p:cNvSpPr/>
          <p:nvPr/>
        </p:nvSpPr>
        <p:spPr>
          <a:xfrm>
            <a:off x="4651927" y="2276088"/>
            <a:ext cx="2887903" cy="28879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a:miter lim="400000"/>
          </a:ln>
        </p:spPr>
        <p:txBody>
          <a:bodyPr lIns="25400" tIns="25400" rIns="25400" bIns="25400"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1" name="Shape 2021"/>
          <p:cNvSpPr/>
          <p:nvPr/>
        </p:nvSpPr>
        <p:spPr>
          <a:xfrm>
            <a:off x="2099783" y="2409701"/>
            <a:ext cx="2613025" cy="1141730"/>
          </a:xfrm>
          <a:prstGeom prst="rect">
            <a:avLst/>
          </a:prstGeom>
          <a:ln w="12700">
            <a:miter lim="400000"/>
          </a:ln>
        </p:spPr>
        <p:txBody>
          <a:bodyPr lIns="0" tIns="0" rIns="0" bIns="0"/>
          <a:lstStyle>
            <a:lvl1pPr algn="l">
              <a:lnSpc>
                <a:spcPct val="120000"/>
              </a:lnSpc>
              <a:spcBef>
                <a:spcPts val="2500"/>
              </a:spcBef>
              <a:defRPr sz="2000">
                <a:solidFill>
                  <a:srgbClr val="53585F"/>
                </a:solidFill>
              </a:defRPr>
            </a:lvl1pPr>
          </a:lstStyle>
          <a:p>
            <a:pPr indent="457200" algn="just"/>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用户</a:t>
            </a:r>
            <a:r>
              <a:rPr sz="1600" dirty="0" err="1">
                <a:solidFill>
                  <a:srgbClr val="0070C0"/>
                </a:solidFill>
                <a:latin typeface="微软雅黑" panose="020B0503020204020204" pitchFamily="34" charset="-122"/>
                <a:ea typeface="微软雅黑" panose="020B0503020204020204" pitchFamily="34" charset="-122"/>
                <a:cs typeface="+mn-ea"/>
                <a:sym typeface="+mn-lt"/>
              </a:rPr>
              <a:t>需求</a:t>
            </a:r>
            <a:r>
              <a:rPr sz="1600"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是不可视的，往往也</a:t>
            </a:r>
            <a:r>
              <a:rPr sz="1600" dirty="0" err="1">
                <a:solidFill>
                  <a:srgbClr val="0070C0"/>
                </a:solidFill>
                <a:latin typeface="微软雅黑" panose="020B0503020204020204" pitchFamily="34" charset="-122"/>
                <a:ea typeface="微软雅黑" panose="020B0503020204020204" pitchFamily="34" charset="-122"/>
                <a:cs typeface="+mn-ea"/>
                <a:sym typeface="+mn-lt"/>
              </a:rPr>
              <a:t>说不清楚</a:t>
            </a:r>
            <a:r>
              <a:rPr sz="1600"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，导致产品设计、开发人员与</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用户之间</a:t>
            </a:r>
            <a:r>
              <a:rPr sz="1600"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存在一定的理解误差</a:t>
            </a:r>
            <a:r>
              <a:rPr 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2" name="Shape 2022"/>
          <p:cNvSpPr/>
          <p:nvPr/>
        </p:nvSpPr>
        <p:spPr>
          <a:xfrm>
            <a:off x="2032325" y="1984369"/>
            <a:ext cx="1869332" cy="401615"/>
          </a:xfrm>
          <a:prstGeom prst="rect">
            <a:avLst/>
          </a:prstGeom>
          <a:ln w="12700">
            <a:miter lim="400000"/>
          </a:ln>
        </p:spPr>
        <p:txBody>
          <a:bodyPr lIns="0" tIns="0" rIns="0" bIns="0" anchor="ctr"/>
          <a:lstStyle>
            <a:lvl1pPr algn="l">
              <a:lnSpc>
                <a:spcPct val="120000"/>
              </a:lnSpc>
              <a:defRPr sz="3500">
                <a:solidFill>
                  <a:srgbClr val="53585F"/>
                </a:solidFill>
              </a:defRPr>
            </a:lvl1pPr>
          </a:lstStyle>
          <a:p>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需求模糊</a:t>
            </a:r>
          </a:p>
        </p:txBody>
      </p:sp>
      <p:sp>
        <p:nvSpPr>
          <p:cNvPr id="13" name="Shape 2023"/>
          <p:cNvSpPr/>
          <p:nvPr/>
        </p:nvSpPr>
        <p:spPr>
          <a:xfrm>
            <a:off x="2103863" y="4534025"/>
            <a:ext cx="2892470" cy="838091"/>
          </a:xfrm>
          <a:prstGeom prst="rect">
            <a:avLst/>
          </a:prstGeom>
          <a:ln w="12700">
            <a:miter lim="400000"/>
          </a:ln>
        </p:spPr>
        <p:txBody>
          <a:bodyPr lIns="0" tIns="0" rIns="0" bIns="0"/>
          <a:lstStyle>
            <a:lvl1pPr algn="l">
              <a:lnSpc>
                <a:spcPct val="120000"/>
              </a:lnSpc>
              <a:spcBef>
                <a:spcPts val="2500"/>
              </a:spcBef>
              <a:defRPr sz="2000">
                <a:solidFill>
                  <a:srgbClr val="53585F"/>
                </a:solidFill>
              </a:defRPr>
            </a:lvl1pPr>
          </a:lstStyle>
          <a:p>
            <a:pPr indent="457200" algn="just"/>
            <a:r>
              <a:rPr sz="1600" dirty="0">
                <a:solidFill>
                  <a:srgbClr val="0070C0"/>
                </a:solidFill>
                <a:latin typeface="微软雅黑" panose="020B0503020204020204" pitchFamily="34" charset="-122"/>
                <a:ea typeface="微软雅黑" panose="020B0503020204020204" pitchFamily="34" charset="-122"/>
                <a:cs typeface="+mn-ea"/>
                <a:sym typeface="+mn-lt"/>
              </a:rPr>
              <a:t>不太重视</a:t>
            </a:r>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团队成员的</a:t>
            </a:r>
            <a:r>
              <a:rPr sz="1600" dirty="0">
                <a:solidFill>
                  <a:srgbClr val="0070C0"/>
                </a:solidFill>
                <a:latin typeface="微软雅黑" panose="020B0503020204020204" pitchFamily="34" charset="-122"/>
                <a:ea typeface="微软雅黑" panose="020B0503020204020204" pitchFamily="34" charset="-122"/>
                <a:cs typeface="+mn-ea"/>
                <a:sym typeface="+mn-lt"/>
              </a:rPr>
              <a:t>工作规范</a:t>
            </a:r>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，导致团队成员</a:t>
            </a:r>
            <a:r>
              <a:rPr sz="1600" dirty="0">
                <a:solidFill>
                  <a:srgbClr val="0070C0"/>
                </a:solidFill>
                <a:latin typeface="微软雅黑" panose="020B0503020204020204" pitchFamily="34" charset="-122"/>
                <a:ea typeface="微软雅黑" panose="020B0503020204020204" pitchFamily="34" charset="-122"/>
                <a:cs typeface="+mn-ea"/>
                <a:sym typeface="+mn-lt"/>
              </a:rPr>
              <a:t>开发“随意性”比较大</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，影响软件质量</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p>
        </p:txBody>
      </p:sp>
      <p:sp>
        <p:nvSpPr>
          <p:cNvPr id="14" name="Shape 2024"/>
          <p:cNvSpPr/>
          <p:nvPr/>
        </p:nvSpPr>
        <p:spPr>
          <a:xfrm>
            <a:off x="2008505" y="3923665"/>
            <a:ext cx="2531110" cy="457835"/>
          </a:xfrm>
          <a:prstGeom prst="rect">
            <a:avLst/>
          </a:prstGeom>
          <a:ln w="12700">
            <a:miter lim="400000"/>
          </a:ln>
        </p:spPr>
        <p:txBody>
          <a:bodyPr lIns="0" tIns="0" rIns="0" bIns="0" anchor="ctr"/>
          <a:lstStyle>
            <a:lvl1pPr algn="l">
              <a:lnSpc>
                <a:spcPct val="120000"/>
              </a:lnSpc>
              <a:defRPr sz="3500">
                <a:solidFill>
                  <a:srgbClr val="53585F"/>
                </a:solidFill>
              </a:defRPr>
            </a:lvl1pPr>
          </a:lstStyle>
          <a:p>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软件开发缺乏</a:t>
            </a:r>
            <a:r>
              <a:rPr lang="zh-CN" altLang="en-US" sz="1800" b="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规范性文件的指导</a:t>
            </a:r>
            <a:endPar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5" name="Shape 2025"/>
          <p:cNvSpPr/>
          <p:nvPr/>
        </p:nvSpPr>
        <p:spPr>
          <a:xfrm>
            <a:off x="7576820" y="2493645"/>
            <a:ext cx="2557780" cy="894715"/>
          </a:xfrm>
          <a:prstGeom prst="rect">
            <a:avLst/>
          </a:prstGeom>
          <a:ln w="12700">
            <a:miter lim="400000"/>
          </a:ln>
        </p:spPr>
        <p:txBody>
          <a:bodyPr lIns="0" tIns="0" rIns="0" bIns="0"/>
          <a:lstStyle>
            <a:lvl1pPr algn="r">
              <a:lnSpc>
                <a:spcPct val="120000"/>
              </a:lnSpc>
              <a:spcBef>
                <a:spcPts val="4500"/>
              </a:spcBef>
              <a:defRPr sz="2000">
                <a:solidFill>
                  <a:srgbClr val="53585F"/>
                </a:solidFill>
              </a:defRPr>
            </a:lvl1pPr>
          </a:lstStyle>
          <a:p>
            <a:pPr indent="457200" algn="just"/>
            <a:r>
              <a:rPr sz="1600" dirty="0">
                <a:solidFill>
                  <a:srgbClr val="0070C0"/>
                </a:solidFill>
                <a:latin typeface="微软雅黑" panose="020B0503020204020204" pitchFamily="34" charset="-122"/>
                <a:ea typeface="微软雅黑" panose="020B0503020204020204" pitchFamily="34" charset="-122"/>
                <a:cs typeface="+mn-ea"/>
                <a:sym typeface="+mn-lt"/>
              </a:rPr>
              <a:t>人员流动性较大</a:t>
            </a:r>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r>
              <a:rPr sz="1600" dirty="0">
                <a:solidFill>
                  <a:srgbClr val="0070C0"/>
                </a:solidFill>
                <a:latin typeface="微软雅黑" panose="020B0503020204020204" pitchFamily="34" charset="-122"/>
                <a:ea typeface="微软雅黑" panose="020B0503020204020204" pitchFamily="34" charset="-122"/>
                <a:cs typeface="+mn-ea"/>
                <a:sym typeface="+mn-lt"/>
              </a:rPr>
              <a:t>导致软件开发前后不一致</a:t>
            </a:r>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，进而影响软件质量。</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6" name="Shape 2026"/>
          <p:cNvSpPr/>
          <p:nvPr/>
        </p:nvSpPr>
        <p:spPr>
          <a:xfrm>
            <a:off x="8290343" y="2024223"/>
            <a:ext cx="1869332" cy="401615"/>
          </a:xfrm>
          <a:prstGeom prst="rect">
            <a:avLst/>
          </a:prstGeom>
          <a:ln w="12700">
            <a:miter lim="400000"/>
          </a:ln>
        </p:spPr>
        <p:txBody>
          <a:bodyPr lIns="0" tIns="0" rIns="0" bIns="0" anchor="ctr"/>
          <a:lstStyle>
            <a:lvl1pPr algn="r">
              <a:defRPr sz="3500">
                <a:solidFill>
                  <a:srgbClr val="53585F"/>
                </a:solidFill>
              </a:defRPr>
            </a:lvl1pPr>
          </a:lstStyle>
          <a:p>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软件开发人员问题</a:t>
            </a:r>
          </a:p>
        </p:txBody>
      </p:sp>
      <p:sp>
        <p:nvSpPr>
          <p:cNvPr id="17" name="Shape 2027"/>
          <p:cNvSpPr/>
          <p:nvPr/>
        </p:nvSpPr>
        <p:spPr>
          <a:xfrm>
            <a:off x="7539990" y="4317365"/>
            <a:ext cx="2597150" cy="1132205"/>
          </a:xfrm>
          <a:prstGeom prst="rect">
            <a:avLst/>
          </a:prstGeom>
          <a:ln w="12700">
            <a:miter lim="400000"/>
          </a:ln>
        </p:spPr>
        <p:txBody>
          <a:bodyPr lIns="0" tIns="0" rIns="0" bIns="0"/>
          <a:lstStyle>
            <a:lvl1pPr algn="r">
              <a:lnSpc>
                <a:spcPct val="120000"/>
              </a:lnSpc>
              <a:spcBef>
                <a:spcPts val="4500"/>
              </a:spcBef>
              <a:defRPr sz="2000">
                <a:solidFill>
                  <a:srgbClr val="53585F"/>
                </a:solidFill>
              </a:defRPr>
            </a:lvl1pPr>
          </a:lstStyle>
          <a:p>
            <a:pPr indent="457200" algn="just"/>
            <a:r>
              <a:rPr sz="1600" dirty="0" err="1">
                <a:solidFill>
                  <a:srgbClr val="0070C0"/>
                </a:solidFill>
                <a:latin typeface="微软雅黑" panose="020B0503020204020204" pitchFamily="34" charset="-122"/>
                <a:ea typeface="微软雅黑" panose="020B0503020204020204" pitchFamily="34" charset="-122"/>
                <a:cs typeface="+mn-ea"/>
                <a:sym typeface="+mn-lt"/>
              </a:rPr>
              <a:t>软件质量无法用具体的量化指标去度量</a:t>
            </a:r>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因此很少有人关心软件最终的质量</a:t>
            </a:r>
            <a:r>
              <a:rPr 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p>
        </p:txBody>
      </p:sp>
      <p:sp>
        <p:nvSpPr>
          <p:cNvPr id="18" name="Shape 2028"/>
          <p:cNvSpPr/>
          <p:nvPr/>
        </p:nvSpPr>
        <p:spPr>
          <a:xfrm>
            <a:off x="7710078" y="3888995"/>
            <a:ext cx="2762885" cy="401320"/>
          </a:xfrm>
          <a:prstGeom prst="rect">
            <a:avLst/>
          </a:prstGeom>
          <a:ln w="12700">
            <a:miter lim="400000"/>
          </a:ln>
        </p:spPr>
        <p:txBody>
          <a:bodyPr lIns="0" tIns="0" rIns="0" bIns="0" anchor="ctr"/>
          <a:lstStyle>
            <a:lvl1pPr algn="r">
              <a:defRPr sz="3500">
                <a:solidFill>
                  <a:srgbClr val="53585F"/>
                </a:solidFill>
              </a:defRPr>
            </a:lvl1pPr>
          </a:lstStyle>
          <a:p>
            <a:r>
              <a:rPr lang="zh-CN" altLang="en-US" sz="1800" b="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缺乏软件质量的控制、管理</a:t>
            </a:r>
            <a:endPar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nvGrpSpPr>
          <p:cNvPr id="19" name="Group 2031"/>
          <p:cNvGrpSpPr/>
          <p:nvPr/>
        </p:nvGrpSpPr>
        <p:grpSpPr>
          <a:xfrm>
            <a:off x="1107307" y="2274011"/>
            <a:ext cx="955485" cy="955485"/>
            <a:chOff x="0" y="0"/>
            <a:chExt cx="1910968" cy="1910968"/>
          </a:xfrm>
        </p:grpSpPr>
        <p:sp>
          <p:nvSpPr>
            <p:cNvPr id="20" name="Shape 2029"/>
            <p:cNvSpPr/>
            <p:nvPr/>
          </p:nvSpPr>
          <p:spPr>
            <a:xfrm>
              <a:off x="0" y="0"/>
              <a:ext cx="1910969" cy="191096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33867" tIns="33867" rIns="33867" bIns="33867"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21" name="Shape 2030"/>
            <p:cNvSpPr/>
            <p:nvPr/>
          </p:nvSpPr>
          <p:spPr>
            <a:xfrm>
              <a:off x="553362" y="560070"/>
              <a:ext cx="804244" cy="706915"/>
            </a:xfrm>
            <a:custGeom>
              <a:avLst/>
              <a:gdLst/>
              <a:ahLst/>
              <a:cxnLst>
                <a:cxn ang="0">
                  <a:pos x="wd2" y="hd2"/>
                </a:cxn>
                <a:cxn ang="5400000">
                  <a:pos x="wd2" y="hd2"/>
                </a:cxn>
                <a:cxn ang="10800000">
                  <a:pos x="wd2" y="hd2"/>
                </a:cxn>
                <a:cxn ang="16200000">
                  <a:pos x="wd2" y="hd2"/>
                </a:cxn>
              </a:cxnLst>
              <a:rect l="0" t="0" r="r" b="b"/>
              <a:pathLst>
                <a:path w="21600" h="21600" extrusionOk="0">
                  <a:moveTo>
                    <a:pt x="8071" y="8035"/>
                  </a:moveTo>
                  <a:lnTo>
                    <a:pt x="11327" y="9235"/>
                  </a:lnTo>
                  <a:lnTo>
                    <a:pt x="14583" y="4904"/>
                  </a:lnTo>
                  <a:lnTo>
                    <a:pt x="15088" y="4330"/>
                  </a:lnTo>
                  <a:lnTo>
                    <a:pt x="17289" y="6157"/>
                  </a:lnTo>
                  <a:lnTo>
                    <a:pt x="17289" y="3078"/>
                  </a:lnTo>
                  <a:lnTo>
                    <a:pt x="17289" y="0"/>
                  </a:lnTo>
                  <a:lnTo>
                    <a:pt x="14583" y="626"/>
                  </a:lnTo>
                  <a:lnTo>
                    <a:pt x="11878" y="1200"/>
                  </a:lnTo>
                  <a:lnTo>
                    <a:pt x="14033" y="3704"/>
                  </a:lnTo>
                  <a:lnTo>
                    <a:pt x="10777" y="7409"/>
                  </a:lnTo>
                  <a:lnTo>
                    <a:pt x="7567" y="6157"/>
                  </a:lnTo>
                  <a:lnTo>
                    <a:pt x="5411" y="10487"/>
                  </a:lnTo>
                  <a:lnTo>
                    <a:pt x="2155" y="9235"/>
                  </a:lnTo>
                  <a:lnTo>
                    <a:pt x="550" y="14817"/>
                  </a:lnTo>
                  <a:lnTo>
                    <a:pt x="0" y="16017"/>
                  </a:lnTo>
                  <a:lnTo>
                    <a:pt x="1055" y="16643"/>
                  </a:lnTo>
                  <a:lnTo>
                    <a:pt x="2706" y="11113"/>
                  </a:lnTo>
                  <a:lnTo>
                    <a:pt x="5916" y="12313"/>
                  </a:lnTo>
                  <a:lnTo>
                    <a:pt x="8071" y="8035"/>
                  </a:lnTo>
                  <a:lnTo>
                    <a:pt x="8071" y="8035"/>
                  </a:lnTo>
                  <a:close/>
                  <a:moveTo>
                    <a:pt x="6466" y="21600"/>
                  </a:moveTo>
                  <a:lnTo>
                    <a:pt x="6466" y="16643"/>
                  </a:lnTo>
                  <a:lnTo>
                    <a:pt x="3761" y="16643"/>
                  </a:lnTo>
                  <a:lnTo>
                    <a:pt x="3761" y="21600"/>
                  </a:lnTo>
                  <a:lnTo>
                    <a:pt x="6466" y="21600"/>
                  </a:lnTo>
                  <a:lnTo>
                    <a:pt x="6466" y="21600"/>
                  </a:lnTo>
                  <a:close/>
                  <a:moveTo>
                    <a:pt x="10227" y="21600"/>
                  </a:moveTo>
                  <a:lnTo>
                    <a:pt x="7567" y="21600"/>
                  </a:lnTo>
                  <a:lnTo>
                    <a:pt x="7567" y="14817"/>
                  </a:lnTo>
                  <a:lnTo>
                    <a:pt x="10227" y="14817"/>
                  </a:lnTo>
                  <a:lnTo>
                    <a:pt x="10227" y="21600"/>
                  </a:lnTo>
                  <a:lnTo>
                    <a:pt x="10227" y="21600"/>
                  </a:lnTo>
                  <a:close/>
                  <a:moveTo>
                    <a:pt x="14033" y="21600"/>
                  </a:moveTo>
                  <a:lnTo>
                    <a:pt x="11327" y="21600"/>
                  </a:lnTo>
                  <a:lnTo>
                    <a:pt x="11327" y="12313"/>
                  </a:lnTo>
                  <a:lnTo>
                    <a:pt x="14033" y="12313"/>
                  </a:lnTo>
                  <a:lnTo>
                    <a:pt x="14033" y="21600"/>
                  </a:lnTo>
                  <a:lnTo>
                    <a:pt x="14033" y="21600"/>
                  </a:lnTo>
                  <a:close/>
                  <a:moveTo>
                    <a:pt x="17794" y="21600"/>
                  </a:moveTo>
                  <a:lnTo>
                    <a:pt x="15088" y="21600"/>
                  </a:lnTo>
                  <a:lnTo>
                    <a:pt x="15088" y="9861"/>
                  </a:lnTo>
                  <a:lnTo>
                    <a:pt x="17794" y="9861"/>
                  </a:lnTo>
                  <a:lnTo>
                    <a:pt x="17794" y="21600"/>
                  </a:lnTo>
                  <a:lnTo>
                    <a:pt x="17794" y="21600"/>
                  </a:lnTo>
                  <a:close/>
                  <a:moveTo>
                    <a:pt x="18894" y="6783"/>
                  </a:moveTo>
                  <a:lnTo>
                    <a:pt x="18894" y="21600"/>
                  </a:lnTo>
                  <a:lnTo>
                    <a:pt x="21600" y="21600"/>
                  </a:lnTo>
                  <a:lnTo>
                    <a:pt x="21600" y="6783"/>
                  </a:lnTo>
                  <a:lnTo>
                    <a:pt x="18894" y="6783"/>
                  </a:lnTo>
                  <a:close/>
                </a:path>
              </a:pathLst>
            </a:custGeom>
            <a:solidFill>
              <a:srgbClr val="FFFFFF"/>
            </a:solidFill>
            <a:ln w="12700" cap="flat">
              <a:noFill/>
              <a:miter lim="400000"/>
            </a:ln>
            <a:effectLst/>
          </p:spPr>
          <p:txBody>
            <a:bodyPr wrap="square" lIns="0" tIns="0" rIns="0" bIns="0" numCol="1" anchor="t">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grpSp>
      <p:grpSp>
        <p:nvGrpSpPr>
          <p:cNvPr id="22" name="Group 2034"/>
          <p:cNvGrpSpPr/>
          <p:nvPr/>
        </p:nvGrpSpPr>
        <p:grpSpPr>
          <a:xfrm>
            <a:off x="1109974" y="4206262"/>
            <a:ext cx="950151" cy="950151"/>
            <a:chOff x="0" y="0"/>
            <a:chExt cx="1900299" cy="1900299"/>
          </a:xfrm>
        </p:grpSpPr>
        <p:sp>
          <p:nvSpPr>
            <p:cNvPr id="23" name="Shape 2032"/>
            <p:cNvSpPr/>
            <p:nvPr/>
          </p:nvSpPr>
          <p:spPr>
            <a:xfrm>
              <a:off x="0" y="0"/>
              <a:ext cx="1900300" cy="190030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33867" tIns="33867" rIns="33867" bIns="33867"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24" name="Shape 2033"/>
            <p:cNvSpPr/>
            <p:nvPr/>
          </p:nvSpPr>
          <p:spPr>
            <a:xfrm rot="10800000" flipH="1">
              <a:off x="548028" y="596692"/>
              <a:ext cx="804244" cy="706916"/>
            </a:xfrm>
            <a:custGeom>
              <a:avLst/>
              <a:gdLst/>
              <a:ahLst/>
              <a:cxnLst>
                <a:cxn ang="0">
                  <a:pos x="wd2" y="hd2"/>
                </a:cxn>
                <a:cxn ang="5400000">
                  <a:pos x="wd2" y="hd2"/>
                </a:cxn>
                <a:cxn ang="10800000">
                  <a:pos x="wd2" y="hd2"/>
                </a:cxn>
                <a:cxn ang="16200000">
                  <a:pos x="wd2" y="hd2"/>
                </a:cxn>
              </a:cxnLst>
              <a:rect l="0" t="0" r="r" b="b"/>
              <a:pathLst>
                <a:path w="21600" h="21600" extrusionOk="0">
                  <a:moveTo>
                    <a:pt x="8071" y="8035"/>
                  </a:moveTo>
                  <a:lnTo>
                    <a:pt x="11327" y="9235"/>
                  </a:lnTo>
                  <a:lnTo>
                    <a:pt x="14583" y="4904"/>
                  </a:lnTo>
                  <a:lnTo>
                    <a:pt x="15088" y="4330"/>
                  </a:lnTo>
                  <a:lnTo>
                    <a:pt x="17289" y="6157"/>
                  </a:lnTo>
                  <a:lnTo>
                    <a:pt x="17289" y="3078"/>
                  </a:lnTo>
                  <a:lnTo>
                    <a:pt x="17289" y="0"/>
                  </a:lnTo>
                  <a:lnTo>
                    <a:pt x="14583" y="626"/>
                  </a:lnTo>
                  <a:lnTo>
                    <a:pt x="11878" y="1200"/>
                  </a:lnTo>
                  <a:lnTo>
                    <a:pt x="14033" y="3704"/>
                  </a:lnTo>
                  <a:lnTo>
                    <a:pt x="10777" y="7409"/>
                  </a:lnTo>
                  <a:lnTo>
                    <a:pt x="7567" y="6157"/>
                  </a:lnTo>
                  <a:lnTo>
                    <a:pt x="5411" y="10487"/>
                  </a:lnTo>
                  <a:lnTo>
                    <a:pt x="2155" y="9235"/>
                  </a:lnTo>
                  <a:lnTo>
                    <a:pt x="550" y="14817"/>
                  </a:lnTo>
                  <a:lnTo>
                    <a:pt x="0" y="16017"/>
                  </a:lnTo>
                  <a:lnTo>
                    <a:pt x="1055" y="16643"/>
                  </a:lnTo>
                  <a:lnTo>
                    <a:pt x="2706" y="11113"/>
                  </a:lnTo>
                  <a:lnTo>
                    <a:pt x="5916" y="12313"/>
                  </a:lnTo>
                  <a:lnTo>
                    <a:pt x="8071" y="8035"/>
                  </a:lnTo>
                  <a:lnTo>
                    <a:pt x="8071" y="8035"/>
                  </a:lnTo>
                  <a:close/>
                  <a:moveTo>
                    <a:pt x="6466" y="21600"/>
                  </a:moveTo>
                  <a:lnTo>
                    <a:pt x="6466" y="16643"/>
                  </a:lnTo>
                  <a:lnTo>
                    <a:pt x="3761" y="16643"/>
                  </a:lnTo>
                  <a:lnTo>
                    <a:pt x="3761" y="21600"/>
                  </a:lnTo>
                  <a:lnTo>
                    <a:pt x="6466" y="21600"/>
                  </a:lnTo>
                  <a:lnTo>
                    <a:pt x="6466" y="21600"/>
                  </a:lnTo>
                  <a:close/>
                  <a:moveTo>
                    <a:pt x="10227" y="21600"/>
                  </a:moveTo>
                  <a:lnTo>
                    <a:pt x="7567" y="21600"/>
                  </a:lnTo>
                  <a:lnTo>
                    <a:pt x="7567" y="14817"/>
                  </a:lnTo>
                  <a:lnTo>
                    <a:pt x="10227" y="14817"/>
                  </a:lnTo>
                  <a:lnTo>
                    <a:pt x="10227" y="21600"/>
                  </a:lnTo>
                  <a:lnTo>
                    <a:pt x="10227" y="21600"/>
                  </a:lnTo>
                  <a:close/>
                  <a:moveTo>
                    <a:pt x="14033" y="21600"/>
                  </a:moveTo>
                  <a:lnTo>
                    <a:pt x="11327" y="21600"/>
                  </a:lnTo>
                  <a:lnTo>
                    <a:pt x="11327" y="12313"/>
                  </a:lnTo>
                  <a:lnTo>
                    <a:pt x="14033" y="12313"/>
                  </a:lnTo>
                  <a:lnTo>
                    <a:pt x="14033" y="21600"/>
                  </a:lnTo>
                  <a:lnTo>
                    <a:pt x="14033" y="21600"/>
                  </a:lnTo>
                  <a:close/>
                  <a:moveTo>
                    <a:pt x="17794" y="21600"/>
                  </a:moveTo>
                  <a:lnTo>
                    <a:pt x="15088" y="21600"/>
                  </a:lnTo>
                  <a:lnTo>
                    <a:pt x="15088" y="9861"/>
                  </a:lnTo>
                  <a:lnTo>
                    <a:pt x="17794" y="9861"/>
                  </a:lnTo>
                  <a:lnTo>
                    <a:pt x="17794" y="21600"/>
                  </a:lnTo>
                  <a:lnTo>
                    <a:pt x="17794" y="21600"/>
                  </a:lnTo>
                  <a:close/>
                  <a:moveTo>
                    <a:pt x="18894" y="6783"/>
                  </a:moveTo>
                  <a:lnTo>
                    <a:pt x="18894" y="21600"/>
                  </a:lnTo>
                  <a:lnTo>
                    <a:pt x="21600" y="21600"/>
                  </a:lnTo>
                  <a:lnTo>
                    <a:pt x="21600" y="6783"/>
                  </a:lnTo>
                  <a:lnTo>
                    <a:pt x="18894" y="6783"/>
                  </a:lnTo>
                  <a:close/>
                </a:path>
              </a:pathLst>
            </a:custGeom>
            <a:solidFill>
              <a:srgbClr val="FFFFFF"/>
            </a:solidFill>
            <a:ln w="12700" cap="flat">
              <a:noFill/>
              <a:miter lim="400000"/>
            </a:ln>
            <a:effectLst/>
          </p:spPr>
          <p:txBody>
            <a:bodyPr wrap="square" lIns="0" tIns="0" rIns="0" bIns="0" numCol="1" anchor="t">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grpSp>
      <p:sp>
        <p:nvSpPr>
          <p:cNvPr id="25" name="Shape 2035"/>
          <p:cNvSpPr/>
          <p:nvPr/>
        </p:nvSpPr>
        <p:spPr>
          <a:xfrm>
            <a:off x="10136941" y="4206260"/>
            <a:ext cx="950152" cy="95015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25400" tIns="25400" rIns="25400" bIns="25400"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grpSp>
        <p:nvGrpSpPr>
          <p:cNvPr id="26" name="Group 2040"/>
          <p:cNvGrpSpPr/>
          <p:nvPr/>
        </p:nvGrpSpPr>
        <p:grpSpPr>
          <a:xfrm>
            <a:off x="10131634" y="2274011"/>
            <a:ext cx="955485" cy="955485"/>
            <a:chOff x="0" y="0"/>
            <a:chExt cx="1910968" cy="1910968"/>
          </a:xfrm>
        </p:grpSpPr>
        <p:sp>
          <p:nvSpPr>
            <p:cNvPr id="27" name="Shape 2038"/>
            <p:cNvSpPr/>
            <p:nvPr/>
          </p:nvSpPr>
          <p:spPr>
            <a:xfrm>
              <a:off x="0" y="0"/>
              <a:ext cx="1910969" cy="191096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33867" tIns="33867" rIns="33867" bIns="33867"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28" name="Shape 2039"/>
            <p:cNvSpPr/>
            <p:nvPr/>
          </p:nvSpPr>
          <p:spPr>
            <a:xfrm>
              <a:off x="657404" y="557107"/>
              <a:ext cx="596161" cy="749014"/>
            </a:xfrm>
            <a:custGeom>
              <a:avLst/>
              <a:gdLst/>
              <a:ahLst/>
              <a:cxnLst>
                <a:cxn ang="0">
                  <a:pos x="wd2" y="hd2"/>
                </a:cxn>
                <a:cxn ang="5400000">
                  <a:pos x="wd2" y="hd2"/>
                </a:cxn>
                <a:cxn ang="10800000">
                  <a:pos x="wd2" y="hd2"/>
                </a:cxn>
                <a:cxn ang="16200000">
                  <a:pos x="wd2" y="hd2"/>
                </a:cxn>
              </a:cxnLst>
              <a:rect l="0" t="0" r="r" b="b"/>
              <a:pathLst>
                <a:path w="21015" h="21072" extrusionOk="0">
                  <a:moveTo>
                    <a:pt x="17468" y="6506"/>
                  </a:moveTo>
                  <a:cubicBezTo>
                    <a:pt x="16410" y="7763"/>
                    <a:pt x="15333" y="6878"/>
                    <a:pt x="13824" y="5996"/>
                  </a:cubicBezTo>
                  <a:cubicBezTo>
                    <a:pt x="12317" y="5116"/>
                    <a:pt x="10950" y="4575"/>
                    <a:pt x="12006" y="3318"/>
                  </a:cubicBezTo>
                  <a:cubicBezTo>
                    <a:pt x="13062" y="2059"/>
                    <a:pt x="15140" y="1754"/>
                    <a:pt x="16648" y="2634"/>
                  </a:cubicBezTo>
                  <a:cubicBezTo>
                    <a:pt x="18155" y="3515"/>
                    <a:pt x="18522" y="5248"/>
                    <a:pt x="17468" y="6506"/>
                  </a:cubicBezTo>
                  <a:close/>
                  <a:moveTo>
                    <a:pt x="20868" y="4865"/>
                  </a:moveTo>
                  <a:cubicBezTo>
                    <a:pt x="20191" y="1663"/>
                    <a:pt x="16530" y="-474"/>
                    <a:pt x="12691" y="90"/>
                  </a:cubicBezTo>
                  <a:cubicBezTo>
                    <a:pt x="8853" y="655"/>
                    <a:pt x="5613" y="3118"/>
                    <a:pt x="6290" y="6320"/>
                  </a:cubicBezTo>
                  <a:cubicBezTo>
                    <a:pt x="6436" y="7009"/>
                    <a:pt x="6840" y="8088"/>
                    <a:pt x="7318" y="8862"/>
                  </a:cubicBezTo>
                  <a:lnTo>
                    <a:pt x="346" y="17166"/>
                  </a:lnTo>
                  <a:cubicBezTo>
                    <a:pt x="90" y="17473"/>
                    <a:pt x="-56" y="18024"/>
                    <a:pt x="20" y="18392"/>
                  </a:cubicBezTo>
                  <a:lnTo>
                    <a:pt x="470" y="20511"/>
                  </a:lnTo>
                  <a:cubicBezTo>
                    <a:pt x="547" y="20879"/>
                    <a:pt x="971" y="21126"/>
                    <a:pt x="1412" y="21061"/>
                  </a:cubicBezTo>
                  <a:lnTo>
                    <a:pt x="3454" y="20761"/>
                  </a:lnTo>
                  <a:cubicBezTo>
                    <a:pt x="3895" y="20696"/>
                    <a:pt x="4457" y="20387"/>
                    <a:pt x="4700" y="20072"/>
                  </a:cubicBezTo>
                  <a:lnTo>
                    <a:pt x="7456" y="16513"/>
                  </a:lnTo>
                  <a:lnTo>
                    <a:pt x="7480" y="16490"/>
                  </a:lnTo>
                  <a:lnTo>
                    <a:pt x="9346" y="16216"/>
                  </a:lnTo>
                  <a:lnTo>
                    <a:pt x="12566" y="12046"/>
                  </a:lnTo>
                  <a:cubicBezTo>
                    <a:pt x="13623" y="12195"/>
                    <a:pt x="15142" y="12146"/>
                    <a:pt x="16039" y="12013"/>
                  </a:cubicBezTo>
                  <a:cubicBezTo>
                    <a:pt x="19878" y="11449"/>
                    <a:pt x="21544" y="8068"/>
                    <a:pt x="20868" y="4865"/>
                  </a:cubicBezTo>
                  <a:close/>
                </a:path>
              </a:pathLst>
            </a:custGeom>
            <a:solidFill>
              <a:srgbClr val="FFFFFF"/>
            </a:solidFill>
            <a:ln w="12700" cap="flat">
              <a:noFill/>
              <a:miter lim="400000"/>
            </a:ln>
            <a:effectLst/>
          </p:spPr>
          <p:txBody>
            <a:bodyPr wrap="square" lIns="0" tIns="0" rIns="0" bIns="0"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grpSp>
      <p:sp>
        <p:nvSpPr>
          <p:cNvPr id="29" name="Text Placeholder 5"/>
          <p:cNvSpPr txBox="1"/>
          <p:nvPr/>
        </p:nvSpPr>
        <p:spPr>
          <a:xfrm>
            <a:off x="5055235" y="3229610"/>
            <a:ext cx="2155825" cy="906780"/>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zh-CN" sz="2400" b="1">
                <a:solidFill>
                  <a:schemeClr val="bg1"/>
                </a:solidFill>
                <a:latin typeface="微软雅黑" panose="020B0503020204020204" pitchFamily="34" charset="-122"/>
                <a:ea typeface="微软雅黑" panose="020B0503020204020204" pitchFamily="34" charset="-122"/>
                <a:cs typeface="+mn-ea"/>
                <a:sym typeface="+mn-lt"/>
              </a:rPr>
              <a:t>4</a:t>
            </a:r>
            <a:r>
              <a:rPr lang="zh-CN" altLang="en-US" sz="2400" b="1">
                <a:solidFill>
                  <a:schemeClr val="bg1"/>
                </a:solidFill>
                <a:latin typeface="微软雅黑" panose="020B0503020204020204" pitchFamily="34" charset="-122"/>
                <a:ea typeface="微软雅黑" panose="020B0503020204020204" pitchFamily="34" charset="-122"/>
                <a:cs typeface="+mn-ea"/>
                <a:sym typeface="+mn-lt"/>
              </a:rPr>
              <a:t>种比较常见的影响因素</a:t>
            </a:r>
            <a:endParaRPr lang="zh-CN" altLang="en-US" sz="24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0" name="Shape 2036"/>
          <p:cNvSpPr/>
          <p:nvPr/>
        </p:nvSpPr>
        <p:spPr>
          <a:xfrm>
            <a:off x="10410956" y="4466867"/>
            <a:ext cx="402123" cy="428939"/>
          </a:xfrm>
          <a:custGeom>
            <a:avLst/>
            <a:gdLst/>
            <a:ahLst/>
            <a:cxnLst>
              <a:cxn ang="0">
                <a:pos x="wd2" y="hd2"/>
              </a:cxn>
              <a:cxn ang="5400000">
                <a:pos x="wd2" y="hd2"/>
              </a:cxn>
              <a:cxn ang="10800000">
                <a:pos x="wd2" y="hd2"/>
              </a:cxn>
              <a:cxn ang="16200000">
                <a:pos x="wd2" y="hd2"/>
              </a:cxn>
            </a:cxnLst>
            <a:rect l="0" t="0" r="r" b="b"/>
            <a:pathLst>
              <a:path w="21153" h="21260" extrusionOk="0">
                <a:moveTo>
                  <a:pt x="11752" y="11733"/>
                </a:moveTo>
                <a:lnTo>
                  <a:pt x="9401" y="11733"/>
                </a:lnTo>
                <a:lnTo>
                  <a:pt x="9401" y="5975"/>
                </a:lnTo>
                <a:lnTo>
                  <a:pt x="11752" y="5975"/>
                </a:lnTo>
                <a:cubicBezTo>
                  <a:pt x="11752" y="5975"/>
                  <a:pt x="11752" y="11733"/>
                  <a:pt x="11752" y="11733"/>
                </a:cubicBezTo>
                <a:close/>
                <a:moveTo>
                  <a:pt x="11752" y="15276"/>
                </a:moveTo>
                <a:lnTo>
                  <a:pt x="9401" y="15276"/>
                </a:lnTo>
                <a:lnTo>
                  <a:pt x="9401" y="12951"/>
                </a:lnTo>
                <a:lnTo>
                  <a:pt x="11752" y="12951"/>
                </a:lnTo>
                <a:cubicBezTo>
                  <a:pt x="11752" y="12951"/>
                  <a:pt x="11752" y="15276"/>
                  <a:pt x="11752" y="15276"/>
                </a:cubicBezTo>
                <a:close/>
                <a:moveTo>
                  <a:pt x="20789" y="13227"/>
                </a:moveTo>
                <a:lnTo>
                  <a:pt x="18761" y="11523"/>
                </a:lnTo>
                <a:cubicBezTo>
                  <a:pt x="18172" y="11029"/>
                  <a:pt x="18172" y="10223"/>
                  <a:pt x="18761" y="9729"/>
                </a:cubicBezTo>
                <a:lnTo>
                  <a:pt x="20789" y="8025"/>
                </a:lnTo>
                <a:cubicBezTo>
                  <a:pt x="21376" y="7532"/>
                  <a:pt x="21220" y="7072"/>
                  <a:pt x="20441" y="7001"/>
                </a:cubicBezTo>
                <a:lnTo>
                  <a:pt x="17751" y="6761"/>
                </a:lnTo>
                <a:cubicBezTo>
                  <a:pt x="16971" y="6692"/>
                  <a:pt x="16552" y="6061"/>
                  <a:pt x="16819" y="5360"/>
                </a:cubicBezTo>
                <a:lnTo>
                  <a:pt x="18247" y="1615"/>
                </a:lnTo>
                <a:cubicBezTo>
                  <a:pt x="18515" y="912"/>
                  <a:pt x="18188" y="656"/>
                  <a:pt x="17520" y="1047"/>
                </a:cubicBezTo>
                <a:lnTo>
                  <a:pt x="14346" y="2896"/>
                </a:lnTo>
                <a:cubicBezTo>
                  <a:pt x="13678" y="3285"/>
                  <a:pt x="12815" y="3072"/>
                  <a:pt x="12430" y="2423"/>
                </a:cubicBezTo>
                <a:lnTo>
                  <a:pt x="11279" y="489"/>
                </a:lnTo>
                <a:cubicBezTo>
                  <a:pt x="10893" y="-160"/>
                  <a:pt x="10255" y="-164"/>
                  <a:pt x="9860" y="481"/>
                </a:cubicBezTo>
                <a:lnTo>
                  <a:pt x="8793" y="2232"/>
                </a:lnTo>
                <a:cubicBezTo>
                  <a:pt x="8398" y="2877"/>
                  <a:pt x="7493" y="3153"/>
                  <a:pt x="6781" y="2844"/>
                </a:cubicBezTo>
                <a:lnTo>
                  <a:pt x="4900" y="2031"/>
                </a:lnTo>
                <a:cubicBezTo>
                  <a:pt x="4188" y="1723"/>
                  <a:pt x="3639" y="2080"/>
                  <a:pt x="3682" y="2825"/>
                </a:cubicBezTo>
                <a:lnTo>
                  <a:pt x="3784" y="4615"/>
                </a:lnTo>
                <a:cubicBezTo>
                  <a:pt x="3826" y="5360"/>
                  <a:pt x="3242" y="6128"/>
                  <a:pt x="2486" y="6320"/>
                </a:cubicBezTo>
                <a:lnTo>
                  <a:pt x="670" y="6780"/>
                </a:lnTo>
                <a:cubicBezTo>
                  <a:pt x="-85" y="6972"/>
                  <a:pt x="-224" y="7532"/>
                  <a:pt x="365" y="8025"/>
                </a:cubicBezTo>
                <a:lnTo>
                  <a:pt x="2394" y="9729"/>
                </a:lnTo>
                <a:cubicBezTo>
                  <a:pt x="2981" y="10223"/>
                  <a:pt x="2981" y="11029"/>
                  <a:pt x="2394" y="11523"/>
                </a:cubicBezTo>
                <a:lnTo>
                  <a:pt x="365" y="13225"/>
                </a:lnTo>
                <a:cubicBezTo>
                  <a:pt x="-224" y="13720"/>
                  <a:pt x="-68" y="14196"/>
                  <a:pt x="709" y="14285"/>
                </a:cubicBezTo>
                <a:lnTo>
                  <a:pt x="3171" y="14567"/>
                </a:lnTo>
                <a:cubicBezTo>
                  <a:pt x="3948" y="14656"/>
                  <a:pt x="4381" y="15309"/>
                  <a:pt x="4133" y="16017"/>
                </a:cubicBezTo>
                <a:lnTo>
                  <a:pt x="2869" y="19625"/>
                </a:lnTo>
                <a:cubicBezTo>
                  <a:pt x="2622" y="20333"/>
                  <a:pt x="2976" y="20609"/>
                  <a:pt x="3655" y="20240"/>
                </a:cubicBezTo>
                <a:lnTo>
                  <a:pt x="6549" y="18661"/>
                </a:lnTo>
                <a:cubicBezTo>
                  <a:pt x="7229" y="18291"/>
                  <a:pt x="8143" y="18495"/>
                  <a:pt x="8581" y="19113"/>
                </a:cubicBezTo>
                <a:lnTo>
                  <a:pt x="9782" y="20816"/>
                </a:lnTo>
                <a:cubicBezTo>
                  <a:pt x="10219" y="21436"/>
                  <a:pt x="10875" y="21403"/>
                  <a:pt x="11240" y="20741"/>
                </a:cubicBezTo>
                <a:lnTo>
                  <a:pt x="12297" y="18823"/>
                </a:lnTo>
                <a:cubicBezTo>
                  <a:pt x="12660" y="18160"/>
                  <a:pt x="13532" y="17891"/>
                  <a:pt x="14234" y="18221"/>
                </a:cubicBezTo>
                <a:lnTo>
                  <a:pt x="16272" y="19181"/>
                </a:lnTo>
                <a:cubicBezTo>
                  <a:pt x="16974" y="19511"/>
                  <a:pt x="17514" y="19172"/>
                  <a:pt x="17472" y="18427"/>
                </a:cubicBezTo>
                <a:lnTo>
                  <a:pt x="17370" y="16637"/>
                </a:lnTo>
                <a:cubicBezTo>
                  <a:pt x="17327" y="15891"/>
                  <a:pt x="17912" y="15124"/>
                  <a:pt x="18668" y="14932"/>
                </a:cubicBezTo>
                <a:lnTo>
                  <a:pt x="20482" y="14472"/>
                </a:lnTo>
                <a:cubicBezTo>
                  <a:pt x="21239" y="14280"/>
                  <a:pt x="21376" y="13720"/>
                  <a:pt x="20789" y="13227"/>
                </a:cubicBezTo>
                <a:close/>
              </a:path>
            </a:pathLst>
          </a:custGeom>
          <a:solidFill>
            <a:srgbClr val="FFFFFF"/>
          </a:solidFill>
          <a:ln w="12700" cap="flat">
            <a:noFill/>
            <a:miter lim="400000"/>
          </a:ln>
          <a:effectLst/>
        </p:spPr>
        <p:txBody>
          <a:bodyPr wrap="square" lIns="0" tIns="0" rIns="0" bIns="0"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软件</a:t>
            </a:r>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缺陷管理</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1.2</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软件缺陷的概念</a:t>
            </a:r>
          </a:p>
        </p:txBody>
      </p:sp>
      <p:sp>
        <p:nvSpPr>
          <p:cNvPr id="24" name="文本框 23"/>
          <p:cNvSpPr txBox="1"/>
          <p:nvPr/>
        </p:nvSpPr>
        <p:spPr>
          <a:xfrm>
            <a:off x="1071880" y="909955"/>
            <a:ext cx="10046970" cy="621665"/>
          </a:xfrm>
          <a:prstGeom prst="rect">
            <a:avLst/>
          </a:prstGeom>
          <a:noFill/>
        </p:spPr>
        <p:txBody>
          <a:bodyPr wrap="square" rtlCol="0" anchor="t">
            <a:noAutofit/>
          </a:bodyPr>
          <a:lstStyle/>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一般看来，满足以下的任意一种情况都可以称为软件缺陷	</a:t>
            </a:r>
          </a:p>
        </p:txBody>
      </p:sp>
      <p:sp>
        <p:nvSpPr>
          <p:cNvPr id="12" name="文本框 11">
            <a:extLst>
              <a:ext uri="{FF2B5EF4-FFF2-40B4-BE49-F238E27FC236}">
                <a16:creationId xmlns:a16="http://schemas.microsoft.com/office/drawing/2014/main" id="{48861857-16FE-3B82-0667-787944837675}"/>
              </a:ext>
            </a:extLst>
          </p:cNvPr>
          <p:cNvSpPr txBox="1"/>
          <p:nvPr/>
        </p:nvSpPr>
        <p:spPr>
          <a:xfrm>
            <a:off x="1143691" y="1917794"/>
            <a:ext cx="10046970" cy="2664000"/>
          </a:xfrm>
          <a:prstGeom prst="rect">
            <a:avLst/>
          </a:prstGeom>
          <a:noFill/>
        </p:spPr>
        <p:txBody>
          <a:bodyPr wrap="square" rtlCol="0" anchor="t">
            <a:noAutofit/>
          </a:bodyPr>
          <a:lstStyle/>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1</a:t>
            </a:r>
            <a:r>
              <a:rPr lang="zh-CN" altLang="en-US" sz="2000" dirty="0">
                <a:solidFill>
                  <a:srgbClr val="595959"/>
                </a:solidFill>
                <a:latin typeface="微软雅黑" panose="020B0503020204020204" pitchFamily="34" charset="-122"/>
                <a:ea typeface="微软雅黑" panose="020B0503020204020204" pitchFamily="34" charset="-122"/>
                <a:sym typeface="+mn-ea"/>
              </a:rPr>
              <a:t>）软件</a:t>
            </a:r>
            <a:r>
              <a:rPr lang="zh-CN" altLang="en-US" sz="2000" dirty="0">
                <a:solidFill>
                  <a:srgbClr val="0070C0"/>
                </a:solidFill>
                <a:latin typeface="微软雅黑" panose="020B0503020204020204" pitchFamily="34" charset="-122"/>
                <a:ea typeface="微软雅黑" panose="020B0503020204020204" pitchFamily="34" charset="-122"/>
                <a:sym typeface="+mn-ea"/>
              </a:rPr>
              <a:t>未达到</a:t>
            </a:r>
            <a:r>
              <a:rPr lang="zh-CN" altLang="en-US" sz="2000" dirty="0">
                <a:solidFill>
                  <a:srgbClr val="595959"/>
                </a:solidFill>
                <a:latin typeface="微软雅黑" panose="020B0503020204020204" pitchFamily="34" charset="-122"/>
                <a:ea typeface="微软雅黑" panose="020B0503020204020204" pitchFamily="34" charset="-122"/>
                <a:sym typeface="+mn-ea"/>
              </a:rPr>
              <a:t>产品说明书中标明的功能。</a:t>
            </a:r>
            <a:endParaRPr lang="en-US" altLang="zh-CN" sz="2000" dirty="0">
              <a:solidFill>
                <a:srgbClr val="595959"/>
              </a:solidFill>
              <a:latin typeface="微软雅黑" panose="020B0503020204020204" pitchFamily="34" charset="-122"/>
              <a:ea typeface="微软雅黑" panose="020B0503020204020204" pitchFamily="34" charset="-122"/>
              <a:sym typeface="+mn-ea"/>
            </a:endParaRP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2</a:t>
            </a:r>
            <a:r>
              <a:rPr lang="zh-CN" altLang="en-US" sz="2000" dirty="0">
                <a:solidFill>
                  <a:srgbClr val="595959"/>
                </a:solidFill>
                <a:latin typeface="微软雅黑" panose="020B0503020204020204" pitchFamily="34" charset="-122"/>
                <a:ea typeface="微软雅黑" panose="020B0503020204020204" pitchFamily="34" charset="-122"/>
                <a:sym typeface="+mn-ea"/>
              </a:rPr>
              <a:t>）软件出现了产品说明书中指明的</a:t>
            </a:r>
            <a:r>
              <a:rPr lang="zh-CN" altLang="en-US" sz="2000" dirty="0">
                <a:solidFill>
                  <a:srgbClr val="0070C0"/>
                </a:solidFill>
                <a:latin typeface="微软雅黑" panose="020B0503020204020204" pitchFamily="34" charset="-122"/>
                <a:ea typeface="微软雅黑" panose="020B0503020204020204" pitchFamily="34" charset="-122"/>
                <a:sym typeface="+mn-ea"/>
              </a:rPr>
              <a:t>不应该出现</a:t>
            </a:r>
            <a:r>
              <a:rPr lang="zh-CN" altLang="en-US" sz="2000" dirty="0">
                <a:solidFill>
                  <a:srgbClr val="595959"/>
                </a:solidFill>
                <a:latin typeface="微软雅黑" panose="020B0503020204020204" pitchFamily="34" charset="-122"/>
                <a:ea typeface="微软雅黑" panose="020B0503020204020204" pitchFamily="34" charset="-122"/>
                <a:sym typeface="+mn-ea"/>
              </a:rPr>
              <a:t>的功能。</a:t>
            </a: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3</a:t>
            </a:r>
            <a:r>
              <a:rPr lang="zh-CN" altLang="en-US" sz="2000" dirty="0">
                <a:solidFill>
                  <a:srgbClr val="595959"/>
                </a:solidFill>
                <a:latin typeface="微软雅黑" panose="020B0503020204020204" pitchFamily="34" charset="-122"/>
                <a:ea typeface="微软雅黑" panose="020B0503020204020204" pitchFamily="34" charset="-122"/>
                <a:sym typeface="+mn-ea"/>
              </a:rPr>
              <a:t>）软件功能</a:t>
            </a:r>
            <a:r>
              <a:rPr lang="zh-CN" altLang="en-US" sz="2000" dirty="0">
                <a:solidFill>
                  <a:srgbClr val="0070C0"/>
                </a:solidFill>
                <a:latin typeface="微软雅黑" panose="020B0503020204020204" pitchFamily="34" charset="-122"/>
                <a:ea typeface="微软雅黑" panose="020B0503020204020204" pitchFamily="34" charset="-122"/>
                <a:sym typeface="+mn-ea"/>
              </a:rPr>
              <a:t>超出了</a:t>
            </a:r>
            <a:r>
              <a:rPr lang="zh-CN" altLang="en-US" sz="2000" dirty="0">
                <a:solidFill>
                  <a:srgbClr val="595959"/>
                </a:solidFill>
                <a:latin typeface="微软雅黑" panose="020B0503020204020204" pitchFamily="34" charset="-122"/>
                <a:ea typeface="微软雅黑" panose="020B0503020204020204" pitchFamily="34" charset="-122"/>
                <a:sym typeface="+mn-ea"/>
              </a:rPr>
              <a:t>产品说明书中指明的范围。</a:t>
            </a: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4</a:t>
            </a:r>
            <a:r>
              <a:rPr lang="zh-CN" altLang="en-US" sz="2000" dirty="0">
                <a:solidFill>
                  <a:srgbClr val="595959"/>
                </a:solidFill>
                <a:latin typeface="微软雅黑" panose="020B0503020204020204" pitchFamily="34" charset="-122"/>
                <a:ea typeface="微软雅黑" panose="020B0503020204020204" pitchFamily="34" charset="-122"/>
                <a:sym typeface="+mn-ea"/>
              </a:rPr>
              <a:t>）软件</a:t>
            </a:r>
            <a:r>
              <a:rPr lang="zh-CN" altLang="en-US" sz="2000" dirty="0">
                <a:solidFill>
                  <a:srgbClr val="0070C0"/>
                </a:solidFill>
                <a:latin typeface="微软雅黑" panose="020B0503020204020204" pitchFamily="34" charset="-122"/>
                <a:ea typeface="微软雅黑" panose="020B0503020204020204" pitchFamily="34" charset="-122"/>
                <a:sym typeface="+mn-ea"/>
              </a:rPr>
              <a:t>未达到</a:t>
            </a:r>
            <a:r>
              <a:rPr lang="zh-CN" altLang="en-US" sz="2000" dirty="0">
                <a:solidFill>
                  <a:srgbClr val="595959"/>
                </a:solidFill>
                <a:latin typeface="微软雅黑" panose="020B0503020204020204" pitchFamily="34" charset="-122"/>
                <a:ea typeface="微软雅黑" panose="020B0503020204020204" pitchFamily="34" charset="-122"/>
                <a:sym typeface="+mn-ea"/>
              </a:rPr>
              <a:t>产品说明书中指明的应达到的目的。</a:t>
            </a: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5</a:t>
            </a:r>
            <a:r>
              <a:rPr lang="zh-CN" altLang="en-US" sz="2000" dirty="0">
                <a:solidFill>
                  <a:srgbClr val="595959"/>
                </a:solidFill>
                <a:latin typeface="微软雅黑" panose="020B0503020204020204" pitchFamily="34" charset="-122"/>
                <a:ea typeface="微软雅黑" panose="020B0503020204020204" pitchFamily="34" charset="-122"/>
                <a:sym typeface="+mn-ea"/>
              </a:rPr>
              <a:t>）软件</a:t>
            </a:r>
            <a:r>
              <a:rPr lang="zh-CN" altLang="en-US" sz="2000" dirty="0">
                <a:solidFill>
                  <a:srgbClr val="0070C0"/>
                </a:solidFill>
                <a:latin typeface="微软雅黑" panose="020B0503020204020204" pitchFamily="34" charset="-122"/>
                <a:ea typeface="微软雅黑" panose="020B0503020204020204" pitchFamily="34" charset="-122"/>
                <a:sym typeface="+mn-ea"/>
              </a:rPr>
              <a:t>难以理解</a:t>
            </a:r>
            <a:r>
              <a:rPr lang="zh-CN" altLang="en-US" sz="2000" dirty="0">
                <a:solidFill>
                  <a:srgbClr val="595959"/>
                </a:solidFill>
                <a:latin typeface="微软雅黑" panose="020B0503020204020204" pitchFamily="34" charset="-122"/>
                <a:ea typeface="微软雅黑" panose="020B0503020204020204" pitchFamily="34" charset="-122"/>
                <a:sym typeface="+mn-ea"/>
              </a:rPr>
              <a:t>和</a:t>
            </a:r>
            <a:r>
              <a:rPr lang="zh-CN" altLang="en-US" sz="2000" dirty="0">
                <a:solidFill>
                  <a:srgbClr val="0070C0"/>
                </a:solidFill>
                <a:latin typeface="微软雅黑" panose="020B0503020204020204" pitchFamily="34" charset="-122"/>
                <a:ea typeface="微软雅黑" panose="020B0503020204020204" pitchFamily="34" charset="-122"/>
                <a:sym typeface="+mn-ea"/>
              </a:rPr>
              <a:t>使用、运行速度慢</a:t>
            </a:r>
            <a:r>
              <a:rPr lang="zh-CN" altLang="en-US" sz="2000" dirty="0">
                <a:solidFill>
                  <a:srgbClr val="595959"/>
                </a:solidFill>
                <a:latin typeface="微软雅黑" panose="020B0503020204020204" pitchFamily="34" charset="-122"/>
                <a:ea typeface="微软雅黑" panose="020B0503020204020204" pitchFamily="34" charset="-122"/>
                <a:sym typeface="+mn-ea"/>
              </a:rPr>
              <a:t>或最终</a:t>
            </a:r>
            <a:r>
              <a:rPr lang="zh-CN" altLang="en-US" sz="2000" dirty="0">
                <a:solidFill>
                  <a:srgbClr val="0070C0"/>
                </a:solidFill>
                <a:latin typeface="微软雅黑" panose="020B0503020204020204" pitchFamily="34" charset="-122"/>
                <a:ea typeface="微软雅黑" panose="020B0503020204020204" pitchFamily="34" charset="-122"/>
                <a:sym typeface="+mn-ea"/>
              </a:rPr>
              <a:t>用户认为不好</a:t>
            </a:r>
            <a:r>
              <a:rPr lang="zh-CN" altLang="en-US" sz="2000" dirty="0">
                <a:solidFill>
                  <a:srgbClr val="595959"/>
                </a:solidFill>
                <a:latin typeface="微软雅黑" panose="020B0503020204020204" pitchFamily="34" charset="-122"/>
                <a:ea typeface="微软雅黑" panose="020B0503020204020204" pitchFamily="34" charset="-122"/>
                <a:sym typeface="+mn-ea"/>
              </a:rPr>
              <a:t>。</a:t>
            </a:r>
          </a:p>
          <a:p>
            <a:pPr algn="just">
              <a:lnSpc>
                <a:spcPct val="150000"/>
              </a:lnSpc>
              <a:buClrTx/>
              <a:buSzTx/>
              <a:buFontTx/>
            </a:pPr>
            <a:endParaRPr lang="zh-CN" altLang="en-US" sz="2000" dirty="0">
              <a:solidFill>
                <a:srgbClr val="595959"/>
              </a:solidFill>
              <a:latin typeface="微软雅黑" panose="020B0503020204020204" pitchFamily="34" charset="-122"/>
              <a:ea typeface="微软雅黑" panose="020B0503020204020204" pitchFamily="34" charset="-122"/>
              <a:sym typeface="+mn-ea"/>
            </a:endParaRP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EB161-03DF-7C2B-110C-D30F4B4BC0A2}"/>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54ED4C3D-8518-E334-60B4-0EB865455677}"/>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软件缺陷产生的原因</a:t>
            </a:r>
          </a:p>
        </p:txBody>
      </p:sp>
      <p:grpSp>
        <p:nvGrpSpPr>
          <p:cNvPr id="2" name="Group 337">
            <a:extLst>
              <a:ext uri="{FF2B5EF4-FFF2-40B4-BE49-F238E27FC236}">
                <a16:creationId xmlns:a16="http://schemas.microsoft.com/office/drawing/2014/main" id="{93064230-ECB3-C7FE-7EC8-5DD412AFD9C1}"/>
              </a:ext>
            </a:extLst>
          </p:cNvPr>
          <p:cNvGrpSpPr/>
          <p:nvPr/>
        </p:nvGrpSpPr>
        <p:grpSpPr>
          <a:xfrm>
            <a:off x="1069791" y="1845729"/>
            <a:ext cx="2196431" cy="1436124"/>
            <a:chOff x="1" y="0"/>
            <a:chExt cx="4392858" cy="2872248"/>
          </a:xfrm>
        </p:grpSpPr>
        <p:sp>
          <p:nvSpPr>
            <p:cNvPr id="3" name="Shape 333">
              <a:extLst>
                <a:ext uri="{FF2B5EF4-FFF2-40B4-BE49-F238E27FC236}">
                  <a16:creationId xmlns:a16="http://schemas.microsoft.com/office/drawing/2014/main" id="{0E41D429-EFC8-DB1C-28E9-06FB11951045}"/>
                </a:ext>
              </a:extLst>
            </p:cNvPr>
            <p:cNvSpPr/>
            <p:nvPr/>
          </p:nvSpPr>
          <p:spPr>
            <a:xfrm>
              <a:off x="1" y="0"/>
              <a:ext cx="4392858"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rgbClr val="0070C0"/>
            </a:solidFill>
            <a:ln w="12700" cap="flat">
              <a:noFill/>
              <a:miter lim="400000"/>
            </a:ln>
            <a:effectLst/>
          </p:spPr>
          <p:txBody>
            <a:bodyPr wrap="square" lIns="0" tIns="0" rIns="0" bIns="0" numCol="1" anchor="ctr">
              <a:noAutofit/>
            </a:bodyPr>
            <a:lstStyle/>
            <a:p>
              <a:pPr lvl="0">
                <a:defRPr sz="11200"/>
              </a:pPr>
              <a:endParaRPr sz="1600">
                <a:solidFill>
                  <a:schemeClr val="bg1"/>
                </a:solidFill>
                <a:cs typeface="+mn-ea"/>
                <a:sym typeface="+mn-lt"/>
              </a:endParaRPr>
            </a:p>
          </p:txBody>
        </p:sp>
        <p:sp>
          <p:nvSpPr>
            <p:cNvPr id="6" name="Shape 335">
              <a:extLst>
                <a:ext uri="{FF2B5EF4-FFF2-40B4-BE49-F238E27FC236}">
                  <a16:creationId xmlns:a16="http://schemas.microsoft.com/office/drawing/2014/main" id="{B8A42508-A4B4-53CF-46FE-6C18BF41384E}"/>
                </a:ext>
              </a:extLst>
            </p:cNvPr>
            <p:cNvSpPr/>
            <p:nvPr/>
          </p:nvSpPr>
          <p:spPr>
            <a:xfrm>
              <a:off x="1504026" y="1208122"/>
              <a:ext cx="2031998" cy="491490"/>
            </a:xfrm>
            <a:prstGeom prst="rect">
              <a:avLst/>
            </a:prstGeom>
            <a:noFill/>
            <a:ln w="12700" cap="flat">
              <a:noFill/>
              <a:miter lim="400000"/>
            </a:ln>
            <a:effectLst/>
          </p:spPr>
          <p:txBody>
            <a:bodyPr wrap="none" lIns="0" tIns="0" rIns="0" bIns="0" numCol="1" anchor="ctr">
              <a:sp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600" b="1" dirty="0">
                  <a:solidFill>
                    <a:schemeClr val="bg1"/>
                  </a:solidFill>
                  <a:latin typeface="微软雅黑" panose="020B0503020204020204" pitchFamily="34" charset="-122"/>
                  <a:ea typeface="微软雅黑" panose="020B0503020204020204" pitchFamily="34" charset="-122"/>
                  <a:cs typeface="+mn-ea"/>
                  <a:sym typeface="+mn-lt"/>
                </a:rPr>
                <a:t>需求不明确</a:t>
              </a:r>
            </a:p>
          </p:txBody>
        </p:sp>
      </p:grpSp>
      <p:grpSp>
        <p:nvGrpSpPr>
          <p:cNvPr id="7" name="Group 342">
            <a:extLst>
              <a:ext uri="{FF2B5EF4-FFF2-40B4-BE49-F238E27FC236}">
                <a16:creationId xmlns:a16="http://schemas.microsoft.com/office/drawing/2014/main" id="{F014C70C-EB88-EAA9-16D6-95D7AD18C280}"/>
              </a:ext>
            </a:extLst>
          </p:cNvPr>
          <p:cNvGrpSpPr/>
          <p:nvPr/>
        </p:nvGrpSpPr>
        <p:grpSpPr>
          <a:xfrm>
            <a:off x="2982770" y="1845729"/>
            <a:ext cx="2196431" cy="1436124"/>
            <a:chOff x="0" y="0"/>
            <a:chExt cx="4392859" cy="2872248"/>
          </a:xfrm>
        </p:grpSpPr>
        <p:sp>
          <p:nvSpPr>
            <p:cNvPr id="8" name="Shape 338">
              <a:extLst>
                <a:ext uri="{FF2B5EF4-FFF2-40B4-BE49-F238E27FC236}">
                  <a16:creationId xmlns:a16="http://schemas.microsoft.com/office/drawing/2014/main" id="{873C8391-15A2-2A17-9256-3FC7A64C7A97}"/>
                </a:ext>
              </a:extLst>
            </p:cNvPr>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bg2"/>
            </a:solidFill>
            <a:ln w="12700" cap="flat">
              <a:noFill/>
              <a:miter lim="400000"/>
            </a:ln>
            <a:effectLst/>
          </p:spPr>
          <p:txBody>
            <a:bodyPr wrap="square" lIns="0" tIns="0" rIns="0" bIns="0" numCol="1" anchor="ctr">
              <a:noAutofit/>
            </a:bodyPr>
            <a:lstStyle/>
            <a:p>
              <a:pPr lvl="0">
                <a:defRPr sz="11200"/>
              </a:pPr>
              <a:endParaRPr sz="1600">
                <a:cs typeface="+mn-ea"/>
                <a:sym typeface="+mn-lt"/>
              </a:endParaRPr>
            </a:p>
          </p:txBody>
        </p:sp>
        <p:sp>
          <p:nvSpPr>
            <p:cNvPr id="11" name="Shape 340">
              <a:extLst>
                <a:ext uri="{FF2B5EF4-FFF2-40B4-BE49-F238E27FC236}">
                  <a16:creationId xmlns:a16="http://schemas.microsoft.com/office/drawing/2014/main" id="{62F04DC8-01DA-9156-B703-5EB97E515B20}"/>
                </a:ext>
              </a:extLst>
            </p:cNvPr>
            <p:cNvSpPr/>
            <p:nvPr/>
          </p:nvSpPr>
          <p:spPr>
            <a:xfrm>
              <a:off x="1194479" y="1289712"/>
              <a:ext cx="2852436" cy="431800"/>
            </a:xfrm>
            <a:prstGeom prst="rect">
              <a:avLst/>
            </a:prstGeom>
            <a:noFill/>
            <a:ln w="12700" cap="flat">
              <a:noFill/>
              <a:miter lim="400000"/>
            </a:ln>
            <a:effec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软件结构复杂</a:t>
              </a:r>
            </a:p>
          </p:txBody>
        </p:sp>
      </p:grpSp>
      <p:grpSp>
        <p:nvGrpSpPr>
          <p:cNvPr id="4" name="Group 347">
            <a:extLst>
              <a:ext uri="{FF2B5EF4-FFF2-40B4-BE49-F238E27FC236}">
                <a16:creationId xmlns:a16="http://schemas.microsoft.com/office/drawing/2014/main" id="{05FC43D8-28E2-4A8B-EE18-E71118691C63}"/>
              </a:ext>
            </a:extLst>
          </p:cNvPr>
          <p:cNvGrpSpPr/>
          <p:nvPr/>
        </p:nvGrpSpPr>
        <p:grpSpPr>
          <a:xfrm>
            <a:off x="4943011" y="1845729"/>
            <a:ext cx="2196431" cy="1436124"/>
            <a:chOff x="0" y="0"/>
            <a:chExt cx="4392859" cy="2872248"/>
          </a:xfrm>
        </p:grpSpPr>
        <p:sp>
          <p:nvSpPr>
            <p:cNvPr id="5" name="Shape 343">
              <a:extLst>
                <a:ext uri="{FF2B5EF4-FFF2-40B4-BE49-F238E27FC236}">
                  <a16:creationId xmlns:a16="http://schemas.microsoft.com/office/drawing/2014/main" id="{60EA194F-30BB-73D2-2C08-680B4A4101B7}"/>
                </a:ext>
              </a:extLst>
            </p:cNvPr>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rgbClr val="0070C0"/>
            </a:solidFill>
            <a:ln w="12700" cap="flat">
              <a:noFill/>
              <a:miter lim="400000"/>
            </a:ln>
            <a:effectLst/>
          </p:spPr>
          <p:txBody>
            <a:bodyPr wrap="square" lIns="0" tIns="0" rIns="0" bIns="0" numCol="1" anchor="ctr">
              <a:noAutofit/>
            </a:bodyPr>
            <a:lstStyle/>
            <a:p>
              <a:pPr lvl="0">
                <a:defRPr sz="11200"/>
              </a:pPr>
              <a:endParaRPr sz="1600">
                <a:solidFill>
                  <a:schemeClr val="bg1"/>
                </a:solidFill>
                <a:cs typeface="+mn-ea"/>
                <a:sym typeface="+mn-lt"/>
              </a:endParaRPr>
            </a:p>
          </p:txBody>
        </p:sp>
        <p:sp>
          <p:nvSpPr>
            <p:cNvPr id="16" name="Shape 345">
              <a:extLst>
                <a:ext uri="{FF2B5EF4-FFF2-40B4-BE49-F238E27FC236}">
                  <a16:creationId xmlns:a16="http://schemas.microsoft.com/office/drawing/2014/main" id="{11BB314F-DD86-13A3-E7AF-7025D9BC2CA6}"/>
                </a:ext>
              </a:extLst>
            </p:cNvPr>
            <p:cNvSpPr/>
            <p:nvPr/>
          </p:nvSpPr>
          <p:spPr>
            <a:xfrm>
              <a:off x="1086541" y="1289712"/>
              <a:ext cx="2972476" cy="431800"/>
            </a:xfrm>
            <a:prstGeom prst="rect">
              <a:avLst/>
            </a:prstGeom>
            <a:noFill/>
            <a:ln w="12700" cap="flat">
              <a:noFill/>
              <a:miter lim="400000"/>
            </a:ln>
            <a:effec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600" b="1" dirty="0">
                  <a:solidFill>
                    <a:schemeClr val="bg1"/>
                  </a:solidFill>
                  <a:latin typeface="微软雅黑" panose="020B0503020204020204" pitchFamily="34" charset="-122"/>
                  <a:ea typeface="微软雅黑" panose="020B0503020204020204" pitchFamily="34" charset="-122"/>
                  <a:cs typeface="+mn-ea"/>
                  <a:sym typeface="+mn-lt"/>
                </a:rPr>
                <a:t>编码问题</a:t>
              </a:r>
            </a:p>
          </p:txBody>
        </p:sp>
      </p:grpSp>
      <p:grpSp>
        <p:nvGrpSpPr>
          <p:cNvPr id="9" name="Group 352">
            <a:extLst>
              <a:ext uri="{FF2B5EF4-FFF2-40B4-BE49-F238E27FC236}">
                <a16:creationId xmlns:a16="http://schemas.microsoft.com/office/drawing/2014/main" id="{11AF1731-B977-DEEE-6E13-D2AC3A62F6B4}"/>
              </a:ext>
            </a:extLst>
          </p:cNvPr>
          <p:cNvGrpSpPr/>
          <p:nvPr/>
        </p:nvGrpSpPr>
        <p:grpSpPr>
          <a:xfrm>
            <a:off x="6887104" y="1845729"/>
            <a:ext cx="2196429" cy="1436124"/>
            <a:chOff x="0" y="0"/>
            <a:chExt cx="4392859" cy="2872248"/>
          </a:xfrm>
        </p:grpSpPr>
        <p:sp>
          <p:nvSpPr>
            <p:cNvPr id="10" name="Shape 348">
              <a:extLst>
                <a:ext uri="{FF2B5EF4-FFF2-40B4-BE49-F238E27FC236}">
                  <a16:creationId xmlns:a16="http://schemas.microsoft.com/office/drawing/2014/main" id="{FDA519B0-1F8C-BC7D-C9E7-14BB65675932}"/>
                </a:ext>
              </a:extLst>
            </p:cNvPr>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bg2"/>
            </a:solidFill>
            <a:ln w="12700" cap="flat">
              <a:noFill/>
              <a:miter lim="400000"/>
            </a:ln>
            <a:effectLst/>
          </p:spPr>
          <p:txBody>
            <a:bodyPr wrap="square" lIns="0" tIns="0" rIns="0" bIns="0" numCol="1" anchor="ctr">
              <a:noAutofit/>
            </a:bodyPr>
            <a:lstStyle/>
            <a:p>
              <a:pPr lvl="0">
                <a:defRPr sz="11200"/>
              </a:pPr>
              <a:endParaRPr sz="1600">
                <a:cs typeface="+mn-ea"/>
                <a:sym typeface="+mn-lt"/>
              </a:endParaRPr>
            </a:p>
          </p:txBody>
        </p:sp>
        <p:sp>
          <p:nvSpPr>
            <p:cNvPr id="21" name="Shape 350">
              <a:extLst>
                <a:ext uri="{FF2B5EF4-FFF2-40B4-BE49-F238E27FC236}">
                  <a16:creationId xmlns:a16="http://schemas.microsoft.com/office/drawing/2014/main" id="{0215962A-CEF5-A96D-7ABC-91571A655FD3}"/>
                </a:ext>
              </a:extLst>
            </p:cNvPr>
            <p:cNvSpPr/>
            <p:nvPr/>
          </p:nvSpPr>
          <p:spPr>
            <a:xfrm>
              <a:off x="1186403" y="1289712"/>
              <a:ext cx="2924718" cy="431800"/>
            </a:xfrm>
            <a:prstGeom prst="rect">
              <a:avLst/>
            </a:prstGeom>
            <a:noFill/>
            <a:ln w="12700" cap="flat">
              <a:noFill/>
              <a:miter lim="400000"/>
            </a:ln>
            <a:effec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项目期限短</a:t>
              </a:r>
            </a:p>
          </p:txBody>
        </p:sp>
      </p:grpSp>
      <p:grpSp>
        <p:nvGrpSpPr>
          <p:cNvPr id="22" name="Group 357">
            <a:extLst>
              <a:ext uri="{FF2B5EF4-FFF2-40B4-BE49-F238E27FC236}">
                <a16:creationId xmlns:a16="http://schemas.microsoft.com/office/drawing/2014/main" id="{33107156-728C-4D23-5817-37B59DC1D427}"/>
              </a:ext>
            </a:extLst>
          </p:cNvPr>
          <p:cNvGrpSpPr/>
          <p:nvPr/>
        </p:nvGrpSpPr>
        <p:grpSpPr>
          <a:xfrm>
            <a:off x="8858471" y="1845729"/>
            <a:ext cx="2196429" cy="1436124"/>
            <a:chOff x="0" y="0"/>
            <a:chExt cx="4392859" cy="2872248"/>
          </a:xfrm>
        </p:grpSpPr>
        <p:sp>
          <p:nvSpPr>
            <p:cNvPr id="23" name="Shape 353">
              <a:extLst>
                <a:ext uri="{FF2B5EF4-FFF2-40B4-BE49-F238E27FC236}">
                  <a16:creationId xmlns:a16="http://schemas.microsoft.com/office/drawing/2014/main" id="{D5EB6570-C757-865D-625B-36807B62FA09}"/>
                </a:ext>
              </a:extLst>
            </p:cNvPr>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rgbClr val="0070C0"/>
            </a:solidFill>
            <a:ln w="12700" cap="flat">
              <a:noFill/>
              <a:miter lim="400000"/>
            </a:ln>
            <a:effectLst/>
          </p:spPr>
          <p:txBody>
            <a:bodyPr wrap="square" lIns="0" tIns="0" rIns="0" bIns="0" numCol="1" anchor="ctr">
              <a:noAutofit/>
            </a:bodyPr>
            <a:lstStyle/>
            <a:p>
              <a:pPr lvl="0">
                <a:defRPr sz="11200"/>
              </a:pPr>
              <a:endParaRPr sz="1600">
                <a:solidFill>
                  <a:schemeClr val="bg1"/>
                </a:solidFill>
                <a:cs typeface="+mn-ea"/>
                <a:sym typeface="+mn-lt"/>
              </a:endParaRPr>
            </a:p>
          </p:txBody>
        </p:sp>
        <p:sp>
          <p:nvSpPr>
            <p:cNvPr id="26" name="Shape 355">
              <a:extLst>
                <a:ext uri="{FF2B5EF4-FFF2-40B4-BE49-F238E27FC236}">
                  <a16:creationId xmlns:a16="http://schemas.microsoft.com/office/drawing/2014/main" id="{9498C6D9-7BFD-4127-83AA-7EF47D293FD6}"/>
                </a:ext>
              </a:extLst>
            </p:cNvPr>
            <p:cNvSpPr/>
            <p:nvPr/>
          </p:nvSpPr>
          <p:spPr>
            <a:xfrm>
              <a:off x="1186405" y="1289715"/>
              <a:ext cx="3014432" cy="369333"/>
            </a:xfrm>
            <a:prstGeom prst="rect">
              <a:avLst/>
            </a:prstGeom>
            <a:noFill/>
            <a:ln w="12700" cap="flat">
              <a:noFill/>
              <a:miter lim="400000"/>
            </a:ln>
            <a:effec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600" b="1" dirty="0">
                  <a:solidFill>
                    <a:schemeClr val="bg1"/>
                  </a:solidFill>
                  <a:latin typeface="微软雅黑" panose="020B0503020204020204" pitchFamily="34" charset="-122"/>
                  <a:ea typeface="微软雅黑" panose="020B0503020204020204" pitchFamily="34" charset="-122"/>
                  <a:cs typeface="+mn-ea"/>
                  <a:sym typeface="+mn-lt"/>
                </a:rPr>
                <a:t>使用新技术</a:t>
              </a:r>
            </a:p>
          </p:txBody>
        </p:sp>
      </p:grpSp>
      <p:grpSp>
        <p:nvGrpSpPr>
          <p:cNvPr id="27" name="Group 360">
            <a:extLst>
              <a:ext uri="{FF2B5EF4-FFF2-40B4-BE49-F238E27FC236}">
                <a16:creationId xmlns:a16="http://schemas.microsoft.com/office/drawing/2014/main" id="{F23B7A6F-3A7E-8061-CFB5-D0B6A6894869}"/>
              </a:ext>
            </a:extLst>
          </p:cNvPr>
          <p:cNvGrpSpPr/>
          <p:nvPr/>
        </p:nvGrpSpPr>
        <p:grpSpPr>
          <a:xfrm>
            <a:off x="1955358" y="3076604"/>
            <a:ext cx="425297" cy="425297"/>
            <a:chOff x="0" y="0"/>
            <a:chExt cx="850594" cy="850594"/>
          </a:xfrm>
        </p:grpSpPr>
        <p:sp>
          <p:nvSpPr>
            <p:cNvPr id="28" name="Shape 358">
              <a:extLst>
                <a:ext uri="{FF2B5EF4-FFF2-40B4-BE49-F238E27FC236}">
                  <a16:creationId xmlns:a16="http://schemas.microsoft.com/office/drawing/2014/main" id="{3EF038AF-DD50-2CFB-8884-DD91E65FA8DF}"/>
                </a:ext>
              </a:extLst>
            </p:cNvPr>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50800" cap="flat">
              <a:solidFill>
                <a:srgbClr val="FBF9FC"/>
              </a:solidFill>
              <a:prstDash val="solid"/>
              <a:miter lim="400000"/>
            </a:ln>
            <a:effectLst/>
          </p:spPr>
          <p:txBody>
            <a:bodyPr wrap="square" lIns="0" tIns="0" rIns="0" bIns="0" numCol="1" anchor="ctr">
              <a:noAutofit/>
            </a:bodyPr>
            <a:lstStyle/>
            <a:p>
              <a:pPr lvl="0">
                <a:defRPr sz="11200"/>
              </a:pPr>
              <a:endParaRPr sz="14935">
                <a:solidFill>
                  <a:schemeClr val="bg1"/>
                </a:solidFill>
                <a:cs typeface="+mn-ea"/>
                <a:sym typeface="+mn-lt"/>
              </a:endParaRPr>
            </a:p>
          </p:txBody>
        </p:sp>
        <p:sp>
          <p:nvSpPr>
            <p:cNvPr id="29" name="Shape 359">
              <a:extLst>
                <a:ext uri="{FF2B5EF4-FFF2-40B4-BE49-F238E27FC236}">
                  <a16:creationId xmlns:a16="http://schemas.microsoft.com/office/drawing/2014/main" id="{7A14754D-1B6B-E712-18E7-A50532E2F8B2}"/>
                </a:ext>
              </a:extLst>
            </p:cNvPr>
            <p:cNvSpPr/>
            <p:nvPr/>
          </p:nvSpPr>
          <p:spPr>
            <a:xfrm>
              <a:off x="300082" y="114147"/>
              <a:ext cx="250430" cy="622301"/>
            </a:xfrm>
            <a:prstGeom prst="rect">
              <a:avLst/>
            </a:prstGeom>
            <a:noFill/>
            <a:ln w="12700" cap="flat">
              <a:noFill/>
              <a:miter lim="400000"/>
            </a:ln>
            <a:effectLst/>
          </p:spPr>
          <p:txBody>
            <a:bodyPr wrap="square" lIns="0" tIns="0" rIns="0" bIns="0" numCol="1" anchor="ctr">
              <a:no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600" dirty="0">
                  <a:solidFill>
                    <a:schemeClr val="bg1"/>
                  </a:solidFill>
                  <a:latin typeface="+mn-lt"/>
                  <a:ea typeface="+mn-ea"/>
                  <a:cs typeface="+mn-ea"/>
                  <a:sym typeface="+mn-lt"/>
                </a:rPr>
                <a:t>1</a:t>
              </a:r>
            </a:p>
          </p:txBody>
        </p:sp>
      </p:grpSp>
      <p:grpSp>
        <p:nvGrpSpPr>
          <p:cNvPr id="30" name="Group 363">
            <a:extLst>
              <a:ext uri="{FF2B5EF4-FFF2-40B4-BE49-F238E27FC236}">
                <a16:creationId xmlns:a16="http://schemas.microsoft.com/office/drawing/2014/main" id="{C788F4EF-9C35-418F-C099-90414E38E0B6}"/>
              </a:ext>
            </a:extLst>
          </p:cNvPr>
          <p:cNvGrpSpPr/>
          <p:nvPr/>
        </p:nvGrpSpPr>
        <p:grpSpPr>
          <a:xfrm>
            <a:off x="3872374" y="3076604"/>
            <a:ext cx="425297" cy="425297"/>
            <a:chOff x="0" y="0"/>
            <a:chExt cx="850594" cy="850594"/>
          </a:xfrm>
        </p:grpSpPr>
        <p:sp>
          <p:nvSpPr>
            <p:cNvPr id="20" name="Shape 361">
              <a:extLst>
                <a:ext uri="{FF2B5EF4-FFF2-40B4-BE49-F238E27FC236}">
                  <a16:creationId xmlns:a16="http://schemas.microsoft.com/office/drawing/2014/main" id="{89D64276-AEC4-5870-9D7D-7FC00AA87904}"/>
                </a:ext>
              </a:extLst>
            </p:cNvPr>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solidFill>
            <a:ln w="50800" cap="flat">
              <a:solidFill>
                <a:srgbClr val="FBF9FC"/>
              </a:solidFill>
              <a:prstDash val="solid"/>
              <a:miter lim="400000"/>
            </a:ln>
            <a:effectLst/>
          </p:spPr>
          <p:txBody>
            <a:bodyPr wrap="square" lIns="0" tIns="0" rIns="0" bIns="0" numCol="1" anchor="ctr">
              <a:noAutofit/>
            </a:bodyPr>
            <a:lstStyle/>
            <a:p>
              <a:pPr lvl="0">
                <a:defRPr sz="11200"/>
              </a:pPr>
              <a:endParaRPr sz="14935">
                <a:cs typeface="+mn-ea"/>
                <a:sym typeface="+mn-lt"/>
              </a:endParaRPr>
            </a:p>
          </p:txBody>
        </p:sp>
        <p:sp>
          <p:nvSpPr>
            <p:cNvPr id="32" name="Shape 362">
              <a:extLst>
                <a:ext uri="{FF2B5EF4-FFF2-40B4-BE49-F238E27FC236}">
                  <a16:creationId xmlns:a16="http://schemas.microsoft.com/office/drawing/2014/main" id="{68BDE5BA-5195-8BBA-9938-927EE3D51F34}"/>
                </a:ext>
              </a:extLst>
            </p:cNvPr>
            <p:cNvSpPr/>
            <p:nvPr/>
          </p:nvSpPr>
          <p:spPr>
            <a:xfrm>
              <a:off x="311486" y="179080"/>
              <a:ext cx="214804" cy="492442"/>
            </a:xfrm>
            <a:prstGeom prst="rect">
              <a:avLst/>
            </a:prstGeom>
            <a:noFill/>
            <a:ln w="12700" cap="flat">
              <a:noFill/>
              <a:miter lim="400000"/>
            </a:ln>
            <a:effec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600" dirty="0">
                  <a:latin typeface="+mn-lt"/>
                  <a:ea typeface="+mn-ea"/>
                  <a:cs typeface="+mn-ea"/>
                  <a:sym typeface="+mn-lt"/>
                </a:rPr>
                <a:t>2</a:t>
              </a:r>
            </a:p>
          </p:txBody>
        </p:sp>
      </p:grpSp>
      <p:grpSp>
        <p:nvGrpSpPr>
          <p:cNvPr id="33" name="Group 366">
            <a:extLst>
              <a:ext uri="{FF2B5EF4-FFF2-40B4-BE49-F238E27FC236}">
                <a16:creationId xmlns:a16="http://schemas.microsoft.com/office/drawing/2014/main" id="{5F20A82D-DEB1-3B51-ACE3-D8BAC6379E82}"/>
              </a:ext>
            </a:extLst>
          </p:cNvPr>
          <p:cNvGrpSpPr/>
          <p:nvPr/>
        </p:nvGrpSpPr>
        <p:grpSpPr>
          <a:xfrm>
            <a:off x="5828578" y="3076604"/>
            <a:ext cx="425297" cy="425297"/>
            <a:chOff x="0" y="0"/>
            <a:chExt cx="850594" cy="850594"/>
          </a:xfrm>
        </p:grpSpPr>
        <p:sp>
          <p:nvSpPr>
            <p:cNvPr id="34" name="Shape 364">
              <a:extLst>
                <a:ext uri="{FF2B5EF4-FFF2-40B4-BE49-F238E27FC236}">
                  <a16:creationId xmlns:a16="http://schemas.microsoft.com/office/drawing/2014/main" id="{A22349E9-49D0-89E1-13A5-7DEE56D564DC}"/>
                </a:ext>
              </a:extLst>
            </p:cNvPr>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50800" cap="flat">
              <a:solidFill>
                <a:srgbClr val="FBF9FC"/>
              </a:solidFill>
              <a:prstDash val="solid"/>
              <a:miter lim="400000"/>
            </a:ln>
            <a:effectLst/>
          </p:spPr>
          <p:txBody>
            <a:bodyPr wrap="square" lIns="0" tIns="0" rIns="0" bIns="0" numCol="1" anchor="ctr">
              <a:noAutofit/>
            </a:bodyPr>
            <a:lstStyle/>
            <a:p>
              <a:pPr lvl="0">
                <a:defRPr sz="11200"/>
              </a:pPr>
              <a:endParaRPr sz="14935">
                <a:solidFill>
                  <a:schemeClr val="bg1"/>
                </a:solidFill>
                <a:cs typeface="+mn-ea"/>
                <a:sym typeface="+mn-lt"/>
              </a:endParaRPr>
            </a:p>
          </p:txBody>
        </p:sp>
        <p:sp>
          <p:nvSpPr>
            <p:cNvPr id="35" name="Shape 365">
              <a:extLst>
                <a:ext uri="{FF2B5EF4-FFF2-40B4-BE49-F238E27FC236}">
                  <a16:creationId xmlns:a16="http://schemas.microsoft.com/office/drawing/2014/main" id="{9E1CE93F-6013-D2E1-534A-FE07F2727BFB}"/>
                </a:ext>
              </a:extLst>
            </p:cNvPr>
            <p:cNvSpPr/>
            <p:nvPr/>
          </p:nvSpPr>
          <p:spPr>
            <a:xfrm>
              <a:off x="311486" y="179080"/>
              <a:ext cx="214804" cy="492442"/>
            </a:xfrm>
            <a:prstGeom prst="rect">
              <a:avLst/>
            </a:prstGeom>
            <a:noFill/>
            <a:ln w="12700" cap="flat">
              <a:noFill/>
              <a:miter lim="400000"/>
            </a:ln>
            <a:effec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600" dirty="0">
                  <a:solidFill>
                    <a:schemeClr val="bg1"/>
                  </a:solidFill>
                  <a:latin typeface="+mn-lt"/>
                  <a:ea typeface="+mn-ea"/>
                  <a:cs typeface="+mn-ea"/>
                  <a:sym typeface="+mn-lt"/>
                </a:rPr>
                <a:t>3</a:t>
              </a:r>
            </a:p>
          </p:txBody>
        </p:sp>
      </p:grpSp>
      <p:grpSp>
        <p:nvGrpSpPr>
          <p:cNvPr id="36" name="Group 369">
            <a:extLst>
              <a:ext uri="{FF2B5EF4-FFF2-40B4-BE49-F238E27FC236}">
                <a16:creationId xmlns:a16="http://schemas.microsoft.com/office/drawing/2014/main" id="{FEE8DB69-593B-8156-3FF8-64527EF8CEEA}"/>
              </a:ext>
            </a:extLst>
          </p:cNvPr>
          <p:cNvGrpSpPr/>
          <p:nvPr/>
        </p:nvGrpSpPr>
        <p:grpSpPr>
          <a:xfrm>
            <a:off x="7772670" y="3076604"/>
            <a:ext cx="425297" cy="425297"/>
            <a:chOff x="0" y="0"/>
            <a:chExt cx="850594" cy="850594"/>
          </a:xfrm>
        </p:grpSpPr>
        <p:sp>
          <p:nvSpPr>
            <p:cNvPr id="37" name="Shape 367">
              <a:extLst>
                <a:ext uri="{FF2B5EF4-FFF2-40B4-BE49-F238E27FC236}">
                  <a16:creationId xmlns:a16="http://schemas.microsoft.com/office/drawing/2014/main" id="{A5D92F53-6C15-DB71-E1F6-826819145BA9}"/>
                </a:ext>
              </a:extLst>
            </p:cNvPr>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solidFill>
            <a:ln w="50800" cap="flat">
              <a:solidFill>
                <a:srgbClr val="FBF9FC"/>
              </a:solidFill>
              <a:prstDash val="solid"/>
              <a:miter lim="400000"/>
            </a:ln>
            <a:effectLst/>
          </p:spPr>
          <p:txBody>
            <a:bodyPr wrap="square" lIns="0" tIns="0" rIns="0" bIns="0" numCol="1" anchor="ctr">
              <a:noAutofit/>
            </a:bodyPr>
            <a:lstStyle/>
            <a:p>
              <a:pPr lvl="0">
                <a:defRPr sz="11200"/>
              </a:pPr>
              <a:endParaRPr sz="14935">
                <a:cs typeface="+mn-ea"/>
                <a:sym typeface="+mn-lt"/>
              </a:endParaRPr>
            </a:p>
          </p:txBody>
        </p:sp>
        <p:sp>
          <p:nvSpPr>
            <p:cNvPr id="38" name="Shape 368">
              <a:extLst>
                <a:ext uri="{FF2B5EF4-FFF2-40B4-BE49-F238E27FC236}">
                  <a16:creationId xmlns:a16="http://schemas.microsoft.com/office/drawing/2014/main" id="{3F86DFE3-63EE-814D-8410-A1B46305B24A}"/>
                </a:ext>
              </a:extLst>
            </p:cNvPr>
            <p:cNvSpPr/>
            <p:nvPr/>
          </p:nvSpPr>
          <p:spPr>
            <a:xfrm>
              <a:off x="243825" y="114147"/>
              <a:ext cx="362944" cy="622301"/>
            </a:xfrm>
            <a:prstGeom prst="rect">
              <a:avLst/>
            </a:prstGeom>
            <a:noFill/>
            <a:ln w="12700" cap="flat">
              <a:noFill/>
              <a:miter lim="400000"/>
            </a:ln>
            <a:effectLst/>
          </p:spPr>
          <p:txBody>
            <a:bodyPr wrap="square" lIns="0" tIns="0" rIns="0" bIns="0" numCol="1" anchor="ctr">
              <a:no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600" dirty="0">
                  <a:latin typeface="+mn-lt"/>
                  <a:ea typeface="+mn-ea"/>
                  <a:cs typeface="+mn-ea"/>
                  <a:sym typeface="+mn-lt"/>
                </a:rPr>
                <a:t>4</a:t>
              </a:r>
            </a:p>
          </p:txBody>
        </p:sp>
      </p:grpSp>
      <p:grpSp>
        <p:nvGrpSpPr>
          <p:cNvPr id="39" name="Group 372">
            <a:extLst>
              <a:ext uri="{FF2B5EF4-FFF2-40B4-BE49-F238E27FC236}">
                <a16:creationId xmlns:a16="http://schemas.microsoft.com/office/drawing/2014/main" id="{AEF48437-8B85-B1BD-C1EE-DF244EF7B122}"/>
              </a:ext>
            </a:extLst>
          </p:cNvPr>
          <p:cNvGrpSpPr/>
          <p:nvPr/>
        </p:nvGrpSpPr>
        <p:grpSpPr>
          <a:xfrm>
            <a:off x="9744038" y="3076604"/>
            <a:ext cx="425297" cy="425297"/>
            <a:chOff x="0" y="0"/>
            <a:chExt cx="850594" cy="850594"/>
          </a:xfrm>
        </p:grpSpPr>
        <p:sp>
          <p:nvSpPr>
            <p:cNvPr id="40" name="Shape 370">
              <a:extLst>
                <a:ext uri="{FF2B5EF4-FFF2-40B4-BE49-F238E27FC236}">
                  <a16:creationId xmlns:a16="http://schemas.microsoft.com/office/drawing/2014/main" id="{87884A09-7744-9F12-EB07-ADD1AC14FA34}"/>
                </a:ext>
              </a:extLst>
            </p:cNvPr>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50800" cap="flat">
              <a:solidFill>
                <a:srgbClr val="FBF9FC"/>
              </a:solidFill>
              <a:prstDash val="solid"/>
              <a:miter lim="400000"/>
            </a:ln>
            <a:effectLst/>
          </p:spPr>
          <p:txBody>
            <a:bodyPr wrap="square" lIns="0" tIns="0" rIns="0" bIns="0" numCol="1" anchor="ctr">
              <a:noAutofit/>
            </a:bodyPr>
            <a:lstStyle/>
            <a:p>
              <a:pPr lvl="0">
                <a:defRPr sz="11200"/>
              </a:pPr>
              <a:endParaRPr sz="14935">
                <a:solidFill>
                  <a:schemeClr val="bg1"/>
                </a:solidFill>
                <a:cs typeface="+mn-ea"/>
                <a:sym typeface="+mn-lt"/>
              </a:endParaRPr>
            </a:p>
          </p:txBody>
        </p:sp>
        <p:sp>
          <p:nvSpPr>
            <p:cNvPr id="41" name="Shape 371">
              <a:extLst>
                <a:ext uri="{FF2B5EF4-FFF2-40B4-BE49-F238E27FC236}">
                  <a16:creationId xmlns:a16="http://schemas.microsoft.com/office/drawing/2014/main" id="{49CE8945-073B-0BEB-94E7-A1665F899E2A}"/>
                </a:ext>
              </a:extLst>
            </p:cNvPr>
            <p:cNvSpPr/>
            <p:nvPr/>
          </p:nvSpPr>
          <p:spPr>
            <a:xfrm>
              <a:off x="311486" y="179080"/>
              <a:ext cx="214804" cy="492442"/>
            </a:xfrm>
            <a:prstGeom prst="rect">
              <a:avLst/>
            </a:prstGeom>
            <a:noFill/>
            <a:ln w="12700" cap="flat">
              <a:noFill/>
              <a:miter lim="400000"/>
            </a:ln>
            <a:effec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600" dirty="0">
                  <a:solidFill>
                    <a:schemeClr val="bg1"/>
                  </a:solidFill>
                  <a:latin typeface="+mn-lt"/>
                  <a:ea typeface="+mn-ea"/>
                  <a:cs typeface="+mn-ea"/>
                  <a:sym typeface="+mn-lt"/>
                </a:rPr>
                <a:t>5</a:t>
              </a:r>
            </a:p>
          </p:txBody>
        </p:sp>
      </p:grpSp>
      <p:sp>
        <p:nvSpPr>
          <p:cNvPr id="43" name="Shape 373">
            <a:extLst>
              <a:ext uri="{FF2B5EF4-FFF2-40B4-BE49-F238E27FC236}">
                <a16:creationId xmlns:a16="http://schemas.microsoft.com/office/drawing/2014/main" id="{474BF081-55A8-B265-43F7-EB21CC945E5D}"/>
              </a:ext>
            </a:extLst>
          </p:cNvPr>
          <p:cNvSpPr/>
          <p:nvPr/>
        </p:nvSpPr>
        <p:spPr>
          <a:xfrm>
            <a:off x="991235" y="3850005"/>
            <a:ext cx="1858542" cy="2654300"/>
          </a:xfrm>
          <a:prstGeom prst="rect">
            <a:avLst/>
          </a:prstGeom>
          <a:noFill/>
          <a:ln w="12700" cap="flat">
            <a:noFill/>
            <a:miter lim="400000"/>
          </a:ln>
          <a:effec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用户</a:t>
            </a:r>
            <a:r>
              <a:rPr sz="1600" dirty="0" err="1">
                <a:solidFill>
                  <a:srgbClr val="0070C0"/>
                </a:solidFill>
                <a:latin typeface="微软雅黑" panose="020B0503020204020204" pitchFamily="34" charset="-122"/>
                <a:ea typeface="微软雅黑" panose="020B0503020204020204" pitchFamily="34" charset="-122"/>
                <a:cs typeface="+mn-ea"/>
                <a:sym typeface="+mn-lt"/>
              </a:rPr>
              <a:t>需求不清晰或者开发人员对需求</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的</a:t>
            </a:r>
            <a:r>
              <a:rPr sz="1600" dirty="0" err="1">
                <a:solidFill>
                  <a:srgbClr val="0070C0"/>
                </a:solidFill>
                <a:latin typeface="微软雅黑" panose="020B0503020204020204" pitchFamily="34" charset="-122"/>
                <a:ea typeface="微软雅黑" panose="020B0503020204020204" pitchFamily="34" charset="-122"/>
                <a:cs typeface="+mn-ea"/>
                <a:sym typeface="+mn-lt"/>
              </a:rPr>
              <a:t>理解不明确</a:t>
            </a:r>
            <a:r>
              <a:rPr sz="1600"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，导致软件在设计时偏离</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用户</a:t>
            </a:r>
            <a:r>
              <a:rPr sz="1600"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的需求目标，造成软件功能或特征上的缺陷</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。用户</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频繁变更需求</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也会影响软件最终的质量。</a:t>
            </a:r>
          </a:p>
        </p:txBody>
      </p:sp>
      <p:sp>
        <p:nvSpPr>
          <p:cNvPr id="46" name="Shape 376">
            <a:extLst>
              <a:ext uri="{FF2B5EF4-FFF2-40B4-BE49-F238E27FC236}">
                <a16:creationId xmlns:a16="http://schemas.microsoft.com/office/drawing/2014/main" id="{920A947A-C476-4A82-497E-5CA7EF679D82}"/>
              </a:ext>
            </a:extLst>
          </p:cNvPr>
          <p:cNvSpPr/>
          <p:nvPr/>
        </p:nvSpPr>
        <p:spPr>
          <a:xfrm>
            <a:off x="3110429" y="3847973"/>
            <a:ext cx="1642006" cy="2363724"/>
          </a:xfrm>
          <a:prstGeom prst="rect">
            <a:avLst/>
          </a:prstGeom>
          <a:noFill/>
          <a:ln w="12700" cap="flat">
            <a:noFill/>
            <a:miter lim="400000"/>
          </a:ln>
          <a:effec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sz="1600"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如果</a:t>
            </a:r>
            <a:r>
              <a:rPr sz="1600" dirty="0" err="1">
                <a:solidFill>
                  <a:srgbClr val="0070C0"/>
                </a:solidFill>
                <a:latin typeface="微软雅黑" panose="020B0503020204020204" pitchFamily="34" charset="-122"/>
                <a:ea typeface="微软雅黑" panose="020B0503020204020204" pitchFamily="34" charset="-122"/>
                <a:cs typeface="+mn-ea"/>
                <a:sym typeface="+mn-lt"/>
              </a:rPr>
              <a:t>软件系统结构比较复杂，很难设计出具有很好层次结构或组件结构的框架</a:t>
            </a:r>
            <a:r>
              <a:rPr sz="1600"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，就会导致软件在开发、扩充、系统维护上</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出现</a:t>
            </a:r>
            <a:r>
              <a:rPr sz="1600"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困难</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9" name="Shape 379">
            <a:extLst>
              <a:ext uri="{FF2B5EF4-FFF2-40B4-BE49-F238E27FC236}">
                <a16:creationId xmlns:a16="http://schemas.microsoft.com/office/drawing/2014/main" id="{13E679F8-0DDB-4424-937C-B4FBE6F30A24}"/>
              </a:ext>
            </a:extLst>
          </p:cNvPr>
          <p:cNvSpPr/>
          <p:nvPr/>
        </p:nvSpPr>
        <p:spPr>
          <a:xfrm>
            <a:off x="5041475" y="3845115"/>
            <a:ext cx="1642006" cy="2659190"/>
          </a:xfrm>
          <a:prstGeom prst="rect">
            <a:avLst/>
          </a:prstGeom>
          <a:noFill/>
          <a:ln w="12700" cap="flat">
            <a:noFill/>
            <a:miter lim="400000"/>
          </a:ln>
          <a:effec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开发人</a:t>
            </a:r>
            <a:r>
              <a:rPr sz="1600" dirty="0" err="1">
                <a:solidFill>
                  <a:srgbClr val="0070C0"/>
                </a:solidFill>
                <a:latin typeface="微软雅黑" panose="020B0503020204020204" pitchFamily="34" charset="-122"/>
                <a:ea typeface="微软雅黑" panose="020B0503020204020204" pitchFamily="34" charset="-122"/>
                <a:cs typeface="+mn-ea"/>
                <a:sym typeface="+mn-lt"/>
              </a:rPr>
              <a:t>员水平参差不齐</a:t>
            </a:r>
            <a:r>
              <a:rPr sz="1600"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，再加上开发过程中</a:t>
            </a:r>
            <a:r>
              <a:rPr sz="1600" dirty="0" err="1">
                <a:solidFill>
                  <a:srgbClr val="0070C0"/>
                </a:solidFill>
                <a:latin typeface="微软雅黑" panose="020B0503020204020204" pitchFamily="34" charset="-122"/>
                <a:ea typeface="微软雅黑" panose="020B0503020204020204" pitchFamily="34" charset="-122"/>
                <a:cs typeface="+mn-ea"/>
                <a:sym typeface="+mn-lt"/>
              </a:rPr>
              <a:t>缺乏有效的沟通和监督</a:t>
            </a:r>
            <a:r>
              <a:rPr sz="1600"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，问题累积</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得</a:t>
            </a:r>
            <a:r>
              <a:rPr sz="1600"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越来越多，如果不能逐一解决这些问题，会</a:t>
            </a:r>
            <a:r>
              <a:rPr sz="1600" dirty="0" err="1">
                <a:solidFill>
                  <a:srgbClr val="0070C0"/>
                </a:solidFill>
                <a:latin typeface="微软雅黑" panose="020B0503020204020204" pitchFamily="34" charset="-122"/>
                <a:ea typeface="微软雅黑" panose="020B0503020204020204" pitchFamily="34" charset="-122"/>
                <a:cs typeface="+mn-ea"/>
                <a:sym typeface="+mn-lt"/>
              </a:rPr>
              <a:t>导致最终软件中存在很多缺陷</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52" name="Shape 382">
            <a:extLst>
              <a:ext uri="{FF2B5EF4-FFF2-40B4-BE49-F238E27FC236}">
                <a16:creationId xmlns:a16="http://schemas.microsoft.com/office/drawing/2014/main" id="{FE9AEF0A-7952-B94E-9D56-E6E7D4A07EF9}"/>
              </a:ext>
            </a:extLst>
          </p:cNvPr>
          <p:cNvSpPr/>
          <p:nvPr/>
        </p:nvSpPr>
        <p:spPr>
          <a:xfrm>
            <a:off x="6972521" y="3850005"/>
            <a:ext cx="1863741" cy="2359660"/>
          </a:xfrm>
          <a:prstGeom prst="rect">
            <a:avLst/>
          </a:prstGeom>
          <a:noFill/>
          <a:ln w="12700" cap="flat">
            <a:noFill/>
            <a:miter lim="400000"/>
          </a:ln>
          <a:effectLst/>
        </p:spPr>
        <p:txBody>
          <a:bodyPr wrap="square" lIns="0" tIns="0" rIns="0" bIns="0" numCol="1" anchor="t">
            <a:spAutoFit/>
          </a:bodyPr>
          <a:lstStyle>
            <a:lvl1pPr>
              <a:defRPr sz="2000">
                <a:solidFill>
                  <a:srgbClr val="606B83"/>
                </a:solidFill>
                <a:latin typeface="STIXGeneral-Bold"/>
                <a:ea typeface="STIXGeneral-Bold"/>
                <a:cs typeface="STIXGeneral-Bold"/>
                <a:sym typeface="STIXGeneral-Bold"/>
              </a:defRPr>
            </a:lvl1pPr>
          </a:lstStyle>
          <a:p>
            <a:pPr algn="just">
              <a:lnSpc>
                <a:spcPct val="120000"/>
              </a:lnSpc>
            </a:pPr>
            <a:r>
              <a:rPr sz="1600"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现在大部分软件产品开发周期都</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相对较</a:t>
            </a:r>
            <a:r>
              <a:rPr sz="1600"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短，</a:t>
            </a:r>
            <a:r>
              <a:rPr sz="1600" dirty="0" err="1">
                <a:solidFill>
                  <a:srgbClr val="0070C0"/>
                </a:solidFill>
                <a:latin typeface="微软雅黑" panose="020B0503020204020204" pitchFamily="34" charset="-122"/>
                <a:ea typeface="微软雅黑" panose="020B0503020204020204" pitchFamily="34" charset="-122"/>
                <a:cs typeface="+mn-ea"/>
                <a:sym typeface="+mn-lt"/>
              </a:rPr>
              <a:t>开发团队要在有限的时间内完成软件产品的开发</a:t>
            </a:r>
            <a:r>
              <a:rPr sz="1600"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，压力非常大，开发人员</a:t>
            </a:r>
            <a:r>
              <a:rPr sz="1600" dirty="0" err="1">
                <a:solidFill>
                  <a:srgbClr val="0070C0"/>
                </a:solidFill>
                <a:latin typeface="微软雅黑" panose="020B0503020204020204" pitchFamily="34" charset="-122"/>
                <a:ea typeface="微软雅黑" panose="020B0503020204020204" pitchFamily="34" charset="-122"/>
                <a:cs typeface="+mn-ea"/>
                <a:sym typeface="+mn-lt"/>
              </a:rPr>
              <a:t>对待软件的态度是“非严重就不解决</a:t>
            </a:r>
            <a:r>
              <a:rPr sz="1600" dirty="0">
                <a:solidFill>
                  <a:srgbClr val="0070C0"/>
                </a:solidFill>
                <a:latin typeface="微软雅黑" panose="020B0503020204020204" pitchFamily="34" charset="-122"/>
                <a:ea typeface="微软雅黑" panose="020B0503020204020204" pitchFamily="34" charset="-122"/>
                <a:cs typeface="+mn-ea"/>
                <a:sym typeface="+mn-lt"/>
              </a:rPr>
              <a:t>”</a:t>
            </a:r>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endParaRPr lang="en-US" altLang="zh-CN" sz="1600" dirty="0">
              <a:solidFill>
                <a:schemeClr val="tx1">
                  <a:lumMod val="75000"/>
                  <a:lumOff val="25000"/>
                </a:schemeClr>
              </a:solidFill>
              <a:latin typeface="+mn-lt"/>
              <a:ea typeface="+mn-ea"/>
              <a:cs typeface="+mn-ea"/>
              <a:sym typeface="+mn-lt"/>
            </a:endParaRPr>
          </a:p>
        </p:txBody>
      </p:sp>
      <p:sp>
        <p:nvSpPr>
          <p:cNvPr id="55" name="Shape 385">
            <a:extLst>
              <a:ext uri="{FF2B5EF4-FFF2-40B4-BE49-F238E27FC236}">
                <a16:creationId xmlns:a16="http://schemas.microsoft.com/office/drawing/2014/main" id="{A1518E4C-CE4A-9B8D-BF28-931EC79E67F9}"/>
              </a:ext>
            </a:extLst>
          </p:cNvPr>
          <p:cNvSpPr/>
          <p:nvPr/>
        </p:nvSpPr>
        <p:spPr>
          <a:xfrm>
            <a:off x="8956806" y="3850005"/>
            <a:ext cx="1885950" cy="1772793"/>
          </a:xfrm>
          <a:prstGeom prst="rect">
            <a:avLst/>
          </a:prstGeom>
          <a:noFill/>
          <a:ln w="12700" cap="flat">
            <a:noFill/>
            <a:miter lim="400000"/>
          </a:ln>
          <a:effec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sz="1600" dirty="0" err="1">
                <a:solidFill>
                  <a:srgbClr val="0070C0"/>
                </a:solidFill>
                <a:latin typeface="微软雅黑" panose="020B0503020204020204" pitchFamily="34" charset="-122"/>
                <a:ea typeface="微软雅黑" panose="020B0503020204020204" pitchFamily="34" charset="-122"/>
                <a:cs typeface="+mn-ea"/>
                <a:sym typeface="+mn-lt"/>
              </a:rPr>
              <a:t>新技术本身存在不足或开发人员对新技术掌握不精</a:t>
            </a:r>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都</a:t>
            </a:r>
            <a:r>
              <a:rPr sz="1600"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会影响软件产品的开发过程，</a:t>
            </a:r>
            <a:r>
              <a:rPr sz="1600" dirty="0" err="1">
                <a:solidFill>
                  <a:srgbClr val="0070C0"/>
                </a:solidFill>
                <a:latin typeface="微软雅黑" panose="020B0503020204020204" pitchFamily="34" charset="-122"/>
                <a:ea typeface="微软雅黑" panose="020B0503020204020204" pitchFamily="34" charset="-122"/>
                <a:cs typeface="+mn-ea"/>
                <a:sym typeface="+mn-lt"/>
              </a:rPr>
              <a:t>导致软件存在缺陷</a:t>
            </a:r>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p>
        </p:txBody>
      </p:sp>
      <p:sp>
        <p:nvSpPr>
          <p:cNvPr id="24" name="文本框 23">
            <a:extLst>
              <a:ext uri="{FF2B5EF4-FFF2-40B4-BE49-F238E27FC236}">
                <a16:creationId xmlns:a16="http://schemas.microsoft.com/office/drawing/2014/main" id="{5D1693B4-8152-9B93-4C5A-69349D41AA7A}"/>
              </a:ext>
            </a:extLst>
          </p:cNvPr>
          <p:cNvSpPr txBox="1"/>
          <p:nvPr/>
        </p:nvSpPr>
        <p:spPr>
          <a:xfrm>
            <a:off x="1071880" y="909955"/>
            <a:ext cx="10046970" cy="621665"/>
          </a:xfrm>
          <a:prstGeom prst="rect">
            <a:avLst/>
          </a:prstGeom>
          <a:noFill/>
        </p:spPr>
        <p:txBody>
          <a:bodyPr wrap="square" rtlCol="0" anchor="t">
            <a:noAutofit/>
          </a:bodyPr>
          <a:lstStyle/>
          <a:p>
            <a:pPr algn="just">
              <a:lnSpc>
                <a:spcPct val="150000"/>
              </a:lnSpc>
              <a:buClrTx/>
              <a:buSzTx/>
              <a:buFontTx/>
            </a:pPr>
            <a:r>
              <a:rPr sz="2000" dirty="0">
                <a:solidFill>
                  <a:srgbClr val="595959"/>
                </a:solidFill>
                <a:latin typeface="微软雅黑" panose="020B0503020204020204" pitchFamily="34" charset="-122"/>
                <a:ea typeface="微软雅黑" panose="020B0503020204020204" pitchFamily="34" charset="-122"/>
                <a:sym typeface="+mn-ea"/>
              </a:rPr>
              <a:t>软件缺陷产生的原因主要有以下5</a:t>
            </a:r>
            <a:r>
              <a:rPr sz="2000">
                <a:solidFill>
                  <a:srgbClr val="595959"/>
                </a:solidFill>
                <a:latin typeface="微软雅黑" panose="020B0503020204020204" pitchFamily="34" charset="-122"/>
                <a:ea typeface="微软雅黑" panose="020B0503020204020204" pitchFamily="34" charset="-122"/>
                <a:sym typeface="+mn-ea"/>
              </a:rPr>
              <a:t>点。</a:t>
            </a: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Tree>
    <p:extLst>
      <p:ext uri="{BB962C8B-B14F-4D97-AF65-F5344CB8AC3E}">
        <p14:creationId xmlns:p14="http://schemas.microsoft.com/office/powerpoint/2010/main" val="87824550"/>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452"/>
          <p:cNvSpPr/>
          <p:nvPr/>
        </p:nvSpPr>
        <p:spPr>
          <a:xfrm>
            <a:off x="1138822" y="2887523"/>
            <a:ext cx="2292817" cy="2768210"/>
          </a:xfrm>
          <a:prstGeom prst="roundRect">
            <a:avLst>
              <a:gd name="adj" fmla="val 6924"/>
            </a:avLst>
          </a:prstGeom>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3" name="Shape 1454"/>
          <p:cNvSpPr/>
          <p:nvPr/>
        </p:nvSpPr>
        <p:spPr>
          <a:xfrm>
            <a:off x="3686151" y="2887523"/>
            <a:ext cx="2292819" cy="2768210"/>
          </a:xfrm>
          <a:prstGeom prst="roundRect">
            <a:avLst>
              <a:gd name="adj" fmla="val 6924"/>
            </a:avLst>
          </a:prstGeom>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4" name="Shape 1456"/>
          <p:cNvSpPr/>
          <p:nvPr/>
        </p:nvSpPr>
        <p:spPr>
          <a:xfrm>
            <a:off x="6213032" y="2887523"/>
            <a:ext cx="2292819" cy="2768210"/>
          </a:xfrm>
          <a:prstGeom prst="roundRect">
            <a:avLst>
              <a:gd name="adj" fmla="val 6924"/>
            </a:avLst>
          </a:prstGeom>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5" name="Shape 1458"/>
          <p:cNvSpPr/>
          <p:nvPr/>
        </p:nvSpPr>
        <p:spPr>
          <a:xfrm>
            <a:off x="8760361" y="2887523"/>
            <a:ext cx="2292819" cy="2768210"/>
          </a:xfrm>
          <a:prstGeom prst="roundRect">
            <a:avLst>
              <a:gd name="adj" fmla="val 6924"/>
            </a:avLst>
          </a:prstGeom>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6" name="Shape 1460"/>
          <p:cNvSpPr/>
          <p:nvPr/>
        </p:nvSpPr>
        <p:spPr>
          <a:xfrm>
            <a:off x="1441325" y="1794503"/>
            <a:ext cx="1687812" cy="168781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19051" tIns="19051" rIns="19051" bIns="19051"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grpSp>
        <p:nvGrpSpPr>
          <p:cNvPr id="7" name="Group 20"/>
          <p:cNvGrpSpPr/>
          <p:nvPr/>
        </p:nvGrpSpPr>
        <p:grpSpPr>
          <a:xfrm>
            <a:off x="1369089" y="1834735"/>
            <a:ext cx="474017" cy="474017"/>
            <a:chOff x="1369087" y="2088729"/>
            <a:chExt cx="474017" cy="474016"/>
          </a:xfrm>
        </p:grpSpPr>
        <p:sp>
          <p:nvSpPr>
            <p:cNvPr id="8" name="Shape 1463"/>
            <p:cNvSpPr/>
            <p:nvPr/>
          </p:nvSpPr>
          <p:spPr>
            <a:xfrm>
              <a:off x="1369087" y="2088729"/>
              <a:ext cx="474017" cy="47401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DCDEE0"/>
            </a:solidFill>
            <a:ln w="12700">
              <a:miter lim="400000"/>
            </a:ln>
          </p:spPr>
          <p:txBody>
            <a:bodyPr lIns="25400" tIns="25400" rIns="25400" bIns="25400"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9" name="Shape 1464"/>
            <p:cNvSpPr/>
            <p:nvPr/>
          </p:nvSpPr>
          <p:spPr>
            <a:xfrm>
              <a:off x="1477567" y="2232573"/>
              <a:ext cx="231656" cy="186335"/>
            </a:xfrm>
            <a:custGeom>
              <a:avLst/>
              <a:gdLst/>
              <a:ahLst/>
              <a:cxnLst>
                <a:cxn ang="0">
                  <a:pos x="wd2" y="hd2"/>
                </a:cxn>
                <a:cxn ang="5400000">
                  <a:pos x="wd2" y="hd2"/>
                </a:cxn>
                <a:cxn ang="10800000">
                  <a:pos x="wd2" y="hd2"/>
                </a:cxn>
                <a:cxn ang="16200000">
                  <a:pos x="wd2" y="hd2"/>
                </a:cxn>
              </a:cxnLst>
              <a:rect l="0" t="0" r="r" b="b"/>
              <a:pathLst>
                <a:path w="21400" h="21363" extrusionOk="0">
                  <a:moveTo>
                    <a:pt x="7274" y="21020"/>
                  </a:moveTo>
                  <a:cubicBezTo>
                    <a:pt x="7274" y="21376"/>
                    <a:pt x="7435" y="21475"/>
                    <a:pt x="7659" y="21222"/>
                  </a:cubicBezTo>
                  <a:cubicBezTo>
                    <a:pt x="7951" y="20894"/>
                    <a:pt x="10973" y="17529"/>
                    <a:pt x="10973" y="17529"/>
                  </a:cubicBezTo>
                  <a:lnTo>
                    <a:pt x="7274" y="15153"/>
                  </a:lnTo>
                  <a:cubicBezTo>
                    <a:pt x="7274" y="15153"/>
                    <a:pt x="7274" y="21020"/>
                    <a:pt x="7274" y="21020"/>
                  </a:cubicBezTo>
                  <a:close/>
                  <a:moveTo>
                    <a:pt x="20812" y="50"/>
                  </a:moveTo>
                  <a:cubicBezTo>
                    <a:pt x="20412" y="224"/>
                    <a:pt x="667" y="8860"/>
                    <a:pt x="277" y="9030"/>
                  </a:cubicBezTo>
                  <a:cubicBezTo>
                    <a:pt x="-53" y="9174"/>
                    <a:pt x="-126" y="9528"/>
                    <a:pt x="266" y="9723"/>
                  </a:cubicBezTo>
                  <a:cubicBezTo>
                    <a:pt x="733" y="9955"/>
                    <a:pt x="4681" y="11919"/>
                    <a:pt x="4681" y="11919"/>
                  </a:cubicBezTo>
                  <a:lnTo>
                    <a:pt x="4681" y="11919"/>
                  </a:lnTo>
                  <a:lnTo>
                    <a:pt x="7298" y="13221"/>
                  </a:lnTo>
                  <a:cubicBezTo>
                    <a:pt x="7298" y="13221"/>
                    <a:pt x="19903" y="1732"/>
                    <a:pt x="20073" y="1577"/>
                  </a:cubicBezTo>
                  <a:cubicBezTo>
                    <a:pt x="20246" y="1420"/>
                    <a:pt x="20443" y="1713"/>
                    <a:pt x="20319" y="1881"/>
                  </a:cubicBezTo>
                  <a:cubicBezTo>
                    <a:pt x="20194" y="2050"/>
                    <a:pt x="11163" y="14170"/>
                    <a:pt x="11163" y="14170"/>
                  </a:cubicBezTo>
                  <a:cubicBezTo>
                    <a:pt x="11163" y="14170"/>
                    <a:pt x="11163" y="14170"/>
                    <a:pt x="11163" y="14171"/>
                  </a:cubicBezTo>
                  <a:lnTo>
                    <a:pt x="10637" y="14898"/>
                  </a:lnTo>
                  <a:lnTo>
                    <a:pt x="11333" y="15363"/>
                  </a:lnTo>
                  <a:lnTo>
                    <a:pt x="11333" y="15363"/>
                  </a:lnTo>
                  <a:cubicBezTo>
                    <a:pt x="11333" y="15363"/>
                    <a:pt x="16742" y="18976"/>
                    <a:pt x="17127" y="19234"/>
                  </a:cubicBezTo>
                  <a:cubicBezTo>
                    <a:pt x="17464" y="19459"/>
                    <a:pt x="17904" y="19272"/>
                    <a:pt x="18001" y="18750"/>
                  </a:cubicBezTo>
                  <a:cubicBezTo>
                    <a:pt x="18117" y="18135"/>
                    <a:pt x="21310" y="1052"/>
                    <a:pt x="21382" y="671"/>
                  </a:cubicBezTo>
                  <a:cubicBezTo>
                    <a:pt x="21474" y="177"/>
                    <a:pt x="21211" y="-125"/>
                    <a:pt x="20812" y="50"/>
                  </a:cubicBezTo>
                  <a:close/>
                </a:path>
              </a:pathLst>
            </a:custGeom>
            <a:solidFill>
              <a:schemeClr val="accent1"/>
            </a:solidFill>
            <a:ln w="12700">
              <a:miter lim="400000"/>
            </a:ln>
          </p:spPr>
          <p:txBody>
            <a:bodyPr lIns="0" tIns="0" rIns="0" bIns="0" anchor="ctr"/>
            <a:lstStyle/>
            <a:p>
              <a:pPr lvl="0"/>
              <a:endParaRPr sz="1735">
                <a:latin typeface="微软雅黑" panose="020B0503020204020204" pitchFamily="34" charset="-122"/>
                <a:ea typeface="微软雅黑" panose="020B0503020204020204" pitchFamily="34" charset="-122"/>
                <a:cs typeface="+mn-ea"/>
                <a:sym typeface="+mn-lt"/>
              </a:endParaRPr>
            </a:p>
          </p:txBody>
        </p:sp>
      </p:grpSp>
      <p:sp>
        <p:nvSpPr>
          <p:cNvPr id="10" name="Shape 1465"/>
          <p:cNvSpPr/>
          <p:nvPr/>
        </p:nvSpPr>
        <p:spPr>
          <a:xfrm>
            <a:off x="3988655" y="1794503"/>
            <a:ext cx="1687812" cy="168781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19051" tIns="19051" rIns="19051" bIns="19051"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1" name="Shape 1468"/>
          <p:cNvSpPr/>
          <p:nvPr/>
        </p:nvSpPr>
        <p:spPr>
          <a:xfrm>
            <a:off x="6533405" y="1794640"/>
            <a:ext cx="1684355" cy="168435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19051" tIns="19051" rIns="19051" bIns="19051"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2" name="Shape 1471"/>
          <p:cNvSpPr/>
          <p:nvPr/>
        </p:nvSpPr>
        <p:spPr>
          <a:xfrm>
            <a:off x="9085044" y="1796230"/>
            <a:ext cx="1684355" cy="168435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19051" tIns="19051" rIns="19051" bIns="19051"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grpSp>
        <p:nvGrpSpPr>
          <p:cNvPr id="13" name="Group 32"/>
          <p:cNvGrpSpPr/>
          <p:nvPr/>
        </p:nvGrpSpPr>
        <p:grpSpPr>
          <a:xfrm>
            <a:off x="3906592" y="1834734"/>
            <a:ext cx="474017" cy="474017"/>
            <a:chOff x="3906591" y="2088732"/>
            <a:chExt cx="474017" cy="474017"/>
          </a:xfrm>
        </p:grpSpPr>
        <p:sp>
          <p:nvSpPr>
            <p:cNvPr id="14" name="Shape 1474"/>
            <p:cNvSpPr/>
            <p:nvPr/>
          </p:nvSpPr>
          <p:spPr>
            <a:xfrm>
              <a:off x="3906591" y="2088732"/>
              <a:ext cx="474017" cy="47401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solidFill>
            <a:ln w="12700">
              <a:miter lim="400000"/>
            </a:ln>
          </p:spPr>
          <p:txBody>
            <a:bodyPr lIns="25400" tIns="25400" rIns="25400" bIns="25400" anchor="ctr"/>
            <a:lstStyle/>
            <a:p>
              <a:pPr lvl="0"/>
              <a:endParaRPr sz="1735">
                <a:latin typeface="微软雅黑" panose="020B0503020204020204" pitchFamily="34" charset="-122"/>
                <a:ea typeface="微软雅黑" panose="020B0503020204020204" pitchFamily="34" charset="-122"/>
                <a:cs typeface="+mn-ea"/>
                <a:sym typeface="+mn-lt"/>
              </a:endParaRPr>
            </a:p>
          </p:txBody>
        </p:sp>
        <p:grpSp>
          <p:nvGrpSpPr>
            <p:cNvPr id="15" name="Group 1479"/>
            <p:cNvGrpSpPr/>
            <p:nvPr/>
          </p:nvGrpSpPr>
          <p:grpSpPr>
            <a:xfrm>
              <a:off x="4031314" y="2211790"/>
              <a:ext cx="199171" cy="186335"/>
              <a:chOff x="0" y="0"/>
              <a:chExt cx="398340" cy="372667"/>
            </a:xfrm>
          </p:grpSpPr>
          <p:sp>
            <p:nvSpPr>
              <p:cNvPr id="16" name="Shape 1477"/>
              <p:cNvSpPr/>
              <p:nvPr/>
            </p:nvSpPr>
            <p:spPr>
              <a:xfrm>
                <a:off x="0" y="0"/>
                <a:ext cx="346395" cy="241984"/>
              </a:xfrm>
              <a:custGeom>
                <a:avLst/>
                <a:gdLst/>
                <a:ahLst/>
                <a:cxnLst>
                  <a:cxn ang="0">
                    <a:pos x="wd2" y="hd2"/>
                  </a:cxn>
                  <a:cxn ang="5400000">
                    <a:pos x="wd2" y="hd2"/>
                  </a:cxn>
                  <a:cxn ang="10800000">
                    <a:pos x="wd2" y="hd2"/>
                  </a:cxn>
                  <a:cxn ang="16200000">
                    <a:pos x="wd2" y="hd2"/>
                  </a:cxn>
                </a:cxnLst>
                <a:rect l="0" t="0" r="r" b="b"/>
                <a:pathLst>
                  <a:path w="21474" h="21420" extrusionOk="0">
                    <a:moveTo>
                      <a:pt x="21474" y="11049"/>
                    </a:moveTo>
                    <a:lnTo>
                      <a:pt x="18909" y="958"/>
                    </a:lnTo>
                    <a:cubicBezTo>
                      <a:pt x="18720" y="217"/>
                      <a:pt x="18164" y="-180"/>
                      <a:pt x="17669" y="79"/>
                    </a:cubicBezTo>
                    <a:lnTo>
                      <a:pt x="618" y="8962"/>
                    </a:lnTo>
                    <a:cubicBezTo>
                      <a:pt x="123" y="9221"/>
                      <a:pt x="-126" y="10036"/>
                      <a:pt x="64" y="10782"/>
                    </a:cubicBezTo>
                    <a:lnTo>
                      <a:pt x="2769" y="21420"/>
                    </a:lnTo>
                    <a:lnTo>
                      <a:pt x="2769" y="15715"/>
                    </a:lnTo>
                    <a:cubicBezTo>
                      <a:pt x="2769" y="13145"/>
                      <a:pt x="4209" y="11049"/>
                      <a:pt x="5979" y="11049"/>
                    </a:cubicBezTo>
                    <a:lnTo>
                      <a:pt x="10484" y="11049"/>
                    </a:lnTo>
                    <a:lnTo>
                      <a:pt x="15858" y="5663"/>
                    </a:lnTo>
                    <a:lnTo>
                      <a:pt x="18967" y="11049"/>
                    </a:lnTo>
                    <a:cubicBezTo>
                      <a:pt x="18967" y="11049"/>
                      <a:pt x="21474" y="11049"/>
                      <a:pt x="21474" y="11049"/>
                    </a:cubicBezTo>
                    <a:close/>
                  </a:path>
                </a:pathLst>
              </a:custGeom>
              <a:solidFill>
                <a:schemeClr val="accent1"/>
              </a:solidFill>
              <a:ln w="12700" cap="flat">
                <a:noFill/>
                <a:miter lim="400000"/>
              </a:ln>
              <a:effectLst/>
            </p:spPr>
            <p:txBody>
              <a:bodyPr wrap="square" lIns="0" tIns="0" rIns="0" bIns="0"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7" name="Shape 1478"/>
              <p:cNvSpPr/>
              <p:nvPr/>
            </p:nvSpPr>
            <p:spPr>
              <a:xfrm>
                <a:off x="74826" y="149651"/>
                <a:ext cx="323515" cy="223017"/>
              </a:xfrm>
              <a:custGeom>
                <a:avLst/>
                <a:gdLst/>
                <a:ahLst/>
                <a:cxnLst>
                  <a:cxn ang="0">
                    <a:pos x="wd2" y="hd2"/>
                  </a:cxn>
                  <a:cxn ang="5400000">
                    <a:pos x="wd2" y="hd2"/>
                  </a:cxn>
                  <a:cxn ang="10800000">
                    <a:pos x="wd2" y="hd2"/>
                  </a:cxn>
                  <a:cxn ang="16200000">
                    <a:pos x="wd2" y="hd2"/>
                  </a:cxn>
                </a:cxnLst>
                <a:rect l="0" t="0" r="r" b="b"/>
                <a:pathLst>
                  <a:path w="21600" h="21600" extrusionOk="0">
                    <a:moveTo>
                      <a:pt x="20571" y="0"/>
                    </a:moveTo>
                    <a:lnTo>
                      <a:pt x="1028" y="0"/>
                    </a:lnTo>
                    <a:cubicBezTo>
                      <a:pt x="460" y="0"/>
                      <a:pt x="0" y="708"/>
                      <a:pt x="0" y="1571"/>
                    </a:cubicBezTo>
                    <a:lnTo>
                      <a:pt x="0" y="20029"/>
                    </a:lnTo>
                    <a:cubicBezTo>
                      <a:pt x="0" y="20897"/>
                      <a:pt x="460" y="21600"/>
                      <a:pt x="1028" y="21600"/>
                    </a:cubicBezTo>
                    <a:lnTo>
                      <a:pt x="20571" y="21600"/>
                    </a:lnTo>
                    <a:cubicBezTo>
                      <a:pt x="21140" y="21600"/>
                      <a:pt x="21600" y="20897"/>
                      <a:pt x="21600" y="20029"/>
                    </a:cubicBezTo>
                    <a:lnTo>
                      <a:pt x="21600" y="1571"/>
                    </a:lnTo>
                    <a:cubicBezTo>
                      <a:pt x="21600" y="708"/>
                      <a:pt x="21140" y="0"/>
                      <a:pt x="20571" y="0"/>
                    </a:cubicBezTo>
                    <a:close/>
                  </a:path>
                </a:pathLst>
              </a:custGeom>
              <a:solidFill>
                <a:schemeClr val="accent1"/>
              </a:solidFill>
              <a:ln w="12700" cap="flat">
                <a:noFill/>
                <a:miter lim="400000"/>
              </a:ln>
              <a:effectLst/>
            </p:spPr>
            <p:txBody>
              <a:bodyPr wrap="square" lIns="0" tIns="0" rIns="0" bIns="0"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grpSp>
      </p:grpSp>
      <p:grpSp>
        <p:nvGrpSpPr>
          <p:cNvPr id="18" name="Group 40"/>
          <p:cNvGrpSpPr/>
          <p:nvPr/>
        </p:nvGrpSpPr>
        <p:grpSpPr>
          <a:xfrm>
            <a:off x="8994966" y="1834734"/>
            <a:ext cx="474017" cy="474017"/>
            <a:chOff x="8994965" y="2088732"/>
            <a:chExt cx="474017" cy="474017"/>
          </a:xfrm>
        </p:grpSpPr>
        <p:sp>
          <p:nvSpPr>
            <p:cNvPr id="19" name="Shape 1476"/>
            <p:cNvSpPr/>
            <p:nvPr/>
          </p:nvSpPr>
          <p:spPr>
            <a:xfrm>
              <a:off x="8994965" y="2088732"/>
              <a:ext cx="474017" cy="47401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solidFill>
            <a:ln w="12700">
              <a:miter lim="400000"/>
            </a:ln>
          </p:spPr>
          <p:txBody>
            <a:bodyPr lIns="25400" tIns="25400" rIns="25400" bIns="25400"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20" name="Shape 1481"/>
            <p:cNvSpPr/>
            <p:nvPr/>
          </p:nvSpPr>
          <p:spPr>
            <a:xfrm>
              <a:off x="9132223" y="2211790"/>
              <a:ext cx="194606" cy="186335"/>
            </a:xfrm>
            <a:custGeom>
              <a:avLst/>
              <a:gdLst/>
              <a:ahLst/>
              <a:cxnLst>
                <a:cxn ang="0">
                  <a:pos x="wd2" y="hd2"/>
                </a:cxn>
                <a:cxn ang="5400000">
                  <a:pos x="wd2" y="hd2"/>
                </a:cxn>
                <a:cxn ang="10800000">
                  <a:pos x="wd2" y="hd2"/>
                </a:cxn>
                <a:cxn ang="16200000">
                  <a:pos x="wd2" y="hd2"/>
                </a:cxn>
              </a:cxnLst>
              <a:rect l="0" t="0" r="r" b="b"/>
              <a:pathLst>
                <a:path w="21600" h="21600" extrusionOk="0">
                  <a:moveTo>
                    <a:pt x="16913" y="16137"/>
                  </a:moveTo>
                  <a:cubicBezTo>
                    <a:pt x="14080" y="15059"/>
                    <a:pt x="13176" y="14150"/>
                    <a:pt x="13176" y="12203"/>
                  </a:cubicBezTo>
                  <a:cubicBezTo>
                    <a:pt x="13176" y="11034"/>
                    <a:pt x="14040" y="11415"/>
                    <a:pt x="14419" y="9274"/>
                  </a:cubicBezTo>
                  <a:cubicBezTo>
                    <a:pt x="14577" y="8387"/>
                    <a:pt x="15341" y="9261"/>
                    <a:pt x="15487" y="7233"/>
                  </a:cubicBezTo>
                  <a:cubicBezTo>
                    <a:pt x="15487" y="6425"/>
                    <a:pt x="15071" y="6224"/>
                    <a:pt x="15071" y="6224"/>
                  </a:cubicBezTo>
                  <a:cubicBezTo>
                    <a:pt x="15071" y="6224"/>
                    <a:pt x="15283" y="5028"/>
                    <a:pt x="15366" y="4109"/>
                  </a:cubicBezTo>
                  <a:cubicBezTo>
                    <a:pt x="15468" y="2962"/>
                    <a:pt x="14731" y="0"/>
                    <a:pt x="10800" y="0"/>
                  </a:cubicBezTo>
                  <a:cubicBezTo>
                    <a:pt x="6869" y="0"/>
                    <a:pt x="6131" y="2962"/>
                    <a:pt x="6234" y="4109"/>
                  </a:cubicBezTo>
                  <a:cubicBezTo>
                    <a:pt x="6317" y="5028"/>
                    <a:pt x="6529" y="6224"/>
                    <a:pt x="6529" y="6224"/>
                  </a:cubicBezTo>
                  <a:cubicBezTo>
                    <a:pt x="6529" y="6224"/>
                    <a:pt x="6113" y="6425"/>
                    <a:pt x="6113" y="7233"/>
                  </a:cubicBezTo>
                  <a:cubicBezTo>
                    <a:pt x="6258" y="9261"/>
                    <a:pt x="7022" y="8387"/>
                    <a:pt x="7179" y="9274"/>
                  </a:cubicBezTo>
                  <a:cubicBezTo>
                    <a:pt x="7560" y="11415"/>
                    <a:pt x="8424" y="11034"/>
                    <a:pt x="8424" y="12203"/>
                  </a:cubicBezTo>
                  <a:cubicBezTo>
                    <a:pt x="8424" y="14150"/>
                    <a:pt x="7520" y="15059"/>
                    <a:pt x="4687" y="16137"/>
                  </a:cubicBezTo>
                  <a:cubicBezTo>
                    <a:pt x="1846" y="17219"/>
                    <a:pt x="0" y="18321"/>
                    <a:pt x="0" y="19073"/>
                  </a:cubicBezTo>
                  <a:cubicBezTo>
                    <a:pt x="0" y="19825"/>
                    <a:pt x="0" y="21600"/>
                    <a:pt x="0" y="21600"/>
                  </a:cubicBezTo>
                  <a:lnTo>
                    <a:pt x="10800" y="21600"/>
                  </a:lnTo>
                  <a:lnTo>
                    <a:pt x="21600" y="21600"/>
                  </a:lnTo>
                  <a:cubicBezTo>
                    <a:pt x="21600" y="21600"/>
                    <a:pt x="21600" y="19825"/>
                    <a:pt x="21600" y="19073"/>
                  </a:cubicBezTo>
                  <a:cubicBezTo>
                    <a:pt x="21600" y="18321"/>
                    <a:pt x="19754" y="17219"/>
                    <a:pt x="16913" y="16137"/>
                  </a:cubicBezTo>
                  <a:close/>
                </a:path>
              </a:pathLst>
            </a:custGeom>
            <a:solidFill>
              <a:schemeClr val="accent1"/>
            </a:solidFill>
            <a:ln w="12700">
              <a:miter lim="400000"/>
            </a:ln>
          </p:spPr>
          <p:txBody>
            <a:bodyPr lIns="0" tIns="0" rIns="0" bIns="0" anchor="ctr"/>
            <a:lstStyle/>
            <a:p>
              <a:pPr lvl="0"/>
              <a:endParaRPr sz="1735">
                <a:latin typeface="微软雅黑" panose="020B0503020204020204" pitchFamily="34" charset="-122"/>
                <a:ea typeface="微软雅黑" panose="020B0503020204020204" pitchFamily="34" charset="-122"/>
                <a:cs typeface="+mn-ea"/>
                <a:sym typeface="+mn-lt"/>
              </a:endParaRPr>
            </a:p>
          </p:txBody>
        </p:sp>
      </p:grpSp>
      <p:sp>
        <p:nvSpPr>
          <p:cNvPr id="21" name="Text Placeholder 5"/>
          <p:cNvSpPr txBox="1"/>
          <p:nvPr/>
        </p:nvSpPr>
        <p:spPr>
          <a:xfrm>
            <a:off x="1403729" y="2349467"/>
            <a:ext cx="1698820" cy="577887"/>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sz="1865" b="1" dirty="0">
                <a:solidFill>
                  <a:schemeClr val="bg1"/>
                </a:solidFill>
                <a:latin typeface="微软雅黑" panose="020B0503020204020204" pitchFamily="34" charset="-122"/>
                <a:ea typeface="微软雅黑" panose="020B0503020204020204" pitchFamily="34" charset="-122"/>
                <a:cs typeface="+mn-ea"/>
                <a:sym typeface="+mn-lt"/>
              </a:rPr>
              <a:t>按照测试种类划分</a:t>
            </a:r>
          </a:p>
        </p:txBody>
      </p:sp>
      <p:sp>
        <p:nvSpPr>
          <p:cNvPr id="22" name="Text Placeholder 6"/>
          <p:cNvSpPr txBox="1"/>
          <p:nvPr/>
        </p:nvSpPr>
        <p:spPr>
          <a:xfrm>
            <a:off x="1258214" y="3687736"/>
            <a:ext cx="2028992" cy="122765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20000"/>
              </a:lnSpc>
              <a:buNone/>
            </a:pPr>
            <a:r>
              <a:rPr sz="1600" dirty="0" err="1">
                <a:solidFill>
                  <a:srgbClr val="0070C0"/>
                </a:solidFill>
                <a:latin typeface="微软雅黑" panose="020B0503020204020204" pitchFamily="34" charset="-122"/>
                <a:ea typeface="微软雅黑" panose="020B0503020204020204" pitchFamily="34" charset="-122"/>
                <a:cs typeface="+mn-ea"/>
                <a:sym typeface="+mn-lt"/>
              </a:rPr>
              <a:t>按照测试种类</a:t>
            </a:r>
            <a:r>
              <a:rPr sz="1600"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可以将软件缺陷分为</a:t>
            </a:r>
            <a:r>
              <a:rPr sz="1600" dirty="0" err="1">
                <a:solidFill>
                  <a:srgbClr val="0070C0"/>
                </a:solidFill>
                <a:latin typeface="微软雅黑" panose="020B0503020204020204" pitchFamily="34" charset="-122"/>
                <a:ea typeface="微软雅黑" panose="020B0503020204020204" pitchFamily="34" charset="-122"/>
                <a:cs typeface="+mn-ea"/>
                <a:sym typeface="+mn-lt"/>
              </a:rPr>
              <a:t>界面</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缺陷</a:t>
            </a:r>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r>
              <a:rPr sz="1600" dirty="0" err="1">
                <a:solidFill>
                  <a:srgbClr val="0070C0"/>
                </a:solidFill>
                <a:latin typeface="微软雅黑" panose="020B0503020204020204" pitchFamily="34" charset="-122"/>
                <a:ea typeface="微软雅黑" panose="020B0503020204020204" pitchFamily="34" charset="-122"/>
                <a:cs typeface="+mn-ea"/>
                <a:sym typeface="+mn-lt"/>
              </a:rPr>
              <a:t>功能</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缺陷</a:t>
            </a:r>
            <a:r>
              <a:rPr sz="1600" dirty="0">
                <a:solidFill>
                  <a:srgbClr val="0070C0"/>
                </a:solidFill>
                <a:latin typeface="微软雅黑" panose="020B0503020204020204" pitchFamily="34" charset="-122"/>
                <a:ea typeface="微软雅黑" panose="020B0503020204020204" pitchFamily="34" charset="-122"/>
                <a:cs typeface="+mn-ea"/>
                <a:sym typeface="+mn-lt"/>
              </a:rPr>
              <a:t>、</a:t>
            </a:r>
            <a:r>
              <a:rPr sz="1600" dirty="0" err="1">
                <a:solidFill>
                  <a:srgbClr val="0070C0"/>
                </a:solidFill>
                <a:latin typeface="微软雅黑" panose="020B0503020204020204" pitchFamily="34" charset="-122"/>
                <a:ea typeface="微软雅黑" panose="020B0503020204020204" pitchFamily="34" charset="-122"/>
                <a:cs typeface="+mn-ea"/>
                <a:sym typeface="+mn-lt"/>
              </a:rPr>
              <a:t>性能</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缺陷</a:t>
            </a:r>
            <a:r>
              <a:rPr sz="1600" dirty="0">
                <a:solidFill>
                  <a:srgbClr val="0070C0"/>
                </a:solidFill>
                <a:latin typeface="微软雅黑" panose="020B0503020204020204" pitchFamily="34" charset="-122"/>
                <a:ea typeface="微软雅黑" panose="020B0503020204020204" pitchFamily="34" charset="-122"/>
                <a:cs typeface="+mn-ea"/>
                <a:sym typeface="+mn-lt"/>
              </a:rPr>
              <a:t>、</a:t>
            </a:r>
            <a:r>
              <a:rPr sz="1600" dirty="0" err="1">
                <a:solidFill>
                  <a:srgbClr val="0070C0"/>
                </a:solidFill>
                <a:latin typeface="微软雅黑" panose="020B0503020204020204" pitchFamily="34" charset="-122"/>
                <a:ea typeface="微软雅黑" panose="020B0503020204020204" pitchFamily="34" charset="-122"/>
                <a:cs typeface="+mn-ea"/>
                <a:sym typeface="+mn-lt"/>
              </a:rPr>
              <a:t>安全性</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缺陷</a:t>
            </a:r>
            <a:r>
              <a:rPr sz="1600" dirty="0">
                <a:solidFill>
                  <a:srgbClr val="0070C0"/>
                </a:solidFill>
                <a:latin typeface="微软雅黑" panose="020B0503020204020204" pitchFamily="34" charset="-122"/>
                <a:ea typeface="微软雅黑" panose="020B0503020204020204" pitchFamily="34" charset="-122"/>
                <a:cs typeface="+mn-ea"/>
                <a:sym typeface="+mn-lt"/>
              </a:rPr>
              <a:t>、</a:t>
            </a:r>
            <a:r>
              <a:rPr sz="1600" dirty="0" err="1">
                <a:solidFill>
                  <a:srgbClr val="0070C0"/>
                </a:solidFill>
                <a:latin typeface="微软雅黑" panose="020B0503020204020204" pitchFamily="34" charset="-122"/>
                <a:ea typeface="微软雅黑" panose="020B0503020204020204" pitchFamily="34" charset="-122"/>
                <a:cs typeface="+mn-ea"/>
                <a:sym typeface="+mn-lt"/>
              </a:rPr>
              <a:t>兼容性</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缺陷</a:t>
            </a:r>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等</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3" name="Text Placeholder 5"/>
          <p:cNvSpPr txBox="1"/>
          <p:nvPr/>
        </p:nvSpPr>
        <p:spPr>
          <a:xfrm>
            <a:off x="4076442" y="2349467"/>
            <a:ext cx="1579981" cy="577887"/>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865" b="1" dirty="0">
                <a:solidFill>
                  <a:schemeClr val="bg1"/>
                </a:solidFill>
                <a:latin typeface="微软雅黑" panose="020B0503020204020204" pitchFamily="34" charset="-122"/>
                <a:ea typeface="微软雅黑" panose="020B0503020204020204" pitchFamily="34" charset="-122"/>
                <a:cs typeface="+mn-ea"/>
                <a:sym typeface="+mn-lt"/>
              </a:rPr>
              <a:t>按照缺陷的严重程度划分</a:t>
            </a:r>
          </a:p>
        </p:txBody>
      </p:sp>
      <p:sp>
        <p:nvSpPr>
          <p:cNvPr id="24" name="Text Placeholder 5"/>
          <p:cNvSpPr txBox="1"/>
          <p:nvPr/>
        </p:nvSpPr>
        <p:spPr>
          <a:xfrm>
            <a:off x="9171102" y="2349467"/>
            <a:ext cx="1579981" cy="577887"/>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865" b="1" dirty="0">
                <a:solidFill>
                  <a:schemeClr val="bg1"/>
                </a:solidFill>
                <a:latin typeface="微软雅黑" panose="020B0503020204020204" pitchFamily="34" charset="-122"/>
                <a:ea typeface="微软雅黑" panose="020B0503020204020204" pitchFamily="34" charset="-122"/>
                <a:cs typeface="+mn-ea"/>
                <a:sym typeface="+mn-lt"/>
              </a:rPr>
              <a:t>按照缺陷的发生阶段划分</a:t>
            </a:r>
          </a:p>
        </p:txBody>
      </p:sp>
      <p:sp>
        <p:nvSpPr>
          <p:cNvPr id="25" name="Text Placeholder 6"/>
          <p:cNvSpPr txBox="1"/>
          <p:nvPr/>
        </p:nvSpPr>
        <p:spPr>
          <a:xfrm>
            <a:off x="3943801" y="3641163"/>
            <a:ext cx="1791405" cy="1320800"/>
          </a:xfrm>
          <a:prstGeom prst="rect">
            <a:avLst/>
          </a:prstGeom>
        </p:spPr>
        <p:txBody>
          <a:bodyPr vert="horz" lIns="0" tIns="0" rIns="0" bIns="0" rtlCol="0" anchor="ctr">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sz="1600"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按照</a:t>
            </a:r>
            <a:r>
              <a:rPr sz="1600" dirty="0" err="1">
                <a:solidFill>
                  <a:srgbClr val="0070C0"/>
                </a:solidFill>
                <a:latin typeface="微软雅黑" panose="020B0503020204020204" pitchFamily="34" charset="-122"/>
                <a:ea typeface="微软雅黑" panose="020B0503020204020204" pitchFamily="34" charset="-122"/>
                <a:cs typeface="+mn-ea"/>
                <a:sym typeface="+mn-lt"/>
              </a:rPr>
              <a:t>缺陷的严重程度</a:t>
            </a:r>
            <a:r>
              <a:rPr sz="1600" dirty="0" err="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可以将缺陷划分为</a:t>
            </a:r>
            <a:r>
              <a:rPr sz="1600" dirty="0" err="1">
                <a:solidFill>
                  <a:srgbClr val="0070C0"/>
                </a:solidFill>
                <a:latin typeface="微软雅黑" panose="020B0503020204020204" pitchFamily="34" charset="-122"/>
                <a:ea typeface="微软雅黑" panose="020B0503020204020204" pitchFamily="34" charset="-122"/>
                <a:cs typeface="+mn-ea"/>
                <a:sym typeface="+mn-lt"/>
              </a:rPr>
              <a:t>严重</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缺陷</a:t>
            </a:r>
            <a:r>
              <a:rPr sz="1600" dirty="0">
                <a:solidFill>
                  <a:srgbClr val="0070C0"/>
                </a:solidFill>
                <a:latin typeface="微软雅黑" panose="020B0503020204020204" pitchFamily="34" charset="-122"/>
                <a:ea typeface="微软雅黑" panose="020B0503020204020204" pitchFamily="34" charset="-122"/>
                <a:cs typeface="+mn-ea"/>
                <a:sym typeface="+mn-lt"/>
              </a:rPr>
              <a:t>、</a:t>
            </a:r>
            <a:r>
              <a:rPr sz="1600" dirty="0" err="1">
                <a:solidFill>
                  <a:srgbClr val="0070C0"/>
                </a:solidFill>
                <a:latin typeface="微软雅黑" panose="020B0503020204020204" pitchFamily="34" charset="-122"/>
                <a:ea typeface="微软雅黑" panose="020B0503020204020204" pitchFamily="34" charset="-122"/>
                <a:cs typeface="+mn-ea"/>
                <a:sym typeface="+mn-lt"/>
              </a:rPr>
              <a:t>一般</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缺陷</a:t>
            </a:r>
            <a:r>
              <a:rPr sz="1600" dirty="0">
                <a:solidFill>
                  <a:srgbClr val="0070C0"/>
                </a:solidFill>
                <a:latin typeface="微软雅黑" panose="020B0503020204020204" pitchFamily="34" charset="-122"/>
                <a:ea typeface="微软雅黑" panose="020B0503020204020204" pitchFamily="34" charset="-122"/>
                <a:cs typeface="+mn-ea"/>
                <a:sym typeface="+mn-lt"/>
              </a:rPr>
              <a:t>、</a:t>
            </a:r>
            <a:r>
              <a:rPr sz="1600" dirty="0" err="1">
                <a:solidFill>
                  <a:srgbClr val="0070C0"/>
                </a:solidFill>
                <a:latin typeface="微软雅黑" panose="020B0503020204020204" pitchFamily="34" charset="-122"/>
                <a:ea typeface="微软雅黑" panose="020B0503020204020204" pitchFamily="34" charset="-122"/>
                <a:cs typeface="+mn-ea"/>
                <a:sym typeface="+mn-lt"/>
              </a:rPr>
              <a:t>次要</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缺陷</a:t>
            </a:r>
            <a:r>
              <a:rPr sz="1600" dirty="0">
                <a:solidFill>
                  <a:srgbClr val="0070C0"/>
                </a:solidFill>
                <a:latin typeface="微软雅黑" panose="020B0503020204020204" pitchFamily="34" charset="-122"/>
                <a:ea typeface="微软雅黑" panose="020B0503020204020204" pitchFamily="34" charset="-122"/>
                <a:cs typeface="+mn-ea"/>
                <a:sym typeface="+mn-lt"/>
              </a:rPr>
              <a:t>、</a:t>
            </a:r>
            <a:r>
              <a:rPr sz="1600" dirty="0" err="1">
                <a:solidFill>
                  <a:srgbClr val="0070C0"/>
                </a:solidFill>
                <a:latin typeface="微软雅黑" panose="020B0503020204020204" pitchFamily="34" charset="-122"/>
                <a:ea typeface="微软雅黑" panose="020B0503020204020204" pitchFamily="34" charset="-122"/>
                <a:cs typeface="+mn-ea"/>
                <a:sym typeface="+mn-lt"/>
              </a:rPr>
              <a:t>建议</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缺陷</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6" name="Text Placeholder 6"/>
          <p:cNvSpPr txBox="1"/>
          <p:nvPr/>
        </p:nvSpPr>
        <p:spPr>
          <a:xfrm>
            <a:off x="6503949" y="3692598"/>
            <a:ext cx="1830463" cy="1269365"/>
          </a:xfrm>
          <a:prstGeom prst="rect">
            <a:avLst/>
          </a:prstGeom>
        </p:spPr>
        <p:txBody>
          <a:bodyPr vert="horz" lIns="0" tIns="0" rIns="0" bIns="0" rtlCol="0" anchor="ctr">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sz="16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按照</a:t>
            </a:r>
            <a:r>
              <a:rPr sz="1600">
                <a:solidFill>
                  <a:srgbClr val="0070C0"/>
                </a:solidFill>
                <a:latin typeface="微软雅黑" panose="020B0503020204020204" pitchFamily="34" charset="-122"/>
                <a:ea typeface="微软雅黑" panose="020B0503020204020204" pitchFamily="34" charset="-122"/>
                <a:cs typeface="+mn-ea"/>
                <a:sym typeface="+mn-lt"/>
              </a:rPr>
              <a:t>缺陷的优先级</a:t>
            </a:r>
            <a:r>
              <a:rPr sz="16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不同可以将缺陷划分为</a:t>
            </a:r>
            <a:r>
              <a:rPr sz="1600">
                <a:solidFill>
                  <a:srgbClr val="0070C0"/>
                </a:solidFill>
                <a:latin typeface="微软雅黑" panose="020B0503020204020204" pitchFamily="34" charset="-122"/>
                <a:ea typeface="微软雅黑" panose="020B0503020204020204" pitchFamily="34" charset="-122"/>
                <a:cs typeface="+mn-ea"/>
                <a:sym typeface="+mn-lt"/>
              </a:rPr>
              <a:t>立即解决</a:t>
            </a:r>
            <a:r>
              <a:rPr lang="zh-CN" altLang="en-US" sz="1600">
                <a:solidFill>
                  <a:srgbClr val="0070C0"/>
                </a:solidFill>
                <a:latin typeface="微软雅黑" panose="020B0503020204020204" pitchFamily="34" charset="-122"/>
                <a:ea typeface="微软雅黑" panose="020B0503020204020204" pitchFamily="34" charset="-122"/>
                <a:cs typeface="+mn-ea"/>
                <a:sym typeface="+mn-lt"/>
              </a:rPr>
              <a:t>缺陷</a:t>
            </a:r>
            <a:r>
              <a:rPr sz="1600">
                <a:solidFill>
                  <a:srgbClr val="0070C0"/>
                </a:solidFill>
                <a:latin typeface="微软雅黑" panose="020B0503020204020204" pitchFamily="34" charset="-122"/>
                <a:ea typeface="微软雅黑" panose="020B0503020204020204" pitchFamily="34" charset="-122"/>
                <a:cs typeface="+mn-ea"/>
                <a:sym typeface="+mn-lt"/>
              </a:rPr>
              <a:t>、高优先级</a:t>
            </a:r>
            <a:r>
              <a:rPr lang="zh-CN" altLang="en-US" sz="1600">
                <a:solidFill>
                  <a:srgbClr val="0070C0"/>
                </a:solidFill>
                <a:latin typeface="微软雅黑" panose="020B0503020204020204" pitchFamily="34" charset="-122"/>
                <a:ea typeface="微软雅黑" panose="020B0503020204020204" pitchFamily="34" charset="-122"/>
                <a:cs typeface="+mn-ea"/>
                <a:sym typeface="+mn-lt"/>
              </a:rPr>
              <a:t>缺陷</a:t>
            </a:r>
            <a:r>
              <a:rPr sz="1600">
                <a:solidFill>
                  <a:srgbClr val="0070C0"/>
                </a:solidFill>
                <a:latin typeface="微软雅黑" panose="020B0503020204020204" pitchFamily="34" charset="-122"/>
                <a:ea typeface="微软雅黑" panose="020B0503020204020204" pitchFamily="34" charset="-122"/>
                <a:cs typeface="+mn-ea"/>
                <a:sym typeface="+mn-lt"/>
              </a:rPr>
              <a:t>、正常排队</a:t>
            </a:r>
            <a:r>
              <a:rPr lang="zh-CN" altLang="en-US" sz="1600">
                <a:solidFill>
                  <a:srgbClr val="0070C0"/>
                </a:solidFill>
                <a:latin typeface="微软雅黑" panose="020B0503020204020204" pitchFamily="34" charset="-122"/>
                <a:ea typeface="微软雅黑" panose="020B0503020204020204" pitchFamily="34" charset="-122"/>
                <a:cs typeface="+mn-ea"/>
                <a:sym typeface="+mn-lt"/>
              </a:rPr>
              <a:t>缺陷</a:t>
            </a:r>
            <a:r>
              <a:rPr sz="1600">
                <a:solidFill>
                  <a:srgbClr val="0070C0"/>
                </a:solidFill>
                <a:latin typeface="微软雅黑" panose="020B0503020204020204" pitchFamily="34" charset="-122"/>
                <a:ea typeface="微软雅黑" panose="020B0503020204020204" pitchFamily="34" charset="-122"/>
                <a:cs typeface="+mn-ea"/>
                <a:sym typeface="+mn-lt"/>
              </a:rPr>
              <a:t>、低优先级</a:t>
            </a:r>
            <a:r>
              <a:rPr lang="zh-CN" altLang="en-US" sz="1600">
                <a:solidFill>
                  <a:srgbClr val="0070C0"/>
                </a:solidFill>
                <a:latin typeface="微软雅黑" panose="020B0503020204020204" pitchFamily="34" charset="-122"/>
                <a:ea typeface="微软雅黑" panose="020B0503020204020204" pitchFamily="34" charset="-122"/>
                <a:cs typeface="+mn-ea"/>
                <a:sym typeface="+mn-lt"/>
              </a:rPr>
              <a:t>缺陷</a:t>
            </a: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7" name="Text Placeholder 6"/>
          <p:cNvSpPr txBox="1"/>
          <p:nvPr/>
        </p:nvSpPr>
        <p:spPr>
          <a:xfrm>
            <a:off x="9019598" y="4008239"/>
            <a:ext cx="1815245" cy="1134191"/>
          </a:xfrm>
          <a:prstGeom prst="rect">
            <a:avLst/>
          </a:prstGeom>
        </p:spPr>
        <p:txBody>
          <a:bodyPr vert="horz" lIns="0" tIns="0" rIns="0" bIns="0" rtlCol="0" anchor="ctr">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按照</a:t>
            </a:r>
            <a:r>
              <a:rPr sz="1600" dirty="0">
                <a:solidFill>
                  <a:srgbClr val="0070C0"/>
                </a:solidFill>
                <a:latin typeface="微软雅黑" panose="020B0503020204020204" pitchFamily="34" charset="-122"/>
                <a:ea typeface="微软雅黑" panose="020B0503020204020204" pitchFamily="34" charset="-122"/>
                <a:cs typeface="+mn-ea"/>
                <a:sym typeface="+mn-lt"/>
              </a:rPr>
              <a:t>缺陷的发生阶段</a:t>
            </a:r>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不同可以将缺陷划分为</a:t>
            </a:r>
            <a:r>
              <a:rPr sz="1600" dirty="0">
                <a:solidFill>
                  <a:srgbClr val="0070C0"/>
                </a:solidFill>
                <a:latin typeface="微软雅黑" panose="020B0503020204020204" pitchFamily="34" charset="-122"/>
                <a:ea typeface="微软雅黑" panose="020B0503020204020204" pitchFamily="34" charset="-122"/>
                <a:cs typeface="+mn-ea"/>
                <a:sym typeface="+mn-lt"/>
              </a:rPr>
              <a:t>需求阶段缺陷、构架阶段缺陷、设计阶段缺陷、编码阶段缺陷、测试阶段缺陷</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9" name="Text Placeholder 5"/>
          <p:cNvSpPr txBox="1"/>
          <p:nvPr/>
        </p:nvSpPr>
        <p:spPr>
          <a:xfrm>
            <a:off x="6614486" y="2349467"/>
            <a:ext cx="1579981" cy="577887"/>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865" b="1" dirty="0">
                <a:solidFill>
                  <a:schemeClr val="bg1"/>
                </a:solidFill>
                <a:latin typeface="微软雅黑" panose="020B0503020204020204" pitchFamily="34" charset="-122"/>
                <a:ea typeface="微软雅黑" panose="020B0503020204020204" pitchFamily="34" charset="-122"/>
                <a:cs typeface="+mn-ea"/>
                <a:sym typeface="+mn-lt"/>
              </a:rPr>
              <a:t>按照缺陷的优先级划分</a:t>
            </a:r>
          </a:p>
        </p:txBody>
      </p:sp>
      <p:sp>
        <p:nvSpPr>
          <p:cNvPr id="30" name="Shape 1475"/>
          <p:cNvSpPr/>
          <p:nvPr/>
        </p:nvSpPr>
        <p:spPr>
          <a:xfrm>
            <a:off x="6450780" y="1834734"/>
            <a:ext cx="474017" cy="47401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solidFill>
          <a:ln w="12700">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32" name="Shape 1480"/>
          <p:cNvSpPr/>
          <p:nvPr/>
        </p:nvSpPr>
        <p:spPr>
          <a:xfrm>
            <a:off x="6594292" y="1957792"/>
            <a:ext cx="186347" cy="186335"/>
          </a:xfrm>
          <a:custGeom>
            <a:avLst/>
            <a:gdLst/>
            <a:ahLst/>
            <a:cxnLst>
              <a:cxn ang="0">
                <a:pos x="wd2" y="hd2"/>
              </a:cxn>
              <a:cxn ang="5400000">
                <a:pos x="wd2" y="hd2"/>
              </a:cxn>
              <a:cxn ang="10800000">
                <a:pos x="wd2" y="hd2"/>
              </a:cxn>
              <a:cxn ang="16200000">
                <a:pos x="wd2" y="hd2"/>
              </a:cxn>
            </a:cxnLst>
            <a:rect l="0" t="0" r="r" b="b"/>
            <a:pathLst>
              <a:path w="21600" h="21600" extrusionOk="0">
                <a:moveTo>
                  <a:pt x="18843" y="20435"/>
                </a:moveTo>
                <a:cubicBezTo>
                  <a:pt x="17964" y="20435"/>
                  <a:pt x="17252" y="19721"/>
                  <a:pt x="17252" y="18844"/>
                </a:cubicBezTo>
                <a:cubicBezTo>
                  <a:pt x="17252" y="17964"/>
                  <a:pt x="17964" y="17253"/>
                  <a:pt x="18843" y="17253"/>
                </a:cubicBezTo>
                <a:cubicBezTo>
                  <a:pt x="19721" y="17253"/>
                  <a:pt x="20434" y="17964"/>
                  <a:pt x="20434" y="18844"/>
                </a:cubicBezTo>
                <a:cubicBezTo>
                  <a:pt x="20434" y="19721"/>
                  <a:pt x="19721" y="20435"/>
                  <a:pt x="18843" y="20435"/>
                </a:cubicBezTo>
                <a:close/>
                <a:moveTo>
                  <a:pt x="12390" y="18844"/>
                </a:moveTo>
                <a:cubicBezTo>
                  <a:pt x="12390" y="19721"/>
                  <a:pt x="11679" y="20435"/>
                  <a:pt x="10801" y="20435"/>
                </a:cubicBezTo>
                <a:cubicBezTo>
                  <a:pt x="9922" y="20435"/>
                  <a:pt x="9210" y="19721"/>
                  <a:pt x="9210" y="18844"/>
                </a:cubicBezTo>
                <a:cubicBezTo>
                  <a:pt x="9210" y="17964"/>
                  <a:pt x="9922" y="17253"/>
                  <a:pt x="10801" y="17253"/>
                </a:cubicBezTo>
                <a:cubicBezTo>
                  <a:pt x="11679" y="17253"/>
                  <a:pt x="12390" y="17964"/>
                  <a:pt x="12390" y="18844"/>
                </a:cubicBezTo>
                <a:close/>
                <a:moveTo>
                  <a:pt x="9210" y="2756"/>
                </a:moveTo>
                <a:cubicBezTo>
                  <a:pt x="9210" y="1879"/>
                  <a:pt x="9922" y="1165"/>
                  <a:pt x="10801" y="1165"/>
                </a:cubicBezTo>
                <a:cubicBezTo>
                  <a:pt x="11679" y="1165"/>
                  <a:pt x="12390" y="1879"/>
                  <a:pt x="12390" y="2756"/>
                </a:cubicBezTo>
                <a:cubicBezTo>
                  <a:pt x="12390" y="3636"/>
                  <a:pt x="11679" y="4347"/>
                  <a:pt x="10801" y="4347"/>
                </a:cubicBezTo>
                <a:cubicBezTo>
                  <a:pt x="9922" y="4347"/>
                  <a:pt x="9210" y="3636"/>
                  <a:pt x="9210" y="2756"/>
                </a:cubicBezTo>
                <a:close/>
                <a:moveTo>
                  <a:pt x="4348" y="18844"/>
                </a:moveTo>
                <a:cubicBezTo>
                  <a:pt x="4348" y="19721"/>
                  <a:pt x="3636" y="20435"/>
                  <a:pt x="2757" y="20435"/>
                </a:cubicBezTo>
                <a:cubicBezTo>
                  <a:pt x="1879" y="20435"/>
                  <a:pt x="1168" y="19721"/>
                  <a:pt x="1168" y="18844"/>
                </a:cubicBezTo>
                <a:cubicBezTo>
                  <a:pt x="1168" y="17964"/>
                  <a:pt x="1879" y="17253"/>
                  <a:pt x="2757" y="17253"/>
                </a:cubicBezTo>
                <a:cubicBezTo>
                  <a:pt x="3636" y="17253"/>
                  <a:pt x="4348" y="17964"/>
                  <a:pt x="4348" y="18844"/>
                </a:cubicBezTo>
                <a:close/>
                <a:moveTo>
                  <a:pt x="19934" y="16312"/>
                </a:moveTo>
                <a:lnTo>
                  <a:pt x="19934" y="13672"/>
                </a:lnTo>
                <a:cubicBezTo>
                  <a:pt x="19934" y="12078"/>
                  <a:pt x="18879" y="9707"/>
                  <a:pt x="15971" y="9707"/>
                </a:cubicBezTo>
                <a:lnTo>
                  <a:pt x="13673" y="9707"/>
                </a:lnTo>
                <a:cubicBezTo>
                  <a:pt x="12050" y="9707"/>
                  <a:pt x="11899" y="8913"/>
                  <a:pt x="11892" y="8503"/>
                </a:cubicBezTo>
                <a:lnTo>
                  <a:pt x="11892" y="5288"/>
                </a:lnTo>
                <a:cubicBezTo>
                  <a:pt x="12872" y="4867"/>
                  <a:pt x="13558" y="3893"/>
                  <a:pt x="13558" y="2756"/>
                </a:cubicBezTo>
                <a:cubicBezTo>
                  <a:pt x="13558" y="1234"/>
                  <a:pt x="12323" y="0"/>
                  <a:pt x="10801" y="0"/>
                </a:cubicBezTo>
                <a:cubicBezTo>
                  <a:pt x="9277" y="0"/>
                  <a:pt x="8043" y="1234"/>
                  <a:pt x="8043" y="2756"/>
                </a:cubicBezTo>
                <a:cubicBezTo>
                  <a:pt x="8043" y="3893"/>
                  <a:pt x="8730" y="4867"/>
                  <a:pt x="9709" y="5288"/>
                </a:cubicBezTo>
                <a:lnTo>
                  <a:pt x="9709" y="8503"/>
                </a:lnTo>
                <a:cubicBezTo>
                  <a:pt x="9709" y="8799"/>
                  <a:pt x="9623" y="9707"/>
                  <a:pt x="7927" y="9707"/>
                </a:cubicBezTo>
                <a:lnTo>
                  <a:pt x="5631" y="9707"/>
                </a:lnTo>
                <a:cubicBezTo>
                  <a:pt x="2723" y="9707"/>
                  <a:pt x="1666" y="12078"/>
                  <a:pt x="1666" y="13672"/>
                </a:cubicBezTo>
                <a:lnTo>
                  <a:pt x="1666" y="16312"/>
                </a:lnTo>
                <a:cubicBezTo>
                  <a:pt x="686" y="16733"/>
                  <a:pt x="0" y="17707"/>
                  <a:pt x="0" y="18844"/>
                </a:cubicBezTo>
                <a:cubicBezTo>
                  <a:pt x="0" y="20366"/>
                  <a:pt x="1235" y="21600"/>
                  <a:pt x="2757" y="21600"/>
                </a:cubicBezTo>
                <a:cubicBezTo>
                  <a:pt x="4280" y="21600"/>
                  <a:pt x="5516" y="20366"/>
                  <a:pt x="5516" y="18844"/>
                </a:cubicBezTo>
                <a:cubicBezTo>
                  <a:pt x="5516" y="17707"/>
                  <a:pt x="4828" y="16733"/>
                  <a:pt x="3849" y="16312"/>
                </a:cubicBezTo>
                <a:lnTo>
                  <a:pt x="3849" y="13672"/>
                </a:lnTo>
                <a:cubicBezTo>
                  <a:pt x="3849" y="13376"/>
                  <a:pt x="3935" y="11890"/>
                  <a:pt x="5631" y="11890"/>
                </a:cubicBezTo>
                <a:lnTo>
                  <a:pt x="7927" y="11890"/>
                </a:lnTo>
                <a:cubicBezTo>
                  <a:pt x="8626" y="11890"/>
                  <a:pt x="9214" y="11785"/>
                  <a:pt x="9709" y="11608"/>
                </a:cubicBezTo>
                <a:lnTo>
                  <a:pt x="9709" y="16312"/>
                </a:lnTo>
                <a:cubicBezTo>
                  <a:pt x="8730" y="16733"/>
                  <a:pt x="8043" y="17707"/>
                  <a:pt x="8043" y="18844"/>
                </a:cubicBezTo>
                <a:cubicBezTo>
                  <a:pt x="8043" y="20366"/>
                  <a:pt x="9277" y="21600"/>
                  <a:pt x="10801" y="21600"/>
                </a:cubicBezTo>
                <a:cubicBezTo>
                  <a:pt x="12323" y="21600"/>
                  <a:pt x="13558" y="20366"/>
                  <a:pt x="13558" y="18844"/>
                </a:cubicBezTo>
                <a:cubicBezTo>
                  <a:pt x="13558" y="17707"/>
                  <a:pt x="12872" y="16733"/>
                  <a:pt x="11892" y="16312"/>
                </a:cubicBezTo>
                <a:lnTo>
                  <a:pt x="11892" y="11608"/>
                </a:lnTo>
                <a:cubicBezTo>
                  <a:pt x="12388" y="11785"/>
                  <a:pt x="12975" y="11890"/>
                  <a:pt x="13673" y="11890"/>
                </a:cubicBezTo>
                <a:lnTo>
                  <a:pt x="15971" y="11890"/>
                </a:lnTo>
                <a:cubicBezTo>
                  <a:pt x="17592" y="11890"/>
                  <a:pt x="17743" y="13263"/>
                  <a:pt x="17751" y="13672"/>
                </a:cubicBezTo>
                <a:lnTo>
                  <a:pt x="17751" y="16312"/>
                </a:lnTo>
                <a:cubicBezTo>
                  <a:pt x="16772" y="16733"/>
                  <a:pt x="16086" y="17707"/>
                  <a:pt x="16086" y="18844"/>
                </a:cubicBezTo>
                <a:cubicBezTo>
                  <a:pt x="16086" y="20366"/>
                  <a:pt x="17320" y="21600"/>
                  <a:pt x="18843" y="21600"/>
                </a:cubicBezTo>
                <a:cubicBezTo>
                  <a:pt x="20366" y="21600"/>
                  <a:pt x="21600" y="20366"/>
                  <a:pt x="21600" y="18844"/>
                </a:cubicBezTo>
                <a:cubicBezTo>
                  <a:pt x="21600" y="17707"/>
                  <a:pt x="20914" y="16733"/>
                  <a:pt x="19934" y="16312"/>
                </a:cubicBezTo>
                <a:close/>
              </a:path>
            </a:pathLst>
          </a:custGeom>
          <a:solidFill>
            <a:schemeClr val="accent1"/>
          </a:solidFill>
          <a:ln w="12700">
            <a:miter lim="400000"/>
          </a:ln>
        </p:spPr>
        <p:txBody>
          <a:bodyPr lIns="0" tIns="0" rIns="0" bIns="0"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软件缺陷的分类</a:t>
            </a:r>
          </a:p>
        </p:txBody>
      </p:sp>
      <p:sp>
        <p:nvSpPr>
          <p:cNvPr id="28" name="文本框 27"/>
          <p:cNvSpPr txBox="1"/>
          <p:nvPr/>
        </p:nvSpPr>
        <p:spPr>
          <a:xfrm>
            <a:off x="1071880" y="909955"/>
            <a:ext cx="10046970" cy="621665"/>
          </a:xfrm>
          <a:prstGeom prst="rect">
            <a:avLst/>
          </a:prstGeom>
          <a:noFill/>
        </p:spPr>
        <p:txBody>
          <a:bodyPr wrap="square" rtlCol="0" anchor="t">
            <a:noAutofit/>
          </a:bodyPr>
          <a:lstStyle/>
          <a:p>
            <a:pPr algn="just">
              <a:lnSpc>
                <a:spcPct val="150000"/>
              </a:lnSpc>
              <a:buClrTx/>
              <a:buSzTx/>
              <a:buFontTx/>
            </a:pPr>
            <a:r>
              <a:rPr sz="2000">
                <a:solidFill>
                  <a:srgbClr val="595959"/>
                </a:solidFill>
                <a:latin typeface="微软雅黑" panose="020B0503020204020204" pitchFamily="34" charset="-122"/>
                <a:ea typeface="微软雅黑" panose="020B0503020204020204" pitchFamily="34" charset="-122"/>
                <a:sym typeface="+mn-ea"/>
              </a:rPr>
              <a:t>从</a:t>
            </a:r>
            <a:r>
              <a:rPr sz="2000">
                <a:solidFill>
                  <a:srgbClr val="0070C0"/>
                </a:solidFill>
                <a:latin typeface="微软雅黑" panose="020B0503020204020204" pitchFamily="34" charset="-122"/>
                <a:ea typeface="微软雅黑" panose="020B0503020204020204" pitchFamily="34" charset="-122"/>
                <a:sym typeface="+mn-ea"/>
              </a:rPr>
              <a:t>不同的角度</a:t>
            </a:r>
            <a:r>
              <a:rPr sz="2000">
                <a:solidFill>
                  <a:srgbClr val="595959"/>
                </a:solidFill>
                <a:latin typeface="微软雅黑" panose="020B0503020204020204" pitchFamily="34" charset="-122"/>
                <a:ea typeface="微软雅黑" panose="020B0503020204020204" pitchFamily="34" charset="-122"/>
                <a:sym typeface="+mn-ea"/>
              </a:rPr>
              <a:t>可以</a:t>
            </a:r>
            <a:r>
              <a:rPr sz="2000">
                <a:solidFill>
                  <a:srgbClr val="0070C0"/>
                </a:solidFill>
                <a:latin typeface="微软雅黑" panose="020B0503020204020204" pitchFamily="34" charset="-122"/>
                <a:ea typeface="微软雅黑" panose="020B0503020204020204" pitchFamily="34" charset="-122"/>
                <a:sym typeface="+mn-ea"/>
              </a:rPr>
              <a:t>将</a:t>
            </a:r>
            <a:r>
              <a:rPr lang="zh-CN" altLang="en-US" sz="2000">
                <a:solidFill>
                  <a:srgbClr val="0070C0"/>
                </a:solidFill>
                <a:latin typeface="微软雅黑" panose="020B0503020204020204" pitchFamily="34" charset="-122"/>
                <a:ea typeface="微软雅黑" panose="020B0503020204020204" pitchFamily="34" charset="-122"/>
                <a:sym typeface="+mn-ea"/>
              </a:rPr>
              <a:t>软件</a:t>
            </a:r>
            <a:r>
              <a:rPr sz="2000">
                <a:solidFill>
                  <a:srgbClr val="0070C0"/>
                </a:solidFill>
                <a:latin typeface="微软雅黑" panose="020B0503020204020204" pitchFamily="34" charset="-122"/>
                <a:ea typeface="微软雅黑" panose="020B0503020204020204" pitchFamily="34" charset="-122"/>
                <a:sym typeface="+mn-ea"/>
              </a:rPr>
              <a:t>缺陷</a:t>
            </a:r>
            <a:r>
              <a:rPr lang="zh-CN" altLang="en-US" sz="2000">
                <a:solidFill>
                  <a:srgbClr val="0070C0"/>
                </a:solidFill>
                <a:latin typeface="微软雅黑" panose="020B0503020204020204" pitchFamily="34" charset="-122"/>
                <a:ea typeface="微软雅黑" panose="020B0503020204020204" pitchFamily="34" charset="-122"/>
                <a:sym typeface="+mn-ea"/>
              </a:rPr>
              <a:t>划</a:t>
            </a:r>
            <a:r>
              <a:rPr sz="2000">
                <a:solidFill>
                  <a:srgbClr val="0070C0"/>
                </a:solidFill>
                <a:latin typeface="微软雅黑" panose="020B0503020204020204" pitchFamily="34" charset="-122"/>
                <a:ea typeface="微软雅黑" panose="020B0503020204020204" pitchFamily="34" charset="-122"/>
                <a:sym typeface="+mn-ea"/>
              </a:rPr>
              <a:t>分为不同的种类</a:t>
            </a:r>
            <a:r>
              <a:rPr sz="2000" dirty="0">
                <a:solidFill>
                  <a:srgbClr val="595959"/>
                </a:solidFill>
                <a:latin typeface="微软雅黑" panose="020B0503020204020204" pitchFamily="34" charset="-122"/>
                <a:ea typeface="微软雅黑" panose="020B0503020204020204" pitchFamily="34" charset="-122"/>
                <a:sym typeface="+mn-ea"/>
              </a:rPr>
              <a:t>，</a:t>
            </a:r>
            <a:r>
              <a:rPr sz="2000">
                <a:solidFill>
                  <a:srgbClr val="595959"/>
                </a:solidFill>
                <a:latin typeface="微软雅黑" panose="020B0503020204020204" pitchFamily="34" charset="-122"/>
                <a:ea typeface="微软雅黑" panose="020B0503020204020204" pitchFamily="34" charset="-122"/>
                <a:sym typeface="+mn-ea"/>
              </a:rPr>
              <a:t>具体划分如下。</a:t>
            </a: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熟悉</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软件缺陷的处理流程</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，能够归纳处理软件缺陷的每个环节的内容</a:t>
            </a:r>
            <a:endParaRPr lang="zh-CN"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软件缺陷的处理流程</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1071880" y="909955"/>
            <a:ext cx="10046970" cy="621665"/>
          </a:xfrm>
          <a:prstGeom prst="rect">
            <a:avLst/>
          </a:prstGeom>
          <a:noFill/>
        </p:spPr>
        <p:txBody>
          <a:bodyPr wrap="square" rtlCol="0" anchor="t">
            <a:noAutofit/>
          </a:bodyPr>
          <a:lstStyle/>
          <a:p>
            <a:pPr algn="just">
              <a:lnSpc>
                <a:spcPct val="150000"/>
              </a:lnSpc>
              <a:buClrTx/>
              <a:buSzTx/>
              <a:buFontTx/>
            </a:pPr>
            <a:r>
              <a:rPr sz="2000" dirty="0">
                <a:solidFill>
                  <a:srgbClr val="0070C0"/>
                </a:solidFill>
                <a:latin typeface="微软雅黑" panose="020B0503020204020204" pitchFamily="34" charset="-122"/>
                <a:ea typeface="微软雅黑" panose="020B0503020204020204" pitchFamily="34" charset="-122"/>
                <a:sym typeface="+mn-ea"/>
              </a:rPr>
              <a:t>软件缺陷的处理流程</a:t>
            </a:r>
            <a:r>
              <a:rPr sz="2000" dirty="0">
                <a:solidFill>
                  <a:srgbClr val="595959"/>
                </a:solidFill>
                <a:latin typeface="微软雅黑" panose="020B0503020204020204" pitchFamily="34" charset="-122"/>
                <a:ea typeface="微软雅黑" panose="020B0503020204020204" pitchFamily="34" charset="-122"/>
                <a:sym typeface="+mn-ea"/>
              </a:rPr>
              <a:t>如</a:t>
            </a:r>
            <a:r>
              <a:rPr lang="zh-CN" sz="2000" dirty="0">
                <a:solidFill>
                  <a:srgbClr val="595959"/>
                </a:solidFill>
                <a:latin typeface="微软雅黑" panose="020B0503020204020204" pitchFamily="34" charset="-122"/>
                <a:ea typeface="微软雅黑" panose="020B0503020204020204" pitchFamily="34" charset="-122"/>
                <a:sym typeface="+mn-ea"/>
              </a:rPr>
              <a:t>下</a:t>
            </a:r>
            <a:r>
              <a:rPr sz="2000" dirty="0" err="1">
                <a:solidFill>
                  <a:srgbClr val="595959"/>
                </a:solidFill>
                <a:latin typeface="微软雅黑" panose="020B0503020204020204" pitchFamily="34" charset="-122"/>
                <a:ea typeface="微软雅黑" panose="020B0503020204020204" pitchFamily="34" charset="-122"/>
                <a:sym typeface="+mn-ea"/>
              </a:rPr>
              <a:t>图所示</a:t>
            </a:r>
            <a:r>
              <a:rPr sz="2000" dirty="0">
                <a:solidFill>
                  <a:srgbClr val="595959"/>
                </a:solidFill>
                <a:latin typeface="微软雅黑" panose="020B0503020204020204" pitchFamily="34" charset="-122"/>
                <a:ea typeface="微软雅黑" panose="020B0503020204020204" pitchFamily="34" charset="-122"/>
                <a:sym typeface="+mn-ea"/>
              </a:rPr>
              <a:t>。</a:t>
            </a: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3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软件缺陷的处理流程</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9206" y="1524771"/>
            <a:ext cx="4461524" cy="4686711"/>
          </a:xfrm>
          <a:prstGeom prst="rect">
            <a:avLst/>
          </a:prstGeom>
        </p:spPr>
      </p:pic>
      <p:sp>
        <p:nvSpPr>
          <p:cNvPr id="3" name="文本框 2">
            <a:extLst>
              <a:ext uri="{FF2B5EF4-FFF2-40B4-BE49-F238E27FC236}">
                <a16:creationId xmlns:a16="http://schemas.microsoft.com/office/drawing/2014/main" id="{B5ED4467-D450-8526-9F82-002C506E975F}"/>
              </a:ext>
            </a:extLst>
          </p:cNvPr>
          <p:cNvSpPr txBox="1"/>
          <p:nvPr/>
        </p:nvSpPr>
        <p:spPr>
          <a:xfrm>
            <a:off x="911206" y="1632921"/>
            <a:ext cx="5616000" cy="4578561"/>
          </a:xfrm>
          <a:prstGeom prst="rect">
            <a:avLst/>
          </a:prstGeom>
          <a:noFill/>
        </p:spPr>
        <p:txBody>
          <a:bodyPr wrap="square" rtlCol="0">
            <a:spAutoFit/>
          </a:bodyPr>
          <a:lstStyle/>
          <a:p>
            <a:pPr algn="just">
              <a:lnSpc>
                <a:spcPct val="150000"/>
              </a:lnSpc>
              <a:buClrTx/>
              <a:buSzTx/>
              <a:buFontTx/>
            </a:pPr>
            <a:r>
              <a:rPr lang="zh-CN" altLang="en-US" sz="1400" dirty="0">
                <a:solidFill>
                  <a:srgbClr val="595959"/>
                </a:solidFill>
                <a:latin typeface="微软雅黑" panose="020B0503020204020204" pitchFamily="34" charset="-122"/>
                <a:ea typeface="微软雅黑" panose="020B0503020204020204" pitchFamily="34" charset="-122"/>
                <a:sym typeface="+mn-ea"/>
              </a:rPr>
              <a:t>（</a:t>
            </a:r>
            <a:r>
              <a:rPr lang="en-US" altLang="zh-CN" sz="1400" dirty="0">
                <a:solidFill>
                  <a:srgbClr val="595959"/>
                </a:solidFill>
                <a:latin typeface="微软雅黑" panose="020B0503020204020204" pitchFamily="34" charset="-122"/>
                <a:ea typeface="微软雅黑" panose="020B0503020204020204" pitchFamily="34" charset="-122"/>
                <a:sym typeface="+mn-ea"/>
              </a:rPr>
              <a:t>1</a:t>
            </a:r>
            <a:r>
              <a:rPr lang="zh-CN" altLang="en-US" sz="1400" dirty="0">
                <a:solidFill>
                  <a:srgbClr val="595959"/>
                </a:solidFill>
                <a:latin typeface="微软雅黑" panose="020B0503020204020204" pitchFamily="34" charset="-122"/>
                <a:ea typeface="微软雅黑" panose="020B0503020204020204" pitchFamily="34" charset="-122"/>
                <a:sym typeface="+mn-ea"/>
              </a:rPr>
              <a:t>）提交：测试人员</a:t>
            </a:r>
            <a:r>
              <a:rPr lang="zh-CN" altLang="en-US" sz="1400" dirty="0">
                <a:solidFill>
                  <a:srgbClr val="0070C0"/>
                </a:solidFill>
                <a:latin typeface="微软雅黑" panose="020B0503020204020204" pitchFamily="34" charset="-122"/>
                <a:ea typeface="微软雅黑" panose="020B0503020204020204" pitchFamily="34" charset="-122"/>
                <a:sym typeface="+mn-ea"/>
              </a:rPr>
              <a:t>发现缺陷</a:t>
            </a:r>
            <a:r>
              <a:rPr lang="zh-CN" altLang="en-US" sz="1400" dirty="0">
                <a:solidFill>
                  <a:srgbClr val="595959"/>
                </a:solidFill>
                <a:latin typeface="微软雅黑" panose="020B0503020204020204" pitchFamily="34" charset="-122"/>
                <a:ea typeface="微软雅黑" panose="020B0503020204020204" pitchFamily="34" charset="-122"/>
                <a:sym typeface="+mn-ea"/>
              </a:rPr>
              <a:t>之后，将缺陷</a:t>
            </a:r>
            <a:r>
              <a:rPr lang="zh-CN" altLang="en-US" sz="1400" dirty="0">
                <a:solidFill>
                  <a:srgbClr val="0070C0"/>
                </a:solidFill>
                <a:latin typeface="微软雅黑" panose="020B0503020204020204" pitchFamily="34" charset="-122"/>
                <a:ea typeface="微软雅黑" panose="020B0503020204020204" pitchFamily="34" charset="-122"/>
                <a:sym typeface="+mn-ea"/>
              </a:rPr>
              <a:t>提交给测试组长</a:t>
            </a:r>
            <a:r>
              <a:rPr lang="zh-CN" altLang="en-US" sz="1400" dirty="0">
                <a:solidFill>
                  <a:srgbClr val="595959"/>
                </a:solidFill>
                <a:latin typeface="微软雅黑" panose="020B0503020204020204" pitchFamily="34" charset="-122"/>
                <a:ea typeface="微软雅黑" panose="020B0503020204020204" pitchFamily="34" charset="-122"/>
                <a:sym typeface="+mn-ea"/>
              </a:rPr>
              <a:t>。</a:t>
            </a:r>
          </a:p>
          <a:p>
            <a:pPr algn="just">
              <a:lnSpc>
                <a:spcPct val="150000"/>
              </a:lnSpc>
              <a:buClrTx/>
              <a:buSzTx/>
              <a:buFontTx/>
            </a:pPr>
            <a:r>
              <a:rPr lang="zh-CN" altLang="en-US" sz="1400" dirty="0">
                <a:solidFill>
                  <a:srgbClr val="595959"/>
                </a:solidFill>
                <a:latin typeface="微软雅黑" panose="020B0503020204020204" pitchFamily="34" charset="-122"/>
                <a:ea typeface="微软雅黑" panose="020B0503020204020204" pitchFamily="34" charset="-122"/>
                <a:sym typeface="+mn-ea"/>
              </a:rPr>
              <a:t>（</a:t>
            </a:r>
            <a:r>
              <a:rPr lang="en-US" altLang="zh-CN" sz="1400" dirty="0">
                <a:solidFill>
                  <a:srgbClr val="595959"/>
                </a:solidFill>
                <a:latin typeface="微软雅黑" panose="020B0503020204020204" pitchFamily="34" charset="-122"/>
                <a:ea typeface="微软雅黑" panose="020B0503020204020204" pitchFamily="34" charset="-122"/>
                <a:sym typeface="+mn-ea"/>
              </a:rPr>
              <a:t>2</a:t>
            </a:r>
            <a:r>
              <a:rPr lang="zh-CN" altLang="en-US" sz="1400" dirty="0">
                <a:solidFill>
                  <a:srgbClr val="595959"/>
                </a:solidFill>
                <a:latin typeface="微软雅黑" panose="020B0503020204020204" pitchFamily="34" charset="-122"/>
                <a:ea typeface="微软雅黑" panose="020B0503020204020204" pitchFamily="34" charset="-122"/>
                <a:sym typeface="+mn-ea"/>
              </a:rPr>
              <a:t>）分配：测试组长</a:t>
            </a:r>
            <a:r>
              <a:rPr lang="zh-CN" altLang="en-US" sz="1400" dirty="0">
                <a:solidFill>
                  <a:srgbClr val="0070C0"/>
                </a:solidFill>
                <a:latin typeface="微软雅黑" panose="020B0503020204020204" pitchFamily="34" charset="-122"/>
                <a:ea typeface="微软雅黑" panose="020B0503020204020204" pitchFamily="34" charset="-122"/>
                <a:sym typeface="+mn-ea"/>
              </a:rPr>
              <a:t>接收</a:t>
            </a:r>
            <a:r>
              <a:rPr lang="zh-CN" altLang="en-US" sz="1400" dirty="0">
                <a:solidFill>
                  <a:srgbClr val="595959"/>
                </a:solidFill>
                <a:latin typeface="微软雅黑" panose="020B0503020204020204" pitchFamily="34" charset="-122"/>
                <a:ea typeface="微软雅黑" panose="020B0503020204020204" pitchFamily="34" charset="-122"/>
                <a:sym typeface="+mn-ea"/>
              </a:rPr>
              <a:t>到测试人员提交的</a:t>
            </a:r>
            <a:r>
              <a:rPr lang="zh-CN" altLang="en-US" sz="1400" dirty="0">
                <a:solidFill>
                  <a:srgbClr val="0070C0"/>
                </a:solidFill>
                <a:latin typeface="微软雅黑" panose="020B0503020204020204" pitchFamily="34" charset="-122"/>
                <a:ea typeface="微软雅黑" panose="020B0503020204020204" pitchFamily="34" charset="-122"/>
                <a:sym typeface="+mn-ea"/>
              </a:rPr>
              <a:t>缺陷</a:t>
            </a:r>
            <a:r>
              <a:rPr lang="zh-CN" altLang="en-US" sz="1400" dirty="0">
                <a:solidFill>
                  <a:srgbClr val="595959"/>
                </a:solidFill>
                <a:latin typeface="微软雅黑" panose="020B0503020204020204" pitchFamily="34" charset="-122"/>
                <a:ea typeface="微软雅黑" panose="020B0503020204020204" pitchFamily="34" charset="-122"/>
                <a:sym typeface="+mn-ea"/>
              </a:rPr>
              <a:t>之后，将其</a:t>
            </a:r>
            <a:r>
              <a:rPr lang="zh-CN" altLang="en-US" sz="1400" dirty="0">
                <a:solidFill>
                  <a:srgbClr val="0070C0"/>
                </a:solidFill>
                <a:latin typeface="微软雅黑" panose="020B0503020204020204" pitchFamily="34" charset="-122"/>
                <a:ea typeface="微软雅黑" panose="020B0503020204020204" pitchFamily="34" charset="-122"/>
                <a:sym typeface="+mn-ea"/>
              </a:rPr>
              <a:t>移交给开发人员</a:t>
            </a:r>
            <a:r>
              <a:rPr lang="zh-CN" altLang="en-US" sz="1400" dirty="0">
                <a:solidFill>
                  <a:srgbClr val="595959"/>
                </a:solidFill>
                <a:latin typeface="微软雅黑" panose="020B0503020204020204" pitchFamily="34" charset="-122"/>
                <a:ea typeface="微软雅黑" panose="020B0503020204020204" pitchFamily="34" charset="-122"/>
                <a:sym typeface="+mn-ea"/>
              </a:rPr>
              <a:t>。</a:t>
            </a:r>
          </a:p>
          <a:p>
            <a:pPr algn="just">
              <a:lnSpc>
                <a:spcPct val="150000"/>
              </a:lnSpc>
              <a:buClrTx/>
              <a:buSzTx/>
              <a:buFontTx/>
            </a:pPr>
            <a:r>
              <a:rPr lang="zh-CN" altLang="en-US" sz="1400" dirty="0">
                <a:solidFill>
                  <a:srgbClr val="595959"/>
                </a:solidFill>
                <a:latin typeface="微软雅黑" panose="020B0503020204020204" pitchFamily="34" charset="-122"/>
                <a:ea typeface="微软雅黑" panose="020B0503020204020204" pitchFamily="34" charset="-122"/>
                <a:sym typeface="+mn-ea"/>
              </a:rPr>
              <a:t>（</a:t>
            </a:r>
            <a:r>
              <a:rPr lang="en-US" altLang="zh-CN" sz="1400" dirty="0">
                <a:solidFill>
                  <a:srgbClr val="595959"/>
                </a:solidFill>
                <a:latin typeface="微软雅黑" panose="020B0503020204020204" pitchFamily="34" charset="-122"/>
                <a:ea typeface="微软雅黑" panose="020B0503020204020204" pitchFamily="34" charset="-122"/>
                <a:sym typeface="+mn-ea"/>
              </a:rPr>
              <a:t>3</a:t>
            </a:r>
            <a:r>
              <a:rPr lang="zh-CN" altLang="en-US" sz="1400" dirty="0">
                <a:solidFill>
                  <a:srgbClr val="595959"/>
                </a:solidFill>
                <a:latin typeface="微软雅黑" panose="020B0503020204020204" pitchFamily="34" charset="-122"/>
                <a:ea typeface="微软雅黑" panose="020B0503020204020204" pitchFamily="34" charset="-122"/>
                <a:sym typeface="+mn-ea"/>
              </a:rPr>
              <a:t>）确认：开发人员接收到移交的缺陷之后，会与团队甚至测试人员一起商议，</a:t>
            </a:r>
            <a:r>
              <a:rPr lang="zh-CN" altLang="en-US" sz="1400" dirty="0">
                <a:solidFill>
                  <a:srgbClr val="0070C0"/>
                </a:solidFill>
                <a:latin typeface="微软雅黑" panose="020B0503020204020204" pitchFamily="34" charset="-122"/>
                <a:ea typeface="微软雅黑" panose="020B0503020204020204" pitchFamily="34" charset="-122"/>
                <a:sym typeface="+mn-ea"/>
              </a:rPr>
              <a:t>确定其是否是一个缺陷</a:t>
            </a:r>
            <a:r>
              <a:rPr lang="zh-CN" altLang="en-US" sz="1400" dirty="0">
                <a:solidFill>
                  <a:srgbClr val="595959"/>
                </a:solidFill>
                <a:latin typeface="微软雅黑" panose="020B0503020204020204" pitchFamily="34" charset="-122"/>
                <a:ea typeface="微软雅黑" panose="020B0503020204020204" pitchFamily="34" charset="-122"/>
                <a:sym typeface="+mn-ea"/>
              </a:rPr>
              <a:t>。</a:t>
            </a:r>
          </a:p>
          <a:p>
            <a:pPr algn="just">
              <a:lnSpc>
                <a:spcPct val="150000"/>
              </a:lnSpc>
              <a:buClrTx/>
              <a:buSzTx/>
              <a:buFontTx/>
            </a:pPr>
            <a:r>
              <a:rPr lang="zh-CN" altLang="en-US" sz="1400" dirty="0">
                <a:solidFill>
                  <a:srgbClr val="595959"/>
                </a:solidFill>
                <a:latin typeface="微软雅黑" panose="020B0503020204020204" pitchFamily="34" charset="-122"/>
                <a:ea typeface="微软雅黑" panose="020B0503020204020204" pitchFamily="34" charset="-122"/>
                <a:sym typeface="+mn-ea"/>
              </a:rPr>
              <a:t>（</a:t>
            </a:r>
            <a:r>
              <a:rPr lang="en-US" altLang="zh-CN" sz="1400" dirty="0">
                <a:solidFill>
                  <a:srgbClr val="595959"/>
                </a:solidFill>
                <a:latin typeface="微软雅黑" panose="020B0503020204020204" pitchFamily="34" charset="-122"/>
                <a:ea typeface="微软雅黑" panose="020B0503020204020204" pitchFamily="34" charset="-122"/>
                <a:sym typeface="+mn-ea"/>
              </a:rPr>
              <a:t>4</a:t>
            </a:r>
            <a:r>
              <a:rPr lang="zh-CN" altLang="en-US" sz="1400" dirty="0">
                <a:solidFill>
                  <a:srgbClr val="595959"/>
                </a:solidFill>
                <a:latin typeface="微软雅黑" panose="020B0503020204020204" pitchFamily="34" charset="-122"/>
                <a:ea typeface="微软雅黑" panose="020B0503020204020204" pitchFamily="34" charset="-122"/>
                <a:sym typeface="+mn-ea"/>
              </a:rPr>
              <a:t>）拒绝</a:t>
            </a:r>
            <a:r>
              <a:rPr lang="en-US" altLang="zh-CN" sz="1400" dirty="0">
                <a:solidFill>
                  <a:srgbClr val="595959"/>
                </a:solidFill>
                <a:latin typeface="微软雅黑" panose="020B0503020204020204" pitchFamily="34" charset="-122"/>
                <a:ea typeface="微软雅黑" panose="020B0503020204020204" pitchFamily="34" charset="-122"/>
                <a:sym typeface="+mn-ea"/>
              </a:rPr>
              <a:t>/</a:t>
            </a:r>
            <a:r>
              <a:rPr lang="zh-CN" altLang="en-US" sz="1400" dirty="0">
                <a:solidFill>
                  <a:srgbClr val="595959"/>
                </a:solidFill>
                <a:latin typeface="微软雅黑" panose="020B0503020204020204" pitchFamily="34" charset="-122"/>
                <a:ea typeface="微软雅黑" panose="020B0503020204020204" pitchFamily="34" charset="-122"/>
                <a:sym typeface="+mn-ea"/>
              </a:rPr>
              <a:t>延期：如果经过商议之后，</a:t>
            </a:r>
            <a:r>
              <a:rPr lang="zh-CN" altLang="en-US" sz="1400" dirty="0">
                <a:solidFill>
                  <a:srgbClr val="0070C0"/>
                </a:solidFill>
                <a:latin typeface="微软雅黑" panose="020B0503020204020204" pitchFamily="34" charset="-122"/>
                <a:ea typeface="微软雅黑" panose="020B0503020204020204" pitchFamily="34" charset="-122"/>
                <a:sym typeface="+mn-ea"/>
              </a:rPr>
              <a:t>发现</a:t>
            </a:r>
            <a:r>
              <a:rPr lang="zh-CN" altLang="en-US" sz="1400" dirty="0">
                <a:solidFill>
                  <a:srgbClr val="595959"/>
                </a:solidFill>
                <a:latin typeface="微软雅黑" panose="020B0503020204020204" pitchFamily="34" charset="-122"/>
                <a:ea typeface="微软雅黑" panose="020B0503020204020204" pitchFamily="34" charset="-122"/>
                <a:sym typeface="+mn-ea"/>
              </a:rPr>
              <a:t>其</a:t>
            </a:r>
            <a:r>
              <a:rPr lang="zh-CN" altLang="en-US" sz="1400" dirty="0">
                <a:solidFill>
                  <a:srgbClr val="0070C0"/>
                </a:solidFill>
                <a:latin typeface="微软雅黑" panose="020B0503020204020204" pitchFamily="34" charset="-122"/>
                <a:ea typeface="微软雅黑" panose="020B0503020204020204" pitchFamily="34" charset="-122"/>
                <a:sym typeface="+mn-ea"/>
              </a:rPr>
              <a:t>不是</a:t>
            </a:r>
            <a:r>
              <a:rPr lang="zh-CN" altLang="en-US" sz="1400" dirty="0">
                <a:solidFill>
                  <a:srgbClr val="595959"/>
                </a:solidFill>
                <a:latin typeface="微软雅黑" panose="020B0503020204020204" pitchFamily="34" charset="-122"/>
                <a:ea typeface="微软雅黑" panose="020B0503020204020204" pitchFamily="34" charset="-122"/>
                <a:sym typeface="+mn-ea"/>
              </a:rPr>
              <a:t>一个</a:t>
            </a:r>
            <a:r>
              <a:rPr lang="zh-CN" altLang="en-US" sz="1400" dirty="0">
                <a:solidFill>
                  <a:srgbClr val="0070C0"/>
                </a:solidFill>
                <a:latin typeface="微软雅黑" panose="020B0503020204020204" pitchFamily="34" charset="-122"/>
                <a:ea typeface="微软雅黑" panose="020B0503020204020204" pitchFamily="34" charset="-122"/>
                <a:sym typeface="+mn-ea"/>
              </a:rPr>
              <a:t>真正的缺陷</a:t>
            </a:r>
            <a:r>
              <a:rPr lang="zh-CN" altLang="en-US" sz="1400" dirty="0">
                <a:solidFill>
                  <a:srgbClr val="595959"/>
                </a:solidFill>
                <a:latin typeface="微软雅黑" panose="020B0503020204020204" pitchFamily="34" charset="-122"/>
                <a:ea typeface="微软雅黑" panose="020B0503020204020204" pitchFamily="34" charset="-122"/>
                <a:sym typeface="+mn-ea"/>
              </a:rPr>
              <a:t>，则</a:t>
            </a:r>
            <a:r>
              <a:rPr lang="zh-CN" altLang="en-US" sz="1400" dirty="0">
                <a:solidFill>
                  <a:srgbClr val="0070C0"/>
                </a:solidFill>
                <a:latin typeface="微软雅黑" panose="020B0503020204020204" pitchFamily="34" charset="-122"/>
                <a:ea typeface="微软雅黑" panose="020B0503020204020204" pitchFamily="34" charset="-122"/>
                <a:sym typeface="+mn-ea"/>
              </a:rPr>
              <a:t>拒绝处理</a:t>
            </a:r>
            <a:r>
              <a:rPr lang="zh-CN" altLang="en-US" sz="1400" dirty="0">
                <a:solidFill>
                  <a:srgbClr val="595959"/>
                </a:solidFill>
                <a:latin typeface="微软雅黑" panose="020B0503020204020204" pitchFamily="34" charset="-122"/>
                <a:ea typeface="微软雅黑" panose="020B0503020204020204" pitchFamily="34" charset="-122"/>
                <a:sym typeface="+mn-ea"/>
              </a:rPr>
              <a:t>此缺陷，对其进行关闭处理。如果经过商议之后，确定其</a:t>
            </a:r>
            <a:r>
              <a:rPr lang="zh-CN" altLang="en-US" sz="1400" dirty="0">
                <a:solidFill>
                  <a:srgbClr val="0070C0"/>
                </a:solidFill>
                <a:latin typeface="微软雅黑" panose="020B0503020204020204" pitchFamily="34" charset="-122"/>
                <a:ea typeface="微软雅黑" panose="020B0503020204020204" pitchFamily="34" charset="-122"/>
                <a:sym typeface="+mn-ea"/>
              </a:rPr>
              <a:t>是</a:t>
            </a:r>
            <a:r>
              <a:rPr lang="zh-CN" altLang="en-US" sz="1400" dirty="0">
                <a:solidFill>
                  <a:srgbClr val="595959"/>
                </a:solidFill>
                <a:latin typeface="微软雅黑" panose="020B0503020204020204" pitchFamily="34" charset="-122"/>
                <a:ea typeface="微软雅黑" panose="020B0503020204020204" pitchFamily="34" charset="-122"/>
                <a:sym typeface="+mn-ea"/>
              </a:rPr>
              <a:t>一个</a:t>
            </a:r>
            <a:r>
              <a:rPr lang="zh-CN" altLang="en-US" sz="1400" dirty="0">
                <a:solidFill>
                  <a:srgbClr val="0070C0"/>
                </a:solidFill>
                <a:latin typeface="微软雅黑" panose="020B0503020204020204" pitchFamily="34" charset="-122"/>
                <a:ea typeface="微软雅黑" panose="020B0503020204020204" pitchFamily="34" charset="-122"/>
                <a:sym typeface="+mn-ea"/>
              </a:rPr>
              <a:t>真正的缺陷</a:t>
            </a:r>
            <a:r>
              <a:rPr lang="zh-CN" altLang="en-US" sz="1400" dirty="0">
                <a:solidFill>
                  <a:srgbClr val="595959"/>
                </a:solidFill>
                <a:latin typeface="微软雅黑" panose="020B0503020204020204" pitchFamily="34" charset="-122"/>
                <a:ea typeface="微软雅黑" panose="020B0503020204020204" pitchFamily="34" charset="-122"/>
                <a:sym typeface="+mn-ea"/>
              </a:rPr>
              <a:t>，则可以</a:t>
            </a:r>
            <a:r>
              <a:rPr lang="zh-CN" altLang="en-US" sz="1400" dirty="0">
                <a:solidFill>
                  <a:srgbClr val="0070C0"/>
                </a:solidFill>
                <a:latin typeface="微软雅黑" panose="020B0503020204020204" pitchFamily="34" charset="-122"/>
                <a:ea typeface="微软雅黑" panose="020B0503020204020204" pitchFamily="34" charset="-122"/>
                <a:sym typeface="+mn-ea"/>
              </a:rPr>
              <a:t>根据缺陷的严重程度或优先级等立即处理或延期处理</a:t>
            </a:r>
            <a:r>
              <a:rPr lang="zh-CN" altLang="en-US" sz="1400" dirty="0">
                <a:solidFill>
                  <a:srgbClr val="595959"/>
                </a:solidFill>
                <a:latin typeface="微软雅黑" panose="020B0503020204020204" pitchFamily="34" charset="-122"/>
                <a:ea typeface="微软雅黑" panose="020B0503020204020204" pitchFamily="34" charset="-122"/>
                <a:sym typeface="+mn-ea"/>
              </a:rPr>
              <a:t>。</a:t>
            </a:r>
          </a:p>
          <a:p>
            <a:pPr algn="just">
              <a:lnSpc>
                <a:spcPct val="150000"/>
              </a:lnSpc>
              <a:buClrTx/>
              <a:buSzTx/>
              <a:buFontTx/>
            </a:pPr>
            <a:r>
              <a:rPr lang="zh-CN" altLang="en-US" sz="1400" dirty="0">
                <a:solidFill>
                  <a:srgbClr val="595959"/>
                </a:solidFill>
                <a:latin typeface="微软雅黑" panose="020B0503020204020204" pitchFamily="34" charset="-122"/>
                <a:ea typeface="微软雅黑" panose="020B0503020204020204" pitchFamily="34" charset="-122"/>
                <a:sym typeface="+mn-ea"/>
              </a:rPr>
              <a:t>（</a:t>
            </a:r>
            <a:r>
              <a:rPr lang="en-US" altLang="zh-CN" sz="1400" dirty="0">
                <a:solidFill>
                  <a:srgbClr val="595959"/>
                </a:solidFill>
                <a:latin typeface="微软雅黑" panose="020B0503020204020204" pitchFamily="34" charset="-122"/>
                <a:ea typeface="微软雅黑" panose="020B0503020204020204" pitchFamily="34" charset="-122"/>
                <a:sym typeface="+mn-ea"/>
              </a:rPr>
              <a:t>5</a:t>
            </a:r>
            <a:r>
              <a:rPr lang="zh-CN" altLang="en-US" sz="1400" dirty="0">
                <a:solidFill>
                  <a:srgbClr val="595959"/>
                </a:solidFill>
                <a:latin typeface="微软雅黑" panose="020B0503020204020204" pitchFamily="34" charset="-122"/>
                <a:ea typeface="微软雅黑" panose="020B0503020204020204" pitchFamily="34" charset="-122"/>
                <a:sym typeface="+mn-ea"/>
              </a:rPr>
              <a:t>）处理：开发人员</a:t>
            </a:r>
            <a:r>
              <a:rPr lang="zh-CN" altLang="en-US" sz="1400" dirty="0">
                <a:solidFill>
                  <a:srgbClr val="0070C0"/>
                </a:solidFill>
                <a:latin typeface="微软雅黑" panose="020B0503020204020204" pitchFamily="34" charset="-122"/>
                <a:ea typeface="微软雅黑" panose="020B0503020204020204" pitchFamily="34" charset="-122"/>
                <a:sym typeface="+mn-ea"/>
              </a:rPr>
              <a:t>修改缺陷</a:t>
            </a:r>
            <a:r>
              <a:rPr lang="zh-CN" altLang="en-US" sz="1400" dirty="0">
                <a:solidFill>
                  <a:srgbClr val="595959"/>
                </a:solidFill>
                <a:latin typeface="微软雅黑" panose="020B0503020204020204" pitchFamily="34" charset="-122"/>
                <a:ea typeface="微软雅黑" panose="020B0503020204020204" pitchFamily="34" charset="-122"/>
                <a:sym typeface="+mn-ea"/>
              </a:rPr>
              <a:t>。</a:t>
            </a:r>
          </a:p>
          <a:p>
            <a:pPr algn="just">
              <a:lnSpc>
                <a:spcPct val="150000"/>
              </a:lnSpc>
              <a:buClrTx/>
              <a:buSzTx/>
              <a:buFontTx/>
            </a:pPr>
            <a:r>
              <a:rPr lang="zh-CN" altLang="en-US" sz="1400" dirty="0">
                <a:solidFill>
                  <a:srgbClr val="595959"/>
                </a:solidFill>
                <a:latin typeface="微软雅黑" panose="020B0503020204020204" pitchFamily="34" charset="-122"/>
                <a:ea typeface="微软雅黑" panose="020B0503020204020204" pitchFamily="34" charset="-122"/>
                <a:sym typeface="+mn-ea"/>
              </a:rPr>
              <a:t>（</a:t>
            </a:r>
            <a:r>
              <a:rPr lang="en-US" altLang="zh-CN" sz="1400" dirty="0">
                <a:solidFill>
                  <a:srgbClr val="595959"/>
                </a:solidFill>
                <a:latin typeface="微软雅黑" panose="020B0503020204020204" pitchFamily="34" charset="-122"/>
                <a:ea typeface="微软雅黑" panose="020B0503020204020204" pitchFamily="34" charset="-122"/>
                <a:sym typeface="+mn-ea"/>
              </a:rPr>
              <a:t>6</a:t>
            </a:r>
            <a:r>
              <a:rPr lang="zh-CN" altLang="en-US" sz="1400" dirty="0">
                <a:solidFill>
                  <a:srgbClr val="595959"/>
                </a:solidFill>
                <a:latin typeface="微软雅黑" panose="020B0503020204020204" pitchFamily="34" charset="-122"/>
                <a:ea typeface="微软雅黑" panose="020B0503020204020204" pitchFamily="34" charset="-122"/>
                <a:sym typeface="+mn-ea"/>
              </a:rPr>
              <a:t>）复测：开发人员</a:t>
            </a:r>
            <a:r>
              <a:rPr lang="zh-CN" altLang="en-US" sz="1400" dirty="0">
                <a:solidFill>
                  <a:srgbClr val="0070C0"/>
                </a:solidFill>
                <a:latin typeface="微软雅黑" panose="020B0503020204020204" pitchFamily="34" charset="-122"/>
                <a:ea typeface="微软雅黑" panose="020B0503020204020204" pitchFamily="34" charset="-122"/>
                <a:sym typeface="+mn-ea"/>
              </a:rPr>
              <a:t>修改好缺陷</a:t>
            </a:r>
            <a:r>
              <a:rPr lang="zh-CN" altLang="en-US" sz="1400" dirty="0">
                <a:solidFill>
                  <a:srgbClr val="595959"/>
                </a:solidFill>
                <a:latin typeface="微软雅黑" panose="020B0503020204020204" pitchFamily="34" charset="-122"/>
                <a:ea typeface="微软雅黑" panose="020B0503020204020204" pitchFamily="34" charset="-122"/>
                <a:sym typeface="+mn-ea"/>
              </a:rPr>
              <a:t>之后，测试人员</a:t>
            </a:r>
            <a:r>
              <a:rPr lang="zh-CN" altLang="en-US" sz="1400" dirty="0">
                <a:solidFill>
                  <a:srgbClr val="0070C0"/>
                </a:solidFill>
                <a:latin typeface="微软雅黑" panose="020B0503020204020204" pitchFamily="34" charset="-122"/>
                <a:ea typeface="微软雅黑" panose="020B0503020204020204" pitchFamily="34" charset="-122"/>
                <a:sym typeface="+mn-ea"/>
              </a:rPr>
              <a:t>重新进行测试</a:t>
            </a:r>
            <a:r>
              <a:rPr lang="zh-CN" altLang="en-US" sz="1400" dirty="0">
                <a:solidFill>
                  <a:srgbClr val="595959"/>
                </a:solidFill>
                <a:latin typeface="微软雅黑" panose="020B0503020204020204" pitchFamily="34" charset="-122"/>
                <a:ea typeface="微软雅黑" panose="020B0503020204020204" pitchFamily="34" charset="-122"/>
                <a:sym typeface="+mn-ea"/>
              </a:rPr>
              <a:t>（复测），检测缺陷是否已经修改。如果</a:t>
            </a:r>
            <a:r>
              <a:rPr lang="zh-CN" altLang="en-US" sz="1400" dirty="0">
                <a:solidFill>
                  <a:srgbClr val="0070C0"/>
                </a:solidFill>
                <a:latin typeface="微软雅黑" panose="020B0503020204020204" pitchFamily="34" charset="-122"/>
                <a:ea typeface="微软雅黑" panose="020B0503020204020204" pitchFamily="34" charset="-122"/>
                <a:sym typeface="+mn-ea"/>
              </a:rPr>
              <a:t>未被正确修改</a:t>
            </a:r>
            <a:r>
              <a:rPr lang="zh-CN" altLang="en-US" sz="1400" dirty="0">
                <a:solidFill>
                  <a:srgbClr val="595959"/>
                </a:solidFill>
                <a:latin typeface="微软雅黑" panose="020B0503020204020204" pitchFamily="34" charset="-122"/>
                <a:ea typeface="微软雅黑" panose="020B0503020204020204" pitchFamily="34" charset="-122"/>
                <a:sym typeface="+mn-ea"/>
              </a:rPr>
              <a:t>，则</a:t>
            </a:r>
            <a:r>
              <a:rPr lang="zh-CN" altLang="en-US" sz="1400" dirty="0">
                <a:solidFill>
                  <a:srgbClr val="0070C0"/>
                </a:solidFill>
                <a:latin typeface="微软雅黑" panose="020B0503020204020204" pitchFamily="34" charset="-122"/>
                <a:ea typeface="微软雅黑" panose="020B0503020204020204" pitchFamily="34" charset="-122"/>
                <a:sym typeface="+mn-ea"/>
              </a:rPr>
              <a:t>重新提交缺陷</a:t>
            </a:r>
            <a:r>
              <a:rPr lang="zh-CN" altLang="en-US" sz="1400" dirty="0">
                <a:solidFill>
                  <a:srgbClr val="595959"/>
                </a:solidFill>
                <a:latin typeface="微软雅黑" panose="020B0503020204020204" pitchFamily="34" charset="-122"/>
                <a:ea typeface="微软雅黑" panose="020B0503020204020204" pitchFamily="34" charset="-122"/>
                <a:sym typeface="+mn-ea"/>
              </a:rPr>
              <a:t>。</a:t>
            </a:r>
          </a:p>
          <a:p>
            <a:pPr algn="just">
              <a:lnSpc>
                <a:spcPct val="150000"/>
              </a:lnSpc>
              <a:buClrTx/>
              <a:buSzTx/>
              <a:buFontTx/>
            </a:pPr>
            <a:r>
              <a:rPr lang="zh-CN" altLang="en-US" sz="1400" dirty="0">
                <a:solidFill>
                  <a:srgbClr val="595959"/>
                </a:solidFill>
                <a:latin typeface="微软雅黑" panose="020B0503020204020204" pitchFamily="34" charset="-122"/>
                <a:ea typeface="微软雅黑" panose="020B0503020204020204" pitchFamily="34" charset="-122"/>
                <a:sym typeface="+mn-ea"/>
              </a:rPr>
              <a:t>（</a:t>
            </a:r>
            <a:r>
              <a:rPr lang="en-US" altLang="zh-CN" sz="1400" dirty="0">
                <a:solidFill>
                  <a:srgbClr val="595959"/>
                </a:solidFill>
                <a:latin typeface="微软雅黑" panose="020B0503020204020204" pitchFamily="34" charset="-122"/>
                <a:ea typeface="微软雅黑" panose="020B0503020204020204" pitchFamily="34" charset="-122"/>
                <a:sym typeface="+mn-ea"/>
              </a:rPr>
              <a:t>7</a:t>
            </a:r>
            <a:r>
              <a:rPr lang="zh-CN" altLang="en-US" sz="1400" dirty="0">
                <a:solidFill>
                  <a:srgbClr val="595959"/>
                </a:solidFill>
                <a:latin typeface="微软雅黑" panose="020B0503020204020204" pitchFamily="34" charset="-122"/>
                <a:ea typeface="微软雅黑" panose="020B0503020204020204" pitchFamily="34" charset="-122"/>
                <a:sym typeface="+mn-ea"/>
              </a:rPr>
              <a:t>）关闭：测试人员重新测试之后，如果</a:t>
            </a:r>
            <a:r>
              <a:rPr lang="zh-CN" altLang="en-US" sz="1400" dirty="0">
                <a:solidFill>
                  <a:srgbClr val="0070C0"/>
                </a:solidFill>
                <a:latin typeface="微软雅黑" panose="020B0503020204020204" pitchFamily="34" charset="-122"/>
                <a:ea typeface="微软雅黑" panose="020B0503020204020204" pitchFamily="34" charset="-122"/>
                <a:sym typeface="+mn-ea"/>
              </a:rPr>
              <a:t>缺陷已经被正确修改</a:t>
            </a:r>
            <a:r>
              <a:rPr lang="zh-CN" altLang="en-US" sz="1400" dirty="0">
                <a:solidFill>
                  <a:srgbClr val="595959"/>
                </a:solidFill>
                <a:latin typeface="微软雅黑" panose="020B0503020204020204" pitchFamily="34" charset="-122"/>
                <a:ea typeface="微软雅黑" panose="020B0503020204020204" pitchFamily="34" charset="-122"/>
                <a:sym typeface="+mn-ea"/>
              </a:rPr>
              <a:t>，则将</a:t>
            </a:r>
            <a:r>
              <a:rPr lang="zh-CN" altLang="en-US" sz="1400" dirty="0">
                <a:solidFill>
                  <a:srgbClr val="0070C0"/>
                </a:solidFill>
                <a:latin typeface="微软雅黑" panose="020B0503020204020204" pitchFamily="34" charset="-122"/>
                <a:ea typeface="微软雅黑" panose="020B0503020204020204" pitchFamily="34" charset="-122"/>
                <a:sym typeface="+mn-ea"/>
              </a:rPr>
              <a:t>缺陷关闭</a:t>
            </a:r>
            <a:r>
              <a:rPr lang="zh-CN" altLang="en-US" sz="1400" dirty="0">
                <a:solidFill>
                  <a:srgbClr val="595959"/>
                </a:solidFill>
                <a:latin typeface="微软雅黑" panose="020B0503020204020204" pitchFamily="34" charset="-122"/>
                <a:ea typeface="微软雅黑" panose="020B0503020204020204" pitchFamily="34" charset="-122"/>
                <a:sym typeface="+mn-ea"/>
              </a:rPr>
              <a:t>，整个缺陷处理完成。</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形 22" descr="讲故事"/>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67" y="1398145"/>
            <a:ext cx="1015842" cy="1015842"/>
          </a:xfrm>
          <a:prstGeom prst="rect">
            <a:avLst/>
          </a:prstGeom>
        </p:spPr>
      </p:pic>
      <p:sp>
        <p:nvSpPr>
          <p:cNvPr id="25" name="矩形 24"/>
          <p:cNvSpPr/>
          <p:nvPr/>
        </p:nvSpPr>
        <p:spPr>
          <a:xfrm>
            <a:off x="2150286" y="1608089"/>
            <a:ext cx="2513792"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2107565" y="1701800"/>
            <a:ext cx="2557145" cy="460375"/>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软件缺陷报告</a:t>
            </a:r>
          </a:p>
        </p:txBody>
      </p:sp>
      <p:sp>
        <p:nvSpPr>
          <p:cNvPr id="27" name="矩形 26"/>
          <p:cNvSpPr/>
          <p:nvPr/>
        </p:nvSpPr>
        <p:spPr>
          <a:xfrm>
            <a:off x="4768664"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4956363"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0" name="矩形 19"/>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4" name="文本框 3"/>
          <p:cNvSpPr txBox="1"/>
          <p:nvPr/>
        </p:nvSpPr>
        <p:spPr>
          <a:xfrm>
            <a:off x="4295140" y="2421890"/>
            <a:ext cx="6002020" cy="3230245"/>
          </a:xfrm>
          <a:prstGeom prst="rect">
            <a:avLst/>
          </a:prstGeom>
          <a:noFill/>
        </p:spPr>
        <p:txBody>
          <a:bodyPr wrap="square" rtlCol="0" anchor="t">
            <a:noAutofit/>
          </a:bodyPr>
          <a:lstStyle/>
          <a:p>
            <a:pPr>
              <a:lnSpc>
                <a:spcPct val="150000"/>
              </a:lnSpc>
            </a:pPr>
            <a:r>
              <a:rPr sz="2000" dirty="0">
                <a:solidFill>
                  <a:srgbClr val="595959"/>
                </a:solidFill>
                <a:latin typeface="微软雅黑" panose="020B0503020204020204" pitchFamily="34" charset="-122"/>
                <a:ea typeface="微软雅黑" panose="020B0503020204020204" pitchFamily="34" charset="-122"/>
              </a:rPr>
              <a:t>在实际软件测试过程中，测试人员在提交软件测试时都会按照公司</a:t>
            </a:r>
            <a:r>
              <a:rPr lang="zh-CN" altLang="en-US" sz="2000" dirty="0">
                <a:solidFill>
                  <a:srgbClr val="0070C0"/>
                </a:solidFill>
                <a:latin typeface="微软雅黑" panose="020B0503020204020204" pitchFamily="34" charset="-122"/>
                <a:ea typeface="微软雅黑" panose="020B0503020204020204" pitchFamily="34" charset="-122"/>
              </a:rPr>
              <a:t>规定的模板将缺陷的详细情况记录下来并生成软件缺陷报告</a:t>
            </a:r>
            <a:r>
              <a:rPr lang="zh-CN" altLang="en-US" sz="2000" dirty="0">
                <a:solidFill>
                  <a:srgbClr val="595959"/>
                </a:solidFill>
                <a:latin typeface="微软雅黑" panose="020B0503020204020204" pitchFamily="34" charset="-122"/>
                <a:ea typeface="微软雅黑" panose="020B0503020204020204" pitchFamily="34" charset="-122"/>
              </a:rPr>
              <a:t>。</a:t>
            </a:r>
            <a:r>
              <a:rPr sz="2000" dirty="0" err="1">
                <a:solidFill>
                  <a:srgbClr val="595959"/>
                </a:solidFill>
                <a:latin typeface="微软雅黑" panose="020B0503020204020204" pitchFamily="34" charset="-122"/>
                <a:ea typeface="微软雅黑" panose="020B0503020204020204" pitchFamily="34" charset="-122"/>
              </a:rPr>
              <a:t>每个公司的</a:t>
            </a:r>
            <a:r>
              <a:rPr lang="zh-CN" altLang="en-US" sz="2000" dirty="0">
                <a:solidFill>
                  <a:srgbClr val="0070C0"/>
                </a:solidFill>
                <a:latin typeface="微软雅黑" panose="020B0503020204020204" pitchFamily="34" charset="-122"/>
                <a:ea typeface="微软雅黑" panose="020B0503020204020204" pitchFamily="34" charset="-122"/>
              </a:rPr>
              <a:t>软件缺陷报告模板</a:t>
            </a:r>
            <a:r>
              <a:rPr lang="zh-CN" altLang="en-US" sz="2000" dirty="0">
                <a:solidFill>
                  <a:srgbClr val="595959"/>
                </a:solidFill>
                <a:latin typeface="微软雅黑" panose="020B0503020204020204" pitchFamily="34" charset="-122"/>
                <a:ea typeface="微软雅黑" panose="020B0503020204020204" pitchFamily="34" charset="-122"/>
              </a:rPr>
              <a:t>通常</a:t>
            </a:r>
            <a:r>
              <a:rPr sz="2000" dirty="0" err="1">
                <a:solidFill>
                  <a:srgbClr val="595959"/>
                </a:solidFill>
                <a:latin typeface="微软雅黑" panose="020B0503020204020204" pitchFamily="34" charset="-122"/>
                <a:ea typeface="微软雅黑" panose="020B0503020204020204" pitchFamily="34" charset="-122"/>
              </a:rPr>
              <a:t>并不相同，但一般都会</a:t>
            </a:r>
            <a:r>
              <a:rPr lang="zh-CN" altLang="en-US" sz="2000" dirty="0">
                <a:solidFill>
                  <a:srgbClr val="0070C0"/>
                </a:solidFill>
                <a:latin typeface="微软雅黑" panose="020B0503020204020204" pitchFamily="34" charset="-122"/>
                <a:ea typeface="微软雅黑" panose="020B0503020204020204" pitchFamily="34" charset="-122"/>
              </a:rPr>
              <a:t>包括缺陷的</a:t>
            </a:r>
            <a:r>
              <a:rPr lang="en-US" altLang="zh-CN" sz="2000" dirty="0">
                <a:solidFill>
                  <a:srgbClr val="0070C0"/>
                </a:solidFill>
                <a:latin typeface="微软雅黑" panose="020B0503020204020204" pitchFamily="34" charset="-122"/>
                <a:ea typeface="微软雅黑" panose="020B0503020204020204" pitchFamily="34" charset="-122"/>
              </a:rPr>
              <a:t>ID</a:t>
            </a:r>
            <a:r>
              <a:rPr lang="zh-CN" altLang="en-US" sz="2000" dirty="0">
                <a:solidFill>
                  <a:srgbClr val="0070C0"/>
                </a:solidFill>
                <a:latin typeface="微软雅黑" panose="020B0503020204020204" pitchFamily="34" charset="-122"/>
                <a:ea typeface="微软雅黑" panose="020B0503020204020204" pitchFamily="34" charset="-122"/>
              </a:rPr>
              <a:t>、类型、严重程度、优先级、</a:t>
            </a:r>
            <a:r>
              <a:rPr lang="zh-CN" altLang="en-US" sz="2000" dirty="0">
                <a:solidFill>
                  <a:srgbClr val="595959"/>
                </a:solidFill>
                <a:latin typeface="微软雅黑" panose="020B0503020204020204" pitchFamily="34" charset="-122"/>
                <a:ea typeface="微软雅黑" panose="020B0503020204020204" pitchFamily="34" charset="-122"/>
              </a:rPr>
              <a:t>以及</a:t>
            </a:r>
            <a:r>
              <a:rPr lang="zh-CN" altLang="en-US" sz="2000" dirty="0">
                <a:solidFill>
                  <a:srgbClr val="0070C0"/>
                </a:solidFill>
                <a:latin typeface="微软雅黑" panose="020B0503020204020204" pitchFamily="34" charset="-122"/>
                <a:ea typeface="微软雅黑" panose="020B0503020204020204" pitchFamily="34" charset="-122"/>
              </a:rPr>
              <a:t>测试环境</a:t>
            </a:r>
            <a:r>
              <a:rPr sz="2000" dirty="0">
                <a:solidFill>
                  <a:srgbClr val="595959"/>
                </a:solidFill>
                <a:latin typeface="微软雅黑" panose="020B0503020204020204" pitchFamily="34" charset="-122"/>
                <a:ea typeface="微软雅黑" panose="020B0503020204020204" pitchFamily="34" charset="-122"/>
              </a:rPr>
              <a:t>等，有时还会有测试人员的建议。</a:t>
            </a:r>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软件缺陷的处理流程</a:t>
            </a:r>
          </a:p>
        </p:txBody>
      </p:sp>
      <p:pic>
        <p:nvPicPr>
          <p:cNvPr id="174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2980" y="2493645"/>
            <a:ext cx="2801620" cy="373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软件缺陷的处理流程</a:t>
            </a:r>
          </a:p>
        </p:txBody>
      </p:sp>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70000"/>
            <a:ext cx="4747260" cy="4672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3092099" y="1725581"/>
            <a:ext cx="1233467" cy="75156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a:lnSpc>
                <a:spcPct val="150000"/>
              </a:lnSpc>
              <a:buNone/>
              <a:defRPr/>
            </a:pPr>
            <a:r>
              <a:rPr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charset="0"/>
              </a:rPr>
              <a:t>注 意</a:t>
            </a:r>
            <a:endParaRPr lang="zh-CN" altLang="zh-CN" b="1" dirty="0">
              <a:solidFill>
                <a:srgbClr val="FF0000"/>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3" name="文本框 2"/>
          <p:cNvSpPr txBox="1"/>
          <p:nvPr/>
        </p:nvSpPr>
        <p:spPr>
          <a:xfrm>
            <a:off x="5015230" y="2089785"/>
            <a:ext cx="6119976" cy="2679065"/>
          </a:xfrm>
          <a:prstGeom prst="rect">
            <a:avLst/>
          </a:prstGeom>
          <a:noFill/>
        </p:spPr>
        <p:txBody>
          <a:bodyPr wrap="square" rtlCol="0" anchor="t">
            <a:noAutofit/>
          </a:bodyPr>
          <a:lstStyle/>
          <a:p>
            <a:pPr>
              <a:lnSpc>
                <a:spcPct val="150000"/>
              </a:lnSpc>
            </a:pPr>
            <a:r>
              <a:rPr sz="2000">
                <a:solidFill>
                  <a:srgbClr val="595959"/>
                </a:solidFill>
                <a:latin typeface="微软雅黑" panose="020B0503020204020204" pitchFamily="34" charset="-122"/>
                <a:ea typeface="微软雅黑" panose="020B0503020204020204" pitchFamily="34" charset="-122"/>
              </a:rPr>
              <a:t>在编写</a:t>
            </a:r>
            <a:r>
              <a:rPr lang="zh-CN" altLang="en-US" sz="2000">
                <a:solidFill>
                  <a:srgbClr val="595959"/>
                </a:solidFill>
                <a:latin typeface="微软雅黑" panose="020B0503020204020204" pitchFamily="34" charset="-122"/>
                <a:ea typeface="微软雅黑" panose="020B0503020204020204" pitchFamily="34" charset="-122"/>
              </a:rPr>
              <a:t>软件</a:t>
            </a:r>
            <a:r>
              <a:rPr sz="2000">
                <a:solidFill>
                  <a:srgbClr val="595959"/>
                </a:solidFill>
                <a:latin typeface="微软雅黑" panose="020B0503020204020204" pitchFamily="34" charset="-122"/>
                <a:ea typeface="微软雅黑" panose="020B0503020204020204" pitchFamily="34" charset="-122"/>
              </a:rPr>
              <a:t>缺陷报告时要</a:t>
            </a:r>
            <a:r>
              <a:rPr sz="2000">
                <a:solidFill>
                  <a:srgbClr val="0070C0"/>
                </a:solidFill>
                <a:latin typeface="微软雅黑" panose="020B0503020204020204" pitchFamily="34" charset="-122"/>
                <a:ea typeface="微软雅黑" panose="020B0503020204020204" pitchFamily="34" charset="-122"/>
              </a:rPr>
              <a:t>注意</a:t>
            </a:r>
            <a:r>
              <a:rPr sz="2000">
                <a:solidFill>
                  <a:srgbClr val="595959"/>
                </a:solidFill>
                <a:latin typeface="微软雅黑" panose="020B0503020204020204" pitchFamily="34" charset="-122"/>
                <a:ea typeface="微软雅黑" panose="020B0503020204020204" pitchFamily="34" charset="-122"/>
              </a:rPr>
              <a:t>以下事项</a:t>
            </a:r>
            <a:r>
              <a:rPr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charset="0"/>
              <a:buChar char="l"/>
            </a:pPr>
            <a:r>
              <a:rPr sz="2000">
                <a:solidFill>
                  <a:srgbClr val="595959"/>
                </a:solidFill>
                <a:latin typeface="微软雅黑" panose="020B0503020204020204" pitchFamily="34" charset="-122"/>
                <a:ea typeface="微软雅黑" panose="020B0503020204020204" pitchFamily="34" charset="-122"/>
              </a:rPr>
              <a:t>每个</a:t>
            </a:r>
            <a:r>
              <a:rPr sz="2000">
                <a:solidFill>
                  <a:srgbClr val="0070C0"/>
                </a:solidFill>
                <a:latin typeface="微软雅黑" panose="020B0503020204020204" pitchFamily="34" charset="-122"/>
                <a:ea typeface="微软雅黑" panose="020B0503020204020204" pitchFamily="34" charset="-122"/>
              </a:rPr>
              <a:t>缺陷</a:t>
            </a:r>
            <a:r>
              <a:rPr sz="2000">
                <a:solidFill>
                  <a:srgbClr val="595959"/>
                </a:solidFill>
                <a:latin typeface="微软雅黑" panose="020B0503020204020204" pitchFamily="34" charset="-122"/>
                <a:ea typeface="微软雅黑" panose="020B0503020204020204" pitchFamily="34" charset="-122"/>
              </a:rPr>
              <a:t>都</a:t>
            </a:r>
            <a:r>
              <a:rPr sz="2000">
                <a:solidFill>
                  <a:srgbClr val="0070C0"/>
                </a:solidFill>
                <a:latin typeface="微软雅黑" panose="020B0503020204020204" pitchFamily="34" charset="-122"/>
                <a:ea typeface="微软雅黑" panose="020B0503020204020204" pitchFamily="34" charset="-122"/>
              </a:rPr>
              <a:t>有</a:t>
            </a:r>
            <a:r>
              <a:rPr sz="2000">
                <a:solidFill>
                  <a:srgbClr val="595959"/>
                </a:solidFill>
                <a:latin typeface="微软雅黑" panose="020B0503020204020204" pitchFamily="34" charset="-122"/>
                <a:ea typeface="微软雅黑" panose="020B0503020204020204" pitchFamily="34" charset="-122"/>
              </a:rPr>
              <a:t>一个</a:t>
            </a:r>
            <a:r>
              <a:rPr sz="2000">
                <a:solidFill>
                  <a:srgbClr val="0070C0"/>
                </a:solidFill>
                <a:latin typeface="微软雅黑" panose="020B0503020204020204" pitchFamily="34" charset="-122"/>
                <a:ea typeface="微软雅黑" panose="020B0503020204020204" pitchFamily="34" charset="-122"/>
              </a:rPr>
              <a:t>唯一</a:t>
            </a:r>
            <a:r>
              <a:rPr sz="2000">
                <a:solidFill>
                  <a:srgbClr val="595959"/>
                </a:solidFill>
                <a:latin typeface="微软雅黑" panose="020B0503020204020204" pitchFamily="34" charset="-122"/>
                <a:ea typeface="微软雅黑" panose="020B0503020204020204" pitchFamily="34" charset="-122"/>
              </a:rPr>
              <a:t>的</a:t>
            </a:r>
            <a:r>
              <a:rPr lang="en-US" sz="2000">
                <a:solidFill>
                  <a:srgbClr val="0070C0"/>
                </a:solidFill>
                <a:latin typeface="微软雅黑" panose="020B0503020204020204" pitchFamily="34" charset="-122"/>
                <a:ea typeface="微软雅黑" panose="020B0503020204020204" pitchFamily="34" charset="-122"/>
              </a:rPr>
              <a:t>ID</a:t>
            </a:r>
            <a:r>
              <a:rPr sz="2000">
                <a:solidFill>
                  <a:srgbClr val="595959"/>
                </a:solidFill>
                <a:latin typeface="微软雅黑" panose="020B0503020204020204" pitchFamily="34" charset="-122"/>
                <a:ea typeface="微软雅黑" panose="020B0503020204020204" pitchFamily="34" charset="-122"/>
              </a:rPr>
              <a:t>，</a:t>
            </a:r>
            <a:r>
              <a:rPr sz="2000" dirty="0">
                <a:solidFill>
                  <a:srgbClr val="595959"/>
                </a:solidFill>
                <a:latin typeface="微软雅黑" panose="020B0503020204020204" pitchFamily="34" charset="-122"/>
                <a:ea typeface="微软雅黑" panose="020B0503020204020204" pitchFamily="34" charset="-122"/>
              </a:rPr>
              <a:t>这是缺陷的标识。</a:t>
            </a:r>
          </a:p>
          <a:p>
            <a:pPr marL="342900" indent="-342900">
              <a:lnSpc>
                <a:spcPct val="150000"/>
              </a:lnSpc>
              <a:buFont typeface="Wingdings" panose="05000000000000000000" charset="0"/>
              <a:buChar char="l"/>
            </a:pPr>
            <a:r>
              <a:rPr sz="2000" dirty="0">
                <a:solidFill>
                  <a:srgbClr val="595959"/>
                </a:solidFill>
                <a:latin typeface="微软雅黑" panose="020B0503020204020204" pitchFamily="34" charset="-122"/>
                <a:ea typeface="微软雅黑" panose="020B0503020204020204" pitchFamily="34" charset="-122"/>
                <a:sym typeface="+mn-ea"/>
              </a:rPr>
              <a:t>缺陷要</a:t>
            </a:r>
            <a:r>
              <a:rPr sz="2000" dirty="0">
                <a:solidFill>
                  <a:srgbClr val="0070C0"/>
                </a:solidFill>
                <a:latin typeface="微软雅黑" panose="020B0503020204020204" pitchFamily="34" charset="-122"/>
                <a:ea typeface="微软雅黑" panose="020B0503020204020204" pitchFamily="34" charset="-122"/>
                <a:sym typeface="+mn-ea"/>
              </a:rPr>
              <a:t>有重现步骤</a:t>
            </a:r>
            <a:r>
              <a:rPr sz="2000" dirty="0">
                <a:solidFill>
                  <a:srgbClr val="595959"/>
                </a:solidFill>
                <a:latin typeface="微软雅黑" panose="020B0503020204020204" pitchFamily="34" charset="-122"/>
                <a:ea typeface="微软雅黑" panose="020B0503020204020204" pitchFamily="34" charset="-122"/>
                <a:sym typeface="+mn-ea"/>
              </a:rPr>
              <a:t>。</a:t>
            </a:r>
          </a:p>
          <a:p>
            <a:pPr marL="342900" indent="-342900">
              <a:lnSpc>
                <a:spcPct val="150000"/>
              </a:lnSpc>
              <a:buFont typeface="Wingdings" panose="05000000000000000000" charset="0"/>
              <a:buChar char="l"/>
            </a:pPr>
            <a:r>
              <a:rPr sz="2000" dirty="0">
                <a:solidFill>
                  <a:srgbClr val="595959"/>
                </a:solidFill>
                <a:latin typeface="微软雅黑" panose="020B0503020204020204" pitchFamily="34" charset="-122"/>
                <a:ea typeface="微软雅黑" panose="020B0503020204020204" pitchFamily="34" charset="-122"/>
                <a:sym typeface="+mn-ea"/>
              </a:rPr>
              <a:t>一个缺陷</a:t>
            </a:r>
            <a:r>
              <a:rPr sz="2000" dirty="0">
                <a:solidFill>
                  <a:srgbClr val="0070C0"/>
                </a:solidFill>
                <a:latin typeface="微软雅黑" panose="020B0503020204020204" pitchFamily="34" charset="-122"/>
                <a:ea typeface="微软雅黑" panose="020B0503020204020204" pitchFamily="34" charset="-122"/>
                <a:sym typeface="+mn-ea"/>
              </a:rPr>
              <a:t>生成一份报告</a:t>
            </a:r>
            <a:r>
              <a:rPr sz="2000" dirty="0">
                <a:solidFill>
                  <a:srgbClr val="595959"/>
                </a:solidFill>
                <a:latin typeface="微软雅黑" panose="020B0503020204020204" pitchFamily="34" charset="-122"/>
                <a:ea typeface="微软雅黑" panose="020B0503020204020204" pitchFamily="34" charset="-122"/>
                <a:sym typeface="+mn-ea"/>
              </a:rPr>
              <a:t>。</a:t>
            </a:r>
          </a:p>
          <a:p>
            <a:pPr marL="342900" indent="-342900">
              <a:lnSpc>
                <a:spcPct val="150000"/>
              </a:lnSpc>
              <a:buFont typeface="Wingdings" panose="05000000000000000000" charset="0"/>
              <a:buChar char="l"/>
            </a:pPr>
            <a:r>
              <a:rPr lang="zh-CN" altLang="en-US" sz="2000">
                <a:solidFill>
                  <a:srgbClr val="595959"/>
                </a:solidFill>
                <a:latin typeface="微软雅黑" panose="020B0503020204020204" pitchFamily="34" charset="-122"/>
                <a:ea typeface="微软雅黑" panose="020B0503020204020204" pitchFamily="34" charset="-122"/>
                <a:sym typeface="+mn-ea"/>
              </a:rPr>
              <a:t>软件</a:t>
            </a:r>
            <a:r>
              <a:rPr sz="2000">
                <a:solidFill>
                  <a:srgbClr val="595959"/>
                </a:solidFill>
                <a:latin typeface="微软雅黑" panose="020B0503020204020204" pitchFamily="34" charset="-122"/>
                <a:ea typeface="微软雅黑" panose="020B0503020204020204" pitchFamily="34" charset="-122"/>
                <a:sym typeface="+mn-ea"/>
              </a:rPr>
              <a:t>缺陷报告</a:t>
            </a:r>
            <a:r>
              <a:rPr sz="2000">
                <a:solidFill>
                  <a:srgbClr val="0070C0"/>
                </a:solidFill>
                <a:latin typeface="微软雅黑" panose="020B0503020204020204" pitchFamily="34" charset="-122"/>
                <a:ea typeface="微软雅黑" panose="020B0503020204020204" pitchFamily="34" charset="-122"/>
                <a:sym typeface="+mn-ea"/>
              </a:rPr>
              <a:t>要整洁</a:t>
            </a:r>
            <a:r>
              <a:rPr sz="2000" dirty="0">
                <a:solidFill>
                  <a:srgbClr val="0070C0"/>
                </a:solidFill>
                <a:latin typeface="微软雅黑" panose="020B0503020204020204" pitchFamily="34" charset="-122"/>
                <a:ea typeface="微软雅黑" panose="020B0503020204020204" pitchFamily="34" charset="-122"/>
                <a:sym typeface="+mn-ea"/>
              </a:rPr>
              <a:t>、完整</a:t>
            </a:r>
            <a:r>
              <a:rPr sz="2000" dirty="0">
                <a:solidFill>
                  <a:srgbClr val="595959"/>
                </a:solidFill>
                <a:latin typeface="微软雅黑" panose="020B0503020204020204" pitchFamily="34" charset="-122"/>
                <a:ea typeface="微软雅黑" panose="020B0503020204020204" pitchFamily="34" charset="-122"/>
                <a:sym typeface="+mn-ea"/>
              </a:rPr>
              <a:t>。</a:t>
            </a:r>
            <a:endPar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	</a:t>
            </a:r>
          </a:p>
          <a:p>
            <a:pPr>
              <a:lnSpc>
                <a:spcPct val="150000"/>
              </a:lnSpc>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	</a:t>
            </a:r>
          </a:p>
          <a:p>
            <a:pPr>
              <a:lnSpc>
                <a:spcPct val="150000"/>
              </a:lnSpc>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	</a:t>
            </a:r>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0" name="矩形 19"/>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常见的软件缺陷管理工具</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，能够列举3个常用的软件缺陷管理工具</a:t>
            </a:r>
            <a:endParaRPr lang="zh-CN"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35" y="266700"/>
            <a:ext cx="452755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常见的软件缺陷管理工具</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52755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常见的软件缺陷管理工具</a:t>
            </a:r>
          </a:p>
        </p:txBody>
      </p:sp>
      <p:cxnSp>
        <p:nvCxnSpPr>
          <p:cNvPr id="3" name="直接连接符 41"/>
          <p:cNvCxnSpPr/>
          <p:nvPr/>
        </p:nvCxnSpPr>
        <p:spPr>
          <a:xfrm flipH="1">
            <a:off x="3689671" y="1564740"/>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4" name="直接连接符 42"/>
          <p:cNvCxnSpPr/>
          <p:nvPr/>
        </p:nvCxnSpPr>
        <p:spPr>
          <a:xfrm flipH="1">
            <a:off x="3689671" y="3305518"/>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5" name="直接连接符 43"/>
          <p:cNvCxnSpPr/>
          <p:nvPr/>
        </p:nvCxnSpPr>
        <p:spPr>
          <a:xfrm flipH="1">
            <a:off x="3689671" y="5018594"/>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6" name="直接连接符 44"/>
          <p:cNvCxnSpPr/>
          <p:nvPr/>
        </p:nvCxnSpPr>
        <p:spPr>
          <a:xfrm>
            <a:off x="3689671" y="1564739"/>
            <a:ext cx="0" cy="3434193"/>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7" name="椭圆 6"/>
          <p:cNvSpPr/>
          <p:nvPr/>
        </p:nvSpPr>
        <p:spPr>
          <a:xfrm>
            <a:off x="4883204" y="1033057"/>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8" name="椭圆 7"/>
          <p:cNvSpPr/>
          <p:nvPr/>
        </p:nvSpPr>
        <p:spPr>
          <a:xfrm>
            <a:off x="4883204" y="2751645"/>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9" name="椭圆 8"/>
          <p:cNvSpPr/>
          <p:nvPr/>
        </p:nvSpPr>
        <p:spPr>
          <a:xfrm>
            <a:off x="4883204" y="4445060"/>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0" name="椭圆 9"/>
          <p:cNvSpPr/>
          <p:nvPr/>
        </p:nvSpPr>
        <p:spPr>
          <a:xfrm>
            <a:off x="4965817" y="2843619"/>
            <a:ext cx="923799" cy="92379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1" name="Freeform 176"/>
          <p:cNvSpPr>
            <a:spLocks noEditPoints="1"/>
          </p:cNvSpPr>
          <p:nvPr/>
        </p:nvSpPr>
        <p:spPr bwMode="auto">
          <a:xfrm>
            <a:off x="5160853" y="3058492"/>
            <a:ext cx="605367" cy="575733"/>
          </a:xfrm>
          <a:custGeom>
            <a:avLst/>
            <a:gdLst>
              <a:gd name="T0" fmla="*/ 93 w 121"/>
              <a:gd name="T1" fmla="*/ 56 h 115"/>
              <a:gd name="T2" fmla="*/ 90 w 121"/>
              <a:gd name="T3" fmla="*/ 60 h 115"/>
              <a:gd name="T4" fmla="*/ 86 w 121"/>
              <a:gd name="T5" fmla="*/ 40 h 115"/>
              <a:gd name="T6" fmla="*/ 82 w 121"/>
              <a:gd name="T7" fmla="*/ 82 h 115"/>
              <a:gd name="T8" fmla="*/ 75 w 121"/>
              <a:gd name="T9" fmla="*/ 89 h 115"/>
              <a:gd name="T10" fmla="*/ 69 w 121"/>
              <a:gd name="T11" fmla="*/ 44 h 115"/>
              <a:gd name="T12" fmla="*/ 59 w 121"/>
              <a:gd name="T13" fmla="*/ 28 h 115"/>
              <a:gd name="T14" fmla="*/ 82 w 121"/>
              <a:gd name="T15" fmla="*/ 13 h 115"/>
              <a:gd name="T16" fmla="*/ 59 w 121"/>
              <a:gd name="T17" fmla="*/ 10 h 115"/>
              <a:gd name="T18" fmla="*/ 116 w 121"/>
              <a:gd name="T19" fmla="*/ 0 h 115"/>
              <a:gd name="T20" fmla="*/ 113 w 121"/>
              <a:gd name="T21" fmla="*/ 21 h 115"/>
              <a:gd name="T22" fmla="*/ 121 w 121"/>
              <a:gd name="T23" fmla="*/ 23 h 115"/>
              <a:gd name="T24" fmla="*/ 121 w 121"/>
              <a:gd name="T25" fmla="*/ 28 h 115"/>
              <a:gd name="T26" fmla="*/ 110 w 121"/>
              <a:gd name="T27" fmla="*/ 39 h 115"/>
              <a:gd name="T28" fmla="*/ 93 w 121"/>
              <a:gd name="T29" fmla="*/ 42 h 115"/>
              <a:gd name="T30" fmla="*/ 5 w 121"/>
              <a:gd name="T31" fmla="*/ 40 h 115"/>
              <a:gd name="T32" fmla="*/ 56 w 121"/>
              <a:gd name="T33" fmla="*/ 37 h 115"/>
              <a:gd name="T34" fmla="*/ 5 w 121"/>
              <a:gd name="T35" fmla="*/ 40 h 115"/>
              <a:gd name="T36" fmla="*/ 7 w 121"/>
              <a:gd name="T37" fmla="*/ 49 h 115"/>
              <a:gd name="T38" fmla="*/ 29 w 121"/>
              <a:gd name="T39" fmla="*/ 64 h 115"/>
              <a:gd name="T40" fmla="*/ 52 w 121"/>
              <a:gd name="T41" fmla="*/ 108 h 115"/>
              <a:gd name="T42" fmla="*/ 58 w 121"/>
              <a:gd name="T43" fmla="*/ 46 h 115"/>
              <a:gd name="T44" fmla="*/ 42 w 121"/>
              <a:gd name="T45" fmla="*/ 98 h 115"/>
              <a:gd name="T46" fmla="*/ 44 w 121"/>
              <a:gd name="T47" fmla="*/ 107 h 115"/>
              <a:gd name="T48" fmla="*/ 42 w 121"/>
              <a:gd name="T49" fmla="*/ 98 h 115"/>
              <a:gd name="T50" fmla="*/ 51 w 121"/>
              <a:gd name="T51" fmla="*/ 11 h 115"/>
              <a:gd name="T52" fmla="*/ 39 w 121"/>
              <a:gd name="T53" fmla="*/ 7 h 115"/>
              <a:gd name="T54" fmla="*/ 36 w 121"/>
              <a:gd name="T55" fmla="*/ 8 h 115"/>
              <a:gd name="T56" fmla="*/ 16 w 121"/>
              <a:gd name="T57" fmla="*/ 25 h 115"/>
              <a:gd name="T58" fmla="*/ 12 w 121"/>
              <a:gd name="T59" fmla="*/ 12 h 115"/>
              <a:gd name="T60" fmla="*/ 12 w 121"/>
              <a:gd name="T61" fmla="*/ 26 h 115"/>
              <a:gd name="T62" fmla="*/ 7 w 121"/>
              <a:gd name="T63" fmla="*/ 13 h 115"/>
              <a:gd name="T64" fmla="*/ 4 w 121"/>
              <a:gd name="T65" fmla="*/ 3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15">
                <a:moveTo>
                  <a:pt x="93" y="42"/>
                </a:moveTo>
                <a:cubicBezTo>
                  <a:pt x="93" y="56"/>
                  <a:pt x="93" y="56"/>
                  <a:pt x="93" y="56"/>
                </a:cubicBezTo>
                <a:cubicBezTo>
                  <a:pt x="93" y="58"/>
                  <a:pt x="92" y="60"/>
                  <a:pt x="90" y="60"/>
                </a:cubicBezTo>
                <a:cubicBezTo>
                  <a:pt x="90" y="60"/>
                  <a:pt x="90" y="60"/>
                  <a:pt x="90" y="60"/>
                </a:cubicBezTo>
                <a:cubicBezTo>
                  <a:pt x="88" y="60"/>
                  <a:pt x="86" y="58"/>
                  <a:pt x="86" y="56"/>
                </a:cubicBezTo>
                <a:cubicBezTo>
                  <a:pt x="86" y="40"/>
                  <a:pt x="86" y="40"/>
                  <a:pt x="86" y="40"/>
                </a:cubicBezTo>
                <a:cubicBezTo>
                  <a:pt x="85" y="42"/>
                  <a:pt x="84" y="43"/>
                  <a:pt x="82" y="44"/>
                </a:cubicBezTo>
                <a:cubicBezTo>
                  <a:pt x="82" y="82"/>
                  <a:pt x="82" y="82"/>
                  <a:pt x="82" y="82"/>
                </a:cubicBezTo>
                <a:cubicBezTo>
                  <a:pt x="82" y="86"/>
                  <a:pt x="79" y="89"/>
                  <a:pt x="75" y="89"/>
                </a:cubicBezTo>
                <a:cubicBezTo>
                  <a:pt x="75" y="89"/>
                  <a:pt x="75" y="89"/>
                  <a:pt x="75" y="89"/>
                </a:cubicBezTo>
                <a:cubicBezTo>
                  <a:pt x="72" y="89"/>
                  <a:pt x="69" y="86"/>
                  <a:pt x="69" y="82"/>
                </a:cubicBezTo>
                <a:cubicBezTo>
                  <a:pt x="69" y="44"/>
                  <a:pt x="69" y="44"/>
                  <a:pt x="69" y="44"/>
                </a:cubicBezTo>
                <a:cubicBezTo>
                  <a:pt x="63" y="42"/>
                  <a:pt x="59" y="36"/>
                  <a:pt x="59" y="29"/>
                </a:cubicBezTo>
                <a:cubicBezTo>
                  <a:pt x="59" y="29"/>
                  <a:pt x="59" y="28"/>
                  <a:pt x="59" y="28"/>
                </a:cubicBezTo>
                <a:cubicBezTo>
                  <a:pt x="59" y="16"/>
                  <a:pt x="59" y="16"/>
                  <a:pt x="59" y="16"/>
                </a:cubicBezTo>
                <a:cubicBezTo>
                  <a:pt x="82" y="13"/>
                  <a:pt x="82" y="13"/>
                  <a:pt x="82" y="13"/>
                </a:cubicBezTo>
                <a:cubicBezTo>
                  <a:pt x="84" y="10"/>
                  <a:pt x="84" y="10"/>
                  <a:pt x="84" y="10"/>
                </a:cubicBezTo>
                <a:cubicBezTo>
                  <a:pt x="59" y="10"/>
                  <a:pt x="59" y="10"/>
                  <a:pt x="59" y="10"/>
                </a:cubicBezTo>
                <a:cubicBezTo>
                  <a:pt x="59" y="6"/>
                  <a:pt x="59" y="6"/>
                  <a:pt x="59" y="6"/>
                </a:cubicBezTo>
                <a:cubicBezTo>
                  <a:pt x="116" y="0"/>
                  <a:pt x="116" y="0"/>
                  <a:pt x="116" y="0"/>
                </a:cubicBezTo>
                <a:cubicBezTo>
                  <a:pt x="121" y="16"/>
                  <a:pt x="121" y="16"/>
                  <a:pt x="121" y="16"/>
                </a:cubicBezTo>
                <a:cubicBezTo>
                  <a:pt x="113" y="21"/>
                  <a:pt x="113" y="21"/>
                  <a:pt x="113" y="21"/>
                </a:cubicBezTo>
                <a:cubicBezTo>
                  <a:pt x="112" y="24"/>
                  <a:pt x="112" y="24"/>
                  <a:pt x="112" y="24"/>
                </a:cubicBezTo>
                <a:cubicBezTo>
                  <a:pt x="121" y="23"/>
                  <a:pt x="121" y="23"/>
                  <a:pt x="121" y="23"/>
                </a:cubicBezTo>
                <a:cubicBezTo>
                  <a:pt x="121" y="28"/>
                  <a:pt x="121" y="28"/>
                  <a:pt x="121" y="28"/>
                </a:cubicBezTo>
                <a:cubicBezTo>
                  <a:pt x="121" y="28"/>
                  <a:pt x="121" y="28"/>
                  <a:pt x="121" y="28"/>
                </a:cubicBezTo>
                <a:cubicBezTo>
                  <a:pt x="121" y="28"/>
                  <a:pt x="121" y="28"/>
                  <a:pt x="121" y="28"/>
                </a:cubicBezTo>
                <a:cubicBezTo>
                  <a:pt x="121" y="34"/>
                  <a:pt x="116" y="39"/>
                  <a:pt x="110" y="39"/>
                </a:cubicBezTo>
                <a:cubicBezTo>
                  <a:pt x="107" y="39"/>
                  <a:pt x="105" y="38"/>
                  <a:pt x="103" y="37"/>
                </a:cubicBezTo>
                <a:cubicBezTo>
                  <a:pt x="101" y="40"/>
                  <a:pt x="97" y="42"/>
                  <a:pt x="93" y="42"/>
                </a:cubicBezTo>
                <a:cubicBezTo>
                  <a:pt x="93" y="42"/>
                  <a:pt x="93" y="42"/>
                  <a:pt x="93" y="42"/>
                </a:cubicBezTo>
                <a:close/>
                <a:moveTo>
                  <a:pt x="5" y="40"/>
                </a:moveTo>
                <a:cubicBezTo>
                  <a:pt x="54" y="30"/>
                  <a:pt x="54" y="30"/>
                  <a:pt x="54" y="30"/>
                </a:cubicBezTo>
                <a:cubicBezTo>
                  <a:pt x="56" y="37"/>
                  <a:pt x="56" y="37"/>
                  <a:pt x="56" y="37"/>
                </a:cubicBezTo>
                <a:cubicBezTo>
                  <a:pt x="6" y="47"/>
                  <a:pt x="6" y="47"/>
                  <a:pt x="6" y="47"/>
                </a:cubicBezTo>
                <a:cubicBezTo>
                  <a:pt x="5" y="40"/>
                  <a:pt x="5" y="40"/>
                  <a:pt x="5" y="40"/>
                </a:cubicBezTo>
                <a:close/>
                <a:moveTo>
                  <a:pt x="56" y="40"/>
                </a:moveTo>
                <a:cubicBezTo>
                  <a:pt x="7" y="49"/>
                  <a:pt x="7" y="49"/>
                  <a:pt x="7" y="49"/>
                </a:cubicBezTo>
                <a:cubicBezTo>
                  <a:pt x="7" y="52"/>
                  <a:pt x="7" y="54"/>
                  <a:pt x="8" y="56"/>
                </a:cubicBezTo>
                <a:cubicBezTo>
                  <a:pt x="16" y="56"/>
                  <a:pt x="23" y="59"/>
                  <a:pt x="29" y="64"/>
                </a:cubicBezTo>
                <a:cubicBezTo>
                  <a:pt x="32" y="79"/>
                  <a:pt x="28" y="104"/>
                  <a:pt x="37" y="111"/>
                </a:cubicBezTo>
                <a:cubicBezTo>
                  <a:pt x="42" y="115"/>
                  <a:pt x="49" y="114"/>
                  <a:pt x="52" y="108"/>
                </a:cubicBezTo>
                <a:cubicBezTo>
                  <a:pt x="57" y="97"/>
                  <a:pt x="44" y="76"/>
                  <a:pt x="42" y="62"/>
                </a:cubicBezTo>
                <a:cubicBezTo>
                  <a:pt x="45" y="54"/>
                  <a:pt x="51" y="49"/>
                  <a:pt x="58" y="46"/>
                </a:cubicBezTo>
                <a:cubicBezTo>
                  <a:pt x="57" y="44"/>
                  <a:pt x="57" y="42"/>
                  <a:pt x="56" y="40"/>
                </a:cubicBezTo>
                <a:close/>
                <a:moveTo>
                  <a:pt x="42" y="98"/>
                </a:moveTo>
                <a:cubicBezTo>
                  <a:pt x="45" y="98"/>
                  <a:pt x="47" y="99"/>
                  <a:pt x="48" y="102"/>
                </a:cubicBezTo>
                <a:cubicBezTo>
                  <a:pt x="48" y="104"/>
                  <a:pt x="47" y="107"/>
                  <a:pt x="44" y="107"/>
                </a:cubicBezTo>
                <a:cubicBezTo>
                  <a:pt x="42" y="108"/>
                  <a:pt x="39" y="106"/>
                  <a:pt x="39" y="104"/>
                </a:cubicBezTo>
                <a:cubicBezTo>
                  <a:pt x="38" y="101"/>
                  <a:pt x="40" y="99"/>
                  <a:pt x="42" y="98"/>
                </a:cubicBezTo>
                <a:close/>
                <a:moveTo>
                  <a:pt x="54" y="26"/>
                </a:moveTo>
                <a:cubicBezTo>
                  <a:pt x="51" y="11"/>
                  <a:pt x="51" y="11"/>
                  <a:pt x="51" y="11"/>
                </a:cubicBezTo>
                <a:cubicBezTo>
                  <a:pt x="50" y="8"/>
                  <a:pt x="46" y="6"/>
                  <a:pt x="42" y="6"/>
                </a:cubicBezTo>
                <a:cubicBezTo>
                  <a:pt x="39" y="7"/>
                  <a:pt x="39" y="7"/>
                  <a:pt x="39" y="7"/>
                </a:cubicBezTo>
                <a:cubicBezTo>
                  <a:pt x="39" y="13"/>
                  <a:pt x="39" y="13"/>
                  <a:pt x="39" y="13"/>
                </a:cubicBezTo>
                <a:cubicBezTo>
                  <a:pt x="36" y="8"/>
                  <a:pt x="36" y="8"/>
                  <a:pt x="36" y="8"/>
                </a:cubicBezTo>
                <a:cubicBezTo>
                  <a:pt x="14" y="12"/>
                  <a:pt x="14" y="12"/>
                  <a:pt x="14" y="12"/>
                </a:cubicBezTo>
                <a:cubicBezTo>
                  <a:pt x="16" y="25"/>
                  <a:pt x="16" y="25"/>
                  <a:pt x="16" y="25"/>
                </a:cubicBezTo>
                <a:cubicBezTo>
                  <a:pt x="16" y="26"/>
                  <a:pt x="16" y="26"/>
                  <a:pt x="16" y="26"/>
                </a:cubicBezTo>
                <a:cubicBezTo>
                  <a:pt x="12" y="12"/>
                  <a:pt x="12" y="12"/>
                  <a:pt x="12" y="12"/>
                </a:cubicBezTo>
                <a:cubicBezTo>
                  <a:pt x="10" y="13"/>
                  <a:pt x="10" y="13"/>
                  <a:pt x="10" y="13"/>
                </a:cubicBezTo>
                <a:cubicBezTo>
                  <a:pt x="12" y="26"/>
                  <a:pt x="12" y="26"/>
                  <a:pt x="12" y="26"/>
                </a:cubicBezTo>
                <a:cubicBezTo>
                  <a:pt x="11" y="26"/>
                  <a:pt x="11" y="26"/>
                  <a:pt x="11" y="26"/>
                </a:cubicBezTo>
                <a:cubicBezTo>
                  <a:pt x="7" y="13"/>
                  <a:pt x="7" y="13"/>
                  <a:pt x="7" y="13"/>
                </a:cubicBezTo>
                <a:cubicBezTo>
                  <a:pt x="3" y="14"/>
                  <a:pt x="0" y="18"/>
                  <a:pt x="1" y="21"/>
                </a:cubicBezTo>
                <a:cubicBezTo>
                  <a:pt x="4" y="36"/>
                  <a:pt x="4" y="36"/>
                  <a:pt x="4" y="36"/>
                </a:cubicBezTo>
                <a:lnTo>
                  <a:pt x="54" y="26"/>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12" name="椭圆 11"/>
          <p:cNvSpPr/>
          <p:nvPr/>
        </p:nvSpPr>
        <p:spPr>
          <a:xfrm>
            <a:off x="4975178" y="1125031"/>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3" name="椭圆 12"/>
          <p:cNvSpPr/>
          <p:nvPr/>
        </p:nvSpPr>
        <p:spPr>
          <a:xfrm>
            <a:off x="4965816" y="4556695"/>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4" name="Freeform 175"/>
          <p:cNvSpPr>
            <a:spLocks noEditPoints="1"/>
          </p:cNvSpPr>
          <p:nvPr/>
        </p:nvSpPr>
        <p:spPr bwMode="auto">
          <a:xfrm>
            <a:off x="5190486" y="4683550"/>
            <a:ext cx="575733" cy="630767"/>
          </a:xfrm>
          <a:custGeom>
            <a:avLst/>
            <a:gdLst>
              <a:gd name="T0" fmla="*/ 165 w 272"/>
              <a:gd name="T1" fmla="*/ 0 h 298"/>
              <a:gd name="T2" fmla="*/ 246 w 272"/>
              <a:gd name="T3" fmla="*/ 47 h 298"/>
              <a:gd name="T4" fmla="*/ 153 w 272"/>
              <a:gd name="T5" fmla="*/ 201 h 298"/>
              <a:gd name="T6" fmla="*/ 108 w 272"/>
              <a:gd name="T7" fmla="*/ 229 h 298"/>
              <a:gd name="T8" fmla="*/ 66 w 272"/>
              <a:gd name="T9" fmla="*/ 232 h 298"/>
              <a:gd name="T10" fmla="*/ 71 w 272"/>
              <a:gd name="T11" fmla="*/ 153 h 298"/>
              <a:gd name="T12" fmla="*/ 165 w 272"/>
              <a:gd name="T13" fmla="*/ 0 h 298"/>
              <a:gd name="T14" fmla="*/ 165 w 272"/>
              <a:gd name="T15" fmla="*/ 0 h 298"/>
              <a:gd name="T16" fmla="*/ 243 w 272"/>
              <a:gd name="T17" fmla="*/ 293 h 298"/>
              <a:gd name="T18" fmla="*/ 248 w 272"/>
              <a:gd name="T19" fmla="*/ 262 h 298"/>
              <a:gd name="T20" fmla="*/ 158 w 272"/>
              <a:gd name="T21" fmla="*/ 260 h 298"/>
              <a:gd name="T22" fmla="*/ 272 w 272"/>
              <a:gd name="T23" fmla="*/ 253 h 298"/>
              <a:gd name="T24" fmla="*/ 272 w 272"/>
              <a:gd name="T25" fmla="*/ 241 h 298"/>
              <a:gd name="T26" fmla="*/ 239 w 272"/>
              <a:gd name="T27" fmla="*/ 239 h 298"/>
              <a:gd name="T28" fmla="*/ 269 w 272"/>
              <a:gd name="T29" fmla="*/ 234 h 298"/>
              <a:gd name="T30" fmla="*/ 257 w 272"/>
              <a:gd name="T31" fmla="*/ 210 h 298"/>
              <a:gd name="T32" fmla="*/ 175 w 272"/>
              <a:gd name="T33" fmla="*/ 201 h 298"/>
              <a:gd name="T34" fmla="*/ 172 w 272"/>
              <a:gd name="T35" fmla="*/ 224 h 298"/>
              <a:gd name="T36" fmla="*/ 208 w 272"/>
              <a:gd name="T37" fmla="*/ 232 h 298"/>
              <a:gd name="T38" fmla="*/ 0 w 272"/>
              <a:gd name="T39" fmla="*/ 243 h 298"/>
              <a:gd name="T40" fmla="*/ 2 w 272"/>
              <a:gd name="T41" fmla="*/ 265 h 298"/>
              <a:gd name="T42" fmla="*/ 137 w 272"/>
              <a:gd name="T43" fmla="*/ 279 h 298"/>
              <a:gd name="T44" fmla="*/ 85 w 272"/>
              <a:gd name="T45" fmla="*/ 281 h 298"/>
              <a:gd name="T46" fmla="*/ 87 w 272"/>
              <a:gd name="T47" fmla="*/ 298 h 298"/>
              <a:gd name="T48" fmla="*/ 243 w 272"/>
              <a:gd name="T49" fmla="*/ 293 h 298"/>
              <a:gd name="T50" fmla="*/ 243 w 272"/>
              <a:gd name="T51" fmla="*/ 293 h 298"/>
              <a:gd name="T52" fmla="*/ 106 w 272"/>
              <a:gd name="T53" fmla="*/ 213 h 298"/>
              <a:gd name="T54" fmla="*/ 137 w 272"/>
              <a:gd name="T55" fmla="*/ 191 h 298"/>
              <a:gd name="T56" fmla="*/ 87 w 272"/>
              <a:gd name="T57" fmla="*/ 163 h 298"/>
              <a:gd name="T58" fmla="*/ 85 w 272"/>
              <a:gd name="T59" fmla="*/ 198 h 298"/>
              <a:gd name="T60" fmla="*/ 106 w 272"/>
              <a:gd name="T61" fmla="*/ 213 h 298"/>
              <a:gd name="T62" fmla="*/ 106 w 272"/>
              <a:gd name="T63" fmla="*/ 213 h 298"/>
              <a:gd name="T64" fmla="*/ 217 w 272"/>
              <a:gd name="T65" fmla="*/ 47 h 298"/>
              <a:gd name="T66" fmla="*/ 142 w 272"/>
              <a:gd name="T67" fmla="*/ 172 h 298"/>
              <a:gd name="T68" fmla="*/ 151 w 272"/>
              <a:gd name="T69" fmla="*/ 177 h 298"/>
              <a:gd name="T70" fmla="*/ 224 w 272"/>
              <a:gd name="T71" fmla="*/ 52 h 298"/>
              <a:gd name="T72" fmla="*/ 217 w 272"/>
              <a:gd name="T73" fmla="*/ 47 h 298"/>
              <a:gd name="T74" fmla="*/ 217 w 272"/>
              <a:gd name="T75" fmla="*/ 47 h 298"/>
              <a:gd name="T76" fmla="*/ 170 w 272"/>
              <a:gd name="T77" fmla="*/ 19 h 298"/>
              <a:gd name="T78" fmla="*/ 97 w 272"/>
              <a:gd name="T79" fmla="*/ 144 h 298"/>
              <a:gd name="T80" fmla="*/ 111 w 272"/>
              <a:gd name="T81" fmla="*/ 153 h 298"/>
              <a:gd name="T82" fmla="*/ 186 w 272"/>
              <a:gd name="T83" fmla="*/ 28 h 298"/>
              <a:gd name="T84" fmla="*/ 170 w 272"/>
              <a:gd name="T85" fmla="*/ 1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2" h="298">
                <a:moveTo>
                  <a:pt x="165" y="0"/>
                </a:moveTo>
                <a:lnTo>
                  <a:pt x="246" y="47"/>
                </a:lnTo>
                <a:lnTo>
                  <a:pt x="153" y="201"/>
                </a:lnTo>
                <a:lnTo>
                  <a:pt x="108" y="229"/>
                </a:lnTo>
                <a:lnTo>
                  <a:pt x="66" y="232"/>
                </a:lnTo>
                <a:lnTo>
                  <a:pt x="71" y="153"/>
                </a:lnTo>
                <a:lnTo>
                  <a:pt x="165" y="0"/>
                </a:lnTo>
                <a:lnTo>
                  <a:pt x="165" y="0"/>
                </a:lnTo>
                <a:close/>
                <a:moveTo>
                  <a:pt x="243" y="293"/>
                </a:moveTo>
                <a:lnTo>
                  <a:pt x="248" y="262"/>
                </a:lnTo>
                <a:lnTo>
                  <a:pt x="158" y="260"/>
                </a:lnTo>
                <a:lnTo>
                  <a:pt x="272" y="253"/>
                </a:lnTo>
                <a:lnTo>
                  <a:pt x="272" y="241"/>
                </a:lnTo>
                <a:lnTo>
                  <a:pt x="239" y="239"/>
                </a:lnTo>
                <a:lnTo>
                  <a:pt x="269" y="234"/>
                </a:lnTo>
                <a:lnTo>
                  <a:pt x="257" y="210"/>
                </a:lnTo>
                <a:lnTo>
                  <a:pt x="175" y="201"/>
                </a:lnTo>
                <a:lnTo>
                  <a:pt x="172" y="224"/>
                </a:lnTo>
                <a:lnTo>
                  <a:pt x="208" y="232"/>
                </a:lnTo>
                <a:lnTo>
                  <a:pt x="0" y="243"/>
                </a:lnTo>
                <a:lnTo>
                  <a:pt x="2" y="265"/>
                </a:lnTo>
                <a:lnTo>
                  <a:pt x="137" y="279"/>
                </a:lnTo>
                <a:lnTo>
                  <a:pt x="85" y="281"/>
                </a:lnTo>
                <a:lnTo>
                  <a:pt x="87" y="298"/>
                </a:lnTo>
                <a:lnTo>
                  <a:pt x="243" y="293"/>
                </a:lnTo>
                <a:lnTo>
                  <a:pt x="243" y="293"/>
                </a:lnTo>
                <a:close/>
                <a:moveTo>
                  <a:pt x="106" y="213"/>
                </a:moveTo>
                <a:lnTo>
                  <a:pt x="137" y="191"/>
                </a:lnTo>
                <a:lnTo>
                  <a:pt x="87" y="163"/>
                </a:lnTo>
                <a:lnTo>
                  <a:pt x="85" y="198"/>
                </a:lnTo>
                <a:lnTo>
                  <a:pt x="106" y="213"/>
                </a:lnTo>
                <a:lnTo>
                  <a:pt x="106" y="213"/>
                </a:lnTo>
                <a:close/>
                <a:moveTo>
                  <a:pt x="217" y="47"/>
                </a:moveTo>
                <a:lnTo>
                  <a:pt x="142" y="172"/>
                </a:lnTo>
                <a:lnTo>
                  <a:pt x="151" y="177"/>
                </a:lnTo>
                <a:lnTo>
                  <a:pt x="224" y="52"/>
                </a:lnTo>
                <a:lnTo>
                  <a:pt x="217" y="47"/>
                </a:lnTo>
                <a:lnTo>
                  <a:pt x="217" y="47"/>
                </a:lnTo>
                <a:close/>
                <a:moveTo>
                  <a:pt x="170" y="19"/>
                </a:moveTo>
                <a:lnTo>
                  <a:pt x="97" y="144"/>
                </a:lnTo>
                <a:lnTo>
                  <a:pt x="111" y="153"/>
                </a:lnTo>
                <a:lnTo>
                  <a:pt x="186" y="28"/>
                </a:lnTo>
                <a:lnTo>
                  <a:pt x="170" y="1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15" name="Freeform 168"/>
          <p:cNvSpPr>
            <a:spLocks noEditPoints="1"/>
          </p:cNvSpPr>
          <p:nvPr/>
        </p:nvSpPr>
        <p:spPr bwMode="auto">
          <a:xfrm>
            <a:off x="5160852" y="1256764"/>
            <a:ext cx="552451" cy="615951"/>
          </a:xfrm>
          <a:custGeom>
            <a:avLst/>
            <a:gdLst>
              <a:gd name="T0" fmla="*/ 55 w 110"/>
              <a:gd name="T1" fmla="*/ 41 h 123"/>
              <a:gd name="T2" fmla="*/ 75 w 110"/>
              <a:gd name="T3" fmla="*/ 31 h 123"/>
              <a:gd name="T4" fmla="*/ 99 w 110"/>
              <a:gd name="T5" fmla="*/ 86 h 123"/>
              <a:gd name="T6" fmla="*/ 97 w 110"/>
              <a:gd name="T7" fmla="*/ 88 h 123"/>
              <a:gd name="T8" fmla="*/ 101 w 110"/>
              <a:gd name="T9" fmla="*/ 96 h 123"/>
              <a:gd name="T10" fmla="*/ 94 w 110"/>
              <a:gd name="T11" fmla="*/ 99 h 123"/>
              <a:gd name="T12" fmla="*/ 90 w 110"/>
              <a:gd name="T13" fmla="*/ 91 h 123"/>
              <a:gd name="T14" fmla="*/ 87 w 110"/>
              <a:gd name="T15" fmla="*/ 93 h 123"/>
              <a:gd name="T16" fmla="*/ 55 w 110"/>
              <a:gd name="T17" fmla="*/ 41 h 123"/>
              <a:gd name="T18" fmla="*/ 0 w 110"/>
              <a:gd name="T19" fmla="*/ 108 h 123"/>
              <a:gd name="T20" fmla="*/ 3 w 110"/>
              <a:gd name="T21" fmla="*/ 115 h 123"/>
              <a:gd name="T22" fmla="*/ 31 w 110"/>
              <a:gd name="T23" fmla="*/ 105 h 123"/>
              <a:gd name="T24" fmla="*/ 30 w 110"/>
              <a:gd name="T25" fmla="*/ 121 h 123"/>
              <a:gd name="T26" fmla="*/ 110 w 110"/>
              <a:gd name="T27" fmla="*/ 105 h 123"/>
              <a:gd name="T28" fmla="*/ 108 w 110"/>
              <a:gd name="T29" fmla="*/ 98 h 123"/>
              <a:gd name="T30" fmla="*/ 36 w 110"/>
              <a:gd name="T31" fmla="*/ 113 h 123"/>
              <a:gd name="T32" fmla="*/ 55 w 110"/>
              <a:gd name="T33" fmla="*/ 96 h 123"/>
              <a:gd name="T34" fmla="*/ 52 w 110"/>
              <a:gd name="T35" fmla="*/ 89 h 123"/>
              <a:gd name="T36" fmla="*/ 0 w 110"/>
              <a:gd name="T37" fmla="*/ 108 h 123"/>
              <a:gd name="T38" fmla="*/ 60 w 110"/>
              <a:gd name="T39" fmla="*/ 9 h 123"/>
              <a:gd name="T40" fmla="*/ 53 w 110"/>
              <a:gd name="T41" fmla="*/ 36 h 123"/>
              <a:gd name="T42" fmla="*/ 72 w 110"/>
              <a:gd name="T43" fmla="*/ 26 h 123"/>
              <a:gd name="T44" fmla="*/ 66 w 110"/>
              <a:gd name="T45" fmla="*/ 15 h 123"/>
              <a:gd name="T46" fmla="*/ 71 w 110"/>
              <a:gd name="T47" fmla="*/ 12 h 123"/>
              <a:gd name="T48" fmla="*/ 86 w 110"/>
              <a:gd name="T49" fmla="*/ 51 h 123"/>
              <a:gd name="T50" fmla="*/ 93 w 110"/>
              <a:gd name="T51" fmla="*/ 48 h 123"/>
              <a:gd name="T52" fmla="*/ 77 w 110"/>
              <a:gd name="T53" fmla="*/ 5 h 123"/>
              <a:gd name="T54" fmla="*/ 75 w 110"/>
              <a:gd name="T55" fmla="*/ 2 h 123"/>
              <a:gd name="T56" fmla="*/ 72 w 110"/>
              <a:gd name="T57" fmla="*/ 3 h 123"/>
              <a:gd name="T58" fmla="*/ 60 w 110"/>
              <a:gd name="T59" fmla="*/ 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0" h="123">
                <a:moveTo>
                  <a:pt x="55" y="41"/>
                </a:moveTo>
                <a:cubicBezTo>
                  <a:pt x="75" y="31"/>
                  <a:pt x="75" y="31"/>
                  <a:pt x="75" y="31"/>
                </a:cubicBezTo>
                <a:cubicBezTo>
                  <a:pt x="99" y="86"/>
                  <a:pt x="99" y="86"/>
                  <a:pt x="99" y="86"/>
                </a:cubicBezTo>
                <a:cubicBezTo>
                  <a:pt x="97" y="88"/>
                  <a:pt x="97" y="88"/>
                  <a:pt x="97" y="88"/>
                </a:cubicBezTo>
                <a:cubicBezTo>
                  <a:pt x="101" y="96"/>
                  <a:pt x="101" y="96"/>
                  <a:pt x="101" y="96"/>
                </a:cubicBezTo>
                <a:cubicBezTo>
                  <a:pt x="94" y="99"/>
                  <a:pt x="94" y="99"/>
                  <a:pt x="94" y="99"/>
                </a:cubicBezTo>
                <a:cubicBezTo>
                  <a:pt x="90" y="91"/>
                  <a:pt x="90" y="91"/>
                  <a:pt x="90" y="91"/>
                </a:cubicBezTo>
                <a:cubicBezTo>
                  <a:pt x="87" y="93"/>
                  <a:pt x="87" y="93"/>
                  <a:pt x="87" y="93"/>
                </a:cubicBezTo>
                <a:cubicBezTo>
                  <a:pt x="55" y="41"/>
                  <a:pt x="55" y="41"/>
                  <a:pt x="55" y="41"/>
                </a:cubicBezTo>
                <a:close/>
                <a:moveTo>
                  <a:pt x="0" y="108"/>
                </a:moveTo>
                <a:cubicBezTo>
                  <a:pt x="3" y="115"/>
                  <a:pt x="3" y="115"/>
                  <a:pt x="3" y="115"/>
                </a:cubicBezTo>
                <a:cubicBezTo>
                  <a:pt x="31" y="105"/>
                  <a:pt x="31" y="105"/>
                  <a:pt x="31" y="105"/>
                </a:cubicBezTo>
                <a:cubicBezTo>
                  <a:pt x="23" y="112"/>
                  <a:pt x="19" y="119"/>
                  <a:pt x="30" y="121"/>
                </a:cubicBezTo>
                <a:cubicBezTo>
                  <a:pt x="44" y="123"/>
                  <a:pt x="110" y="105"/>
                  <a:pt x="110" y="105"/>
                </a:cubicBezTo>
                <a:cubicBezTo>
                  <a:pt x="108" y="98"/>
                  <a:pt x="108" y="98"/>
                  <a:pt x="108" y="98"/>
                </a:cubicBezTo>
                <a:cubicBezTo>
                  <a:pt x="108" y="98"/>
                  <a:pt x="49" y="115"/>
                  <a:pt x="36" y="113"/>
                </a:cubicBezTo>
                <a:cubicBezTo>
                  <a:pt x="33" y="112"/>
                  <a:pt x="55" y="96"/>
                  <a:pt x="55" y="96"/>
                </a:cubicBezTo>
                <a:cubicBezTo>
                  <a:pt x="52" y="89"/>
                  <a:pt x="52" y="89"/>
                  <a:pt x="52" y="89"/>
                </a:cubicBezTo>
                <a:cubicBezTo>
                  <a:pt x="0" y="108"/>
                  <a:pt x="0" y="108"/>
                  <a:pt x="0" y="108"/>
                </a:cubicBezTo>
                <a:close/>
                <a:moveTo>
                  <a:pt x="60" y="9"/>
                </a:moveTo>
                <a:cubicBezTo>
                  <a:pt x="48" y="0"/>
                  <a:pt x="40" y="12"/>
                  <a:pt x="53" y="36"/>
                </a:cubicBezTo>
                <a:cubicBezTo>
                  <a:pt x="72" y="26"/>
                  <a:pt x="72" y="26"/>
                  <a:pt x="72" y="26"/>
                </a:cubicBezTo>
                <a:cubicBezTo>
                  <a:pt x="70" y="21"/>
                  <a:pt x="68" y="18"/>
                  <a:pt x="66" y="15"/>
                </a:cubicBezTo>
                <a:cubicBezTo>
                  <a:pt x="71" y="12"/>
                  <a:pt x="71" y="12"/>
                  <a:pt x="71" y="12"/>
                </a:cubicBezTo>
                <a:cubicBezTo>
                  <a:pt x="86" y="51"/>
                  <a:pt x="86" y="51"/>
                  <a:pt x="86" y="51"/>
                </a:cubicBezTo>
                <a:cubicBezTo>
                  <a:pt x="93" y="48"/>
                  <a:pt x="93" y="48"/>
                  <a:pt x="93" y="48"/>
                </a:cubicBezTo>
                <a:cubicBezTo>
                  <a:pt x="77" y="5"/>
                  <a:pt x="77" y="5"/>
                  <a:pt x="77" y="5"/>
                </a:cubicBezTo>
                <a:cubicBezTo>
                  <a:pt x="75" y="2"/>
                  <a:pt x="75" y="2"/>
                  <a:pt x="75" y="2"/>
                </a:cubicBezTo>
                <a:cubicBezTo>
                  <a:pt x="72" y="3"/>
                  <a:pt x="72" y="3"/>
                  <a:pt x="72" y="3"/>
                </a:cubicBezTo>
                <a:lnTo>
                  <a:pt x="60" y="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16" name="TextBox 33"/>
          <p:cNvSpPr txBox="1"/>
          <p:nvPr/>
        </p:nvSpPr>
        <p:spPr>
          <a:xfrm>
            <a:off x="6290996" y="1547783"/>
            <a:ext cx="4076056" cy="1179830"/>
          </a:xfrm>
          <a:prstGeom prst="rect">
            <a:avLst/>
          </a:prstGeom>
          <a:noFill/>
        </p:spPr>
        <p:txBody>
          <a:bodyPr wrap="square" lIns="0" tIns="0" rIns="0" bIns="0" rtlCol="0">
            <a:sp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charset="-122"/>
                <a:ea typeface="微软雅黑 Light" panose="020B0502040204020203"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a:lnSpc>
                <a:spcPct val="12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Bugzilla是Mozilla公司提供的一款</a:t>
            </a:r>
            <a:r>
              <a:rPr lang="zh-CN" altLang="en-US" sz="1600" dirty="0">
                <a:solidFill>
                  <a:srgbClr val="0070C0"/>
                </a:solidFill>
                <a:latin typeface="微软雅黑" panose="020B0503020204020204" pitchFamily="34" charset="-122"/>
                <a:ea typeface="微软雅黑" panose="020B0503020204020204" pitchFamily="34" charset="-122"/>
              </a:rPr>
              <a:t>免费的软件缺陷管理工具</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。Bugzilla能够建立一个完整的缺陷跟踪体系，包括缺陷跟踪、记录、缺陷报告、解决情况等。</a:t>
            </a:r>
          </a:p>
        </p:txBody>
      </p:sp>
      <p:sp>
        <p:nvSpPr>
          <p:cNvPr id="17" name="文本框 9"/>
          <p:cNvSpPr txBox="1"/>
          <p:nvPr/>
        </p:nvSpPr>
        <p:spPr>
          <a:xfrm>
            <a:off x="6302445" y="1125031"/>
            <a:ext cx="1981477"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rPr>
              <a:t>1.</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Bugzilla</a:t>
            </a:r>
          </a:p>
        </p:txBody>
      </p:sp>
      <p:sp>
        <p:nvSpPr>
          <p:cNvPr id="18" name="TextBox 33"/>
          <p:cNvSpPr txBox="1"/>
          <p:nvPr/>
        </p:nvSpPr>
        <p:spPr>
          <a:xfrm>
            <a:off x="6302445" y="3289146"/>
            <a:ext cx="4076056" cy="1179830"/>
          </a:xfrm>
          <a:prstGeom prst="rect">
            <a:avLst/>
          </a:prstGeom>
          <a:noFill/>
        </p:spPr>
        <p:txBody>
          <a:bodyPr wrap="square" lIns="0" tIns="0" rIns="0" bIns="0" rtlCol="0">
            <a:sp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charset="-122"/>
                <a:ea typeface="微软雅黑 Light" panose="020B0502040204020203"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0" algn="just">
              <a:lnSpc>
                <a:spcPct val="120000"/>
              </a:lnSpc>
            </a:pPr>
            <a:r>
              <a:rPr lang="zh-CN" altLang="en-US" sz="1600" dirty="0">
                <a:solidFill>
                  <a:srgbClr val="0070C0"/>
                </a:solidFill>
                <a:latin typeface="微软雅黑" panose="020B0503020204020204" pitchFamily="34" charset="-122"/>
                <a:ea typeface="微软雅黑" panose="020B0503020204020204" pitchFamily="34" charset="-122"/>
                <a:sym typeface="+mn-ea"/>
              </a:rPr>
              <a:t>禅道</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集产品管理、项目管理、质量管理、缺陷管理、文档管理、组织管理和事务管理于一体，</a:t>
            </a:r>
            <a:r>
              <a:rPr lang="zh-CN" altLang="en-US" sz="1600" dirty="0">
                <a:solidFill>
                  <a:srgbClr val="0070C0"/>
                </a:solidFill>
                <a:latin typeface="微软雅黑" panose="020B0503020204020204" pitchFamily="34" charset="-122"/>
                <a:ea typeface="微软雅黑" panose="020B0503020204020204" pitchFamily="34" charset="-122"/>
                <a:sym typeface="+mn-ea"/>
              </a:rPr>
              <a:t>是一款功能完备的项目管理软件</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，完美地覆盖了项目管理的核心流程。</a:t>
            </a:r>
          </a:p>
        </p:txBody>
      </p:sp>
      <p:sp>
        <p:nvSpPr>
          <p:cNvPr id="19" name="文本框 9"/>
          <p:cNvSpPr txBox="1"/>
          <p:nvPr/>
        </p:nvSpPr>
        <p:spPr>
          <a:xfrm>
            <a:off x="6313894" y="2866394"/>
            <a:ext cx="1981477"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2.禅道</a:t>
            </a:r>
          </a:p>
        </p:txBody>
      </p:sp>
      <p:sp>
        <p:nvSpPr>
          <p:cNvPr id="20" name="TextBox 33"/>
          <p:cNvSpPr txBox="1"/>
          <p:nvPr/>
        </p:nvSpPr>
        <p:spPr>
          <a:xfrm>
            <a:off x="6313894" y="4987457"/>
            <a:ext cx="4076056" cy="1474470"/>
          </a:xfrm>
          <a:prstGeom prst="rect">
            <a:avLst/>
          </a:prstGeom>
          <a:noFill/>
        </p:spPr>
        <p:txBody>
          <a:bodyPr wrap="square" lIns="0" tIns="0" rIns="0" bIns="0" rtlCol="0">
            <a:sp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charset="-122"/>
                <a:ea typeface="微软雅黑 Light" panose="020B0502040204020203"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0" algn="just">
              <a:lnSpc>
                <a:spcPct val="120000"/>
              </a:lnSpc>
            </a:pPr>
            <a:r>
              <a:rPr lang="zh-CN" altLang="en-US" sz="1600" dirty="0">
                <a:solidFill>
                  <a:srgbClr val="0070C0"/>
                </a:solidFill>
                <a:latin typeface="微软雅黑" panose="020B0503020204020204" pitchFamily="34" charset="-122"/>
                <a:ea typeface="微软雅黑" panose="020B0503020204020204" pitchFamily="34" charset="-122"/>
                <a:sym typeface="+mn-ea"/>
              </a:rPr>
              <a:t>J</a:t>
            </a:r>
            <a:r>
              <a:rPr lang="en-US" altLang="zh-CN" sz="1600" dirty="0" err="1">
                <a:solidFill>
                  <a:srgbClr val="0070C0"/>
                </a:solidFill>
                <a:latin typeface="微软雅黑" panose="020B0503020204020204" pitchFamily="34" charset="-122"/>
                <a:ea typeface="微软雅黑" panose="020B0503020204020204" pitchFamily="34" charset="-122"/>
                <a:sym typeface="+mn-ea"/>
              </a:rPr>
              <a:t>ira</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是Atlassian公司开发的项目与事务跟踪工具，被广泛用于缺陷跟踪、用户服务、需求收集、流程审批、任务跟踪、项目跟踪和敏捷管理等工作领域。是目前</a:t>
            </a:r>
            <a:r>
              <a:rPr lang="zh-CN" altLang="en-US" sz="1600" dirty="0">
                <a:solidFill>
                  <a:srgbClr val="0070C0"/>
                </a:solidFill>
                <a:latin typeface="微软雅黑" panose="020B0503020204020204" pitchFamily="34" charset="-122"/>
                <a:ea typeface="微软雅黑" panose="020B0503020204020204" pitchFamily="34" charset="-122"/>
                <a:sym typeface="+mn-ea"/>
              </a:rPr>
              <a:t>比较流行的基于Java架构的管理工具</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p>
        </p:txBody>
      </p:sp>
      <p:sp>
        <p:nvSpPr>
          <p:cNvPr id="21" name="文本框 9"/>
          <p:cNvSpPr txBox="1"/>
          <p:nvPr/>
        </p:nvSpPr>
        <p:spPr>
          <a:xfrm>
            <a:off x="6325343" y="4564705"/>
            <a:ext cx="1981477"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3</a:t>
            </a:r>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rPr>
              <a:t>.J</a:t>
            </a:r>
            <a:r>
              <a:rPr lang="en-US" altLang="zh-CN" sz="2000" b="1">
                <a:solidFill>
                  <a:schemeClr val="tx1">
                    <a:lumMod val="75000"/>
                    <a:lumOff val="25000"/>
                  </a:schemeClr>
                </a:solidFill>
                <a:latin typeface="微软雅黑" panose="020B0503020204020204" pitchFamily="34" charset="-122"/>
                <a:ea typeface="微软雅黑" panose="020B0503020204020204" pitchFamily="34" charset="-122"/>
              </a:rPr>
              <a:t>ira</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文本框 9"/>
          <p:cNvSpPr txBox="1"/>
          <p:nvPr/>
        </p:nvSpPr>
        <p:spPr>
          <a:xfrm>
            <a:off x="1055370" y="2898775"/>
            <a:ext cx="2356485" cy="86868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rPr>
              <a:t>3</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个常用的软件缺陷管理工具</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软件测试</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概述</a:t>
            </a:r>
            <a:endPar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1.3</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878830" y="3362960"/>
            <a:ext cx="5876290" cy="530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lang="zh-CN"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软件测试的</a:t>
            </a:r>
            <a:r>
              <a:rPr lang="zh-CN" altLang="en-US"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定义</a:t>
            </a:r>
            <a:endParaRPr lang="zh-CN"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软件测试简介</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软件测试定义</a:t>
            </a:r>
          </a:p>
        </p:txBody>
      </p:sp>
      <p:sp>
        <p:nvSpPr>
          <p:cNvPr id="2" name="文本框 1">
            <a:extLst>
              <a:ext uri="{FF2B5EF4-FFF2-40B4-BE49-F238E27FC236}">
                <a16:creationId xmlns:a16="http://schemas.microsoft.com/office/drawing/2014/main" id="{5F5FC692-58A4-08AD-56F9-1A7FCF775A48}"/>
              </a:ext>
            </a:extLst>
          </p:cNvPr>
          <p:cNvSpPr txBox="1"/>
          <p:nvPr/>
        </p:nvSpPr>
        <p:spPr>
          <a:xfrm>
            <a:off x="874626" y="981794"/>
            <a:ext cx="10441160" cy="1422954"/>
          </a:xfrm>
          <a:prstGeom prst="rect">
            <a:avLst/>
          </a:prstGeom>
          <a:noFill/>
        </p:spPr>
        <p:txBody>
          <a:bodyPr wrap="square">
            <a:spAutoFit/>
          </a:bodyPr>
          <a:lstStyle/>
          <a:p>
            <a:pPr algn="just">
              <a:lnSpc>
                <a:spcPct val="150000"/>
              </a:lnSpc>
              <a:buClrTx/>
              <a:buSzTx/>
              <a:buFontTx/>
            </a:pPr>
            <a:r>
              <a:rPr lang="en-US" altLang="zh-CN" sz="2000" dirty="0">
                <a:solidFill>
                  <a:srgbClr val="0070C0"/>
                </a:solidFill>
                <a:latin typeface="微软雅黑" panose="020B0503020204020204" pitchFamily="34" charset="-122"/>
                <a:ea typeface="微软雅黑" panose="020B0503020204020204" pitchFamily="34" charset="-122"/>
              </a:rPr>
              <a:t>IEEE</a:t>
            </a:r>
            <a:r>
              <a:rPr lang="en-US" altLang="zh-CN" sz="2000" dirty="0">
                <a:solidFill>
                  <a:srgbClr val="595959"/>
                </a:solidFill>
                <a:latin typeface="微软雅黑" panose="020B0503020204020204" pitchFamily="34" charset="-122"/>
                <a:ea typeface="微软雅黑" panose="020B0503020204020204" pitchFamily="34" charset="-122"/>
              </a:rPr>
              <a:t> </a:t>
            </a:r>
            <a:r>
              <a:rPr lang="zh-CN" altLang="en-US" sz="2000" dirty="0">
                <a:solidFill>
                  <a:srgbClr val="595959"/>
                </a:solidFill>
                <a:latin typeface="微软雅黑" panose="020B0503020204020204" pitchFamily="34" charset="-122"/>
                <a:ea typeface="微软雅黑" panose="020B0503020204020204" pitchFamily="34" charset="-122"/>
              </a:rPr>
              <a:t>的定义 ：</a:t>
            </a:r>
          </a:p>
          <a:p>
            <a:pPr marL="720000" indent="-342900" algn="just">
              <a:lnSpc>
                <a:spcPct val="150000"/>
              </a:lnSpc>
              <a:buClrTx/>
              <a:buSzTx/>
              <a:buFont typeface="Wingdings" panose="05000000000000000000" pitchFamily="2" charset="2"/>
              <a:buChar char="u"/>
            </a:pPr>
            <a:r>
              <a:rPr lang="zh-CN" altLang="en-US" sz="2000" dirty="0">
                <a:solidFill>
                  <a:srgbClr val="595959"/>
                </a:solidFill>
                <a:latin typeface="微软雅黑" panose="020B0503020204020204" pitchFamily="34" charset="-122"/>
                <a:ea typeface="微软雅黑" panose="020B0503020204020204" pitchFamily="34" charset="-122"/>
              </a:rPr>
              <a:t>在特定的条件下运行系统或构件，观察或记录结果，对系统的某个方面做出评价 </a:t>
            </a:r>
          </a:p>
          <a:p>
            <a:pPr marL="720000" indent="-342900" algn="just">
              <a:lnSpc>
                <a:spcPct val="150000"/>
              </a:lnSpc>
              <a:buClrTx/>
              <a:buSzTx/>
              <a:buFont typeface="Wingdings" panose="05000000000000000000" pitchFamily="2" charset="2"/>
              <a:buChar char="u"/>
            </a:pPr>
            <a:r>
              <a:rPr lang="zh-CN" altLang="en-US" sz="2000" dirty="0">
                <a:solidFill>
                  <a:srgbClr val="595959"/>
                </a:solidFill>
                <a:latin typeface="微软雅黑" panose="020B0503020204020204" pitchFamily="34" charset="-122"/>
                <a:ea typeface="微软雅黑" panose="020B0503020204020204" pitchFamily="34" charset="-122"/>
              </a:rPr>
              <a:t>分析某个软件项以发现现存的和要求的条件之差别（即错误）并评价此软件项的特性 </a:t>
            </a:r>
          </a:p>
        </p:txBody>
      </p:sp>
      <p:sp>
        <p:nvSpPr>
          <p:cNvPr id="99" name="文本框 98">
            <a:extLst>
              <a:ext uri="{FF2B5EF4-FFF2-40B4-BE49-F238E27FC236}">
                <a16:creationId xmlns:a16="http://schemas.microsoft.com/office/drawing/2014/main" id="{CD890708-61F2-CED2-3379-10ACE20453F8}"/>
              </a:ext>
            </a:extLst>
          </p:cNvPr>
          <p:cNvSpPr txBox="1"/>
          <p:nvPr/>
        </p:nvSpPr>
        <p:spPr>
          <a:xfrm>
            <a:off x="874626" y="2476748"/>
            <a:ext cx="10441160" cy="4192943"/>
          </a:xfrm>
          <a:prstGeom prst="rect">
            <a:avLst/>
          </a:prstGeom>
          <a:noFill/>
        </p:spPr>
        <p:txBody>
          <a:bodyPr wrap="square">
            <a:spAutoFit/>
          </a:bodyPr>
          <a:lstStyle/>
          <a:p>
            <a:pPr algn="just">
              <a:lnSpc>
                <a:spcPct val="150000"/>
              </a:lnSpc>
              <a:buClrTx/>
              <a:buSzTx/>
              <a:buFontTx/>
            </a:pPr>
            <a:r>
              <a:rPr lang="en-US" altLang="zh-CN" sz="2000" dirty="0">
                <a:solidFill>
                  <a:srgbClr val="0070C0"/>
                </a:solidFill>
                <a:latin typeface="微软雅黑" panose="020B0503020204020204" pitchFamily="34" charset="-122"/>
                <a:ea typeface="微软雅黑" panose="020B0503020204020204" pitchFamily="34" charset="-122"/>
              </a:rPr>
              <a:t>Glenford J. Myers</a:t>
            </a:r>
            <a:r>
              <a:rPr lang="zh-CN" altLang="en-US" sz="2000" dirty="0">
                <a:solidFill>
                  <a:srgbClr val="595959"/>
                </a:solidFill>
                <a:latin typeface="微软雅黑" panose="020B0503020204020204" pitchFamily="34" charset="-122"/>
                <a:ea typeface="微软雅黑" panose="020B0503020204020204" pitchFamily="34" charset="-122"/>
              </a:rPr>
              <a:t>提出：</a:t>
            </a:r>
          </a:p>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）软件测试是程序的执行过程，</a:t>
            </a:r>
            <a:r>
              <a:rPr lang="zh-CN" altLang="en-US" sz="2000" dirty="0">
                <a:solidFill>
                  <a:srgbClr val="0070C0"/>
                </a:solidFill>
                <a:latin typeface="微软雅黑" panose="020B0503020204020204" pitchFamily="34" charset="-122"/>
                <a:ea typeface="微软雅黑" panose="020B0503020204020204" pitchFamily="34" charset="-122"/>
              </a:rPr>
              <a:t>目的在于发现错误</a:t>
            </a:r>
            <a:r>
              <a:rPr lang="zh-CN" altLang="en-US" sz="2000" dirty="0">
                <a:solidFill>
                  <a:srgbClr val="595959"/>
                </a:solidFill>
                <a:latin typeface="微软雅黑" panose="020B0503020204020204" pitchFamily="34" charset="-122"/>
                <a:ea typeface="微软雅黑" panose="020B0503020204020204" pitchFamily="34" charset="-122"/>
              </a:rPr>
              <a:t>。</a:t>
            </a:r>
          </a:p>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en-US" sz="2000" dirty="0">
                <a:solidFill>
                  <a:srgbClr val="595959"/>
                </a:solidFill>
                <a:latin typeface="微软雅黑" panose="020B0503020204020204" pitchFamily="34" charset="-122"/>
                <a:ea typeface="微软雅黑" panose="020B0503020204020204" pitchFamily="34" charset="-122"/>
              </a:rPr>
              <a:t>）软件测试是</a:t>
            </a:r>
            <a:r>
              <a:rPr lang="zh-CN" altLang="en-US" sz="2000" b="1" dirty="0">
                <a:solidFill>
                  <a:srgbClr val="0070C0"/>
                </a:solidFill>
                <a:latin typeface="微软雅黑" panose="020B0503020204020204" pitchFamily="34" charset="-122"/>
                <a:ea typeface="微软雅黑" panose="020B0503020204020204" pitchFamily="34" charset="-122"/>
              </a:rPr>
              <a:t>为了证明程序有错误，而不是证明程序无错误</a:t>
            </a:r>
            <a:r>
              <a:rPr lang="zh-CN" altLang="en-US" sz="2000" dirty="0">
                <a:solidFill>
                  <a:srgbClr val="595959"/>
                </a:solidFill>
                <a:latin typeface="微软雅黑" panose="020B0503020204020204" pitchFamily="34" charset="-122"/>
                <a:ea typeface="微软雅黑" panose="020B0503020204020204" pitchFamily="34" charset="-122"/>
              </a:rPr>
              <a:t>。</a:t>
            </a:r>
          </a:p>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en-US" sz="2000" dirty="0">
                <a:solidFill>
                  <a:srgbClr val="595959"/>
                </a:solidFill>
                <a:latin typeface="微软雅黑" panose="020B0503020204020204" pitchFamily="34" charset="-122"/>
                <a:ea typeface="微软雅黑" panose="020B0503020204020204" pitchFamily="34" charset="-122"/>
              </a:rPr>
              <a:t>）一个好的软件测试用例在于</a:t>
            </a:r>
            <a:r>
              <a:rPr lang="zh-CN" altLang="en-US" sz="2000" dirty="0">
                <a:solidFill>
                  <a:srgbClr val="0070C0"/>
                </a:solidFill>
                <a:latin typeface="微软雅黑" panose="020B0503020204020204" pitchFamily="34" charset="-122"/>
                <a:ea typeface="微软雅黑" panose="020B0503020204020204" pitchFamily="34" charset="-122"/>
              </a:rPr>
              <a:t>能发现至今未发现的错误</a:t>
            </a:r>
            <a:r>
              <a:rPr lang="zh-CN" altLang="en-US" sz="2000" dirty="0">
                <a:solidFill>
                  <a:srgbClr val="595959"/>
                </a:solidFill>
                <a:latin typeface="微软雅黑" panose="020B0503020204020204" pitchFamily="34" charset="-122"/>
                <a:ea typeface="微软雅黑" panose="020B0503020204020204" pitchFamily="34" charset="-122"/>
              </a:rPr>
              <a:t>。</a:t>
            </a:r>
          </a:p>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4</a:t>
            </a:r>
            <a:r>
              <a:rPr lang="zh-CN" altLang="en-US" sz="2000" dirty="0">
                <a:solidFill>
                  <a:srgbClr val="595959"/>
                </a:solidFill>
                <a:latin typeface="微软雅黑" panose="020B0503020204020204" pitchFamily="34" charset="-122"/>
                <a:ea typeface="微软雅黑" panose="020B0503020204020204" pitchFamily="34" charset="-122"/>
              </a:rPr>
              <a:t>）一个成功的软件测试是</a:t>
            </a:r>
            <a:r>
              <a:rPr lang="zh-CN" altLang="en-US" sz="2000" dirty="0">
                <a:solidFill>
                  <a:srgbClr val="0070C0"/>
                </a:solidFill>
                <a:latin typeface="微软雅黑" panose="020B0503020204020204" pitchFamily="34" charset="-122"/>
                <a:ea typeface="微软雅黑" panose="020B0503020204020204" pitchFamily="34" charset="-122"/>
              </a:rPr>
              <a:t>发现了至今未发现的错误的测试</a:t>
            </a:r>
            <a:r>
              <a:rPr lang="zh-CN" altLang="en-US" sz="2000" dirty="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a:p>
            <a:pPr indent="457200" algn="just">
              <a:lnSpc>
                <a:spcPct val="150000"/>
              </a:lnSpc>
              <a:buClrTx/>
              <a:buSzTx/>
              <a:buFontTx/>
            </a:pPr>
            <a:endParaRPr lang="zh-CN" altLang="en-US" sz="200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r>
              <a:rPr lang="en-US" altLang="zh-CN" sz="2000" dirty="0">
                <a:solidFill>
                  <a:srgbClr val="0070C0"/>
                </a:solidFill>
                <a:latin typeface="微软雅黑" panose="020B0503020204020204" pitchFamily="34" charset="-122"/>
                <a:ea typeface="微软雅黑" panose="020B0503020204020204" pitchFamily="34" charset="-122"/>
              </a:rPr>
              <a:t>Bill </a:t>
            </a:r>
            <a:r>
              <a:rPr lang="en-US" altLang="zh-CN" sz="2000" dirty="0" err="1">
                <a:solidFill>
                  <a:srgbClr val="0070C0"/>
                </a:solidFill>
                <a:latin typeface="微软雅黑" panose="020B0503020204020204" pitchFamily="34" charset="-122"/>
                <a:ea typeface="微软雅黑" panose="020B0503020204020204" pitchFamily="34" charset="-122"/>
              </a:rPr>
              <a:t>Hetzelt</a:t>
            </a:r>
            <a:r>
              <a:rPr lang="en-US" altLang="zh-CN" sz="2000" dirty="0">
                <a:solidFill>
                  <a:srgbClr val="0070C0"/>
                </a:solidFill>
                <a:latin typeface="微软雅黑" panose="020B0503020204020204" pitchFamily="34" charset="-122"/>
                <a:ea typeface="微软雅黑" panose="020B0503020204020204" pitchFamily="34" charset="-122"/>
              </a:rPr>
              <a:t> </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rPr>
              <a:t>软件测试完全指南</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rPr>
              <a:t>中指出：</a:t>
            </a:r>
          </a:p>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“软件测试是以评价一个程序或者系统属性为目标的任何一种活动。软件测试是对软件质量的度量。”</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D18FF-F520-8BC3-4684-CCCEEF1BF6F8}"/>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33CDE543-F471-B877-ECF3-C4834DA762FB}"/>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软件测试定义</a:t>
            </a:r>
          </a:p>
        </p:txBody>
      </p:sp>
      <p:sp>
        <p:nvSpPr>
          <p:cNvPr id="3" name="Rectangle 3">
            <a:extLst>
              <a:ext uri="{FF2B5EF4-FFF2-40B4-BE49-F238E27FC236}">
                <a16:creationId xmlns:a16="http://schemas.microsoft.com/office/drawing/2014/main" id="{882021BF-CDF6-825C-BE33-65DF8EB7E7B1}"/>
              </a:ext>
            </a:extLst>
          </p:cNvPr>
          <p:cNvSpPr>
            <a:spLocks noChangeArrowheads="1"/>
          </p:cNvSpPr>
          <p:nvPr/>
        </p:nvSpPr>
        <p:spPr bwMode="auto">
          <a:xfrm>
            <a:off x="1163206" y="2349794"/>
            <a:ext cx="9864000" cy="30941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nchor="ctr">
            <a:spAutoFit/>
          </a:bodyPr>
          <a:lstStyle/>
          <a:p>
            <a:pPr>
              <a:lnSpc>
                <a:spcPct val="130000"/>
              </a:lnSpc>
              <a:spcBef>
                <a:spcPct val="0"/>
              </a:spcBef>
              <a:buClr>
                <a:schemeClr val="accent1"/>
              </a:buClr>
              <a:buSzPct val="75000"/>
              <a:tabLst>
                <a:tab pos="571500" algn="l"/>
              </a:tabLst>
            </a:pPr>
            <a:r>
              <a:rPr lang="en-US" altLang="zh-CN" b="1" dirty="0">
                <a:solidFill>
                  <a:srgbClr val="0070C0"/>
                </a:solidFill>
                <a:latin typeface="微软雅黑" panose="020B0503020204020204" pitchFamily="34" charset="-122"/>
                <a:ea typeface="微软雅黑" panose="020B0503020204020204" pitchFamily="34" charset="-122"/>
              </a:rPr>
              <a:t>Verification</a:t>
            </a:r>
            <a:r>
              <a:rPr lang="zh-CN" altLang="en-US" b="1" dirty="0">
                <a:solidFill>
                  <a:srgbClr val="0070C0"/>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Are we building the </a:t>
            </a:r>
            <a:r>
              <a:rPr lang="en-US" altLang="zh-CN" sz="2000" dirty="0">
                <a:solidFill>
                  <a:srgbClr val="0070C0"/>
                </a:solidFill>
                <a:latin typeface="微软雅黑" panose="020B0503020204020204" pitchFamily="34" charset="-122"/>
                <a:ea typeface="微软雅黑" panose="020B0503020204020204" pitchFamily="34" charset="-122"/>
              </a:rPr>
              <a:t>product right</a:t>
            </a:r>
            <a:r>
              <a:rPr lang="zh-CN" altLang="en-US" sz="2000" dirty="0">
                <a:solidFill>
                  <a:srgbClr val="595959"/>
                </a:solidFill>
                <a:latin typeface="微软雅黑" panose="020B0503020204020204" pitchFamily="34" charset="-122"/>
                <a:ea typeface="微软雅黑" panose="020B0503020204020204" pitchFamily="34" charset="-122"/>
              </a:rPr>
              <a:t>？</a:t>
            </a:r>
          </a:p>
          <a:p>
            <a:pPr indent="457200">
              <a:lnSpc>
                <a:spcPct val="130000"/>
              </a:lnSpc>
              <a:spcBef>
                <a:spcPct val="0"/>
              </a:spcBef>
              <a:buClr>
                <a:schemeClr val="accent1"/>
              </a:buClr>
              <a:buSzPct val="75000"/>
              <a:tabLst>
                <a:tab pos="571500" algn="l"/>
              </a:tabLst>
            </a:pPr>
            <a:r>
              <a:rPr lang="zh-CN" altLang="en-US" sz="2000" dirty="0">
                <a:solidFill>
                  <a:srgbClr val="595959"/>
                </a:solidFill>
                <a:latin typeface="微软雅黑" panose="020B0503020204020204" pitchFamily="34" charset="-122"/>
                <a:ea typeface="微软雅黑" panose="020B0503020204020204" pitchFamily="34" charset="-122"/>
              </a:rPr>
              <a:t>是否正确地构造了软件？即是否正确地做事，验证开发过程是否遵守已定义好的内容。验证产品满足规格设计说明书的一致性</a:t>
            </a:r>
          </a:p>
          <a:p>
            <a:pPr>
              <a:lnSpc>
                <a:spcPct val="130000"/>
              </a:lnSpc>
              <a:spcBef>
                <a:spcPct val="0"/>
              </a:spcBef>
              <a:buClr>
                <a:schemeClr val="accent1"/>
              </a:buClr>
              <a:buSzPct val="75000"/>
              <a:tabLst>
                <a:tab pos="571500" algn="l"/>
              </a:tabLst>
            </a:pPr>
            <a:endParaRPr lang="en-US" altLang="zh-CN" sz="2400" i="1" dirty="0">
              <a:latin typeface="Arial Black" charset="0"/>
              <a:ea typeface="楷体_GB2312" charset="0"/>
              <a:cs typeface="楷体_GB2312" charset="0"/>
            </a:endParaRPr>
          </a:p>
          <a:p>
            <a:pPr>
              <a:lnSpc>
                <a:spcPct val="130000"/>
              </a:lnSpc>
              <a:spcBef>
                <a:spcPct val="0"/>
              </a:spcBef>
              <a:buClr>
                <a:schemeClr val="accent1"/>
              </a:buClr>
              <a:buSzPct val="75000"/>
              <a:tabLst>
                <a:tab pos="571500" algn="l"/>
              </a:tabLst>
            </a:pPr>
            <a:r>
              <a:rPr lang="en-US" altLang="zh-CN" b="1" dirty="0">
                <a:solidFill>
                  <a:srgbClr val="0070C0"/>
                </a:solidFill>
                <a:latin typeface="微软雅黑" panose="020B0503020204020204" pitchFamily="34" charset="-122"/>
                <a:ea typeface="微软雅黑" panose="020B0503020204020204" pitchFamily="34" charset="-122"/>
              </a:rPr>
              <a:t>Validation</a:t>
            </a:r>
            <a:r>
              <a:rPr lang="zh-CN" altLang="en-US" b="1" dirty="0">
                <a:solidFill>
                  <a:srgbClr val="0070C0"/>
                </a:solidFill>
                <a:latin typeface="微软雅黑" panose="020B0503020204020204" pitchFamily="34" charset="-122"/>
                <a:ea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rPr>
              <a:t> </a:t>
            </a:r>
            <a:r>
              <a:rPr lang="en-US" altLang="zh-CN" sz="2000" dirty="0">
                <a:solidFill>
                  <a:srgbClr val="595959"/>
                </a:solidFill>
                <a:latin typeface="微软雅黑" panose="020B0503020204020204" pitchFamily="34" charset="-122"/>
                <a:ea typeface="微软雅黑" panose="020B0503020204020204" pitchFamily="34" charset="-122"/>
              </a:rPr>
              <a:t>Are we building the </a:t>
            </a:r>
            <a:r>
              <a:rPr lang="en-US" altLang="zh-CN" sz="2000" dirty="0">
                <a:solidFill>
                  <a:srgbClr val="0070C0"/>
                </a:solidFill>
                <a:latin typeface="微软雅黑" panose="020B0503020204020204" pitchFamily="34" charset="-122"/>
                <a:ea typeface="微软雅黑" panose="020B0503020204020204" pitchFamily="34" charset="-122"/>
              </a:rPr>
              <a:t>right product</a:t>
            </a:r>
            <a:r>
              <a:rPr lang="en-US" altLang="zh-CN" sz="2000" dirty="0">
                <a:solidFill>
                  <a:srgbClr val="595959"/>
                </a:solidFill>
                <a:latin typeface="微软雅黑" panose="020B0503020204020204" pitchFamily="34" charset="-122"/>
                <a:ea typeface="微软雅黑" panose="020B0503020204020204" pitchFamily="34" charset="-122"/>
              </a:rPr>
              <a:t>? </a:t>
            </a:r>
          </a:p>
          <a:p>
            <a:pPr indent="457200">
              <a:lnSpc>
                <a:spcPct val="130000"/>
              </a:lnSpc>
              <a:spcBef>
                <a:spcPct val="0"/>
              </a:spcBef>
              <a:buClr>
                <a:schemeClr val="accent1"/>
              </a:buClr>
              <a:buSzPct val="75000"/>
              <a:tabLst>
                <a:tab pos="571500" algn="l"/>
              </a:tabLst>
            </a:pPr>
            <a:r>
              <a:rPr lang="zh-CN" altLang="en-US" sz="2000" dirty="0">
                <a:solidFill>
                  <a:srgbClr val="595959"/>
                </a:solidFill>
                <a:latin typeface="微软雅黑" panose="020B0503020204020204" pitchFamily="34" charset="-122"/>
                <a:ea typeface="微软雅黑" panose="020B0503020204020204" pitchFamily="34" charset="-122"/>
              </a:rPr>
              <a:t>是否构造了正是用户所需要的软件？即是否正在做正确的事。验证产品所实现的功能是否满足用户的需求</a:t>
            </a:r>
          </a:p>
        </p:txBody>
      </p:sp>
      <p:sp>
        <p:nvSpPr>
          <p:cNvPr id="4" name="文本框 3">
            <a:extLst>
              <a:ext uri="{FF2B5EF4-FFF2-40B4-BE49-F238E27FC236}">
                <a16:creationId xmlns:a16="http://schemas.microsoft.com/office/drawing/2014/main" id="{AA0EC1CE-C5D7-3544-E1DF-246C39A11C68}"/>
              </a:ext>
            </a:extLst>
          </p:cNvPr>
          <p:cNvSpPr txBox="1"/>
          <p:nvPr/>
        </p:nvSpPr>
        <p:spPr>
          <a:xfrm>
            <a:off x="3368754" y="1299827"/>
            <a:ext cx="5767926" cy="523220"/>
          </a:xfrm>
          <a:prstGeom prst="rect">
            <a:avLst/>
          </a:prstGeom>
          <a:noFill/>
        </p:spPr>
        <p:txBody>
          <a:bodyPr wrap="none" rtlCol="0">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Test = Verification + Validation</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05944468"/>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857240" y="3220720"/>
            <a:ext cx="5876290"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熟悉</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软件测试</a:t>
            </a:r>
            <a:r>
              <a:rPr lang="zh-CN" altLang="en-US"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目的</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，能够从</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3</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个角度</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归纳软件测试目的</a:t>
            </a:r>
            <a:endParaRPr lang="zh-CN"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a:solidFill>
                  <a:srgbClr val="595959"/>
                </a:solidFill>
                <a:latin typeface="微软雅黑" panose="020B0503020204020204" pitchFamily="34" charset="-122"/>
                <a:ea typeface="微软雅黑" panose="020B0503020204020204" pitchFamily="34" charset="-122"/>
                <a:cs typeface="+mn-ea"/>
                <a:sym typeface="+mn-lt"/>
              </a:rPr>
              <a:t>1.3.2 </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软件测试的目的</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1055370" y="981710"/>
            <a:ext cx="10046970" cy="621665"/>
          </a:xfrm>
          <a:prstGeom prst="rect">
            <a:avLst/>
          </a:prstGeom>
          <a:noFill/>
        </p:spPr>
        <p:txBody>
          <a:bodyPr wrap="square" rtlCol="0" anchor="t">
            <a:noAutofit/>
          </a:bodyPr>
          <a:lstStyle/>
          <a:p>
            <a:pPr algn="just">
              <a:lnSpc>
                <a:spcPct val="150000"/>
              </a:lnSpc>
              <a:buClrTx/>
              <a:buSzTx/>
              <a:buFontTx/>
            </a:pPr>
            <a:r>
              <a:rPr lang="zh-CN" altLang="en-US" sz="2000">
                <a:solidFill>
                  <a:srgbClr val="595959"/>
                </a:solidFill>
                <a:latin typeface="微软雅黑" panose="020B0503020204020204" pitchFamily="34" charset="-122"/>
                <a:ea typeface="微软雅黑" panose="020B0503020204020204" pitchFamily="34" charset="-122"/>
                <a:sym typeface="+mn-ea"/>
              </a:rPr>
              <a:t>从</a:t>
            </a:r>
            <a:r>
              <a:rPr lang="zh-CN" sz="2000">
                <a:solidFill>
                  <a:srgbClr val="0070C0"/>
                </a:solidFill>
                <a:latin typeface="微软雅黑" panose="020B0503020204020204" pitchFamily="34" charset="-122"/>
                <a:ea typeface="微软雅黑" panose="020B0503020204020204" pitchFamily="34" charset="-122"/>
                <a:sym typeface="+mn-ea"/>
              </a:rPr>
              <a:t>软件开发</a:t>
            </a:r>
            <a:r>
              <a:rPr lang="zh-CN" sz="2000" dirty="0">
                <a:solidFill>
                  <a:srgbClr val="0070C0"/>
                </a:solidFill>
                <a:latin typeface="微软雅黑" panose="020B0503020204020204" pitchFamily="34" charset="-122"/>
                <a:ea typeface="微软雅黑" panose="020B0503020204020204" pitchFamily="34" charset="-122"/>
                <a:sym typeface="+mn-ea"/>
              </a:rPr>
              <a:t>、</a:t>
            </a:r>
            <a:r>
              <a:rPr lang="zh-CN" sz="2000">
                <a:solidFill>
                  <a:srgbClr val="0070C0"/>
                </a:solidFill>
                <a:latin typeface="微软雅黑" panose="020B0503020204020204" pitchFamily="34" charset="-122"/>
                <a:ea typeface="微软雅黑" panose="020B0503020204020204" pitchFamily="34" charset="-122"/>
                <a:sym typeface="+mn-ea"/>
              </a:rPr>
              <a:t>软件测试与</a:t>
            </a:r>
            <a:r>
              <a:rPr lang="zh-CN" altLang="en-US" sz="2000">
                <a:solidFill>
                  <a:srgbClr val="0070C0"/>
                </a:solidFill>
                <a:latin typeface="微软雅黑" panose="020B0503020204020204" pitchFamily="34" charset="-122"/>
                <a:ea typeface="微软雅黑" panose="020B0503020204020204" pitchFamily="34" charset="-122"/>
                <a:sym typeface="+mn-ea"/>
              </a:rPr>
              <a:t>用户</a:t>
            </a:r>
            <a:r>
              <a:rPr lang="zh-CN" sz="2000">
                <a:solidFill>
                  <a:srgbClr val="0070C0"/>
                </a:solidFill>
                <a:latin typeface="微软雅黑" panose="020B0503020204020204" pitchFamily="34" charset="-122"/>
                <a:ea typeface="微软雅黑" panose="020B0503020204020204" pitchFamily="34" charset="-122"/>
                <a:sym typeface="+mn-ea"/>
              </a:rPr>
              <a:t>需求的角度</a:t>
            </a:r>
            <a:r>
              <a:rPr lang="zh-CN" altLang="en-US" sz="2000">
                <a:solidFill>
                  <a:srgbClr val="595959"/>
                </a:solidFill>
                <a:latin typeface="微软雅黑" panose="020B0503020204020204" pitchFamily="34" charset="-122"/>
                <a:ea typeface="微软雅黑" panose="020B0503020204020204" pitchFamily="34" charset="-122"/>
                <a:sym typeface="+mn-ea"/>
              </a:rPr>
              <a:t>，</a:t>
            </a:r>
            <a:r>
              <a:rPr lang="zh-CN" sz="2000">
                <a:solidFill>
                  <a:srgbClr val="595959"/>
                </a:solidFill>
                <a:latin typeface="微软雅黑" panose="020B0503020204020204" pitchFamily="34" charset="-122"/>
                <a:ea typeface="微软雅黑" panose="020B0503020204020204" pitchFamily="34" charset="-122"/>
                <a:sym typeface="+mn-ea"/>
              </a:rPr>
              <a:t>可以将软件测试</a:t>
            </a:r>
            <a:r>
              <a:rPr lang="zh-CN" altLang="en-US" sz="2000">
                <a:solidFill>
                  <a:srgbClr val="595959"/>
                </a:solidFill>
                <a:latin typeface="微软雅黑" panose="020B0503020204020204" pitchFamily="34" charset="-122"/>
                <a:ea typeface="微软雅黑" panose="020B0503020204020204" pitchFamily="34" charset="-122"/>
                <a:sym typeface="+mn-ea"/>
              </a:rPr>
              <a:t>的</a:t>
            </a:r>
            <a:r>
              <a:rPr lang="zh-CN" sz="2000">
                <a:solidFill>
                  <a:srgbClr val="595959"/>
                </a:solidFill>
                <a:latin typeface="微软雅黑" panose="020B0503020204020204" pitchFamily="34" charset="-122"/>
                <a:ea typeface="微软雅黑" panose="020B0503020204020204" pitchFamily="34" charset="-122"/>
                <a:sym typeface="+mn-ea"/>
              </a:rPr>
              <a:t>目的</a:t>
            </a:r>
            <a:r>
              <a:rPr lang="zh-CN" sz="2000" dirty="0">
                <a:solidFill>
                  <a:srgbClr val="595959"/>
                </a:solidFill>
                <a:latin typeface="微软雅黑" panose="020B0503020204020204" pitchFamily="34" charset="-122"/>
                <a:ea typeface="微软雅黑" panose="020B0503020204020204" pitchFamily="34" charset="-122"/>
                <a:sym typeface="+mn-ea"/>
              </a:rPr>
              <a:t>归结为以下3</a:t>
            </a:r>
            <a:r>
              <a:rPr lang="zh-CN" sz="2000">
                <a:solidFill>
                  <a:srgbClr val="595959"/>
                </a:solidFill>
                <a:latin typeface="微软雅黑" panose="020B0503020204020204" pitchFamily="34" charset="-122"/>
                <a:ea typeface="微软雅黑" panose="020B0503020204020204" pitchFamily="34" charset="-122"/>
                <a:sym typeface="+mn-ea"/>
              </a:rPr>
              <a:t>点。</a:t>
            </a: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a:solidFill>
                  <a:srgbClr val="595959"/>
                </a:solidFill>
                <a:latin typeface="微软雅黑" panose="020B0503020204020204" pitchFamily="34" charset="-122"/>
                <a:ea typeface="微软雅黑" panose="020B0503020204020204" pitchFamily="34" charset="-122"/>
                <a:cs typeface="+mn-ea"/>
                <a:sym typeface="+mn-lt"/>
              </a:rPr>
              <a:t>1.3.2 </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软件测试的目的</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6" name="矩形: 剪去单角 444"/>
          <p:cNvSpPr/>
          <p:nvPr/>
        </p:nvSpPr>
        <p:spPr bwMode="auto">
          <a:xfrm>
            <a:off x="4671972" y="1943930"/>
            <a:ext cx="2982018" cy="4575600"/>
          </a:xfrm>
          <a:prstGeom prst="snip1Rect">
            <a:avLst>
              <a:gd name="adj" fmla="val 29383"/>
            </a:avLst>
          </a:prstGeom>
          <a:solidFill>
            <a:srgbClr val="F6F6F6"/>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latin typeface="微软雅黑" panose="020B0503020204020204" pitchFamily="34" charset="-122"/>
              <a:ea typeface="微软雅黑" panose="020B0503020204020204" pitchFamily="34" charset="-122"/>
              <a:sym typeface="Arial" panose="020B0604020202020204"/>
            </a:endParaRPr>
          </a:p>
        </p:txBody>
      </p:sp>
      <p:sp>
        <p:nvSpPr>
          <p:cNvPr id="37" name="矩形 45"/>
          <p:cNvSpPr>
            <a:spLocks noChangeArrowheads="1"/>
          </p:cNvSpPr>
          <p:nvPr/>
        </p:nvSpPr>
        <p:spPr bwMode="auto">
          <a:xfrm>
            <a:off x="4671761" y="6380938"/>
            <a:ext cx="2982439" cy="137850"/>
          </a:xfrm>
          <a:prstGeom prst="rect">
            <a:avLst/>
          </a:prstGeom>
          <a:solidFill>
            <a:srgbClr val="0070C0"/>
          </a:solidFill>
          <a:ln>
            <a:noFill/>
          </a:ln>
        </p:spPr>
        <p:txBody>
          <a:bodyPr anchor="ctr"/>
          <a:lstStyle/>
          <a:p>
            <a:pPr algn="ctr"/>
            <a:endParaRPr lang="zh-CN" altLang="zh-CN">
              <a:latin typeface="微软雅黑" panose="020B0503020204020204" pitchFamily="34" charset="-122"/>
              <a:ea typeface="微软雅黑" panose="020B0503020204020204" pitchFamily="34" charset="-122"/>
              <a:sym typeface="Arial" panose="020B0604020202020204" pitchFamily="34" charset="0"/>
            </a:endParaRPr>
          </a:p>
        </p:txBody>
      </p:sp>
      <p:sp>
        <p:nvSpPr>
          <p:cNvPr id="38" name="任意多边形: 形状 445"/>
          <p:cNvSpPr/>
          <p:nvPr/>
        </p:nvSpPr>
        <p:spPr bwMode="auto">
          <a:xfrm>
            <a:off x="6901744" y="1943930"/>
            <a:ext cx="752457" cy="805713"/>
          </a:xfrm>
          <a:custGeom>
            <a:avLst/>
            <a:gdLst>
              <a:gd name="T0" fmla="*/ 719975 w 608"/>
              <a:gd name="T1" fmla="*/ 0 h 608"/>
              <a:gd name="T2" fmla="*/ 0 w 608"/>
              <a:gd name="T3" fmla="*/ 0 h 608"/>
              <a:gd name="T4" fmla="*/ 719975 w 608"/>
              <a:gd name="T5" fmla="*/ 719975 h 608"/>
              <a:gd name="T6" fmla="*/ 719975 w 608"/>
              <a:gd name="T7" fmla="*/ 0 h 608"/>
              <a:gd name="T8" fmla="*/ 0 60000 65536"/>
              <a:gd name="T9" fmla="*/ 0 60000 65536"/>
              <a:gd name="T10" fmla="*/ 0 60000 65536"/>
              <a:gd name="T11" fmla="*/ 0 60000 65536"/>
              <a:gd name="T12" fmla="*/ 0 w 608"/>
              <a:gd name="T13" fmla="*/ 0 h 608"/>
              <a:gd name="T14" fmla="*/ 608 w 608"/>
              <a:gd name="T15" fmla="*/ 608 h 608"/>
            </a:gdLst>
            <a:ahLst/>
            <a:cxnLst>
              <a:cxn ang="T8">
                <a:pos x="T0" y="T1"/>
              </a:cxn>
              <a:cxn ang="T9">
                <a:pos x="T2" y="T3"/>
              </a:cxn>
              <a:cxn ang="T10">
                <a:pos x="T4" y="T5"/>
              </a:cxn>
              <a:cxn ang="T11">
                <a:pos x="T6" y="T7"/>
              </a:cxn>
            </a:cxnLst>
            <a:rect l="T12" t="T13" r="T14" b="T15"/>
            <a:pathLst>
              <a:path w="608" h="608">
                <a:moveTo>
                  <a:pt x="608" y="0"/>
                </a:moveTo>
                <a:lnTo>
                  <a:pt x="0" y="0"/>
                </a:lnTo>
                <a:lnTo>
                  <a:pt x="608" y="608"/>
                </a:lnTo>
                <a:lnTo>
                  <a:pt x="608" y="0"/>
                </a:lnTo>
                <a:close/>
              </a:path>
            </a:pathLst>
          </a:custGeom>
          <a:solidFill>
            <a:srgbClr val="0070C0"/>
          </a:solidFill>
          <a:ln>
            <a:noFill/>
          </a:ln>
        </p:spPr>
        <p:txBody>
          <a:bodyPr lIns="121920" tIns="60960" rIns="121920" bIns="60960"/>
          <a:lstStyle/>
          <a:p>
            <a:pPr algn="r"/>
            <a:r>
              <a:rPr lang="en-US" altLang="zh-CN" sz="1600" b="1">
                <a:solidFill>
                  <a:schemeClr val="bg1"/>
                </a:solidFill>
                <a:latin typeface="微软雅黑" panose="020B0503020204020204" pitchFamily="34" charset="-122"/>
                <a:ea typeface="微软雅黑" panose="020B0503020204020204" pitchFamily="34" charset="-122"/>
                <a:sym typeface="Arial" panose="020B0604020202020204" pitchFamily="34" charset="0"/>
              </a:rPr>
              <a:t>2</a:t>
            </a:r>
          </a:p>
        </p:txBody>
      </p:sp>
      <p:sp>
        <p:nvSpPr>
          <p:cNvPr id="39" name="矩形: 剪去单角 437"/>
          <p:cNvSpPr/>
          <p:nvPr/>
        </p:nvSpPr>
        <p:spPr bwMode="auto">
          <a:xfrm>
            <a:off x="1209675" y="1943735"/>
            <a:ext cx="2981960" cy="4575175"/>
          </a:xfrm>
          <a:prstGeom prst="snip1Rect">
            <a:avLst>
              <a:gd name="adj" fmla="val 29383"/>
            </a:avLst>
          </a:prstGeom>
          <a:solidFill>
            <a:srgbClr val="F6F6F6"/>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latin typeface="微软雅黑" panose="020B0503020204020204" pitchFamily="34" charset="-122"/>
              <a:ea typeface="微软雅黑" panose="020B0503020204020204" pitchFamily="34" charset="-122"/>
              <a:sym typeface="Arial" panose="020B0604020202020204"/>
            </a:endParaRPr>
          </a:p>
        </p:txBody>
      </p:sp>
      <p:sp>
        <p:nvSpPr>
          <p:cNvPr id="40" name="矩形 42"/>
          <p:cNvSpPr>
            <a:spLocks noChangeArrowheads="1"/>
          </p:cNvSpPr>
          <p:nvPr/>
        </p:nvSpPr>
        <p:spPr bwMode="auto">
          <a:xfrm>
            <a:off x="1209956" y="6381573"/>
            <a:ext cx="2982439" cy="137850"/>
          </a:xfrm>
          <a:prstGeom prst="rect">
            <a:avLst/>
          </a:prstGeom>
          <a:solidFill>
            <a:srgbClr val="0070C0"/>
          </a:solidFill>
          <a:ln>
            <a:noFill/>
          </a:ln>
        </p:spPr>
        <p:txBody>
          <a:bodyPr anchor="ctr"/>
          <a:lstStyle/>
          <a:p>
            <a:pPr algn="ctr"/>
            <a:endParaRPr lang="zh-CN" altLang="zh-CN">
              <a:latin typeface="微软雅黑" panose="020B0503020204020204" pitchFamily="34" charset="-122"/>
              <a:ea typeface="微软雅黑" panose="020B0503020204020204" pitchFamily="34" charset="-122"/>
              <a:sym typeface="Arial" panose="020B0604020202020204" pitchFamily="34" charset="0"/>
            </a:endParaRPr>
          </a:p>
        </p:txBody>
      </p:sp>
      <p:sp>
        <p:nvSpPr>
          <p:cNvPr id="41" name="任意多边形: 形状 438"/>
          <p:cNvSpPr/>
          <p:nvPr/>
        </p:nvSpPr>
        <p:spPr bwMode="auto">
          <a:xfrm>
            <a:off x="3439939" y="1943930"/>
            <a:ext cx="752457" cy="805713"/>
          </a:xfrm>
          <a:custGeom>
            <a:avLst/>
            <a:gdLst>
              <a:gd name="T0" fmla="*/ 631242 w 608"/>
              <a:gd name="T1" fmla="*/ 0 h 608"/>
              <a:gd name="T2" fmla="*/ 0 w 608"/>
              <a:gd name="T3" fmla="*/ 0 h 608"/>
              <a:gd name="T4" fmla="*/ 631242 w 608"/>
              <a:gd name="T5" fmla="*/ 631242 h 608"/>
              <a:gd name="T6" fmla="*/ 631242 w 608"/>
              <a:gd name="T7" fmla="*/ 0 h 608"/>
              <a:gd name="T8" fmla="*/ 0 60000 65536"/>
              <a:gd name="T9" fmla="*/ 0 60000 65536"/>
              <a:gd name="T10" fmla="*/ 0 60000 65536"/>
              <a:gd name="T11" fmla="*/ 0 60000 65536"/>
              <a:gd name="T12" fmla="*/ 0 w 608"/>
              <a:gd name="T13" fmla="*/ 0 h 608"/>
              <a:gd name="T14" fmla="*/ 608 w 608"/>
              <a:gd name="T15" fmla="*/ 608 h 608"/>
            </a:gdLst>
            <a:ahLst/>
            <a:cxnLst>
              <a:cxn ang="T8">
                <a:pos x="T0" y="T1"/>
              </a:cxn>
              <a:cxn ang="T9">
                <a:pos x="T2" y="T3"/>
              </a:cxn>
              <a:cxn ang="T10">
                <a:pos x="T4" y="T5"/>
              </a:cxn>
              <a:cxn ang="T11">
                <a:pos x="T6" y="T7"/>
              </a:cxn>
            </a:cxnLst>
            <a:rect l="T12" t="T13" r="T14" b="T15"/>
            <a:pathLst>
              <a:path w="608" h="608">
                <a:moveTo>
                  <a:pt x="608" y="0"/>
                </a:moveTo>
                <a:lnTo>
                  <a:pt x="0" y="0"/>
                </a:lnTo>
                <a:lnTo>
                  <a:pt x="608" y="608"/>
                </a:lnTo>
                <a:lnTo>
                  <a:pt x="608" y="0"/>
                </a:lnTo>
                <a:close/>
              </a:path>
            </a:pathLst>
          </a:custGeom>
          <a:solidFill>
            <a:srgbClr val="0070C0"/>
          </a:solidFill>
          <a:ln>
            <a:noFill/>
          </a:ln>
        </p:spPr>
        <p:txBody>
          <a:bodyPr lIns="121920" tIns="60960" rIns="121920" bIns="60960"/>
          <a:lstStyle/>
          <a:p>
            <a:pPr algn="r"/>
            <a:r>
              <a:rPr lang="en-US" altLang="ko-KR" sz="1600" b="1">
                <a:solidFill>
                  <a:schemeClr val="bg1"/>
                </a:solidFill>
                <a:latin typeface="微软雅黑" panose="020B0503020204020204" pitchFamily="34" charset="-122"/>
                <a:ea typeface="微软雅黑" panose="020B0503020204020204" pitchFamily="34" charset="-122"/>
                <a:sym typeface="Arial" panose="020B0604020202020204" pitchFamily="34" charset="0"/>
              </a:rPr>
              <a:t>1</a:t>
            </a:r>
          </a:p>
        </p:txBody>
      </p:sp>
      <p:sp>
        <p:nvSpPr>
          <p:cNvPr id="42" name="矩形: 剪去单角 455"/>
          <p:cNvSpPr/>
          <p:nvPr/>
        </p:nvSpPr>
        <p:spPr bwMode="auto">
          <a:xfrm>
            <a:off x="8133988" y="1943930"/>
            <a:ext cx="2982018" cy="4575600"/>
          </a:xfrm>
          <a:prstGeom prst="snip1Rect">
            <a:avLst>
              <a:gd name="adj" fmla="val 29383"/>
            </a:avLst>
          </a:prstGeom>
          <a:solidFill>
            <a:srgbClr val="F6F6F6"/>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latin typeface="微软雅黑" panose="020B0503020204020204" pitchFamily="34" charset="-122"/>
              <a:ea typeface="微软雅黑" panose="020B0503020204020204" pitchFamily="34" charset="-122"/>
              <a:sym typeface="Arial" panose="020B0604020202020204"/>
            </a:endParaRPr>
          </a:p>
        </p:txBody>
      </p:sp>
      <p:sp>
        <p:nvSpPr>
          <p:cNvPr id="43" name="矩形 42"/>
          <p:cNvSpPr/>
          <p:nvPr/>
        </p:nvSpPr>
        <p:spPr bwMode="auto">
          <a:xfrm>
            <a:off x="8133988" y="6398487"/>
            <a:ext cx="2982018" cy="136811"/>
          </a:xfrm>
          <a:prstGeom prst="rect">
            <a:avLst/>
          </a:prstGeom>
          <a:solidFill>
            <a:srgbClr val="0070C0"/>
          </a:solidFill>
          <a:ln w="12700">
            <a:noFill/>
            <a:prstDash val="solid"/>
            <a:round/>
          </a:ln>
          <a:effectLst/>
        </p:spPr>
        <p:txBody>
          <a:bodyPr anchor="ctr"/>
          <a:lstStyle/>
          <a:p>
            <a:pPr algn="ctr">
              <a:defRPr/>
            </a:pPr>
            <a:endParaRPr>
              <a:latin typeface="微软雅黑" panose="020B0503020204020204" pitchFamily="34" charset="-122"/>
              <a:ea typeface="微软雅黑" panose="020B0503020204020204" pitchFamily="34" charset="-122"/>
              <a:sym typeface="Arial" panose="020B0604020202020204"/>
            </a:endParaRPr>
          </a:p>
        </p:txBody>
      </p:sp>
      <p:sp>
        <p:nvSpPr>
          <p:cNvPr id="44" name="任意多边形: 形状 456"/>
          <p:cNvSpPr/>
          <p:nvPr/>
        </p:nvSpPr>
        <p:spPr bwMode="auto">
          <a:xfrm>
            <a:off x="10364704" y="1943930"/>
            <a:ext cx="751302" cy="804634"/>
          </a:xfrm>
          <a:custGeom>
            <a:avLst/>
            <a:gdLst>
              <a:gd name="T0" fmla="*/ 608 w 608"/>
              <a:gd name="T1" fmla="*/ 0 h 608"/>
              <a:gd name="T2" fmla="*/ 0 w 608"/>
              <a:gd name="T3" fmla="*/ 0 h 608"/>
              <a:gd name="T4" fmla="*/ 608 w 608"/>
              <a:gd name="T5" fmla="*/ 608 h 608"/>
              <a:gd name="T6" fmla="*/ 608 w 608"/>
              <a:gd name="T7" fmla="*/ 0 h 608"/>
            </a:gdLst>
            <a:ahLst/>
            <a:cxnLst>
              <a:cxn ang="0">
                <a:pos x="T0" y="T1"/>
              </a:cxn>
              <a:cxn ang="0">
                <a:pos x="T2" y="T3"/>
              </a:cxn>
              <a:cxn ang="0">
                <a:pos x="T4" y="T5"/>
              </a:cxn>
              <a:cxn ang="0">
                <a:pos x="T6" y="T7"/>
              </a:cxn>
            </a:cxnLst>
            <a:rect l="0" t="0" r="r" b="b"/>
            <a:pathLst>
              <a:path w="608" h="608">
                <a:moveTo>
                  <a:pt x="608" y="0"/>
                </a:moveTo>
                <a:lnTo>
                  <a:pt x="0" y="0"/>
                </a:lnTo>
                <a:lnTo>
                  <a:pt x="608" y="608"/>
                </a:lnTo>
                <a:lnTo>
                  <a:pt x="608" y="0"/>
                </a:lnTo>
                <a:close/>
              </a:path>
            </a:pathLst>
          </a:custGeom>
          <a:solidFill>
            <a:srgbClr val="0070C0"/>
          </a:solidFill>
          <a:ln w="12700">
            <a:noFill/>
            <a:prstDash val="solid"/>
            <a:round/>
          </a:ln>
          <a:effectLst/>
        </p:spPr>
        <p:txBody>
          <a:bodyPr lIns="121920" tIns="60960" rIns="121920" bIns="60960">
            <a:normAutofit/>
          </a:bodyPr>
          <a:lstStyle/>
          <a:p>
            <a:pPr algn="r">
              <a:defRPr/>
            </a:pPr>
            <a:r>
              <a:rPr lang="en-US" altLang="ko-KR" sz="1600" b="1" dirty="0">
                <a:solidFill>
                  <a:schemeClr val="bg1"/>
                </a:solidFill>
                <a:latin typeface="微软雅黑" panose="020B0503020204020204" pitchFamily="34" charset="-122"/>
                <a:ea typeface="微软雅黑" panose="020B0503020204020204" pitchFamily="34" charset="-122"/>
                <a:sym typeface="Arial" panose="020B0604020202020204"/>
              </a:rPr>
              <a:t>3</a:t>
            </a:r>
          </a:p>
        </p:txBody>
      </p:sp>
      <p:sp>
        <p:nvSpPr>
          <p:cNvPr id="45" name="矩形 44"/>
          <p:cNvSpPr/>
          <p:nvPr/>
        </p:nvSpPr>
        <p:spPr bwMode="auto">
          <a:xfrm>
            <a:off x="1426192" y="3629730"/>
            <a:ext cx="2643099" cy="2677656"/>
          </a:xfrm>
          <a:prstGeom prst="rect">
            <a:avLst/>
          </a:prstGeom>
        </p:spPr>
        <p:txBody>
          <a:bodyPr>
            <a:spAutoFit/>
            <a:scene3d>
              <a:camera prst="orthographicFront"/>
              <a:lightRig rig="threePt" dir="t"/>
            </a:scene3d>
            <a:sp3d contourW="12700"/>
          </a:bodyPr>
          <a:lstStyle/>
          <a:p>
            <a:pPr indent="457200">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从软件开发角度来说，软件测试通过找到的缺陷帮助开发人员找到开发过程中存在的问题，包括</a:t>
            </a:r>
            <a:r>
              <a:rPr lang="zh-CN" altLang="en-US" sz="1600" dirty="0">
                <a:solidFill>
                  <a:srgbClr val="0070C0"/>
                </a:solidFill>
                <a:latin typeface="微软雅黑" panose="020B0503020204020204" pitchFamily="34" charset="-122"/>
                <a:ea typeface="微软雅黑" panose="020B0503020204020204" pitchFamily="34" charset="-122"/>
                <a:sym typeface="Arial" panose="020B0604020202020204"/>
              </a:rPr>
              <a:t>软件开发的模式、工具、技术等方面存在的问题与不足</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，从而预防缺陷的产生。</a:t>
            </a:r>
          </a:p>
        </p:txBody>
      </p:sp>
      <p:sp>
        <p:nvSpPr>
          <p:cNvPr id="46" name="矩形 45"/>
          <p:cNvSpPr/>
          <p:nvPr/>
        </p:nvSpPr>
        <p:spPr bwMode="auto">
          <a:xfrm>
            <a:off x="1426191" y="3130441"/>
            <a:ext cx="2643100" cy="553998"/>
          </a:xfrm>
          <a:prstGeom prst="rect">
            <a:avLst/>
          </a:prstGeom>
        </p:spPr>
        <p:txBody>
          <a:bodyPr wrap="square">
            <a:spAutoFit/>
            <a:scene3d>
              <a:camera prst="orthographicFront"/>
              <a:lightRig rig="threePt" dir="t"/>
            </a:scene3d>
            <a:sp3d contourW="12700"/>
          </a:bodyPr>
          <a:lstStyle/>
          <a:p>
            <a:pPr lvl="0" algn="l">
              <a:lnSpc>
                <a:spcPct val="150000"/>
              </a:lnSpc>
              <a:defRPr/>
            </a:pPr>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1.从软件开发</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的角度</a:t>
            </a:r>
          </a:p>
        </p:txBody>
      </p:sp>
      <p:sp>
        <p:nvSpPr>
          <p:cNvPr id="47" name="矩形 46"/>
          <p:cNvSpPr/>
          <p:nvPr/>
        </p:nvSpPr>
        <p:spPr bwMode="auto">
          <a:xfrm>
            <a:off x="4887998" y="3629730"/>
            <a:ext cx="2643099" cy="2308324"/>
          </a:xfrm>
          <a:prstGeom prst="rect">
            <a:avLst/>
          </a:prstGeom>
        </p:spPr>
        <p:txBody>
          <a:bodyPr>
            <a:spAutoFit/>
            <a:scene3d>
              <a:camera prst="orthographicFront"/>
              <a:lightRig rig="threePt" dir="t"/>
            </a:scene3d>
            <a:sp3d contourW="12700"/>
          </a:bodyPr>
          <a:lstStyle/>
          <a:p>
            <a:pPr lvl="0" indent="457200" algn="l">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从软件测试角度来说，主要目的是</a:t>
            </a:r>
            <a:r>
              <a:rPr lang="zh-CN" altLang="en-US" sz="1600" dirty="0">
                <a:solidFill>
                  <a:srgbClr val="0070C0"/>
                </a:solidFill>
                <a:latin typeface="微软雅黑" panose="020B0503020204020204" pitchFamily="34" charset="-122"/>
                <a:ea typeface="微软雅黑" panose="020B0503020204020204" pitchFamily="34" charset="-122"/>
                <a:sym typeface="Arial" panose="020B0604020202020204"/>
              </a:rPr>
              <a:t>使用最少的人力、物力、时间等找到软件中隐藏的缺陷</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，保证软件的质量，也为以后软件测试积累丰富的经验。</a:t>
            </a:r>
          </a:p>
        </p:txBody>
      </p:sp>
      <p:sp>
        <p:nvSpPr>
          <p:cNvPr id="48" name="矩形 47"/>
          <p:cNvSpPr/>
          <p:nvPr/>
        </p:nvSpPr>
        <p:spPr bwMode="auto">
          <a:xfrm>
            <a:off x="4887996" y="3130441"/>
            <a:ext cx="2503209" cy="553998"/>
          </a:xfrm>
          <a:prstGeom prst="rect">
            <a:avLst/>
          </a:prstGeom>
        </p:spPr>
        <p:txBody>
          <a:bodyPr wrap="square">
            <a:spAutoFit/>
            <a:scene3d>
              <a:camera prst="orthographicFront"/>
              <a:lightRig rig="threePt" dir="t"/>
            </a:scene3d>
            <a:sp3d contourW="12700"/>
          </a:bodyPr>
          <a:lstStyle/>
          <a:p>
            <a:pPr lvl="0" algn="l">
              <a:lnSpc>
                <a:spcPct val="150000"/>
              </a:lnSpc>
              <a:defRPr/>
            </a:pPr>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2.从软件测试</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的角度</a:t>
            </a:r>
          </a:p>
        </p:txBody>
      </p:sp>
      <p:sp>
        <p:nvSpPr>
          <p:cNvPr id="49" name="矩形 48"/>
          <p:cNvSpPr/>
          <p:nvPr/>
        </p:nvSpPr>
        <p:spPr bwMode="auto">
          <a:xfrm>
            <a:off x="8352632" y="3629730"/>
            <a:ext cx="2643099" cy="1938020"/>
          </a:xfrm>
          <a:prstGeom prst="rect">
            <a:avLst/>
          </a:prstGeom>
        </p:spPr>
        <p:txBody>
          <a:bodyPr>
            <a:spAutoFit/>
            <a:scene3d>
              <a:camera prst="orthographicFront"/>
              <a:lightRig rig="threePt" dir="t"/>
            </a:scene3d>
            <a:sp3d contourW="12700"/>
          </a:bodyPr>
          <a:lstStyle/>
          <a:p>
            <a:pPr lvl="0" indent="457200" algn="l">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从用户需求角度来说，</a:t>
            </a:r>
            <a:r>
              <a:rPr lang="zh-CN" altLang="en-US" sz="1600" dirty="0">
                <a:solidFill>
                  <a:srgbClr val="0070C0"/>
                </a:solidFill>
                <a:latin typeface="微软雅黑" panose="020B0503020204020204" pitchFamily="34" charset="-122"/>
                <a:ea typeface="微软雅黑" panose="020B0503020204020204" pitchFamily="34" charset="-122"/>
                <a:sym typeface="Arial" panose="020B0604020202020204"/>
              </a:rPr>
              <a:t>软件测试能够检验软件是否符合用户需求</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，对软件质量进行评估和度量，可为用户评审软件提供有力的依据。</a:t>
            </a:r>
          </a:p>
        </p:txBody>
      </p:sp>
      <p:sp>
        <p:nvSpPr>
          <p:cNvPr id="50" name="矩形 49"/>
          <p:cNvSpPr/>
          <p:nvPr/>
        </p:nvSpPr>
        <p:spPr bwMode="auto">
          <a:xfrm>
            <a:off x="8352630" y="3130441"/>
            <a:ext cx="2494575" cy="553998"/>
          </a:xfrm>
          <a:prstGeom prst="rect">
            <a:avLst/>
          </a:prstGeom>
        </p:spPr>
        <p:txBody>
          <a:bodyPr wrap="square">
            <a:spAutoFit/>
            <a:scene3d>
              <a:camera prst="orthographicFront"/>
              <a:lightRig rig="threePt" dir="t"/>
            </a:scene3d>
            <a:sp3d contourW="12700"/>
          </a:bodyPr>
          <a:lstStyle/>
          <a:p>
            <a:pPr lvl="0" algn="l">
              <a:lnSpc>
                <a:spcPct val="150000"/>
              </a:lnSpc>
              <a:defRPr/>
            </a:pPr>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3.从用户需求</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的角度</a:t>
            </a:r>
          </a:p>
        </p:txBody>
      </p:sp>
      <p:sp>
        <p:nvSpPr>
          <p:cNvPr id="51" name="任意多边形: 形状 43"/>
          <p:cNvSpPr/>
          <p:nvPr/>
        </p:nvSpPr>
        <p:spPr bwMode="auto">
          <a:xfrm>
            <a:off x="5695276" y="2291379"/>
            <a:ext cx="427973" cy="458261"/>
          </a:xfrm>
          <a:custGeom>
            <a:avLst/>
            <a:gdLst>
              <a:gd name="T0" fmla="*/ 218845 w 21551"/>
              <a:gd name="T1" fmla="*/ 218844 h 21600"/>
              <a:gd name="T2" fmla="*/ 218845 w 21551"/>
              <a:gd name="T3" fmla="*/ 218844 h 21600"/>
              <a:gd name="T4" fmla="*/ 218845 w 21551"/>
              <a:gd name="T5" fmla="*/ 218844 h 21600"/>
              <a:gd name="T6" fmla="*/ 218845 w 21551"/>
              <a:gd name="T7" fmla="*/ 218844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551" h="21600" extrusionOk="0">
                <a:moveTo>
                  <a:pt x="19313" y="4353"/>
                </a:moveTo>
                <a:lnTo>
                  <a:pt x="16178" y="7496"/>
                </a:lnTo>
                <a:cubicBezTo>
                  <a:pt x="16034" y="7640"/>
                  <a:pt x="15980" y="7851"/>
                  <a:pt x="16036" y="8047"/>
                </a:cubicBezTo>
                <a:lnTo>
                  <a:pt x="18732" y="17470"/>
                </a:lnTo>
                <a:cubicBezTo>
                  <a:pt x="18788" y="17666"/>
                  <a:pt x="18734" y="17878"/>
                  <a:pt x="18590" y="18022"/>
                </a:cubicBezTo>
                <a:lnTo>
                  <a:pt x="17170" y="19445"/>
                </a:lnTo>
                <a:cubicBezTo>
                  <a:pt x="17059" y="19556"/>
                  <a:pt x="16916" y="19609"/>
                  <a:pt x="16775" y="19609"/>
                </a:cubicBezTo>
                <a:cubicBezTo>
                  <a:pt x="16581" y="19609"/>
                  <a:pt x="16390" y="19510"/>
                  <a:pt x="16285" y="19322"/>
                </a:cubicBezTo>
                <a:lnTo>
                  <a:pt x="12375" y="12317"/>
                </a:lnTo>
                <a:cubicBezTo>
                  <a:pt x="12271" y="12129"/>
                  <a:pt x="12079" y="12029"/>
                  <a:pt x="11886" y="12029"/>
                </a:cubicBezTo>
                <a:cubicBezTo>
                  <a:pt x="11744" y="12029"/>
                  <a:pt x="11602" y="12083"/>
                  <a:pt x="11491" y="12194"/>
                </a:cubicBezTo>
                <a:lnTo>
                  <a:pt x="8519" y="15172"/>
                </a:lnTo>
                <a:cubicBezTo>
                  <a:pt x="8388" y="15304"/>
                  <a:pt x="8330" y="15492"/>
                  <a:pt x="8365" y="15674"/>
                </a:cubicBezTo>
                <a:lnTo>
                  <a:pt x="8996" y="18989"/>
                </a:lnTo>
                <a:cubicBezTo>
                  <a:pt x="9031" y="19171"/>
                  <a:pt x="8973" y="19359"/>
                  <a:pt x="8842" y="19491"/>
                </a:cubicBezTo>
                <a:lnTo>
                  <a:pt x="8441" y="19893"/>
                </a:lnTo>
                <a:cubicBezTo>
                  <a:pt x="8330" y="20004"/>
                  <a:pt x="8187" y="20058"/>
                  <a:pt x="8046" y="20058"/>
                </a:cubicBezTo>
                <a:cubicBezTo>
                  <a:pt x="7852" y="20058"/>
                  <a:pt x="7661" y="19958"/>
                  <a:pt x="7556" y="19770"/>
                </a:cubicBezTo>
                <a:lnTo>
                  <a:pt x="5577" y="16226"/>
                </a:lnTo>
                <a:cubicBezTo>
                  <a:pt x="5526" y="16136"/>
                  <a:pt x="5452" y="16061"/>
                  <a:pt x="5362" y="16010"/>
                </a:cubicBezTo>
                <a:lnTo>
                  <a:pt x="1826" y="14027"/>
                </a:lnTo>
                <a:cubicBezTo>
                  <a:pt x="1502" y="13845"/>
                  <a:pt x="1441" y="13403"/>
                  <a:pt x="1703" y="13141"/>
                </a:cubicBezTo>
                <a:lnTo>
                  <a:pt x="2105" y="12738"/>
                </a:lnTo>
                <a:cubicBezTo>
                  <a:pt x="2211" y="12632"/>
                  <a:pt x="2354" y="12574"/>
                  <a:pt x="2501" y="12574"/>
                </a:cubicBezTo>
                <a:cubicBezTo>
                  <a:pt x="2536" y="12574"/>
                  <a:pt x="2571" y="12577"/>
                  <a:pt x="2606" y="12584"/>
                </a:cubicBezTo>
                <a:lnTo>
                  <a:pt x="5913" y="13216"/>
                </a:lnTo>
                <a:cubicBezTo>
                  <a:pt x="5948" y="13223"/>
                  <a:pt x="5983" y="13226"/>
                  <a:pt x="6018" y="13226"/>
                </a:cubicBezTo>
                <a:cubicBezTo>
                  <a:pt x="6165" y="13226"/>
                  <a:pt x="6308" y="13168"/>
                  <a:pt x="6414" y="13062"/>
                </a:cubicBezTo>
                <a:lnTo>
                  <a:pt x="9385" y="10083"/>
                </a:lnTo>
                <a:cubicBezTo>
                  <a:pt x="9648" y="9820"/>
                  <a:pt x="9587" y="9379"/>
                  <a:pt x="9263" y="9197"/>
                </a:cubicBezTo>
                <a:lnTo>
                  <a:pt x="2273" y="5278"/>
                </a:lnTo>
                <a:cubicBezTo>
                  <a:pt x="1949" y="5097"/>
                  <a:pt x="1888" y="4655"/>
                  <a:pt x="2150" y="4392"/>
                </a:cubicBezTo>
                <a:lnTo>
                  <a:pt x="3571" y="2968"/>
                </a:lnTo>
                <a:cubicBezTo>
                  <a:pt x="3677" y="2862"/>
                  <a:pt x="3820" y="2804"/>
                  <a:pt x="3966" y="2804"/>
                </a:cubicBezTo>
                <a:cubicBezTo>
                  <a:pt x="4018" y="2804"/>
                  <a:pt x="4070" y="2811"/>
                  <a:pt x="4121" y="2826"/>
                </a:cubicBezTo>
                <a:lnTo>
                  <a:pt x="13523" y="5528"/>
                </a:lnTo>
                <a:cubicBezTo>
                  <a:pt x="13574" y="5543"/>
                  <a:pt x="13625" y="5550"/>
                  <a:pt x="13677" y="5550"/>
                </a:cubicBezTo>
                <a:cubicBezTo>
                  <a:pt x="13823" y="5550"/>
                  <a:pt x="13966" y="5493"/>
                  <a:pt x="14073" y="5386"/>
                </a:cubicBezTo>
                <a:lnTo>
                  <a:pt x="17208" y="2243"/>
                </a:lnTo>
                <a:cubicBezTo>
                  <a:pt x="17593" y="1857"/>
                  <a:pt x="18321" y="1542"/>
                  <a:pt x="18937" y="1542"/>
                </a:cubicBezTo>
                <a:cubicBezTo>
                  <a:pt x="19252" y="1542"/>
                  <a:pt x="19538" y="1624"/>
                  <a:pt x="19734" y="1821"/>
                </a:cubicBezTo>
                <a:cubicBezTo>
                  <a:pt x="20316" y="2404"/>
                  <a:pt x="19895" y="3770"/>
                  <a:pt x="19313" y="4353"/>
                </a:cubicBezTo>
                <a:cubicBezTo>
                  <a:pt x="19313" y="4353"/>
                  <a:pt x="19313" y="4353"/>
                  <a:pt x="19313" y="4353"/>
                </a:cubicBezTo>
                <a:close/>
                <a:moveTo>
                  <a:pt x="20822" y="731"/>
                </a:moveTo>
                <a:cubicBezTo>
                  <a:pt x="20557" y="465"/>
                  <a:pt x="20235" y="268"/>
                  <a:pt x="19866" y="145"/>
                </a:cubicBezTo>
                <a:cubicBezTo>
                  <a:pt x="19578" y="49"/>
                  <a:pt x="19266" y="0"/>
                  <a:pt x="18937" y="0"/>
                </a:cubicBezTo>
                <a:cubicBezTo>
                  <a:pt x="18441" y="0"/>
                  <a:pt x="17909" y="111"/>
                  <a:pt x="17399" y="322"/>
                </a:cubicBezTo>
                <a:cubicBezTo>
                  <a:pt x="16897" y="530"/>
                  <a:pt x="16455" y="817"/>
                  <a:pt x="16120" y="1153"/>
                </a:cubicBezTo>
                <a:lnTo>
                  <a:pt x="13392" y="3887"/>
                </a:lnTo>
                <a:lnTo>
                  <a:pt x="4545" y="1343"/>
                </a:lnTo>
                <a:cubicBezTo>
                  <a:pt x="4357" y="1289"/>
                  <a:pt x="4162" y="1262"/>
                  <a:pt x="3966" y="1262"/>
                </a:cubicBezTo>
                <a:cubicBezTo>
                  <a:pt x="3691" y="1262"/>
                  <a:pt x="3423" y="1315"/>
                  <a:pt x="3169" y="1420"/>
                </a:cubicBezTo>
                <a:cubicBezTo>
                  <a:pt x="2911" y="1526"/>
                  <a:pt x="2680" y="1680"/>
                  <a:pt x="2482" y="1878"/>
                </a:cubicBezTo>
                <a:lnTo>
                  <a:pt x="1062" y="3301"/>
                </a:lnTo>
                <a:cubicBezTo>
                  <a:pt x="828" y="3536"/>
                  <a:pt x="650" y="3827"/>
                  <a:pt x="549" y="4142"/>
                </a:cubicBezTo>
                <a:cubicBezTo>
                  <a:pt x="452" y="4442"/>
                  <a:pt x="424" y="4765"/>
                  <a:pt x="467" y="5077"/>
                </a:cubicBezTo>
                <a:cubicBezTo>
                  <a:pt x="511" y="5389"/>
                  <a:pt x="625" y="5693"/>
                  <a:pt x="799" y="5955"/>
                </a:cubicBezTo>
                <a:cubicBezTo>
                  <a:pt x="982" y="6230"/>
                  <a:pt x="1232" y="6462"/>
                  <a:pt x="1522" y="6624"/>
                </a:cubicBezTo>
                <a:lnTo>
                  <a:pt x="7382" y="9910"/>
                </a:lnTo>
                <a:lnTo>
                  <a:pt x="5692" y="11604"/>
                </a:lnTo>
                <a:lnTo>
                  <a:pt x="2894" y="11069"/>
                </a:lnTo>
                <a:cubicBezTo>
                  <a:pt x="2765" y="11044"/>
                  <a:pt x="2632" y="11031"/>
                  <a:pt x="2501" y="11031"/>
                </a:cubicBezTo>
                <a:cubicBezTo>
                  <a:pt x="2225" y="11031"/>
                  <a:pt x="1956" y="11085"/>
                  <a:pt x="1701" y="11190"/>
                </a:cubicBezTo>
                <a:cubicBezTo>
                  <a:pt x="1444" y="11296"/>
                  <a:pt x="1213" y="11450"/>
                  <a:pt x="1017" y="11647"/>
                </a:cubicBezTo>
                <a:lnTo>
                  <a:pt x="615" y="12050"/>
                </a:lnTo>
                <a:cubicBezTo>
                  <a:pt x="380" y="12285"/>
                  <a:pt x="203" y="12576"/>
                  <a:pt x="101" y="12891"/>
                </a:cubicBezTo>
                <a:cubicBezTo>
                  <a:pt x="5" y="13191"/>
                  <a:pt x="-23" y="13513"/>
                  <a:pt x="20" y="13826"/>
                </a:cubicBezTo>
                <a:cubicBezTo>
                  <a:pt x="63" y="14138"/>
                  <a:pt x="178" y="14441"/>
                  <a:pt x="352" y="14703"/>
                </a:cubicBezTo>
                <a:cubicBezTo>
                  <a:pt x="535" y="14979"/>
                  <a:pt x="785" y="15210"/>
                  <a:pt x="1074" y="15373"/>
                </a:cubicBezTo>
                <a:lnTo>
                  <a:pt x="4369" y="17221"/>
                </a:lnTo>
                <a:lnTo>
                  <a:pt x="6213" y="20524"/>
                </a:lnTo>
                <a:cubicBezTo>
                  <a:pt x="6584" y="21188"/>
                  <a:pt x="7286" y="21600"/>
                  <a:pt x="8046" y="21600"/>
                </a:cubicBezTo>
                <a:cubicBezTo>
                  <a:pt x="8606" y="21600"/>
                  <a:pt x="9132" y="21381"/>
                  <a:pt x="9529" y="20984"/>
                </a:cubicBezTo>
                <a:lnTo>
                  <a:pt x="9930" y="20581"/>
                </a:lnTo>
                <a:cubicBezTo>
                  <a:pt x="10422" y="20088"/>
                  <a:pt x="10638" y="19385"/>
                  <a:pt x="10508" y="18700"/>
                </a:cubicBezTo>
                <a:lnTo>
                  <a:pt x="9974" y="15896"/>
                </a:lnTo>
                <a:lnTo>
                  <a:pt x="11664" y="14201"/>
                </a:lnTo>
                <a:lnTo>
                  <a:pt x="14942" y="20075"/>
                </a:lnTo>
                <a:cubicBezTo>
                  <a:pt x="15313" y="20739"/>
                  <a:pt x="16015" y="21152"/>
                  <a:pt x="16775" y="21152"/>
                </a:cubicBezTo>
                <a:cubicBezTo>
                  <a:pt x="17335" y="21152"/>
                  <a:pt x="17861" y="20933"/>
                  <a:pt x="18258" y="20536"/>
                </a:cubicBezTo>
                <a:lnTo>
                  <a:pt x="19678" y="19113"/>
                </a:lnTo>
                <a:cubicBezTo>
                  <a:pt x="20217" y="18572"/>
                  <a:pt x="20422" y="17780"/>
                  <a:pt x="20211" y="17045"/>
                </a:cubicBezTo>
                <a:lnTo>
                  <a:pt x="17674" y="8178"/>
                </a:lnTo>
                <a:lnTo>
                  <a:pt x="20402" y="5443"/>
                </a:lnTo>
                <a:cubicBezTo>
                  <a:pt x="20900" y="4943"/>
                  <a:pt x="21298" y="4185"/>
                  <a:pt x="21464" y="3413"/>
                </a:cubicBezTo>
                <a:cubicBezTo>
                  <a:pt x="21559" y="2971"/>
                  <a:pt x="21577" y="2546"/>
                  <a:pt x="21517" y="2149"/>
                </a:cubicBezTo>
                <a:cubicBezTo>
                  <a:pt x="21432" y="1592"/>
                  <a:pt x="21192" y="1102"/>
                  <a:pt x="20822" y="731"/>
                </a:cubicBezTo>
                <a:cubicBezTo>
                  <a:pt x="20822" y="731"/>
                  <a:pt x="20822" y="731"/>
                  <a:pt x="20822" y="731"/>
                </a:cubicBezTo>
                <a:close/>
              </a:path>
            </a:pathLst>
          </a:custGeom>
          <a:solidFill>
            <a:srgbClr val="0070C0"/>
          </a:solidFill>
          <a:ln>
            <a:noFill/>
          </a:ln>
        </p:spPr>
        <p:txBody>
          <a:bodyPr anchor="ctr"/>
          <a:lstStyle/>
          <a:p>
            <a:endParaRPr lang="zh-CN" altLang="en-US">
              <a:latin typeface="微软雅黑" panose="020B0503020204020204" pitchFamily="34" charset="-122"/>
              <a:ea typeface="微软雅黑" panose="020B0503020204020204" pitchFamily="34" charset="-122"/>
            </a:endParaRPr>
          </a:p>
        </p:txBody>
      </p:sp>
      <p:sp>
        <p:nvSpPr>
          <p:cNvPr id="52" name="任意多边形: 形状 41"/>
          <p:cNvSpPr/>
          <p:nvPr/>
        </p:nvSpPr>
        <p:spPr bwMode="auto">
          <a:xfrm>
            <a:off x="2183928" y="2314635"/>
            <a:ext cx="461376" cy="401428"/>
          </a:xfrm>
          <a:custGeom>
            <a:avLst/>
            <a:gdLst>
              <a:gd name="T0" fmla="*/ 235926 w 21600"/>
              <a:gd name="T1" fmla="*/ 191703 h 21600"/>
              <a:gd name="T2" fmla="*/ 235926 w 21600"/>
              <a:gd name="T3" fmla="*/ 191703 h 21600"/>
              <a:gd name="T4" fmla="*/ 235926 w 21600"/>
              <a:gd name="T5" fmla="*/ 191703 h 21600"/>
              <a:gd name="T6" fmla="*/ 235926 w 21600"/>
              <a:gd name="T7" fmla="*/ 191703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2024" y="0"/>
                </a:moveTo>
                <a:cubicBezTo>
                  <a:pt x="912" y="0"/>
                  <a:pt x="0" y="1122"/>
                  <a:pt x="0" y="2491"/>
                </a:cubicBezTo>
                <a:lnTo>
                  <a:pt x="0" y="11634"/>
                </a:lnTo>
                <a:cubicBezTo>
                  <a:pt x="0" y="13008"/>
                  <a:pt x="912" y="14134"/>
                  <a:pt x="2024" y="14134"/>
                </a:cubicBezTo>
                <a:lnTo>
                  <a:pt x="2024" y="16617"/>
                </a:lnTo>
                <a:cubicBezTo>
                  <a:pt x="2024" y="17994"/>
                  <a:pt x="2935" y="19109"/>
                  <a:pt x="4049" y="19109"/>
                </a:cubicBezTo>
                <a:lnTo>
                  <a:pt x="4822" y="19109"/>
                </a:lnTo>
                <a:cubicBezTo>
                  <a:pt x="5125" y="20540"/>
                  <a:pt x="6166" y="21600"/>
                  <a:pt x="7423" y="21600"/>
                </a:cubicBezTo>
                <a:cubicBezTo>
                  <a:pt x="8673" y="21600"/>
                  <a:pt x="9726" y="20540"/>
                  <a:pt x="10030" y="19109"/>
                </a:cubicBezTo>
                <a:lnTo>
                  <a:pt x="13594" y="19109"/>
                </a:lnTo>
                <a:cubicBezTo>
                  <a:pt x="13897" y="20540"/>
                  <a:pt x="14942" y="21600"/>
                  <a:pt x="16202" y="21600"/>
                </a:cubicBezTo>
                <a:cubicBezTo>
                  <a:pt x="17449" y="21600"/>
                  <a:pt x="18498" y="20540"/>
                  <a:pt x="18803" y="19109"/>
                </a:cubicBezTo>
                <a:lnTo>
                  <a:pt x="19576" y="19109"/>
                </a:lnTo>
                <a:cubicBezTo>
                  <a:pt x="20692" y="19109"/>
                  <a:pt x="21600" y="17994"/>
                  <a:pt x="21600" y="16617"/>
                </a:cubicBezTo>
                <a:lnTo>
                  <a:pt x="21600" y="11634"/>
                </a:lnTo>
                <a:cubicBezTo>
                  <a:pt x="21600" y="11142"/>
                  <a:pt x="21482" y="10663"/>
                  <a:pt x="21259" y="10248"/>
                </a:cubicBezTo>
                <a:lnTo>
                  <a:pt x="18554" y="5265"/>
                </a:lnTo>
                <a:cubicBezTo>
                  <a:pt x="18182" y="4566"/>
                  <a:pt x="17557" y="4160"/>
                  <a:pt x="16876" y="4160"/>
                </a:cubicBezTo>
                <a:lnTo>
                  <a:pt x="14177" y="4160"/>
                </a:lnTo>
                <a:lnTo>
                  <a:pt x="14177" y="2491"/>
                </a:lnTo>
                <a:cubicBezTo>
                  <a:pt x="14177" y="1122"/>
                  <a:pt x="13265" y="0"/>
                  <a:pt x="12146" y="0"/>
                </a:cubicBezTo>
                <a:lnTo>
                  <a:pt x="2024" y="0"/>
                </a:lnTo>
                <a:close/>
                <a:moveTo>
                  <a:pt x="2024" y="1669"/>
                </a:moveTo>
                <a:lnTo>
                  <a:pt x="12146" y="1669"/>
                </a:lnTo>
                <a:cubicBezTo>
                  <a:pt x="12524" y="1669"/>
                  <a:pt x="12821" y="2034"/>
                  <a:pt x="12821" y="2491"/>
                </a:cubicBezTo>
                <a:lnTo>
                  <a:pt x="12821" y="11634"/>
                </a:lnTo>
                <a:cubicBezTo>
                  <a:pt x="12821" y="12090"/>
                  <a:pt x="12524" y="12465"/>
                  <a:pt x="12146" y="12465"/>
                </a:cubicBezTo>
                <a:cubicBezTo>
                  <a:pt x="12146" y="12465"/>
                  <a:pt x="2024" y="12465"/>
                  <a:pt x="2024" y="12465"/>
                </a:cubicBezTo>
                <a:cubicBezTo>
                  <a:pt x="1649" y="12465"/>
                  <a:pt x="1350" y="12090"/>
                  <a:pt x="1350" y="11634"/>
                </a:cubicBezTo>
                <a:lnTo>
                  <a:pt x="1350" y="2491"/>
                </a:lnTo>
                <a:cubicBezTo>
                  <a:pt x="1350" y="2034"/>
                  <a:pt x="1649" y="1669"/>
                  <a:pt x="2024" y="1669"/>
                </a:cubicBezTo>
                <a:close/>
                <a:moveTo>
                  <a:pt x="14177" y="5821"/>
                </a:moveTo>
                <a:lnTo>
                  <a:pt x="16876" y="5821"/>
                </a:lnTo>
                <a:cubicBezTo>
                  <a:pt x="17102" y="5821"/>
                  <a:pt x="17311" y="5958"/>
                  <a:pt x="17440" y="6184"/>
                </a:cubicBezTo>
                <a:lnTo>
                  <a:pt x="20132" y="11175"/>
                </a:lnTo>
                <a:cubicBezTo>
                  <a:pt x="20206" y="11307"/>
                  <a:pt x="20250" y="11475"/>
                  <a:pt x="20250" y="11634"/>
                </a:cubicBezTo>
                <a:cubicBezTo>
                  <a:pt x="20250" y="11634"/>
                  <a:pt x="20250" y="16617"/>
                  <a:pt x="20250" y="16617"/>
                </a:cubicBezTo>
                <a:cubicBezTo>
                  <a:pt x="20250" y="17074"/>
                  <a:pt x="19946" y="17448"/>
                  <a:pt x="19576" y="17448"/>
                </a:cubicBezTo>
                <a:lnTo>
                  <a:pt x="18803" y="17448"/>
                </a:lnTo>
                <a:cubicBezTo>
                  <a:pt x="18498" y="16016"/>
                  <a:pt x="17455" y="14956"/>
                  <a:pt x="16202" y="14956"/>
                </a:cubicBezTo>
                <a:cubicBezTo>
                  <a:pt x="14942" y="14956"/>
                  <a:pt x="13897" y="16016"/>
                  <a:pt x="13594" y="17448"/>
                </a:cubicBezTo>
                <a:lnTo>
                  <a:pt x="10030" y="17448"/>
                </a:lnTo>
                <a:cubicBezTo>
                  <a:pt x="9729" y="16016"/>
                  <a:pt x="8678" y="14956"/>
                  <a:pt x="7423" y="14956"/>
                </a:cubicBezTo>
                <a:cubicBezTo>
                  <a:pt x="6166" y="14956"/>
                  <a:pt x="5125" y="16016"/>
                  <a:pt x="4822" y="17448"/>
                </a:cubicBezTo>
                <a:lnTo>
                  <a:pt x="4049" y="17448"/>
                </a:lnTo>
                <a:cubicBezTo>
                  <a:pt x="3676" y="17448"/>
                  <a:pt x="3374" y="17074"/>
                  <a:pt x="3374" y="16617"/>
                </a:cubicBezTo>
                <a:lnTo>
                  <a:pt x="3374" y="14134"/>
                </a:lnTo>
                <a:lnTo>
                  <a:pt x="12146" y="14134"/>
                </a:lnTo>
                <a:cubicBezTo>
                  <a:pt x="13265" y="14134"/>
                  <a:pt x="14177" y="13008"/>
                  <a:pt x="14177" y="11634"/>
                </a:cubicBezTo>
                <a:lnTo>
                  <a:pt x="14177" y="5821"/>
                </a:lnTo>
                <a:close/>
                <a:moveTo>
                  <a:pt x="15553" y="6450"/>
                </a:moveTo>
                <a:cubicBezTo>
                  <a:pt x="15182" y="6450"/>
                  <a:pt x="14885" y="6824"/>
                  <a:pt x="14885" y="7281"/>
                </a:cubicBezTo>
                <a:lnTo>
                  <a:pt x="14885" y="12263"/>
                </a:lnTo>
                <a:cubicBezTo>
                  <a:pt x="14885" y="12721"/>
                  <a:pt x="15182" y="13102"/>
                  <a:pt x="15553" y="13102"/>
                </a:cubicBezTo>
                <a:lnTo>
                  <a:pt x="18259" y="13102"/>
                </a:lnTo>
                <a:cubicBezTo>
                  <a:pt x="18629" y="13102"/>
                  <a:pt x="18934" y="12721"/>
                  <a:pt x="18934" y="12263"/>
                </a:cubicBezTo>
                <a:lnTo>
                  <a:pt x="18934" y="11022"/>
                </a:lnTo>
                <a:cubicBezTo>
                  <a:pt x="18934" y="10857"/>
                  <a:pt x="18888" y="10694"/>
                  <a:pt x="18816" y="10554"/>
                </a:cubicBezTo>
                <a:cubicBezTo>
                  <a:pt x="18816" y="10554"/>
                  <a:pt x="16798" y="6829"/>
                  <a:pt x="16798" y="6829"/>
                </a:cubicBezTo>
                <a:cubicBezTo>
                  <a:pt x="16673" y="6592"/>
                  <a:pt x="16460" y="6450"/>
                  <a:pt x="16234" y="6450"/>
                </a:cubicBezTo>
                <a:lnTo>
                  <a:pt x="15553" y="6450"/>
                </a:lnTo>
                <a:close/>
                <a:moveTo>
                  <a:pt x="15553" y="7281"/>
                </a:moveTo>
                <a:lnTo>
                  <a:pt x="16234" y="7281"/>
                </a:lnTo>
                <a:lnTo>
                  <a:pt x="18259" y="11022"/>
                </a:lnTo>
                <a:cubicBezTo>
                  <a:pt x="18259" y="11022"/>
                  <a:pt x="18259" y="12263"/>
                  <a:pt x="18259" y="12263"/>
                </a:cubicBezTo>
                <a:lnTo>
                  <a:pt x="15553" y="12263"/>
                </a:lnTo>
                <a:lnTo>
                  <a:pt x="15553" y="7281"/>
                </a:lnTo>
                <a:close/>
                <a:moveTo>
                  <a:pt x="7423" y="16617"/>
                </a:moveTo>
                <a:cubicBezTo>
                  <a:pt x="8167" y="16617"/>
                  <a:pt x="8772" y="17365"/>
                  <a:pt x="8772" y="18278"/>
                </a:cubicBezTo>
                <a:cubicBezTo>
                  <a:pt x="8772" y="19191"/>
                  <a:pt x="8167" y="19939"/>
                  <a:pt x="7423" y="19939"/>
                </a:cubicBezTo>
                <a:cubicBezTo>
                  <a:pt x="6677" y="19939"/>
                  <a:pt x="6073" y="19191"/>
                  <a:pt x="6073" y="18278"/>
                </a:cubicBezTo>
                <a:cubicBezTo>
                  <a:pt x="6073" y="17365"/>
                  <a:pt x="6677" y="16617"/>
                  <a:pt x="7423" y="16617"/>
                </a:cubicBezTo>
                <a:close/>
                <a:moveTo>
                  <a:pt x="16202" y="16617"/>
                </a:moveTo>
                <a:cubicBezTo>
                  <a:pt x="16943" y="16617"/>
                  <a:pt x="17551" y="17365"/>
                  <a:pt x="17551" y="18278"/>
                </a:cubicBezTo>
                <a:cubicBezTo>
                  <a:pt x="17551" y="19191"/>
                  <a:pt x="16943" y="19939"/>
                  <a:pt x="16202" y="19939"/>
                </a:cubicBezTo>
                <a:cubicBezTo>
                  <a:pt x="15454" y="19939"/>
                  <a:pt x="14852" y="19191"/>
                  <a:pt x="14852" y="18278"/>
                </a:cubicBezTo>
                <a:cubicBezTo>
                  <a:pt x="14852" y="17365"/>
                  <a:pt x="15454" y="16617"/>
                  <a:pt x="16202" y="16617"/>
                </a:cubicBezTo>
                <a:close/>
              </a:path>
            </a:pathLst>
          </a:custGeom>
          <a:solidFill>
            <a:srgbClr val="0070C0"/>
          </a:solidFill>
          <a:ln>
            <a:noFill/>
          </a:ln>
        </p:spPr>
        <p:txBody>
          <a:bodyPr anchor="ctr"/>
          <a:lstStyle/>
          <a:p>
            <a:endParaRPr lang="zh-CN" altLang="en-US">
              <a:latin typeface="微软雅黑" panose="020B0503020204020204" pitchFamily="34" charset="-122"/>
              <a:ea typeface="微软雅黑" panose="020B0503020204020204" pitchFamily="34" charset="-122"/>
            </a:endParaRPr>
          </a:p>
        </p:txBody>
      </p:sp>
      <p:sp>
        <p:nvSpPr>
          <p:cNvPr id="53" name="任意多边形: 形状 39"/>
          <p:cNvSpPr/>
          <p:nvPr/>
        </p:nvSpPr>
        <p:spPr bwMode="auto">
          <a:xfrm>
            <a:off x="9158919" y="2256988"/>
            <a:ext cx="399247" cy="542306"/>
          </a:xfrm>
          <a:custGeom>
            <a:avLst/>
            <a:gdLst>
              <a:gd name="T0" fmla="*/ 204156 w 21600"/>
              <a:gd name="T1" fmla="*/ 258980 h 21600"/>
              <a:gd name="T2" fmla="*/ 204156 w 21600"/>
              <a:gd name="T3" fmla="*/ 258980 h 21600"/>
              <a:gd name="T4" fmla="*/ 204156 w 21600"/>
              <a:gd name="T5" fmla="*/ 258980 h 21600"/>
              <a:gd name="T6" fmla="*/ 204156 w 21600"/>
              <a:gd name="T7" fmla="*/ 258980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8003" y="6729"/>
                </a:moveTo>
                <a:cubicBezTo>
                  <a:pt x="17891" y="6790"/>
                  <a:pt x="17842" y="6883"/>
                  <a:pt x="17842" y="6994"/>
                </a:cubicBezTo>
                <a:cubicBezTo>
                  <a:pt x="17842" y="7080"/>
                  <a:pt x="17901" y="7139"/>
                  <a:pt x="18015" y="7191"/>
                </a:cubicBezTo>
                <a:cubicBezTo>
                  <a:pt x="18122" y="7230"/>
                  <a:pt x="18344" y="7284"/>
                  <a:pt x="18697" y="7352"/>
                </a:cubicBezTo>
                <a:cubicBezTo>
                  <a:pt x="19207" y="7434"/>
                  <a:pt x="19552" y="7540"/>
                  <a:pt x="19715" y="7661"/>
                </a:cubicBezTo>
                <a:cubicBezTo>
                  <a:pt x="19899" y="7775"/>
                  <a:pt x="19976" y="7963"/>
                  <a:pt x="19976" y="8220"/>
                </a:cubicBezTo>
                <a:cubicBezTo>
                  <a:pt x="19976" y="8479"/>
                  <a:pt x="19851" y="8684"/>
                  <a:pt x="19591" y="8842"/>
                </a:cubicBezTo>
                <a:cubicBezTo>
                  <a:pt x="19332" y="8993"/>
                  <a:pt x="18985" y="9069"/>
                  <a:pt x="18546" y="9069"/>
                </a:cubicBezTo>
                <a:cubicBezTo>
                  <a:pt x="18091" y="9069"/>
                  <a:pt x="17748" y="8987"/>
                  <a:pt x="17505" y="8826"/>
                </a:cubicBezTo>
                <a:cubicBezTo>
                  <a:pt x="17256" y="8660"/>
                  <a:pt x="17122" y="8433"/>
                  <a:pt x="17105" y="8130"/>
                </a:cubicBezTo>
                <a:lnTo>
                  <a:pt x="17814" y="8130"/>
                </a:lnTo>
                <a:cubicBezTo>
                  <a:pt x="17814" y="8283"/>
                  <a:pt x="17879" y="8395"/>
                  <a:pt x="18015" y="8471"/>
                </a:cubicBezTo>
                <a:cubicBezTo>
                  <a:pt x="18132" y="8553"/>
                  <a:pt x="18312" y="8592"/>
                  <a:pt x="18546" y="8592"/>
                </a:cubicBezTo>
                <a:cubicBezTo>
                  <a:pt x="18773" y="8592"/>
                  <a:pt x="18957" y="8562"/>
                  <a:pt x="19091" y="8501"/>
                </a:cubicBezTo>
                <a:cubicBezTo>
                  <a:pt x="19217" y="8442"/>
                  <a:pt x="19283" y="8356"/>
                  <a:pt x="19283" y="8253"/>
                </a:cubicBezTo>
                <a:cubicBezTo>
                  <a:pt x="19283" y="8152"/>
                  <a:pt x="19234" y="8078"/>
                  <a:pt x="19148" y="8024"/>
                </a:cubicBezTo>
                <a:cubicBezTo>
                  <a:pt x="19054" y="7973"/>
                  <a:pt x="18860" y="7926"/>
                  <a:pt x="18555" y="7874"/>
                </a:cubicBezTo>
                <a:cubicBezTo>
                  <a:pt x="18003" y="7775"/>
                  <a:pt x="17623" y="7669"/>
                  <a:pt x="17440" y="7554"/>
                </a:cubicBezTo>
                <a:cubicBezTo>
                  <a:pt x="17256" y="7442"/>
                  <a:pt x="17161" y="7268"/>
                  <a:pt x="17161" y="7024"/>
                </a:cubicBezTo>
                <a:cubicBezTo>
                  <a:pt x="17161" y="6759"/>
                  <a:pt x="17278" y="6550"/>
                  <a:pt x="17527" y="6388"/>
                </a:cubicBezTo>
                <a:cubicBezTo>
                  <a:pt x="17776" y="6230"/>
                  <a:pt x="18103" y="6154"/>
                  <a:pt x="18524" y="6154"/>
                </a:cubicBezTo>
                <a:cubicBezTo>
                  <a:pt x="18919" y="6154"/>
                  <a:pt x="19234" y="6230"/>
                  <a:pt x="19487" y="6397"/>
                </a:cubicBezTo>
                <a:cubicBezTo>
                  <a:pt x="19737" y="6563"/>
                  <a:pt x="19868" y="6785"/>
                  <a:pt x="19899" y="7063"/>
                </a:cubicBezTo>
                <a:lnTo>
                  <a:pt x="19179" y="7063"/>
                </a:lnTo>
                <a:cubicBezTo>
                  <a:pt x="19169" y="6926"/>
                  <a:pt x="19091" y="6820"/>
                  <a:pt x="18967" y="6747"/>
                </a:cubicBezTo>
                <a:cubicBezTo>
                  <a:pt x="18832" y="6670"/>
                  <a:pt x="18648" y="6631"/>
                  <a:pt x="18437" y="6631"/>
                </a:cubicBezTo>
                <a:cubicBezTo>
                  <a:pt x="18257" y="6631"/>
                  <a:pt x="18103" y="6661"/>
                  <a:pt x="18003" y="6729"/>
                </a:cubicBezTo>
                <a:cubicBezTo>
                  <a:pt x="18003" y="6729"/>
                  <a:pt x="18003" y="6729"/>
                  <a:pt x="18003" y="6729"/>
                </a:cubicBezTo>
                <a:close/>
                <a:moveTo>
                  <a:pt x="15761" y="7344"/>
                </a:moveTo>
                <a:cubicBezTo>
                  <a:pt x="15665" y="7405"/>
                  <a:pt x="15528" y="7434"/>
                  <a:pt x="15338" y="7434"/>
                </a:cubicBezTo>
                <a:lnTo>
                  <a:pt x="14490" y="7434"/>
                </a:lnTo>
                <a:lnTo>
                  <a:pt x="14490" y="6707"/>
                </a:lnTo>
                <a:lnTo>
                  <a:pt x="15366" y="6707"/>
                </a:lnTo>
                <a:cubicBezTo>
                  <a:pt x="15549" y="6707"/>
                  <a:pt x="15675" y="6738"/>
                  <a:pt x="15768" y="6798"/>
                </a:cubicBezTo>
                <a:cubicBezTo>
                  <a:pt x="15865" y="6857"/>
                  <a:pt x="15902" y="6950"/>
                  <a:pt x="15902" y="7070"/>
                </a:cubicBezTo>
                <a:cubicBezTo>
                  <a:pt x="15902" y="7191"/>
                  <a:pt x="15855" y="7284"/>
                  <a:pt x="15761" y="7344"/>
                </a:cubicBezTo>
                <a:cubicBezTo>
                  <a:pt x="15761" y="7344"/>
                  <a:pt x="15761" y="7344"/>
                  <a:pt x="15761" y="7344"/>
                </a:cubicBezTo>
                <a:close/>
                <a:moveTo>
                  <a:pt x="16633" y="6994"/>
                </a:moveTo>
                <a:cubicBezTo>
                  <a:pt x="16633" y="6769"/>
                  <a:pt x="16526" y="6579"/>
                  <a:pt x="16326" y="6435"/>
                </a:cubicBezTo>
                <a:cubicBezTo>
                  <a:pt x="16124" y="6299"/>
                  <a:pt x="15855" y="6230"/>
                  <a:pt x="15518" y="6230"/>
                </a:cubicBezTo>
                <a:lnTo>
                  <a:pt x="13751" y="6230"/>
                </a:lnTo>
                <a:lnTo>
                  <a:pt x="13751" y="8993"/>
                </a:lnTo>
                <a:lnTo>
                  <a:pt x="14490" y="8993"/>
                </a:lnTo>
                <a:lnTo>
                  <a:pt x="14490" y="7904"/>
                </a:lnTo>
                <a:lnTo>
                  <a:pt x="15210" y="7904"/>
                </a:lnTo>
                <a:cubicBezTo>
                  <a:pt x="15432" y="7904"/>
                  <a:pt x="15577" y="7926"/>
                  <a:pt x="15665" y="7980"/>
                </a:cubicBezTo>
                <a:cubicBezTo>
                  <a:pt x="15761" y="8032"/>
                  <a:pt x="15800" y="8122"/>
                  <a:pt x="15800" y="8245"/>
                </a:cubicBezTo>
                <a:lnTo>
                  <a:pt x="15806" y="8494"/>
                </a:lnTo>
                <a:cubicBezTo>
                  <a:pt x="15806" y="8609"/>
                  <a:pt x="15815" y="8706"/>
                  <a:pt x="15837" y="8805"/>
                </a:cubicBezTo>
                <a:cubicBezTo>
                  <a:pt x="15855" y="8895"/>
                  <a:pt x="15865" y="8963"/>
                  <a:pt x="15886" y="8987"/>
                </a:cubicBezTo>
                <a:lnTo>
                  <a:pt x="16692" y="8987"/>
                </a:lnTo>
                <a:lnTo>
                  <a:pt x="16692" y="8919"/>
                </a:lnTo>
                <a:cubicBezTo>
                  <a:pt x="16633" y="8895"/>
                  <a:pt x="16585" y="8864"/>
                  <a:pt x="16575" y="8826"/>
                </a:cubicBezTo>
                <a:cubicBezTo>
                  <a:pt x="16547" y="8788"/>
                  <a:pt x="16538" y="8720"/>
                  <a:pt x="16526" y="8638"/>
                </a:cubicBezTo>
                <a:lnTo>
                  <a:pt x="16519" y="8184"/>
                </a:lnTo>
                <a:cubicBezTo>
                  <a:pt x="16508" y="7963"/>
                  <a:pt x="16401" y="7805"/>
                  <a:pt x="16202" y="7707"/>
                </a:cubicBezTo>
                <a:cubicBezTo>
                  <a:pt x="16174" y="7691"/>
                  <a:pt x="16135" y="7685"/>
                  <a:pt x="16086" y="7661"/>
                </a:cubicBezTo>
                <a:cubicBezTo>
                  <a:pt x="16163" y="7639"/>
                  <a:pt x="16230" y="7609"/>
                  <a:pt x="16298" y="7579"/>
                </a:cubicBezTo>
                <a:cubicBezTo>
                  <a:pt x="16519" y="7456"/>
                  <a:pt x="16633" y="7260"/>
                  <a:pt x="16633" y="6994"/>
                </a:cubicBezTo>
                <a:cubicBezTo>
                  <a:pt x="16633" y="6994"/>
                  <a:pt x="16633" y="6994"/>
                  <a:pt x="16633" y="6994"/>
                </a:cubicBezTo>
                <a:close/>
                <a:moveTo>
                  <a:pt x="12311" y="8993"/>
                </a:moveTo>
                <a:lnTo>
                  <a:pt x="12311" y="7737"/>
                </a:lnTo>
                <a:lnTo>
                  <a:pt x="10936" y="7737"/>
                </a:lnTo>
                <a:lnTo>
                  <a:pt x="10936" y="8993"/>
                </a:lnTo>
                <a:lnTo>
                  <a:pt x="10200" y="8993"/>
                </a:lnTo>
                <a:lnTo>
                  <a:pt x="10200" y="6230"/>
                </a:lnTo>
                <a:lnTo>
                  <a:pt x="10936" y="6230"/>
                </a:lnTo>
                <a:lnTo>
                  <a:pt x="10936" y="7268"/>
                </a:lnTo>
                <a:lnTo>
                  <a:pt x="12311" y="7268"/>
                </a:lnTo>
                <a:lnTo>
                  <a:pt x="12311" y="6230"/>
                </a:lnTo>
                <a:lnTo>
                  <a:pt x="13033" y="6230"/>
                </a:lnTo>
                <a:lnTo>
                  <a:pt x="13033" y="8993"/>
                </a:lnTo>
                <a:cubicBezTo>
                  <a:pt x="13033" y="8993"/>
                  <a:pt x="12311" y="8993"/>
                  <a:pt x="12311" y="8993"/>
                </a:cubicBezTo>
                <a:close/>
                <a:moveTo>
                  <a:pt x="16086" y="3348"/>
                </a:moveTo>
                <a:lnTo>
                  <a:pt x="16135" y="3271"/>
                </a:lnTo>
                <a:lnTo>
                  <a:pt x="17787" y="1111"/>
                </a:lnTo>
                <a:lnTo>
                  <a:pt x="17787" y="3348"/>
                </a:lnTo>
                <a:cubicBezTo>
                  <a:pt x="17787" y="3348"/>
                  <a:pt x="16086" y="3348"/>
                  <a:pt x="16086" y="3348"/>
                </a:cubicBezTo>
                <a:close/>
                <a:moveTo>
                  <a:pt x="17787" y="5367"/>
                </a:moveTo>
                <a:lnTo>
                  <a:pt x="19104" y="5367"/>
                </a:lnTo>
                <a:lnTo>
                  <a:pt x="19104" y="4180"/>
                </a:lnTo>
                <a:lnTo>
                  <a:pt x="19868" y="4180"/>
                </a:lnTo>
                <a:lnTo>
                  <a:pt x="19868" y="3348"/>
                </a:lnTo>
                <a:lnTo>
                  <a:pt x="19104" y="3348"/>
                </a:lnTo>
                <a:lnTo>
                  <a:pt x="19104" y="0"/>
                </a:lnTo>
                <a:lnTo>
                  <a:pt x="17613" y="0"/>
                </a:lnTo>
                <a:lnTo>
                  <a:pt x="15106" y="3271"/>
                </a:lnTo>
                <a:lnTo>
                  <a:pt x="15106" y="4180"/>
                </a:lnTo>
                <a:lnTo>
                  <a:pt x="17787" y="4180"/>
                </a:lnTo>
                <a:cubicBezTo>
                  <a:pt x="17787" y="4180"/>
                  <a:pt x="17787" y="5367"/>
                  <a:pt x="17787" y="5367"/>
                </a:cubicBezTo>
                <a:close/>
                <a:moveTo>
                  <a:pt x="14415" y="5367"/>
                </a:moveTo>
                <a:lnTo>
                  <a:pt x="9776" y="5367"/>
                </a:lnTo>
                <a:lnTo>
                  <a:pt x="9776" y="5360"/>
                </a:lnTo>
                <a:cubicBezTo>
                  <a:pt x="9776" y="4876"/>
                  <a:pt x="9929" y="4451"/>
                  <a:pt x="10247" y="4095"/>
                </a:cubicBezTo>
                <a:cubicBezTo>
                  <a:pt x="10563" y="3746"/>
                  <a:pt x="11159" y="3340"/>
                  <a:pt x="12024" y="2853"/>
                </a:cubicBezTo>
                <a:cubicBezTo>
                  <a:pt x="12410" y="2643"/>
                  <a:pt x="12676" y="2443"/>
                  <a:pt x="12841" y="2271"/>
                </a:cubicBezTo>
                <a:cubicBezTo>
                  <a:pt x="13003" y="2089"/>
                  <a:pt x="13081" y="1892"/>
                  <a:pt x="13081" y="1674"/>
                </a:cubicBezTo>
                <a:cubicBezTo>
                  <a:pt x="13081" y="1440"/>
                  <a:pt x="12995" y="1243"/>
                  <a:pt x="12820" y="1106"/>
                </a:cubicBezTo>
                <a:cubicBezTo>
                  <a:pt x="12648" y="954"/>
                  <a:pt x="12416" y="885"/>
                  <a:pt x="12121" y="885"/>
                </a:cubicBezTo>
                <a:cubicBezTo>
                  <a:pt x="11824" y="885"/>
                  <a:pt x="11581" y="976"/>
                  <a:pt x="11419" y="1158"/>
                </a:cubicBezTo>
                <a:cubicBezTo>
                  <a:pt x="11235" y="1342"/>
                  <a:pt x="11159" y="1590"/>
                  <a:pt x="11169" y="1892"/>
                </a:cubicBezTo>
                <a:lnTo>
                  <a:pt x="9863" y="1892"/>
                </a:lnTo>
                <a:cubicBezTo>
                  <a:pt x="9842" y="1317"/>
                  <a:pt x="10038" y="855"/>
                  <a:pt x="10449" y="514"/>
                </a:cubicBezTo>
                <a:cubicBezTo>
                  <a:pt x="10851" y="175"/>
                  <a:pt x="11419" y="0"/>
                  <a:pt x="12139" y="0"/>
                </a:cubicBezTo>
                <a:cubicBezTo>
                  <a:pt x="12801" y="0"/>
                  <a:pt x="13348" y="159"/>
                  <a:pt x="13779" y="470"/>
                </a:cubicBezTo>
                <a:cubicBezTo>
                  <a:pt x="14194" y="786"/>
                  <a:pt x="14415" y="1188"/>
                  <a:pt x="14415" y="1679"/>
                </a:cubicBezTo>
                <a:cubicBezTo>
                  <a:pt x="14415" y="2089"/>
                  <a:pt x="14290" y="2430"/>
                  <a:pt x="14051" y="2695"/>
                </a:cubicBezTo>
                <a:cubicBezTo>
                  <a:pt x="13810" y="2960"/>
                  <a:pt x="13358" y="3263"/>
                  <a:pt x="12697" y="3595"/>
                </a:cubicBezTo>
                <a:cubicBezTo>
                  <a:pt x="12080" y="3907"/>
                  <a:pt x="11668" y="4180"/>
                  <a:pt x="11438" y="4429"/>
                </a:cubicBezTo>
                <a:lnTo>
                  <a:pt x="11438" y="4437"/>
                </a:lnTo>
                <a:lnTo>
                  <a:pt x="14415" y="4437"/>
                </a:lnTo>
                <a:cubicBezTo>
                  <a:pt x="14415" y="4437"/>
                  <a:pt x="14415" y="5367"/>
                  <a:pt x="14415" y="5367"/>
                </a:cubicBezTo>
                <a:close/>
                <a:moveTo>
                  <a:pt x="11045" y="20298"/>
                </a:moveTo>
                <a:cubicBezTo>
                  <a:pt x="11045" y="21008"/>
                  <a:pt x="10314" y="21600"/>
                  <a:pt x="9403" y="21600"/>
                </a:cubicBezTo>
                <a:cubicBezTo>
                  <a:pt x="8489" y="21600"/>
                  <a:pt x="7750" y="21008"/>
                  <a:pt x="7750" y="20298"/>
                </a:cubicBezTo>
                <a:cubicBezTo>
                  <a:pt x="7750" y="19577"/>
                  <a:pt x="8489" y="18995"/>
                  <a:pt x="9403" y="18995"/>
                </a:cubicBezTo>
                <a:cubicBezTo>
                  <a:pt x="10314" y="18995"/>
                  <a:pt x="11045" y="19577"/>
                  <a:pt x="11045" y="20298"/>
                </a:cubicBezTo>
                <a:cubicBezTo>
                  <a:pt x="11045" y="20298"/>
                  <a:pt x="11045" y="20298"/>
                  <a:pt x="11045" y="20298"/>
                </a:cubicBezTo>
                <a:close/>
                <a:moveTo>
                  <a:pt x="5175" y="20298"/>
                </a:moveTo>
                <a:cubicBezTo>
                  <a:pt x="5175" y="21008"/>
                  <a:pt x="4448" y="21600"/>
                  <a:pt x="3541" y="21600"/>
                </a:cubicBezTo>
                <a:cubicBezTo>
                  <a:pt x="2625" y="21600"/>
                  <a:pt x="1882" y="21008"/>
                  <a:pt x="1882" y="20298"/>
                </a:cubicBezTo>
                <a:cubicBezTo>
                  <a:pt x="1882" y="19577"/>
                  <a:pt x="2625" y="18995"/>
                  <a:pt x="3541" y="18995"/>
                </a:cubicBezTo>
                <a:cubicBezTo>
                  <a:pt x="4448" y="18995"/>
                  <a:pt x="5175" y="19577"/>
                  <a:pt x="5175" y="20298"/>
                </a:cubicBezTo>
                <a:cubicBezTo>
                  <a:pt x="5175" y="20298"/>
                  <a:pt x="5175" y="20298"/>
                  <a:pt x="5175" y="20298"/>
                </a:cubicBezTo>
                <a:close/>
                <a:moveTo>
                  <a:pt x="21600" y="12006"/>
                </a:moveTo>
                <a:cubicBezTo>
                  <a:pt x="21600" y="12259"/>
                  <a:pt x="21339" y="12460"/>
                  <a:pt x="21021" y="12460"/>
                </a:cubicBezTo>
                <a:lnTo>
                  <a:pt x="16990" y="12460"/>
                </a:lnTo>
                <a:lnTo>
                  <a:pt x="13714" y="18359"/>
                </a:lnTo>
                <a:cubicBezTo>
                  <a:pt x="13627" y="18526"/>
                  <a:pt x="13417" y="18624"/>
                  <a:pt x="13184" y="18624"/>
                </a:cubicBezTo>
                <a:lnTo>
                  <a:pt x="847" y="18624"/>
                </a:lnTo>
                <a:cubicBezTo>
                  <a:pt x="523" y="18624"/>
                  <a:pt x="264" y="18428"/>
                  <a:pt x="264" y="18177"/>
                </a:cubicBezTo>
                <a:cubicBezTo>
                  <a:pt x="264" y="17928"/>
                  <a:pt x="523" y="17723"/>
                  <a:pt x="847" y="17723"/>
                </a:cubicBezTo>
                <a:lnTo>
                  <a:pt x="12810" y="17723"/>
                </a:lnTo>
                <a:lnTo>
                  <a:pt x="16086" y="11824"/>
                </a:lnTo>
                <a:cubicBezTo>
                  <a:pt x="16174" y="11657"/>
                  <a:pt x="16384" y="11554"/>
                  <a:pt x="16613" y="11554"/>
                </a:cubicBezTo>
                <a:lnTo>
                  <a:pt x="21021" y="11554"/>
                </a:lnTo>
                <a:cubicBezTo>
                  <a:pt x="21339" y="11554"/>
                  <a:pt x="21600" y="11758"/>
                  <a:pt x="21600" y="12006"/>
                </a:cubicBezTo>
                <a:cubicBezTo>
                  <a:pt x="21600" y="12006"/>
                  <a:pt x="21600" y="12006"/>
                  <a:pt x="21600" y="12006"/>
                </a:cubicBezTo>
                <a:close/>
                <a:moveTo>
                  <a:pt x="3650" y="4466"/>
                </a:moveTo>
                <a:cubicBezTo>
                  <a:pt x="5034" y="4466"/>
                  <a:pt x="6147" y="5345"/>
                  <a:pt x="6147" y="6435"/>
                </a:cubicBezTo>
                <a:lnTo>
                  <a:pt x="6147" y="9675"/>
                </a:lnTo>
                <a:lnTo>
                  <a:pt x="1158" y="9675"/>
                </a:lnTo>
                <a:lnTo>
                  <a:pt x="1158" y="6435"/>
                </a:lnTo>
                <a:cubicBezTo>
                  <a:pt x="1158" y="5345"/>
                  <a:pt x="2273" y="4466"/>
                  <a:pt x="3650" y="4466"/>
                </a:cubicBezTo>
                <a:cubicBezTo>
                  <a:pt x="3650" y="4466"/>
                  <a:pt x="3650" y="4466"/>
                  <a:pt x="3650" y="4466"/>
                </a:cubicBezTo>
                <a:close/>
                <a:moveTo>
                  <a:pt x="10936" y="11113"/>
                </a:moveTo>
                <a:lnTo>
                  <a:pt x="5982" y="15080"/>
                </a:lnTo>
                <a:cubicBezTo>
                  <a:pt x="4963" y="13984"/>
                  <a:pt x="5059" y="12430"/>
                  <a:pt x="6310" y="11431"/>
                </a:cubicBezTo>
                <a:cubicBezTo>
                  <a:pt x="6992" y="10888"/>
                  <a:pt x="7903" y="10585"/>
                  <a:pt x="8872" y="10585"/>
                </a:cubicBezTo>
                <a:cubicBezTo>
                  <a:pt x="9620" y="10590"/>
                  <a:pt x="10341" y="10772"/>
                  <a:pt x="10936" y="11113"/>
                </a:cubicBezTo>
                <a:cubicBezTo>
                  <a:pt x="10936" y="11113"/>
                  <a:pt x="10936" y="11113"/>
                  <a:pt x="10936" y="11113"/>
                </a:cubicBezTo>
                <a:close/>
                <a:moveTo>
                  <a:pt x="11438" y="15405"/>
                </a:moveTo>
                <a:cubicBezTo>
                  <a:pt x="10228" y="16366"/>
                  <a:pt x="8201" y="16481"/>
                  <a:pt x="6809" y="15716"/>
                </a:cubicBezTo>
                <a:lnTo>
                  <a:pt x="11765" y="11750"/>
                </a:lnTo>
                <a:cubicBezTo>
                  <a:pt x="12784" y="12856"/>
                  <a:pt x="12685" y="14398"/>
                  <a:pt x="11438" y="15405"/>
                </a:cubicBezTo>
                <a:cubicBezTo>
                  <a:pt x="11438" y="15405"/>
                  <a:pt x="11438" y="15405"/>
                  <a:pt x="11438" y="15405"/>
                </a:cubicBezTo>
                <a:close/>
                <a:moveTo>
                  <a:pt x="1158" y="14082"/>
                </a:moveTo>
                <a:lnTo>
                  <a:pt x="1158" y="10585"/>
                </a:lnTo>
                <a:lnTo>
                  <a:pt x="5811" y="10585"/>
                </a:lnTo>
                <a:cubicBezTo>
                  <a:pt x="5704" y="10652"/>
                  <a:pt x="5590" y="10720"/>
                  <a:pt x="5493" y="10794"/>
                </a:cubicBezTo>
                <a:cubicBezTo>
                  <a:pt x="3821" y="12135"/>
                  <a:pt x="3713" y="14218"/>
                  <a:pt x="5109" y="15670"/>
                </a:cubicBezTo>
                <a:cubicBezTo>
                  <a:pt x="4686" y="15913"/>
                  <a:pt x="4187" y="16050"/>
                  <a:pt x="3650" y="16050"/>
                </a:cubicBezTo>
                <a:cubicBezTo>
                  <a:pt x="2273" y="16050"/>
                  <a:pt x="1158" y="15170"/>
                  <a:pt x="1158" y="14082"/>
                </a:cubicBezTo>
                <a:cubicBezTo>
                  <a:pt x="1158" y="14082"/>
                  <a:pt x="1158" y="14082"/>
                  <a:pt x="1158" y="14082"/>
                </a:cubicBezTo>
                <a:close/>
                <a:moveTo>
                  <a:pt x="3650" y="16958"/>
                </a:moveTo>
                <a:cubicBezTo>
                  <a:pt x="4485" y="16958"/>
                  <a:pt x="5271" y="16732"/>
                  <a:pt x="5916" y="16323"/>
                </a:cubicBezTo>
                <a:cubicBezTo>
                  <a:pt x="6761" y="16852"/>
                  <a:pt x="7778" y="17155"/>
                  <a:pt x="8872" y="17155"/>
                </a:cubicBezTo>
                <a:cubicBezTo>
                  <a:pt x="10151" y="17155"/>
                  <a:pt x="11360" y="16761"/>
                  <a:pt x="12252" y="16041"/>
                </a:cubicBezTo>
                <a:cubicBezTo>
                  <a:pt x="14088" y="14573"/>
                  <a:pt x="14067" y="12195"/>
                  <a:pt x="12204" y="10750"/>
                </a:cubicBezTo>
                <a:cubicBezTo>
                  <a:pt x="11304" y="10059"/>
                  <a:pt x="10123" y="9675"/>
                  <a:pt x="8872" y="9675"/>
                </a:cubicBezTo>
                <a:cubicBezTo>
                  <a:pt x="8326" y="9675"/>
                  <a:pt x="7799" y="9764"/>
                  <a:pt x="7297" y="9902"/>
                </a:cubicBezTo>
                <a:lnTo>
                  <a:pt x="7297" y="6435"/>
                </a:lnTo>
                <a:cubicBezTo>
                  <a:pt x="7297" y="4846"/>
                  <a:pt x="5667" y="3557"/>
                  <a:pt x="3650" y="3557"/>
                </a:cubicBezTo>
                <a:cubicBezTo>
                  <a:pt x="1639" y="3557"/>
                  <a:pt x="0" y="4846"/>
                  <a:pt x="0" y="6435"/>
                </a:cubicBezTo>
                <a:lnTo>
                  <a:pt x="0" y="14082"/>
                </a:lnTo>
                <a:cubicBezTo>
                  <a:pt x="0" y="15670"/>
                  <a:pt x="1639" y="16958"/>
                  <a:pt x="3650" y="16958"/>
                </a:cubicBezTo>
                <a:cubicBezTo>
                  <a:pt x="3650" y="16958"/>
                  <a:pt x="3650" y="16958"/>
                  <a:pt x="3650" y="16958"/>
                </a:cubicBezTo>
                <a:close/>
              </a:path>
            </a:pathLst>
          </a:custGeom>
          <a:solidFill>
            <a:srgbClr val="0070C0"/>
          </a:solidFill>
          <a:ln>
            <a:noFill/>
          </a:ln>
        </p:spPr>
        <p:txBody>
          <a:bodyPr anchor="ctr"/>
          <a:lstStyle/>
          <a:p>
            <a:endParaRPr lang="zh-CN" altLang="en-US">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D0C09-658D-1DD5-B2A2-8D4BA5761FFA}"/>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3C9478E2-D573-7578-0FBB-D94F70A0F0FD}"/>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1.3.3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软件质量保证定义</a:t>
            </a:r>
          </a:p>
        </p:txBody>
      </p:sp>
      <p:sp>
        <p:nvSpPr>
          <p:cNvPr id="2" name="文本框 1">
            <a:extLst>
              <a:ext uri="{FF2B5EF4-FFF2-40B4-BE49-F238E27FC236}">
                <a16:creationId xmlns:a16="http://schemas.microsoft.com/office/drawing/2014/main" id="{DD808A49-126E-CAE7-0CDD-1BDD21602169}"/>
              </a:ext>
            </a:extLst>
          </p:cNvPr>
          <p:cNvSpPr txBox="1"/>
          <p:nvPr/>
        </p:nvSpPr>
        <p:spPr>
          <a:xfrm>
            <a:off x="874626" y="981794"/>
            <a:ext cx="10441160" cy="961289"/>
          </a:xfrm>
          <a:prstGeom prst="rect">
            <a:avLst/>
          </a:prstGeom>
          <a:noFill/>
        </p:spPr>
        <p:txBody>
          <a:bodyPr wrap="square">
            <a:spAutoFit/>
          </a:bodyPr>
          <a:lstStyle/>
          <a:p>
            <a:pPr indent="457200" algn="just">
              <a:lnSpc>
                <a:spcPct val="150000"/>
              </a:lnSpc>
              <a:buClrTx/>
              <a:buSzTx/>
            </a:pPr>
            <a:r>
              <a:rPr lang="zh-CN" altLang="en-US" sz="2000" dirty="0">
                <a:solidFill>
                  <a:srgbClr val="595959"/>
                </a:solidFill>
                <a:latin typeface="微软雅黑" panose="020B0503020204020204" pitchFamily="34" charset="-122"/>
                <a:ea typeface="微软雅黑" panose="020B0503020204020204" pitchFamily="34" charset="-122"/>
              </a:rPr>
              <a:t>软件质量保证是</a:t>
            </a:r>
            <a:r>
              <a:rPr lang="zh-CN" altLang="en-US" sz="2000" dirty="0">
                <a:solidFill>
                  <a:srgbClr val="0070C0"/>
                </a:solidFill>
                <a:latin typeface="微软雅黑" panose="020B0503020204020204" pitchFamily="34" charset="-122"/>
                <a:ea typeface="微软雅黑" panose="020B0503020204020204" pitchFamily="34" charset="-122"/>
              </a:rPr>
              <a:t>贯穿软件项目整个生命周期</a:t>
            </a:r>
            <a:r>
              <a:rPr lang="zh-CN" altLang="en-US" sz="2000" dirty="0">
                <a:solidFill>
                  <a:srgbClr val="595959"/>
                </a:solidFill>
                <a:latin typeface="微软雅黑" panose="020B0503020204020204" pitchFamily="34" charset="-122"/>
                <a:ea typeface="微软雅黑" panose="020B0503020204020204" pitchFamily="34" charset="-122"/>
              </a:rPr>
              <a:t>的有计划的系统活动，经常针对整个项目质量计划执行情况进行评估、检查和改进，确保项目质量与计划保持一致。</a:t>
            </a:r>
          </a:p>
        </p:txBody>
      </p:sp>
      <p:sp>
        <p:nvSpPr>
          <p:cNvPr id="99" name="文本框 98">
            <a:extLst>
              <a:ext uri="{FF2B5EF4-FFF2-40B4-BE49-F238E27FC236}">
                <a16:creationId xmlns:a16="http://schemas.microsoft.com/office/drawing/2014/main" id="{E6AE07A1-2293-AF28-A22D-BA8C3EC7D29F}"/>
              </a:ext>
            </a:extLst>
          </p:cNvPr>
          <p:cNvSpPr txBox="1"/>
          <p:nvPr/>
        </p:nvSpPr>
        <p:spPr>
          <a:xfrm>
            <a:off x="874626" y="2476748"/>
            <a:ext cx="10441160" cy="1884618"/>
          </a:xfrm>
          <a:prstGeom prst="rect">
            <a:avLst/>
          </a:prstGeom>
          <a:noFill/>
        </p:spPr>
        <p:txBody>
          <a:bodyPr wrap="square">
            <a:spAutoFit/>
          </a:bodyPr>
          <a:lstStyle/>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软件质量保证确保软件项目的过程</a:t>
            </a:r>
            <a:r>
              <a:rPr lang="zh-CN" altLang="en-US" sz="2000" dirty="0">
                <a:solidFill>
                  <a:srgbClr val="0070C0"/>
                </a:solidFill>
                <a:latin typeface="微软雅黑" panose="020B0503020204020204" pitchFamily="34" charset="-122"/>
                <a:ea typeface="微软雅黑" panose="020B0503020204020204" pitchFamily="34" charset="-122"/>
              </a:rPr>
              <a:t>遵循了对应的标准及规范要求，且产生了合适的文档和精确反映项目情况的报告</a:t>
            </a:r>
            <a:r>
              <a:rPr lang="zh-CN" altLang="en-US" sz="2000" dirty="0">
                <a:solidFill>
                  <a:srgbClr val="595959"/>
                </a:solidFill>
                <a:latin typeface="微软雅黑" panose="020B0503020204020204" pitchFamily="34" charset="-122"/>
                <a:ea typeface="微软雅黑" panose="020B0503020204020204" pitchFamily="34" charset="-122"/>
              </a:rPr>
              <a:t>，其目的是</a:t>
            </a:r>
            <a:r>
              <a:rPr lang="zh-CN" altLang="en-US" sz="2000" dirty="0">
                <a:solidFill>
                  <a:srgbClr val="0070C0"/>
                </a:solidFill>
                <a:latin typeface="微软雅黑" panose="020B0503020204020204" pitchFamily="34" charset="-122"/>
                <a:ea typeface="微软雅黑" panose="020B0503020204020204" pitchFamily="34" charset="-122"/>
              </a:rPr>
              <a:t>通过评价项目质量建立项目达到质量要求的信心</a:t>
            </a:r>
            <a:r>
              <a:rPr lang="zh-CN" altLang="en-US" sz="2000" dirty="0">
                <a:solidFill>
                  <a:srgbClr val="595959"/>
                </a:solidFill>
                <a:latin typeface="微软雅黑" panose="020B0503020204020204" pitchFamily="34" charset="-122"/>
                <a:ea typeface="微软雅黑" panose="020B0503020204020204" pitchFamily="34" charset="-122"/>
              </a:rPr>
              <a:t>。软件质量保证活动主要包括</a:t>
            </a:r>
            <a:r>
              <a:rPr lang="zh-CN" altLang="en-US" sz="2000" dirty="0">
                <a:solidFill>
                  <a:srgbClr val="0070C0"/>
                </a:solidFill>
                <a:latin typeface="微软雅黑" panose="020B0503020204020204" pitchFamily="34" charset="-122"/>
                <a:ea typeface="微软雅黑" panose="020B0503020204020204" pitchFamily="34" charset="-122"/>
              </a:rPr>
              <a:t>评审项目过程、审计软件产品，就软件项目是否真正遵循已经制订的计划、标准和规程</a:t>
            </a:r>
            <a:r>
              <a:rPr lang="zh-CN" altLang="en-US" sz="2000" dirty="0">
                <a:solidFill>
                  <a:srgbClr val="595959"/>
                </a:solidFill>
                <a:latin typeface="微软雅黑" panose="020B0503020204020204" pitchFamily="34" charset="-122"/>
                <a:ea typeface="微软雅黑" panose="020B0503020204020204" pitchFamily="34" charset="-122"/>
              </a:rPr>
              <a:t>等，给管理者提供可视性项目和产品可视化的管理报告。</a:t>
            </a:r>
          </a:p>
        </p:txBody>
      </p:sp>
    </p:spTree>
    <p:extLst>
      <p:ext uri="{BB962C8B-B14F-4D97-AF65-F5344CB8AC3E}">
        <p14:creationId xmlns:p14="http://schemas.microsoft.com/office/powerpoint/2010/main" val="1707755141"/>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2637" y="3403670"/>
            <a:ext cx="5876290" cy="530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了解软件质量保证和软件测试的</a:t>
            </a:r>
            <a:r>
              <a:rPr lang="zh-CN" altLang="en-US"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区别</a:t>
            </a:r>
            <a:endParaRPr lang="zh-CN"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0" y="266995"/>
            <a:ext cx="538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1.3.4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软件质量保证和软件测试的区别</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E6BC0-D78D-11EE-A9D9-75C92170794F}"/>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6BE7ED23-285F-9B31-F3F6-EF94BC768379}"/>
              </a:ext>
            </a:extLst>
          </p:cNvPr>
          <p:cNvSpPr txBox="1"/>
          <p:nvPr/>
        </p:nvSpPr>
        <p:spPr>
          <a:xfrm>
            <a:off x="1143690" y="266995"/>
            <a:ext cx="5167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1.3.4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软件质量保证与软件测试的区别</a:t>
            </a:r>
          </a:p>
        </p:txBody>
      </p:sp>
      <p:sp>
        <p:nvSpPr>
          <p:cNvPr id="99" name="文本框 98">
            <a:extLst>
              <a:ext uri="{FF2B5EF4-FFF2-40B4-BE49-F238E27FC236}">
                <a16:creationId xmlns:a16="http://schemas.microsoft.com/office/drawing/2014/main" id="{6D82EC7B-003B-6CEE-78E7-F4F64C13D147}"/>
              </a:ext>
            </a:extLst>
          </p:cNvPr>
          <p:cNvSpPr txBox="1"/>
          <p:nvPr/>
        </p:nvSpPr>
        <p:spPr>
          <a:xfrm>
            <a:off x="983206" y="1102490"/>
            <a:ext cx="10441160" cy="5116272"/>
          </a:xfrm>
          <a:prstGeom prst="rect">
            <a:avLst/>
          </a:prstGeom>
          <a:noFill/>
        </p:spPr>
        <p:txBody>
          <a:bodyPr wrap="square">
            <a:spAutoFit/>
          </a:bodyPr>
          <a:lstStyle/>
          <a:p>
            <a:pPr algn="just">
              <a:lnSpc>
                <a:spcPct val="150000"/>
              </a:lnSpc>
              <a:buClrTx/>
              <a:buSzTx/>
              <a:buFontTx/>
            </a:pPr>
            <a:r>
              <a:rPr lang="zh-CN" altLang="en-US" sz="2000" b="1" dirty="0">
                <a:solidFill>
                  <a:srgbClr val="0070C0"/>
                </a:solidFill>
                <a:latin typeface="微软雅黑" panose="020B0503020204020204" pitchFamily="34" charset="-122"/>
                <a:ea typeface="微软雅黑" panose="020B0503020204020204" pitchFamily="34" charset="-122"/>
              </a:rPr>
              <a:t>软件质量保证（</a:t>
            </a:r>
            <a:r>
              <a:rPr lang="en-US" altLang="zh-CN" sz="2000" b="1" dirty="0">
                <a:solidFill>
                  <a:srgbClr val="0070C0"/>
                </a:solidFill>
                <a:latin typeface="微软雅黑" panose="020B0503020204020204" pitchFamily="34" charset="-122"/>
                <a:ea typeface="微软雅黑" panose="020B0503020204020204" pitchFamily="34" charset="-122"/>
              </a:rPr>
              <a:t>SQA</a:t>
            </a:r>
            <a:r>
              <a:rPr lang="zh-CN" altLang="en-US" sz="2000" b="1" dirty="0">
                <a:solidFill>
                  <a:srgbClr val="0070C0"/>
                </a:solidFill>
                <a:latin typeface="微软雅黑" panose="020B0503020204020204" pitchFamily="34" charset="-122"/>
                <a:ea typeface="微软雅黑" panose="020B0503020204020204" pitchFamily="34" charset="-122"/>
              </a:rPr>
              <a:t>）：</a:t>
            </a:r>
          </a:p>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核心目标是</a:t>
            </a:r>
            <a:r>
              <a:rPr lang="zh-CN" altLang="en-US" sz="2000" dirty="0">
                <a:solidFill>
                  <a:srgbClr val="0070C0"/>
                </a:solidFill>
                <a:latin typeface="微软雅黑" panose="020B0503020204020204" pitchFamily="34" charset="-122"/>
                <a:ea typeface="微软雅黑" panose="020B0503020204020204" pitchFamily="34" charset="-122"/>
              </a:rPr>
              <a:t>预防质量问题</a:t>
            </a:r>
            <a:r>
              <a:rPr lang="zh-CN" altLang="en-US" sz="2000" dirty="0">
                <a:solidFill>
                  <a:srgbClr val="595959"/>
                </a:solidFill>
                <a:latin typeface="微软雅黑" panose="020B0503020204020204" pitchFamily="34" charset="-122"/>
                <a:ea typeface="微软雅黑" panose="020B0503020204020204" pitchFamily="34" charset="-122"/>
              </a:rPr>
              <a:t>，通过建立和执行一套完整的质量体系（如流程、标准、规范），确保软件开发过程符合预定的质量要求，从根源上减少缺陷的产生，最终交付高质量的软件产品。</a:t>
            </a:r>
          </a:p>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简单说，</a:t>
            </a:r>
            <a:r>
              <a:rPr lang="en-US" altLang="zh-CN" sz="2000" dirty="0">
                <a:solidFill>
                  <a:srgbClr val="595959"/>
                </a:solidFill>
                <a:latin typeface="微软雅黑" panose="020B0503020204020204" pitchFamily="34" charset="-122"/>
                <a:ea typeface="微软雅黑" panose="020B0503020204020204" pitchFamily="34" charset="-122"/>
              </a:rPr>
              <a:t>SQA </a:t>
            </a:r>
            <a:r>
              <a:rPr lang="zh-CN" altLang="en-US" sz="2000" dirty="0">
                <a:solidFill>
                  <a:srgbClr val="595959"/>
                </a:solidFill>
                <a:latin typeface="微软雅黑" panose="020B0503020204020204" pitchFamily="34" charset="-122"/>
                <a:ea typeface="微软雅黑" panose="020B0503020204020204" pitchFamily="34" charset="-122"/>
              </a:rPr>
              <a:t>关注 “</a:t>
            </a:r>
            <a:r>
              <a:rPr lang="zh-CN" altLang="en-US" sz="2000" dirty="0">
                <a:solidFill>
                  <a:srgbClr val="0070C0"/>
                </a:solidFill>
                <a:latin typeface="微软雅黑" panose="020B0503020204020204" pitchFamily="34" charset="-122"/>
                <a:ea typeface="微软雅黑" panose="020B0503020204020204" pitchFamily="34" charset="-122"/>
              </a:rPr>
              <a:t>过程正确”，通过规范过程来保证结果质量</a:t>
            </a:r>
            <a:r>
              <a:rPr lang="zh-CN" altLang="en-US" sz="2000" dirty="0">
                <a:solidFill>
                  <a:srgbClr val="595959"/>
                </a:solidFill>
                <a:latin typeface="微软雅黑" panose="020B0503020204020204" pitchFamily="34" charset="-122"/>
                <a:ea typeface="微软雅黑" panose="020B0503020204020204" pitchFamily="34" charset="-122"/>
              </a:rPr>
              <a:t>。</a:t>
            </a:r>
          </a:p>
          <a:p>
            <a:pPr algn="just">
              <a:lnSpc>
                <a:spcPct val="150000"/>
              </a:lnSpc>
              <a:buClrTx/>
              <a:buSzTx/>
              <a:buFontTx/>
            </a:pPr>
            <a:endParaRPr lang="en-US" altLang="zh-CN" sz="2000" b="1" dirty="0">
              <a:solidFill>
                <a:srgbClr val="0070C0"/>
              </a:solidFill>
              <a:latin typeface="微软雅黑" panose="020B0503020204020204" pitchFamily="34" charset="-122"/>
              <a:ea typeface="微软雅黑" panose="020B0503020204020204" pitchFamily="34" charset="-122"/>
            </a:endParaRPr>
          </a:p>
          <a:p>
            <a:pPr algn="just">
              <a:lnSpc>
                <a:spcPct val="150000"/>
              </a:lnSpc>
              <a:buClrTx/>
              <a:buSzTx/>
              <a:buFontTx/>
            </a:pPr>
            <a:r>
              <a:rPr lang="zh-CN" altLang="en-US" sz="2000" b="1" dirty="0">
                <a:solidFill>
                  <a:srgbClr val="00B050"/>
                </a:solidFill>
                <a:latin typeface="微软雅黑" panose="020B0503020204020204" pitchFamily="34" charset="-122"/>
                <a:ea typeface="微软雅黑" panose="020B0503020204020204" pitchFamily="34" charset="-122"/>
              </a:rPr>
              <a:t>软件测试：</a:t>
            </a:r>
          </a:p>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核心目标是</a:t>
            </a:r>
            <a:r>
              <a:rPr lang="zh-CN" altLang="en-US" sz="2000" dirty="0">
                <a:solidFill>
                  <a:srgbClr val="00B050"/>
                </a:solidFill>
                <a:latin typeface="微软雅黑" panose="020B0503020204020204" pitchFamily="34" charset="-122"/>
                <a:ea typeface="微软雅黑" panose="020B0503020204020204" pitchFamily="34" charset="-122"/>
              </a:rPr>
              <a:t>发现质量问题</a:t>
            </a:r>
            <a:r>
              <a:rPr lang="zh-CN" altLang="en-US" sz="2000" dirty="0">
                <a:solidFill>
                  <a:srgbClr val="595959"/>
                </a:solidFill>
                <a:latin typeface="微软雅黑" panose="020B0503020204020204" pitchFamily="34" charset="-122"/>
                <a:ea typeface="微软雅黑" panose="020B0503020204020204" pitchFamily="34" charset="-122"/>
              </a:rPr>
              <a:t>，通过执行测试用例、模拟用户场景等方式，识别软件中已存在的缺陷（如功能错误、性能问题、兼容性问题等），并推动缺陷修复，确保软件在交付前尽可能消除可见问题。</a:t>
            </a:r>
          </a:p>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简单说，测试关注 </a:t>
            </a:r>
            <a:r>
              <a:rPr lang="zh-CN" altLang="en-US" sz="2000" dirty="0">
                <a:solidFill>
                  <a:srgbClr val="00B050"/>
                </a:solidFill>
                <a:latin typeface="微软雅黑" panose="020B0503020204020204" pitchFamily="34" charset="-122"/>
                <a:ea typeface="微软雅黑" panose="020B0503020204020204" pitchFamily="34" charset="-122"/>
              </a:rPr>
              <a:t>“结果验证”，通过检查产品来发现已有缺陷</a:t>
            </a:r>
            <a:r>
              <a:rPr lang="zh-CN" altLang="en-US" sz="2000" dirty="0">
                <a:solidFill>
                  <a:srgbClr val="595959"/>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175740702"/>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64A86-F8C4-4FDC-6F0B-E894B06B5EB3}"/>
            </a:ext>
          </a:extLst>
        </p:cNvPr>
        <p:cNvGrpSpPr/>
        <p:nvPr/>
      </p:nvGrpSpPr>
      <p:grpSpPr>
        <a:xfrm>
          <a:off x="0" y="0"/>
          <a:ext cx="0" cy="0"/>
          <a:chOff x="0" y="0"/>
          <a:chExt cx="0" cy="0"/>
        </a:xfrm>
      </p:grpSpPr>
      <p:pic>
        <p:nvPicPr>
          <p:cNvPr id="12" name="图片 11">
            <a:extLst>
              <a:ext uri="{FF2B5EF4-FFF2-40B4-BE49-F238E27FC236}">
                <a16:creationId xmlns:a16="http://schemas.microsoft.com/office/drawing/2014/main" id="{BC53D13C-67BF-D8EC-169D-02B619B58446}"/>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a:extLst>
              <a:ext uri="{FF2B5EF4-FFF2-40B4-BE49-F238E27FC236}">
                <a16:creationId xmlns:a16="http://schemas.microsoft.com/office/drawing/2014/main" id="{25462BC6-2F88-3F3D-D854-8E3124D186BB}"/>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a:extLst>
              <a:ext uri="{FF2B5EF4-FFF2-40B4-BE49-F238E27FC236}">
                <a16:creationId xmlns:a16="http://schemas.microsoft.com/office/drawing/2014/main" id="{277B210A-F2A7-20EB-F5C6-EAB67902B02B}"/>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a:extLst>
              <a:ext uri="{FF2B5EF4-FFF2-40B4-BE49-F238E27FC236}">
                <a16:creationId xmlns:a16="http://schemas.microsoft.com/office/drawing/2014/main" id="{90145156-D95F-F0E1-15E5-4B6877B2C156}"/>
              </a:ext>
            </a:extLst>
          </p:cNvPr>
          <p:cNvSpPr txBox="1">
            <a:spLocks noChangeArrowheads="1"/>
          </p:cNvSpPr>
          <p:nvPr/>
        </p:nvSpPr>
        <p:spPr bwMode="auto">
          <a:xfrm>
            <a:off x="5857240" y="3220720"/>
            <a:ext cx="5876290"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熟悉</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软件测试</a:t>
            </a:r>
            <a:r>
              <a:rPr lang="zh-CN" altLang="en-US"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分类</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从</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不同</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角度归纳</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软件</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缺陷的分类</a:t>
            </a:r>
            <a:endPar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9" name="组合 18">
            <a:extLst>
              <a:ext uri="{FF2B5EF4-FFF2-40B4-BE49-F238E27FC236}">
                <a16:creationId xmlns:a16="http://schemas.microsoft.com/office/drawing/2014/main" id="{1713333A-FD6A-F1B9-8E61-A1828C95FA6B}"/>
              </a:ext>
            </a:extLst>
          </p:cNvPr>
          <p:cNvGrpSpPr/>
          <p:nvPr/>
        </p:nvGrpSpPr>
        <p:grpSpPr>
          <a:xfrm>
            <a:off x="5452110" y="3540125"/>
            <a:ext cx="405130" cy="405130"/>
            <a:chOff x="8881" y="4685"/>
            <a:chExt cx="638" cy="638"/>
          </a:xfrm>
        </p:grpSpPr>
        <p:sp>
          <p:nvSpPr>
            <p:cNvPr id="18" name="椭圆 17">
              <a:extLst>
                <a:ext uri="{FF2B5EF4-FFF2-40B4-BE49-F238E27FC236}">
                  <a16:creationId xmlns:a16="http://schemas.microsoft.com/office/drawing/2014/main" id="{648DA034-A080-E505-79A3-3E28D0E383CF}"/>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01B2482D-D4E5-D234-2848-CB899FA81CB7}"/>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a:extLst>
              <a:ext uri="{FF2B5EF4-FFF2-40B4-BE49-F238E27FC236}">
                <a16:creationId xmlns:a16="http://schemas.microsoft.com/office/drawing/2014/main" id="{04106F0C-5307-3065-7742-B0D25FDFCA4E}"/>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1.3.5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软件测试的分类</a:t>
            </a:r>
          </a:p>
        </p:txBody>
      </p:sp>
    </p:spTree>
    <p:extLst>
      <p:ext uri="{BB962C8B-B14F-4D97-AF65-F5344CB8AC3E}">
        <p14:creationId xmlns:p14="http://schemas.microsoft.com/office/powerpoint/2010/main" val="675428989"/>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1055370" y="981710"/>
            <a:ext cx="10046970" cy="1104900"/>
          </a:xfrm>
          <a:prstGeom prst="rect">
            <a:avLst/>
          </a:prstGeom>
          <a:noFill/>
        </p:spPr>
        <p:txBody>
          <a:bodyPr wrap="square" rtlCol="0" anchor="t">
            <a:noAutofit/>
          </a:bodyPr>
          <a:lstStyle/>
          <a:p>
            <a:pPr algn="just">
              <a:lnSpc>
                <a:spcPct val="150000"/>
              </a:lnSpc>
              <a:buClrTx/>
              <a:buSzTx/>
              <a:buFontTx/>
            </a:pPr>
            <a:r>
              <a:rPr lang="zh-CN" sz="2000" dirty="0">
                <a:solidFill>
                  <a:srgbClr val="595959"/>
                </a:solidFill>
                <a:latin typeface="微软雅黑" panose="020B0503020204020204" pitchFamily="34" charset="-122"/>
                <a:ea typeface="微软雅黑" panose="020B0503020204020204" pitchFamily="34" charset="-122"/>
                <a:sym typeface="+mn-ea"/>
              </a:rPr>
              <a:t>按照不同的分类标准可以将软件测试分为很多不同的种类。</a:t>
            </a:r>
          </a:p>
          <a:p>
            <a:pPr algn="just">
              <a:lnSpc>
                <a:spcPct val="150000"/>
              </a:lnSpc>
              <a:buClrTx/>
              <a:buSzTx/>
              <a:buFontTx/>
            </a:pPr>
            <a:r>
              <a:rPr lang="zh-CN" altLang="en-US" sz="2000" b="1" dirty="0">
                <a:solidFill>
                  <a:srgbClr val="595959"/>
                </a:solidFill>
                <a:latin typeface="微软雅黑" panose="020B0503020204020204" pitchFamily="34" charset="-122"/>
                <a:ea typeface="微软雅黑" panose="020B0503020204020204" pitchFamily="34" charset="-122"/>
                <a:sym typeface="+mn-ea"/>
              </a:rPr>
              <a:t>1.</a:t>
            </a:r>
            <a:r>
              <a:rPr lang="en-US" altLang="zh-CN" sz="2000" b="1" dirty="0">
                <a:solidFill>
                  <a:srgbClr val="595959"/>
                </a:solidFill>
                <a:latin typeface="微软雅黑" panose="020B0503020204020204" pitchFamily="34" charset="-122"/>
                <a:ea typeface="微软雅黑" panose="020B0503020204020204" pitchFamily="34" charset="-122"/>
                <a:sym typeface="+mn-ea"/>
              </a:rPr>
              <a:t> </a:t>
            </a:r>
            <a:r>
              <a:rPr lang="zh-CN" altLang="en-US" sz="2000" b="1" dirty="0">
                <a:solidFill>
                  <a:srgbClr val="595959"/>
                </a:solidFill>
                <a:latin typeface="微软雅黑" panose="020B0503020204020204" pitchFamily="34" charset="-122"/>
                <a:ea typeface="微软雅黑" panose="020B0503020204020204" pitchFamily="34" charset="-122"/>
                <a:sym typeface="+mn-ea"/>
              </a:rPr>
              <a:t>按照测试阶段分类</a:t>
            </a: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1.3.5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软件测试的分类</a:t>
            </a:r>
          </a:p>
        </p:txBody>
      </p:sp>
      <p:grpSp>
        <p:nvGrpSpPr>
          <p:cNvPr id="3" name="Group 14"/>
          <p:cNvGrpSpPr/>
          <p:nvPr/>
        </p:nvGrpSpPr>
        <p:grpSpPr>
          <a:xfrm>
            <a:off x="5379143" y="3421074"/>
            <a:ext cx="1414667" cy="1619124"/>
            <a:chOff x="5379142" y="2991066"/>
            <a:chExt cx="1414667" cy="1619124"/>
          </a:xfrm>
        </p:grpSpPr>
        <p:sp>
          <p:nvSpPr>
            <p:cNvPr id="4" name="Shape 1723"/>
            <p:cNvSpPr/>
            <p:nvPr/>
          </p:nvSpPr>
          <p:spPr>
            <a:xfrm rot="18900000">
              <a:off x="5379143" y="2991066"/>
              <a:ext cx="1414666" cy="1414666"/>
            </a:xfrm>
            <a:prstGeom prst="roundRect">
              <a:avLst>
                <a:gd name="adj" fmla="val 15000"/>
              </a:avLst>
            </a:prstGeom>
            <a:solidFill>
              <a:srgbClr val="0070C0"/>
            </a:solidFill>
            <a:ln w="12700">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sp>
          <p:nvSpPr>
            <p:cNvPr id="5" name="Shape 1726"/>
            <p:cNvSpPr/>
            <p:nvPr/>
          </p:nvSpPr>
          <p:spPr>
            <a:xfrm rot="18900000">
              <a:off x="5379142" y="3195523"/>
              <a:ext cx="1414666" cy="1414667"/>
            </a:xfrm>
            <a:prstGeom prst="roundRect">
              <a:avLst>
                <a:gd name="adj" fmla="val 15000"/>
              </a:avLst>
            </a:prstGeom>
            <a:solidFill>
              <a:schemeClr val="bg2"/>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grpSp>
      <p:grpSp>
        <p:nvGrpSpPr>
          <p:cNvPr id="6" name="Group 12"/>
          <p:cNvGrpSpPr/>
          <p:nvPr/>
        </p:nvGrpSpPr>
        <p:grpSpPr>
          <a:xfrm>
            <a:off x="3563871" y="3629417"/>
            <a:ext cx="1414667" cy="1619124"/>
            <a:chOff x="3563871" y="3199409"/>
            <a:chExt cx="1414666" cy="1619124"/>
          </a:xfrm>
        </p:grpSpPr>
        <p:sp>
          <p:nvSpPr>
            <p:cNvPr id="7" name="Shape 1722"/>
            <p:cNvSpPr/>
            <p:nvPr/>
          </p:nvSpPr>
          <p:spPr>
            <a:xfrm rot="8100000">
              <a:off x="3563871" y="3403867"/>
              <a:ext cx="1414666" cy="1414666"/>
            </a:xfrm>
            <a:prstGeom prst="roundRect">
              <a:avLst>
                <a:gd name="adj" fmla="val 15000"/>
              </a:avLst>
            </a:prstGeom>
            <a:solidFill>
              <a:srgbClr val="0070C0"/>
            </a:solidFill>
            <a:ln w="12700">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sp>
          <p:nvSpPr>
            <p:cNvPr id="8" name="Shape 1729"/>
            <p:cNvSpPr/>
            <p:nvPr/>
          </p:nvSpPr>
          <p:spPr>
            <a:xfrm rot="8100000">
              <a:off x="3563871" y="3199409"/>
              <a:ext cx="1414666" cy="1414667"/>
            </a:xfrm>
            <a:prstGeom prst="roundRect">
              <a:avLst>
                <a:gd name="adj" fmla="val 15000"/>
              </a:avLst>
            </a:prstGeom>
            <a:solidFill>
              <a:schemeClr val="bg2"/>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grpSp>
      <p:grpSp>
        <p:nvGrpSpPr>
          <p:cNvPr id="9" name="Group 11"/>
          <p:cNvGrpSpPr/>
          <p:nvPr/>
        </p:nvGrpSpPr>
        <p:grpSpPr>
          <a:xfrm>
            <a:off x="1743076" y="3421074"/>
            <a:ext cx="1414667" cy="1619124"/>
            <a:chOff x="1743076" y="2991066"/>
            <a:chExt cx="1414666" cy="1619124"/>
          </a:xfrm>
        </p:grpSpPr>
        <p:sp>
          <p:nvSpPr>
            <p:cNvPr id="10" name="Shape 1721"/>
            <p:cNvSpPr/>
            <p:nvPr/>
          </p:nvSpPr>
          <p:spPr>
            <a:xfrm rot="18900000">
              <a:off x="1743076" y="2991066"/>
              <a:ext cx="1414666" cy="1414666"/>
            </a:xfrm>
            <a:prstGeom prst="roundRect">
              <a:avLst>
                <a:gd name="adj" fmla="val 15000"/>
              </a:avLst>
            </a:prstGeom>
            <a:solidFill>
              <a:srgbClr val="0070C0"/>
            </a:solidFill>
            <a:ln w="12700">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sp>
          <p:nvSpPr>
            <p:cNvPr id="11" name="Shape 1732"/>
            <p:cNvSpPr/>
            <p:nvPr/>
          </p:nvSpPr>
          <p:spPr>
            <a:xfrm rot="18900000">
              <a:off x="1743076" y="3195523"/>
              <a:ext cx="1414666" cy="1414667"/>
            </a:xfrm>
            <a:prstGeom prst="roundRect">
              <a:avLst>
                <a:gd name="adj" fmla="val 15000"/>
              </a:avLst>
            </a:prstGeom>
            <a:solidFill>
              <a:schemeClr val="bg2"/>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grpSp>
      <p:grpSp>
        <p:nvGrpSpPr>
          <p:cNvPr id="12" name="Group 15"/>
          <p:cNvGrpSpPr/>
          <p:nvPr/>
        </p:nvGrpSpPr>
        <p:grpSpPr>
          <a:xfrm>
            <a:off x="7199937" y="3629417"/>
            <a:ext cx="1414667" cy="1619125"/>
            <a:chOff x="7199937" y="3199409"/>
            <a:chExt cx="1414666" cy="1619125"/>
          </a:xfrm>
        </p:grpSpPr>
        <p:sp>
          <p:nvSpPr>
            <p:cNvPr id="13" name="Shape 1724"/>
            <p:cNvSpPr/>
            <p:nvPr/>
          </p:nvSpPr>
          <p:spPr>
            <a:xfrm rot="8100000">
              <a:off x="7199937" y="3403868"/>
              <a:ext cx="1414666" cy="1414666"/>
            </a:xfrm>
            <a:prstGeom prst="roundRect">
              <a:avLst>
                <a:gd name="adj" fmla="val 15000"/>
              </a:avLst>
            </a:prstGeom>
            <a:solidFill>
              <a:srgbClr val="0070C0"/>
            </a:solidFill>
            <a:ln w="12700">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sp>
          <p:nvSpPr>
            <p:cNvPr id="14" name="Shape 1735"/>
            <p:cNvSpPr/>
            <p:nvPr/>
          </p:nvSpPr>
          <p:spPr>
            <a:xfrm rot="8100000">
              <a:off x="7199937" y="3199409"/>
              <a:ext cx="1414666" cy="1414667"/>
            </a:xfrm>
            <a:prstGeom prst="roundRect">
              <a:avLst>
                <a:gd name="adj" fmla="val 15000"/>
              </a:avLst>
            </a:prstGeom>
            <a:solidFill>
              <a:schemeClr val="bg2"/>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grpSp>
      <p:grpSp>
        <p:nvGrpSpPr>
          <p:cNvPr id="15" name="Group 16"/>
          <p:cNvGrpSpPr/>
          <p:nvPr/>
        </p:nvGrpSpPr>
        <p:grpSpPr>
          <a:xfrm>
            <a:off x="9015209" y="3421074"/>
            <a:ext cx="1414667" cy="1619124"/>
            <a:chOff x="9015209" y="2991066"/>
            <a:chExt cx="1414666" cy="1619124"/>
          </a:xfrm>
        </p:grpSpPr>
        <p:sp>
          <p:nvSpPr>
            <p:cNvPr id="16" name="Shape 1725"/>
            <p:cNvSpPr/>
            <p:nvPr/>
          </p:nvSpPr>
          <p:spPr>
            <a:xfrm rot="18900000">
              <a:off x="9015209" y="2991066"/>
              <a:ext cx="1414666" cy="1414666"/>
            </a:xfrm>
            <a:prstGeom prst="roundRect">
              <a:avLst>
                <a:gd name="adj" fmla="val 15000"/>
              </a:avLst>
            </a:prstGeom>
            <a:solidFill>
              <a:srgbClr val="0070C0"/>
            </a:solidFill>
            <a:ln w="12700">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sp>
          <p:nvSpPr>
            <p:cNvPr id="17" name="Shape 1738"/>
            <p:cNvSpPr/>
            <p:nvPr/>
          </p:nvSpPr>
          <p:spPr>
            <a:xfrm rot="18900000">
              <a:off x="9015209" y="3195523"/>
              <a:ext cx="1414666" cy="1414667"/>
            </a:xfrm>
            <a:prstGeom prst="roundRect">
              <a:avLst>
                <a:gd name="adj" fmla="val 15000"/>
              </a:avLst>
            </a:prstGeom>
            <a:solidFill>
              <a:schemeClr val="bg2"/>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dirty="0">
                <a:latin typeface="微软雅黑" panose="020B0503020204020204" pitchFamily="34" charset="-122"/>
                <a:ea typeface="微软雅黑" panose="020B0503020204020204" pitchFamily="34" charset="-122"/>
                <a:cs typeface="+mn-ea"/>
                <a:sym typeface="+mn-lt"/>
              </a:endParaRPr>
            </a:p>
          </p:txBody>
        </p:sp>
      </p:grpSp>
      <p:sp>
        <p:nvSpPr>
          <p:cNvPr id="18" name="Text Placeholder 4"/>
          <p:cNvSpPr txBox="1"/>
          <p:nvPr/>
        </p:nvSpPr>
        <p:spPr>
          <a:xfrm>
            <a:off x="1845000" y="4198981"/>
            <a:ext cx="12108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b="1" dirty="0">
                <a:solidFill>
                  <a:srgbClr val="595959"/>
                </a:solidFill>
                <a:latin typeface="微软雅黑" panose="020B0503020204020204" pitchFamily="34" charset="-122"/>
                <a:ea typeface="微软雅黑" panose="020B0503020204020204" pitchFamily="34" charset="-122"/>
                <a:sym typeface="+mn-lt"/>
              </a:rPr>
              <a:t>单元测试</a:t>
            </a:r>
            <a:endParaRPr lang="en-GB" altLang="zh-CN" sz="1600" b="1" dirty="0">
              <a:solidFill>
                <a:srgbClr val="595959"/>
              </a:solidFill>
              <a:latin typeface="微软雅黑" panose="020B0503020204020204" pitchFamily="34" charset="-122"/>
              <a:ea typeface="微软雅黑" panose="020B0503020204020204" pitchFamily="34" charset="-122"/>
              <a:sym typeface="+mn-lt"/>
            </a:endParaRPr>
          </a:p>
        </p:txBody>
      </p:sp>
      <p:sp>
        <p:nvSpPr>
          <p:cNvPr id="19" name="Text Placeholder 4"/>
          <p:cNvSpPr txBox="1"/>
          <p:nvPr/>
        </p:nvSpPr>
        <p:spPr>
          <a:xfrm>
            <a:off x="3663032" y="4198981"/>
            <a:ext cx="12108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b="1" dirty="0">
                <a:solidFill>
                  <a:srgbClr val="595959"/>
                </a:solidFill>
                <a:latin typeface="微软雅黑" panose="020B0503020204020204" pitchFamily="34" charset="-122"/>
                <a:ea typeface="微软雅黑" panose="020B0503020204020204" pitchFamily="34" charset="-122"/>
                <a:sym typeface="+mn-lt"/>
              </a:rPr>
              <a:t>冒烟测试</a:t>
            </a:r>
          </a:p>
        </p:txBody>
      </p:sp>
      <p:sp>
        <p:nvSpPr>
          <p:cNvPr id="20" name="Text Placeholder 4"/>
          <p:cNvSpPr txBox="1"/>
          <p:nvPr/>
        </p:nvSpPr>
        <p:spPr>
          <a:xfrm>
            <a:off x="5480353" y="4198981"/>
            <a:ext cx="12108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b="1" dirty="0">
                <a:solidFill>
                  <a:srgbClr val="595959"/>
                </a:solidFill>
                <a:latin typeface="微软雅黑" panose="020B0503020204020204" pitchFamily="34" charset="-122"/>
                <a:ea typeface="微软雅黑" panose="020B0503020204020204" pitchFamily="34" charset="-122"/>
                <a:sym typeface="+mn-lt"/>
              </a:rPr>
              <a:t>集成测试</a:t>
            </a:r>
          </a:p>
        </p:txBody>
      </p:sp>
      <p:sp>
        <p:nvSpPr>
          <p:cNvPr id="21" name="Text Placeholder 4"/>
          <p:cNvSpPr txBox="1"/>
          <p:nvPr/>
        </p:nvSpPr>
        <p:spPr>
          <a:xfrm>
            <a:off x="7298385" y="4198981"/>
            <a:ext cx="12108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b="1" dirty="0">
                <a:solidFill>
                  <a:srgbClr val="595959"/>
                </a:solidFill>
                <a:latin typeface="微软雅黑" panose="020B0503020204020204" pitchFamily="34" charset="-122"/>
                <a:ea typeface="微软雅黑" panose="020B0503020204020204" pitchFamily="34" charset="-122"/>
                <a:sym typeface="+mn-lt"/>
              </a:rPr>
              <a:t>系统测试</a:t>
            </a:r>
          </a:p>
        </p:txBody>
      </p:sp>
      <p:sp>
        <p:nvSpPr>
          <p:cNvPr id="22" name="Text Placeholder 4"/>
          <p:cNvSpPr txBox="1"/>
          <p:nvPr/>
        </p:nvSpPr>
        <p:spPr>
          <a:xfrm>
            <a:off x="9117133" y="4198981"/>
            <a:ext cx="12108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b="1" dirty="0">
                <a:solidFill>
                  <a:srgbClr val="595959"/>
                </a:solidFill>
                <a:latin typeface="微软雅黑" panose="020B0503020204020204" pitchFamily="34" charset="-122"/>
                <a:ea typeface="微软雅黑" panose="020B0503020204020204" pitchFamily="34" charset="-122"/>
                <a:sym typeface="+mn-lt"/>
              </a:rPr>
              <a:t>验收测试</a:t>
            </a:r>
          </a:p>
        </p:txBody>
      </p:sp>
      <p:sp>
        <p:nvSpPr>
          <p:cNvPr id="23" name="TextBox 21"/>
          <p:cNvSpPr txBox="1"/>
          <p:nvPr/>
        </p:nvSpPr>
        <p:spPr>
          <a:xfrm>
            <a:off x="1294833" y="2349241"/>
            <a:ext cx="2328369" cy="565924"/>
          </a:xfrm>
          <a:prstGeom prst="rect">
            <a:avLst/>
          </a:prstGeom>
          <a:noFill/>
        </p:spPr>
        <p:txBody>
          <a:bodyPr wrap="square" lIns="0" tIns="0" rIns="0" bIns="0" rtlCol="0">
            <a:spAutoFit/>
          </a:bodyPr>
          <a:lstStyle/>
          <a:p>
            <a:pPr algn="just">
              <a:lnSpc>
                <a:spcPct val="120000"/>
              </a:lnSpc>
            </a:pPr>
            <a:r>
              <a:rPr sz="1600" dirty="0">
                <a:solidFill>
                  <a:srgbClr val="595959"/>
                </a:solidFill>
                <a:latin typeface="微软雅黑" panose="020B0503020204020204" pitchFamily="34" charset="-122"/>
                <a:ea typeface="微软雅黑" panose="020B0503020204020204" pitchFamily="34" charset="-122"/>
                <a:sym typeface="+mn-lt"/>
              </a:rPr>
              <a:t>单元测试大多是</a:t>
            </a:r>
            <a:r>
              <a:rPr sz="1600" dirty="0">
                <a:solidFill>
                  <a:srgbClr val="0070C0"/>
                </a:solidFill>
                <a:latin typeface="微软雅黑" panose="020B0503020204020204" pitchFamily="34" charset="-122"/>
                <a:ea typeface="微软雅黑" panose="020B0503020204020204" pitchFamily="34" charset="-122"/>
                <a:cs typeface="+mn-ea"/>
                <a:sym typeface="+mn-lt"/>
              </a:rPr>
              <a:t>开发人员进行的自测</a:t>
            </a:r>
            <a:r>
              <a:rPr sz="1600" dirty="0">
                <a:solidFill>
                  <a:srgbClr val="595959"/>
                </a:solidFill>
                <a:latin typeface="微软雅黑" panose="020B0503020204020204" pitchFamily="34" charset="-122"/>
                <a:ea typeface="微软雅黑" panose="020B0503020204020204" pitchFamily="34" charset="-122"/>
                <a:sym typeface="+mn-lt"/>
              </a:rPr>
              <a:t>。</a:t>
            </a:r>
          </a:p>
        </p:txBody>
      </p:sp>
      <p:sp>
        <p:nvSpPr>
          <p:cNvPr id="25" name="TextBox 22"/>
          <p:cNvSpPr txBox="1"/>
          <p:nvPr/>
        </p:nvSpPr>
        <p:spPr>
          <a:xfrm>
            <a:off x="3119670" y="5587199"/>
            <a:ext cx="2328369" cy="884555"/>
          </a:xfrm>
          <a:prstGeom prst="rect">
            <a:avLst/>
          </a:prstGeom>
          <a:noFill/>
        </p:spPr>
        <p:txBody>
          <a:bodyPr wrap="square" lIns="0" tIns="0" rIns="0" bIns="0" rtlCol="0">
            <a:spAutoFit/>
          </a:bodyPr>
          <a:lstStyle/>
          <a:p>
            <a:pPr algn="just">
              <a:lnSpc>
                <a:spcPct val="120000"/>
              </a:lnSpc>
            </a:pPr>
            <a:r>
              <a:rPr sz="1600" dirty="0">
                <a:solidFill>
                  <a:srgbClr val="595959"/>
                </a:solidFill>
                <a:latin typeface="微软雅黑" panose="020B0503020204020204" pitchFamily="34" charset="-122"/>
                <a:ea typeface="微软雅黑" panose="020B0503020204020204" pitchFamily="34" charset="-122"/>
                <a:sym typeface="+mn-lt"/>
              </a:rPr>
              <a:t>冒烟测试是指软件构建版本建立后，</a:t>
            </a:r>
            <a:r>
              <a:rPr sz="1600" dirty="0">
                <a:solidFill>
                  <a:srgbClr val="0070C0"/>
                </a:solidFill>
                <a:latin typeface="微软雅黑" panose="020B0503020204020204" pitchFamily="34" charset="-122"/>
                <a:ea typeface="微软雅黑" panose="020B0503020204020204" pitchFamily="34" charset="-122"/>
                <a:cs typeface="+mn-ea"/>
                <a:sym typeface="+mn-lt"/>
              </a:rPr>
              <a:t>对系统的基本功能</a:t>
            </a:r>
            <a:r>
              <a:rPr sz="1600" dirty="0">
                <a:solidFill>
                  <a:srgbClr val="595959"/>
                </a:solidFill>
                <a:latin typeface="微软雅黑" panose="020B0503020204020204" pitchFamily="34" charset="-122"/>
                <a:ea typeface="微软雅黑" panose="020B0503020204020204" pitchFamily="34" charset="-122"/>
                <a:sym typeface="+mn-lt"/>
              </a:rPr>
              <a:t>进行简单的</a:t>
            </a:r>
            <a:r>
              <a:rPr sz="1600" dirty="0">
                <a:solidFill>
                  <a:srgbClr val="0070C0"/>
                </a:solidFill>
                <a:latin typeface="微软雅黑" panose="020B0503020204020204" pitchFamily="34" charset="-122"/>
                <a:ea typeface="微软雅黑" panose="020B0503020204020204" pitchFamily="34" charset="-122"/>
                <a:cs typeface="+mn-ea"/>
                <a:sym typeface="+mn-lt"/>
              </a:rPr>
              <a:t>测试</a:t>
            </a:r>
            <a:r>
              <a:rPr lang="zh-CN" altLang="en-US" sz="1600" dirty="0">
                <a:solidFill>
                  <a:srgbClr val="595959"/>
                </a:solidFill>
                <a:latin typeface="微软雅黑" panose="020B0503020204020204" pitchFamily="34" charset="-122"/>
                <a:ea typeface="微软雅黑" panose="020B0503020204020204" pitchFamily="34" charset="-122"/>
                <a:sym typeface="+mn-lt"/>
              </a:rPr>
              <a:t>。</a:t>
            </a:r>
            <a:endParaRPr lang="en-US" altLang="zh-CN" sz="1600" dirty="0">
              <a:solidFill>
                <a:srgbClr val="595959"/>
              </a:solidFill>
              <a:latin typeface="微软雅黑" panose="020B0503020204020204" pitchFamily="34" charset="-122"/>
              <a:ea typeface="微软雅黑" panose="020B0503020204020204" pitchFamily="34" charset="-122"/>
              <a:sym typeface="+mn-lt"/>
            </a:endParaRPr>
          </a:p>
        </p:txBody>
      </p:sp>
      <p:sp>
        <p:nvSpPr>
          <p:cNvPr id="26" name="TextBox 23"/>
          <p:cNvSpPr txBox="1"/>
          <p:nvPr/>
        </p:nvSpPr>
        <p:spPr>
          <a:xfrm>
            <a:off x="4924023" y="2133341"/>
            <a:ext cx="2328369" cy="884555"/>
          </a:xfrm>
          <a:prstGeom prst="rect">
            <a:avLst/>
          </a:prstGeom>
          <a:noFill/>
        </p:spPr>
        <p:txBody>
          <a:bodyPr wrap="square" lIns="0" tIns="0" rIns="0" bIns="0" rtlCol="0">
            <a:spAutoFit/>
          </a:bodyPr>
          <a:lstStyle/>
          <a:p>
            <a:pPr algn="just">
              <a:lnSpc>
                <a:spcPct val="120000"/>
              </a:lnSpc>
            </a:pPr>
            <a:r>
              <a:rPr sz="1600" dirty="0">
                <a:solidFill>
                  <a:srgbClr val="595959"/>
                </a:solidFill>
                <a:latin typeface="微软雅黑" panose="020B0503020204020204" pitchFamily="34" charset="-122"/>
                <a:ea typeface="微软雅黑" panose="020B0503020204020204" pitchFamily="34" charset="-122"/>
                <a:sym typeface="+mn-lt"/>
              </a:rPr>
              <a:t>集成测试是冒烟测试之后进行的测试，用于</a:t>
            </a:r>
            <a:r>
              <a:rPr sz="1600" dirty="0">
                <a:solidFill>
                  <a:srgbClr val="0070C0"/>
                </a:solidFill>
                <a:latin typeface="微软雅黑" panose="020B0503020204020204" pitchFamily="34" charset="-122"/>
                <a:ea typeface="微软雅黑" panose="020B0503020204020204" pitchFamily="34" charset="-122"/>
                <a:cs typeface="+mn-ea"/>
                <a:sym typeface="+mn-lt"/>
              </a:rPr>
              <a:t>验证软件是否满足设计需求</a:t>
            </a:r>
            <a:r>
              <a:rPr sz="1600" dirty="0">
                <a:solidFill>
                  <a:srgbClr val="595959"/>
                </a:solidFill>
                <a:latin typeface="微软雅黑" panose="020B0503020204020204" pitchFamily="34" charset="-122"/>
                <a:ea typeface="微软雅黑" panose="020B0503020204020204" pitchFamily="34" charset="-122"/>
                <a:sym typeface="+mn-lt"/>
              </a:rPr>
              <a:t>。</a:t>
            </a:r>
            <a:endParaRPr lang="en-US" altLang="zh-CN" sz="1600" dirty="0">
              <a:solidFill>
                <a:srgbClr val="595959"/>
              </a:solidFill>
              <a:latin typeface="微软雅黑" panose="020B0503020204020204" pitchFamily="34" charset="-122"/>
              <a:ea typeface="微软雅黑" panose="020B0503020204020204" pitchFamily="34" charset="-122"/>
              <a:sym typeface="+mn-lt"/>
            </a:endParaRPr>
          </a:p>
        </p:txBody>
      </p:sp>
      <p:sp>
        <p:nvSpPr>
          <p:cNvPr id="27" name="TextBox 24"/>
          <p:cNvSpPr txBox="1"/>
          <p:nvPr/>
        </p:nvSpPr>
        <p:spPr>
          <a:xfrm>
            <a:off x="6726700" y="5559847"/>
            <a:ext cx="2221332" cy="1181862"/>
          </a:xfrm>
          <a:prstGeom prst="rect">
            <a:avLst/>
          </a:prstGeom>
          <a:noFill/>
        </p:spPr>
        <p:txBody>
          <a:bodyPr wrap="square" lIns="0" tIns="0" rIns="0" bIns="0" rtlCol="0">
            <a:spAutoFit/>
          </a:bodyPr>
          <a:lstStyle/>
          <a:p>
            <a:pPr algn="just">
              <a:lnSpc>
                <a:spcPct val="120000"/>
              </a:lnSpc>
            </a:pPr>
            <a:r>
              <a:rPr lang="zh-CN" altLang="en-US" sz="1600" dirty="0">
                <a:solidFill>
                  <a:srgbClr val="595959"/>
                </a:solidFill>
                <a:latin typeface="微软雅黑" panose="020B0503020204020204" pitchFamily="34" charset="-122"/>
                <a:ea typeface="微软雅黑" panose="020B0503020204020204" pitchFamily="34" charset="-122"/>
                <a:sym typeface="+mn-lt"/>
              </a:rPr>
              <a:t>将其与</a:t>
            </a:r>
            <a:r>
              <a:rPr sz="1600" dirty="0" err="1">
                <a:solidFill>
                  <a:srgbClr val="0070C0"/>
                </a:solidFill>
                <a:latin typeface="微软雅黑" panose="020B0503020204020204" pitchFamily="34" charset="-122"/>
                <a:ea typeface="微软雅黑" panose="020B0503020204020204" pitchFamily="34" charset="-122"/>
                <a:cs typeface="+mn-ea"/>
                <a:sym typeface="+mn-lt"/>
              </a:rPr>
              <a:t>其他系统的成分</a:t>
            </a:r>
            <a:r>
              <a:rPr sz="1600" dirty="0" err="1">
                <a:solidFill>
                  <a:srgbClr val="595959"/>
                </a:solidFill>
                <a:latin typeface="微软雅黑" panose="020B0503020204020204" pitchFamily="34" charset="-122"/>
                <a:ea typeface="微软雅黑" panose="020B0503020204020204" pitchFamily="34" charset="-122"/>
                <a:sym typeface="+mn-lt"/>
              </a:rPr>
              <a:t>（如数据库、硬件和操作人员等）</a:t>
            </a:r>
            <a:r>
              <a:rPr sz="1600" dirty="0" err="1">
                <a:solidFill>
                  <a:srgbClr val="0070C0"/>
                </a:solidFill>
                <a:latin typeface="微软雅黑" panose="020B0503020204020204" pitchFamily="34" charset="-122"/>
                <a:ea typeface="微软雅黑" panose="020B0503020204020204" pitchFamily="34" charset="-122"/>
                <a:cs typeface="+mn-ea"/>
                <a:sym typeface="+mn-lt"/>
              </a:rPr>
              <a:t>组合在一起进行测试</a:t>
            </a:r>
            <a:r>
              <a:rPr lang="zh-CN" altLang="en-US" sz="1600" dirty="0">
                <a:solidFill>
                  <a:srgbClr val="595959"/>
                </a:solidFill>
                <a:latin typeface="微软雅黑" panose="020B0503020204020204" pitchFamily="34" charset="-122"/>
                <a:ea typeface="微软雅黑" panose="020B0503020204020204" pitchFamily="34" charset="-122"/>
                <a:sym typeface="+mn-lt"/>
              </a:rPr>
              <a:t>。</a:t>
            </a:r>
            <a:endParaRPr lang="en-US" altLang="zh-CN" sz="1600" dirty="0">
              <a:solidFill>
                <a:srgbClr val="595959"/>
              </a:solidFill>
              <a:latin typeface="微软雅黑" panose="020B0503020204020204" pitchFamily="34" charset="-122"/>
              <a:ea typeface="微软雅黑" panose="020B0503020204020204" pitchFamily="34" charset="-122"/>
              <a:sym typeface="+mn-lt"/>
            </a:endParaRPr>
          </a:p>
        </p:txBody>
      </p:sp>
      <p:sp>
        <p:nvSpPr>
          <p:cNvPr id="28" name="TextBox 25"/>
          <p:cNvSpPr txBox="1"/>
          <p:nvPr/>
        </p:nvSpPr>
        <p:spPr>
          <a:xfrm>
            <a:off x="8552757" y="2106036"/>
            <a:ext cx="2328369" cy="1179830"/>
          </a:xfrm>
          <a:prstGeom prst="rect">
            <a:avLst/>
          </a:prstGeom>
          <a:noFill/>
        </p:spPr>
        <p:txBody>
          <a:bodyPr wrap="square" lIns="0" tIns="0" rIns="0" bIns="0" rtlCol="0">
            <a:spAutoFit/>
          </a:bodyPr>
          <a:lstStyle/>
          <a:p>
            <a:pPr algn="just">
              <a:lnSpc>
                <a:spcPct val="120000"/>
              </a:lnSpc>
            </a:pPr>
            <a:r>
              <a:rPr sz="1600" dirty="0">
                <a:solidFill>
                  <a:srgbClr val="595959"/>
                </a:solidFill>
                <a:latin typeface="微软雅黑" panose="020B0503020204020204" pitchFamily="34" charset="-122"/>
                <a:ea typeface="微软雅黑" panose="020B0503020204020204" pitchFamily="34" charset="-122"/>
                <a:sym typeface="+mn-lt"/>
              </a:rPr>
              <a:t>逐行逐字的</a:t>
            </a:r>
            <a:r>
              <a:rPr sz="1600" dirty="0">
                <a:solidFill>
                  <a:srgbClr val="0070C0"/>
                </a:solidFill>
                <a:latin typeface="微软雅黑" panose="020B0503020204020204" pitchFamily="34" charset="-122"/>
                <a:ea typeface="微软雅黑" panose="020B0503020204020204" pitchFamily="34" charset="-122"/>
                <a:cs typeface="+mn-ea"/>
                <a:sym typeface="+mn-lt"/>
              </a:rPr>
              <a:t>按照说明书</a:t>
            </a:r>
            <a:r>
              <a:rPr sz="1600" dirty="0">
                <a:solidFill>
                  <a:srgbClr val="595959"/>
                </a:solidFill>
                <a:latin typeface="微软雅黑" panose="020B0503020204020204" pitchFamily="34" charset="-122"/>
                <a:ea typeface="微软雅黑" panose="020B0503020204020204" pitchFamily="34" charset="-122"/>
                <a:sym typeface="+mn-lt"/>
              </a:rPr>
              <a:t>的描述</a:t>
            </a:r>
            <a:r>
              <a:rPr sz="1600" dirty="0">
                <a:solidFill>
                  <a:srgbClr val="0070C0"/>
                </a:solidFill>
                <a:latin typeface="微软雅黑" panose="020B0503020204020204" pitchFamily="34" charset="-122"/>
                <a:ea typeface="微软雅黑" panose="020B0503020204020204" pitchFamily="34" charset="-122"/>
                <a:cs typeface="+mn-ea"/>
                <a:sym typeface="+mn-lt"/>
              </a:rPr>
              <a:t>对软件产品进行测试</a:t>
            </a:r>
            <a:r>
              <a:rPr sz="160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a:t>
            </a:r>
            <a:r>
              <a:rPr sz="1600">
                <a:solidFill>
                  <a:srgbClr val="595959"/>
                </a:solidFill>
                <a:latin typeface="微软雅黑" panose="020B0503020204020204" pitchFamily="34" charset="-122"/>
                <a:ea typeface="微软雅黑" panose="020B0503020204020204" pitchFamily="34" charset="-122"/>
                <a:sym typeface="+mn-lt"/>
              </a:rPr>
              <a:t>确保其符合</a:t>
            </a:r>
            <a:r>
              <a:rPr lang="zh-CN" altLang="en-US" sz="1600">
                <a:solidFill>
                  <a:srgbClr val="595959"/>
                </a:solidFill>
                <a:latin typeface="微软雅黑" panose="020B0503020204020204" pitchFamily="34" charset="-122"/>
                <a:ea typeface="微软雅黑" panose="020B0503020204020204" pitchFamily="34" charset="-122"/>
                <a:sym typeface="+mn-lt"/>
              </a:rPr>
              <a:t>用户</a:t>
            </a:r>
            <a:r>
              <a:rPr sz="1600">
                <a:solidFill>
                  <a:srgbClr val="595959"/>
                </a:solidFill>
                <a:latin typeface="微软雅黑" panose="020B0503020204020204" pitchFamily="34" charset="-122"/>
                <a:ea typeface="微软雅黑" panose="020B0503020204020204" pitchFamily="34" charset="-122"/>
                <a:sym typeface="+mn-lt"/>
              </a:rPr>
              <a:t>的各项要求</a:t>
            </a:r>
            <a:r>
              <a:rPr sz="1600" dirty="0">
                <a:solidFill>
                  <a:srgbClr val="595959"/>
                </a:solidFill>
                <a:latin typeface="微软雅黑" panose="020B0503020204020204" pitchFamily="34" charset="-122"/>
                <a:ea typeface="微软雅黑" panose="020B0503020204020204" pitchFamily="34" charset="-122"/>
                <a:sym typeface="+mn-lt"/>
              </a:rPr>
              <a:t>。</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1055370" y="981710"/>
            <a:ext cx="10046970" cy="739775"/>
          </a:xfrm>
          <a:prstGeom prst="rect">
            <a:avLst/>
          </a:prstGeom>
          <a:noFill/>
        </p:spPr>
        <p:txBody>
          <a:bodyPr wrap="square" rtlCol="0" anchor="t">
            <a:noAutofit/>
          </a:bodyPr>
          <a:lstStyle/>
          <a:p>
            <a:pPr algn="just">
              <a:lnSpc>
                <a:spcPct val="150000"/>
              </a:lnSpc>
              <a:buClrTx/>
              <a:buSzTx/>
              <a:buFontTx/>
            </a:pPr>
            <a:r>
              <a:rPr lang="en-US" altLang="zh-CN" sz="2000" b="1" dirty="0">
                <a:solidFill>
                  <a:srgbClr val="595959"/>
                </a:solidFill>
                <a:latin typeface="微软雅黑" panose="020B0503020204020204" pitchFamily="34" charset="-122"/>
                <a:ea typeface="微软雅黑" panose="020B0503020204020204" pitchFamily="34" charset="-122"/>
                <a:sym typeface="+mn-ea"/>
              </a:rPr>
              <a:t>2. 按照测试技术分类</a:t>
            </a: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1.3.5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软件测试的分类</a:t>
            </a:r>
          </a:p>
        </p:txBody>
      </p:sp>
      <p:sp>
        <p:nvSpPr>
          <p:cNvPr id="30" name="文本框 29"/>
          <p:cNvSpPr txBox="1"/>
          <p:nvPr/>
        </p:nvSpPr>
        <p:spPr>
          <a:xfrm>
            <a:off x="1064895" y="1721485"/>
            <a:ext cx="10060305" cy="2092325"/>
          </a:xfrm>
          <a:prstGeom prst="rect">
            <a:avLst/>
          </a:prstGeom>
          <a:noFill/>
        </p:spPr>
        <p:txBody>
          <a:bodyPr wrap="square" rtlCol="0" anchor="t">
            <a:no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(1) 黑盒测试</a:t>
            </a:r>
          </a:p>
          <a:p>
            <a:pPr indent="457200">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rPr>
              <a:t>黑盒测试又叫</a:t>
            </a:r>
            <a:r>
              <a:rPr lang="en-US" altLang="zh-CN" sz="2000" dirty="0" err="1">
                <a:solidFill>
                  <a:srgbClr val="0070C0"/>
                </a:solidFill>
                <a:latin typeface="微软雅黑" panose="020B0503020204020204" pitchFamily="34" charset="-122"/>
                <a:ea typeface="微软雅黑" panose="020B0503020204020204" pitchFamily="34" charset="-122"/>
              </a:rPr>
              <a:t>功能测试</a:t>
            </a:r>
            <a:r>
              <a:rPr lang="en-US" altLang="zh-CN" sz="2000" dirty="0" err="1">
                <a:solidFill>
                  <a:srgbClr val="595959"/>
                </a:solidFill>
                <a:latin typeface="微软雅黑" panose="020B0503020204020204" pitchFamily="34" charset="-122"/>
                <a:ea typeface="微软雅黑" panose="020B0503020204020204" pitchFamily="34" charset="-122"/>
              </a:rPr>
              <a:t>、</a:t>
            </a:r>
            <a:r>
              <a:rPr lang="en-US" altLang="zh-CN" sz="2000" dirty="0" err="1">
                <a:solidFill>
                  <a:srgbClr val="0070C0"/>
                </a:solidFill>
                <a:latin typeface="微软雅黑" panose="020B0503020204020204" pitchFamily="34" charset="-122"/>
                <a:ea typeface="微软雅黑" panose="020B0503020204020204" pitchFamily="34" charset="-122"/>
              </a:rPr>
              <a:t>数据驱动测试</a:t>
            </a:r>
            <a:r>
              <a:rPr lang="en-US" altLang="zh-CN" sz="2000" dirty="0" err="1">
                <a:solidFill>
                  <a:srgbClr val="595959"/>
                </a:solidFill>
                <a:latin typeface="微软雅黑" panose="020B0503020204020204" pitchFamily="34" charset="-122"/>
                <a:ea typeface="微软雅黑" panose="020B0503020204020204" pitchFamily="34" charset="-122"/>
              </a:rPr>
              <a:t>、</a:t>
            </a:r>
            <a:r>
              <a:rPr lang="en-US" altLang="zh-CN" sz="2000" dirty="0" err="1">
                <a:solidFill>
                  <a:srgbClr val="0070C0"/>
                </a:solidFill>
                <a:latin typeface="微软雅黑" panose="020B0503020204020204" pitchFamily="34" charset="-122"/>
                <a:ea typeface="微软雅黑" panose="020B0503020204020204" pitchFamily="34" charset="-122"/>
              </a:rPr>
              <a:t>基于需求规格说明书的功能测试</a:t>
            </a:r>
            <a:r>
              <a:rPr lang="en-US" altLang="zh-CN" sz="2000" dirty="0" err="1">
                <a:solidFill>
                  <a:srgbClr val="595959"/>
                </a:solidFill>
                <a:latin typeface="微软雅黑" panose="020B0503020204020204" pitchFamily="34" charset="-122"/>
                <a:ea typeface="微软雅黑" panose="020B0503020204020204" pitchFamily="34" charset="-122"/>
              </a:rPr>
              <a:t>，它把</a:t>
            </a:r>
            <a:r>
              <a:rPr lang="zh-CN" altLang="en-US" sz="2000" dirty="0">
                <a:solidFill>
                  <a:srgbClr val="595959"/>
                </a:solidFill>
                <a:latin typeface="微软雅黑" panose="020B0503020204020204" pitchFamily="34" charset="-122"/>
                <a:ea typeface="微软雅黑" panose="020B0503020204020204" pitchFamily="34" charset="-122"/>
              </a:rPr>
              <a:t>软件</a:t>
            </a:r>
            <a:r>
              <a:rPr lang="en-US" altLang="zh-CN" sz="2000" dirty="0" err="1">
                <a:solidFill>
                  <a:srgbClr val="595959"/>
                </a:solidFill>
                <a:latin typeface="微软雅黑" panose="020B0503020204020204" pitchFamily="34" charset="-122"/>
                <a:ea typeface="微软雅黑" panose="020B0503020204020204" pitchFamily="34" charset="-122"/>
              </a:rPr>
              <a:t>当作一个有输入与输出的</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err="1">
                <a:solidFill>
                  <a:srgbClr val="595959"/>
                </a:solidFill>
                <a:latin typeface="微软雅黑" panose="020B0503020204020204" pitchFamily="34" charset="-122"/>
                <a:ea typeface="微软雅黑" panose="020B0503020204020204" pitchFamily="34" charset="-122"/>
              </a:rPr>
              <a:t>黑匣子</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err="1">
                <a:solidFill>
                  <a:srgbClr val="595959"/>
                </a:solidFill>
                <a:latin typeface="微软雅黑" panose="020B0503020204020204" pitchFamily="34" charset="-122"/>
                <a:ea typeface="微软雅黑" panose="020B0503020204020204" pitchFamily="34" charset="-122"/>
              </a:rPr>
              <a:t>只要</a:t>
            </a:r>
            <a:r>
              <a:rPr lang="en-US" altLang="zh-CN" sz="2000" dirty="0" err="1">
                <a:solidFill>
                  <a:srgbClr val="0070C0"/>
                </a:solidFill>
                <a:latin typeface="微软雅黑" panose="020B0503020204020204" pitchFamily="34" charset="-122"/>
                <a:ea typeface="微软雅黑" panose="020B0503020204020204" pitchFamily="34" charset="-122"/>
              </a:rPr>
              <a:t>输入的数据能输出预期的结果</a:t>
            </a:r>
            <a:r>
              <a:rPr lang="en-US" altLang="zh-CN" sz="2000" dirty="0" err="1">
                <a:solidFill>
                  <a:srgbClr val="595959"/>
                </a:solidFill>
                <a:latin typeface="微软雅黑" panose="020B0503020204020204" pitchFamily="34" charset="-122"/>
                <a:ea typeface="微软雅黑" panose="020B0503020204020204" pitchFamily="34" charset="-122"/>
              </a:rPr>
              <a:t>即可，不必关心程序内部是怎样实现的，</a:t>
            </a:r>
            <a:r>
              <a:rPr lang="en-US" altLang="zh-CN" sz="2000" dirty="0" err="1">
                <a:solidFill>
                  <a:srgbClr val="0070C0"/>
                </a:solidFill>
                <a:latin typeface="微软雅黑" panose="020B0503020204020204" pitchFamily="34" charset="-122"/>
                <a:ea typeface="微软雅黑" panose="020B0503020204020204" pitchFamily="34" charset="-122"/>
              </a:rPr>
              <a:t>注重于测试软件的功能性需求</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	</a:t>
            </a:r>
          </a:p>
          <a:p>
            <a:pPr>
              <a:lnSpc>
                <a:spcPct val="150000"/>
              </a:lnSpc>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	</a:t>
            </a:r>
          </a:p>
          <a:p>
            <a:pPr>
              <a:lnSpc>
                <a:spcPct val="150000"/>
              </a:lnSpc>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	</a:t>
            </a:r>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aphicFrame>
        <p:nvGraphicFramePr>
          <p:cNvPr id="31" name="对象 30"/>
          <p:cNvGraphicFramePr/>
          <p:nvPr/>
        </p:nvGraphicFramePr>
        <p:xfrm>
          <a:off x="2854960" y="3862070"/>
          <a:ext cx="6097905" cy="2054225"/>
        </p:xfrm>
        <a:graphic>
          <a:graphicData uri="http://schemas.openxmlformats.org/presentationml/2006/ole">
            <mc:AlternateContent xmlns:mc="http://schemas.openxmlformats.org/markup-compatibility/2006">
              <mc:Choice xmlns:v="urn:schemas-microsoft-com:vml" Requires="v">
                <p:oleObj r:id="rId3" imgW="2438400" imgH="807085" progId="Visio.Drawing.11">
                  <p:embed/>
                </p:oleObj>
              </mc:Choice>
              <mc:Fallback>
                <p:oleObj r:id="rId3" imgW="2438400" imgH="807085" progId="Visio.Drawing.11">
                  <p:embed/>
                  <p:pic>
                    <p:nvPicPr>
                      <p:cNvPr id="0" name="图片 31"/>
                      <p:cNvPicPr/>
                      <p:nvPr/>
                    </p:nvPicPr>
                    <p:blipFill>
                      <a:blip r:embed="rId4"/>
                      <a:stretch>
                        <a:fillRect/>
                      </a:stretch>
                    </p:blipFill>
                    <p:spPr>
                      <a:xfrm>
                        <a:off x="2854960" y="3862070"/>
                        <a:ext cx="6097905" cy="2054225"/>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1.3.5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软件测试的分类</a:t>
            </a:r>
          </a:p>
        </p:txBody>
      </p:sp>
      <p:sp>
        <p:nvSpPr>
          <p:cNvPr id="30" name="文本框 29"/>
          <p:cNvSpPr txBox="1"/>
          <p:nvPr/>
        </p:nvSpPr>
        <p:spPr>
          <a:xfrm>
            <a:off x="1198880" y="909955"/>
            <a:ext cx="10060305" cy="2092325"/>
          </a:xfrm>
          <a:prstGeom prst="rect">
            <a:avLst/>
          </a:prstGeom>
          <a:noFill/>
        </p:spPr>
        <p:txBody>
          <a:bodyPr wrap="square" rtlCol="0" anchor="t">
            <a:no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(2) </a:t>
            </a:r>
            <a:r>
              <a:rPr lang="zh-CN" altLang="en-US" sz="2000" dirty="0">
                <a:solidFill>
                  <a:srgbClr val="595959"/>
                </a:solidFill>
                <a:latin typeface="微软雅黑" panose="020B0503020204020204" pitchFamily="34" charset="-122"/>
                <a:ea typeface="微软雅黑" panose="020B0503020204020204" pitchFamily="34" charset="-122"/>
              </a:rPr>
              <a:t>白</a:t>
            </a:r>
            <a:r>
              <a:rPr lang="en-US" altLang="zh-CN" sz="2000" dirty="0">
                <a:solidFill>
                  <a:srgbClr val="595959"/>
                </a:solidFill>
                <a:latin typeface="微软雅黑" panose="020B0503020204020204" pitchFamily="34" charset="-122"/>
                <a:ea typeface="微软雅黑" panose="020B0503020204020204" pitchFamily="34" charset="-122"/>
              </a:rPr>
              <a:t>盒测试</a:t>
            </a:r>
          </a:p>
          <a:p>
            <a:pPr indent="457200">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rPr>
              <a:t>白盒测试又叫</a:t>
            </a:r>
            <a:r>
              <a:rPr lang="en-US" altLang="zh-CN" sz="2000" dirty="0" err="1">
                <a:solidFill>
                  <a:srgbClr val="0070C0"/>
                </a:solidFill>
                <a:latin typeface="微软雅黑" panose="020B0503020204020204" pitchFamily="34" charset="-122"/>
                <a:ea typeface="微软雅黑" panose="020B0503020204020204" pitchFamily="34" charset="-122"/>
              </a:rPr>
              <a:t>透明盒测试、结构测试、逻辑驱动测试或基于代码的测试</a:t>
            </a:r>
            <a:r>
              <a:rPr lang="en-US" altLang="zh-CN" sz="2000" dirty="0" err="1">
                <a:solidFill>
                  <a:srgbClr val="595959"/>
                </a:solidFill>
                <a:latin typeface="微软雅黑" panose="020B0503020204020204" pitchFamily="34" charset="-122"/>
                <a:ea typeface="微软雅黑" panose="020B0503020204020204" pitchFamily="34" charset="-122"/>
              </a:rPr>
              <a:t>，它是指测试人员了解软件程序的逻辑结构、路径</a:t>
            </a:r>
            <a:r>
              <a:rPr lang="zh-CN" altLang="en-US" sz="2000" dirty="0">
                <a:solidFill>
                  <a:srgbClr val="595959"/>
                </a:solidFill>
                <a:latin typeface="微软雅黑" panose="020B0503020204020204" pitchFamily="34" charset="-122"/>
                <a:ea typeface="微软雅黑" panose="020B0503020204020204" pitchFamily="34" charset="-122"/>
              </a:rPr>
              <a:t>和</a:t>
            </a:r>
            <a:r>
              <a:rPr lang="en-US" altLang="zh-CN" sz="2000" dirty="0" err="1">
                <a:solidFill>
                  <a:srgbClr val="595959"/>
                </a:solidFill>
                <a:latin typeface="微软雅黑" panose="020B0503020204020204" pitchFamily="34" charset="-122"/>
                <a:ea typeface="微软雅黑" panose="020B0503020204020204" pitchFamily="34" charset="-122"/>
              </a:rPr>
              <a:t>运行过程，在测试时，</a:t>
            </a:r>
            <a:r>
              <a:rPr lang="en-US" altLang="zh-CN" sz="2000" dirty="0" err="1">
                <a:solidFill>
                  <a:srgbClr val="0070C0"/>
                </a:solidFill>
                <a:latin typeface="微软雅黑" panose="020B0503020204020204" pitchFamily="34" charset="-122"/>
                <a:ea typeface="微软雅黑" panose="020B0503020204020204" pitchFamily="34" charset="-122"/>
              </a:rPr>
              <a:t>按照程序的执行路径得出结果</a:t>
            </a:r>
            <a:r>
              <a:rPr lang="en-US" altLang="zh-CN" sz="2000" dirty="0" err="1">
                <a:solidFill>
                  <a:srgbClr val="595959"/>
                </a:solidFill>
                <a:latin typeface="微软雅黑" panose="020B0503020204020204" pitchFamily="34" charset="-122"/>
                <a:ea typeface="微软雅黑" panose="020B0503020204020204" pitchFamily="34" charset="-122"/>
              </a:rPr>
              <a:t>。白盒测试把软件（程序）当作一个透明的</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err="1">
                <a:solidFill>
                  <a:srgbClr val="595959"/>
                </a:solidFill>
                <a:latin typeface="微软雅黑" panose="020B0503020204020204" pitchFamily="34" charset="-122"/>
                <a:ea typeface="微软雅黑" panose="020B0503020204020204" pitchFamily="34" charset="-122"/>
              </a:rPr>
              <a:t>盒子</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err="1">
                <a:solidFill>
                  <a:srgbClr val="0070C0"/>
                </a:solidFill>
                <a:latin typeface="微软雅黑" panose="020B0503020204020204" pitchFamily="34" charset="-122"/>
                <a:ea typeface="微软雅黑" panose="020B0503020204020204" pitchFamily="34" charset="-122"/>
              </a:rPr>
              <a:t>测试人员清楚</a:t>
            </a:r>
            <a:r>
              <a:rPr lang="zh-CN" altLang="en-US" sz="2000" dirty="0">
                <a:solidFill>
                  <a:srgbClr val="0070C0"/>
                </a:solidFill>
                <a:latin typeface="微软雅黑" panose="020B0503020204020204" pitchFamily="34" charset="-122"/>
                <a:ea typeface="微软雅黑" panose="020B0503020204020204" pitchFamily="34" charset="-122"/>
              </a:rPr>
              <a:t>地</a:t>
            </a:r>
            <a:r>
              <a:rPr lang="en-US" altLang="zh-CN" sz="2000" dirty="0" err="1">
                <a:solidFill>
                  <a:srgbClr val="0070C0"/>
                </a:solidFill>
                <a:latin typeface="微软雅黑" panose="020B0503020204020204" pitchFamily="34" charset="-122"/>
                <a:ea typeface="微软雅黑" panose="020B0503020204020204" pitchFamily="34" charset="-122"/>
              </a:rPr>
              <a:t>知道从输入到输出的每一步过程</a:t>
            </a:r>
            <a:r>
              <a:rPr lang="en-US" altLang="zh-CN" sz="2000" dirty="0" err="1">
                <a:solidFill>
                  <a:srgbClr val="595959"/>
                </a:solidFill>
                <a:latin typeface="微软雅黑" panose="020B0503020204020204" pitchFamily="34" charset="-122"/>
                <a:ea typeface="微软雅黑" panose="020B0503020204020204" pitchFamily="34" charset="-122"/>
              </a:rPr>
              <a:t>。白盒测试如</a:t>
            </a:r>
            <a:r>
              <a:rPr lang="zh-CN" altLang="en-US" sz="2000" dirty="0">
                <a:solidFill>
                  <a:srgbClr val="595959"/>
                </a:solidFill>
                <a:latin typeface="微软雅黑" panose="020B0503020204020204" pitchFamily="34" charset="-122"/>
                <a:ea typeface="微软雅黑" panose="020B0503020204020204" pitchFamily="34" charset="-122"/>
              </a:rPr>
              <a:t>下图</a:t>
            </a:r>
            <a:r>
              <a:rPr lang="en-US" altLang="zh-CN" sz="2000" dirty="0" err="1">
                <a:solidFill>
                  <a:srgbClr val="595959"/>
                </a:solidFill>
                <a:latin typeface="微软雅黑" panose="020B0503020204020204" pitchFamily="34" charset="-122"/>
                <a:ea typeface="微软雅黑" panose="020B0503020204020204" pitchFamily="34" charset="-122"/>
              </a:rPr>
              <a:t>所示</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	</a:t>
            </a:r>
          </a:p>
          <a:p>
            <a:pPr>
              <a:lnSpc>
                <a:spcPct val="150000"/>
              </a:lnSpc>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	</a:t>
            </a:r>
          </a:p>
          <a:p>
            <a:pPr>
              <a:lnSpc>
                <a:spcPct val="150000"/>
              </a:lnSpc>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	</a:t>
            </a:r>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aphicFrame>
        <p:nvGraphicFramePr>
          <p:cNvPr id="3" name="对象 2"/>
          <p:cNvGraphicFramePr/>
          <p:nvPr/>
        </p:nvGraphicFramePr>
        <p:xfrm>
          <a:off x="2927350" y="3429635"/>
          <a:ext cx="6150610" cy="3236595"/>
        </p:xfrm>
        <a:graphic>
          <a:graphicData uri="http://schemas.openxmlformats.org/presentationml/2006/ole">
            <mc:AlternateContent xmlns:mc="http://schemas.openxmlformats.org/markup-compatibility/2006">
              <mc:Choice xmlns:v="urn:schemas-microsoft-com:vml" Requires="v">
                <p:oleObj r:id="rId3" imgW="3173730" imgH="1622425" progId="Visio.Drawing.11">
                  <p:embed/>
                </p:oleObj>
              </mc:Choice>
              <mc:Fallback>
                <p:oleObj r:id="rId3" imgW="3173730" imgH="1622425" progId="Visio.Drawing.11">
                  <p:embed/>
                  <p:pic>
                    <p:nvPicPr>
                      <p:cNvPr id="0" name="图片 3"/>
                      <p:cNvPicPr/>
                      <p:nvPr/>
                    </p:nvPicPr>
                    <p:blipFill>
                      <a:blip r:embed="rId4"/>
                      <a:stretch>
                        <a:fillRect/>
                      </a:stretch>
                    </p:blipFill>
                    <p:spPr>
                      <a:xfrm>
                        <a:off x="2927350" y="3429635"/>
                        <a:ext cx="6150610" cy="3236595"/>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1.3.5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软件测试的分类</a:t>
            </a:r>
          </a:p>
        </p:txBody>
      </p:sp>
      <p:sp>
        <p:nvSpPr>
          <p:cNvPr id="30" name="文本框 29"/>
          <p:cNvSpPr txBox="1"/>
          <p:nvPr/>
        </p:nvSpPr>
        <p:spPr>
          <a:xfrm>
            <a:off x="1143635" y="837565"/>
            <a:ext cx="10060305" cy="2455545"/>
          </a:xfrm>
          <a:prstGeom prst="rect">
            <a:avLst/>
          </a:prstGeom>
          <a:noFill/>
        </p:spPr>
        <p:txBody>
          <a:bodyPr wrap="square" rtlCol="0" anchor="t">
            <a:no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(3) </a:t>
            </a:r>
            <a:r>
              <a:rPr lang="zh-CN" altLang="en-US" sz="2000" dirty="0">
                <a:solidFill>
                  <a:srgbClr val="595959"/>
                </a:solidFill>
                <a:latin typeface="微软雅黑" panose="020B0503020204020204" pitchFamily="34" charset="-122"/>
                <a:ea typeface="微软雅黑" panose="020B0503020204020204" pitchFamily="34" charset="-122"/>
              </a:rPr>
              <a:t>灰</a:t>
            </a:r>
            <a:r>
              <a:rPr lang="en-US" altLang="zh-CN" sz="2000" dirty="0">
                <a:solidFill>
                  <a:srgbClr val="595959"/>
                </a:solidFill>
                <a:latin typeface="微软雅黑" panose="020B0503020204020204" pitchFamily="34" charset="-122"/>
                <a:ea typeface="微软雅黑" panose="020B0503020204020204" pitchFamily="34" charset="-122"/>
              </a:rPr>
              <a:t>盒测试</a:t>
            </a:r>
          </a:p>
          <a:p>
            <a:pPr indent="457200">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灰盒测试是</a:t>
            </a:r>
            <a:r>
              <a:rPr lang="en-US" altLang="zh-CN" sz="2000" dirty="0">
                <a:solidFill>
                  <a:srgbClr val="0070C0"/>
                </a:solidFill>
                <a:latin typeface="微软雅黑" panose="020B0503020204020204" pitchFamily="34" charset="-122"/>
                <a:ea typeface="微软雅黑" panose="020B0503020204020204" pitchFamily="34" charset="-122"/>
              </a:rPr>
              <a:t>介于黑盒测试与白盒测试之间</a:t>
            </a:r>
            <a:r>
              <a:rPr lang="en-US" altLang="zh-CN" sz="2000" dirty="0">
                <a:solidFill>
                  <a:srgbClr val="595959"/>
                </a:solidFill>
                <a:latin typeface="微软雅黑" panose="020B0503020204020204" pitchFamily="34" charset="-122"/>
                <a:ea typeface="微软雅黑" panose="020B0503020204020204" pitchFamily="34" charset="-122"/>
              </a:rPr>
              <a:t>的一种软件测试方法，它</a:t>
            </a:r>
            <a:r>
              <a:rPr lang="en-US" altLang="zh-CN" sz="2000" dirty="0">
                <a:solidFill>
                  <a:srgbClr val="0070C0"/>
                </a:solidFill>
                <a:latin typeface="微软雅黑" panose="020B0503020204020204" pitchFamily="34" charset="-122"/>
                <a:ea typeface="微软雅黑" panose="020B0503020204020204" pitchFamily="34" charset="-122"/>
              </a:rPr>
              <a:t>由方法和工具组成</a:t>
            </a:r>
            <a:r>
              <a:rPr lang="en-US" altLang="zh-CN" sz="2000" dirty="0">
                <a:solidFill>
                  <a:srgbClr val="595959"/>
                </a:solidFill>
                <a:latin typeface="微软雅黑" panose="020B0503020204020204" pitchFamily="34" charset="-122"/>
                <a:ea typeface="微软雅黑" panose="020B0503020204020204" pitchFamily="34" charset="-122"/>
              </a:rPr>
              <a:t>，这些方法和工具取决于应用程序内部交互的环境。灰盒测试</a:t>
            </a:r>
            <a:r>
              <a:rPr lang="en-US" altLang="zh-CN" sz="2000" dirty="0">
                <a:solidFill>
                  <a:srgbClr val="0070C0"/>
                </a:solidFill>
                <a:latin typeface="微软雅黑" panose="020B0503020204020204" pitchFamily="34" charset="-122"/>
                <a:ea typeface="微软雅黑" panose="020B0503020204020204" pitchFamily="34" charset="-122"/>
              </a:rPr>
              <a:t>通常用于集成测试阶段</a:t>
            </a:r>
            <a:r>
              <a:rPr lang="en-US" altLang="zh-CN" sz="2000" dirty="0">
                <a:solidFill>
                  <a:srgbClr val="595959"/>
                </a:solidFill>
                <a:latin typeface="微软雅黑" panose="020B0503020204020204" pitchFamily="34" charset="-122"/>
                <a:ea typeface="微软雅黑" panose="020B0503020204020204" pitchFamily="34" charset="-122"/>
              </a:rPr>
              <a:t>，测试人员在使用灰盒测试方法时，</a:t>
            </a:r>
            <a:r>
              <a:rPr lang="en-US" altLang="zh-CN" sz="2000" dirty="0">
                <a:solidFill>
                  <a:srgbClr val="0070C0"/>
                </a:solidFill>
                <a:latin typeface="微软雅黑" panose="020B0503020204020204" pitchFamily="34" charset="-122"/>
                <a:ea typeface="微软雅黑" panose="020B0503020204020204" pitchFamily="34" charset="-122"/>
              </a:rPr>
              <a:t>不仅需要关注输入、输出的正确性</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rPr>
              <a:t>而且</a:t>
            </a:r>
            <a:r>
              <a:rPr lang="en-US" altLang="zh-CN" sz="2000" dirty="0" err="1">
                <a:solidFill>
                  <a:srgbClr val="0070C0"/>
                </a:solidFill>
                <a:latin typeface="微软雅黑" panose="020B0503020204020204" pitchFamily="34" charset="-122"/>
                <a:ea typeface="微软雅黑" panose="020B0503020204020204" pitchFamily="34" charset="-122"/>
              </a:rPr>
              <a:t>需要关注程序内部的情况</a:t>
            </a:r>
            <a:r>
              <a:rPr lang="en-US" altLang="zh-CN" sz="2000" dirty="0" err="1">
                <a:solidFill>
                  <a:srgbClr val="595959"/>
                </a:solidFill>
                <a:latin typeface="微软雅黑" panose="020B0503020204020204" pitchFamily="34" charset="-122"/>
                <a:ea typeface="微软雅黑" panose="020B0503020204020204" pitchFamily="34" charset="-122"/>
              </a:rPr>
              <a:t>，通常根据一些现象、事件、标志来判断内部的运行状态</a:t>
            </a:r>
            <a:r>
              <a:rPr lang="en-US" altLang="zh-CN" sz="2000" dirty="0">
                <a:solidFill>
                  <a:srgbClr val="595959"/>
                </a:solidFill>
                <a:latin typeface="微软雅黑" panose="020B0503020204020204" pitchFamily="34" charset="-122"/>
                <a:ea typeface="微软雅黑" panose="020B0503020204020204" pitchFamily="34" charset="-122"/>
              </a:rPr>
              <a:t>。</a:t>
            </a: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sym typeface="+mn-ea"/>
              </a:rPr>
              <a:t>	</a:t>
            </a: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a:t>
            </a: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a:t>
            </a: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a:t>
            </a:r>
          </a:p>
          <a:p>
            <a:endParaRPr lang="en-US" altLang="zh-CN" sz="2000" dirty="0">
              <a:solidFill>
                <a:srgbClr val="595959"/>
              </a:solidFill>
              <a:latin typeface="微软雅黑" panose="020B0503020204020204" pitchFamily="34" charset="-122"/>
              <a:ea typeface="微软雅黑" panose="020B0503020204020204" pitchFamily="34" charset="-122"/>
            </a:endParaRPr>
          </a:p>
        </p:txBody>
      </p:sp>
      <p:sp>
        <p:nvSpPr>
          <p:cNvPr id="5" name="矩形 4"/>
          <p:cNvSpPr/>
          <p:nvPr/>
        </p:nvSpPr>
        <p:spPr>
          <a:xfrm>
            <a:off x="1259205" y="3717925"/>
            <a:ext cx="9659620" cy="2717165"/>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mn-lt"/>
              <a:ea typeface="+mn-ea"/>
              <a:cs typeface="等线" panose="02010600030101010101" charset="-122"/>
            </a:endParaRPr>
          </a:p>
        </p:txBody>
      </p:sp>
      <p:sp>
        <p:nvSpPr>
          <p:cNvPr id="11" name="原创设计师QQ598969553          _6"/>
          <p:cNvSpPr/>
          <p:nvPr/>
        </p:nvSpPr>
        <p:spPr>
          <a:xfrm>
            <a:off x="1703070" y="3493135"/>
            <a:ext cx="1037590" cy="46228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6" name="文本框 5"/>
          <p:cNvSpPr txBox="1"/>
          <p:nvPr/>
        </p:nvSpPr>
        <p:spPr>
          <a:xfrm>
            <a:off x="1847215" y="3392805"/>
            <a:ext cx="837565" cy="553085"/>
          </a:xfrm>
          <a:prstGeom prst="rect">
            <a:avLst/>
          </a:prstGeom>
          <a:noFill/>
        </p:spPr>
        <p:txBody>
          <a:bodyPr wrap="square" rtlCol="0">
            <a:spAutoFit/>
          </a:bodyPr>
          <a:lstStyle/>
          <a:p>
            <a:pPr>
              <a:lnSpc>
                <a:spcPct val="150000"/>
              </a:lnSpc>
            </a:pPr>
            <a:r>
              <a:rPr lang="zh-CN" altLang="en-US" sz="2000" b="1" dirty="0">
                <a:solidFill>
                  <a:schemeClr val="bg1"/>
                </a:solidFill>
                <a:latin typeface="微软雅黑" panose="020B0503020204020204" pitchFamily="34" charset="-122"/>
                <a:ea typeface="微软雅黑" panose="020B0503020204020204" pitchFamily="34" charset="-122"/>
              </a:rPr>
              <a:t>总结</a:t>
            </a:r>
          </a:p>
        </p:txBody>
      </p:sp>
      <p:sp>
        <p:nvSpPr>
          <p:cNvPr id="7" name="文本框 6"/>
          <p:cNvSpPr txBox="1"/>
          <p:nvPr/>
        </p:nvSpPr>
        <p:spPr>
          <a:xfrm>
            <a:off x="1414780" y="4077970"/>
            <a:ext cx="9199245" cy="2168525"/>
          </a:xfrm>
          <a:prstGeom prst="rect">
            <a:avLst/>
          </a:prstGeom>
          <a:noFill/>
        </p:spPr>
        <p:txBody>
          <a:bodyPr wrap="square" rtlCol="0">
            <a:spAutoFit/>
          </a:bodyPr>
          <a:lstStyle/>
          <a:p>
            <a:pPr indent="457200">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相对于黑盒测试来说，</a:t>
            </a:r>
            <a:r>
              <a:rPr lang="en-US" altLang="zh-CN" sz="1800" dirty="0">
                <a:solidFill>
                  <a:srgbClr val="0070C0"/>
                </a:solidFill>
                <a:latin typeface="微软雅黑" panose="020B0503020204020204" pitchFamily="34" charset="-122"/>
                <a:ea typeface="微软雅黑" panose="020B0503020204020204" pitchFamily="34" charset="-122"/>
              </a:rPr>
              <a:t>白盒测试</a:t>
            </a:r>
            <a:r>
              <a:rPr lang="en-US" altLang="zh-CN" sz="1800" dirty="0">
                <a:solidFill>
                  <a:srgbClr val="595959"/>
                </a:solidFill>
                <a:latin typeface="微软雅黑" panose="020B0503020204020204" pitchFamily="34" charset="-122"/>
                <a:ea typeface="微软雅黑" panose="020B0503020204020204" pitchFamily="34" charset="-122"/>
              </a:rPr>
              <a:t>对测试人员的要求会更高一点，它</a:t>
            </a:r>
            <a:r>
              <a:rPr lang="en-US" altLang="zh-CN" sz="1800" dirty="0">
                <a:solidFill>
                  <a:srgbClr val="0070C0"/>
                </a:solidFill>
                <a:effectLst/>
                <a:latin typeface="微软雅黑" panose="020B0503020204020204" pitchFamily="34" charset="-122"/>
                <a:ea typeface="微软雅黑" panose="020B0503020204020204" pitchFamily="34" charset="-122"/>
              </a:rPr>
              <a:t>要求测试人员具有一定的编程能力</a:t>
            </a:r>
            <a:r>
              <a:rPr lang="en-US" altLang="zh-CN" sz="1800" dirty="0">
                <a:solidFill>
                  <a:srgbClr val="595959"/>
                </a:solidFill>
                <a:latin typeface="微软雅黑" panose="020B0503020204020204" pitchFamily="34" charset="-122"/>
                <a:ea typeface="微软雅黑" panose="020B0503020204020204" pitchFamily="34" charset="-122"/>
              </a:rPr>
              <a:t>，而且要</a:t>
            </a:r>
            <a:r>
              <a:rPr lang="en-US" altLang="zh-CN" sz="1800" dirty="0">
                <a:solidFill>
                  <a:srgbClr val="0070C0"/>
                </a:solidFill>
                <a:latin typeface="微软雅黑" panose="020B0503020204020204" pitchFamily="34" charset="-122"/>
                <a:ea typeface="微软雅黑" panose="020B0503020204020204" pitchFamily="34" charset="-122"/>
              </a:rPr>
              <a:t>熟悉各种脚本语言</a:t>
            </a:r>
            <a:r>
              <a:rPr lang="en-US" altLang="zh-CN" sz="1800" dirty="0">
                <a:solidFill>
                  <a:srgbClr val="595959"/>
                </a:solidFill>
                <a:latin typeface="微软雅黑" panose="020B0503020204020204" pitchFamily="34" charset="-122"/>
                <a:ea typeface="微软雅黑" panose="020B0503020204020204" pitchFamily="34" charset="-122"/>
              </a:rPr>
              <a:t>。但是在企业中，黑盒测试与白盒测试并不是界限分明的，在测试一款软件时往往</a:t>
            </a:r>
            <a:r>
              <a:rPr lang="zh-CN" altLang="en-US" sz="1800" dirty="0">
                <a:solidFill>
                  <a:srgbClr val="595959"/>
                </a:solidFill>
                <a:latin typeface="微软雅黑" panose="020B0503020204020204" pitchFamily="34" charset="-122"/>
                <a:ea typeface="微软雅黑" panose="020B0503020204020204" pitchFamily="34" charset="-122"/>
              </a:rPr>
              <a:t>将</a:t>
            </a:r>
            <a:r>
              <a:rPr lang="en-US" altLang="zh-CN" sz="1800" dirty="0" err="1">
                <a:solidFill>
                  <a:srgbClr val="0070C0"/>
                </a:solidFill>
                <a:latin typeface="微软雅黑" panose="020B0503020204020204" pitchFamily="34" charset="-122"/>
                <a:ea typeface="微软雅黑" panose="020B0503020204020204" pitchFamily="34" charset="-122"/>
              </a:rPr>
              <a:t>黑盒测试与白盒测试相结合对软件进行完整</a:t>
            </a:r>
            <a:r>
              <a:rPr lang="zh-CN" altLang="en-US" sz="1800" dirty="0">
                <a:solidFill>
                  <a:srgbClr val="0070C0"/>
                </a:solidFill>
                <a:latin typeface="微软雅黑" panose="020B0503020204020204" pitchFamily="34" charset="-122"/>
                <a:ea typeface="微软雅黑" panose="020B0503020204020204" pitchFamily="34" charset="-122"/>
              </a:rPr>
              <a:t>、</a:t>
            </a:r>
            <a:r>
              <a:rPr lang="en-US" altLang="zh-CN" sz="1800" dirty="0" err="1">
                <a:solidFill>
                  <a:srgbClr val="0070C0"/>
                </a:solidFill>
                <a:latin typeface="微软雅黑" panose="020B0503020204020204" pitchFamily="34" charset="-122"/>
                <a:ea typeface="微软雅黑" panose="020B0503020204020204" pitchFamily="34" charset="-122"/>
              </a:rPr>
              <a:t>全面的测试</a:t>
            </a:r>
            <a:r>
              <a:rPr lang="en-US" altLang="zh-CN" sz="1800" dirty="0" err="1">
                <a:solidFill>
                  <a:srgbClr val="595959"/>
                </a:solidFill>
                <a:latin typeface="微软雅黑" panose="020B0503020204020204" pitchFamily="34" charset="-122"/>
                <a:ea typeface="微软雅黑" panose="020B0503020204020204" pitchFamily="34" charset="-122"/>
              </a:rPr>
              <a:t>。</a:t>
            </a:r>
            <a:r>
              <a:rPr lang="en-US" altLang="zh-CN" sz="1800" dirty="0" err="1">
                <a:solidFill>
                  <a:srgbClr val="0070C0"/>
                </a:solidFill>
                <a:latin typeface="微软雅黑" panose="020B0503020204020204" pitchFamily="34" charset="-122"/>
                <a:ea typeface="微软雅黑" panose="020B0503020204020204" pitchFamily="34" charset="-122"/>
              </a:rPr>
              <a:t>灰盒测试</a:t>
            </a:r>
            <a:r>
              <a:rPr lang="en-US" altLang="zh-CN" sz="1800" dirty="0" err="1">
                <a:solidFill>
                  <a:srgbClr val="595959"/>
                </a:solidFill>
                <a:latin typeface="微软雅黑" panose="020B0503020204020204" pitchFamily="34" charset="-122"/>
                <a:ea typeface="微软雅黑" panose="020B0503020204020204" pitchFamily="34" charset="-122"/>
              </a:rPr>
              <a:t>虽然没有白盒测试详细、完整，但是</a:t>
            </a:r>
            <a:r>
              <a:rPr lang="en-US" altLang="zh-CN" sz="1800" dirty="0" err="1">
                <a:solidFill>
                  <a:srgbClr val="0070C0"/>
                </a:solidFill>
                <a:latin typeface="微软雅黑" panose="020B0503020204020204" pitchFamily="34" charset="-122"/>
                <a:ea typeface="微软雅黑" panose="020B0503020204020204" pitchFamily="34" charset="-122"/>
              </a:rPr>
              <a:t>比黑盒测试更关注程序的内部逻辑</a:t>
            </a:r>
            <a:r>
              <a:rPr lang="en-US" altLang="zh-CN" sz="1800" dirty="0" err="1">
                <a:solidFill>
                  <a:srgbClr val="595959"/>
                </a:solidFill>
                <a:latin typeface="微软雅黑" panose="020B0503020204020204" pitchFamily="34" charset="-122"/>
                <a:ea typeface="微软雅黑" panose="020B0503020204020204" pitchFamily="34" charset="-122"/>
              </a:rPr>
              <a:t>，能够用于黑盒测试以</a:t>
            </a:r>
            <a:r>
              <a:rPr lang="zh-CN" altLang="en-US" sz="1800" dirty="0">
                <a:solidFill>
                  <a:srgbClr val="595959"/>
                </a:solidFill>
                <a:latin typeface="微软雅黑" panose="020B0503020204020204" pitchFamily="34" charset="-122"/>
                <a:ea typeface="微软雅黑" panose="020B0503020204020204" pitchFamily="34" charset="-122"/>
              </a:rPr>
              <a:t>提高</a:t>
            </a:r>
            <a:r>
              <a:rPr lang="en-US" altLang="zh-CN" sz="1800" dirty="0" err="1">
                <a:solidFill>
                  <a:srgbClr val="595959"/>
                </a:solidFill>
                <a:latin typeface="微软雅黑" panose="020B0503020204020204" pitchFamily="34" charset="-122"/>
                <a:ea typeface="微软雅黑" panose="020B0503020204020204" pitchFamily="34" charset="-122"/>
              </a:rPr>
              <a:t>测试的效率</a:t>
            </a:r>
            <a:r>
              <a:rPr lang="en-US" altLang="zh-CN" sz="1800" dirty="0">
                <a:solidFill>
                  <a:srgbClr val="595959"/>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AF4D9-84E1-E4DF-7C60-71D0CB2793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47358-9CF5-4045-53C1-5A1CC531291B}"/>
              </a:ext>
            </a:extLst>
          </p:cNvPr>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1.3.5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软件测试的分类</a:t>
            </a:r>
          </a:p>
        </p:txBody>
      </p:sp>
      <p:sp>
        <p:nvSpPr>
          <p:cNvPr id="3" name="矩形: 圆角 2">
            <a:extLst>
              <a:ext uri="{FF2B5EF4-FFF2-40B4-BE49-F238E27FC236}">
                <a16:creationId xmlns:a16="http://schemas.microsoft.com/office/drawing/2014/main" id="{761A576D-A9D0-674D-2A8C-331C6F0E5B1F}"/>
              </a:ext>
            </a:extLst>
          </p:cNvPr>
          <p:cNvSpPr/>
          <p:nvPr/>
        </p:nvSpPr>
        <p:spPr>
          <a:xfrm>
            <a:off x="4799206" y="838436"/>
            <a:ext cx="2808000" cy="23760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000" dirty="0" err="1">
                <a:solidFill>
                  <a:schemeClr val="tx1"/>
                </a:solidFill>
              </a:rPr>
              <a:t>boolean</a:t>
            </a:r>
            <a:r>
              <a:rPr lang="en-US" altLang="zh-CN" sz="2000" dirty="0">
                <a:solidFill>
                  <a:schemeClr val="tx1"/>
                </a:solidFill>
              </a:rPr>
              <a:t> </a:t>
            </a:r>
            <a:r>
              <a:rPr lang="en-US" altLang="zh-CN" sz="2000" dirty="0" err="1">
                <a:solidFill>
                  <a:schemeClr val="tx1"/>
                </a:solidFill>
              </a:rPr>
              <a:t>isEven</a:t>
            </a:r>
            <a:r>
              <a:rPr lang="en-US" altLang="zh-CN" sz="2000" dirty="0">
                <a:solidFill>
                  <a:schemeClr val="tx1"/>
                </a:solidFill>
              </a:rPr>
              <a:t>(int n) {</a:t>
            </a:r>
          </a:p>
          <a:p>
            <a:r>
              <a:rPr lang="en-US" altLang="zh-CN" sz="2000" dirty="0">
                <a:solidFill>
                  <a:schemeClr val="tx1"/>
                </a:solidFill>
              </a:rPr>
              <a:t>    if (n % 2 == 0) {</a:t>
            </a:r>
          </a:p>
          <a:p>
            <a:r>
              <a:rPr lang="en-US" altLang="zh-CN" sz="2000" dirty="0">
                <a:solidFill>
                  <a:schemeClr val="tx1"/>
                </a:solidFill>
              </a:rPr>
              <a:t>        return true;</a:t>
            </a:r>
          </a:p>
          <a:p>
            <a:r>
              <a:rPr lang="en-US" altLang="zh-CN" sz="2000" dirty="0">
                <a:solidFill>
                  <a:schemeClr val="tx1"/>
                </a:solidFill>
              </a:rPr>
              <a:t>    } else {</a:t>
            </a:r>
          </a:p>
          <a:p>
            <a:r>
              <a:rPr lang="en-US" altLang="zh-CN" sz="2000" dirty="0">
                <a:solidFill>
                  <a:schemeClr val="tx1"/>
                </a:solidFill>
              </a:rPr>
              <a:t>        return false;</a:t>
            </a:r>
          </a:p>
          <a:p>
            <a:r>
              <a:rPr lang="en-US" altLang="zh-CN" sz="2000" dirty="0">
                <a:solidFill>
                  <a:schemeClr val="tx1"/>
                </a:solidFill>
              </a:rPr>
              <a:t>    }</a:t>
            </a:r>
          </a:p>
          <a:p>
            <a:r>
              <a:rPr lang="en-US" altLang="zh-CN" sz="2000" dirty="0">
                <a:solidFill>
                  <a:schemeClr val="tx1"/>
                </a:solidFill>
              </a:rPr>
              <a:t>}</a:t>
            </a:r>
            <a:endParaRPr lang="zh-CN" altLang="en-US" sz="2000" dirty="0">
              <a:solidFill>
                <a:schemeClr val="tx1"/>
              </a:solidFill>
            </a:endParaRPr>
          </a:p>
        </p:txBody>
      </p:sp>
      <p:cxnSp>
        <p:nvCxnSpPr>
          <p:cNvPr id="8" name="直接箭头连接符 7">
            <a:extLst>
              <a:ext uri="{FF2B5EF4-FFF2-40B4-BE49-F238E27FC236}">
                <a16:creationId xmlns:a16="http://schemas.microsoft.com/office/drawing/2014/main" id="{FD0557F7-E347-B7D7-BE8D-45E5D4444B95}"/>
              </a:ext>
            </a:extLst>
          </p:cNvPr>
          <p:cNvCxnSpPr>
            <a:cxnSpLocks/>
            <a:stCxn id="10" idx="6"/>
            <a:endCxn id="3" idx="1"/>
          </p:cNvCxnSpPr>
          <p:nvPr/>
        </p:nvCxnSpPr>
        <p:spPr>
          <a:xfrm>
            <a:off x="3592309" y="2026436"/>
            <a:ext cx="120689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40FF8567-83A2-18F8-8818-A4CDEAFB33E9}"/>
              </a:ext>
            </a:extLst>
          </p:cNvPr>
          <p:cNvCxnSpPr>
            <a:cxnSpLocks/>
          </p:cNvCxnSpPr>
          <p:nvPr/>
        </p:nvCxnSpPr>
        <p:spPr>
          <a:xfrm>
            <a:off x="7607206" y="2062436"/>
            <a:ext cx="14400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椭圆 9">
            <a:extLst>
              <a:ext uri="{FF2B5EF4-FFF2-40B4-BE49-F238E27FC236}">
                <a16:creationId xmlns:a16="http://schemas.microsoft.com/office/drawing/2014/main" id="{620D6EA2-C4F5-F1DA-072B-DC59990323A8}"/>
              </a:ext>
            </a:extLst>
          </p:cNvPr>
          <p:cNvSpPr/>
          <p:nvPr/>
        </p:nvSpPr>
        <p:spPr>
          <a:xfrm>
            <a:off x="1504309" y="1522436"/>
            <a:ext cx="2088000" cy="1008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测试人员</a:t>
            </a:r>
          </a:p>
        </p:txBody>
      </p:sp>
      <p:sp>
        <p:nvSpPr>
          <p:cNvPr id="15" name="文本框 14">
            <a:extLst>
              <a:ext uri="{FF2B5EF4-FFF2-40B4-BE49-F238E27FC236}">
                <a16:creationId xmlns:a16="http://schemas.microsoft.com/office/drawing/2014/main" id="{399E3937-EEC6-0D4A-968C-DEC739DBE8BF}"/>
              </a:ext>
            </a:extLst>
          </p:cNvPr>
          <p:cNvSpPr txBox="1"/>
          <p:nvPr/>
        </p:nvSpPr>
        <p:spPr>
          <a:xfrm>
            <a:off x="3808308" y="1519552"/>
            <a:ext cx="774897" cy="369332"/>
          </a:xfrm>
          <a:prstGeom prst="rect">
            <a:avLst/>
          </a:prstGeom>
          <a:noFill/>
        </p:spPr>
        <p:txBody>
          <a:bodyPr wrap="square" rtlCol="0">
            <a:spAutoFit/>
          </a:bodyPr>
          <a:lstStyle/>
          <a:p>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输入</a:t>
            </a:r>
          </a:p>
        </p:txBody>
      </p:sp>
      <p:sp>
        <p:nvSpPr>
          <p:cNvPr id="17" name="菱形 16">
            <a:extLst>
              <a:ext uri="{FF2B5EF4-FFF2-40B4-BE49-F238E27FC236}">
                <a16:creationId xmlns:a16="http://schemas.microsoft.com/office/drawing/2014/main" id="{9F690E3C-52D6-0904-EDBB-7EDA3E414C60}"/>
              </a:ext>
            </a:extLst>
          </p:cNvPr>
          <p:cNvSpPr/>
          <p:nvPr/>
        </p:nvSpPr>
        <p:spPr>
          <a:xfrm>
            <a:off x="9047206" y="1378436"/>
            <a:ext cx="936000" cy="1368000"/>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输出</a:t>
            </a:r>
          </a:p>
        </p:txBody>
      </p:sp>
      <p:cxnSp>
        <p:nvCxnSpPr>
          <p:cNvPr id="21" name="连接符: 肘形 20">
            <a:extLst>
              <a:ext uri="{FF2B5EF4-FFF2-40B4-BE49-F238E27FC236}">
                <a16:creationId xmlns:a16="http://schemas.microsoft.com/office/drawing/2014/main" id="{A33CA58F-692B-D558-1635-3C49C195D0E7}"/>
              </a:ext>
            </a:extLst>
          </p:cNvPr>
          <p:cNvCxnSpPr>
            <a:cxnSpLocks/>
            <a:stCxn id="10" idx="4"/>
            <a:endCxn id="17" idx="2"/>
          </p:cNvCxnSpPr>
          <p:nvPr/>
        </p:nvCxnSpPr>
        <p:spPr>
          <a:xfrm rot="16200000" flipH="1">
            <a:off x="5923757" y="-845013"/>
            <a:ext cx="216000" cy="6966897"/>
          </a:xfrm>
          <a:prstGeom prst="bentConnector3">
            <a:avLst>
              <a:gd name="adj1" fmla="val 524869"/>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CD7451A9-FCE5-D8EA-7730-A8B0C65945DB}"/>
              </a:ext>
            </a:extLst>
          </p:cNvPr>
          <p:cNvSpPr txBox="1"/>
          <p:nvPr/>
        </p:nvSpPr>
        <p:spPr>
          <a:xfrm>
            <a:off x="5644308" y="3282663"/>
            <a:ext cx="774897" cy="369332"/>
          </a:xfrm>
          <a:prstGeom prst="rect">
            <a:avLst/>
          </a:prstGeom>
          <a:noFill/>
        </p:spPr>
        <p:txBody>
          <a:bodyPr wrap="square" rtlCol="0">
            <a:spAutoFit/>
          </a:bodyPr>
          <a:lstStyle/>
          <a:p>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验证</a:t>
            </a:r>
          </a:p>
        </p:txBody>
      </p:sp>
      <p:sp>
        <p:nvSpPr>
          <p:cNvPr id="27" name="矩形 26">
            <a:extLst>
              <a:ext uri="{FF2B5EF4-FFF2-40B4-BE49-F238E27FC236}">
                <a16:creationId xmlns:a16="http://schemas.microsoft.com/office/drawing/2014/main" id="{02AAC185-A699-43E0-50EF-AD7FC7E26FF1}"/>
              </a:ext>
            </a:extLst>
          </p:cNvPr>
          <p:cNvSpPr/>
          <p:nvPr/>
        </p:nvSpPr>
        <p:spPr>
          <a:xfrm>
            <a:off x="407206" y="3856181"/>
            <a:ext cx="3312000" cy="286526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l"/>
            </a:pPr>
            <a:r>
              <a:rPr lang="zh-CN" altLang="en-US" sz="1400" dirty="0">
                <a:solidFill>
                  <a:srgbClr val="595959"/>
                </a:solidFill>
                <a:latin typeface="微软雅黑" panose="020B0503020204020204" pitchFamily="34" charset="-122"/>
                <a:ea typeface="微软雅黑" panose="020B0503020204020204" pitchFamily="34" charset="-122"/>
              </a:rPr>
              <a:t>关注点：</a:t>
            </a:r>
            <a:r>
              <a:rPr lang="zh-CN" altLang="en-US" sz="1400" dirty="0">
                <a:solidFill>
                  <a:srgbClr val="005DA2"/>
                </a:solidFill>
                <a:latin typeface="微软雅黑" panose="020B0503020204020204" pitchFamily="34" charset="-122"/>
                <a:ea typeface="微软雅黑" panose="020B0503020204020204" pitchFamily="34" charset="-122"/>
              </a:rPr>
              <a:t>功能是否满足需求，而不关心内部代码逻辑</a:t>
            </a:r>
            <a:r>
              <a:rPr lang="zh-CN" altLang="en-US" sz="1400" dirty="0">
                <a:solidFill>
                  <a:srgbClr val="595959"/>
                </a:solidFill>
                <a:latin typeface="微软雅黑" panose="020B0503020204020204" pitchFamily="34" charset="-122"/>
                <a:ea typeface="微软雅黑" panose="020B0503020204020204" pitchFamily="34" charset="-122"/>
              </a:rPr>
              <a:t>。</a:t>
            </a:r>
            <a:endParaRPr lang="en-US" altLang="zh-CN" sz="1400" dirty="0">
              <a:solidFill>
                <a:srgbClr val="595959"/>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dirty="0">
                <a:solidFill>
                  <a:srgbClr val="595959"/>
                </a:solidFill>
                <a:latin typeface="微软雅黑" panose="020B0503020204020204" pitchFamily="34" charset="-122"/>
                <a:ea typeface="微软雅黑" panose="020B0503020204020204" pitchFamily="34" charset="-122"/>
              </a:rPr>
              <a:t>测试依据：</a:t>
            </a:r>
            <a:r>
              <a:rPr lang="zh-CN" altLang="en-US" sz="1400" dirty="0">
                <a:solidFill>
                  <a:srgbClr val="005DA2"/>
                </a:solidFill>
                <a:latin typeface="微软雅黑" panose="020B0503020204020204" pitchFamily="34" charset="-122"/>
                <a:ea typeface="微软雅黑" panose="020B0503020204020204" pitchFamily="34" charset="-122"/>
              </a:rPr>
              <a:t>需求说明文档</a:t>
            </a:r>
            <a:r>
              <a:rPr lang="zh-CN" altLang="en-US" sz="1400" dirty="0">
                <a:solidFill>
                  <a:srgbClr val="595959"/>
                </a:solidFill>
                <a:latin typeface="微软雅黑" panose="020B0503020204020204" pitchFamily="34" charset="-122"/>
                <a:ea typeface="微软雅黑" panose="020B0503020204020204" pitchFamily="34" charset="-122"/>
              </a:rPr>
              <a:t>。</a:t>
            </a:r>
            <a:endParaRPr lang="en-US" altLang="zh-CN" sz="1400" dirty="0">
              <a:solidFill>
                <a:srgbClr val="595959"/>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dirty="0">
                <a:solidFill>
                  <a:srgbClr val="595959"/>
                </a:solidFill>
                <a:latin typeface="微软雅黑" panose="020B0503020204020204" pitchFamily="34" charset="-122"/>
                <a:ea typeface="微软雅黑" panose="020B0503020204020204" pitchFamily="34" charset="-122"/>
              </a:rPr>
              <a:t>设计方法：等价类划分、边界值分析等。</a:t>
            </a:r>
            <a:endParaRPr lang="en-US" altLang="zh-CN" sz="1400" dirty="0">
              <a:solidFill>
                <a:srgbClr val="595959"/>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dirty="0">
                <a:solidFill>
                  <a:srgbClr val="595959"/>
                </a:solidFill>
                <a:latin typeface="微软雅黑" panose="020B0503020204020204" pitchFamily="34" charset="-122"/>
                <a:ea typeface="微软雅黑" panose="020B0503020204020204" pitchFamily="34" charset="-122"/>
              </a:rPr>
              <a:t>测试用例：</a:t>
            </a:r>
            <a:endParaRPr lang="en-US" altLang="zh-CN" sz="1400" dirty="0">
              <a:solidFill>
                <a:srgbClr val="595959"/>
              </a:solidFill>
              <a:latin typeface="微软雅黑" panose="020B0503020204020204" pitchFamily="34" charset="-122"/>
              <a:ea typeface="微软雅黑" panose="020B0503020204020204" pitchFamily="34" charset="-122"/>
            </a:endParaRPr>
          </a:p>
          <a:p>
            <a:pPr marL="540000" indent="-285750">
              <a:buFont typeface="Wingdings" panose="05000000000000000000" pitchFamily="2" charset="2"/>
              <a:buChar char="ü"/>
            </a:pPr>
            <a:r>
              <a:rPr lang="zh-CN" altLang="en-US" sz="1400" dirty="0">
                <a:solidFill>
                  <a:srgbClr val="595959"/>
                </a:solidFill>
                <a:latin typeface="微软雅黑" panose="020B0503020204020204" pitchFamily="34" charset="-122"/>
                <a:ea typeface="微软雅黑" panose="020B0503020204020204" pitchFamily="34" charset="-122"/>
              </a:rPr>
              <a:t>输入 </a:t>
            </a:r>
            <a:r>
              <a:rPr lang="en-US" altLang="zh-CN" sz="1400" dirty="0">
                <a:solidFill>
                  <a:srgbClr val="595959"/>
                </a:solidFill>
                <a:latin typeface="微软雅黑" panose="020B0503020204020204" pitchFamily="34" charset="-122"/>
                <a:ea typeface="微软雅黑" panose="020B0503020204020204" pitchFamily="34" charset="-122"/>
              </a:rPr>
              <a:t>2 → </a:t>
            </a:r>
            <a:r>
              <a:rPr lang="zh-CN" altLang="en-US" sz="1400" dirty="0">
                <a:solidFill>
                  <a:srgbClr val="595959"/>
                </a:solidFill>
                <a:latin typeface="微软雅黑" panose="020B0503020204020204" pitchFamily="34" charset="-122"/>
                <a:ea typeface="微软雅黑" panose="020B0503020204020204" pitchFamily="34" charset="-122"/>
              </a:rPr>
              <a:t>期望输出 </a:t>
            </a:r>
            <a:r>
              <a:rPr lang="en-US" altLang="zh-CN" sz="1400" dirty="0">
                <a:solidFill>
                  <a:srgbClr val="595959"/>
                </a:solidFill>
                <a:latin typeface="微软雅黑" panose="020B0503020204020204" pitchFamily="34" charset="-122"/>
                <a:ea typeface="微软雅黑" panose="020B0503020204020204" pitchFamily="34" charset="-122"/>
              </a:rPr>
              <a:t>true</a:t>
            </a:r>
          </a:p>
          <a:p>
            <a:pPr marL="540000" indent="-285750">
              <a:buFont typeface="Wingdings" panose="05000000000000000000" pitchFamily="2" charset="2"/>
              <a:buChar char="ü"/>
            </a:pPr>
            <a:r>
              <a:rPr lang="zh-CN" altLang="en-US" sz="1400" dirty="0">
                <a:solidFill>
                  <a:srgbClr val="595959"/>
                </a:solidFill>
                <a:latin typeface="微软雅黑" panose="020B0503020204020204" pitchFamily="34" charset="-122"/>
                <a:ea typeface="微软雅黑" panose="020B0503020204020204" pitchFamily="34" charset="-122"/>
              </a:rPr>
              <a:t>输入 </a:t>
            </a:r>
            <a:r>
              <a:rPr lang="en-US" altLang="zh-CN" sz="1400" dirty="0">
                <a:solidFill>
                  <a:srgbClr val="595959"/>
                </a:solidFill>
                <a:latin typeface="微软雅黑" panose="020B0503020204020204" pitchFamily="34" charset="-122"/>
                <a:ea typeface="微软雅黑" panose="020B0503020204020204" pitchFamily="34" charset="-122"/>
              </a:rPr>
              <a:t>3 → </a:t>
            </a:r>
            <a:r>
              <a:rPr lang="zh-CN" altLang="en-US" sz="1400" dirty="0">
                <a:solidFill>
                  <a:srgbClr val="595959"/>
                </a:solidFill>
                <a:latin typeface="微软雅黑" panose="020B0503020204020204" pitchFamily="34" charset="-122"/>
                <a:ea typeface="微软雅黑" panose="020B0503020204020204" pitchFamily="34" charset="-122"/>
              </a:rPr>
              <a:t>期望输出 </a:t>
            </a:r>
            <a:r>
              <a:rPr lang="en-US" altLang="zh-CN" sz="1400" dirty="0">
                <a:solidFill>
                  <a:srgbClr val="595959"/>
                </a:solidFill>
                <a:latin typeface="微软雅黑" panose="020B0503020204020204" pitchFamily="34" charset="-122"/>
                <a:ea typeface="微软雅黑" panose="020B0503020204020204" pitchFamily="34" charset="-122"/>
              </a:rPr>
              <a:t>false</a:t>
            </a:r>
          </a:p>
          <a:p>
            <a:pPr marL="540000" indent="-285750">
              <a:buFont typeface="Wingdings" panose="05000000000000000000" pitchFamily="2" charset="2"/>
              <a:buChar char="ü"/>
            </a:pPr>
            <a:r>
              <a:rPr lang="zh-CN" altLang="en-US" sz="1400" dirty="0">
                <a:solidFill>
                  <a:srgbClr val="595959"/>
                </a:solidFill>
                <a:latin typeface="微软雅黑" panose="020B0503020204020204" pitchFamily="34" charset="-122"/>
                <a:ea typeface="微软雅黑" panose="020B0503020204020204" pitchFamily="34" charset="-122"/>
              </a:rPr>
              <a:t>输入 </a:t>
            </a:r>
            <a:r>
              <a:rPr lang="en-US" altLang="zh-CN" sz="1400" dirty="0">
                <a:solidFill>
                  <a:srgbClr val="595959"/>
                </a:solidFill>
                <a:latin typeface="微软雅黑" panose="020B0503020204020204" pitchFamily="34" charset="-122"/>
                <a:ea typeface="微软雅黑" panose="020B0503020204020204" pitchFamily="34" charset="-122"/>
              </a:rPr>
              <a:t>0 → </a:t>
            </a:r>
            <a:r>
              <a:rPr lang="zh-CN" altLang="en-US" sz="1400" dirty="0">
                <a:solidFill>
                  <a:srgbClr val="595959"/>
                </a:solidFill>
                <a:latin typeface="微软雅黑" panose="020B0503020204020204" pitchFamily="34" charset="-122"/>
                <a:ea typeface="微软雅黑" panose="020B0503020204020204" pitchFamily="34" charset="-122"/>
              </a:rPr>
              <a:t>期望输出 </a:t>
            </a:r>
            <a:r>
              <a:rPr lang="en-US" altLang="zh-CN" sz="1400" dirty="0">
                <a:solidFill>
                  <a:srgbClr val="595959"/>
                </a:solidFill>
                <a:latin typeface="微软雅黑" panose="020B0503020204020204" pitchFamily="34" charset="-122"/>
                <a:ea typeface="微软雅黑" panose="020B0503020204020204" pitchFamily="34" charset="-122"/>
              </a:rPr>
              <a:t>True</a:t>
            </a:r>
          </a:p>
          <a:p>
            <a:pPr marL="540000" indent="-285750">
              <a:buFont typeface="Wingdings" panose="05000000000000000000" pitchFamily="2" charset="2"/>
              <a:buChar char="ü"/>
            </a:pPr>
            <a:r>
              <a:rPr lang="zh-CN" altLang="en-US" sz="1400" dirty="0">
                <a:solidFill>
                  <a:srgbClr val="595959"/>
                </a:solidFill>
                <a:latin typeface="微软雅黑" panose="020B0503020204020204" pitchFamily="34" charset="-122"/>
                <a:ea typeface="微软雅黑" panose="020B0503020204020204" pitchFamily="34" charset="-122"/>
              </a:rPr>
              <a:t>输入 </a:t>
            </a:r>
            <a:r>
              <a:rPr lang="en-US" altLang="zh-CN" sz="1400" dirty="0">
                <a:solidFill>
                  <a:srgbClr val="595959"/>
                </a:solidFill>
                <a:latin typeface="微软雅黑" panose="020B0503020204020204" pitchFamily="34" charset="-122"/>
                <a:ea typeface="微软雅黑" panose="020B0503020204020204" pitchFamily="34" charset="-122"/>
              </a:rPr>
              <a:t>-1 → </a:t>
            </a:r>
            <a:r>
              <a:rPr lang="zh-CN" altLang="en-US" sz="1400" dirty="0">
                <a:solidFill>
                  <a:srgbClr val="595959"/>
                </a:solidFill>
                <a:latin typeface="微软雅黑" panose="020B0503020204020204" pitchFamily="34" charset="-122"/>
                <a:ea typeface="微软雅黑" panose="020B0503020204020204" pitchFamily="34" charset="-122"/>
              </a:rPr>
              <a:t>期望输出 </a:t>
            </a:r>
            <a:r>
              <a:rPr lang="en-US" altLang="zh-CN" sz="1400" dirty="0">
                <a:solidFill>
                  <a:srgbClr val="595959"/>
                </a:solidFill>
                <a:latin typeface="微软雅黑" panose="020B0503020204020204" pitchFamily="34" charset="-122"/>
                <a:ea typeface="微软雅黑" panose="020B0503020204020204" pitchFamily="34" charset="-122"/>
              </a:rPr>
              <a:t>false</a:t>
            </a:r>
          </a:p>
          <a:p>
            <a:pPr marL="285750" indent="-285750">
              <a:buFont typeface="Wingdings" panose="05000000000000000000" pitchFamily="2" charset="2"/>
              <a:buChar char="l"/>
            </a:pPr>
            <a:r>
              <a:rPr lang="zh-CN" altLang="en-US" sz="1400" dirty="0">
                <a:solidFill>
                  <a:srgbClr val="595959"/>
                </a:solidFill>
                <a:latin typeface="微软雅黑" panose="020B0503020204020204" pitchFamily="34" charset="-122"/>
                <a:ea typeface="微软雅黑" panose="020B0503020204020204" pitchFamily="34" charset="-122"/>
              </a:rPr>
              <a:t>特点：完全站在用户角度，只看“输入</a:t>
            </a:r>
            <a:r>
              <a:rPr lang="en-US" altLang="zh-CN" sz="1400" dirty="0">
                <a:solidFill>
                  <a:srgbClr val="595959"/>
                </a:solidFill>
                <a:latin typeface="微软雅黑" panose="020B0503020204020204" pitchFamily="34" charset="-122"/>
                <a:ea typeface="微软雅黑" panose="020B0503020204020204" pitchFamily="34" charset="-122"/>
              </a:rPr>
              <a:t>-</a:t>
            </a:r>
            <a:r>
              <a:rPr lang="zh-CN" altLang="en-US" sz="1400" dirty="0">
                <a:solidFill>
                  <a:srgbClr val="595959"/>
                </a:solidFill>
                <a:latin typeface="微软雅黑" panose="020B0503020204020204" pitchFamily="34" charset="-122"/>
                <a:ea typeface="微软雅黑" panose="020B0503020204020204" pitchFamily="34" charset="-122"/>
              </a:rPr>
              <a:t>输出”的对应关系。</a:t>
            </a:r>
          </a:p>
        </p:txBody>
      </p:sp>
      <p:sp>
        <p:nvSpPr>
          <p:cNvPr id="32" name="矩形 31">
            <a:extLst>
              <a:ext uri="{FF2B5EF4-FFF2-40B4-BE49-F238E27FC236}">
                <a16:creationId xmlns:a16="http://schemas.microsoft.com/office/drawing/2014/main" id="{8856E1FF-AF24-1858-1552-64776C00086E}"/>
              </a:ext>
            </a:extLst>
          </p:cNvPr>
          <p:cNvSpPr/>
          <p:nvPr/>
        </p:nvSpPr>
        <p:spPr>
          <a:xfrm>
            <a:off x="4194492" y="4113153"/>
            <a:ext cx="3600002" cy="258680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l"/>
            </a:pPr>
            <a:r>
              <a:rPr lang="zh-CN" altLang="en-US" sz="1400" dirty="0">
                <a:solidFill>
                  <a:srgbClr val="595959"/>
                </a:solidFill>
                <a:latin typeface="微软雅黑" panose="020B0503020204020204" pitchFamily="34" charset="-122"/>
                <a:ea typeface="微软雅黑" panose="020B0503020204020204" pitchFamily="34" charset="-122"/>
              </a:rPr>
              <a:t>关注点</a:t>
            </a:r>
            <a:r>
              <a:rPr lang="zh-CN" altLang="en-US" sz="1400" dirty="0">
                <a:solidFill>
                  <a:schemeClr val="tx1"/>
                </a:solidFill>
              </a:rPr>
              <a:t>：</a:t>
            </a:r>
            <a:r>
              <a:rPr lang="zh-CN" altLang="en-US" sz="1400" dirty="0">
                <a:solidFill>
                  <a:srgbClr val="005DA2"/>
                </a:solidFill>
              </a:rPr>
              <a:t>程序内部结构和逻辑</a:t>
            </a:r>
            <a:r>
              <a:rPr lang="zh-CN" altLang="en-US" sz="1400" dirty="0">
                <a:solidFill>
                  <a:schemeClr val="tx1"/>
                </a:solidFill>
              </a:rPr>
              <a:t>。</a:t>
            </a:r>
            <a:endParaRPr lang="en-US" altLang="zh-CN" sz="1400" dirty="0">
              <a:solidFill>
                <a:schemeClr val="tx1"/>
              </a:solidFill>
            </a:endParaRPr>
          </a:p>
          <a:p>
            <a:pPr marL="285750" indent="-285750">
              <a:buFont typeface="Wingdings" panose="05000000000000000000" pitchFamily="2" charset="2"/>
              <a:buChar char="l"/>
            </a:pPr>
            <a:r>
              <a:rPr lang="zh-CN" altLang="en-US" sz="1400" dirty="0">
                <a:solidFill>
                  <a:srgbClr val="595959"/>
                </a:solidFill>
                <a:latin typeface="微软雅黑" panose="020B0503020204020204" pitchFamily="34" charset="-122"/>
                <a:ea typeface="微软雅黑" panose="020B0503020204020204" pitchFamily="34" charset="-122"/>
              </a:rPr>
              <a:t>测试依据</a:t>
            </a:r>
            <a:r>
              <a:rPr lang="zh-CN" altLang="en-US" sz="1400" dirty="0">
                <a:solidFill>
                  <a:schemeClr val="tx1"/>
                </a:solidFill>
              </a:rPr>
              <a:t>：</a:t>
            </a:r>
            <a:r>
              <a:rPr lang="zh-CN" altLang="en-US" sz="1400" dirty="0">
                <a:solidFill>
                  <a:srgbClr val="005DA2"/>
                </a:solidFill>
              </a:rPr>
              <a:t>源代码</a:t>
            </a:r>
            <a:r>
              <a:rPr lang="zh-CN" altLang="en-US" sz="1400" dirty="0">
                <a:solidFill>
                  <a:schemeClr val="tx1"/>
                </a:solidFill>
              </a:rPr>
              <a:t>。</a:t>
            </a:r>
            <a:endParaRPr lang="en-US" altLang="zh-CN" sz="1400" dirty="0">
              <a:solidFill>
                <a:schemeClr val="tx1"/>
              </a:solidFill>
            </a:endParaRPr>
          </a:p>
          <a:p>
            <a:pPr marL="285750" indent="-285750">
              <a:buFont typeface="Wingdings" panose="05000000000000000000" pitchFamily="2" charset="2"/>
              <a:buChar char="l"/>
            </a:pPr>
            <a:r>
              <a:rPr lang="zh-CN" altLang="en-US" sz="1400" dirty="0">
                <a:solidFill>
                  <a:srgbClr val="595959"/>
                </a:solidFill>
                <a:latin typeface="微软雅黑" panose="020B0503020204020204" pitchFamily="34" charset="-122"/>
                <a:ea typeface="微软雅黑" panose="020B0503020204020204" pitchFamily="34" charset="-122"/>
              </a:rPr>
              <a:t>设计方法：语句覆盖、分支覆盖、路径覆盖等。</a:t>
            </a:r>
            <a:endParaRPr lang="en-US" altLang="zh-CN" sz="1400" dirty="0">
              <a:solidFill>
                <a:srgbClr val="595959"/>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dirty="0">
                <a:solidFill>
                  <a:srgbClr val="595959"/>
                </a:solidFill>
                <a:latin typeface="微软雅黑" panose="020B0503020204020204" pitchFamily="34" charset="-122"/>
                <a:ea typeface="微软雅黑" panose="020B0503020204020204" pitchFamily="34" charset="-122"/>
              </a:rPr>
              <a:t>测试用例：</a:t>
            </a:r>
            <a:endParaRPr lang="en-US" altLang="zh-CN" sz="1400" dirty="0">
              <a:solidFill>
                <a:srgbClr val="595959"/>
              </a:solidFill>
              <a:latin typeface="微软雅黑" panose="020B0503020204020204" pitchFamily="34" charset="-122"/>
              <a:ea typeface="微软雅黑" panose="020B0503020204020204" pitchFamily="34" charset="-122"/>
            </a:endParaRPr>
          </a:p>
          <a:p>
            <a:pPr marL="540000" indent="-285750">
              <a:buFont typeface="Wingdings" panose="05000000000000000000" pitchFamily="2" charset="2"/>
              <a:buChar char="ü"/>
            </a:pPr>
            <a:r>
              <a:rPr lang="zh-CN" altLang="en-US" sz="1400" dirty="0">
                <a:solidFill>
                  <a:srgbClr val="595959"/>
                </a:solidFill>
                <a:latin typeface="微软雅黑" panose="020B0503020204020204" pitchFamily="34" charset="-122"/>
                <a:ea typeface="微软雅黑" panose="020B0503020204020204" pitchFamily="34" charset="-122"/>
              </a:rPr>
              <a:t>输入 </a:t>
            </a:r>
            <a:r>
              <a:rPr lang="en-US" altLang="zh-CN" sz="1400" dirty="0">
                <a:solidFill>
                  <a:srgbClr val="595959"/>
                </a:solidFill>
                <a:latin typeface="微软雅黑" panose="020B0503020204020204" pitchFamily="34" charset="-122"/>
                <a:ea typeface="微软雅黑" panose="020B0503020204020204" pitchFamily="34" charset="-122"/>
              </a:rPr>
              <a:t>4 → </a:t>
            </a:r>
            <a:r>
              <a:rPr lang="zh-CN" altLang="en-US" sz="1400" dirty="0">
                <a:solidFill>
                  <a:srgbClr val="595959"/>
                </a:solidFill>
                <a:latin typeface="微软雅黑" panose="020B0503020204020204" pitchFamily="34" charset="-122"/>
                <a:ea typeface="微软雅黑" panose="020B0503020204020204" pitchFamily="34" charset="-122"/>
              </a:rPr>
              <a:t>覆盖 </a:t>
            </a:r>
            <a:r>
              <a:rPr lang="en-US" altLang="zh-CN" sz="1400" dirty="0">
                <a:solidFill>
                  <a:srgbClr val="595959"/>
                </a:solidFill>
                <a:latin typeface="微软雅黑" panose="020B0503020204020204" pitchFamily="34" charset="-122"/>
                <a:ea typeface="微软雅黑" panose="020B0503020204020204" pitchFamily="34" charset="-122"/>
              </a:rPr>
              <a:t>if (n % 2 == 0) </a:t>
            </a:r>
            <a:r>
              <a:rPr lang="zh-CN" altLang="en-US" sz="1400" dirty="0">
                <a:solidFill>
                  <a:srgbClr val="595959"/>
                </a:solidFill>
                <a:latin typeface="微软雅黑" panose="020B0503020204020204" pitchFamily="34" charset="-122"/>
                <a:ea typeface="微软雅黑" panose="020B0503020204020204" pitchFamily="34" charset="-122"/>
              </a:rPr>
              <a:t>为真分支</a:t>
            </a:r>
            <a:endParaRPr lang="en-US" altLang="zh-CN" sz="1400" dirty="0">
              <a:solidFill>
                <a:srgbClr val="595959"/>
              </a:solidFill>
              <a:latin typeface="微软雅黑" panose="020B0503020204020204" pitchFamily="34" charset="-122"/>
              <a:ea typeface="微软雅黑" panose="020B0503020204020204" pitchFamily="34" charset="-122"/>
            </a:endParaRPr>
          </a:p>
          <a:p>
            <a:pPr marL="540000" indent="-285750">
              <a:buFont typeface="Wingdings" panose="05000000000000000000" pitchFamily="2" charset="2"/>
              <a:buChar char="ü"/>
            </a:pPr>
            <a:r>
              <a:rPr lang="zh-CN" altLang="en-US" sz="1400" dirty="0">
                <a:solidFill>
                  <a:srgbClr val="595959"/>
                </a:solidFill>
                <a:latin typeface="微软雅黑" panose="020B0503020204020204" pitchFamily="34" charset="-122"/>
                <a:ea typeface="微软雅黑" panose="020B0503020204020204" pitchFamily="34" charset="-122"/>
              </a:rPr>
              <a:t>输入 </a:t>
            </a:r>
            <a:r>
              <a:rPr lang="en-US" altLang="zh-CN" sz="1400" dirty="0">
                <a:solidFill>
                  <a:srgbClr val="595959"/>
                </a:solidFill>
                <a:latin typeface="微软雅黑" panose="020B0503020204020204" pitchFamily="34" charset="-122"/>
                <a:ea typeface="微软雅黑" panose="020B0503020204020204" pitchFamily="34" charset="-122"/>
              </a:rPr>
              <a:t>5 → </a:t>
            </a:r>
            <a:r>
              <a:rPr lang="zh-CN" altLang="en-US" sz="1400" dirty="0">
                <a:solidFill>
                  <a:srgbClr val="595959"/>
                </a:solidFill>
                <a:latin typeface="微软雅黑" panose="020B0503020204020204" pitchFamily="34" charset="-122"/>
                <a:ea typeface="微软雅黑" panose="020B0503020204020204" pitchFamily="34" charset="-122"/>
              </a:rPr>
              <a:t>覆盖 </a:t>
            </a:r>
            <a:r>
              <a:rPr lang="en-US" altLang="zh-CN" sz="1400" dirty="0">
                <a:solidFill>
                  <a:srgbClr val="595959"/>
                </a:solidFill>
                <a:latin typeface="微软雅黑" panose="020B0503020204020204" pitchFamily="34" charset="-122"/>
                <a:ea typeface="微软雅黑" panose="020B0503020204020204" pitchFamily="34" charset="-122"/>
              </a:rPr>
              <a:t>if (n % 2 == 0) </a:t>
            </a:r>
            <a:r>
              <a:rPr lang="zh-CN" altLang="en-US" sz="1400" dirty="0">
                <a:solidFill>
                  <a:srgbClr val="595959"/>
                </a:solidFill>
                <a:latin typeface="微软雅黑" panose="020B0503020204020204" pitchFamily="34" charset="-122"/>
                <a:ea typeface="微软雅黑" panose="020B0503020204020204" pitchFamily="34" charset="-122"/>
              </a:rPr>
              <a:t>为假分支</a:t>
            </a:r>
            <a:endParaRPr lang="en-US" altLang="zh-CN" sz="1400" dirty="0">
              <a:solidFill>
                <a:srgbClr val="595959"/>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dirty="0">
                <a:solidFill>
                  <a:srgbClr val="595959"/>
                </a:solidFill>
                <a:latin typeface="微软雅黑" panose="020B0503020204020204" pitchFamily="34" charset="-122"/>
                <a:ea typeface="微软雅黑" panose="020B0503020204020204" pitchFamily="34" charset="-122"/>
              </a:rPr>
              <a:t>特点：测试者需要了解代码，确保所有分支、路径都被执行。</a:t>
            </a:r>
          </a:p>
        </p:txBody>
      </p:sp>
      <p:sp>
        <p:nvSpPr>
          <p:cNvPr id="33" name="矩形 32">
            <a:extLst>
              <a:ext uri="{FF2B5EF4-FFF2-40B4-BE49-F238E27FC236}">
                <a16:creationId xmlns:a16="http://schemas.microsoft.com/office/drawing/2014/main" id="{291A06D5-4CCF-0978-19DA-BA67B7A09E70}"/>
              </a:ext>
            </a:extLst>
          </p:cNvPr>
          <p:cNvSpPr/>
          <p:nvPr/>
        </p:nvSpPr>
        <p:spPr>
          <a:xfrm>
            <a:off x="8202303" y="3856181"/>
            <a:ext cx="3816000" cy="28388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l"/>
            </a:pPr>
            <a:r>
              <a:rPr lang="zh-CN" altLang="en-US" sz="1400" dirty="0">
                <a:solidFill>
                  <a:srgbClr val="595959"/>
                </a:solidFill>
                <a:latin typeface="微软雅黑" panose="020B0503020204020204" pitchFamily="34" charset="-122"/>
                <a:ea typeface="微软雅黑" panose="020B0503020204020204" pitchFamily="34" charset="-122"/>
              </a:rPr>
              <a:t>关注点：</a:t>
            </a:r>
            <a:r>
              <a:rPr lang="zh-CN" altLang="en-US" sz="1400" dirty="0">
                <a:solidFill>
                  <a:srgbClr val="005DA2"/>
                </a:solidFill>
                <a:latin typeface="微软雅黑" panose="020B0503020204020204" pitchFamily="34" charset="-122"/>
                <a:ea typeface="微软雅黑" panose="020B0503020204020204" pitchFamily="34" charset="-122"/>
              </a:rPr>
              <a:t>结合黑盒和白盒，既考虑需求输入输出，又参考部分代码结构</a:t>
            </a:r>
            <a:r>
              <a:rPr lang="zh-CN" altLang="en-US" sz="1400" dirty="0">
                <a:solidFill>
                  <a:srgbClr val="595959"/>
                </a:solidFill>
                <a:latin typeface="微软雅黑" panose="020B0503020204020204" pitchFamily="34" charset="-122"/>
                <a:ea typeface="微软雅黑" panose="020B0503020204020204" pitchFamily="34" charset="-122"/>
              </a:rPr>
              <a:t>。</a:t>
            </a:r>
            <a:endParaRPr lang="en-US" altLang="zh-CN" sz="1400" dirty="0">
              <a:solidFill>
                <a:srgbClr val="595959"/>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dirty="0">
                <a:solidFill>
                  <a:srgbClr val="595959"/>
                </a:solidFill>
                <a:latin typeface="微软雅黑" panose="020B0503020204020204" pitchFamily="34" charset="-122"/>
                <a:ea typeface="微软雅黑" panose="020B0503020204020204" pitchFamily="34" charset="-122"/>
              </a:rPr>
              <a:t>测试依据：</a:t>
            </a:r>
            <a:r>
              <a:rPr lang="zh-CN" altLang="en-US" sz="1400" dirty="0">
                <a:solidFill>
                  <a:srgbClr val="005DA2"/>
                </a:solidFill>
                <a:latin typeface="微软雅黑" panose="020B0503020204020204" pitchFamily="34" charset="-122"/>
                <a:ea typeface="微软雅黑" panose="020B0503020204020204" pitchFamily="34" charset="-122"/>
              </a:rPr>
              <a:t>需求说明 </a:t>
            </a:r>
            <a:r>
              <a:rPr lang="en-US" altLang="zh-CN" sz="1400" dirty="0">
                <a:solidFill>
                  <a:srgbClr val="005DA2"/>
                </a:solidFill>
                <a:latin typeface="微软雅黑" panose="020B0503020204020204" pitchFamily="34" charset="-122"/>
                <a:ea typeface="微软雅黑" panose="020B0503020204020204" pitchFamily="34" charset="-122"/>
              </a:rPr>
              <a:t>+ </a:t>
            </a:r>
            <a:r>
              <a:rPr lang="zh-CN" altLang="en-US" sz="1400" dirty="0">
                <a:solidFill>
                  <a:srgbClr val="005DA2"/>
                </a:solidFill>
                <a:latin typeface="微软雅黑" panose="020B0503020204020204" pitchFamily="34" charset="-122"/>
                <a:ea typeface="微软雅黑" panose="020B0503020204020204" pitchFamily="34" charset="-122"/>
              </a:rPr>
              <a:t>部分设计</a:t>
            </a:r>
            <a:r>
              <a:rPr lang="en-US" altLang="zh-CN" sz="1400" dirty="0">
                <a:solidFill>
                  <a:srgbClr val="005DA2"/>
                </a:solidFill>
                <a:latin typeface="微软雅黑" panose="020B0503020204020204" pitchFamily="34" charset="-122"/>
                <a:ea typeface="微软雅黑" panose="020B0503020204020204" pitchFamily="34" charset="-122"/>
              </a:rPr>
              <a:t>/</a:t>
            </a:r>
            <a:r>
              <a:rPr lang="zh-CN" altLang="en-US" sz="1400" dirty="0">
                <a:solidFill>
                  <a:srgbClr val="005DA2"/>
                </a:solidFill>
                <a:latin typeface="微软雅黑" panose="020B0503020204020204" pitchFamily="34" charset="-122"/>
                <a:ea typeface="微软雅黑" panose="020B0503020204020204" pitchFamily="34" charset="-122"/>
              </a:rPr>
              <a:t>代码信息</a:t>
            </a:r>
            <a:r>
              <a:rPr lang="zh-CN" altLang="en-US" sz="1400" dirty="0">
                <a:solidFill>
                  <a:srgbClr val="595959"/>
                </a:solidFill>
                <a:latin typeface="微软雅黑" panose="020B0503020204020204" pitchFamily="34" charset="-122"/>
                <a:ea typeface="微软雅黑" panose="020B0503020204020204" pitchFamily="34" charset="-122"/>
              </a:rPr>
              <a:t>。</a:t>
            </a:r>
            <a:endParaRPr lang="en-US" altLang="zh-CN" sz="1400" dirty="0">
              <a:solidFill>
                <a:srgbClr val="595959"/>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dirty="0">
                <a:solidFill>
                  <a:srgbClr val="595959"/>
                </a:solidFill>
                <a:latin typeface="微软雅黑" panose="020B0503020204020204" pitchFamily="34" charset="-122"/>
                <a:ea typeface="微软雅黑" panose="020B0503020204020204" pitchFamily="34" charset="-122"/>
              </a:rPr>
              <a:t>设计方法：基于接口设计、数据库、逻辑推断。</a:t>
            </a:r>
            <a:endParaRPr lang="en-US" altLang="zh-CN" sz="1400" dirty="0">
              <a:solidFill>
                <a:srgbClr val="595959"/>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dirty="0">
                <a:solidFill>
                  <a:srgbClr val="595959"/>
                </a:solidFill>
                <a:latin typeface="微软雅黑" panose="020B0503020204020204" pitchFamily="34" charset="-122"/>
                <a:ea typeface="微软雅黑" panose="020B0503020204020204" pitchFamily="34" charset="-122"/>
              </a:rPr>
              <a:t>测试用例：</a:t>
            </a:r>
            <a:endParaRPr lang="en-US" altLang="zh-CN" sz="1400" dirty="0">
              <a:solidFill>
                <a:srgbClr val="595959"/>
              </a:solidFill>
              <a:latin typeface="微软雅黑" panose="020B0503020204020204" pitchFamily="34" charset="-122"/>
              <a:ea typeface="微软雅黑" panose="020B0503020204020204" pitchFamily="34" charset="-122"/>
            </a:endParaRPr>
          </a:p>
          <a:p>
            <a:pPr marL="540000" indent="-285750">
              <a:buFont typeface="Wingdings" panose="05000000000000000000" pitchFamily="2" charset="2"/>
              <a:buChar char="ü"/>
            </a:pPr>
            <a:r>
              <a:rPr lang="zh-CN" altLang="en-US" sz="1400" dirty="0">
                <a:solidFill>
                  <a:srgbClr val="595959"/>
                </a:solidFill>
                <a:latin typeface="微软雅黑" panose="020B0503020204020204" pitchFamily="34" charset="-122"/>
                <a:ea typeface="微软雅黑" panose="020B0503020204020204" pitchFamily="34" charset="-122"/>
              </a:rPr>
              <a:t>知道函数内部通过 </a:t>
            </a:r>
            <a:r>
              <a:rPr lang="en-US" altLang="zh-CN" sz="1400" dirty="0">
                <a:solidFill>
                  <a:srgbClr val="595959"/>
                </a:solidFill>
                <a:latin typeface="微软雅黑" panose="020B0503020204020204" pitchFamily="34" charset="-122"/>
                <a:ea typeface="微软雅黑" panose="020B0503020204020204" pitchFamily="34" charset="-122"/>
              </a:rPr>
              <a:t>% </a:t>
            </a:r>
            <a:r>
              <a:rPr lang="zh-CN" altLang="en-US" sz="1400" dirty="0">
                <a:solidFill>
                  <a:srgbClr val="595959"/>
                </a:solidFill>
                <a:latin typeface="微软雅黑" panose="020B0503020204020204" pitchFamily="34" charset="-122"/>
                <a:ea typeface="微软雅黑" panose="020B0503020204020204" pitchFamily="34" charset="-122"/>
              </a:rPr>
              <a:t>运算来判断 → 设计测试 </a:t>
            </a:r>
            <a:r>
              <a:rPr lang="en-US" altLang="zh-CN" sz="1400" dirty="0">
                <a:solidFill>
                  <a:srgbClr val="595959"/>
                </a:solidFill>
                <a:latin typeface="微软雅黑" panose="020B0503020204020204" pitchFamily="34" charset="-122"/>
                <a:ea typeface="微软雅黑" panose="020B0503020204020204" pitchFamily="34" charset="-122"/>
              </a:rPr>
              <a:t>n = 2</a:t>
            </a:r>
            <a:r>
              <a:rPr lang="zh-CN" altLang="en-US" sz="1400" dirty="0">
                <a:solidFill>
                  <a:srgbClr val="595959"/>
                </a:solidFill>
                <a:latin typeface="微软雅黑" panose="020B0503020204020204" pitchFamily="34" charset="-122"/>
                <a:ea typeface="微软雅黑" panose="020B0503020204020204" pitchFamily="34" charset="-122"/>
              </a:rPr>
              <a:t>、</a:t>
            </a:r>
            <a:r>
              <a:rPr lang="en-US" altLang="zh-CN" sz="1400" dirty="0">
                <a:solidFill>
                  <a:srgbClr val="595959"/>
                </a:solidFill>
                <a:latin typeface="微软雅黑" panose="020B0503020204020204" pitchFamily="34" charset="-122"/>
                <a:ea typeface="微软雅黑" panose="020B0503020204020204" pitchFamily="34" charset="-122"/>
              </a:rPr>
              <a:t>n = -2</a:t>
            </a:r>
            <a:r>
              <a:rPr lang="zh-CN" altLang="en-US" sz="1400" dirty="0">
                <a:solidFill>
                  <a:srgbClr val="595959"/>
                </a:solidFill>
                <a:latin typeface="微软雅黑" panose="020B0503020204020204" pitchFamily="34" charset="-122"/>
                <a:ea typeface="微软雅黑" panose="020B0503020204020204" pitchFamily="34" charset="-122"/>
              </a:rPr>
              <a:t>，以检查对负数是否也正确处理。</a:t>
            </a:r>
            <a:endParaRPr lang="en-US" altLang="zh-CN" sz="1400" dirty="0">
              <a:solidFill>
                <a:srgbClr val="595959"/>
              </a:solidFill>
              <a:latin typeface="微软雅黑" panose="020B0503020204020204" pitchFamily="34" charset="-122"/>
              <a:ea typeface="微软雅黑" panose="020B0503020204020204" pitchFamily="34" charset="-122"/>
            </a:endParaRPr>
          </a:p>
          <a:p>
            <a:pPr marL="540000" indent="-285750">
              <a:buFont typeface="Wingdings" panose="05000000000000000000" pitchFamily="2" charset="2"/>
              <a:buChar char="ü"/>
            </a:pPr>
            <a:r>
              <a:rPr lang="zh-CN" altLang="en-US" sz="1400" dirty="0">
                <a:solidFill>
                  <a:srgbClr val="595959"/>
                </a:solidFill>
                <a:latin typeface="微软雅黑" panose="020B0503020204020204" pitchFamily="34" charset="-122"/>
                <a:ea typeface="微软雅黑" panose="020B0503020204020204" pitchFamily="34" charset="-122"/>
              </a:rPr>
              <a:t>知道函数返回布尔值 → 设计输入 </a:t>
            </a:r>
            <a:r>
              <a:rPr lang="en-US" altLang="zh-CN" sz="1400" dirty="0">
                <a:solidFill>
                  <a:srgbClr val="595959"/>
                </a:solidFill>
                <a:latin typeface="微软雅黑" panose="020B0503020204020204" pitchFamily="34" charset="-122"/>
                <a:ea typeface="微软雅黑" panose="020B0503020204020204" pitchFamily="34" charset="-122"/>
              </a:rPr>
              <a:t>1000000</a:t>
            </a:r>
            <a:r>
              <a:rPr lang="zh-CN" altLang="en-US" sz="1400" dirty="0">
                <a:solidFill>
                  <a:srgbClr val="595959"/>
                </a:solidFill>
                <a:latin typeface="微软雅黑" panose="020B0503020204020204" pitchFamily="34" charset="-122"/>
                <a:ea typeface="微软雅黑" panose="020B0503020204020204" pitchFamily="34" charset="-122"/>
              </a:rPr>
              <a:t>，验证大数时性能与正确性。</a:t>
            </a:r>
            <a:endParaRPr lang="en-US" altLang="zh-CN" sz="1400" dirty="0">
              <a:solidFill>
                <a:srgbClr val="595959"/>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dirty="0">
                <a:solidFill>
                  <a:srgbClr val="595959"/>
                </a:solidFill>
                <a:latin typeface="微软雅黑" panose="020B0503020204020204" pitchFamily="34" charset="-122"/>
                <a:ea typeface="微软雅黑" panose="020B0503020204020204" pitchFamily="34" charset="-122"/>
              </a:rPr>
              <a:t>特点：测试范围更广，兼顾用户视角与开发逻辑，常用于集成测试、系统测试阶段</a:t>
            </a:r>
          </a:p>
        </p:txBody>
      </p:sp>
      <p:sp>
        <p:nvSpPr>
          <p:cNvPr id="36" name="文本框 35">
            <a:extLst>
              <a:ext uri="{FF2B5EF4-FFF2-40B4-BE49-F238E27FC236}">
                <a16:creationId xmlns:a16="http://schemas.microsoft.com/office/drawing/2014/main" id="{CE11B23F-4EED-0851-C002-3FC8E69A5CCF}"/>
              </a:ext>
            </a:extLst>
          </p:cNvPr>
          <p:cNvSpPr txBox="1"/>
          <p:nvPr/>
        </p:nvSpPr>
        <p:spPr>
          <a:xfrm>
            <a:off x="191207" y="3429794"/>
            <a:ext cx="1008000" cy="307777"/>
          </a:xfrm>
          <a:prstGeom prst="rect">
            <a:avLst/>
          </a:prstGeom>
          <a:noFill/>
        </p:spPr>
        <p:txBody>
          <a:bodyPr wrap="square" rtlCol="0">
            <a:spAutoFit/>
          </a:bodyPr>
          <a:lstStyle/>
          <a:p>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rPr>
              <a:t>黑盒测试</a:t>
            </a:r>
          </a:p>
        </p:txBody>
      </p:sp>
      <p:sp>
        <p:nvSpPr>
          <p:cNvPr id="37" name="文本框 36">
            <a:extLst>
              <a:ext uri="{FF2B5EF4-FFF2-40B4-BE49-F238E27FC236}">
                <a16:creationId xmlns:a16="http://schemas.microsoft.com/office/drawing/2014/main" id="{2B34ACE6-5D14-C941-027C-FA7A7C497B62}"/>
              </a:ext>
            </a:extLst>
          </p:cNvPr>
          <p:cNvSpPr txBox="1"/>
          <p:nvPr/>
        </p:nvSpPr>
        <p:spPr>
          <a:xfrm>
            <a:off x="11010303" y="3429793"/>
            <a:ext cx="1008000" cy="307777"/>
          </a:xfrm>
          <a:prstGeom prst="rect">
            <a:avLst/>
          </a:prstGeom>
          <a:noFill/>
        </p:spPr>
        <p:txBody>
          <a:bodyPr wrap="square" rtlCol="0">
            <a:spAutoFit/>
          </a:bodyPr>
          <a:lstStyle/>
          <a:p>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rPr>
              <a:t>灰盒测试</a:t>
            </a:r>
          </a:p>
        </p:txBody>
      </p:sp>
      <p:sp>
        <p:nvSpPr>
          <p:cNvPr id="38" name="文本框 37">
            <a:extLst>
              <a:ext uri="{FF2B5EF4-FFF2-40B4-BE49-F238E27FC236}">
                <a16:creationId xmlns:a16="http://schemas.microsoft.com/office/drawing/2014/main" id="{E2EC8B88-11EF-3855-9E0B-63A95D8B7D60}"/>
              </a:ext>
            </a:extLst>
          </p:cNvPr>
          <p:cNvSpPr txBox="1"/>
          <p:nvPr/>
        </p:nvSpPr>
        <p:spPr>
          <a:xfrm>
            <a:off x="5490493" y="3805376"/>
            <a:ext cx="1008000" cy="307777"/>
          </a:xfrm>
          <a:prstGeom prst="rect">
            <a:avLst/>
          </a:prstGeom>
          <a:noFill/>
        </p:spPr>
        <p:txBody>
          <a:bodyPr wrap="square" rtlCol="0">
            <a:spAutoFit/>
          </a:bodyPr>
          <a:lstStyle/>
          <a:p>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rPr>
              <a:t>白盒测试</a:t>
            </a:r>
          </a:p>
        </p:txBody>
      </p:sp>
    </p:spTree>
    <p:extLst>
      <p:ext uri="{BB962C8B-B14F-4D97-AF65-F5344CB8AC3E}">
        <p14:creationId xmlns:p14="http://schemas.microsoft.com/office/powerpoint/2010/main" val="3275187815"/>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1.3.5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软件测试的分类</a:t>
            </a:r>
          </a:p>
        </p:txBody>
      </p:sp>
      <p:sp>
        <p:nvSpPr>
          <p:cNvPr id="30" name="文本框 29"/>
          <p:cNvSpPr txBox="1"/>
          <p:nvPr/>
        </p:nvSpPr>
        <p:spPr>
          <a:xfrm>
            <a:off x="1143635" y="981710"/>
            <a:ext cx="10060305" cy="1133475"/>
          </a:xfrm>
          <a:prstGeom prst="rect">
            <a:avLst/>
          </a:prstGeom>
          <a:noFill/>
        </p:spPr>
        <p:txBody>
          <a:bodyPr wrap="square" rtlCol="0" anchor="t">
            <a:noAutofit/>
          </a:bodyPr>
          <a:lstStyle/>
          <a:p>
            <a:pPr>
              <a:lnSpc>
                <a:spcPct val="150000"/>
              </a:lnSpc>
            </a:pPr>
            <a:r>
              <a:rPr lang="en-US" altLang="zh-CN" sz="2000" b="1" dirty="0">
                <a:solidFill>
                  <a:srgbClr val="595959"/>
                </a:solidFill>
                <a:latin typeface="微软雅黑" panose="020B0503020204020204" pitchFamily="34" charset="-122"/>
                <a:ea typeface="微软雅黑" panose="020B0503020204020204" pitchFamily="34" charset="-122"/>
                <a:sym typeface="+mn-ea"/>
              </a:rPr>
              <a:t>3. 按照软件质量特性分类</a:t>
            </a:r>
          </a:p>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sym typeface="+mn-ea"/>
              </a:rPr>
              <a:t>按照软件质量特性可以将软件测试分为</a:t>
            </a:r>
            <a:r>
              <a:rPr lang="en-US" altLang="zh-CN" sz="2000">
                <a:solidFill>
                  <a:srgbClr val="0070C0"/>
                </a:solidFill>
                <a:latin typeface="微软雅黑" panose="020B0503020204020204" pitchFamily="34" charset="-122"/>
                <a:ea typeface="微软雅黑" panose="020B0503020204020204" pitchFamily="34" charset="-122"/>
                <a:sym typeface="+mn-ea"/>
              </a:rPr>
              <a:t>功能测试</a:t>
            </a:r>
            <a:r>
              <a:rPr lang="zh-CN" altLang="en-US" sz="2000" dirty="0">
                <a:solidFill>
                  <a:srgbClr val="595959"/>
                </a:solidFill>
                <a:latin typeface="微软雅黑" panose="020B0503020204020204" pitchFamily="34" charset="-122"/>
                <a:ea typeface="微软雅黑" panose="020B0503020204020204" pitchFamily="34" charset="-122"/>
                <a:sym typeface="+mn-ea"/>
              </a:rPr>
              <a:t>和</a:t>
            </a:r>
            <a:r>
              <a:rPr lang="en-US" altLang="zh-CN" sz="2000">
                <a:solidFill>
                  <a:srgbClr val="0070C0"/>
                </a:solidFill>
                <a:latin typeface="微软雅黑" panose="020B0503020204020204" pitchFamily="34" charset="-122"/>
                <a:ea typeface="微软雅黑" panose="020B0503020204020204" pitchFamily="34" charset="-122"/>
                <a:sym typeface="+mn-ea"/>
              </a:rPr>
              <a:t>性能测试</a:t>
            </a:r>
            <a:r>
              <a:rPr lang="en-US" altLang="zh-CN" sz="2000" dirty="0">
                <a:solidFill>
                  <a:srgbClr val="595959"/>
                </a:solidFill>
                <a:latin typeface="微软雅黑" panose="020B0503020204020204" pitchFamily="34" charset="-122"/>
                <a:ea typeface="微软雅黑" panose="020B0503020204020204" pitchFamily="34" charset="-122"/>
                <a:sym typeface="+mn-ea"/>
              </a:rPr>
              <a:t>。	</a:t>
            </a: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a:t>
            </a:r>
          </a:p>
          <a:p>
            <a:pPr>
              <a:lnSpc>
                <a:spcPct val="150000"/>
              </a:lnSpc>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	</a:t>
            </a:r>
          </a:p>
          <a:p>
            <a:pPr>
              <a:lnSpc>
                <a:spcPct val="150000"/>
              </a:lnSpc>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	</a:t>
            </a:r>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 name="原创设计师QQ598969553          _3"/>
          <p:cNvSpPr/>
          <p:nvPr/>
        </p:nvSpPr>
        <p:spPr>
          <a:xfrm>
            <a:off x="1032038" y="2892741"/>
            <a:ext cx="4590014" cy="1475522"/>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原创设计师QQ598969553          _4"/>
          <p:cNvSpPr/>
          <p:nvPr/>
        </p:nvSpPr>
        <p:spPr>
          <a:xfrm>
            <a:off x="1317357" y="3216520"/>
            <a:ext cx="4019371" cy="1052596"/>
          </a:xfrm>
          <a:prstGeom prst="rect">
            <a:avLst/>
          </a:prstGeom>
        </p:spPr>
        <p:txBody>
          <a:bodyPr wrap="square">
            <a:spAutoFit/>
          </a:bodyPr>
          <a:lstStyle/>
          <a:p>
            <a:pPr algn="l">
              <a:lnSpc>
                <a:spcPct val="130000"/>
              </a:lnSpc>
            </a:pPr>
            <a:r>
              <a:rPr lang="zh-CN" altLang="en-US" sz="1600">
                <a:solidFill>
                  <a:srgbClr val="595959"/>
                </a:solidFill>
                <a:latin typeface="微软雅黑" panose="020B0503020204020204" pitchFamily="34" charset="-122"/>
                <a:ea typeface="微软雅黑" panose="020B0503020204020204" pitchFamily="34" charset="-122"/>
                <a:sym typeface="+mn-lt"/>
              </a:rPr>
              <a:t>功能测试是指</a:t>
            </a:r>
            <a:r>
              <a:rPr lang="zh-CN" altLang="en-US" sz="1600">
                <a:solidFill>
                  <a:srgbClr val="0070C0"/>
                </a:solidFill>
                <a:latin typeface="微软雅黑" panose="020B0503020204020204" pitchFamily="34" charset="-122"/>
                <a:ea typeface="微软雅黑" panose="020B0503020204020204" pitchFamily="34" charset="-122"/>
                <a:cs typeface="+mn-ea"/>
                <a:sym typeface="+mn-lt"/>
              </a:rPr>
              <a:t>测试</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软件的功能</a:t>
            </a:r>
            <a:r>
              <a:rPr lang="zh-CN" altLang="en-US" sz="1600">
                <a:solidFill>
                  <a:srgbClr val="0070C0"/>
                </a:solidFill>
                <a:latin typeface="微软雅黑" panose="020B0503020204020204" pitchFamily="34" charset="-122"/>
                <a:ea typeface="微软雅黑" panose="020B0503020204020204" pitchFamily="34" charset="-122"/>
                <a:cs typeface="+mn-ea"/>
                <a:sym typeface="+mn-lt"/>
              </a:rPr>
              <a:t>是否满足用户的</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需求</a:t>
            </a:r>
            <a:r>
              <a:rPr lang="zh-CN" altLang="en-US" sz="1600" dirty="0">
                <a:solidFill>
                  <a:srgbClr val="595959"/>
                </a:solidFill>
                <a:latin typeface="微软雅黑" panose="020B0503020204020204" pitchFamily="34" charset="-122"/>
                <a:ea typeface="微软雅黑" panose="020B0503020204020204" pitchFamily="34" charset="-122"/>
                <a:sym typeface="+mn-lt"/>
              </a:rPr>
              <a:t>，包括准确性、易用性、适合性、互操作性等。</a:t>
            </a:r>
          </a:p>
        </p:txBody>
      </p:sp>
      <p:sp>
        <p:nvSpPr>
          <p:cNvPr id="10" name="原创设计师QQ598969553          _5"/>
          <p:cNvSpPr/>
          <p:nvPr/>
        </p:nvSpPr>
        <p:spPr>
          <a:xfrm>
            <a:off x="6404132" y="2913684"/>
            <a:ext cx="4590014" cy="1475522"/>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原创设计师QQ598969553          _6"/>
          <p:cNvSpPr/>
          <p:nvPr/>
        </p:nvSpPr>
        <p:spPr>
          <a:xfrm>
            <a:off x="1687542" y="2658695"/>
            <a:ext cx="3279003" cy="462089"/>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51" rIns="182851" rtlCol="0" anchor="ctr"/>
          <a:lstStyle/>
          <a:p>
            <a:pPr algn="ctr" defTabSz="1450340">
              <a:lnSpc>
                <a:spcPct val="200000"/>
              </a:lnSpc>
            </a:pPr>
            <a:endParaRPr lang="zh-CN" altLang="en-US" sz="1200">
              <a:solidFill>
                <a:schemeClr val="bg1"/>
              </a:solidFill>
              <a:cs typeface="+mn-ea"/>
              <a:sym typeface="+mn-lt"/>
            </a:endParaRPr>
          </a:p>
        </p:txBody>
      </p:sp>
      <p:sp>
        <p:nvSpPr>
          <p:cNvPr id="12" name="原创设计师QQ598969553          _7"/>
          <p:cNvSpPr txBox="1"/>
          <p:nvPr/>
        </p:nvSpPr>
        <p:spPr>
          <a:xfrm>
            <a:off x="1918752" y="2708485"/>
            <a:ext cx="2797535" cy="400110"/>
          </a:xfrm>
          <a:prstGeom prst="rect">
            <a:avLst/>
          </a:prstGeom>
          <a:noFill/>
        </p:spPr>
        <p:txBody>
          <a:bodyPr wrap="square" rtlCol="0">
            <a:spAutoFit/>
          </a:bodyPr>
          <a:lstStyle/>
          <a:p>
            <a:pPr lvl="0" algn="ctr" defTabSz="1216660">
              <a:spcBef>
                <a:spcPct val="20000"/>
              </a:spcBef>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功能测试</a:t>
            </a:r>
          </a:p>
        </p:txBody>
      </p:sp>
      <p:sp>
        <p:nvSpPr>
          <p:cNvPr id="13" name="原创设计师QQ598969553          _8"/>
          <p:cNvSpPr/>
          <p:nvPr/>
        </p:nvSpPr>
        <p:spPr>
          <a:xfrm>
            <a:off x="7031067" y="2636828"/>
            <a:ext cx="3279003" cy="462089"/>
          </a:xfrm>
          <a:prstGeom prst="roundRect">
            <a:avLst/>
          </a:prstGeom>
          <a:solidFill>
            <a:srgbClr val="0070C0"/>
          </a:solidFill>
          <a:ln>
            <a:noFill/>
          </a:ln>
          <a:effectLst>
            <a:outerShdw blurRad="101600" dist="76200" dir="2700000" algn="tl" rotWithShape="0">
              <a:prstClr val="black">
                <a:alpha val="30000"/>
              </a:prstClr>
            </a:outerShdw>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22856" tIns="22856" rIns="22856" bIns="22856" numCol="1" spcCol="1270" anchor="ctr" anchorCtr="0">
            <a:noAutofit/>
          </a:bodyPr>
          <a:lstStyle/>
          <a:p>
            <a:pPr algn="ctr" defTabSz="266700">
              <a:lnSpc>
                <a:spcPct val="90000"/>
              </a:lnSpc>
              <a:spcBef>
                <a:spcPct val="0"/>
              </a:spcBef>
              <a:spcAft>
                <a:spcPct val="35000"/>
              </a:spcAft>
            </a:pPr>
            <a:endParaRPr lang="zh-CN" altLang="en-US" sz="800">
              <a:solidFill>
                <a:srgbClr val="FFFFFF"/>
              </a:solidFill>
              <a:latin typeface="Lato Light"/>
              <a:cs typeface="Lato Light"/>
              <a:sym typeface="+mn-lt"/>
            </a:endParaRPr>
          </a:p>
        </p:txBody>
      </p:sp>
      <p:sp>
        <p:nvSpPr>
          <p:cNvPr id="14" name="原创设计师QQ598969553          _9"/>
          <p:cNvSpPr txBox="1"/>
          <p:nvPr/>
        </p:nvSpPr>
        <p:spPr>
          <a:xfrm>
            <a:off x="7271800" y="2663657"/>
            <a:ext cx="2797535" cy="400110"/>
          </a:xfrm>
          <a:prstGeom prst="rect">
            <a:avLst/>
          </a:prstGeom>
          <a:noFill/>
        </p:spPr>
        <p:txBody>
          <a:bodyPr wrap="square" rtlCol="0">
            <a:spAutoFit/>
          </a:bodyPr>
          <a:lstStyle/>
          <a:p>
            <a:pPr lvl="0" algn="ctr" defTabSz="1216660">
              <a:spcBef>
                <a:spcPct val="20000"/>
              </a:spcBef>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性能测试</a:t>
            </a:r>
          </a:p>
        </p:txBody>
      </p:sp>
      <p:sp>
        <p:nvSpPr>
          <p:cNvPr id="15" name="原创设计师QQ598969553          _10"/>
          <p:cNvSpPr/>
          <p:nvPr/>
        </p:nvSpPr>
        <p:spPr>
          <a:xfrm>
            <a:off x="6455206" y="3173318"/>
            <a:ext cx="4580208" cy="1052596"/>
          </a:xfrm>
          <a:prstGeom prst="rect">
            <a:avLst/>
          </a:prstGeom>
        </p:spPr>
        <p:txBody>
          <a:bodyPr wrap="square">
            <a:spAutoFit/>
          </a:bodyPr>
          <a:lstStyle/>
          <a:p>
            <a:pPr lvl="0" algn="l">
              <a:lnSpc>
                <a:spcPct val="130000"/>
              </a:lnSpc>
            </a:pPr>
            <a:r>
              <a:rPr lang="zh-CN" altLang="en-US" sz="1600" dirty="0">
                <a:solidFill>
                  <a:srgbClr val="595959"/>
                </a:solidFill>
                <a:latin typeface="微软雅黑" panose="020B0503020204020204" pitchFamily="34" charset="-122"/>
                <a:ea typeface="微软雅黑" panose="020B0503020204020204" pitchFamily="34" charset="-122"/>
                <a:sym typeface="+mn-lt"/>
              </a:rPr>
              <a:t>性能</a:t>
            </a:r>
            <a:r>
              <a:rPr lang="zh-CN" altLang="en-US" sz="1600">
                <a:solidFill>
                  <a:srgbClr val="595959"/>
                </a:solidFill>
                <a:latin typeface="微软雅黑" panose="020B0503020204020204" pitchFamily="34" charset="-122"/>
                <a:ea typeface="微软雅黑" panose="020B0503020204020204" pitchFamily="34" charset="-122"/>
                <a:sym typeface="+mn-lt"/>
              </a:rPr>
              <a:t>测试是指</a:t>
            </a:r>
            <a:r>
              <a:rPr lang="zh-CN" altLang="en-US" sz="1600">
                <a:solidFill>
                  <a:srgbClr val="0070C0"/>
                </a:solidFill>
                <a:latin typeface="微软雅黑" panose="020B0503020204020204" pitchFamily="34" charset="-122"/>
                <a:ea typeface="微软雅黑" panose="020B0503020204020204" pitchFamily="34" charset="-122"/>
                <a:cs typeface="+mn-ea"/>
                <a:sym typeface="+mn-lt"/>
              </a:rPr>
              <a:t>测试</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软件的性能</a:t>
            </a:r>
            <a:r>
              <a:rPr lang="zh-CN" altLang="en-US" sz="1600">
                <a:solidFill>
                  <a:srgbClr val="0070C0"/>
                </a:solidFill>
                <a:latin typeface="微软雅黑" panose="020B0503020204020204" pitchFamily="34" charset="-122"/>
                <a:ea typeface="微软雅黑" panose="020B0503020204020204" pitchFamily="34" charset="-122"/>
                <a:cs typeface="+mn-ea"/>
                <a:sym typeface="+mn-lt"/>
              </a:rPr>
              <a:t>是否满足用户的</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需求</a:t>
            </a:r>
            <a:r>
              <a:rPr lang="zh-CN" altLang="en-US" sz="1600" dirty="0">
                <a:solidFill>
                  <a:srgbClr val="595959"/>
                </a:solidFill>
                <a:latin typeface="微软雅黑" panose="020B0503020204020204" pitchFamily="34" charset="-122"/>
                <a:ea typeface="微软雅黑" panose="020B0503020204020204" pitchFamily="34" charset="-122"/>
                <a:sym typeface="+mn-lt"/>
              </a:rPr>
              <a:t>，包括负载测试、压力测试、兼容性测试、可移植性测试和健壮性测试等。</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1.3.5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软件测试的分类</a:t>
            </a:r>
          </a:p>
        </p:txBody>
      </p:sp>
      <p:sp>
        <p:nvSpPr>
          <p:cNvPr id="30" name="文本框 29"/>
          <p:cNvSpPr txBox="1"/>
          <p:nvPr/>
        </p:nvSpPr>
        <p:spPr>
          <a:xfrm>
            <a:off x="1143635" y="981710"/>
            <a:ext cx="10060305" cy="1133475"/>
          </a:xfrm>
          <a:prstGeom prst="rect">
            <a:avLst/>
          </a:prstGeom>
          <a:noFill/>
        </p:spPr>
        <p:txBody>
          <a:bodyPr wrap="square" rtlCol="0" anchor="t">
            <a:noAutofit/>
          </a:bodyPr>
          <a:lstStyle/>
          <a:p>
            <a:pPr>
              <a:lnSpc>
                <a:spcPct val="150000"/>
              </a:lnSpc>
            </a:pPr>
            <a:r>
              <a:rPr lang="en-US" altLang="zh-CN" sz="2000" b="1" dirty="0">
                <a:solidFill>
                  <a:srgbClr val="595959"/>
                </a:solidFill>
                <a:latin typeface="微软雅黑" panose="020B0503020204020204" pitchFamily="34" charset="-122"/>
                <a:ea typeface="微软雅黑" panose="020B0503020204020204" pitchFamily="34" charset="-122"/>
                <a:sym typeface="+mn-ea"/>
              </a:rPr>
              <a:t>4. 按照自动化程度分类</a:t>
            </a:r>
          </a:p>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sym typeface="+mn-ea"/>
              </a:rPr>
              <a:t>按照自动化程度可以将软件测试分为</a:t>
            </a:r>
            <a:r>
              <a:rPr lang="en-US" altLang="zh-CN" sz="2000">
                <a:solidFill>
                  <a:srgbClr val="0070C0"/>
                </a:solidFill>
                <a:latin typeface="微软雅黑" panose="020B0503020204020204" pitchFamily="34" charset="-122"/>
                <a:ea typeface="微软雅黑" panose="020B0503020204020204" pitchFamily="34" charset="-122"/>
                <a:sym typeface="+mn-ea"/>
              </a:rPr>
              <a:t>手工测试</a:t>
            </a:r>
            <a:r>
              <a:rPr lang="zh-CN" altLang="en-US" sz="2000">
                <a:solidFill>
                  <a:srgbClr val="595959"/>
                </a:solidFill>
                <a:latin typeface="微软雅黑" panose="020B0503020204020204" pitchFamily="34" charset="-122"/>
                <a:ea typeface="微软雅黑" panose="020B0503020204020204" pitchFamily="34" charset="-122"/>
                <a:sym typeface="+mn-ea"/>
              </a:rPr>
              <a:t>和</a:t>
            </a:r>
            <a:r>
              <a:rPr lang="en-US" altLang="zh-CN" sz="2000">
                <a:solidFill>
                  <a:srgbClr val="0070C0"/>
                </a:solidFill>
                <a:latin typeface="微软雅黑" panose="020B0503020204020204" pitchFamily="34" charset="-122"/>
                <a:ea typeface="微软雅黑" panose="020B0503020204020204" pitchFamily="34" charset="-122"/>
                <a:sym typeface="+mn-ea"/>
              </a:rPr>
              <a:t>自动化测试</a:t>
            </a:r>
            <a:r>
              <a:rPr lang="en-US" altLang="zh-CN" sz="2000" dirty="0">
                <a:solidFill>
                  <a:srgbClr val="595959"/>
                </a:solidFill>
                <a:latin typeface="微软雅黑" panose="020B0503020204020204" pitchFamily="34" charset="-122"/>
                <a:ea typeface="微软雅黑" panose="020B0503020204020204" pitchFamily="34" charset="-122"/>
                <a:sym typeface="+mn-ea"/>
              </a:rPr>
              <a:t>。	</a:t>
            </a: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a:t>
            </a:r>
          </a:p>
          <a:p>
            <a:pPr>
              <a:lnSpc>
                <a:spcPct val="150000"/>
              </a:lnSpc>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	</a:t>
            </a:r>
          </a:p>
          <a:p>
            <a:pPr>
              <a:lnSpc>
                <a:spcPct val="150000"/>
              </a:lnSpc>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	</a:t>
            </a:r>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 name="原创设计师QQ598969553          _3"/>
          <p:cNvSpPr/>
          <p:nvPr/>
        </p:nvSpPr>
        <p:spPr>
          <a:xfrm>
            <a:off x="1031875" y="2892425"/>
            <a:ext cx="4589780" cy="174752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原创设计师QQ598969553          _4"/>
          <p:cNvSpPr/>
          <p:nvPr/>
        </p:nvSpPr>
        <p:spPr>
          <a:xfrm>
            <a:off x="1365081" y="3242275"/>
            <a:ext cx="3923367" cy="1372683"/>
          </a:xfrm>
          <a:prstGeom prst="rect">
            <a:avLst/>
          </a:prstGeom>
        </p:spPr>
        <p:txBody>
          <a:bodyPr wrap="square">
            <a:spAutoFit/>
          </a:bodyPr>
          <a:lstStyle/>
          <a:p>
            <a:pPr algn="l">
              <a:lnSpc>
                <a:spcPct val="13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sym typeface="+mn-lt"/>
              </a:rPr>
              <a:t>手工测试是</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测试人员编写与执行测试用例的过程</a:t>
            </a:r>
            <a:r>
              <a:rPr lang="zh-CN" altLang="en-US" sz="1600" dirty="0">
                <a:solidFill>
                  <a:srgbClr val="595959"/>
                </a:solidFill>
                <a:latin typeface="微软雅黑" panose="020B0503020204020204" pitchFamily="34" charset="-122"/>
                <a:ea typeface="微软雅黑" panose="020B0503020204020204" pitchFamily="34" charset="-122"/>
                <a:sym typeface="+mn-lt"/>
              </a:rPr>
              <a:t>。手工测试</a:t>
            </a:r>
            <a:r>
              <a:rPr lang="zh-CN" altLang="en-US" sz="1600">
                <a:solidFill>
                  <a:srgbClr val="595959"/>
                </a:solidFill>
                <a:latin typeface="微软雅黑" panose="020B0503020204020204" pitchFamily="34" charset="-122"/>
                <a:ea typeface="微软雅黑" panose="020B0503020204020204" pitchFamily="34" charset="-122"/>
                <a:sym typeface="+mn-lt"/>
              </a:rPr>
              <a:t>比较</a:t>
            </a:r>
            <a:r>
              <a:rPr lang="zh-CN" altLang="en-US" sz="1600">
                <a:solidFill>
                  <a:srgbClr val="0070C0"/>
                </a:solidFill>
                <a:latin typeface="微软雅黑" panose="020B0503020204020204" pitchFamily="34" charset="-122"/>
                <a:ea typeface="微软雅黑" panose="020B0503020204020204" pitchFamily="34" charset="-122"/>
                <a:cs typeface="+mn-ea"/>
                <a:sym typeface="+mn-lt"/>
              </a:rPr>
              <a:t>耗时、费力</a:t>
            </a:r>
            <a:r>
              <a:rPr lang="zh-CN" altLang="en-US" sz="1600" dirty="0">
                <a:solidFill>
                  <a:srgbClr val="595959"/>
                </a:solidFill>
                <a:latin typeface="微软雅黑" panose="020B0503020204020204" pitchFamily="34" charset="-122"/>
                <a:ea typeface="微软雅黑" panose="020B0503020204020204" pitchFamily="34" charset="-122"/>
                <a:sym typeface="+mn-lt"/>
              </a:rPr>
              <a:t>，而且测试人员如果在疲惫状态下，很难保证测试的效果。</a:t>
            </a:r>
          </a:p>
        </p:txBody>
      </p:sp>
      <p:sp>
        <p:nvSpPr>
          <p:cNvPr id="10" name="原创设计师QQ598969553          _5"/>
          <p:cNvSpPr/>
          <p:nvPr/>
        </p:nvSpPr>
        <p:spPr>
          <a:xfrm>
            <a:off x="6375400" y="2829560"/>
            <a:ext cx="4589780" cy="1810385"/>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原创设计师QQ598969553          _6"/>
          <p:cNvSpPr/>
          <p:nvPr/>
        </p:nvSpPr>
        <p:spPr>
          <a:xfrm>
            <a:off x="1687542" y="2658695"/>
            <a:ext cx="3279003" cy="462089"/>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51" rIns="182851" rtlCol="0" anchor="ctr"/>
          <a:lstStyle/>
          <a:p>
            <a:pPr algn="ctr" defTabSz="1450340">
              <a:lnSpc>
                <a:spcPct val="200000"/>
              </a:lnSpc>
            </a:pPr>
            <a:endParaRPr lang="zh-CN" altLang="en-US" sz="1200">
              <a:solidFill>
                <a:schemeClr val="bg1"/>
              </a:solidFill>
              <a:cs typeface="+mn-ea"/>
              <a:sym typeface="+mn-lt"/>
            </a:endParaRPr>
          </a:p>
        </p:txBody>
      </p:sp>
      <p:sp>
        <p:nvSpPr>
          <p:cNvPr id="12" name="原创设计师QQ598969553          _7"/>
          <p:cNvSpPr txBox="1"/>
          <p:nvPr/>
        </p:nvSpPr>
        <p:spPr>
          <a:xfrm>
            <a:off x="1918752" y="2708485"/>
            <a:ext cx="2797535" cy="400110"/>
          </a:xfrm>
          <a:prstGeom prst="rect">
            <a:avLst/>
          </a:prstGeom>
          <a:noFill/>
        </p:spPr>
        <p:txBody>
          <a:bodyPr wrap="square" rtlCol="0">
            <a:spAutoFit/>
          </a:bodyPr>
          <a:lstStyle/>
          <a:p>
            <a:pPr lvl="0" algn="ctr" defTabSz="1216660">
              <a:spcBef>
                <a:spcPct val="20000"/>
              </a:spcBef>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手工测试</a:t>
            </a:r>
          </a:p>
        </p:txBody>
      </p:sp>
      <p:sp>
        <p:nvSpPr>
          <p:cNvPr id="13" name="原创设计师QQ598969553          _8"/>
          <p:cNvSpPr/>
          <p:nvPr/>
        </p:nvSpPr>
        <p:spPr>
          <a:xfrm>
            <a:off x="7031067" y="2636828"/>
            <a:ext cx="3279003" cy="462089"/>
          </a:xfrm>
          <a:prstGeom prst="roundRect">
            <a:avLst/>
          </a:prstGeom>
          <a:solidFill>
            <a:srgbClr val="0070C0"/>
          </a:solidFill>
          <a:ln>
            <a:noFill/>
          </a:ln>
          <a:effectLst>
            <a:outerShdw blurRad="101600" dist="76200" dir="2700000" algn="tl" rotWithShape="0">
              <a:prstClr val="black">
                <a:alpha val="30000"/>
              </a:prstClr>
            </a:outerShdw>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22856" tIns="22856" rIns="22856" bIns="22856" numCol="1" spcCol="1270" anchor="ctr" anchorCtr="0">
            <a:noAutofit/>
          </a:bodyPr>
          <a:lstStyle/>
          <a:p>
            <a:pPr algn="ctr" defTabSz="266700">
              <a:lnSpc>
                <a:spcPct val="90000"/>
              </a:lnSpc>
              <a:spcBef>
                <a:spcPct val="0"/>
              </a:spcBef>
              <a:spcAft>
                <a:spcPct val="35000"/>
              </a:spcAft>
            </a:pPr>
            <a:endParaRPr lang="zh-CN" altLang="en-US" sz="800">
              <a:solidFill>
                <a:srgbClr val="FFFFFF"/>
              </a:solidFill>
              <a:latin typeface="Lato Light"/>
              <a:cs typeface="Lato Light"/>
              <a:sym typeface="+mn-lt"/>
            </a:endParaRPr>
          </a:p>
        </p:txBody>
      </p:sp>
      <p:sp>
        <p:nvSpPr>
          <p:cNvPr id="14" name="原创设计师QQ598969553          _9"/>
          <p:cNvSpPr txBox="1"/>
          <p:nvPr/>
        </p:nvSpPr>
        <p:spPr>
          <a:xfrm>
            <a:off x="7243230" y="2689098"/>
            <a:ext cx="2797535" cy="400110"/>
          </a:xfrm>
          <a:prstGeom prst="rect">
            <a:avLst/>
          </a:prstGeom>
          <a:noFill/>
        </p:spPr>
        <p:txBody>
          <a:bodyPr wrap="square" rtlCol="0">
            <a:spAutoFit/>
          </a:bodyPr>
          <a:lstStyle/>
          <a:p>
            <a:pPr lvl="0" algn="ctr" defTabSz="1216660">
              <a:spcBef>
                <a:spcPct val="20000"/>
              </a:spcBef>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自动化测试</a:t>
            </a:r>
          </a:p>
        </p:txBody>
      </p:sp>
      <p:sp>
        <p:nvSpPr>
          <p:cNvPr id="15" name="原创设计师QQ598969553          _10"/>
          <p:cNvSpPr/>
          <p:nvPr/>
        </p:nvSpPr>
        <p:spPr>
          <a:xfrm>
            <a:off x="6708886" y="3227161"/>
            <a:ext cx="4066320" cy="1387797"/>
          </a:xfrm>
          <a:prstGeom prst="rect">
            <a:avLst/>
          </a:prstGeom>
        </p:spPr>
        <p:txBody>
          <a:bodyPr wrap="square">
            <a:spAutoFit/>
          </a:bodyPr>
          <a:lstStyle/>
          <a:p>
            <a:pPr lvl="0" algn="l">
              <a:lnSpc>
                <a:spcPct val="130000"/>
              </a:lnSpc>
            </a:pPr>
            <a:r>
              <a:rPr lang="zh-CN" altLang="en-US" sz="1600" dirty="0">
                <a:solidFill>
                  <a:srgbClr val="595959"/>
                </a:solidFill>
                <a:latin typeface="微软雅黑" panose="020B0503020204020204" pitchFamily="34" charset="-122"/>
                <a:ea typeface="微软雅黑" panose="020B0503020204020204" pitchFamily="34" charset="-122"/>
                <a:sym typeface="+mn-lt"/>
              </a:rPr>
              <a:t>自动化</a:t>
            </a:r>
            <a:r>
              <a:rPr lang="zh-CN" altLang="en-US" sz="1600">
                <a:solidFill>
                  <a:srgbClr val="595959"/>
                </a:solidFill>
                <a:latin typeface="微软雅黑" panose="020B0503020204020204" pitchFamily="34" charset="-122"/>
                <a:ea typeface="微软雅黑" panose="020B0503020204020204" pitchFamily="34" charset="-122"/>
                <a:sym typeface="+mn-lt"/>
              </a:rPr>
              <a:t>测试是指</a:t>
            </a:r>
            <a:r>
              <a:rPr lang="zh-CN" altLang="en-US" sz="1600">
                <a:solidFill>
                  <a:srgbClr val="0070C0"/>
                </a:solidFill>
                <a:latin typeface="微软雅黑" panose="020B0503020204020204" pitchFamily="34" charset="-122"/>
                <a:ea typeface="微软雅黑" panose="020B0503020204020204" pitchFamily="34" charset="-122"/>
                <a:cs typeface="+mn-ea"/>
                <a:sym typeface="+mn-lt"/>
              </a:rPr>
              <a:t>借助</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脚本、自动化测试工具等完成相应的测试工作</a:t>
            </a:r>
            <a:r>
              <a:rPr lang="zh-CN" altLang="en-US" sz="1600" dirty="0">
                <a:solidFill>
                  <a:srgbClr val="595959"/>
                </a:solidFill>
                <a:latin typeface="微软雅黑" panose="020B0503020204020204" pitchFamily="34" charset="-122"/>
                <a:ea typeface="微软雅黑" panose="020B0503020204020204" pitchFamily="34" charset="-122"/>
                <a:sym typeface="+mn-lt"/>
              </a:rPr>
              <a:t>，它</a:t>
            </a:r>
            <a:r>
              <a:rPr lang="zh-CN" altLang="en-US" sz="1600" dirty="0">
                <a:solidFill>
                  <a:srgbClr val="0070C0"/>
                </a:solidFill>
                <a:latin typeface="微软雅黑" panose="020B0503020204020204" pitchFamily="34" charset="-122"/>
                <a:ea typeface="微软雅黑" panose="020B0503020204020204" pitchFamily="34" charset="-122"/>
                <a:cs typeface="+mn-ea"/>
                <a:sym typeface="+mn-lt"/>
              </a:rPr>
              <a:t>也需要人工的参与</a:t>
            </a:r>
            <a:r>
              <a:rPr lang="zh-CN" altLang="en-US" sz="1600" dirty="0">
                <a:solidFill>
                  <a:srgbClr val="595959"/>
                </a:solidFill>
                <a:latin typeface="微软雅黑" panose="020B0503020204020204" pitchFamily="34" charset="-122"/>
                <a:ea typeface="微软雅黑" panose="020B0503020204020204" pitchFamily="34" charset="-122"/>
                <a:sym typeface="+mn-lt"/>
              </a:rPr>
              <a:t>，但是它可以将要执行的测试代码或流程写成</a:t>
            </a:r>
            <a:r>
              <a:rPr lang="zh-CN" altLang="en-US" sz="1600">
                <a:solidFill>
                  <a:srgbClr val="595959"/>
                </a:solidFill>
                <a:latin typeface="微软雅黑" panose="020B0503020204020204" pitchFamily="34" charset="-122"/>
                <a:ea typeface="微软雅黑" panose="020B0503020204020204" pitchFamily="34" charset="-122"/>
                <a:sym typeface="+mn-lt"/>
              </a:rPr>
              <a:t>脚本，通过执行</a:t>
            </a:r>
            <a:r>
              <a:rPr lang="zh-CN" altLang="en-US" sz="1600" dirty="0">
                <a:solidFill>
                  <a:srgbClr val="595959"/>
                </a:solidFill>
                <a:latin typeface="微软雅黑" panose="020B0503020204020204" pitchFamily="34" charset="-122"/>
                <a:ea typeface="微软雅黑" panose="020B0503020204020204" pitchFamily="34" charset="-122"/>
                <a:sym typeface="+mn-lt"/>
              </a:rPr>
              <a:t>脚本完成整个测试工作。</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1.3.5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软件测试的分类</a:t>
            </a:r>
          </a:p>
        </p:txBody>
      </p:sp>
      <p:sp>
        <p:nvSpPr>
          <p:cNvPr id="36" name="矩形: 剪去单角 444"/>
          <p:cNvSpPr/>
          <p:nvPr/>
        </p:nvSpPr>
        <p:spPr bwMode="auto">
          <a:xfrm>
            <a:off x="4582977" y="2566462"/>
            <a:ext cx="2981552" cy="3780000"/>
          </a:xfrm>
          <a:prstGeom prst="snip1Rect">
            <a:avLst>
              <a:gd name="adj" fmla="val 29383"/>
            </a:avLst>
          </a:prstGeom>
          <a:solidFill>
            <a:srgbClr val="F6F6F6"/>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latin typeface="微软雅黑" panose="020B0503020204020204" pitchFamily="34" charset="-122"/>
              <a:ea typeface="微软雅黑" panose="020B0503020204020204" pitchFamily="34" charset="-122"/>
              <a:sym typeface="Arial" panose="020B0604020202020204"/>
            </a:endParaRPr>
          </a:p>
        </p:txBody>
      </p:sp>
      <p:sp>
        <p:nvSpPr>
          <p:cNvPr id="37" name="矩形 45"/>
          <p:cNvSpPr>
            <a:spLocks noChangeArrowheads="1"/>
          </p:cNvSpPr>
          <p:nvPr/>
        </p:nvSpPr>
        <p:spPr bwMode="auto">
          <a:xfrm>
            <a:off x="4582766" y="6178074"/>
            <a:ext cx="2981973" cy="137828"/>
          </a:xfrm>
          <a:prstGeom prst="rect">
            <a:avLst/>
          </a:prstGeom>
          <a:solidFill>
            <a:srgbClr val="0070C0"/>
          </a:solidFill>
          <a:ln>
            <a:noFill/>
          </a:ln>
        </p:spPr>
        <p:txBody>
          <a:bodyPr anchor="ctr"/>
          <a:lstStyle/>
          <a:p>
            <a:pPr algn="ctr"/>
            <a:endParaRPr lang="zh-CN" altLang="zh-CN">
              <a:latin typeface="微软雅黑" panose="020B0503020204020204" pitchFamily="34" charset="-122"/>
              <a:ea typeface="微软雅黑" panose="020B0503020204020204" pitchFamily="34" charset="-122"/>
              <a:sym typeface="Arial" panose="020B0604020202020204" pitchFamily="34" charset="0"/>
            </a:endParaRPr>
          </a:p>
        </p:txBody>
      </p:sp>
      <p:sp>
        <p:nvSpPr>
          <p:cNvPr id="38" name="任意多边形: 形状 445"/>
          <p:cNvSpPr/>
          <p:nvPr/>
        </p:nvSpPr>
        <p:spPr bwMode="auto">
          <a:xfrm>
            <a:off x="6812401" y="2566462"/>
            <a:ext cx="752339" cy="805587"/>
          </a:xfrm>
          <a:custGeom>
            <a:avLst/>
            <a:gdLst>
              <a:gd name="T0" fmla="*/ 719975 w 608"/>
              <a:gd name="T1" fmla="*/ 0 h 608"/>
              <a:gd name="T2" fmla="*/ 0 w 608"/>
              <a:gd name="T3" fmla="*/ 0 h 608"/>
              <a:gd name="T4" fmla="*/ 719975 w 608"/>
              <a:gd name="T5" fmla="*/ 719975 h 608"/>
              <a:gd name="T6" fmla="*/ 719975 w 608"/>
              <a:gd name="T7" fmla="*/ 0 h 608"/>
              <a:gd name="T8" fmla="*/ 0 60000 65536"/>
              <a:gd name="T9" fmla="*/ 0 60000 65536"/>
              <a:gd name="T10" fmla="*/ 0 60000 65536"/>
              <a:gd name="T11" fmla="*/ 0 60000 65536"/>
              <a:gd name="T12" fmla="*/ 0 w 608"/>
              <a:gd name="T13" fmla="*/ 0 h 608"/>
              <a:gd name="T14" fmla="*/ 608 w 608"/>
              <a:gd name="T15" fmla="*/ 608 h 608"/>
            </a:gdLst>
            <a:ahLst/>
            <a:cxnLst>
              <a:cxn ang="T8">
                <a:pos x="T0" y="T1"/>
              </a:cxn>
              <a:cxn ang="T9">
                <a:pos x="T2" y="T3"/>
              </a:cxn>
              <a:cxn ang="T10">
                <a:pos x="T4" y="T5"/>
              </a:cxn>
              <a:cxn ang="T11">
                <a:pos x="T6" y="T7"/>
              </a:cxn>
            </a:cxnLst>
            <a:rect l="T12" t="T13" r="T14" b="T15"/>
            <a:pathLst>
              <a:path w="608" h="608">
                <a:moveTo>
                  <a:pt x="608" y="0"/>
                </a:moveTo>
                <a:lnTo>
                  <a:pt x="0" y="0"/>
                </a:lnTo>
                <a:lnTo>
                  <a:pt x="608" y="608"/>
                </a:lnTo>
                <a:lnTo>
                  <a:pt x="608" y="0"/>
                </a:lnTo>
                <a:close/>
              </a:path>
            </a:pathLst>
          </a:custGeom>
          <a:solidFill>
            <a:srgbClr val="0070C0"/>
          </a:solidFill>
          <a:ln>
            <a:noFill/>
          </a:ln>
        </p:spPr>
        <p:txBody>
          <a:bodyPr lIns="121900" tIns="60950" rIns="121900" bIns="60950"/>
          <a:lstStyle/>
          <a:p>
            <a:pPr algn="r"/>
            <a:r>
              <a:rPr lang="en-US" altLang="zh-CN" sz="1600" b="1">
                <a:solidFill>
                  <a:schemeClr val="bg1"/>
                </a:solidFill>
                <a:latin typeface="微软雅黑" panose="020B0503020204020204" pitchFamily="34" charset="-122"/>
                <a:ea typeface="微软雅黑" panose="020B0503020204020204" pitchFamily="34" charset="-122"/>
                <a:sym typeface="Arial" panose="020B0604020202020204" pitchFamily="34" charset="0"/>
              </a:rPr>
              <a:t>2</a:t>
            </a:r>
          </a:p>
        </p:txBody>
      </p:sp>
      <p:sp>
        <p:nvSpPr>
          <p:cNvPr id="39" name="矩形: 剪去单角 437"/>
          <p:cNvSpPr/>
          <p:nvPr/>
        </p:nvSpPr>
        <p:spPr bwMode="auto">
          <a:xfrm>
            <a:off x="1121501" y="2566462"/>
            <a:ext cx="2981552" cy="3780000"/>
          </a:xfrm>
          <a:prstGeom prst="snip1Rect">
            <a:avLst>
              <a:gd name="adj" fmla="val 29383"/>
            </a:avLst>
          </a:prstGeom>
          <a:solidFill>
            <a:srgbClr val="F6F6F6"/>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latin typeface="微软雅黑" panose="020B0503020204020204" pitchFamily="34" charset="-122"/>
              <a:ea typeface="微软雅黑" panose="020B0503020204020204" pitchFamily="34" charset="-122"/>
              <a:sym typeface="Arial" panose="020B0604020202020204"/>
            </a:endParaRPr>
          </a:p>
        </p:txBody>
      </p:sp>
      <p:sp>
        <p:nvSpPr>
          <p:cNvPr id="40" name="矩形 42"/>
          <p:cNvSpPr>
            <a:spLocks noChangeArrowheads="1"/>
          </p:cNvSpPr>
          <p:nvPr/>
        </p:nvSpPr>
        <p:spPr bwMode="auto">
          <a:xfrm>
            <a:off x="1121502" y="6196489"/>
            <a:ext cx="2981973" cy="137828"/>
          </a:xfrm>
          <a:prstGeom prst="rect">
            <a:avLst/>
          </a:prstGeom>
          <a:solidFill>
            <a:srgbClr val="0070C0"/>
          </a:solidFill>
          <a:ln>
            <a:noFill/>
          </a:ln>
        </p:spPr>
        <p:txBody>
          <a:bodyPr anchor="ctr"/>
          <a:lstStyle/>
          <a:p>
            <a:pPr algn="ctr"/>
            <a:endParaRPr lang="zh-CN" altLang="zh-CN">
              <a:latin typeface="微软雅黑" panose="020B0503020204020204" pitchFamily="34" charset="-122"/>
              <a:ea typeface="微软雅黑" panose="020B0503020204020204" pitchFamily="34" charset="-122"/>
              <a:sym typeface="Arial" panose="020B0604020202020204" pitchFamily="34" charset="0"/>
            </a:endParaRPr>
          </a:p>
        </p:txBody>
      </p:sp>
      <p:sp>
        <p:nvSpPr>
          <p:cNvPr id="41" name="任意多边形: 形状 438"/>
          <p:cNvSpPr/>
          <p:nvPr/>
        </p:nvSpPr>
        <p:spPr bwMode="auto">
          <a:xfrm>
            <a:off x="3351137" y="2566462"/>
            <a:ext cx="752339" cy="805587"/>
          </a:xfrm>
          <a:custGeom>
            <a:avLst/>
            <a:gdLst>
              <a:gd name="T0" fmla="*/ 631242 w 608"/>
              <a:gd name="T1" fmla="*/ 0 h 608"/>
              <a:gd name="T2" fmla="*/ 0 w 608"/>
              <a:gd name="T3" fmla="*/ 0 h 608"/>
              <a:gd name="T4" fmla="*/ 631242 w 608"/>
              <a:gd name="T5" fmla="*/ 631242 h 608"/>
              <a:gd name="T6" fmla="*/ 631242 w 608"/>
              <a:gd name="T7" fmla="*/ 0 h 608"/>
              <a:gd name="T8" fmla="*/ 0 60000 65536"/>
              <a:gd name="T9" fmla="*/ 0 60000 65536"/>
              <a:gd name="T10" fmla="*/ 0 60000 65536"/>
              <a:gd name="T11" fmla="*/ 0 60000 65536"/>
              <a:gd name="T12" fmla="*/ 0 w 608"/>
              <a:gd name="T13" fmla="*/ 0 h 608"/>
              <a:gd name="T14" fmla="*/ 608 w 608"/>
              <a:gd name="T15" fmla="*/ 608 h 608"/>
            </a:gdLst>
            <a:ahLst/>
            <a:cxnLst>
              <a:cxn ang="T8">
                <a:pos x="T0" y="T1"/>
              </a:cxn>
              <a:cxn ang="T9">
                <a:pos x="T2" y="T3"/>
              </a:cxn>
              <a:cxn ang="T10">
                <a:pos x="T4" y="T5"/>
              </a:cxn>
              <a:cxn ang="T11">
                <a:pos x="T6" y="T7"/>
              </a:cxn>
            </a:cxnLst>
            <a:rect l="T12" t="T13" r="T14" b="T15"/>
            <a:pathLst>
              <a:path w="608" h="608">
                <a:moveTo>
                  <a:pt x="608" y="0"/>
                </a:moveTo>
                <a:lnTo>
                  <a:pt x="0" y="0"/>
                </a:lnTo>
                <a:lnTo>
                  <a:pt x="608" y="608"/>
                </a:lnTo>
                <a:lnTo>
                  <a:pt x="608" y="0"/>
                </a:lnTo>
                <a:close/>
              </a:path>
            </a:pathLst>
          </a:custGeom>
          <a:solidFill>
            <a:srgbClr val="0070C0"/>
          </a:solidFill>
          <a:ln>
            <a:noFill/>
          </a:ln>
        </p:spPr>
        <p:txBody>
          <a:bodyPr lIns="121900" tIns="60950" rIns="121900" bIns="60950"/>
          <a:lstStyle/>
          <a:p>
            <a:pPr algn="r"/>
            <a:r>
              <a:rPr lang="en-US" altLang="ko-KR" sz="1600" b="1">
                <a:solidFill>
                  <a:schemeClr val="bg1"/>
                </a:solidFill>
                <a:latin typeface="微软雅黑" panose="020B0503020204020204" pitchFamily="34" charset="-122"/>
                <a:ea typeface="微软雅黑" panose="020B0503020204020204" pitchFamily="34" charset="-122"/>
                <a:sym typeface="Arial" panose="020B0604020202020204" pitchFamily="34" charset="0"/>
              </a:rPr>
              <a:t>1</a:t>
            </a:r>
          </a:p>
        </p:txBody>
      </p:sp>
      <p:sp>
        <p:nvSpPr>
          <p:cNvPr id="42" name="矩形: 剪去单角 455"/>
          <p:cNvSpPr/>
          <p:nvPr/>
        </p:nvSpPr>
        <p:spPr bwMode="auto">
          <a:xfrm>
            <a:off x="8044452" y="2566462"/>
            <a:ext cx="2981552" cy="3780000"/>
          </a:xfrm>
          <a:prstGeom prst="snip1Rect">
            <a:avLst>
              <a:gd name="adj" fmla="val 29383"/>
            </a:avLst>
          </a:prstGeom>
          <a:solidFill>
            <a:srgbClr val="F6F6F6"/>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latin typeface="微软雅黑" panose="020B0503020204020204" pitchFamily="34" charset="-122"/>
              <a:ea typeface="微软雅黑" panose="020B0503020204020204" pitchFamily="34" charset="-122"/>
              <a:sym typeface="Arial" panose="020B0604020202020204"/>
            </a:endParaRPr>
          </a:p>
        </p:txBody>
      </p:sp>
      <p:sp>
        <p:nvSpPr>
          <p:cNvPr id="43" name="矩形 42"/>
          <p:cNvSpPr/>
          <p:nvPr/>
        </p:nvSpPr>
        <p:spPr bwMode="auto">
          <a:xfrm>
            <a:off x="8044452" y="6177843"/>
            <a:ext cx="2981552" cy="136790"/>
          </a:xfrm>
          <a:prstGeom prst="rect">
            <a:avLst/>
          </a:prstGeom>
          <a:solidFill>
            <a:srgbClr val="0070C0"/>
          </a:solidFill>
          <a:ln w="12700">
            <a:noFill/>
            <a:prstDash val="solid"/>
            <a:round/>
          </a:ln>
          <a:effectLst/>
        </p:spPr>
        <p:txBody>
          <a:bodyPr anchor="ctr"/>
          <a:lstStyle/>
          <a:p>
            <a:pPr algn="ctr">
              <a:defRPr/>
            </a:pPr>
            <a:endParaRPr>
              <a:latin typeface="微软雅黑" panose="020B0503020204020204" pitchFamily="34" charset="-122"/>
              <a:ea typeface="微软雅黑" panose="020B0503020204020204" pitchFamily="34" charset="-122"/>
              <a:sym typeface="Arial" panose="020B0604020202020204"/>
            </a:endParaRPr>
          </a:p>
        </p:txBody>
      </p:sp>
      <p:sp>
        <p:nvSpPr>
          <p:cNvPr id="44" name="任意多边形: 形状 456"/>
          <p:cNvSpPr/>
          <p:nvPr/>
        </p:nvSpPr>
        <p:spPr bwMode="auto">
          <a:xfrm>
            <a:off x="10274820" y="2566462"/>
            <a:ext cx="751185" cy="804508"/>
          </a:xfrm>
          <a:custGeom>
            <a:avLst/>
            <a:gdLst>
              <a:gd name="T0" fmla="*/ 608 w 608"/>
              <a:gd name="T1" fmla="*/ 0 h 608"/>
              <a:gd name="T2" fmla="*/ 0 w 608"/>
              <a:gd name="T3" fmla="*/ 0 h 608"/>
              <a:gd name="T4" fmla="*/ 608 w 608"/>
              <a:gd name="T5" fmla="*/ 608 h 608"/>
              <a:gd name="T6" fmla="*/ 608 w 608"/>
              <a:gd name="T7" fmla="*/ 0 h 608"/>
            </a:gdLst>
            <a:ahLst/>
            <a:cxnLst>
              <a:cxn ang="0">
                <a:pos x="T0" y="T1"/>
              </a:cxn>
              <a:cxn ang="0">
                <a:pos x="T2" y="T3"/>
              </a:cxn>
              <a:cxn ang="0">
                <a:pos x="T4" y="T5"/>
              </a:cxn>
              <a:cxn ang="0">
                <a:pos x="T6" y="T7"/>
              </a:cxn>
            </a:cxnLst>
            <a:rect l="0" t="0" r="r" b="b"/>
            <a:pathLst>
              <a:path w="608" h="608">
                <a:moveTo>
                  <a:pt x="608" y="0"/>
                </a:moveTo>
                <a:lnTo>
                  <a:pt x="0" y="0"/>
                </a:lnTo>
                <a:lnTo>
                  <a:pt x="608" y="608"/>
                </a:lnTo>
                <a:lnTo>
                  <a:pt x="608" y="0"/>
                </a:lnTo>
                <a:close/>
              </a:path>
            </a:pathLst>
          </a:custGeom>
          <a:solidFill>
            <a:srgbClr val="0070C0"/>
          </a:solidFill>
          <a:ln w="12700">
            <a:noFill/>
            <a:prstDash val="solid"/>
            <a:round/>
          </a:ln>
          <a:effectLst/>
        </p:spPr>
        <p:txBody>
          <a:bodyPr lIns="121900" tIns="60950" rIns="121900" bIns="60950">
            <a:normAutofit/>
          </a:bodyPr>
          <a:lstStyle/>
          <a:p>
            <a:pPr algn="r">
              <a:defRPr/>
            </a:pPr>
            <a:r>
              <a:rPr lang="en-US" altLang="ko-KR" sz="1600" b="1" dirty="0">
                <a:solidFill>
                  <a:schemeClr val="bg1"/>
                </a:solidFill>
                <a:latin typeface="微软雅黑" panose="020B0503020204020204" pitchFamily="34" charset="-122"/>
                <a:ea typeface="微软雅黑" panose="020B0503020204020204" pitchFamily="34" charset="-122"/>
                <a:sym typeface="Arial" panose="020B0604020202020204"/>
              </a:rPr>
              <a:t>3</a:t>
            </a:r>
          </a:p>
        </p:txBody>
      </p:sp>
      <p:sp>
        <p:nvSpPr>
          <p:cNvPr id="45" name="矩形 44"/>
          <p:cNvSpPr/>
          <p:nvPr/>
        </p:nvSpPr>
        <p:spPr bwMode="auto">
          <a:xfrm>
            <a:off x="1337704" y="4251999"/>
            <a:ext cx="2642686" cy="1568450"/>
          </a:xfrm>
          <a:prstGeom prst="rect">
            <a:avLst/>
          </a:prstGeom>
        </p:spPr>
        <p:txBody>
          <a:bodyPr>
            <a:spAutoFit/>
            <a:scene3d>
              <a:camera prst="orthographicFront"/>
              <a:lightRig rig="threePt" dir="t"/>
            </a:scene3d>
            <a:sp3d contourW="12700"/>
          </a:bodyPr>
          <a:lstStyle/>
          <a:p>
            <a:pPr>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界面类</a:t>
            </a: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测试是指</a:t>
            </a:r>
            <a:r>
              <a:rPr lang="zh-CN" altLang="en-US" sz="1600">
                <a:solidFill>
                  <a:srgbClr val="0070C0"/>
                </a:solidFill>
                <a:latin typeface="微软雅黑" panose="020B0503020204020204" pitchFamily="34" charset="-122"/>
                <a:ea typeface="微软雅黑" panose="020B0503020204020204" pitchFamily="34" charset="-122"/>
                <a:sym typeface="Arial" panose="020B0604020202020204"/>
              </a:rPr>
              <a:t>验证</a:t>
            </a:r>
            <a:r>
              <a:rPr lang="zh-CN" altLang="en-US" sz="1600" dirty="0">
                <a:solidFill>
                  <a:srgbClr val="0070C0"/>
                </a:solidFill>
                <a:latin typeface="微软雅黑" panose="020B0503020204020204" pitchFamily="34" charset="-122"/>
                <a:ea typeface="微软雅黑" panose="020B0503020204020204" pitchFamily="34" charset="-122"/>
                <a:sym typeface="Arial" panose="020B0604020202020204"/>
              </a:rPr>
              <a:t>软件界面</a:t>
            </a:r>
            <a:r>
              <a:rPr lang="zh-CN" altLang="en-US" sz="1600">
                <a:solidFill>
                  <a:srgbClr val="0070C0"/>
                </a:solidFill>
                <a:latin typeface="微软雅黑" panose="020B0503020204020204" pitchFamily="34" charset="-122"/>
                <a:ea typeface="微软雅黑" panose="020B0503020204020204" pitchFamily="34" charset="-122"/>
                <a:sym typeface="Arial" panose="020B0604020202020204"/>
              </a:rPr>
              <a:t>是否符合用户需求</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，包括界面布局是否美观、按钮是否齐全等。</a:t>
            </a:r>
          </a:p>
        </p:txBody>
      </p:sp>
      <p:sp>
        <p:nvSpPr>
          <p:cNvPr id="46" name="矩形 45"/>
          <p:cNvSpPr/>
          <p:nvPr/>
        </p:nvSpPr>
        <p:spPr bwMode="auto">
          <a:xfrm>
            <a:off x="1337703" y="3752788"/>
            <a:ext cx="2191855" cy="581057"/>
          </a:xfrm>
          <a:prstGeom prst="rect">
            <a:avLst/>
          </a:prstGeom>
        </p:spPr>
        <p:txBody>
          <a:bodyPr>
            <a:spAutoFit/>
            <a:scene3d>
              <a:camera prst="orthographicFront"/>
              <a:lightRig rig="threePt" dir="t"/>
            </a:scene3d>
            <a:sp3d contourW="12700"/>
          </a:bodyPr>
          <a:lstStyle/>
          <a:p>
            <a:pPr lvl="0" algn="l">
              <a:lnSpc>
                <a:spcPct val="150000"/>
              </a:lnSpc>
              <a:defRPr/>
            </a:pPr>
            <a:r>
              <a:rPr lang="zh-CN" altLang="en-US"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界面测试</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endParaRPr>
          </a:p>
        </p:txBody>
      </p:sp>
      <p:sp>
        <p:nvSpPr>
          <p:cNvPr id="47" name="矩形 46"/>
          <p:cNvSpPr/>
          <p:nvPr/>
        </p:nvSpPr>
        <p:spPr bwMode="auto">
          <a:xfrm>
            <a:off x="4798969" y="4251999"/>
            <a:ext cx="2642686" cy="1938020"/>
          </a:xfrm>
          <a:prstGeom prst="rect">
            <a:avLst/>
          </a:prstGeom>
        </p:spPr>
        <p:txBody>
          <a:bodyPr>
            <a:spAutoFit/>
            <a:scene3d>
              <a:camera prst="orthographicFront"/>
              <a:lightRig rig="threePt" dir="t"/>
            </a:scene3d>
            <a:sp3d contourW="12700"/>
          </a:bodyPr>
          <a:lstStyle/>
          <a:p>
            <a:pPr lvl="0" algn="l">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安全性</a:t>
            </a: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测试是指</a:t>
            </a:r>
            <a:r>
              <a:rPr lang="zh-CN" altLang="en-US" sz="1600">
                <a:solidFill>
                  <a:srgbClr val="0070C0"/>
                </a:solidFill>
                <a:latin typeface="微软雅黑" panose="020B0503020204020204" pitchFamily="34" charset="-122"/>
                <a:ea typeface="微软雅黑" panose="020B0503020204020204" pitchFamily="34" charset="-122"/>
                <a:sym typeface="Arial" panose="020B0604020202020204"/>
              </a:rPr>
              <a:t>测试软件在受到没有</a:t>
            </a:r>
            <a:r>
              <a:rPr lang="zh-CN" altLang="en-US" sz="1600" dirty="0">
                <a:solidFill>
                  <a:srgbClr val="0070C0"/>
                </a:solidFill>
                <a:latin typeface="微软雅黑" panose="020B0503020204020204" pitchFamily="34" charset="-122"/>
                <a:ea typeface="微软雅黑" panose="020B0503020204020204" pitchFamily="34" charset="-122"/>
                <a:sym typeface="Arial" panose="020B0604020202020204"/>
              </a:rPr>
              <a:t>授权的内部或外部用户的攻击或恶意破坏时如何进行处理</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，是否能保证软件与数据的安全。</a:t>
            </a:r>
          </a:p>
        </p:txBody>
      </p:sp>
      <p:sp>
        <p:nvSpPr>
          <p:cNvPr id="48" name="矩形 47"/>
          <p:cNvSpPr/>
          <p:nvPr/>
        </p:nvSpPr>
        <p:spPr bwMode="auto">
          <a:xfrm>
            <a:off x="4798968" y="3752788"/>
            <a:ext cx="2191855" cy="645160"/>
          </a:xfrm>
          <a:prstGeom prst="rect">
            <a:avLst/>
          </a:prstGeom>
        </p:spPr>
        <p:txBody>
          <a:bodyPr>
            <a:spAutoFit/>
            <a:scene3d>
              <a:camera prst="orthographicFront"/>
              <a:lightRig rig="threePt" dir="t"/>
            </a:scene3d>
            <a:sp3d contourW="12700"/>
          </a:bodyPr>
          <a:lstStyle/>
          <a:p>
            <a:pPr lvl="0" algn="l">
              <a:lnSpc>
                <a:spcPct val="150000"/>
              </a:lnSpc>
              <a:defRPr/>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安全性测试</a:t>
            </a:r>
          </a:p>
        </p:txBody>
      </p:sp>
      <p:sp>
        <p:nvSpPr>
          <p:cNvPr id="49" name="矩形 48"/>
          <p:cNvSpPr/>
          <p:nvPr/>
        </p:nvSpPr>
        <p:spPr bwMode="auto">
          <a:xfrm>
            <a:off x="8263062" y="4251999"/>
            <a:ext cx="2642686" cy="1938992"/>
          </a:xfrm>
          <a:prstGeom prst="rect">
            <a:avLst/>
          </a:prstGeom>
        </p:spPr>
        <p:txBody>
          <a:bodyPr>
            <a:spAutoFit/>
            <a:scene3d>
              <a:camera prst="orthographicFront"/>
              <a:lightRig rig="threePt" dir="t"/>
            </a:scene3d>
            <a:sp3d contourW="12700"/>
          </a:bodyPr>
          <a:lstStyle/>
          <a:p>
            <a:pPr lvl="0" algn="l">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文档测试以需求分析、</a:t>
            </a: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软件设计文档、</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用户手册、安装手册为主，</a:t>
            </a:r>
            <a:r>
              <a:rPr lang="zh-CN" altLang="en-US" sz="1600" dirty="0">
                <a:solidFill>
                  <a:srgbClr val="0070C0"/>
                </a:solidFill>
                <a:latin typeface="微软雅黑" panose="020B0503020204020204" pitchFamily="34" charset="-122"/>
                <a:ea typeface="微软雅黑" panose="020B0503020204020204" pitchFamily="34" charset="-122"/>
                <a:sym typeface="Arial" panose="020B0604020202020204"/>
              </a:rPr>
              <a:t>主要验证文档说明与实际软件之间是否存在差异</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a:t>
            </a:r>
          </a:p>
        </p:txBody>
      </p:sp>
      <p:sp>
        <p:nvSpPr>
          <p:cNvPr id="50" name="矩形 49"/>
          <p:cNvSpPr/>
          <p:nvPr/>
        </p:nvSpPr>
        <p:spPr bwMode="auto">
          <a:xfrm>
            <a:off x="8263061" y="3752788"/>
            <a:ext cx="2191855" cy="645160"/>
          </a:xfrm>
          <a:prstGeom prst="rect">
            <a:avLst/>
          </a:prstGeom>
        </p:spPr>
        <p:txBody>
          <a:bodyPr>
            <a:spAutoFit/>
            <a:scene3d>
              <a:camera prst="orthographicFront"/>
              <a:lightRig rig="threePt" dir="t"/>
            </a:scene3d>
            <a:sp3d contourW="12700"/>
          </a:bodyPr>
          <a:lstStyle/>
          <a:p>
            <a:pPr lvl="0" algn="l">
              <a:lnSpc>
                <a:spcPct val="150000"/>
              </a:lnSpc>
              <a:defRPr/>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文档测试</a:t>
            </a:r>
          </a:p>
        </p:txBody>
      </p:sp>
      <p:sp>
        <p:nvSpPr>
          <p:cNvPr id="51" name="任意多边形: 形状 43"/>
          <p:cNvSpPr/>
          <p:nvPr/>
        </p:nvSpPr>
        <p:spPr bwMode="auto">
          <a:xfrm>
            <a:off x="5606121" y="2913857"/>
            <a:ext cx="427906" cy="458189"/>
          </a:xfrm>
          <a:custGeom>
            <a:avLst/>
            <a:gdLst>
              <a:gd name="T0" fmla="*/ 218845 w 21551"/>
              <a:gd name="T1" fmla="*/ 218844 h 21600"/>
              <a:gd name="T2" fmla="*/ 218845 w 21551"/>
              <a:gd name="T3" fmla="*/ 218844 h 21600"/>
              <a:gd name="T4" fmla="*/ 218845 w 21551"/>
              <a:gd name="T5" fmla="*/ 218844 h 21600"/>
              <a:gd name="T6" fmla="*/ 218845 w 21551"/>
              <a:gd name="T7" fmla="*/ 218844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551" h="21600" extrusionOk="0">
                <a:moveTo>
                  <a:pt x="19313" y="4353"/>
                </a:moveTo>
                <a:lnTo>
                  <a:pt x="16178" y="7496"/>
                </a:lnTo>
                <a:cubicBezTo>
                  <a:pt x="16034" y="7640"/>
                  <a:pt x="15980" y="7851"/>
                  <a:pt x="16036" y="8047"/>
                </a:cubicBezTo>
                <a:lnTo>
                  <a:pt x="18732" y="17470"/>
                </a:lnTo>
                <a:cubicBezTo>
                  <a:pt x="18788" y="17666"/>
                  <a:pt x="18734" y="17878"/>
                  <a:pt x="18590" y="18022"/>
                </a:cubicBezTo>
                <a:lnTo>
                  <a:pt x="17170" y="19445"/>
                </a:lnTo>
                <a:cubicBezTo>
                  <a:pt x="17059" y="19556"/>
                  <a:pt x="16916" y="19609"/>
                  <a:pt x="16775" y="19609"/>
                </a:cubicBezTo>
                <a:cubicBezTo>
                  <a:pt x="16581" y="19609"/>
                  <a:pt x="16390" y="19510"/>
                  <a:pt x="16285" y="19322"/>
                </a:cubicBezTo>
                <a:lnTo>
                  <a:pt x="12375" y="12317"/>
                </a:lnTo>
                <a:cubicBezTo>
                  <a:pt x="12271" y="12129"/>
                  <a:pt x="12079" y="12029"/>
                  <a:pt x="11886" y="12029"/>
                </a:cubicBezTo>
                <a:cubicBezTo>
                  <a:pt x="11744" y="12029"/>
                  <a:pt x="11602" y="12083"/>
                  <a:pt x="11491" y="12194"/>
                </a:cubicBezTo>
                <a:lnTo>
                  <a:pt x="8519" y="15172"/>
                </a:lnTo>
                <a:cubicBezTo>
                  <a:pt x="8388" y="15304"/>
                  <a:pt x="8330" y="15492"/>
                  <a:pt x="8365" y="15674"/>
                </a:cubicBezTo>
                <a:lnTo>
                  <a:pt x="8996" y="18989"/>
                </a:lnTo>
                <a:cubicBezTo>
                  <a:pt x="9031" y="19171"/>
                  <a:pt x="8973" y="19359"/>
                  <a:pt x="8842" y="19491"/>
                </a:cubicBezTo>
                <a:lnTo>
                  <a:pt x="8441" y="19893"/>
                </a:lnTo>
                <a:cubicBezTo>
                  <a:pt x="8330" y="20004"/>
                  <a:pt x="8187" y="20058"/>
                  <a:pt x="8046" y="20058"/>
                </a:cubicBezTo>
                <a:cubicBezTo>
                  <a:pt x="7852" y="20058"/>
                  <a:pt x="7661" y="19958"/>
                  <a:pt x="7556" y="19770"/>
                </a:cubicBezTo>
                <a:lnTo>
                  <a:pt x="5577" y="16226"/>
                </a:lnTo>
                <a:cubicBezTo>
                  <a:pt x="5526" y="16136"/>
                  <a:pt x="5452" y="16061"/>
                  <a:pt x="5362" y="16010"/>
                </a:cubicBezTo>
                <a:lnTo>
                  <a:pt x="1826" y="14027"/>
                </a:lnTo>
                <a:cubicBezTo>
                  <a:pt x="1502" y="13845"/>
                  <a:pt x="1441" y="13403"/>
                  <a:pt x="1703" y="13141"/>
                </a:cubicBezTo>
                <a:lnTo>
                  <a:pt x="2105" y="12738"/>
                </a:lnTo>
                <a:cubicBezTo>
                  <a:pt x="2211" y="12632"/>
                  <a:pt x="2354" y="12574"/>
                  <a:pt x="2501" y="12574"/>
                </a:cubicBezTo>
                <a:cubicBezTo>
                  <a:pt x="2536" y="12574"/>
                  <a:pt x="2571" y="12577"/>
                  <a:pt x="2606" y="12584"/>
                </a:cubicBezTo>
                <a:lnTo>
                  <a:pt x="5913" y="13216"/>
                </a:lnTo>
                <a:cubicBezTo>
                  <a:pt x="5948" y="13223"/>
                  <a:pt x="5983" y="13226"/>
                  <a:pt x="6018" y="13226"/>
                </a:cubicBezTo>
                <a:cubicBezTo>
                  <a:pt x="6165" y="13226"/>
                  <a:pt x="6308" y="13168"/>
                  <a:pt x="6414" y="13062"/>
                </a:cubicBezTo>
                <a:lnTo>
                  <a:pt x="9385" y="10083"/>
                </a:lnTo>
                <a:cubicBezTo>
                  <a:pt x="9648" y="9820"/>
                  <a:pt x="9587" y="9379"/>
                  <a:pt x="9263" y="9197"/>
                </a:cubicBezTo>
                <a:lnTo>
                  <a:pt x="2273" y="5278"/>
                </a:lnTo>
                <a:cubicBezTo>
                  <a:pt x="1949" y="5097"/>
                  <a:pt x="1888" y="4655"/>
                  <a:pt x="2150" y="4392"/>
                </a:cubicBezTo>
                <a:lnTo>
                  <a:pt x="3571" y="2968"/>
                </a:lnTo>
                <a:cubicBezTo>
                  <a:pt x="3677" y="2862"/>
                  <a:pt x="3820" y="2804"/>
                  <a:pt x="3966" y="2804"/>
                </a:cubicBezTo>
                <a:cubicBezTo>
                  <a:pt x="4018" y="2804"/>
                  <a:pt x="4070" y="2811"/>
                  <a:pt x="4121" y="2826"/>
                </a:cubicBezTo>
                <a:lnTo>
                  <a:pt x="13523" y="5528"/>
                </a:lnTo>
                <a:cubicBezTo>
                  <a:pt x="13574" y="5543"/>
                  <a:pt x="13625" y="5550"/>
                  <a:pt x="13677" y="5550"/>
                </a:cubicBezTo>
                <a:cubicBezTo>
                  <a:pt x="13823" y="5550"/>
                  <a:pt x="13966" y="5493"/>
                  <a:pt x="14073" y="5386"/>
                </a:cubicBezTo>
                <a:lnTo>
                  <a:pt x="17208" y="2243"/>
                </a:lnTo>
                <a:cubicBezTo>
                  <a:pt x="17593" y="1857"/>
                  <a:pt x="18321" y="1542"/>
                  <a:pt x="18937" y="1542"/>
                </a:cubicBezTo>
                <a:cubicBezTo>
                  <a:pt x="19252" y="1542"/>
                  <a:pt x="19538" y="1624"/>
                  <a:pt x="19734" y="1821"/>
                </a:cubicBezTo>
                <a:cubicBezTo>
                  <a:pt x="20316" y="2404"/>
                  <a:pt x="19895" y="3770"/>
                  <a:pt x="19313" y="4353"/>
                </a:cubicBezTo>
                <a:cubicBezTo>
                  <a:pt x="19313" y="4353"/>
                  <a:pt x="19313" y="4353"/>
                  <a:pt x="19313" y="4353"/>
                </a:cubicBezTo>
                <a:close/>
                <a:moveTo>
                  <a:pt x="20822" y="731"/>
                </a:moveTo>
                <a:cubicBezTo>
                  <a:pt x="20557" y="465"/>
                  <a:pt x="20235" y="268"/>
                  <a:pt x="19866" y="145"/>
                </a:cubicBezTo>
                <a:cubicBezTo>
                  <a:pt x="19578" y="49"/>
                  <a:pt x="19266" y="0"/>
                  <a:pt x="18937" y="0"/>
                </a:cubicBezTo>
                <a:cubicBezTo>
                  <a:pt x="18441" y="0"/>
                  <a:pt x="17909" y="111"/>
                  <a:pt x="17399" y="322"/>
                </a:cubicBezTo>
                <a:cubicBezTo>
                  <a:pt x="16897" y="530"/>
                  <a:pt x="16455" y="817"/>
                  <a:pt x="16120" y="1153"/>
                </a:cubicBezTo>
                <a:lnTo>
                  <a:pt x="13392" y="3887"/>
                </a:lnTo>
                <a:lnTo>
                  <a:pt x="4545" y="1343"/>
                </a:lnTo>
                <a:cubicBezTo>
                  <a:pt x="4357" y="1289"/>
                  <a:pt x="4162" y="1262"/>
                  <a:pt x="3966" y="1262"/>
                </a:cubicBezTo>
                <a:cubicBezTo>
                  <a:pt x="3691" y="1262"/>
                  <a:pt x="3423" y="1315"/>
                  <a:pt x="3169" y="1420"/>
                </a:cubicBezTo>
                <a:cubicBezTo>
                  <a:pt x="2911" y="1526"/>
                  <a:pt x="2680" y="1680"/>
                  <a:pt x="2482" y="1878"/>
                </a:cubicBezTo>
                <a:lnTo>
                  <a:pt x="1062" y="3301"/>
                </a:lnTo>
                <a:cubicBezTo>
                  <a:pt x="828" y="3536"/>
                  <a:pt x="650" y="3827"/>
                  <a:pt x="549" y="4142"/>
                </a:cubicBezTo>
                <a:cubicBezTo>
                  <a:pt x="452" y="4442"/>
                  <a:pt x="424" y="4765"/>
                  <a:pt x="467" y="5077"/>
                </a:cubicBezTo>
                <a:cubicBezTo>
                  <a:pt x="511" y="5389"/>
                  <a:pt x="625" y="5693"/>
                  <a:pt x="799" y="5955"/>
                </a:cubicBezTo>
                <a:cubicBezTo>
                  <a:pt x="982" y="6230"/>
                  <a:pt x="1232" y="6462"/>
                  <a:pt x="1522" y="6624"/>
                </a:cubicBezTo>
                <a:lnTo>
                  <a:pt x="7382" y="9910"/>
                </a:lnTo>
                <a:lnTo>
                  <a:pt x="5692" y="11604"/>
                </a:lnTo>
                <a:lnTo>
                  <a:pt x="2894" y="11069"/>
                </a:lnTo>
                <a:cubicBezTo>
                  <a:pt x="2765" y="11044"/>
                  <a:pt x="2632" y="11031"/>
                  <a:pt x="2501" y="11031"/>
                </a:cubicBezTo>
                <a:cubicBezTo>
                  <a:pt x="2225" y="11031"/>
                  <a:pt x="1956" y="11085"/>
                  <a:pt x="1701" y="11190"/>
                </a:cubicBezTo>
                <a:cubicBezTo>
                  <a:pt x="1444" y="11296"/>
                  <a:pt x="1213" y="11450"/>
                  <a:pt x="1017" y="11647"/>
                </a:cubicBezTo>
                <a:lnTo>
                  <a:pt x="615" y="12050"/>
                </a:lnTo>
                <a:cubicBezTo>
                  <a:pt x="380" y="12285"/>
                  <a:pt x="203" y="12576"/>
                  <a:pt x="101" y="12891"/>
                </a:cubicBezTo>
                <a:cubicBezTo>
                  <a:pt x="5" y="13191"/>
                  <a:pt x="-23" y="13513"/>
                  <a:pt x="20" y="13826"/>
                </a:cubicBezTo>
                <a:cubicBezTo>
                  <a:pt x="63" y="14138"/>
                  <a:pt x="178" y="14441"/>
                  <a:pt x="352" y="14703"/>
                </a:cubicBezTo>
                <a:cubicBezTo>
                  <a:pt x="535" y="14979"/>
                  <a:pt x="785" y="15210"/>
                  <a:pt x="1074" y="15373"/>
                </a:cubicBezTo>
                <a:lnTo>
                  <a:pt x="4369" y="17221"/>
                </a:lnTo>
                <a:lnTo>
                  <a:pt x="6213" y="20524"/>
                </a:lnTo>
                <a:cubicBezTo>
                  <a:pt x="6584" y="21188"/>
                  <a:pt x="7286" y="21600"/>
                  <a:pt x="8046" y="21600"/>
                </a:cubicBezTo>
                <a:cubicBezTo>
                  <a:pt x="8606" y="21600"/>
                  <a:pt x="9132" y="21381"/>
                  <a:pt x="9529" y="20984"/>
                </a:cubicBezTo>
                <a:lnTo>
                  <a:pt x="9930" y="20581"/>
                </a:lnTo>
                <a:cubicBezTo>
                  <a:pt x="10422" y="20088"/>
                  <a:pt x="10638" y="19385"/>
                  <a:pt x="10508" y="18700"/>
                </a:cubicBezTo>
                <a:lnTo>
                  <a:pt x="9974" y="15896"/>
                </a:lnTo>
                <a:lnTo>
                  <a:pt x="11664" y="14201"/>
                </a:lnTo>
                <a:lnTo>
                  <a:pt x="14942" y="20075"/>
                </a:lnTo>
                <a:cubicBezTo>
                  <a:pt x="15313" y="20739"/>
                  <a:pt x="16015" y="21152"/>
                  <a:pt x="16775" y="21152"/>
                </a:cubicBezTo>
                <a:cubicBezTo>
                  <a:pt x="17335" y="21152"/>
                  <a:pt x="17861" y="20933"/>
                  <a:pt x="18258" y="20536"/>
                </a:cubicBezTo>
                <a:lnTo>
                  <a:pt x="19678" y="19113"/>
                </a:lnTo>
                <a:cubicBezTo>
                  <a:pt x="20217" y="18572"/>
                  <a:pt x="20422" y="17780"/>
                  <a:pt x="20211" y="17045"/>
                </a:cubicBezTo>
                <a:lnTo>
                  <a:pt x="17674" y="8178"/>
                </a:lnTo>
                <a:lnTo>
                  <a:pt x="20402" y="5443"/>
                </a:lnTo>
                <a:cubicBezTo>
                  <a:pt x="20900" y="4943"/>
                  <a:pt x="21298" y="4185"/>
                  <a:pt x="21464" y="3413"/>
                </a:cubicBezTo>
                <a:cubicBezTo>
                  <a:pt x="21559" y="2971"/>
                  <a:pt x="21577" y="2546"/>
                  <a:pt x="21517" y="2149"/>
                </a:cubicBezTo>
                <a:cubicBezTo>
                  <a:pt x="21432" y="1592"/>
                  <a:pt x="21192" y="1102"/>
                  <a:pt x="20822" y="731"/>
                </a:cubicBezTo>
                <a:cubicBezTo>
                  <a:pt x="20822" y="731"/>
                  <a:pt x="20822" y="731"/>
                  <a:pt x="20822" y="731"/>
                </a:cubicBezTo>
                <a:close/>
              </a:path>
            </a:pathLst>
          </a:custGeom>
          <a:solidFill>
            <a:srgbClr val="0070C0"/>
          </a:solidFill>
          <a:ln>
            <a:noFill/>
          </a:ln>
        </p:spPr>
        <p:txBody>
          <a:bodyPr anchor="ctr"/>
          <a:lstStyle/>
          <a:p>
            <a:endParaRPr lang="zh-CN" altLang="en-US">
              <a:latin typeface="微软雅黑" panose="020B0503020204020204" pitchFamily="34" charset="-122"/>
              <a:ea typeface="微软雅黑" panose="020B0503020204020204" pitchFamily="34" charset="-122"/>
            </a:endParaRPr>
          </a:p>
        </p:txBody>
      </p:sp>
      <p:sp>
        <p:nvSpPr>
          <p:cNvPr id="52" name="任意多边形: 形状 41"/>
          <p:cNvSpPr/>
          <p:nvPr/>
        </p:nvSpPr>
        <p:spPr bwMode="auto">
          <a:xfrm>
            <a:off x="2095322" y="2937109"/>
            <a:ext cx="461304" cy="401365"/>
          </a:xfrm>
          <a:custGeom>
            <a:avLst/>
            <a:gdLst>
              <a:gd name="T0" fmla="*/ 235926 w 21600"/>
              <a:gd name="T1" fmla="*/ 191703 h 21600"/>
              <a:gd name="T2" fmla="*/ 235926 w 21600"/>
              <a:gd name="T3" fmla="*/ 191703 h 21600"/>
              <a:gd name="T4" fmla="*/ 235926 w 21600"/>
              <a:gd name="T5" fmla="*/ 191703 h 21600"/>
              <a:gd name="T6" fmla="*/ 235926 w 21600"/>
              <a:gd name="T7" fmla="*/ 191703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2024" y="0"/>
                </a:moveTo>
                <a:cubicBezTo>
                  <a:pt x="912" y="0"/>
                  <a:pt x="0" y="1122"/>
                  <a:pt x="0" y="2491"/>
                </a:cubicBezTo>
                <a:lnTo>
                  <a:pt x="0" y="11634"/>
                </a:lnTo>
                <a:cubicBezTo>
                  <a:pt x="0" y="13008"/>
                  <a:pt x="912" y="14134"/>
                  <a:pt x="2024" y="14134"/>
                </a:cubicBezTo>
                <a:lnTo>
                  <a:pt x="2024" y="16617"/>
                </a:lnTo>
                <a:cubicBezTo>
                  <a:pt x="2024" y="17994"/>
                  <a:pt x="2935" y="19109"/>
                  <a:pt x="4049" y="19109"/>
                </a:cubicBezTo>
                <a:lnTo>
                  <a:pt x="4822" y="19109"/>
                </a:lnTo>
                <a:cubicBezTo>
                  <a:pt x="5125" y="20540"/>
                  <a:pt x="6166" y="21600"/>
                  <a:pt x="7423" y="21600"/>
                </a:cubicBezTo>
                <a:cubicBezTo>
                  <a:pt x="8673" y="21600"/>
                  <a:pt x="9726" y="20540"/>
                  <a:pt x="10030" y="19109"/>
                </a:cubicBezTo>
                <a:lnTo>
                  <a:pt x="13594" y="19109"/>
                </a:lnTo>
                <a:cubicBezTo>
                  <a:pt x="13897" y="20540"/>
                  <a:pt x="14942" y="21600"/>
                  <a:pt x="16202" y="21600"/>
                </a:cubicBezTo>
                <a:cubicBezTo>
                  <a:pt x="17449" y="21600"/>
                  <a:pt x="18498" y="20540"/>
                  <a:pt x="18803" y="19109"/>
                </a:cubicBezTo>
                <a:lnTo>
                  <a:pt x="19576" y="19109"/>
                </a:lnTo>
                <a:cubicBezTo>
                  <a:pt x="20692" y="19109"/>
                  <a:pt x="21600" y="17994"/>
                  <a:pt x="21600" y="16617"/>
                </a:cubicBezTo>
                <a:lnTo>
                  <a:pt x="21600" y="11634"/>
                </a:lnTo>
                <a:cubicBezTo>
                  <a:pt x="21600" y="11142"/>
                  <a:pt x="21482" y="10663"/>
                  <a:pt x="21259" y="10248"/>
                </a:cubicBezTo>
                <a:lnTo>
                  <a:pt x="18554" y="5265"/>
                </a:lnTo>
                <a:cubicBezTo>
                  <a:pt x="18182" y="4566"/>
                  <a:pt x="17557" y="4160"/>
                  <a:pt x="16876" y="4160"/>
                </a:cubicBezTo>
                <a:lnTo>
                  <a:pt x="14177" y="4160"/>
                </a:lnTo>
                <a:lnTo>
                  <a:pt x="14177" y="2491"/>
                </a:lnTo>
                <a:cubicBezTo>
                  <a:pt x="14177" y="1122"/>
                  <a:pt x="13265" y="0"/>
                  <a:pt x="12146" y="0"/>
                </a:cubicBezTo>
                <a:lnTo>
                  <a:pt x="2024" y="0"/>
                </a:lnTo>
                <a:close/>
                <a:moveTo>
                  <a:pt x="2024" y="1669"/>
                </a:moveTo>
                <a:lnTo>
                  <a:pt x="12146" y="1669"/>
                </a:lnTo>
                <a:cubicBezTo>
                  <a:pt x="12524" y="1669"/>
                  <a:pt x="12821" y="2034"/>
                  <a:pt x="12821" y="2491"/>
                </a:cubicBezTo>
                <a:lnTo>
                  <a:pt x="12821" y="11634"/>
                </a:lnTo>
                <a:cubicBezTo>
                  <a:pt x="12821" y="12090"/>
                  <a:pt x="12524" y="12465"/>
                  <a:pt x="12146" y="12465"/>
                </a:cubicBezTo>
                <a:cubicBezTo>
                  <a:pt x="12146" y="12465"/>
                  <a:pt x="2024" y="12465"/>
                  <a:pt x="2024" y="12465"/>
                </a:cubicBezTo>
                <a:cubicBezTo>
                  <a:pt x="1649" y="12465"/>
                  <a:pt x="1350" y="12090"/>
                  <a:pt x="1350" y="11634"/>
                </a:cubicBezTo>
                <a:lnTo>
                  <a:pt x="1350" y="2491"/>
                </a:lnTo>
                <a:cubicBezTo>
                  <a:pt x="1350" y="2034"/>
                  <a:pt x="1649" y="1669"/>
                  <a:pt x="2024" y="1669"/>
                </a:cubicBezTo>
                <a:close/>
                <a:moveTo>
                  <a:pt x="14177" y="5821"/>
                </a:moveTo>
                <a:lnTo>
                  <a:pt x="16876" y="5821"/>
                </a:lnTo>
                <a:cubicBezTo>
                  <a:pt x="17102" y="5821"/>
                  <a:pt x="17311" y="5958"/>
                  <a:pt x="17440" y="6184"/>
                </a:cubicBezTo>
                <a:lnTo>
                  <a:pt x="20132" y="11175"/>
                </a:lnTo>
                <a:cubicBezTo>
                  <a:pt x="20206" y="11307"/>
                  <a:pt x="20250" y="11475"/>
                  <a:pt x="20250" y="11634"/>
                </a:cubicBezTo>
                <a:cubicBezTo>
                  <a:pt x="20250" y="11634"/>
                  <a:pt x="20250" y="16617"/>
                  <a:pt x="20250" y="16617"/>
                </a:cubicBezTo>
                <a:cubicBezTo>
                  <a:pt x="20250" y="17074"/>
                  <a:pt x="19946" y="17448"/>
                  <a:pt x="19576" y="17448"/>
                </a:cubicBezTo>
                <a:lnTo>
                  <a:pt x="18803" y="17448"/>
                </a:lnTo>
                <a:cubicBezTo>
                  <a:pt x="18498" y="16016"/>
                  <a:pt x="17455" y="14956"/>
                  <a:pt x="16202" y="14956"/>
                </a:cubicBezTo>
                <a:cubicBezTo>
                  <a:pt x="14942" y="14956"/>
                  <a:pt x="13897" y="16016"/>
                  <a:pt x="13594" y="17448"/>
                </a:cubicBezTo>
                <a:lnTo>
                  <a:pt x="10030" y="17448"/>
                </a:lnTo>
                <a:cubicBezTo>
                  <a:pt x="9729" y="16016"/>
                  <a:pt x="8678" y="14956"/>
                  <a:pt x="7423" y="14956"/>
                </a:cubicBezTo>
                <a:cubicBezTo>
                  <a:pt x="6166" y="14956"/>
                  <a:pt x="5125" y="16016"/>
                  <a:pt x="4822" y="17448"/>
                </a:cubicBezTo>
                <a:lnTo>
                  <a:pt x="4049" y="17448"/>
                </a:lnTo>
                <a:cubicBezTo>
                  <a:pt x="3676" y="17448"/>
                  <a:pt x="3374" y="17074"/>
                  <a:pt x="3374" y="16617"/>
                </a:cubicBezTo>
                <a:lnTo>
                  <a:pt x="3374" y="14134"/>
                </a:lnTo>
                <a:lnTo>
                  <a:pt x="12146" y="14134"/>
                </a:lnTo>
                <a:cubicBezTo>
                  <a:pt x="13265" y="14134"/>
                  <a:pt x="14177" y="13008"/>
                  <a:pt x="14177" y="11634"/>
                </a:cubicBezTo>
                <a:lnTo>
                  <a:pt x="14177" y="5821"/>
                </a:lnTo>
                <a:close/>
                <a:moveTo>
                  <a:pt x="15553" y="6450"/>
                </a:moveTo>
                <a:cubicBezTo>
                  <a:pt x="15182" y="6450"/>
                  <a:pt x="14885" y="6824"/>
                  <a:pt x="14885" y="7281"/>
                </a:cubicBezTo>
                <a:lnTo>
                  <a:pt x="14885" y="12263"/>
                </a:lnTo>
                <a:cubicBezTo>
                  <a:pt x="14885" y="12721"/>
                  <a:pt x="15182" y="13102"/>
                  <a:pt x="15553" y="13102"/>
                </a:cubicBezTo>
                <a:lnTo>
                  <a:pt x="18259" y="13102"/>
                </a:lnTo>
                <a:cubicBezTo>
                  <a:pt x="18629" y="13102"/>
                  <a:pt x="18934" y="12721"/>
                  <a:pt x="18934" y="12263"/>
                </a:cubicBezTo>
                <a:lnTo>
                  <a:pt x="18934" y="11022"/>
                </a:lnTo>
                <a:cubicBezTo>
                  <a:pt x="18934" y="10857"/>
                  <a:pt x="18888" y="10694"/>
                  <a:pt x="18816" y="10554"/>
                </a:cubicBezTo>
                <a:cubicBezTo>
                  <a:pt x="18816" y="10554"/>
                  <a:pt x="16798" y="6829"/>
                  <a:pt x="16798" y="6829"/>
                </a:cubicBezTo>
                <a:cubicBezTo>
                  <a:pt x="16673" y="6592"/>
                  <a:pt x="16460" y="6450"/>
                  <a:pt x="16234" y="6450"/>
                </a:cubicBezTo>
                <a:lnTo>
                  <a:pt x="15553" y="6450"/>
                </a:lnTo>
                <a:close/>
                <a:moveTo>
                  <a:pt x="15553" y="7281"/>
                </a:moveTo>
                <a:lnTo>
                  <a:pt x="16234" y="7281"/>
                </a:lnTo>
                <a:lnTo>
                  <a:pt x="18259" y="11022"/>
                </a:lnTo>
                <a:cubicBezTo>
                  <a:pt x="18259" y="11022"/>
                  <a:pt x="18259" y="12263"/>
                  <a:pt x="18259" y="12263"/>
                </a:cubicBezTo>
                <a:lnTo>
                  <a:pt x="15553" y="12263"/>
                </a:lnTo>
                <a:lnTo>
                  <a:pt x="15553" y="7281"/>
                </a:lnTo>
                <a:close/>
                <a:moveTo>
                  <a:pt x="7423" y="16617"/>
                </a:moveTo>
                <a:cubicBezTo>
                  <a:pt x="8167" y="16617"/>
                  <a:pt x="8772" y="17365"/>
                  <a:pt x="8772" y="18278"/>
                </a:cubicBezTo>
                <a:cubicBezTo>
                  <a:pt x="8772" y="19191"/>
                  <a:pt x="8167" y="19939"/>
                  <a:pt x="7423" y="19939"/>
                </a:cubicBezTo>
                <a:cubicBezTo>
                  <a:pt x="6677" y="19939"/>
                  <a:pt x="6073" y="19191"/>
                  <a:pt x="6073" y="18278"/>
                </a:cubicBezTo>
                <a:cubicBezTo>
                  <a:pt x="6073" y="17365"/>
                  <a:pt x="6677" y="16617"/>
                  <a:pt x="7423" y="16617"/>
                </a:cubicBezTo>
                <a:close/>
                <a:moveTo>
                  <a:pt x="16202" y="16617"/>
                </a:moveTo>
                <a:cubicBezTo>
                  <a:pt x="16943" y="16617"/>
                  <a:pt x="17551" y="17365"/>
                  <a:pt x="17551" y="18278"/>
                </a:cubicBezTo>
                <a:cubicBezTo>
                  <a:pt x="17551" y="19191"/>
                  <a:pt x="16943" y="19939"/>
                  <a:pt x="16202" y="19939"/>
                </a:cubicBezTo>
                <a:cubicBezTo>
                  <a:pt x="15454" y="19939"/>
                  <a:pt x="14852" y="19191"/>
                  <a:pt x="14852" y="18278"/>
                </a:cubicBezTo>
                <a:cubicBezTo>
                  <a:pt x="14852" y="17365"/>
                  <a:pt x="15454" y="16617"/>
                  <a:pt x="16202" y="16617"/>
                </a:cubicBezTo>
                <a:close/>
              </a:path>
            </a:pathLst>
          </a:custGeom>
          <a:solidFill>
            <a:srgbClr val="0070C0"/>
          </a:solidFill>
          <a:ln>
            <a:noFill/>
          </a:ln>
        </p:spPr>
        <p:txBody>
          <a:bodyPr anchor="ctr"/>
          <a:lstStyle/>
          <a:p>
            <a:endParaRPr lang="zh-CN" altLang="en-US">
              <a:latin typeface="微软雅黑" panose="020B0503020204020204" pitchFamily="34" charset="-122"/>
              <a:ea typeface="微软雅黑" panose="020B0503020204020204" pitchFamily="34" charset="-122"/>
            </a:endParaRPr>
          </a:p>
        </p:txBody>
      </p:sp>
      <p:sp>
        <p:nvSpPr>
          <p:cNvPr id="53" name="任意多边形: 形状 39"/>
          <p:cNvSpPr/>
          <p:nvPr/>
        </p:nvSpPr>
        <p:spPr bwMode="auto">
          <a:xfrm>
            <a:off x="9069223" y="2879471"/>
            <a:ext cx="399185" cy="542221"/>
          </a:xfrm>
          <a:custGeom>
            <a:avLst/>
            <a:gdLst>
              <a:gd name="T0" fmla="*/ 204156 w 21600"/>
              <a:gd name="T1" fmla="*/ 258980 h 21600"/>
              <a:gd name="T2" fmla="*/ 204156 w 21600"/>
              <a:gd name="T3" fmla="*/ 258980 h 21600"/>
              <a:gd name="T4" fmla="*/ 204156 w 21600"/>
              <a:gd name="T5" fmla="*/ 258980 h 21600"/>
              <a:gd name="T6" fmla="*/ 204156 w 21600"/>
              <a:gd name="T7" fmla="*/ 258980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8003" y="6729"/>
                </a:moveTo>
                <a:cubicBezTo>
                  <a:pt x="17891" y="6790"/>
                  <a:pt x="17842" y="6883"/>
                  <a:pt x="17842" y="6994"/>
                </a:cubicBezTo>
                <a:cubicBezTo>
                  <a:pt x="17842" y="7080"/>
                  <a:pt x="17901" y="7139"/>
                  <a:pt x="18015" y="7191"/>
                </a:cubicBezTo>
                <a:cubicBezTo>
                  <a:pt x="18122" y="7230"/>
                  <a:pt x="18344" y="7284"/>
                  <a:pt x="18697" y="7352"/>
                </a:cubicBezTo>
                <a:cubicBezTo>
                  <a:pt x="19207" y="7434"/>
                  <a:pt x="19552" y="7540"/>
                  <a:pt x="19715" y="7661"/>
                </a:cubicBezTo>
                <a:cubicBezTo>
                  <a:pt x="19899" y="7775"/>
                  <a:pt x="19976" y="7963"/>
                  <a:pt x="19976" y="8220"/>
                </a:cubicBezTo>
                <a:cubicBezTo>
                  <a:pt x="19976" y="8479"/>
                  <a:pt x="19851" y="8684"/>
                  <a:pt x="19591" y="8842"/>
                </a:cubicBezTo>
                <a:cubicBezTo>
                  <a:pt x="19332" y="8993"/>
                  <a:pt x="18985" y="9069"/>
                  <a:pt x="18546" y="9069"/>
                </a:cubicBezTo>
                <a:cubicBezTo>
                  <a:pt x="18091" y="9069"/>
                  <a:pt x="17748" y="8987"/>
                  <a:pt x="17505" y="8826"/>
                </a:cubicBezTo>
                <a:cubicBezTo>
                  <a:pt x="17256" y="8660"/>
                  <a:pt x="17122" y="8433"/>
                  <a:pt x="17105" y="8130"/>
                </a:cubicBezTo>
                <a:lnTo>
                  <a:pt x="17814" y="8130"/>
                </a:lnTo>
                <a:cubicBezTo>
                  <a:pt x="17814" y="8283"/>
                  <a:pt x="17879" y="8395"/>
                  <a:pt x="18015" y="8471"/>
                </a:cubicBezTo>
                <a:cubicBezTo>
                  <a:pt x="18132" y="8553"/>
                  <a:pt x="18312" y="8592"/>
                  <a:pt x="18546" y="8592"/>
                </a:cubicBezTo>
                <a:cubicBezTo>
                  <a:pt x="18773" y="8592"/>
                  <a:pt x="18957" y="8562"/>
                  <a:pt x="19091" y="8501"/>
                </a:cubicBezTo>
                <a:cubicBezTo>
                  <a:pt x="19217" y="8442"/>
                  <a:pt x="19283" y="8356"/>
                  <a:pt x="19283" y="8253"/>
                </a:cubicBezTo>
                <a:cubicBezTo>
                  <a:pt x="19283" y="8152"/>
                  <a:pt x="19234" y="8078"/>
                  <a:pt x="19148" y="8024"/>
                </a:cubicBezTo>
                <a:cubicBezTo>
                  <a:pt x="19054" y="7973"/>
                  <a:pt x="18860" y="7926"/>
                  <a:pt x="18555" y="7874"/>
                </a:cubicBezTo>
                <a:cubicBezTo>
                  <a:pt x="18003" y="7775"/>
                  <a:pt x="17623" y="7669"/>
                  <a:pt x="17440" y="7554"/>
                </a:cubicBezTo>
                <a:cubicBezTo>
                  <a:pt x="17256" y="7442"/>
                  <a:pt x="17161" y="7268"/>
                  <a:pt x="17161" y="7024"/>
                </a:cubicBezTo>
                <a:cubicBezTo>
                  <a:pt x="17161" y="6759"/>
                  <a:pt x="17278" y="6550"/>
                  <a:pt x="17527" y="6388"/>
                </a:cubicBezTo>
                <a:cubicBezTo>
                  <a:pt x="17776" y="6230"/>
                  <a:pt x="18103" y="6154"/>
                  <a:pt x="18524" y="6154"/>
                </a:cubicBezTo>
                <a:cubicBezTo>
                  <a:pt x="18919" y="6154"/>
                  <a:pt x="19234" y="6230"/>
                  <a:pt x="19487" y="6397"/>
                </a:cubicBezTo>
                <a:cubicBezTo>
                  <a:pt x="19737" y="6563"/>
                  <a:pt x="19868" y="6785"/>
                  <a:pt x="19899" y="7063"/>
                </a:cubicBezTo>
                <a:lnTo>
                  <a:pt x="19179" y="7063"/>
                </a:lnTo>
                <a:cubicBezTo>
                  <a:pt x="19169" y="6926"/>
                  <a:pt x="19091" y="6820"/>
                  <a:pt x="18967" y="6747"/>
                </a:cubicBezTo>
                <a:cubicBezTo>
                  <a:pt x="18832" y="6670"/>
                  <a:pt x="18648" y="6631"/>
                  <a:pt x="18437" y="6631"/>
                </a:cubicBezTo>
                <a:cubicBezTo>
                  <a:pt x="18257" y="6631"/>
                  <a:pt x="18103" y="6661"/>
                  <a:pt x="18003" y="6729"/>
                </a:cubicBezTo>
                <a:cubicBezTo>
                  <a:pt x="18003" y="6729"/>
                  <a:pt x="18003" y="6729"/>
                  <a:pt x="18003" y="6729"/>
                </a:cubicBezTo>
                <a:close/>
                <a:moveTo>
                  <a:pt x="15761" y="7344"/>
                </a:moveTo>
                <a:cubicBezTo>
                  <a:pt x="15665" y="7405"/>
                  <a:pt x="15528" y="7434"/>
                  <a:pt x="15338" y="7434"/>
                </a:cubicBezTo>
                <a:lnTo>
                  <a:pt x="14490" y="7434"/>
                </a:lnTo>
                <a:lnTo>
                  <a:pt x="14490" y="6707"/>
                </a:lnTo>
                <a:lnTo>
                  <a:pt x="15366" y="6707"/>
                </a:lnTo>
                <a:cubicBezTo>
                  <a:pt x="15549" y="6707"/>
                  <a:pt x="15675" y="6738"/>
                  <a:pt x="15768" y="6798"/>
                </a:cubicBezTo>
                <a:cubicBezTo>
                  <a:pt x="15865" y="6857"/>
                  <a:pt x="15902" y="6950"/>
                  <a:pt x="15902" y="7070"/>
                </a:cubicBezTo>
                <a:cubicBezTo>
                  <a:pt x="15902" y="7191"/>
                  <a:pt x="15855" y="7284"/>
                  <a:pt x="15761" y="7344"/>
                </a:cubicBezTo>
                <a:cubicBezTo>
                  <a:pt x="15761" y="7344"/>
                  <a:pt x="15761" y="7344"/>
                  <a:pt x="15761" y="7344"/>
                </a:cubicBezTo>
                <a:close/>
                <a:moveTo>
                  <a:pt x="16633" y="6994"/>
                </a:moveTo>
                <a:cubicBezTo>
                  <a:pt x="16633" y="6769"/>
                  <a:pt x="16526" y="6579"/>
                  <a:pt x="16326" y="6435"/>
                </a:cubicBezTo>
                <a:cubicBezTo>
                  <a:pt x="16124" y="6299"/>
                  <a:pt x="15855" y="6230"/>
                  <a:pt x="15518" y="6230"/>
                </a:cubicBezTo>
                <a:lnTo>
                  <a:pt x="13751" y="6230"/>
                </a:lnTo>
                <a:lnTo>
                  <a:pt x="13751" y="8993"/>
                </a:lnTo>
                <a:lnTo>
                  <a:pt x="14490" y="8993"/>
                </a:lnTo>
                <a:lnTo>
                  <a:pt x="14490" y="7904"/>
                </a:lnTo>
                <a:lnTo>
                  <a:pt x="15210" y="7904"/>
                </a:lnTo>
                <a:cubicBezTo>
                  <a:pt x="15432" y="7904"/>
                  <a:pt x="15577" y="7926"/>
                  <a:pt x="15665" y="7980"/>
                </a:cubicBezTo>
                <a:cubicBezTo>
                  <a:pt x="15761" y="8032"/>
                  <a:pt x="15800" y="8122"/>
                  <a:pt x="15800" y="8245"/>
                </a:cubicBezTo>
                <a:lnTo>
                  <a:pt x="15806" y="8494"/>
                </a:lnTo>
                <a:cubicBezTo>
                  <a:pt x="15806" y="8609"/>
                  <a:pt x="15815" y="8706"/>
                  <a:pt x="15837" y="8805"/>
                </a:cubicBezTo>
                <a:cubicBezTo>
                  <a:pt x="15855" y="8895"/>
                  <a:pt x="15865" y="8963"/>
                  <a:pt x="15886" y="8987"/>
                </a:cubicBezTo>
                <a:lnTo>
                  <a:pt x="16692" y="8987"/>
                </a:lnTo>
                <a:lnTo>
                  <a:pt x="16692" y="8919"/>
                </a:lnTo>
                <a:cubicBezTo>
                  <a:pt x="16633" y="8895"/>
                  <a:pt x="16585" y="8864"/>
                  <a:pt x="16575" y="8826"/>
                </a:cubicBezTo>
                <a:cubicBezTo>
                  <a:pt x="16547" y="8788"/>
                  <a:pt x="16538" y="8720"/>
                  <a:pt x="16526" y="8638"/>
                </a:cubicBezTo>
                <a:lnTo>
                  <a:pt x="16519" y="8184"/>
                </a:lnTo>
                <a:cubicBezTo>
                  <a:pt x="16508" y="7963"/>
                  <a:pt x="16401" y="7805"/>
                  <a:pt x="16202" y="7707"/>
                </a:cubicBezTo>
                <a:cubicBezTo>
                  <a:pt x="16174" y="7691"/>
                  <a:pt x="16135" y="7685"/>
                  <a:pt x="16086" y="7661"/>
                </a:cubicBezTo>
                <a:cubicBezTo>
                  <a:pt x="16163" y="7639"/>
                  <a:pt x="16230" y="7609"/>
                  <a:pt x="16298" y="7579"/>
                </a:cubicBezTo>
                <a:cubicBezTo>
                  <a:pt x="16519" y="7456"/>
                  <a:pt x="16633" y="7260"/>
                  <a:pt x="16633" y="6994"/>
                </a:cubicBezTo>
                <a:cubicBezTo>
                  <a:pt x="16633" y="6994"/>
                  <a:pt x="16633" y="6994"/>
                  <a:pt x="16633" y="6994"/>
                </a:cubicBezTo>
                <a:close/>
                <a:moveTo>
                  <a:pt x="12311" y="8993"/>
                </a:moveTo>
                <a:lnTo>
                  <a:pt x="12311" y="7737"/>
                </a:lnTo>
                <a:lnTo>
                  <a:pt x="10936" y="7737"/>
                </a:lnTo>
                <a:lnTo>
                  <a:pt x="10936" y="8993"/>
                </a:lnTo>
                <a:lnTo>
                  <a:pt x="10200" y="8993"/>
                </a:lnTo>
                <a:lnTo>
                  <a:pt x="10200" y="6230"/>
                </a:lnTo>
                <a:lnTo>
                  <a:pt x="10936" y="6230"/>
                </a:lnTo>
                <a:lnTo>
                  <a:pt x="10936" y="7268"/>
                </a:lnTo>
                <a:lnTo>
                  <a:pt x="12311" y="7268"/>
                </a:lnTo>
                <a:lnTo>
                  <a:pt x="12311" y="6230"/>
                </a:lnTo>
                <a:lnTo>
                  <a:pt x="13033" y="6230"/>
                </a:lnTo>
                <a:lnTo>
                  <a:pt x="13033" y="8993"/>
                </a:lnTo>
                <a:cubicBezTo>
                  <a:pt x="13033" y="8993"/>
                  <a:pt x="12311" y="8993"/>
                  <a:pt x="12311" y="8993"/>
                </a:cubicBezTo>
                <a:close/>
                <a:moveTo>
                  <a:pt x="16086" y="3348"/>
                </a:moveTo>
                <a:lnTo>
                  <a:pt x="16135" y="3271"/>
                </a:lnTo>
                <a:lnTo>
                  <a:pt x="17787" y="1111"/>
                </a:lnTo>
                <a:lnTo>
                  <a:pt x="17787" y="3348"/>
                </a:lnTo>
                <a:cubicBezTo>
                  <a:pt x="17787" y="3348"/>
                  <a:pt x="16086" y="3348"/>
                  <a:pt x="16086" y="3348"/>
                </a:cubicBezTo>
                <a:close/>
                <a:moveTo>
                  <a:pt x="17787" y="5367"/>
                </a:moveTo>
                <a:lnTo>
                  <a:pt x="19104" y="5367"/>
                </a:lnTo>
                <a:lnTo>
                  <a:pt x="19104" y="4180"/>
                </a:lnTo>
                <a:lnTo>
                  <a:pt x="19868" y="4180"/>
                </a:lnTo>
                <a:lnTo>
                  <a:pt x="19868" y="3348"/>
                </a:lnTo>
                <a:lnTo>
                  <a:pt x="19104" y="3348"/>
                </a:lnTo>
                <a:lnTo>
                  <a:pt x="19104" y="0"/>
                </a:lnTo>
                <a:lnTo>
                  <a:pt x="17613" y="0"/>
                </a:lnTo>
                <a:lnTo>
                  <a:pt x="15106" y="3271"/>
                </a:lnTo>
                <a:lnTo>
                  <a:pt x="15106" y="4180"/>
                </a:lnTo>
                <a:lnTo>
                  <a:pt x="17787" y="4180"/>
                </a:lnTo>
                <a:cubicBezTo>
                  <a:pt x="17787" y="4180"/>
                  <a:pt x="17787" y="5367"/>
                  <a:pt x="17787" y="5367"/>
                </a:cubicBezTo>
                <a:close/>
                <a:moveTo>
                  <a:pt x="14415" y="5367"/>
                </a:moveTo>
                <a:lnTo>
                  <a:pt x="9776" y="5367"/>
                </a:lnTo>
                <a:lnTo>
                  <a:pt x="9776" y="5360"/>
                </a:lnTo>
                <a:cubicBezTo>
                  <a:pt x="9776" y="4876"/>
                  <a:pt x="9929" y="4451"/>
                  <a:pt x="10247" y="4095"/>
                </a:cubicBezTo>
                <a:cubicBezTo>
                  <a:pt x="10563" y="3746"/>
                  <a:pt x="11159" y="3340"/>
                  <a:pt x="12024" y="2853"/>
                </a:cubicBezTo>
                <a:cubicBezTo>
                  <a:pt x="12410" y="2643"/>
                  <a:pt x="12676" y="2443"/>
                  <a:pt x="12841" y="2271"/>
                </a:cubicBezTo>
                <a:cubicBezTo>
                  <a:pt x="13003" y="2089"/>
                  <a:pt x="13081" y="1892"/>
                  <a:pt x="13081" y="1674"/>
                </a:cubicBezTo>
                <a:cubicBezTo>
                  <a:pt x="13081" y="1440"/>
                  <a:pt x="12995" y="1243"/>
                  <a:pt x="12820" y="1106"/>
                </a:cubicBezTo>
                <a:cubicBezTo>
                  <a:pt x="12648" y="954"/>
                  <a:pt x="12416" y="885"/>
                  <a:pt x="12121" y="885"/>
                </a:cubicBezTo>
                <a:cubicBezTo>
                  <a:pt x="11824" y="885"/>
                  <a:pt x="11581" y="976"/>
                  <a:pt x="11419" y="1158"/>
                </a:cubicBezTo>
                <a:cubicBezTo>
                  <a:pt x="11235" y="1342"/>
                  <a:pt x="11159" y="1590"/>
                  <a:pt x="11169" y="1892"/>
                </a:cubicBezTo>
                <a:lnTo>
                  <a:pt x="9863" y="1892"/>
                </a:lnTo>
                <a:cubicBezTo>
                  <a:pt x="9842" y="1317"/>
                  <a:pt x="10038" y="855"/>
                  <a:pt x="10449" y="514"/>
                </a:cubicBezTo>
                <a:cubicBezTo>
                  <a:pt x="10851" y="175"/>
                  <a:pt x="11419" y="0"/>
                  <a:pt x="12139" y="0"/>
                </a:cubicBezTo>
                <a:cubicBezTo>
                  <a:pt x="12801" y="0"/>
                  <a:pt x="13348" y="159"/>
                  <a:pt x="13779" y="470"/>
                </a:cubicBezTo>
                <a:cubicBezTo>
                  <a:pt x="14194" y="786"/>
                  <a:pt x="14415" y="1188"/>
                  <a:pt x="14415" y="1679"/>
                </a:cubicBezTo>
                <a:cubicBezTo>
                  <a:pt x="14415" y="2089"/>
                  <a:pt x="14290" y="2430"/>
                  <a:pt x="14051" y="2695"/>
                </a:cubicBezTo>
                <a:cubicBezTo>
                  <a:pt x="13810" y="2960"/>
                  <a:pt x="13358" y="3263"/>
                  <a:pt x="12697" y="3595"/>
                </a:cubicBezTo>
                <a:cubicBezTo>
                  <a:pt x="12080" y="3907"/>
                  <a:pt x="11668" y="4180"/>
                  <a:pt x="11438" y="4429"/>
                </a:cubicBezTo>
                <a:lnTo>
                  <a:pt x="11438" y="4437"/>
                </a:lnTo>
                <a:lnTo>
                  <a:pt x="14415" y="4437"/>
                </a:lnTo>
                <a:cubicBezTo>
                  <a:pt x="14415" y="4437"/>
                  <a:pt x="14415" y="5367"/>
                  <a:pt x="14415" y="5367"/>
                </a:cubicBezTo>
                <a:close/>
                <a:moveTo>
                  <a:pt x="11045" y="20298"/>
                </a:moveTo>
                <a:cubicBezTo>
                  <a:pt x="11045" y="21008"/>
                  <a:pt x="10314" y="21600"/>
                  <a:pt x="9403" y="21600"/>
                </a:cubicBezTo>
                <a:cubicBezTo>
                  <a:pt x="8489" y="21600"/>
                  <a:pt x="7750" y="21008"/>
                  <a:pt x="7750" y="20298"/>
                </a:cubicBezTo>
                <a:cubicBezTo>
                  <a:pt x="7750" y="19577"/>
                  <a:pt x="8489" y="18995"/>
                  <a:pt x="9403" y="18995"/>
                </a:cubicBezTo>
                <a:cubicBezTo>
                  <a:pt x="10314" y="18995"/>
                  <a:pt x="11045" y="19577"/>
                  <a:pt x="11045" y="20298"/>
                </a:cubicBezTo>
                <a:cubicBezTo>
                  <a:pt x="11045" y="20298"/>
                  <a:pt x="11045" y="20298"/>
                  <a:pt x="11045" y="20298"/>
                </a:cubicBezTo>
                <a:close/>
                <a:moveTo>
                  <a:pt x="5175" y="20298"/>
                </a:moveTo>
                <a:cubicBezTo>
                  <a:pt x="5175" y="21008"/>
                  <a:pt x="4448" y="21600"/>
                  <a:pt x="3541" y="21600"/>
                </a:cubicBezTo>
                <a:cubicBezTo>
                  <a:pt x="2625" y="21600"/>
                  <a:pt x="1882" y="21008"/>
                  <a:pt x="1882" y="20298"/>
                </a:cubicBezTo>
                <a:cubicBezTo>
                  <a:pt x="1882" y="19577"/>
                  <a:pt x="2625" y="18995"/>
                  <a:pt x="3541" y="18995"/>
                </a:cubicBezTo>
                <a:cubicBezTo>
                  <a:pt x="4448" y="18995"/>
                  <a:pt x="5175" y="19577"/>
                  <a:pt x="5175" y="20298"/>
                </a:cubicBezTo>
                <a:cubicBezTo>
                  <a:pt x="5175" y="20298"/>
                  <a:pt x="5175" y="20298"/>
                  <a:pt x="5175" y="20298"/>
                </a:cubicBezTo>
                <a:close/>
                <a:moveTo>
                  <a:pt x="21600" y="12006"/>
                </a:moveTo>
                <a:cubicBezTo>
                  <a:pt x="21600" y="12259"/>
                  <a:pt x="21339" y="12460"/>
                  <a:pt x="21021" y="12460"/>
                </a:cubicBezTo>
                <a:lnTo>
                  <a:pt x="16990" y="12460"/>
                </a:lnTo>
                <a:lnTo>
                  <a:pt x="13714" y="18359"/>
                </a:lnTo>
                <a:cubicBezTo>
                  <a:pt x="13627" y="18526"/>
                  <a:pt x="13417" y="18624"/>
                  <a:pt x="13184" y="18624"/>
                </a:cubicBezTo>
                <a:lnTo>
                  <a:pt x="847" y="18624"/>
                </a:lnTo>
                <a:cubicBezTo>
                  <a:pt x="523" y="18624"/>
                  <a:pt x="264" y="18428"/>
                  <a:pt x="264" y="18177"/>
                </a:cubicBezTo>
                <a:cubicBezTo>
                  <a:pt x="264" y="17928"/>
                  <a:pt x="523" y="17723"/>
                  <a:pt x="847" y="17723"/>
                </a:cubicBezTo>
                <a:lnTo>
                  <a:pt x="12810" y="17723"/>
                </a:lnTo>
                <a:lnTo>
                  <a:pt x="16086" y="11824"/>
                </a:lnTo>
                <a:cubicBezTo>
                  <a:pt x="16174" y="11657"/>
                  <a:pt x="16384" y="11554"/>
                  <a:pt x="16613" y="11554"/>
                </a:cubicBezTo>
                <a:lnTo>
                  <a:pt x="21021" y="11554"/>
                </a:lnTo>
                <a:cubicBezTo>
                  <a:pt x="21339" y="11554"/>
                  <a:pt x="21600" y="11758"/>
                  <a:pt x="21600" y="12006"/>
                </a:cubicBezTo>
                <a:cubicBezTo>
                  <a:pt x="21600" y="12006"/>
                  <a:pt x="21600" y="12006"/>
                  <a:pt x="21600" y="12006"/>
                </a:cubicBezTo>
                <a:close/>
                <a:moveTo>
                  <a:pt x="3650" y="4466"/>
                </a:moveTo>
                <a:cubicBezTo>
                  <a:pt x="5034" y="4466"/>
                  <a:pt x="6147" y="5345"/>
                  <a:pt x="6147" y="6435"/>
                </a:cubicBezTo>
                <a:lnTo>
                  <a:pt x="6147" y="9675"/>
                </a:lnTo>
                <a:lnTo>
                  <a:pt x="1158" y="9675"/>
                </a:lnTo>
                <a:lnTo>
                  <a:pt x="1158" y="6435"/>
                </a:lnTo>
                <a:cubicBezTo>
                  <a:pt x="1158" y="5345"/>
                  <a:pt x="2273" y="4466"/>
                  <a:pt x="3650" y="4466"/>
                </a:cubicBezTo>
                <a:cubicBezTo>
                  <a:pt x="3650" y="4466"/>
                  <a:pt x="3650" y="4466"/>
                  <a:pt x="3650" y="4466"/>
                </a:cubicBezTo>
                <a:close/>
                <a:moveTo>
                  <a:pt x="10936" y="11113"/>
                </a:moveTo>
                <a:lnTo>
                  <a:pt x="5982" y="15080"/>
                </a:lnTo>
                <a:cubicBezTo>
                  <a:pt x="4963" y="13984"/>
                  <a:pt x="5059" y="12430"/>
                  <a:pt x="6310" y="11431"/>
                </a:cubicBezTo>
                <a:cubicBezTo>
                  <a:pt x="6992" y="10888"/>
                  <a:pt x="7903" y="10585"/>
                  <a:pt x="8872" y="10585"/>
                </a:cubicBezTo>
                <a:cubicBezTo>
                  <a:pt x="9620" y="10590"/>
                  <a:pt x="10341" y="10772"/>
                  <a:pt x="10936" y="11113"/>
                </a:cubicBezTo>
                <a:cubicBezTo>
                  <a:pt x="10936" y="11113"/>
                  <a:pt x="10936" y="11113"/>
                  <a:pt x="10936" y="11113"/>
                </a:cubicBezTo>
                <a:close/>
                <a:moveTo>
                  <a:pt x="11438" y="15405"/>
                </a:moveTo>
                <a:cubicBezTo>
                  <a:pt x="10228" y="16366"/>
                  <a:pt x="8201" y="16481"/>
                  <a:pt x="6809" y="15716"/>
                </a:cubicBezTo>
                <a:lnTo>
                  <a:pt x="11765" y="11750"/>
                </a:lnTo>
                <a:cubicBezTo>
                  <a:pt x="12784" y="12856"/>
                  <a:pt x="12685" y="14398"/>
                  <a:pt x="11438" y="15405"/>
                </a:cubicBezTo>
                <a:cubicBezTo>
                  <a:pt x="11438" y="15405"/>
                  <a:pt x="11438" y="15405"/>
                  <a:pt x="11438" y="15405"/>
                </a:cubicBezTo>
                <a:close/>
                <a:moveTo>
                  <a:pt x="1158" y="14082"/>
                </a:moveTo>
                <a:lnTo>
                  <a:pt x="1158" y="10585"/>
                </a:lnTo>
                <a:lnTo>
                  <a:pt x="5811" y="10585"/>
                </a:lnTo>
                <a:cubicBezTo>
                  <a:pt x="5704" y="10652"/>
                  <a:pt x="5590" y="10720"/>
                  <a:pt x="5493" y="10794"/>
                </a:cubicBezTo>
                <a:cubicBezTo>
                  <a:pt x="3821" y="12135"/>
                  <a:pt x="3713" y="14218"/>
                  <a:pt x="5109" y="15670"/>
                </a:cubicBezTo>
                <a:cubicBezTo>
                  <a:pt x="4686" y="15913"/>
                  <a:pt x="4187" y="16050"/>
                  <a:pt x="3650" y="16050"/>
                </a:cubicBezTo>
                <a:cubicBezTo>
                  <a:pt x="2273" y="16050"/>
                  <a:pt x="1158" y="15170"/>
                  <a:pt x="1158" y="14082"/>
                </a:cubicBezTo>
                <a:cubicBezTo>
                  <a:pt x="1158" y="14082"/>
                  <a:pt x="1158" y="14082"/>
                  <a:pt x="1158" y="14082"/>
                </a:cubicBezTo>
                <a:close/>
                <a:moveTo>
                  <a:pt x="3650" y="16958"/>
                </a:moveTo>
                <a:cubicBezTo>
                  <a:pt x="4485" y="16958"/>
                  <a:pt x="5271" y="16732"/>
                  <a:pt x="5916" y="16323"/>
                </a:cubicBezTo>
                <a:cubicBezTo>
                  <a:pt x="6761" y="16852"/>
                  <a:pt x="7778" y="17155"/>
                  <a:pt x="8872" y="17155"/>
                </a:cubicBezTo>
                <a:cubicBezTo>
                  <a:pt x="10151" y="17155"/>
                  <a:pt x="11360" y="16761"/>
                  <a:pt x="12252" y="16041"/>
                </a:cubicBezTo>
                <a:cubicBezTo>
                  <a:pt x="14088" y="14573"/>
                  <a:pt x="14067" y="12195"/>
                  <a:pt x="12204" y="10750"/>
                </a:cubicBezTo>
                <a:cubicBezTo>
                  <a:pt x="11304" y="10059"/>
                  <a:pt x="10123" y="9675"/>
                  <a:pt x="8872" y="9675"/>
                </a:cubicBezTo>
                <a:cubicBezTo>
                  <a:pt x="8326" y="9675"/>
                  <a:pt x="7799" y="9764"/>
                  <a:pt x="7297" y="9902"/>
                </a:cubicBezTo>
                <a:lnTo>
                  <a:pt x="7297" y="6435"/>
                </a:lnTo>
                <a:cubicBezTo>
                  <a:pt x="7297" y="4846"/>
                  <a:pt x="5667" y="3557"/>
                  <a:pt x="3650" y="3557"/>
                </a:cubicBezTo>
                <a:cubicBezTo>
                  <a:pt x="1639" y="3557"/>
                  <a:pt x="0" y="4846"/>
                  <a:pt x="0" y="6435"/>
                </a:cubicBezTo>
                <a:lnTo>
                  <a:pt x="0" y="14082"/>
                </a:lnTo>
                <a:cubicBezTo>
                  <a:pt x="0" y="15670"/>
                  <a:pt x="1639" y="16958"/>
                  <a:pt x="3650" y="16958"/>
                </a:cubicBezTo>
                <a:cubicBezTo>
                  <a:pt x="3650" y="16958"/>
                  <a:pt x="3650" y="16958"/>
                  <a:pt x="3650" y="16958"/>
                </a:cubicBezTo>
                <a:close/>
              </a:path>
            </a:pathLst>
          </a:custGeom>
          <a:solidFill>
            <a:srgbClr val="0070C0"/>
          </a:solidFill>
          <a:ln>
            <a:noFill/>
          </a:ln>
        </p:spPr>
        <p:txBody>
          <a:bodyPr anchor="ctr"/>
          <a:lstStyle/>
          <a:p>
            <a:endParaRPr lang="zh-CN" altLang="en-US">
              <a:latin typeface="微软雅黑" panose="020B0503020204020204" pitchFamily="34" charset="-122"/>
              <a:ea typeface="微软雅黑" panose="020B0503020204020204" pitchFamily="34" charset="-122"/>
            </a:endParaRPr>
          </a:p>
        </p:txBody>
      </p:sp>
      <p:sp>
        <p:nvSpPr>
          <p:cNvPr id="6" name="文本框 5"/>
          <p:cNvSpPr txBox="1"/>
          <p:nvPr/>
        </p:nvSpPr>
        <p:spPr>
          <a:xfrm>
            <a:off x="1121410" y="839470"/>
            <a:ext cx="10060305" cy="1133475"/>
          </a:xfrm>
          <a:prstGeom prst="rect">
            <a:avLst/>
          </a:prstGeom>
          <a:noFill/>
        </p:spPr>
        <p:txBody>
          <a:bodyPr wrap="square" rtlCol="0" anchor="t">
            <a:noAutofit/>
          </a:bodyPr>
          <a:lstStyle/>
          <a:p>
            <a:pPr>
              <a:lnSpc>
                <a:spcPct val="150000"/>
              </a:lnSpc>
            </a:pPr>
            <a:r>
              <a:rPr lang="en-US" altLang="zh-CN" sz="2000" b="1" dirty="0">
                <a:solidFill>
                  <a:srgbClr val="595959"/>
                </a:solidFill>
                <a:latin typeface="微软雅黑" panose="020B0503020204020204" pitchFamily="34" charset="-122"/>
                <a:ea typeface="微软雅黑" panose="020B0503020204020204" pitchFamily="34" charset="-122"/>
                <a:sym typeface="+mn-ea"/>
              </a:rPr>
              <a:t>5. 按照测试项目分类</a:t>
            </a: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sym typeface="+mn-ea"/>
              </a:rPr>
              <a:t>按照测试项目可以将软件测试分为</a:t>
            </a:r>
            <a:r>
              <a:rPr lang="en-US" altLang="zh-CN" sz="2000" dirty="0">
                <a:solidFill>
                  <a:srgbClr val="0070C0"/>
                </a:solidFill>
                <a:latin typeface="微软雅黑" panose="020B0503020204020204" pitchFamily="34" charset="-122"/>
                <a:ea typeface="微软雅黑" panose="020B0503020204020204" pitchFamily="34" charset="-122"/>
                <a:sym typeface="+mn-ea"/>
              </a:rPr>
              <a:t>界面测试、功能测试、性能测试、安全性测试、文档测试</a:t>
            </a:r>
            <a:r>
              <a:rPr lang="en-US" altLang="zh-CN" sz="2000" dirty="0">
                <a:solidFill>
                  <a:srgbClr val="595959"/>
                </a:solidFill>
                <a:latin typeface="微软雅黑" panose="020B0503020204020204" pitchFamily="34" charset="-122"/>
                <a:ea typeface="微软雅黑" panose="020B0503020204020204" pitchFamily="34" charset="-122"/>
                <a:sym typeface="+mn-ea"/>
              </a:rPr>
              <a:t>等</a:t>
            </a:r>
            <a:r>
              <a:rPr lang="en-US" altLang="zh-CN" sz="2000">
                <a:solidFill>
                  <a:srgbClr val="595959"/>
                </a:solidFill>
                <a:latin typeface="微软雅黑" panose="020B0503020204020204" pitchFamily="34" charset="-122"/>
                <a:ea typeface="微软雅黑" panose="020B0503020204020204" pitchFamily="34" charset="-122"/>
                <a:sym typeface="+mn-ea"/>
              </a:rPr>
              <a:t>，其中功能测试</a:t>
            </a:r>
            <a:r>
              <a:rPr lang="zh-CN" altLang="en-US" sz="2000">
                <a:solidFill>
                  <a:srgbClr val="595959"/>
                </a:solidFill>
                <a:latin typeface="微软雅黑" panose="020B0503020204020204" pitchFamily="34" charset="-122"/>
                <a:ea typeface="微软雅黑" panose="020B0503020204020204" pitchFamily="34" charset="-122"/>
                <a:sym typeface="+mn-ea"/>
              </a:rPr>
              <a:t>和</a:t>
            </a:r>
            <a:r>
              <a:rPr lang="en-US" altLang="zh-CN" sz="2000">
                <a:solidFill>
                  <a:srgbClr val="595959"/>
                </a:solidFill>
                <a:latin typeface="微软雅黑" panose="020B0503020204020204" pitchFamily="34" charset="-122"/>
                <a:ea typeface="微软雅黑" panose="020B0503020204020204" pitchFamily="34" charset="-122"/>
                <a:sym typeface="+mn-ea"/>
              </a:rPr>
              <a:t>性能测试前面已经介绍</a:t>
            </a:r>
            <a:r>
              <a:rPr lang="en-US"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a:solidFill>
                  <a:srgbClr val="595959"/>
                </a:solidFill>
                <a:latin typeface="微软雅黑" panose="020B0503020204020204" pitchFamily="34" charset="-122"/>
                <a:ea typeface="微软雅黑" panose="020B0503020204020204" pitchFamily="34" charset="-122"/>
                <a:sym typeface="+mn-ea"/>
              </a:rPr>
              <a:t>下面主要介绍其他几种测试。</a:t>
            </a:r>
            <a:endParaRPr lang="en-US" altLang="zh-CN" sz="2000" dirty="0">
              <a:solidFill>
                <a:srgbClr val="595959"/>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1.3.5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软件测试的分类</a:t>
            </a:r>
          </a:p>
        </p:txBody>
      </p:sp>
      <p:sp>
        <p:nvSpPr>
          <p:cNvPr id="6" name="文本框 5"/>
          <p:cNvSpPr txBox="1"/>
          <p:nvPr/>
        </p:nvSpPr>
        <p:spPr>
          <a:xfrm>
            <a:off x="1121410" y="839470"/>
            <a:ext cx="10060305" cy="1387475"/>
          </a:xfrm>
          <a:prstGeom prst="rect">
            <a:avLst/>
          </a:prstGeom>
          <a:noFill/>
        </p:spPr>
        <p:txBody>
          <a:bodyPr wrap="square" rtlCol="0" anchor="t">
            <a:noAutofit/>
          </a:bodyPr>
          <a:lstStyle/>
          <a:p>
            <a:pPr>
              <a:lnSpc>
                <a:spcPct val="150000"/>
              </a:lnSpc>
            </a:pPr>
            <a:r>
              <a:rPr lang="en-US" altLang="zh-CN" sz="2000" b="1" dirty="0">
                <a:solidFill>
                  <a:srgbClr val="595959"/>
                </a:solidFill>
                <a:latin typeface="微软雅黑" panose="020B0503020204020204" pitchFamily="34" charset="-122"/>
                <a:ea typeface="微软雅黑" panose="020B0503020204020204" pitchFamily="34" charset="-122"/>
                <a:sym typeface="+mn-ea"/>
              </a:rPr>
              <a:t>6. 其他分类</a:t>
            </a: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sym typeface="+mn-ea"/>
              </a:rPr>
              <a:t>还有一些软件测试无法具体归到哪一类，</a:t>
            </a:r>
            <a:r>
              <a:rPr lang="en-US" altLang="zh-CN" sz="2000">
                <a:solidFill>
                  <a:srgbClr val="595959"/>
                </a:solidFill>
                <a:latin typeface="微软雅黑" panose="020B0503020204020204" pitchFamily="34" charset="-122"/>
                <a:ea typeface="微软雅黑" panose="020B0503020204020204" pitchFamily="34" charset="-122"/>
                <a:sym typeface="+mn-ea"/>
              </a:rPr>
              <a:t>但在测试行业中也会经常进行这些测试，</a:t>
            </a:r>
            <a:r>
              <a:rPr lang="zh-CN" altLang="en-US" sz="2000">
                <a:solidFill>
                  <a:srgbClr val="595959"/>
                </a:solidFill>
                <a:latin typeface="微软雅黑" panose="020B0503020204020204" pitchFamily="34" charset="-122"/>
                <a:ea typeface="微软雅黑" panose="020B0503020204020204" pitchFamily="34" charset="-122"/>
                <a:sym typeface="+mn-ea"/>
              </a:rPr>
              <a:t>例</a:t>
            </a:r>
            <a:r>
              <a:rPr lang="en-US" altLang="zh-CN" sz="2000">
                <a:solidFill>
                  <a:srgbClr val="595959"/>
                </a:solidFill>
                <a:latin typeface="微软雅黑" panose="020B0503020204020204" pitchFamily="34" charset="-122"/>
                <a:ea typeface="微软雅黑" panose="020B0503020204020204" pitchFamily="34" charset="-122"/>
                <a:sym typeface="+mn-ea"/>
              </a:rPr>
              <a:t>如</a:t>
            </a:r>
            <a:r>
              <a:rPr lang="en-US" altLang="zh-CN" sz="2000" dirty="0">
                <a:solidFill>
                  <a:srgbClr val="0070C0"/>
                </a:solidFill>
                <a:latin typeface="微软雅黑" panose="020B0503020204020204" pitchFamily="34" charset="-122"/>
                <a:ea typeface="微软雅黑" panose="020B0503020204020204" pitchFamily="34" charset="-122"/>
                <a:sym typeface="+mn-ea"/>
              </a:rPr>
              <a:t>α测试、β测试</a:t>
            </a:r>
            <a:r>
              <a:rPr lang="en-US" altLang="zh-CN" sz="2000">
                <a:solidFill>
                  <a:srgbClr val="0070C0"/>
                </a:solidFill>
                <a:latin typeface="微软雅黑" panose="020B0503020204020204" pitchFamily="34" charset="-122"/>
                <a:ea typeface="微软雅黑" panose="020B0503020204020204" pitchFamily="34" charset="-122"/>
                <a:sym typeface="+mn-ea"/>
              </a:rPr>
              <a:t>、回归测试</a:t>
            </a:r>
            <a:r>
              <a:rPr lang="zh-CN" altLang="en-US" sz="2000">
                <a:solidFill>
                  <a:srgbClr val="0070C0"/>
                </a:solidFill>
                <a:latin typeface="微软雅黑" panose="020B0503020204020204" pitchFamily="34" charset="-122"/>
                <a:ea typeface="微软雅黑" panose="020B0503020204020204" pitchFamily="34" charset="-122"/>
                <a:sym typeface="+mn-ea"/>
              </a:rPr>
              <a:t>、随机测试</a:t>
            </a:r>
            <a:r>
              <a:rPr lang="en-US" altLang="zh-CN" sz="2000">
                <a:solidFill>
                  <a:srgbClr val="595959"/>
                </a:solidFill>
                <a:latin typeface="微软雅黑" panose="020B0503020204020204" pitchFamily="34" charset="-122"/>
                <a:ea typeface="微软雅黑" panose="020B0503020204020204" pitchFamily="34" charset="-122"/>
                <a:sym typeface="+mn-ea"/>
              </a:rPr>
              <a:t>等。具体介绍如下</a:t>
            </a:r>
            <a:r>
              <a:rPr lang="zh-CN" altLang="en-US" sz="2000">
                <a:solidFill>
                  <a:srgbClr val="595959"/>
                </a:solidFill>
                <a:latin typeface="微软雅黑" panose="020B0503020204020204" pitchFamily="34" charset="-122"/>
                <a:ea typeface="微软雅黑" panose="020B0503020204020204" pitchFamily="34" charset="-122"/>
                <a:sym typeface="+mn-ea"/>
              </a:rPr>
              <a:t>。</a:t>
            </a:r>
            <a:endParaRPr lang="en-US" altLang="zh-CN" sz="2000" dirty="0">
              <a:solidFill>
                <a:srgbClr val="595959"/>
              </a:solidFill>
              <a:latin typeface="微软雅黑" panose="020B0503020204020204" pitchFamily="34" charset="-122"/>
              <a:ea typeface="微软雅黑" panose="020B0503020204020204" pitchFamily="34" charset="-122"/>
              <a:sym typeface="+mn-ea"/>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a:t>
            </a:r>
          </a:p>
          <a:p>
            <a:pPr>
              <a:lnSpc>
                <a:spcPct val="150000"/>
              </a:lnSpc>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	</a:t>
            </a:r>
          </a:p>
          <a:p>
            <a:pPr>
              <a:lnSpc>
                <a:spcPct val="150000"/>
              </a:lnSpc>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	</a:t>
            </a:r>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 name="Shape 1452"/>
          <p:cNvSpPr/>
          <p:nvPr/>
        </p:nvSpPr>
        <p:spPr>
          <a:xfrm>
            <a:off x="1085482" y="3659048"/>
            <a:ext cx="2292817" cy="2768210"/>
          </a:xfrm>
          <a:prstGeom prst="roundRect">
            <a:avLst>
              <a:gd name="adj" fmla="val 6924"/>
            </a:avLst>
          </a:prstGeom>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4" name="Shape 1454"/>
          <p:cNvSpPr/>
          <p:nvPr/>
        </p:nvSpPr>
        <p:spPr>
          <a:xfrm>
            <a:off x="3632811" y="3659048"/>
            <a:ext cx="2292819" cy="2768210"/>
          </a:xfrm>
          <a:prstGeom prst="roundRect">
            <a:avLst>
              <a:gd name="adj" fmla="val 6924"/>
            </a:avLst>
          </a:prstGeom>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5" name="Shape 1456"/>
          <p:cNvSpPr/>
          <p:nvPr/>
        </p:nvSpPr>
        <p:spPr>
          <a:xfrm>
            <a:off x="6159692" y="3659048"/>
            <a:ext cx="2292819" cy="2768210"/>
          </a:xfrm>
          <a:prstGeom prst="roundRect">
            <a:avLst>
              <a:gd name="adj" fmla="val 6924"/>
            </a:avLst>
          </a:prstGeom>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7" name="Shape 1458"/>
          <p:cNvSpPr/>
          <p:nvPr/>
        </p:nvSpPr>
        <p:spPr>
          <a:xfrm>
            <a:off x="8707021" y="3659048"/>
            <a:ext cx="2292819" cy="2768210"/>
          </a:xfrm>
          <a:prstGeom prst="roundRect">
            <a:avLst>
              <a:gd name="adj" fmla="val 6924"/>
            </a:avLst>
          </a:prstGeom>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8" name="Shape 1460"/>
          <p:cNvSpPr/>
          <p:nvPr/>
        </p:nvSpPr>
        <p:spPr>
          <a:xfrm>
            <a:off x="1387985" y="2566028"/>
            <a:ext cx="1687812" cy="168781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19051" tIns="19051" rIns="19051" bIns="19051"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grpSp>
        <p:nvGrpSpPr>
          <p:cNvPr id="9" name="Group 20"/>
          <p:cNvGrpSpPr/>
          <p:nvPr/>
        </p:nvGrpSpPr>
        <p:grpSpPr>
          <a:xfrm>
            <a:off x="1315749" y="2606260"/>
            <a:ext cx="474017" cy="474017"/>
            <a:chOff x="1369087" y="2088729"/>
            <a:chExt cx="474017" cy="474016"/>
          </a:xfrm>
        </p:grpSpPr>
        <p:sp>
          <p:nvSpPr>
            <p:cNvPr id="10" name="Shape 1463"/>
            <p:cNvSpPr/>
            <p:nvPr/>
          </p:nvSpPr>
          <p:spPr>
            <a:xfrm>
              <a:off x="1369087" y="2088729"/>
              <a:ext cx="474017" cy="47401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DCDEE0"/>
            </a:solidFill>
            <a:ln w="12700">
              <a:miter lim="400000"/>
            </a:ln>
          </p:spPr>
          <p:txBody>
            <a:bodyPr lIns="25400" tIns="25400" rIns="25400" bIns="25400"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1" name="Shape 1464"/>
            <p:cNvSpPr/>
            <p:nvPr/>
          </p:nvSpPr>
          <p:spPr>
            <a:xfrm>
              <a:off x="1477567" y="2232573"/>
              <a:ext cx="231656" cy="186335"/>
            </a:xfrm>
            <a:custGeom>
              <a:avLst/>
              <a:gdLst/>
              <a:ahLst/>
              <a:cxnLst>
                <a:cxn ang="0">
                  <a:pos x="wd2" y="hd2"/>
                </a:cxn>
                <a:cxn ang="5400000">
                  <a:pos x="wd2" y="hd2"/>
                </a:cxn>
                <a:cxn ang="10800000">
                  <a:pos x="wd2" y="hd2"/>
                </a:cxn>
                <a:cxn ang="16200000">
                  <a:pos x="wd2" y="hd2"/>
                </a:cxn>
              </a:cxnLst>
              <a:rect l="0" t="0" r="r" b="b"/>
              <a:pathLst>
                <a:path w="21400" h="21363" extrusionOk="0">
                  <a:moveTo>
                    <a:pt x="7274" y="21020"/>
                  </a:moveTo>
                  <a:cubicBezTo>
                    <a:pt x="7274" y="21376"/>
                    <a:pt x="7435" y="21475"/>
                    <a:pt x="7659" y="21222"/>
                  </a:cubicBezTo>
                  <a:cubicBezTo>
                    <a:pt x="7951" y="20894"/>
                    <a:pt x="10973" y="17529"/>
                    <a:pt x="10973" y="17529"/>
                  </a:cubicBezTo>
                  <a:lnTo>
                    <a:pt x="7274" y="15153"/>
                  </a:lnTo>
                  <a:cubicBezTo>
                    <a:pt x="7274" y="15153"/>
                    <a:pt x="7274" y="21020"/>
                    <a:pt x="7274" y="21020"/>
                  </a:cubicBezTo>
                  <a:close/>
                  <a:moveTo>
                    <a:pt x="20812" y="50"/>
                  </a:moveTo>
                  <a:cubicBezTo>
                    <a:pt x="20412" y="224"/>
                    <a:pt x="667" y="8860"/>
                    <a:pt x="277" y="9030"/>
                  </a:cubicBezTo>
                  <a:cubicBezTo>
                    <a:pt x="-53" y="9174"/>
                    <a:pt x="-126" y="9528"/>
                    <a:pt x="266" y="9723"/>
                  </a:cubicBezTo>
                  <a:cubicBezTo>
                    <a:pt x="733" y="9955"/>
                    <a:pt x="4681" y="11919"/>
                    <a:pt x="4681" y="11919"/>
                  </a:cubicBezTo>
                  <a:lnTo>
                    <a:pt x="4681" y="11919"/>
                  </a:lnTo>
                  <a:lnTo>
                    <a:pt x="7298" y="13221"/>
                  </a:lnTo>
                  <a:cubicBezTo>
                    <a:pt x="7298" y="13221"/>
                    <a:pt x="19903" y="1732"/>
                    <a:pt x="20073" y="1577"/>
                  </a:cubicBezTo>
                  <a:cubicBezTo>
                    <a:pt x="20246" y="1420"/>
                    <a:pt x="20443" y="1713"/>
                    <a:pt x="20319" y="1881"/>
                  </a:cubicBezTo>
                  <a:cubicBezTo>
                    <a:pt x="20194" y="2050"/>
                    <a:pt x="11163" y="14170"/>
                    <a:pt x="11163" y="14170"/>
                  </a:cubicBezTo>
                  <a:cubicBezTo>
                    <a:pt x="11163" y="14170"/>
                    <a:pt x="11163" y="14170"/>
                    <a:pt x="11163" y="14171"/>
                  </a:cubicBezTo>
                  <a:lnTo>
                    <a:pt x="10637" y="14898"/>
                  </a:lnTo>
                  <a:lnTo>
                    <a:pt x="11333" y="15363"/>
                  </a:lnTo>
                  <a:lnTo>
                    <a:pt x="11333" y="15363"/>
                  </a:lnTo>
                  <a:cubicBezTo>
                    <a:pt x="11333" y="15363"/>
                    <a:pt x="16742" y="18976"/>
                    <a:pt x="17127" y="19234"/>
                  </a:cubicBezTo>
                  <a:cubicBezTo>
                    <a:pt x="17464" y="19459"/>
                    <a:pt x="17904" y="19272"/>
                    <a:pt x="18001" y="18750"/>
                  </a:cubicBezTo>
                  <a:cubicBezTo>
                    <a:pt x="18117" y="18135"/>
                    <a:pt x="21310" y="1052"/>
                    <a:pt x="21382" y="671"/>
                  </a:cubicBezTo>
                  <a:cubicBezTo>
                    <a:pt x="21474" y="177"/>
                    <a:pt x="21211" y="-125"/>
                    <a:pt x="20812" y="50"/>
                  </a:cubicBezTo>
                  <a:close/>
                </a:path>
              </a:pathLst>
            </a:custGeom>
            <a:solidFill>
              <a:schemeClr val="accent1"/>
            </a:solidFill>
            <a:ln w="12700">
              <a:miter lim="400000"/>
            </a:ln>
          </p:spPr>
          <p:txBody>
            <a:bodyPr lIns="0" tIns="0" rIns="0" bIns="0" anchor="ctr"/>
            <a:lstStyle/>
            <a:p>
              <a:pPr lvl="0"/>
              <a:endParaRPr sz="1735">
                <a:latin typeface="微软雅黑" panose="020B0503020204020204" pitchFamily="34" charset="-122"/>
                <a:ea typeface="微软雅黑" panose="020B0503020204020204" pitchFamily="34" charset="-122"/>
                <a:cs typeface="+mn-ea"/>
                <a:sym typeface="+mn-lt"/>
              </a:endParaRPr>
            </a:p>
          </p:txBody>
        </p:sp>
      </p:grpSp>
      <p:sp>
        <p:nvSpPr>
          <p:cNvPr id="12" name="Shape 1465"/>
          <p:cNvSpPr/>
          <p:nvPr/>
        </p:nvSpPr>
        <p:spPr>
          <a:xfrm>
            <a:off x="3935315" y="2566028"/>
            <a:ext cx="1687812" cy="168781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19051" tIns="19051" rIns="19051" bIns="19051"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3" name="Shape 1468"/>
          <p:cNvSpPr/>
          <p:nvPr/>
        </p:nvSpPr>
        <p:spPr>
          <a:xfrm>
            <a:off x="6480065" y="2566165"/>
            <a:ext cx="1684355" cy="168435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19051" tIns="19051" rIns="19051" bIns="19051"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4" name="Shape 1471"/>
          <p:cNvSpPr/>
          <p:nvPr/>
        </p:nvSpPr>
        <p:spPr>
          <a:xfrm>
            <a:off x="9031704" y="2567755"/>
            <a:ext cx="1684355" cy="168435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12700" cap="flat">
            <a:noFill/>
            <a:miter lim="400000"/>
          </a:ln>
          <a:effectLst/>
        </p:spPr>
        <p:txBody>
          <a:bodyPr wrap="square" lIns="19051" tIns="19051" rIns="19051" bIns="19051"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grpSp>
        <p:nvGrpSpPr>
          <p:cNvPr id="15" name="Group 32"/>
          <p:cNvGrpSpPr/>
          <p:nvPr/>
        </p:nvGrpSpPr>
        <p:grpSpPr>
          <a:xfrm>
            <a:off x="3853252" y="2606259"/>
            <a:ext cx="474017" cy="474017"/>
            <a:chOff x="3906591" y="2088732"/>
            <a:chExt cx="474017" cy="474017"/>
          </a:xfrm>
        </p:grpSpPr>
        <p:sp>
          <p:nvSpPr>
            <p:cNvPr id="16" name="Shape 1474"/>
            <p:cNvSpPr/>
            <p:nvPr/>
          </p:nvSpPr>
          <p:spPr>
            <a:xfrm>
              <a:off x="3906591" y="2088732"/>
              <a:ext cx="474017" cy="47401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solidFill>
            <a:ln w="12700">
              <a:miter lim="400000"/>
            </a:ln>
          </p:spPr>
          <p:txBody>
            <a:bodyPr lIns="25400" tIns="25400" rIns="25400" bIns="25400" anchor="ctr"/>
            <a:lstStyle/>
            <a:p>
              <a:pPr lvl="0"/>
              <a:endParaRPr sz="1735">
                <a:latin typeface="微软雅黑" panose="020B0503020204020204" pitchFamily="34" charset="-122"/>
                <a:ea typeface="微软雅黑" panose="020B0503020204020204" pitchFamily="34" charset="-122"/>
                <a:cs typeface="+mn-ea"/>
                <a:sym typeface="+mn-lt"/>
              </a:endParaRPr>
            </a:p>
          </p:txBody>
        </p:sp>
        <p:grpSp>
          <p:nvGrpSpPr>
            <p:cNvPr id="17" name="Group 1479"/>
            <p:cNvGrpSpPr/>
            <p:nvPr/>
          </p:nvGrpSpPr>
          <p:grpSpPr>
            <a:xfrm>
              <a:off x="4031314" y="2211790"/>
              <a:ext cx="199171" cy="186335"/>
              <a:chOff x="0" y="0"/>
              <a:chExt cx="398340" cy="372667"/>
            </a:xfrm>
          </p:grpSpPr>
          <p:sp>
            <p:nvSpPr>
              <p:cNvPr id="18" name="Shape 1477"/>
              <p:cNvSpPr/>
              <p:nvPr/>
            </p:nvSpPr>
            <p:spPr>
              <a:xfrm>
                <a:off x="0" y="0"/>
                <a:ext cx="346395" cy="241984"/>
              </a:xfrm>
              <a:custGeom>
                <a:avLst/>
                <a:gdLst/>
                <a:ahLst/>
                <a:cxnLst>
                  <a:cxn ang="0">
                    <a:pos x="wd2" y="hd2"/>
                  </a:cxn>
                  <a:cxn ang="5400000">
                    <a:pos x="wd2" y="hd2"/>
                  </a:cxn>
                  <a:cxn ang="10800000">
                    <a:pos x="wd2" y="hd2"/>
                  </a:cxn>
                  <a:cxn ang="16200000">
                    <a:pos x="wd2" y="hd2"/>
                  </a:cxn>
                </a:cxnLst>
                <a:rect l="0" t="0" r="r" b="b"/>
                <a:pathLst>
                  <a:path w="21474" h="21420" extrusionOk="0">
                    <a:moveTo>
                      <a:pt x="21474" y="11049"/>
                    </a:moveTo>
                    <a:lnTo>
                      <a:pt x="18909" y="958"/>
                    </a:lnTo>
                    <a:cubicBezTo>
                      <a:pt x="18720" y="217"/>
                      <a:pt x="18164" y="-180"/>
                      <a:pt x="17669" y="79"/>
                    </a:cubicBezTo>
                    <a:lnTo>
                      <a:pt x="618" y="8962"/>
                    </a:lnTo>
                    <a:cubicBezTo>
                      <a:pt x="123" y="9221"/>
                      <a:pt x="-126" y="10036"/>
                      <a:pt x="64" y="10782"/>
                    </a:cubicBezTo>
                    <a:lnTo>
                      <a:pt x="2769" y="21420"/>
                    </a:lnTo>
                    <a:lnTo>
                      <a:pt x="2769" y="15715"/>
                    </a:lnTo>
                    <a:cubicBezTo>
                      <a:pt x="2769" y="13145"/>
                      <a:pt x="4209" y="11049"/>
                      <a:pt x="5979" y="11049"/>
                    </a:cubicBezTo>
                    <a:lnTo>
                      <a:pt x="10484" y="11049"/>
                    </a:lnTo>
                    <a:lnTo>
                      <a:pt x="15858" y="5663"/>
                    </a:lnTo>
                    <a:lnTo>
                      <a:pt x="18967" y="11049"/>
                    </a:lnTo>
                    <a:cubicBezTo>
                      <a:pt x="18967" y="11049"/>
                      <a:pt x="21474" y="11049"/>
                      <a:pt x="21474" y="11049"/>
                    </a:cubicBezTo>
                    <a:close/>
                  </a:path>
                </a:pathLst>
              </a:custGeom>
              <a:solidFill>
                <a:schemeClr val="accent1"/>
              </a:solidFill>
              <a:ln w="12700" cap="flat">
                <a:noFill/>
                <a:miter lim="400000"/>
              </a:ln>
              <a:effectLst/>
            </p:spPr>
            <p:txBody>
              <a:bodyPr wrap="square" lIns="0" tIns="0" rIns="0" bIns="0"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19" name="Shape 1478"/>
              <p:cNvSpPr/>
              <p:nvPr/>
            </p:nvSpPr>
            <p:spPr>
              <a:xfrm>
                <a:off x="74826" y="149651"/>
                <a:ext cx="323515" cy="223017"/>
              </a:xfrm>
              <a:custGeom>
                <a:avLst/>
                <a:gdLst/>
                <a:ahLst/>
                <a:cxnLst>
                  <a:cxn ang="0">
                    <a:pos x="wd2" y="hd2"/>
                  </a:cxn>
                  <a:cxn ang="5400000">
                    <a:pos x="wd2" y="hd2"/>
                  </a:cxn>
                  <a:cxn ang="10800000">
                    <a:pos x="wd2" y="hd2"/>
                  </a:cxn>
                  <a:cxn ang="16200000">
                    <a:pos x="wd2" y="hd2"/>
                  </a:cxn>
                </a:cxnLst>
                <a:rect l="0" t="0" r="r" b="b"/>
                <a:pathLst>
                  <a:path w="21600" h="21600" extrusionOk="0">
                    <a:moveTo>
                      <a:pt x="20571" y="0"/>
                    </a:moveTo>
                    <a:lnTo>
                      <a:pt x="1028" y="0"/>
                    </a:lnTo>
                    <a:cubicBezTo>
                      <a:pt x="460" y="0"/>
                      <a:pt x="0" y="708"/>
                      <a:pt x="0" y="1571"/>
                    </a:cubicBezTo>
                    <a:lnTo>
                      <a:pt x="0" y="20029"/>
                    </a:lnTo>
                    <a:cubicBezTo>
                      <a:pt x="0" y="20897"/>
                      <a:pt x="460" y="21600"/>
                      <a:pt x="1028" y="21600"/>
                    </a:cubicBezTo>
                    <a:lnTo>
                      <a:pt x="20571" y="21600"/>
                    </a:lnTo>
                    <a:cubicBezTo>
                      <a:pt x="21140" y="21600"/>
                      <a:pt x="21600" y="20897"/>
                      <a:pt x="21600" y="20029"/>
                    </a:cubicBezTo>
                    <a:lnTo>
                      <a:pt x="21600" y="1571"/>
                    </a:lnTo>
                    <a:cubicBezTo>
                      <a:pt x="21600" y="708"/>
                      <a:pt x="21140" y="0"/>
                      <a:pt x="20571" y="0"/>
                    </a:cubicBezTo>
                    <a:close/>
                  </a:path>
                </a:pathLst>
              </a:custGeom>
              <a:solidFill>
                <a:schemeClr val="accent1"/>
              </a:solidFill>
              <a:ln w="12700" cap="flat">
                <a:noFill/>
                <a:miter lim="400000"/>
              </a:ln>
              <a:effectLst/>
            </p:spPr>
            <p:txBody>
              <a:bodyPr wrap="square" lIns="0" tIns="0" rIns="0" bIns="0" numCol="1" anchor="ctr">
                <a:noAutofit/>
              </a:bodyPr>
              <a:lstStyle/>
              <a:p>
                <a:pPr lvl="0"/>
                <a:endParaRPr sz="1735">
                  <a:latin typeface="微软雅黑" panose="020B0503020204020204" pitchFamily="34" charset="-122"/>
                  <a:ea typeface="微软雅黑" panose="020B0503020204020204" pitchFamily="34" charset="-122"/>
                  <a:cs typeface="+mn-ea"/>
                  <a:sym typeface="+mn-lt"/>
                </a:endParaRPr>
              </a:p>
            </p:txBody>
          </p:sp>
        </p:grpSp>
      </p:grpSp>
      <p:grpSp>
        <p:nvGrpSpPr>
          <p:cNvPr id="20" name="Group 40"/>
          <p:cNvGrpSpPr/>
          <p:nvPr/>
        </p:nvGrpSpPr>
        <p:grpSpPr>
          <a:xfrm>
            <a:off x="8941626" y="2606259"/>
            <a:ext cx="474017" cy="474017"/>
            <a:chOff x="8994965" y="2088732"/>
            <a:chExt cx="474017" cy="474017"/>
          </a:xfrm>
        </p:grpSpPr>
        <p:sp>
          <p:nvSpPr>
            <p:cNvPr id="21" name="Shape 1476"/>
            <p:cNvSpPr/>
            <p:nvPr/>
          </p:nvSpPr>
          <p:spPr>
            <a:xfrm>
              <a:off x="8994965" y="2088732"/>
              <a:ext cx="474017" cy="47401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solidFill>
            <a:ln w="12700">
              <a:miter lim="400000"/>
            </a:ln>
          </p:spPr>
          <p:txBody>
            <a:bodyPr lIns="25400" tIns="25400" rIns="25400" bIns="25400"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22" name="Shape 1481"/>
            <p:cNvSpPr/>
            <p:nvPr/>
          </p:nvSpPr>
          <p:spPr>
            <a:xfrm>
              <a:off x="9132223" y="2211790"/>
              <a:ext cx="194606" cy="186335"/>
            </a:xfrm>
            <a:custGeom>
              <a:avLst/>
              <a:gdLst/>
              <a:ahLst/>
              <a:cxnLst>
                <a:cxn ang="0">
                  <a:pos x="wd2" y="hd2"/>
                </a:cxn>
                <a:cxn ang="5400000">
                  <a:pos x="wd2" y="hd2"/>
                </a:cxn>
                <a:cxn ang="10800000">
                  <a:pos x="wd2" y="hd2"/>
                </a:cxn>
                <a:cxn ang="16200000">
                  <a:pos x="wd2" y="hd2"/>
                </a:cxn>
              </a:cxnLst>
              <a:rect l="0" t="0" r="r" b="b"/>
              <a:pathLst>
                <a:path w="21600" h="21600" extrusionOk="0">
                  <a:moveTo>
                    <a:pt x="16913" y="16137"/>
                  </a:moveTo>
                  <a:cubicBezTo>
                    <a:pt x="14080" y="15059"/>
                    <a:pt x="13176" y="14150"/>
                    <a:pt x="13176" y="12203"/>
                  </a:cubicBezTo>
                  <a:cubicBezTo>
                    <a:pt x="13176" y="11034"/>
                    <a:pt x="14040" y="11415"/>
                    <a:pt x="14419" y="9274"/>
                  </a:cubicBezTo>
                  <a:cubicBezTo>
                    <a:pt x="14577" y="8387"/>
                    <a:pt x="15341" y="9261"/>
                    <a:pt x="15487" y="7233"/>
                  </a:cubicBezTo>
                  <a:cubicBezTo>
                    <a:pt x="15487" y="6425"/>
                    <a:pt x="15071" y="6224"/>
                    <a:pt x="15071" y="6224"/>
                  </a:cubicBezTo>
                  <a:cubicBezTo>
                    <a:pt x="15071" y="6224"/>
                    <a:pt x="15283" y="5028"/>
                    <a:pt x="15366" y="4109"/>
                  </a:cubicBezTo>
                  <a:cubicBezTo>
                    <a:pt x="15468" y="2962"/>
                    <a:pt x="14731" y="0"/>
                    <a:pt x="10800" y="0"/>
                  </a:cubicBezTo>
                  <a:cubicBezTo>
                    <a:pt x="6869" y="0"/>
                    <a:pt x="6131" y="2962"/>
                    <a:pt x="6234" y="4109"/>
                  </a:cubicBezTo>
                  <a:cubicBezTo>
                    <a:pt x="6317" y="5028"/>
                    <a:pt x="6529" y="6224"/>
                    <a:pt x="6529" y="6224"/>
                  </a:cubicBezTo>
                  <a:cubicBezTo>
                    <a:pt x="6529" y="6224"/>
                    <a:pt x="6113" y="6425"/>
                    <a:pt x="6113" y="7233"/>
                  </a:cubicBezTo>
                  <a:cubicBezTo>
                    <a:pt x="6258" y="9261"/>
                    <a:pt x="7022" y="8387"/>
                    <a:pt x="7179" y="9274"/>
                  </a:cubicBezTo>
                  <a:cubicBezTo>
                    <a:pt x="7560" y="11415"/>
                    <a:pt x="8424" y="11034"/>
                    <a:pt x="8424" y="12203"/>
                  </a:cubicBezTo>
                  <a:cubicBezTo>
                    <a:pt x="8424" y="14150"/>
                    <a:pt x="7520" y="15059"/>
                    <a:pt x="4687" y="16137"/>
                  </a:cubicBezTo>
                  <a:cubicBezTo>
                    <a:pt x="1846" y="17219"/>
                    <a:pt x="0" y="18321"/>
                    <a:pt x="0" y="19073"/>
                  </a:cubicBezTo>
                  <a:cubicBezTo>
                    <a:pt x="0" y="19825"/>
                    <a:pt x="0" y="21600"/>
                    <a:pt x="0" y="21600"/>
                  </a:cubicBezTo>
                  <a:lnTo>
                    <a:pt x="10800" y="21600"/>
                  </a:lnTo>
                  <a:lnTo>
                    <a:pt x="21600" y="21600"/>
                  </a:lnTo>
                  <a:cubicBezTo>
                    <a:pt x="21600" y="21600"/>
                    <a:pt x="21600" y="19825"/>
                    <a:pt x="21600" y="19073"/>
                  </a:cubicBezTo>
                  <a:cubicBezTo>
                    <a:pt x="21600" y="18321"/>
                    <a:pt x="19754" y="17219"/>
                    <a:pt x="16913" y="16137"/>
                  </a:cubicBezTo>
                  <a:close/>
                </a:path>
              </a:pathLst>
            </a:custGeom>
            <a:solidFill>
              <a:schemeClr val="accent1"/>
            </a:solidFill>
            <a:ln w="12700">
              <a:miter lim="400000"/>
            </a:ln>
          </p:spPr>
          <p:txBody>
            <a:bodyPr lIns="0" tIns="0" rIns="0" bIns="0" anchor="ctr"/>
            <a:lstStyle/>
            <a:p>
              <a:pPr lvl="0"/>
              <a:endParaRPr sz="1735">
                <a:latin typeface="微软雅黑" panose="020B0503020204020204" pitchFamily="34" charset="-122"/>
                <a:ea typeface="微软雅黑" panose="020B0503020204020204" pitchFamily="34" charset="-122"/>
                <a:cs typeface="+mn-ea"/>
                <a:sym typeface="+mn-lt"/>
              </a:endParaRPr>
            </a:p>
          </p:txBody>
        </p:sp>
      </p:grpSp>
      <p:sp>
        <p:nvSpPr>
          <p:cNvPr id="23" name="Text Placeholder 5"/>
          <p:cNvSpPr txBox="1"/>
          <p:nvPr/>
        </p:nvSpPr>
        <p:spPr>
          <a:xfrm>
            <a:off x="1350389" y="3120992"/>
            <a:ext cx="1698820" cy="577887"/>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sz="1865" b="1" dirty="0">
                <a:solidFill>
                  <a:schemeClr val="bg1"/>
                </a:solidFill>
                <a:latin typeface="微软雅黑" panose="020B0503020204020204" pitchFamily="34" charset="-122"/>
                <a:ea typeface="微软雅黑" panose="020B0503020204020204" pitchFamily="34" charset="-122"/>
                <a:cs typeface="+mn-ea"/>
                <a:sym typeface="+mn-lt"/>
              </a:rPr>
              <a:t>α测试</a:t>
            </a:r>
          </a:p>
        </p:txBody>
      </p:sp>
      <p:sp>
        <p:nvSpPr>
          <p:cNvPr id="24" name="Text Placeholder 6"/>
          <p:cNvSpPr txBox="1"/>
          <p:nvPr/>
        </p:nvSpPr>
        <p:spPr>
          <a:xfrm>
            <a:off x="1204595" y="4477385"/>
            <a:ext cx="2054225" cy="1436370"/>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20000"/>
              </a:lnSpc>
              <a:buNone/>
            </a:pPr>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α测试是指</a:t>
            </a:r>
            <a:r>
              <a:rPr sz="1600" dirty="0">
                <a:solidFill>
                  <a:srgbClr val="0070C0"/>
                </a:solidFill>
                <a:latin typeface="微软雅黑" panose="020B0503020204020204" pitchFamily="34" charset="-122"/>
                <a:ea typeface="微软雅黑" panose="020B0503020204020204" pitchFamily="34" charset="-122"/>
                <a:cs typeface="+mn-ea"/>
                <a:sym typeface="+mn-lt"/>
              </a:rPr>
              <a:t>对软件最初版本进行测试</a:t>
            </a:r>
            <a:r>
              <a:rPr sz="16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。测试人员</a:t>
            </a:r>
            <a:r>
              <a:rPr sz="1600">
                <a:solidFill>
                  <a:srgbClr val="0070C0"/>
                </a:solidFill>
                <a:latin typeface="微软雅黑" panose="020B0503020204020204" pitchFamily="34" charset="-122"/>
                <a:ea typeface="微软雅黑" panose="020B0503020204020204" pitchFamily="34" charset="-122"/>
                <a:cs typeface="+mn-ea"/>
                <a:sym typeface="+mn-lt"/>
              </a:rPr>
              <a:t>记录</a:t>
            </a:r>
            <a:r>
              <a:rPr lang="zh-CN" altLang="en-US" sz="1600">
                <a:solidFill>
                  <a:srgbClr val="0070C0"/>
                </a:solidFill>
                <a:latin typeface="微软雅黑" panose="020B0503020204020204" pitchFamily="34" charset="-122"/>
                <a:ea typeface="微软雅黑" panose="020B0503020204020204" pitchFamily="34" charset="-122"/>
                <a:cs typeface="+mn-ea"/>
                <a:sym typeface="+mn-lt"/>
              </a:rPr>
              <a:t>软件最初版本在</a:t>
            </a:r>
            <a:r>
              <a:rPr sz="1600">
                <a:solidFill>
                  <a:srgbClr val="0070C0"/>
                </a:solidFill>
                <a:latin typeface="微软雅黑" panose="020B0503020204020204" pitchFamily="34" charset="-122"/>
                <a:ea typeface="微软雅黑" panose="020B0503020204020204" pitchFamily="34" charset="-122"/>
                <a:cs typeface="+mn-ea"/>
                <a:sym typeface="+mn-lt"/>
              </a:rPr>
              <a:t>使用过程中出现的错误</a:t>
            </a:r>
            <a:r>
              <a:rPr lang="zh-CN" altLang="en-US" sz="1600">
                <a:solidFill>
                  <a:srgbClr val="0070C0"/>
                </a:solidFill>
                <a:latin typeface="微软雅黑" panose="020B0503020204020204" pitchFamily="34" charset="-122"/>
                <a:ea typeface="微软雅黑" panose="020B0503020204020204" pitchFamily="34" charset="-122"/>
                <a:cs typeface="+mn-ea"/>
                <a:sym typeface="+mn-lt"/>
              </a:rPr>
              <a:t>和</a:t>
            </a:r>
            <a:r>
              <a:rPr sz="1600">
                <a:solidFill>
                  <a:srgbClr val="0070C0"/>
                </a:solidFill>
                <a:latin typeface="微软雅黑" panose="020B0503020204020204" pitchFamily="34" charset="-122"/>
                <a:ea typeface="微软雅黑" panose="020B0503020204020204" pitchFamily="34" charset="-122"/>
                <a:cs typeface="+mn-ea"/>
                <a:sym typeface="+mn-lt"/>
              </a:rPr>
              <a:t>问题</a:t>
            </a:r>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，整个测试过程是可控的</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5" name="Text Placeholder 5"/>
          <p:cNvSpPr txBox="1"/>
          <p:nvPr/>
        </p:nvSpPr>
        <p:spPr>
          <a:xfrm>
            <a:off x="4023102" y="3120992"/>
            <a:ext cx="1579981" cy="577887"/>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ct val="20000"/>
              </a:spcBef>
              <a:buClrTx/>
              <a:buSzTx/>
            </a:pPr>
            <a:r>
              <a:rPr lang="zh-CN" altLang="en-US" sz="1865" b="1" dirty="0">
                <a:solidFill>
                  <a:schemeClr val="bg1"/>
                </a:solidFill>
                <a:latin typeface="微软雅黑" panose="020B0503020204020204" pitchFamily="34" charset="-122"/>
                <a:ea typeface="微软雅黑" panose="020B0503020204020204" pitchFamily="34" charset="-122"/>
                <a:cs typeface="+mn-ea"/>
                <a:sym typeface="+mn-ea"/>
              </a:rPr>
              <a:t>β测试</a:t>
            </a:r>
            <a:endParaRPr lang="zh-CN" altLang="en-US" sz="1865"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26" name="Text Placeholder 5"/>
          <p:cNvSpPr txBox="1"/>
          <p:nvPr/>
        </p:nvSpPr>
        <p:spPr>
          <a:xfrm>
            <a:off x="9117762" y="3120992"/>
            <a:ext cx="1579981" cy="577887"/>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865" b="1" dirty="0">
                <a:solidFill>
                  <a:schemeClr val="bg1"/>
                </a:solidFill>
                <a:latin typeface="微软雅黑" panose="020B0503020204020204" pitchFamily="34" charset="-122"/>
                <a:ea typeface="微软雅黑" panose="020B0503020204020204" pitchFamily="34" charset="-122"/>
                <a:cs typeface="+mn-ea"/>
                <a:sym typeface="+mn-lt"/>
              </a:rPr>
              <a:t>随机测试</a:t>
            </a:r>
          </a:p>
        </p:txBody>
      </p:sp>
      <p:sp>
        <p:nvSpPr>
          <p:cNvPr id="27" name="Text Placeholder 6"/>
          <p:cNvSpPr txBox="1"/>
          <p:nvPr/>
        </p:nvSpPr>
        <p:spPr>
          <a:xfrm>
            <a:off x="3871598" y="4779764"/>
            <a:ext cx="1863608" cy="1133991"/>
          </a:xfrm>
          <a:prstGeom prst="rect">
            <a:avLst/>
          </a:prstGeom>
        </p:spPr>
        <p:txBody>
          <a:bodyPr vert="horz" lIns="0" tIns="0" rIns="0" bIns="0" rtlCol="0" anchor="ctr">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β测试是指</a:t>
            </a:r>
            <a:r>
              <a:rPr sz="1600" dirty="0">
                <a:solidFill>
                  <a:srgbClr val="0070C0"/>
                </a:solidFill>
                <a:latin typeface="微软雅黑" panose="020B0503020204020204" pitchFamily="34" charset="-122"/>
                <a:ea typeface="微软雅黑" panose="020B0503020204020204" pitchFamily="34" charset="-122"/>
                <a:cs typeface="+mn-ea"/>
                <a:sym typeface="+mn-lt"/>
              </a:rPr>
              <a:t>对上线之后的软件版本进行测试</a:t>
            </a:r>
            <a:r>
              <a:rPr sz="16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，由用户在使用过程中发现错误</a:t>
            </a: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和</a:t>
            </a:r>
            <a:r>
              <a:rPr sz="16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问题并进行记录</a:t>
            </a:r>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，然后反馈给开发人员进行修复</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8" name="Text Placeholder 6"/>
          <p:cNvSpPr txBox="1"/>
          <p:nvPr/>
        </p:nvSpPr>
        <p:spPr>
          <a:xfrm>
            <a:off x="6409055" y="4438015"/>
            <a:ext cx="1815465" cy="1249045"/>
          </a:xfrm>
          <a:prstGeom prst="rect">
            <a:avLst/>
          </a:prstGeom>
        </p:spPr>
        <p:txBody>
          <a:bodyPr vert="horz" lIns="0" tIns="0" rIns="0" bIns="0" rtlCol="0" anchor="ctr">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确认原有的缺陷已经消除并且没有引入新的缺陷，这个</a:t>
            </a:r>
            <a:r>
              <a:rPr sz="1600" dirty="0">
                <a:solidFill>
                  <a:srgbClr val="0070C0"/>
                </a:solidFill>
                <a:latin typeface="微软雅黑" panose="020B0503020204020204" pitchFamily="34" charset="-122"/>
                <a:ea typeface="微软雅黑" panose="020B0503020204020204" pitchFamily="34" charset="-122"/>
                <a:cs typeface="+mn-ea"/>
                <a:sym typeface="+mn-lt"/>
              </a:rPr>
              <a:t>重新测试的过程称为回归测试</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9" name="Text Placeholder 6"/>
          <p:cNvSpPr txBox="1"/>
          <p:nvPr/>
        </p:nvSpPr>
        <p:spPr>
          <a:xfrm>
            <a:off x="8966258" y="4805347"/>
            <a:ext cx="1815245" cy="1108608"/>
          </a:xfrm>
          <a:prstGeom prst="rect">
            <a:avLst/>
          </a:prstGeom>
        </p:spPr>
        <p:txBody>
          <a:bodyPr vert="horz" lIns="0" tIns="0" rIns="0" bIns="0" rtlCol="0" anchor="ctr">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随机测试是没有测试用例、检查列表、脚本或指令的测试</a:t>
            </a:r>
            <a:r>
              <a:rPr sz="16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，它主要</a:t>
            </a:r>
            <a:r>
              <a:rPr sz="1600">
                <a:solidFill>
                  <a:srgbClr val="0070C0"/>
                </a:solidFill>
                <a:latin typeface="微软雅黑" panose="020B0503020204020204" pitchFamily="34" charset="-122"/>
                <a:ea typeface="微软雅黑" panose="020B0503020204020204" pitchFamily="34" charset="-122"/>
                <a:cs typeface="+mn-ea"/>
                <a:sym typeface="+mn-lt"/>
              </a:rPr>
              <a:t>根据测试人员的经验对软件进行功能和性能抽查</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30" name="Text Placeholder 5"/>
          <p:cNvSpPr txBox="1"/>
          <p:nvPr/>
        </p:nvSpPr>
        <p:spPr>
          <a:xfrm>
            <a:off x="6561146" y="3120992"/>
            <a:ext cx="1579981" cy="577887"/>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charset="0"/>
                <a:ea typeface="Open Sans" panose="020B0606030504020204" charset="0"/>
                <a:cs typeface="Open Sans" panose="020B060603050402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865" b="1" dirty="0">
                <a:solidFill>
                  <a:schemeClr val="bg1"/>
                </a:solidFill>
                <a:latin typeface="微软雅黑" panose="020B0503020204020204" pitchFamily="34" charset="-122"/>
                <a:ea typeface="微软雅黑" panose="020B0503020204020204" pitchFamily="34" charset="-122"/>
                <a:cs typeface="+mn-ea"/>
                <a:sym typeface="+mn-lt"/>
              </a:rPr>
              <a:t>回归测试</a:t>
            </a:r>
          </a:p>
        </p:txBody>
      </p:sp>
      <p:sp>
        <p:nvSpPr>
          <p:cNvPr id="31" name="Shape 1475"/>
          <p:cNvSpPr/>
          <p:nvPr/>
        </p:nvSpPr>
        <p:spPr>
          <a:xfrm>
            <a:off x="6397440" y="2606259"/>
            <a:ext cx="474017" cy="47401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solidFill>
          <a:ln w="12700">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32" name="Shape 1480"/>
          <p:cNvSpPr/>
          <p:nvPr/>
        </p:nvSpPr>
        <p:spPr>
          <a:xfrm>
            <a:off x="6540952" y="2729317"/>
            <a:ext cx="186347" cy="186335"/>
          </a:xfrm>
          <a:custGeom>
            <a:avLst/>
            <a:gdLst/>
            <a:ahLst/>
            <a:cxnLst>
              <a:cxn ang="0">
                <a:pos x="wd2" y="hd2"/>
              </a:cxn>
              <a:cxn ang="5400000">
                <a:pos x="wd2" y="hd2"/>
              </a:cxn>
              <a:cxn ang="10800000">
                <a:pos x="wd2" y="hd2"/>
              </a:cxn>
              <a:cxn ang="16200000">
                <a:pos x="wd2" y="hd2"/>
              </a:cxn>
            </a:cxnLst>
            <a:rect l="0" t="0" r="r" b="b"/>
            <a:pathLst>
              <a:path w="21600" h="21600" extrusionOk="0">
                <a:moveTo>
                  <a:pt x="18843" y="20435"/>
                </a:moveTo>
                <a:cubicBezTo>
                  <a:pt x="17964" y="20435"/>
                  <a:pt x="17252" y="19721"/>
                  <a:pt x="17252" y="18844"/>
                </a:cubicBezTo>
                <a:cubicBezTo>
                  <a:pt x="17252" y="17964"/>
                  <a:pt x="17964" y="17253"/>
                  <a:pt x="18843" y="17253"/>
                </a:cubicBezTo>
                <a:cubicBezTo>
                  <a:pt x="19721" y="17253"/>
                  <a:pt x="20434" y="17964"/>
                  <a:pt x="20434" y="18844"/>
                </a:cubicBezTo>
                <a:cubicBezTo>
                  <a:pt x="20434" y="19721"/>
                  <a:pt x="19721" y="20435"/>
                  <a:pt x="18843" y="20435"/>
                </a:cubicBezTo>
                <a:close/>
                <a:moveTo>
                  <a:pt x="12390" y="18844"/>
                </a:moveTo>
                <a:cubicBezTo>
                  <a:pt x="12390" y="19721"/>
                  <a:pt x="11679" y="20435"/>
                  <a:pt x="10801" y="20435"/>
                </a:cubicBezTo>
                <a:cubicBezTo>
                  <a:pt x="9922" y="20435"/>
                  <a:pt x="9210" y="19721"/>
                  <a:pt x="9210" y="18844"/>
                </a:cubicBezTo>
                <a:cubicBezTo>
                  <a:pt x="9210" y="17964"/>
                  <a:pt x="9922" y="17253"/>
                  <a:pt x="10801" y="17253"/>
                </a:cubicBezTo>
                <a:cubicBezTo>
                  <a:pt x="11679" y="17253"/>
                  <a:pt x="12390" y="17964"/>
                  <a:pt x="12390" y="18844"/>
                </a:cubicBezTo>
                <a:close/>
                <a:moveTo>
                  <a:pt x="9210" y="2756"/>
                </a:moveTo>
                <a:cubicBezTo>
                  <a:pt x="9210" y="1879"/>
                  <a:pt x="9922" y="1165"/>
                  <a:pt x="10801" y="1165"/>
                </a:cubicBezTo>
                <a:cubicBezTo>
                  <a:pt x="11679" y="1165"/>
                  <a:pt x="12390" y="1879"/>
                  <a:pt x="12390" y="2756"/>
                </a:cubicBezTo>
                <a:cubicBezTo>
                  <a:pt x="12390" y="3636"/>
                  <a:pt x="11679" y="4347"/>
                  <a:pt x="10801" y="4347"/>
                </a:cubicBezTo>
                <a:cubicBezTo>
                  <a:pt x="9922" y="4347"/>
                  <a:pt x="9210" y="3636"/>
                  <a:pt x="9210" y="2756"/>
                </a:cubicBezTo>
                <a:close/>
                <a:moveTo>
                  <a:pt x="4348" y="18844"/>
                </a:moveTo>
                <a:cubicBezTo>
                  <a:pt x="4348" y="19721"/>
                  <a:pt x="3636" y="20435"/>
                  <a:pt x="2757" y="20435"/>
                </a:cubicBezTo>
                <a:cubicBezTo>
                  <a:pt x="1879" y="20435"/>
                  <a:pt x="1168" y="19721"/>
                  <a:pt x="1168" y="18844"/>
                </a:cubicBezTo>
                <a:cubicBezTo>
                  <a:pt x="1168" y="17964"/>
                  <a:pt x="1879" y="17253"/>
                  <a:pt x="2757" y="17253"/>
                </a:cubicBezTo>
                <a:cubicBezTo>
                  <a:pt x="3636" y="17253"/>
                  <a:pt x="4348" y="17964"/>
                  <a:pt x="4348" y="18844"/>
                </a:cubicBezTo>
                <a:close/>
                <a:moveTo>
                  <a:pt x="19934" y="16312"/>
                </a:moveTo>
                <a:lnTo>
                  <a:pt x="19934" y="13672"/>
                </a:lnTo>
                <a:cubicBezTo>
                  <a:pt x="19934" y="12078"/>
                  <a:pt x="18879" y="9707"/>
                  <a:pt x="15971" y="9707"/>
                </a:cubicBezTo>
                <a:lnTo>
                  <a:pt x="13673" y="9707"/>
                </a:lnTo>
                <a:cubicBezTo>
                  <a:pt x="12050" y="9707"/>
                  <a:pt x="11899" y="8913"/>
                  <a:pt x="11892" y="8503"/>
                </a:cubicBezTo>
                <a:lnTo>
                  <a:pt x="11892" y="5288"/>
                </a:lnTo>
                <a:cubicBezTo>
                  <a:pt x="12872" y="4867"/>
                  <a:pt x="13558" y="3893"/>
                  <a:pt x="13558" y="2756"/>
                </a:cubicBezTo>
                <a:cubicBezTo>
                  <a:pt x="13558" y="1234"/>
                  <a:pt x="12323" y="0"/>
                  <a:pt x="10801" y="0"/>
                </a:cubicBezTo>
                <a:cubicBezTo>
                  <a:pt x="9277" y="0"/>
                  <a:pt x="8043" y="1234"/>
                  <a:pt x="8043" y="2756"/>
                </a:cubicBezTo>
                <a:cubicBezTo>
                  <a:pt x="8043" y="3893"/>
                  <a:pt x="8730" y="4867"/>
                  <a:pt x="9709" y="5288"/>
                </a:cubicBezTo>
                <a:lnTo>
                  <a:pt x="9709" y="8503"/>
                </a:lnTo>
                <a:cubicBezTo>
                  <a:pt x="9709" y="8799"/>
                  <a:pt x="9623" y="9707"/>
                  <a:pt x="7927" y="9707"/>
                </a:cubicBezTo>
                <a:lnTo>
                  <a:pt x="5631" y="9707"/>
                </a:lnTo>
                <a:cubicBezTo>
                  <a:pt x="2723" y="9707"/>
                  <a:pt x="1666" y="12078"/>
                  <a:pt x="1666" y="13672"/>
                </a:cubicBezTo>
                <a:lnTo>
                  <a:pt x="1666" y="16312"/>
                </a:lnTo>
                <a:cubicBezTo>
                  <a:pt x="686" y="16733"/>
                  <a:pt x="0" y="17707"/>
                  <a:pt x="0" y="18844"/>
                </a:cubicBezTo>
                <a:cubicBezTo>
                  <a:pt x="0" y="20366"/>
                  <a:pt x="1235" y="21600"/>
                  <a:pt x="2757" y="21600"/>
                </a:cubicBezTo>
                <a:cubicBezTo>
                  <a:pt x="4280" y="21600"/>
                  <a:pt x="5516" y="20366"/>
                  <a:pt x="5516" y="18844"/>
                </a:cubicBezTo>
                <a:cubicBezTo>
                  <a:pt x="5516" y="17707"/>
                  <a:pt x="4828" y="16733"/>
                  <a:pt x="3849" y="16312"/>
                </a:cubicBezTo>
                <a:lnTo>
                  <a:pt x="3849" y="13672"/>
                </a:lnTo>
                <a:cubicBezTo>
                  <a:pt x="3849" y="13376"/>
                  <a:pt x="3935" y="11890"/>
                  <a:pt x="5631" y="11890"/>
                </a:cubicBezTo>
                <a:lnTo>
                  <a:pt x="7927" y="11890"/>
                </a:lnTo>
                <a:cubicBezTo>
                  <a:pt x="8626" y="11890"/>
                  <a:pt x="9214" y="11785"/>
                  <a:pt x="9709" y="11608"/>
                </a:cubicBezTo>
                <a:lnTo>
                  <a:pt x="9709" y="16312"/>
                </a:lnTo>
                <a:cubicBezTo>
                  <a:pt x="8730" y="16733"/>
                  <a:pt x="8043" y="17707"/>
                  <a:pt x="8043" y="18844"/>
                </a:cubicBezTo>
                <a:cubicBezTo>
                  <a:pt x="8043" y="20366"/>
                  <a:pt x="9277" y="21600"/>
                  <a:pt x="10801" y="21600"/>
                </a:cubicBezTo>
                <a:cubicBezTo>
                  <a:pt x="12323" y="21600"/>
                  <a:pt x="13558" y="20366"/>
                  <a:pt x="13558" y="18844"/>
                </a:cubicBezTo>
                <a:cubicBezTo>
                  <a:pt x="13558" y="17707"/>
                  <a:pt x="12872" y="16733"/>
                  <a:pt x="11892" y="16312"/>
                </a:cubicBezTo>
                <a:lnTo>
                  <a:pt x="11892" y="11608"/>
                </a:lnTo>
                <a:cubicBezTo>
                  <a:pt x="12388" y="11785"/>
                  <a:pt x="12975" y="11890"/>
                  <a:pt x="13673" y="11890"/>
                </a:cubicBezTo>
                <a:lnTo>
                  <a:pt x="15971" y="11890"/>
                </a:lnTo>
                <a:cubicBezTo>
                  <a:pt x="17592" y="11890"/>
                  <a:pt x="17743" y="13263"/>
                  <a:pt x="17751" y="13672"/>
                </a:cubicBezTo>
                <a:lnTo>
                  <a:pt x="17751" y="16312"/>
                </a:lnTo>
                <a:cubicBezTo>
                  <a:pt x="16772" y="16733"/>
                  <a:pt x="16086" y="17707"/>
                  <a:pt x="16086" y="18844"/>
                </a:cubicBezTo>
                <a:cubicBezTo>
                  <a:pt x="16086" y="20366"/>
                  <a:pt x="17320" y="21600"/>
                  <a:pt x="18843" y="21600"/>
                </a:cubicBezTo>
                <a:cubicBezTo>
                  <a:pt x="20366" y="21600"/>
                  <a:pt x="21600" y="20366"/>
                  <a:pt x="21600" y="18844"/>
                </a:cubicBezTo>
                <a:cubicBezTo>
                  <a:pt x="21600" y="17707"/>
                  <a:pt x="20914" y="16733"/>
                  <a:pt x="19934" y="16312"/>
                </a:cubicBezTo>
                <a:close/>
              </a:path>
            </a:pathLst>
          </a:custGeom>
          <a:solidFill>
            <a:schemeClr val="accent1"/>
          </a:solidFill>
          <a:ln w="12700">
            <a:miter lim="400000"/>
          </a:ln>
        </p:spPr>
        <p:txBody>
          <a:bodyPr lIns="0" tIns="0" rIns="0" bIns="0" anchor="ctr"/>
          <a:lstStyle/>
          <a:p>
            <a:pPr lvl="0"/>
            <a:endParaRPr sz="1735">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形 22" descr="讲故事"/>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67" y="1398145"/>
            <a:ext cx="1015842" cy="1015842"/>
          </a:xfrm>
          <a:prstGeom prst="rect">
            <a:avLst/>
          </a:prstGeom>
        </p:spPr>
      </p:pic>
      <p:sp>
        <p:nvSpPr>
          <p:cNvPr id="25" name="矩形 24"/>
          <p:cNvSpPr/>
          <p:nvPr/>
        </p:nvSpPr>
        <p:spPr>
          <a:xfrm>
            <a:off x="2150286" y="1608089"/>
            <a:ext cx="2513792"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2107565" y="1701800"/>
            <a:ext cx="2557145" cy="460375"/>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纸杯测试</a:t>
            </a:r>
          </a:p>
        </p:txBody>
      </p:sp>
      <p:sp>
        <p:nvSpPr>
          <p:cNvPr id="27" name="矩形 26"/>
          <p:cNvSpPr/>
          <p:nvPr/>
        </p:nvSpPr>
        <p:spPr>
          <a:xfrm>
            <a:off x="4768664"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4956363"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0" name="矩形 19"/>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1.3.5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软件测试的分类</a:t>
            </a:r>
          </a:p>
        </p:txBody>
      </p:sp>
      <p:sp>
        <p:nvSpPr>
          <p:cNvPr id="4" name="文本框 3"/>
          <p:cNvSpPr txBox="1"/>
          <p:nvPr/>
        </p:nvSpPr>
        <p:spPr>
          <a:xfrm>
            <a:off x="1127125" y="2421890"/>
            <a:ext cx="10292080" cy="4259580"/>
          </a:xfrm>
          <a:prstGeom prst="rect">
            <a:avLst/>
          </a:prstGeom>
          <a:noFill/>
        </p:spPr>
        <p:txBody>
          <a:bodyPr wrap="square" rtlCol="0" anchor="t">
            <a:noAutofit/>
          </a:bodyPr>
          <a:lstStyle/>
          <a:p>
            <a:pPr indent="457200">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“纸杯测试”是一个经典的测试案例，这是微软曾给软件测试面试者出的一道面试题，用于</a:t>
            </a:r>
            <a:r>
              <a:rPr lang="zh-CN" altLang="en-US" sz="1800" dirty="0">
                <a:solidFill>
                  <a:srgbClr val="0070C0"/>
                </a:solidFill>
                <a:latin typeface="微软雅黑" panose="020B0503020204020204" pitchFamily="34" charset="-122"/>
                <a:ea typeface="微软雅黑" panose="020B0503020204020204" pitchFamily="34" charset="-122"/>
              </a:rPr>
              <a:t>考察面试者对软件测试的理解和掌握程度</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p>
          <a:p>
            <a:pPr indent="457200">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测试项目：</a:t>
            </a:r>
            <a:r>
              <a:rPr lang="zh-CN" altLang="en-US" sz="1800" dirty="0">
                <a:solidFill>
                  <a:srgbClr val="0070C0"/>
                </a:solidFill>
                <a:latin typeface="微软雅黑" panose="020B0503020204020204" pitchFamily="34" charset="-122"/>
                <a:ea typeface="微软雅黑" panose="020B0503020204020204" pitchFamily="34" charset="-122"/>
              </a:rPr>
              <a:t>纸杯</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p>
          <a:p>
            <a:pPr indent="457200">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需求测试：查看纸杯</a:t>
            </a:r>
            <a:r>
              <a:rPr lang="zh-CN" altLang="en-US" sz="1800" dirty="0">
                <a:solidFill>
                  <a:srgbClr val="0070C0"/>
                </a:solidFill>
                <a:latin typeface="微软雅黑" panose="020B0503020204020204" pitchFamily="34" charset="-122"/>
                <a:ea typeface="微软雅黑" panose="020B0503020204020204" pitchFamily="34" charset="-122"/>
              </a:rPr>
              <a:t>说明书是否完整</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p>
          <a:p>
            <a:pPr indent="457200">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界面测试：观察纸杯的外观，例如</a:t>
            </a:r>
            <a:r>
              <a:rPr lang="zh-CN" altLang="en-US" sz="1800" dirty="0">
                <a:solidFill>
                  <a:srgbClr val="0070C0"/>
                </a:solidFill>
                <a:latin typeface="微软雅黑" panose="020B0503020204020204" pitchFamily="34" charset="-122"/>
                <a:ea typeface="微软雅黑" panose="020B0503020204020204" pitchFamily="34" charset="-122"/>
              </a:rPr>
              <a:t>表面</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是否</a:t>
            </a:r>
            <a:r>
              <a:rPr lang="zh-CN" altLang="en-US" sz="1800" dirty="0">
                <a:solidFill>
                  <a:srgbClr val="0070C0"/>
                </a:solidFill>
                <a:latin typeface="微软雅黑" panose="020B0503020204020204" pitchFamily="34" charset="-122"/>
                <a:ea typeface="微软雅黑" panose="020B0503020204020204" pitchFamily="34" charset="-122"/>
              </a:rPr>
              <a:t>光滑</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p>
          <a:p>
            <a:pPr indent="457200">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功能测试：用纸杯装水，观察</a:t>
            </a:r>
            <a:r>
              <a:rPr lang="zh-CN" altLang="en-US" sz="1800" dirty="0">
                <a:solidFill>
                  <a:srgbClr val="0070C0"/>
                </a:solidFill>
                <a:latin typeface="微软雅黑" panose="020B0503020204020204" pitchFamily="34" charset="-122"/>
                <a:ea typeface="微软雅黑" panose="020B0503020204020204" pitchFamily="34" charset="-122"/>
              </a:rPr>
              <a:t>是否漏水</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p>
          <a:p>
            <a:pPr indent="457200">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安全测试：纸杯</a:t>
            </a:r>
            <a:r>
              <a:rPr lang="zh-CN" altLang="en-US" sz="1800" dirty="0">
                <a:solidFill>
                  <a:srgbClr val="0070C0"/>
                </a:solidFill>
                <a:latin typeface="微软雅黑" panose="020B0503020204020204" pitchFamily="34" charset="-122"/>
                <a:ea typeface="微软雅黑" panose="020B0503020204020204" pitchFamily="34" charset="-122"/>
              </a:rPr>
              <a:t>是否有病毒或细菌</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p>
          <a:p>
            <a:pPr indent="457200">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可靠性测试：从</a:t>
            </a:r>
            <a:r>
              <a:rPr lang="zh-CN" altLang="en-US" sz="1800" dirty="0">
                <a:solidFill>
                  <a:srgbClr val="0070C0"/>
                </a:solidFill>
                <a:latin typeface="微软雅黑" panose="020B0503020204020204" pitchFamily="34" charset="-122"/>
                <a:ea typeface="微软雅黑" panose="020B0503020204020204" pitchFamily="34" charset="-122"/>
              </a:rPr>
              <a:t>不同高度扔下来</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，观察纸杯的</a:t>
            </a:r>
            <a:r>
              <a:rPr lang="zh-CN" altLang="en-US" sz="1800" dirty="0">
                <a:solidFill>
                  <a:srgbClr val="0070C0"/>
                </a:solidFill>
                <a:latin typeface="微软雅黑" panose="020B0503020204020204" pitchFamily="34" charset="-122"/>
                <a:ea typeface="微软雅黑" panose="020B0503020204020204" pitchFamily="34" charset="-122"/>
              </a:rPr>
              <a:t>损坏程度</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p>
          <a:p>
            <a:pPr indent="457200">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易用性测试：用纸杯</a:t>
            </a:r>
            <a:r>
              <a:rPr lang="zh-CN" altLang="en-US" sz="1800" dirty="0">
                <a:solidFill>
                  <a:srgbClr val="0070C0"/>
                </a:solidFill>
                <a:latin typeface="微软雅黑" panose="020B0503020204020204" pitchFamily="34" charset="-122"/>
                <a:ea typeface="微软雅黑" panose="020B0503020204020204" pitchFamily="34" charset="-122"/>
              </a:rPr>
              <a:t>盛放开水，</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检查纸杯</a:t>
            </a:r>
            <a:r>
              <a:rPr lang="zh-CN" altLang="en-US" sz="1800" dirty="0">
                <a:solidFill>
                  <a:srgbClr val="0070C0"/>
                </a:solidFill>
                <a:latin typeface="微软雅黑" panose="020B0503020204020204" pitchFamily="34" charset="-122"/>
                <a:ea typeface="微软雅黑" panose="020B0503020204020204" pitchFamily="34" charset="-122"/>
              </a:rPr>
              <a:t>是否烫手</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、纸杯是否</a:t>
            </a:r>
            <a:r>
              <a:rPr lang="zh-CN" altLang="en-US" sz="1800" dirty="0">
                <a:solidFill>
                  <a:srgbClr val="0070C0"/>
                </a:solidFill>
                <a:latin typeface="微软雅黑" panose="020B0503020204020204" pitchFamily="34" charset="-122"/>
                <a:ea typeface="微软雅黑" panose="020B0503020204020204" pitchFamily="34" charset="-122"/>
              </a:rPr>
              <a:t>易滑</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、是否</a:t>
            </a:r>
            <a:r>
              <a:rPr lang="zh-CN" altLang="en-US" sz="1800" dirty="0">
                <a:solidFill>
                  <a:srgbClr val="0070C0"/>
                </a:solidFill>
                <a:latin typeface="微软雅黑" panose="020B0503020204020204" pitchFamily="34" charset="-122"/>
                <a:ea typeface="微软雅黑" panose="020B0503020204020204" pitchFamily="34" charset="-122"/>
              </a:rPr>
              <a:t>方便饮用</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p>
          <a:p>
            <a:pPr indent="457200">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兼容性测试：用纸杯分别</a:t>
            </a:r>
            <a:r>
              <a:rPr lang="zh-CN" altLang="en-US" sz="1800" dirty="0">
                <a:solidFill>
                  <a:srgbClr val="0070C0"/>
                </a:solidFill>
                <a:latin typeface="微软雅黑" panose="020B0503020204020204" pitchFamily="34" charset="-122"/>
                <a:ea typeface="微软雅黑" panose="020B0503020204020204" pitchFamily="34" charset="-122"/>
              </a:rPr>
              <a:t>盛放水、酒精、饮料、汽油</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等，观察</a:t>
            </a:r>
            <a:r>
              <a:rPr lang="zh-CN" altLang="en-US" sz="1800" dirty="0">
                <a:solidFill>
                  <a:srgbClr val="0070C0"/>
                </a:solidFill>
                <a:latin typeface="微软雅黑" panose="020B0503020204020204" pitchFamily="34" charset="-122"/>
                <a:ea typeface="微软雅黑" panose="020B0503020204020204" pitchFamily="34" charset="-122"/>
              </a:rPr>
              <a:t>是否有渗漏</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现象。</a:t>
            </a:r>
          </a:p>
          <a:p>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8194" name="Picture 2" descr="https://timgsa.baidu.com/timg?image&amp;quality=80&amp;size=b9999_10000&amp;sec=1559106949525&amp;di=c72533b87a9d6b999102988347277aa8&amp;imgtype=0&amp;src=http%3A%2F%2Fimg.fht360.com%2Fcontent%2Fimage%2F20151228%2Fb654a8258355413a9c0020a9525b9d04.jpe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91206" y="2925794"/>
            <a:ext cx="2767193" cy="2808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77647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1.3.5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软件测试的分类</a:t>
            </a:r>
          </a:p>
        </p:txBody>
      </p:sp>
      <p:sp>
        <p:nvSpPr>
          <p:cNvPr id="4" name="文本框 3"/>
          <p:cNvSpPr txBox="1"/>
          <p:nvPr/>
        </p:nvSpPr>
        <p:spPr>
          <a:xfrm>
            <a:off x="949324" y="1341755"/>
            <a:ext cx="10761881" cy="4845685"/>
          </a:xfrm>
          <a:prstGeom prst="rect">
            <a:avLst/>
          </a:prstGeom>
          <a:noFill/>
        </p:spPr>
        <p:txBody>
          <a:bodyPr wrap="square" rtlCol="0" anchor="t">
            <a:noAutofit/>
          </a:bodyPr>
          <a:lstStyle/>
          <a:p>
            <a:pPr>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可移植性测试：将纸杯放在</a:t>
            </a:r>
            <a:r>
              <a:rPr lang="zh-CN" altLang="en-US" sz="1800" dirty="0">
                <a:solidFill>
                  <a:srgbClr val="0070C0"/>
                </a:solidFill>
                <a:latin typeface="微软雅黑" panose="020B0503020204020204" pitchFamily="34" charset="-122"/>
                <a:ea typeface="微软雅黑" panose="020B0503020204020204" pitchFamily="34" charset="-122"/>
              </a:rPr>
              <a:t>温度、湿度</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等</a:t>
            </a:r>
            <a:r>
              <a:rPr lang="zh-CN" altLang="en-US" sz="1800" dirty="0">
                <a:solidFill>
                  <a:srgbClr val="0070C0"/>
                </a:solidFill>
                <a:latin typeface="微软雅黑" panose="020B0503020204020204" pitchFamily="34" charset="-122"/>
                <a:ea typeface="微软雅黑" panose="020B0503020204020204" pitchFamily="34" charset="-122"/>
              </a:rPr>
              <a:t>不同的环境中</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，查看纸杯</a:t>
            </a:r>
            <a:r>
              <a:rPr lang="zh-CN" altLang="en-US" sz="1800" dirty="0">
                <a:solidFill>
                  <a:srgbClr val="0070C0"/>
                </a:solidFill>
                <a:latin typeface="微软雅黑" panose="020B0503020204020204" pitchFamily="34" charset="-122"/>
                <a:ea typeface="微软雅黑" panose="020B0503020204020204" pitchFamily="34" charset="-122"/>
              </a:rPr>
              <a:t>是否</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还</a:t>
            </a:r>
            <a:r>
              <a:rPr lang="zh-CN" altLang="en-US" sz="1800" dirty="0">
                <a:solidFill>
                  <a:srgbClr val="0070C0"/>
                </a:solidFill>
                <a:latin typeface="微软雅黑" panose="020B0503020204020204" pitchFamily="34" charset="-122"/>
                <a:ea typeface="微软雅黑" panose="020B0503020204020204" pitchFamily="34" charset="-122"/>
              </a:rPr>
              <a:t>能正常使用</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p>
          <a:p>
            <a:pPr>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可维护性：将纸杯</a:t>
            </a:r>
            <a:r>
              <a:rPr lang="zh-CN" altLang="en-US" sz="1800" dirty="0">
                <a:solidFill>
                  <a:srgbClr val="0070C0"/>
                </a:solidFill>
                <a:latin typeface="微软雅黑" panose="020B0503020204020204" pitchFamily="34" charset="-122"/>
                <a:ea typeface="微软雅黑" panose="020B0503020204020204" pitchFamily="34" charset="-122"/>
              </a:rPr>
              <a:t>揉捏变形</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，看其</a:t>
            </a:r>
            <a:r>
              <a:rPr lang="zh-CN" altLang="en-US" sz="1800" dirty="0">
                <a:solidFill>
                  <a:srgbClr val="0070C0"/>
                </a:solidFill>
                <a:latin typeface="微软雅黑" panose="020B0503020204020204" pitchFamily="34" charset="-122"/>
                <a:ea typeface="微软雅黑" panose="020B0503020204020204" pitchFamily="34" charset="-122"/>
              </a:rPr>
              <a:t>是否能恢复</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p>
          <a:p>
            <a:pPr>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压力测试：用一根针扎在</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纸杯上，不断</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增加力量</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800">
                <a:solidFill>
                  <a:srgbClr val="0070C0"/>
                </a:solidFill>
                <a:latin typeface="微软雅黑" panose="020B0503020204020204" pitchFamily="34" charset="-122"/>
                <a:ea typeface="微软雅黑" panose="020B0503020204020204" pitchFamily="34" charset="-122"/>
              </a:rPr>
              <a:t>记录用多大力</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时</a:t>
            </a:r>
            <a:r>
              <a:rPr lang="zh-CN" altLang="en-US" sz="1800" dirty="0">
                <a:solidFill>
                  <a:srgbClr val="0070C0"/>
                </a:solidFill>
                <a:latin typeface="微软雅黑" panose="020B0503020204020204" pitchFamily="34" charset="-122"/>
                <a:ea typeface="微软雅黑" panose="020B0503020204020204" pitchFamily="34" charset="-122"/>
              </a:rPr>
              <a:t>能穿透纸杯</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p>
          <a:p>
            <a:pPr>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疲劳测试：用纸杯分别</a:t>
            </a:r>
            <a:r>
              <a:rPr lang="zh-CN" altLang="en-US" sz="1800" dirty="0">
                <a:solidFill>
                  <a:srgbClr val="0070C0"/>
                </a:solidFill>
                <a:latin typeface="微软雅黑" panose="020B0503020204020204" pitchFamily="34" charset="-122"/>
                <a:ea typeface="微软雅黑" panose="020B0503020204020204" pitchFamily="34" charset="-122"/>
              </a:rPr>
              <a:t>盛放水</a:t>
            </a:r>
            <a:r>
              <a:rPr lang="zh-CN" altLang="en-US" sz="1800">
                <a:solidFill>
                  <a:srgbClr val="0070C0"/>
                </a:solidFill>
                <a:latin typeface="微软雅黑" panose="020B0503020204020204" pitchFamily="34" charset="-122"/>
                <a:ea typeface="微软雅黑" panose="020B0503020204020204" pitchFamily="34" charset="-122"/>
              </a:rPr>
              <a:t>、汽油</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，放置</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24小时，</a:t>
            </a:r>
            <a:r>
              <a:rPr lang="zh-CN" altLang="en-US" sz="1800" dirty="0">
                <a:solidFill>
                  <a:srgbClr val="0070C0"/>
                </a:solidFill>
                <a:latin typeface="微软雅黑" panose="020B0503020204020204" pitchFamily="34" charset="-122"/>
                <a:ea typeface="微软雅黑" panose="020B0503020204020204" pitchFamily="34" charset="-122"/>
              </a:rPr>
              <a:t>观察其渗漏情况</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（时间和程度）。</a:t>
            </a:r>
          </a:p>
          <a:p>
            <a:pPr>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跌落</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测试：让纸杯</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（加包装）从</a:t>
            </a:r>
            <a:r>
              <a:rPr lang="zh-CN" altLang="en-US" sz="1800" dirty="0">
                <a:solidFill>
                  <a:srgbClr val="0070C0"/>
                </a:solidFill>
                <a:latin typeface="微软雅黑" panose="020B0503020204020204" pitchFamily="34" charset="-122"/>
                <a:ea typeface="微软雅黑" panose="020B0503020204020204" pitchFamily="34" charset="-122"/>
              </a:rPr>
              <a:t>高处</a:t>
            </a:r>
            <a:r>
              <a:rPr lang="zh-CN" altLang="en-US" sz="1800">
                <a:solidFill>
                  <a:srgbClr val="0070C0"/>
                </a:solidFill>
                <a:latin typeface="微软雅黑" panose="020B0503020204020204" pitchFamily="34" charset="-122"/>
                <a:ea typeface="微软雅黑" panose="020B0503020204020204" pitchFamily="34" charset="-122"/>
              </a:rPr>
              <a:t>落下</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，记录可</a:t>
            </a:r>
            <a:r>
              <a:rPr lang="zh-CN" altLang="en-US" sz="1800">
                <a:solidFill>
                  <a:srgbClr val="0070C0"/>
                </a:solidFill>
                <a:latin typeface="微软雅黑" panose="020B0503020204020204" pitchFamily="34" charset="-122"/>
                <a:ea typeface="微软雅黑" panose="020B0503020204020204" pitchFamily="34" charset="-122"/>
              </a:rPr>
              <a:t>使其破损</a:t>
            </a:r>
            <a:r>
              <a:rPr lang="zh-CN" altLang="en-US" sz="1800" dirty="0">
                <a:solidFill>
                  <a:srgbClr val="0070C0"/>
                </a:solidFill>
                <a:latin typeface="微软雅黑" panose="020B0503020204020204" pitchFamily="34" charset="-122"/>
                <a:ea typeface="微软雅黑" panose="020B0503020204020204" pitchFamily="34" charset="-122"/>
              </a:rPr>
              <a:t>的高度</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p>
          <a:p>
            <a:pPr>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震动</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测试：将纸杯</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（加包装）</a:t>
            </a:r>
            <a:r>
              <a:rPr lang="zh-CN" altLang="en-US" sz="1800" dirty="0">
                <a:solidFill>
                  <a:srgbClr val="0070C0"/>
                </a:solidFill>
                <a:latin typeface="微软雅黑" panose="020B0503020204020204" pitchFamily="34" charset="-122"/>
                <a:ea typeface="微软雅黑" panose="020B0503020204020204" pitchFamily="34" charset="-122"/>
              </a:rPr>
              <a:t>六面震动</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，评估它</a:t>
            </a:r>
            <a:r>
              <a:rPr lang="zh-CN" altLang="en-US" sz="1800" dirty="0">
                <a:solidFill>
                  <a:srgbClr val="0070C0"/>
                </a:solidFill>
                <a:latin typeface="微软雅黑" panose="020B0503020204020204" pitchFamily="34" charset="-122"/>
                <a:ea typeface="微软雅黑" panose="020B0503020204020204" pitchFamily="34" charset="-122"/>
              </a:rPr>
              <a:t>是否能</a:t>
            </a:r>
            <a:r>
              <a:rPr lang="zh-CN" altLang="en-US" sz="1800">
                <a:solidFill>
                  <a:srgbClr val="0070C0"/>
                </a:solidFill>
                <a:latin typeface="微软雅黑" panose="020B0503020204020204" pitchFamily="34" charset="-122"/>
                <a:ea typeface="微软雅黑" panose="020B0503020204020204" pitchFamily="34" charset="-122"/>
              </a:rPr>
              <a:t>应对恶劣环境下的</a:t>
            </a:r>
            <a:r>
              <a:rPr lang="zh-CN" altLang="en-US" sz="1800" dirty="0">
                <a:solidFill>
                  <a:srgbClr val="0070C0"/>
                </a:solidFill>
                <a:latin typeface="微软雅黑" panose="020B0503020204020204" pitchFamily="34" charset="-122"/>
                <a:ea typeface="微软雅黑" panose="020B0503020204020204" pitchFamily="34" charset="-122"/>
              </a:rPr>
              <a:t>公路/铁路/航空运输</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等。</a:t>
            </a:r>
          </a:p>
          <a:p>
            <a:pPr>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测试数据：编写具体</a:t>
            </a:r>
            <a:r>
              <a:rPr lang="zh-CN" altLang="en-US" sz="1800" dirty="0">
                <a:solidFill>
                  <a:srgbClr val="0070C0"/>
                </a:solidFill>
                <a:latin typeface="微软雅黑" panose="020B0503020204020204" pitchFamily="34" charset="-122"/>
                <a:ea typeface="微软雅黑" panose="020B0503020204020204" pitchFamily="34" charset="-122"/>
              </a:rPr>
              <a:t>测试数据</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（略），其中可能会用到</a:t>
            </a:r>
            <a:r>
              <a:rPr lang="zh-CN" altLang="en-US" sz="1800" dirty="0">
                <a:solidFill>
                  <a:srgbClr val="0070C0"/>
                </a:solidFill>
                <a:latin typeface="微软雅黑" panose="020B0503020204020204" pitchFamily="34" charset="-122"/>
                <a:ea typeface="微软雅黑" panose="020B0503020204020204" pitchFamily="34" charset="-122"/>
              </a:rPr>
              <a:t>场景法、等价类划分法、边界值分析法</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等测试方法。</a:t>
            </a:r>
          </a:p>
          <a:p>
            <a:pPr>
              <a:lnSpc>
                <a:spcPct val="150000"/>
              </a:lnSpc>
            </a:pP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期望输出：需要</a:t>
            </a:r>
            <a:r>
              <a:rPr lang="zh-CN" altLang="en-US" sz="1800">
                <a:solidFill>
                  <a:srgbClr val="0070C0"/>
                </a:solidFill>
                <a:latin typeface="微软雅黑" panose="020B0503020204020204" pitchFamily="34" charset="-122"/>
                <a:ea typeface="微软雅黑" panose="020B0503020204020204" pitchFamily="34" charset="-122"/>
              </a:rPr>
              <a:t>查阅</a:t>
            </a:r>
            <a:r>
              <a:rPr lang="zh-CN" altLang="en-US" sz="1800" dirty="0">
                <a:solidFill>
                  <a:srgbClr val="0070C0"/>
                </a:solidFill>
                <a:latin typeface="微软雅黑" panose="020B0503020204020204" pitchFamily="34" charset="-122"/>
                <a:ea typeface="微软雅黑" panose="020B0503020204020204" pitchFamily="34" charset="-122"/>
              </a:rPr>
              <a:t>国际标准</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及</a:t>
            </a:r>
            <a:r>
              <a:rPr lang="zh-CN" altLang="en-US" sz="1800" dirty="0">
                <a:solidFill>
                  <a:srgbClr val="0070C0"/>
                </a:solidFill>
                <a:latin typeface="微软雅黑" panose="020B0503020204020204" pitchFamily="34" charset="-122"/>
                <a:ea typeface="微软雅黑" panose="020B0503020204020204" pitchFamily="34" charset="-122"/>
              </a:rPr>
              <a:t>用户的使用需求</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p>
          <a:p>
            <a:pPr>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用户文档：</a:t>
            </a:r>
            <a:r>
              <a:rPr lang="zh-CN" altLang="en-US" sz="1800" dirty="0">
                <a:solidFill>
                  <a:srgbClr val="0070C0"/>
                </a:solidFill>
                <a:latin typeface="微软雅黑" panose="020B0503020204020204" pitchFamily="34" charset="-122"/>
                <a:ea typeface="微软雅黑" panose="020B0503020204020204" pitchFamily="34" charset="-122"/>
              </a:rPr>
              <a:t>使用手册</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是否对纸杯的用法、使用条件、限制</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条件等进行了详细</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描述。</a:t>
            </a:r>
          </a:p>
          <a:p>
            <a:pPr>
              <a:lnSpc>
                <a:spcPct val="150000"/>
              </a:lnSpc>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说明书测试：查看纸杯</a:t>
            </a:r>
            <a:r>
              <a:rPr lang="zh-CN" altLang="en-US" sz="1800" dirty="0">
                <a:solidFill>
                  <a:srgbClr val="0070C0"/>
                </a:solidFill>
                <a:latin typeface="微软雅黑" panose="020B0503020204020204" pitchFamily="34" charset="-122"/>
                <a:ea typeface="微软雅黑" panose="020B0503020204020204" pitchFamily="34" charset="-122"/>
              </a:rPr>
              <a:t>说明书的正确性</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800">
                <a:solidFill>
                  <a:srgbClr val="0070C0"/>
                </a:solidFill>
                <a:latin typeface="微软雅黑" panose="020B0503020204020204" pitchFamily="34" charset="-122"/>
                <a:ea typeface="微软雅黑" panose="020B0503020204020204" pitchFamily="34" charset="-122"/>
              </a:rPr>
              <a:t>准确性</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和</a:t>
            </a:r>
            <a:r>
              <a:rPr lang="zh-CN" altLang="en-US" sz="1800">
                <a:solidFill>
                  <a:srgbClr val="0070C0"/>
                </a:solidFill>
                <a:latin typeface="微软雅黑" panose="020B0503020204020204" pitchFamily="34" charset="-122"/>
                <a:ea typeface="微软雅黑" panose="020B0503020204020204" pitchFamily="34" charset="-122"/>
              </a:rPr>
              <a:t>完整性</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p>
          <a:p>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0" name="矩形 19"/>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Tree>
    <p:extLst>
      <p:ext uri="{BB962C8B-B14F-4D97-AF65-F5344CB8AC3E}">
        <p14:creationId xmlns:p14="http://schemas.microsoft.com/office/powerpoint/2010/main" val="38251758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软件</a:t>
            </a:r>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测试</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过程模型</a:t>
            </a:r>
            <a:endPar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1.4</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857240" y="3220720"/>
            <a:ext cx="5876290"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a:lnSpc>
                <a:spcPct val="150000"/>
              </a:lnSpc>
              <a:buClrTx/>
              <a:buSzTx/>
              <a:buFontTx/>
              <a:defRPr/>
            </a:pP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常见的软件测试模型</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，能够列举4个常见的软件测试模型</a:t>
            </a: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35" y="266700"/>
            <a:ext cx="48310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常见的软件测试模型</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1143635" y="909954"/>
            <a:ext cx="10046970" cy="1943839"/>
          </a:xfrm>
          <a:prstGeom prst="rect">
            <a:avLst/>
          </a:prstGeom>
          <a:noFill/>
        </p:spPr>
        <p:txBody>
          <a:bodyPr wrap="square" rtlCol="0" anchor="t">
            <a:noAutofit/>
          </a:bodyPr>
          <a:lstStyle/>
          <a:p>
            <a:pPr algn="just">
              <a:lnSpc>
                <a:spcPct val="150000"/>
              </a:lnSpc>
              <a:buClrTx/>
              <a:buSzTx/>
              <a:buFontTx/>
            </a:pPr>
            <a:r>
              <a:rPr lang="zh-CN" sz="2000" dirty="0">
                <a:solidFill>
                  <a:srgbClr val="595959"/>
                </a:solidFill>
                <a:latin typeface="微软雅黑" panose="020B0503020204020204" pitchFamily="34" charset="-122"/>
                <a:ea typeface="微软雅黑" panose="020B0503020204020204" pitchFamily="34" charset="-122"/>
                <a:sym typeface="+mn-ea"/>
              </a:rPr>
              <a:t>下面介绍4种比较重要的软件测试模型。</a:t>
            </a:r>
          </a:p>
          <a:p>
            <a:pPr algn="just">
              <a:lnSpc>
                <a:spcPct val="150000"/>
              </a:lnSpc>
              <a:buClrTx/>
              <a:buSzTx/>
              <a:buFontTx/>
            </a:pPr>
            <a:r>
              <a:rPr lang="zh-CN" altLang="en-US" sz="2000" b="1" dirty="0">
                <a:solidFill>
                  <a:srgbClr val="595959"/>
                </a:solidFill>
                <a:latin typeface="微软雅黑" panose="020B0503020204020204" pitchFamily="34" charset="-122"/>
                <a:ea typeface="微软雅黑" panose="020B0503020204020204" pitchFamily="34" charset="-122"/>
                <a:sym typeface="+mn-ea"/>
              </a:rPr>
              <a:t>1.</a:t>
            </a:r>
            <a:r>
              <a:rPr lang="en-US" altLang="zh-CN" sz="2000" b="1" dirty="0">
                <a:solidFill>
                  <a:srgbClr val="595959"/>
                </a:solidFill>
                <a:latin typeface="微软雅黑" panose="020B0503020204020204" pitchFamily="34" charset="-122"/>
                <a:ea typeface="微软雅黑" panose="020B0503020204020204" pitchFamily="34" charset="-122"/>
                <a:sym typeface="+mn-ea"/>
              </a:rPr>
              <a:t> </a:t>
            </a:r>
            <a:r>
              <a:rPr lang="zh-CN" altLang="en-US" sz="2000" b="1" dirty="0">
                <a:solidFill>
                  <a:srgbClr val="595959"/>
                </a:solidFill>
                <a:latin typeface="微软雅黑" panose="020B0503020204020204" pitchFamily="34" charset="-122"/>
                <a:ea typeface="微软雅黑" panose="020B0503020204020204" pitchFamily="34" charset="-122"/>
                <a:sym typeface="+mn-ea"/>
              </a:rPr>
              <a:t>V模型</a:t>
            </a:r>
          </a:p>
          <a:p>
            <a:pPr indent="457200" algn="just">
              <a:lnSpc>
                <a:spcPct val="150000"/>
              </a:lnSpc>
              <a:buClrTx/>
              <a:buSzTx/>
              <a:buFontTx/>
            </a:pPr>
            <a:r>
              <a:rPr lang="en-US" altLang="zh-CN" sz="2000" dirty="0">
                <a:solidFill>
                  <a:srgbClr val="595959"/>
                </a:solidFill>
                <a:latin typeface="微软雅黑" panose="020B0503020204020204" pitchFamily="34" charset="-122"/>
                <a:ea typeface="微软雅黑" panose="020B0503020204020204" pitchFamily="34" charset="-122"/>
                <a:sym typeface="+mn-ea"/>
              </a:rPr>
              <a:t>V</a:t>
            </a:r>
            <a:r>
              <a:rPr lang="zh-CN" altLang="en-US" sz="2000" dirty="0">
                <a:solidFill>
                  <a:srgbClr val="595959"/>
                </a:solidFill>
                <a:latin typeface="微软雅黑" panose="020B0503020204020204" pitchFamily="34" charset="-122"/>
                <a:ea typeface="微软雅黑" panose="020B0503020204020204" pitchFamily="34" charset="-122"/>
                <a:sym typeface="+mn-ea"/>
              </a:rPr>
              <a:t>模型描述了基本的</a:t>
            </a:r>
            <a:r>
              <a:rPr lang="zh-CN" altLang="en-US" sz="2000" dirty="0">
                <a:solidFill>
                  <a:srgbClr val="0070C0"/>
                </a:solidFill>
                <a:latin typeface="微软雅黑" panose="020B0503020204020204" pitchFamily="34" charset="-122"/>
                <a:ea typeface="微软雅黑" panose="020B0503020204020204" pitchFamily="34" charset="-122"/>
                <a:sym typeface="+mn-ea"/>
              </a:rPr>
              <a:t>开发过程和测试行为</a:t>
            </a:r>
            <a:r>
              <a:rPr lang="zh-CN" altLang="en-US" sz="2000" dirty="0">
                <a:solidFill>
                  <a:srgbClr val="595959"/>
                </a:solidFill>
                <a:latin typeface="微软雅黑" panose="020B0503020204020204" pitchFamily="34" charset="-122"/>
                <a:ea typeface="微软雅黑" panose="020B0503020204020204" pitchFamily="34" charset="-122"/>
                <a:sym typeface="+mn-ea"/>
              </a:rPr>
              <a:t>。箭头方向为</a:t>
            </a:r>
            <a:r>
              <a:rPr lang="zh-CN" altLang="en-US" sz="2000" dirty="0">
                <a:solidFill>
                  <a:srgbClr val="0070C0"/>
                </a:solidFill>
                <a:latin typeface="微软雅黑" panose="020B0503020204020204" pitchFamily="34" charset="-122"/>
                <a:ea typeface="微软雅黑" panose="020B0503020204020204" pitchFamily="34" charset="-122"/>
                <a:sym typeface="+mn-ea"/>
              </a:rPr>
              <a:t>时间方向</a:t>
            </a:r>
            <a:r>
              <a:rPr lang="zh-CN" altLang="en-US" sz="2000" dirty="0">
                <a:solidFill>
                  <a:srgbClr val="595959"/>
                </a:solidFill>
                <a:latin typeface="微软雅黑" panose="020B0503020204020204" pitchFamily="34" charset="-122"/>
                <a:ea typeface="微软雅黑" panose="020B0503020204020204" pitchFamily="34" charset="-122"/>
                <a:sym typeface="+mn-ea"/>
              </a:rPr>
              <a:t>，从左至右分别是</a:t>
            </a:r>
            <a:r>
              <a:rPr lang="zh-CN" altLang="en-US" sz="2000" dirty="0">
                <a:solidFill>
                  <a:srgbClr val="0070C0"/>
                </a:solidFill>
                <a:latin typeface="微软雅黑" panose="020B0503020204020204" pitchFamily="34" charset="-122"/>
                <a:ea typeface="微软雅黑" panose="020B0503020204020204" pitchFamily="34" charset="-122"/>
                <a:sym typeface="+mn-ea"/>
              </a:rPr>
              <a:t>开发的各阶段与测试的各阶段</a:t>
            </a:r>
            <a:r>
              <a:rPr lang="zh-CN" altLang="en-US" sz="2000" dirty="0">
                <a:solidFill>
                  <a:srgbClr val="595959"/>
                </a:solidFill>
                <a:latin typeface="微软雅黑" panose="020B0503020204020204" pitchFamily="34" charset="-122"/>
                <a:ea typeface="微软雅黑" panose="020B0503020204020204" pitchFamily="34" charset="-122"/>
                <a:sym typeface="+mn-ea"/>
              </a:rPr>
              <a:t>	</a:t>
            </a: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2" name="Title 1"/>
          <p:cNvSpPr txBox="1"/>
          <p:nvPr/>
        </p:nvSpPr>
        <p:spPr>
          <a:xfrm>
            <a:off x="1143635" y="266700"/>
            <a:ext cx="48310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常见的软件测试模型</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67120" y="2853794"/>
            <a:ext cx="5477904" cy="3585120"/>
          </a:xfrm>
          <a:prstGeom prst="rect">
            <a:avLst/>
          </a:prstGeom>
        </p:spPr>
      </p:pic>
      <p:sp>
        <p:nvSpPr>
          <p:cNvPr id="3" name="文本框 2">
            <a:extLst>
              <a:ext uri="{FF2B5EF4-FFF2-40B4-BE49-F238E27FC236}">
                <a16:creationId xmlns:a16="http://schemas.microsoft.com/office/drawing/2014/main" id="{C53572F0-98A3-2CD8-6B2D-E01621A1B3C9}"/>
              </a:ext>
            </a:extLst>
          </p:cNvPr>
          <p:cNvSpPr txBox="1"/>
          <p:nvPr/>
        </p:nvSpPr>
        <p:spPr>
          <a:xfrm>
            <a:off x="1143635" y="3202573"/>
            <a:ext cx="4896000" cy="3269613"/>
          </a:xfrm>
          <a:prstGeom prst="rect">
            <a:avLst/>
          </a:prstGeom>
          <a:noFill/>
        </p:spPr>
        <p:txBody>
          <a:bodyPr wrap="square" rtlCol="0">
            <a:spAutoFit/>
          </a:bodyPr>
          <a:lstStyle/>
          <a:p>
            <a:pPr indent="457200">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V </a:t>
            </a:r>
            <a:r>
              <a:rPr lang="zh-CN" altLang="en-US" sz="2000" dirty="0">
                <a:solidFill>
                  <a:srgbClr val="595959"/>
                </a:solidFill>
                <a:latin typeface="微软雅黑" panose="020B0503020204020204" pitchFamily="34" charset="-122"/>
                <a:ea typeface="微软雅黑" panose="020B0503020204020204" pitchFamily="34" charset="-122"/>
              </a:rPr>
              <a:t>模型非常明确地标注了测试过程中存在的不同级别，并使</a:t>
            </a:r>
            <a:r>
              <a:rPr lang="zh-CN" altLang="en-US" sz="2000" dirty="0">
                <a:solidFill>
                  <a:srgbClr val="0070C0"/>
                </a:solidFill>
                <a:latin typeface="微软雅黑" panose="020B0503020204020204" pitchFamily="34" charset="-122"/>
                <a:ea typeface="微软雅黑" panose="020B0503020204020204" pitchFamily="34" charset="-122"/>
              </a:rPr>
              <a:t>测试的每个阶段都与开发的阶段相对应</a:t>
            </a:r>
            <a:r>
              <a:rPr lang="zh-CN" altLang="en-US" sz="2000" dirty="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a:p>
            <a:pPr indent="457200">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但 </a:t>
            </a:r>
            <a:r>
              <a:rPr lang="en-US" altLang="zh-CN" sz="2000" dirty="0">
                <a:solidFill>
                  <a:srgbClr val="595959"/>
                </a:solidFill>
                <a:latin typeface="微软雅黑" panose="020B0503020204020204" pitchFamily="34" charset="-122"/>
                <a:ea typeface="微软雅黑" panose="020B0503020204020204" pitchFamily="34" charset="-122"/>
              </a:rPr>
              <a:t>V </a:t>
            </a:r>
            <a:r>
              <a:rPr lang="zh-CN" altLang="en-US" sz="2000" dirty="0">
                <a:solidFill>
                  <a:srgbClr val="595959"/>
                </a:solidFill>
                <a:latin typeface="微软雅黑" panose="020B0503020204020204" pitchFamily="34" charset="-122"/>
                <a:ea typeface="微软雅黑" panose="020B0503020204020204" pitchFamily="34" charset="-122"/>
              </a:rPr>
              <a:t>模型也存在着一定的局限，它</a:t>
            </a:r>
            <a:r>
              <a:rPr lang="zh-CN" altLang="en-US" sz="2000" dirty="0">
                <a:solidFill>
                  <a:srgbClr val="0070C0"/>
                </a:solidFill>
                <a:latin typeface="微软雅黑" panose="020B0503020204020204" pitchFamily="34" charset="-122"/>
                <a:ea typeface="微软雅黑" panose="020B0503020204020204" pitchFamily="34" charset="-122"/>
              </a:rPr>
              <a:t>不能发现需求分析等前期阶段产生的错误</a:t>
            </a:r>
            <a:r>
              <a:rPr lang="zh-CN" altLang="en-US" sz="2000" dirty="0">
                <a:solidFill>
                  <a:srgbClr val="595959"/>
                </a:solidFill>
                <a:latin typeface="微软雅黑" panose="020B0503020204020204" pitchFamily="34" charset="-122"/>
                <a:ea typeface="微软雅黑" panose="020B0503020204020204" pitchFamily="34" charset="-122"/>
              </a:rPr>
              <a:t>，直到编码完成之后才进行测试，因此早期出现的错误不能及时暴露。</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1143635" y="909955"/>
            <a:ext cx="10046970" cy="1179830"/>
          </a:xfrm>
          <a:prstGeom prst="rect">
            <a:avLst/>
          </a:prstGeom>
          <a:noFill/>
        </p:spPr>
        <p:txBody>
          <a:bodyPr wrap="square" rtlCol="0" anchor="t">
            <a:noAutofit/>
          </a:bodyPr>
          <a:lstStyle/>
          <a:p>
            <a:pPr algn="just">
              <a:lnSpc>
                <a:spcPct val="150000"/>
              </a:lnSpc>
              <a:buClrTx/>
              <a:buSzTx/>
              <a:buFontTx/>
            </a:pPr>
            <a:r>
              <a:rPr lang="en-US" altLang="zh-CN" sz="2000" b="1" dirty="0">
                <a:solidFill>
                  <a:srgbClr val="595959"/>
                </a:solidFill>
                <a:latin typeface="微软雅黑" panose="020B0503020204020204" pitchFamily="34" charset="-122"/>
                <a:ea typeface="微软雅黑" panose="020B0503020204020204" pitchFamily="34" charset="-122"/>
                <a:sym typeface="+mn-ea"/>
              </a:rPr>
              <a:t>2</a:t>
            </a:r>
            <a:r>
              <a:rPr lang="zh-CN" altLang="en-US" sz="2000" b="1" dirty="0">
                <a:solidFill>
                  <a:srgbClr val="595959"/>
                </a:solidFill>
                <a:latin typeface="微软雅黑" panose="020B0503020204020204" pitchFamily="34" charset="-122"/>
                <a:ea typeface="微软雅黑" panose="020B0503020204020204" pitchFamily="34" charset="-122"/>
                <a:sym typeface="+mn-ea"/>
              </a:rPr>
              <a:t>.</a:t>
            </a:r>
            <a:r>
              <a:rPr lang="en-US" altLang="zh-CN" sz="2000" b="1" dirty="0">
                <a:solidFill>
                  <a:srgbClr val="595959"/>
                </a:solidFill>
                <a:latin typeface="微软雅黑" panose="020B0503020204020204" pitchFamily="34" charset="-122"/>
                <a:ea typeface="微软雅黑" panose="020B0503020204020204" pitchFamily="34" charset="-122"/>
                <a:sym typeface="+mn-ea"/>
              </a:rPr>
              <a:t> W</a:t>
            </a:r>
            <a:r>
              <a:rPr lang="zh-CN" altLang="en-US" sz="2000" b="1" dirty="0">
                <a:solidFill>
                  <a:srgbClr val="595959"/>
                </a:solidFill>
                <a:latin typeface="微软雅黑" panose="020B0503020204020204" pitchFamily="34" charset="-122"/>
                <a:ea typeface="微软雅黑" panose="020B0503020204020204" pitchFamily="34" charset="-122"/>
                <a:sym typeface="+mn-ea"/>
              </a:rPr>
              <a:t>模型</a:t>
            </a: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W模型是</a:t>
            </a:r>
            <a:r>
              <a:rPr lang="zh-CN" altLang="en-US" sz="2000" dirty="0">
                <a:solidFill>
                  <a:srgbClr val="0070C0"/>
                </a:solidFill>
                <a:latin typeface="微软雅黑" panose="020B0503020204020204" pitchFamily="34" charset="-122"/>
                <a:ea typeface="微软雅黑" panose="020B0503020204020204" pitchFamily="34" charset="-122"/>
                <a:sym typeface="+mn-ea"/>
              </a:rPr>
              <a:t>由V模型演变而来</a:t>
            </a:r>
            <a:r>
              <a:rPr lang="zh-CN" altLang="en-US" sz="2000" dirty="0">
                <a:solidFill>
                  <a:srgbClr val="595959"/>
                </a:solidFill>
                <a:latin typeface="微软雅黑" panose="020B0503020204020204" pitchFamily="34" charset="-122"/>
                <a:ea typeface="微软雅黑" panose="020B0503020204020204" pitchFamily="34" charset="-122"/>
                <a:sym typeface="+mn-ea"/>
              </a:rPr>
              <a:t>的，它</a:t>
            </a:r>
            <a:r>
              <a:rPr lang="zh-CN" altLang="en-US" sz="2000" dirty="0">
                <a:solidFill>
                  <a:srgbClr val="0070C0"/>
                </a:solidFill>
                <a:latin typeface="微软雅黑" panose="020B0503020204020204" pitchFamily="34" charset="-122"/>
                <a:ea typeface="微软雅黑" panose="020B0503020204020204" pitchFamily="34" charset="-122"/>
                <a:sym typeface="+mn-ea"/>
              </a:rPr>
              <a:t>强调测试应伴随着整个软件生命周期</a:t>
            </a: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W</a:t>
            </a:r>
            <a:r>
              <a:rPr lang="zh-CN" altLang="en-US" sz="2000" dirty="0">
                <a:solidFill>
                  <a:srgbClr val="595959"/>
                </a:solidFill>
                <a:latin typeface="微软雅黑" panose="020B0503020204020204" pitchFamily="34" charset="-122"/>
                <a:ea typeface="微软雅黑" panose="020B0503020204020204" pitchFamily="34" charset="-122"/>
                <a:sym typeface="+mn-ea"/>
              </a:rPr>
              <a:t>模型如下图所</a:t>
            </a:r>
            <a:r>
              <a:rPr lang="zh-CN" altLang="en-US" sz="2000">
                <a:solidFill>
                  <a:srgbClr val="595959"/>
                </a:solidFill>
                <a:latin typeface="微软雅黑" panose="020B0503020204020204" pitchFamily="34" charset="-122"/>
                <a:ea typeface="微软雅黑" panose="020B0503020204020204" pitchFamily="34" charset="-122"/>
                <a:sym typeface="+mn-ea"/>
              </a:rPr>
              <a:t>示。</a:t>
            </a:r>
            <a:r>
              <a:rPr lang="zh-CN" altLang="en-US" sz="2000" dirty="0">
                <a:solidFill>
                  <a:srgbClr val="595959"/>
                </a:solidFill>
                <a:latin typeface="微软雅黑" panose="020B0503020204020204" pitchFamily="34" charset="-122"/>
                <a:ea typeface="微软雅黑" panose="020B0503020204020204" pitchFamily="34" charset="-122"/>
                <a:sym typeface="+mn-ea"/>
              </a:rPr>
              <a:t>	</a:t>
            </a:r>
          </a:p>
          <a:p>
            <a:pPr algn="just">
              <a:lnSpc>
                <a:spcPct val="150000"/>
              </a:lnSpc>
              <a:buClrTx/>
              <a:buSzTx/>
              <a:buFontTx/>
            </a:pPr>
            <a:r>
              <a:rPr lang="zh-CN" altLang="en-US" sz="2000">
                <a:solidFill>
                  <a:srgbClr val="595959"/>
                </a:solidFill>
                <a:latin typeface="微软雅黑" panose="020B0503020204020204" pitchFamily="34" charset="-122"/>
                <a:ea typeface="微软雅黑" panose="020B0503020204020204" pitchFamily="34" charset="-122"/>
                <a:sym typeface="+mn-ea"/>
              </a:rPr>
              <a:t>	</a:t>
            </a: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2" name="Title 1"/>
          <p:cNvSpPr txBox="1"/>
          <p:nvPr/>
        </p:nvSpPr>
        <p:spPr>
          <a:xfrm>
            <a:off x="1143635" y="266700"/>
            <a:ext cx="48310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常见的软件测试模型</a:t>
            </a:r>
          </a:p>
        </p:txBody>
      </p:sp>
      <p:graphicFrame>
        <p:nvGraphicFramePr>
          <p:cNvPr id="5" name="对象 4"/>
          <p:cNvGraphicFramePr/>
          <p:nvPr>
            <p:extLst>
              <p:ext uri="{D42A27DB-BD31-4B8C-83A1-F6EECF244321}">
                <p14:modId xmlns:p14="http://schemas.microsoft.com/office/powerpoint/2010/main" val="2790216304"/>
              </p:ext>
            </p:extLst>
          </p:nvPr>
        </p:nvGraphicFramePr>
        <p:xfrm>
          <a:off x="5735206" y="2554275"/>
          <a:ext cx="5777855" cy="3419761"/>
        </p:xfrm>
        <a:graphic>
          <a:graphicData uri="http://schemas.openxmlformats.org/presentationml/2006/ole">
            <mc:AlternateContent xmlns:mc="http://schemas.openxmlformats.org/markup-compatibility/2006">
              <mc:Choice xmlns:v="urn:schemas-microsoft-com:vml" Requires="v">
                <p:oleObj r:id="rId3" imgW="4365625" imgH="2411730" progId="Visio.Drawing.11">
                  <p:embed/>
                </p:oleObj>
              </mc:Choice>
              <mc:Fallback>
                <p:oleObj r:id="rId3" imgW="4365625" imgH="2411730" progId="Visio.Drawing.11">
                  <p:embed/>
                  <p:pic>
                    <p:nvPicPr>
                      <p:cNvPr id="0" name="图片 5"/>
                      <p:cNvPicPr/>
                      <p:nvPr/>
                    </p:nvPicPr>
                    <p:blipFill>
                      <a:blip r:embed="rId4"/>
                      <a:stretch>
                        <a:fillRect/>
                      </a:stretch>
                    </p:blipFill>
                    <p:spPr>
                      <a:xfrm>
                        <a:off x="5735206" y="2554275"/>
                        <a:ext cx="5777855" cy="3419761"/>
                      </a:xfrm>
                      <a:prstGeom prst="rect">
                        <a:avLst/>
                      </a:prstGeom>
                    </p:spPr>
                  </p:pic>
                </p:oleObj>
              </mc:Fallback>
            </mc:AlternateContent>
          </a:graphicData>
        </a:graphic>
      </p:graphicFrame>
      <p:sp>
        <p:nvSpPr>
          <p:cNvPr id="3" name="文本框 2">
            <a:extLst>
              <a:ext uri="{FF2B5EF4-FFF2-40B4-BE49-F238E27FC236}">
                <a16:creationId xmlns:a16="http://schemas.microsoft.com/office/drawing/2014/main" id="{C9C53913-77E7-413A-0645-4978717BE217}"/>
              </a:ext>
            </a:extLst>
          </p:cNvPr>
          <p:cNvSpPr txBox="1"/>
          <p:nvPr/>
        </p:nvSpPr>
        <p:spPr>
          <a:xfrm>
            <a:off x="407206" y="2554275"/>
            <a:ext cx="4896000" cy="3731278"/>
          </a:xfrm>
          <a:prstGeom prst="rect">
            <a:avLst/>
          </a:prstGeom>
          <a:noFill/>
        </p:spPr>
        <p:txBody>
          <a:bodyPr wrap="square" rtlCol="0">
            <a:spAutoFit/>
          </a:bodyPr>
          <a:lstStyle/>
          <a:p>
            <a:pPr indent="457200">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595959"/>
                </a:solidFill>
                <a:latin typeface="微软雅黑" panose="020B0503020204020204" pitchFamily="34" charset="-122"/>
                <a:ea typeface="微软雅黑" panose="020B0503020204020204" pitchFamily="34" charset="-122"/>
              </a:rPr>
              <a:t>W</a:t>
            </a:r>
            <a:r>
              <a:rPr lang="zh-CN" altLang="en-US" sz="2000" dirty="0">
                <a:solidFill>
                  <a:srgbClr val="595959"/>
                </a:solidFill>
                <a:latin typeface="微软雅黑" panose="020B0503020204020204" pitchFamily="34" charset="-122"/>
                <a:ea typeface="微软雅黑" panose="020B0503020204020204" pitchFamily="34" charset="-122"/>
              </a:rPr>
              <a:t>模型中，</a:t>
            </a:r>
            <a:r>
              <a:rPr lang="zh-CN" altLang="en-US" sz="2000" dirty="0">
                <a:solidFill>
                  <a:srgbClr val="0070C0"/>
                </a:solidFill>
                <a:latin typeface="微软雅黑" panose="020B0503020204020204" pitchFamily="34" charset="-122"/>
                <a:ea typeface="微软雅黑" panose="020B0503020204020204" pitchFamily="34" charset="-122"/>
              </a:rPr>
              <a:t>测试与开发是同步进行的</a:t>
            </a:r>
            <a:r>
              <a:rPr lang="zh-CN" altLang="en-US" sz="2000" dirty="0">
                <a:solidFill>
                  <a:srgbClr val="595959"/>
                </a:solidFill>
                <a:latin typeface="微软雅黑" panose="020B0503020204020204" pitchFamily="34" charset="-122"/>
                <a:ea typeface="微软雅黑" panose="020B0503020204020204" pitchFamily="34" charset="-122"/>
              </a:rPr>
              <a:t>，这样可以使开发过程中的问题及早地暴露出来。</a:t>
            </a:r>
            <a:endParaRPr lang="en-US" altLang="zh-CN" sz="2000" dirty="0">
              <a:solidFill>
                <a:srgbClr val="595959"/>
              </a:solidFill>
              <a:latin typeface="微软雅黑" panose="020B0503020204020204" pitchFamily="34" charset="-122"/>
              <a:ea typeface="微软雅黑" panose="020B0503020204020204" pitchFamily="34" charset="-122"/>
            </a:endParaRPr>
          </a:p>
          <a:p>
            <a:pPr indent="457200">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但</a:t>
            </a:r>
            <a:r>
              <a:rPr lang="en-US" altLang="zh-CN" sz="2000" dirty="0">
                <a:solidFill>
                  <a:srgbClr val="595959"/>
                </a:solidFill>
                <a:latin typeface="微软雅黑" panose="020B0503020204020204" pitchFamily="34" charset="-122"/>
                <a:ea typeface="微软雅黑" panose="020B0503020204020204" pitchFamily="34" charset="-122"/>
              </a:rPr>
              <a:t>W</a:t>
            </a:r>
            <a:r>
              <a:rPr lang="zh-CN" altLang="en-US" sz="2000" dirty="0">
                <a:solidFill>
                  <a:srgbClr val="595959"/>
                </a:solidFill>
                <a:latin typeface="微软雅黑" panose="020B0503020204020204" pitchFamily="34" charset="-122"/>
                <a:ea typeface="微软雅黑" panose="020B0503020204020204" pitchFamily="34" charset="-122"/>
              </a:rPr>
              <a:t>模型仍存在着较为明显的问题，因为它将</a:t>
            </a:r>
            <a:r>
              <a:rPr lang="zh-CN" altLang="en-US" sz="2000" dirty="0">
                <a:solidFill>
                  <a:srgbClr val="0070C0"/>
                </a:solidFill>
                <a:latin typeface="微软雅黑" panose="020B0503020204020204" pitchFamily="34" charset="-122"/>
                <a:ea typeface="微软雅黑" panose="020B0503020204020204" pitchFamily="34" charset="-122"/>
              </a:rPr>
              <a:t>开发活动认定为从需求开始到编码结束的串行活动</a:t>
            </a:r>
            <a:r>
              <a:rPr lang="zh-CN" altLang="en-US" sz="2000" dirty="0">
                <a:solidFill>
                  <a:srgbClr val="595959"/>
                </a:solidFill>
                <a:latin typeface="微软雅黑" panose="020B0503020204020204" pitchFamily="34" charset="-122"/>
                <a:ea typeface="微软雅黑" panose="020B0503020204020204" pitchFamily="34" charset="-122"/>
              </a:rPr>
              <a:t>，只有在上一活动结束后才能开始下一步的行动，</a:t>
            </a:r>
            <a:r>
              <a:rPr lang="zh-CN" altLang="en-US" sz="2000" dirty="0">
                <a:solidFill>
                  <a:srgbClr val="0070C0"/>
                </a:solidFill>
                <a:latin typeface="微软雅黑" panose="020B0503020204020204" pitchFamily="34" charset="-122"/>
                <a:ea typeface="微软雅黑" panose="020B0503020204020204" pitchFamily="34" charset="-122"/>
              </a:rPr>
              <a:t>无法支持需要迭代、自发性以及变更调整的项目</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1143635" y="909955"/>
            <a:ext cx="10046970" cy="1957070"/>
          </a:xfrm>
          <a:prstGeom prst="rect">
            <a:avLst/>
          </a:prstGeom>
          <a:noFill/>
        </p:spPr>
        <p:txBody>
          <a:bodyPr wrap="square" rtlCol="0" anchor="t">
            <a:noAutofit/>
          </a:bodyPr>
          <a:lstStyle/>
          <a:p>
            <a:pPr algn="just">
              <a:lnSpc>
                <a:spcPct val="150000"/>
              </a:lnSpc>
              <a:buClrTx/>
              <a:buSzTx/>
              <a:buFontTx/>
            </a:pPr>
            <a:r>
              <a:rPr lang="en-US" altLang="zh-CN" sz="2000" b="1" dirty="0">
                <a:solidFill>
                  <a:srgbClr val="595959"/>
                </a:solidFill>
                <a:latin typeface="微软雅黑" panose="020B0503020204020204" pitchFamily="34" charset="-122"/>
                <a:ea typeface="微软雅黑" panose="020B0503020204020204" pitchFamily="34" charset="-122"/>
                <a:sym typeface="+mn-ea"/>
              </a:rPr>
              <a:t>3</a:t>
            </a:r>
            <a:r>
              <a:rPr lang="zh-CN" altLang="en-US" sz="2000" b="1" dirty="0">
                <a:solidFill>
                  <a:srgbClr val="595959"/>
                </a:solidFill>
                <a:latin typeface="微软雅黑" panose="020B0503020204020204" pitchFamily="34" charset="-122"/>
                <a:ea typeface="微软雅黑" panose="020B0503020204020204" pitchFamily="34" charset="-122"/>
                <a:sym typeface="+mn-ea"/>
              </a:rPr>
              <a:t>.</a:t>
            </a:r>
            <a:r>
              <a:rPr lang="en-US" altLang="zh-CN" sz="2000" b="1" dirty="0">
                <a:solidFill>
                  <a:srgbClr val="595959"/>
                </a:solidFill>
                <a:latin typeface="微软雅黑" panose="020B0503020204020204" pitchFamily="34" charset="-122"/>
                <a:ea typeface="微软雅黑" panose="020B0503020204020204" pitchFamily="34" charset="-122"/>
                <a:sym typeface="+mn-ea"/>
              </a:rPr>
              <a:t> H</a:t>
            </a:r>
            <a:r>
              <a:rPr lang="zh-CN" altLang="en-US" sz="2000" b="1" dirty="0">
                <a:solidFill>
                  <a:srgbClr val="595959"/>
                </a:solidFill>
                <a:latin typeface="微软雅黑" panose="020B0503020204020204" pitchFamily="34" charset="-122"/>
                <a:ea typeface="微软雅黑" panose="020B0503020204020204" pitchFamily="34" charset="-122"/>
                <a:sym typeface="+mn-ea"/>
              </a:rPr>
              <a:t>模型</a:t>
            </a:r>
          </a:p>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为了解决V模型与W模型存在的问题，有专家提出了H模型，</a:t>
            </a:r>
            <a:r>
              <a:rPr lang="zh-CN" altLang="en-US" sz="2000" dirty="0">
                <a:solidFill>
                  <a:srgbClr val="0070C0"/>
                </a:solidFill>
                <a:latin typeface="微软雅黑" panose="020B0503020204020204" pitchFamily="34" charset="-122"/>
                <a:ea typeface="微软雅黑" panose="020B0503020204020204" pitchFamily="34" charset="-122"/>
                <a:sym typeface="+mn-ea"/>
              </a:rPr>
              <a:t>H模型将测试活动完全独立出来，形成一个完全独立的流程</a:t>
            </a:r>
            <a:r>
              <a:rPr lang="zh-CN" altLang="en-US" sz="2000" dirty="0">
                <a:solidFill>
                  <a:srgbClr val="595959"/>
                </a:solidFill>
                <a:latin typeface="微软雅黑" panose="020B0503020204020204" pitchFamily="34" charset="-122"/>
                <a:ea typeface="微软雅黑" panose="020B0503020204020204" pitchFamily="34" charset="-122"/>
                <a:sym typeface="+mn-ea"/>
              </a:rPr>
              <a:t>，这个流程</a:t>
            </a:r>
            <a:r>
              <a:rPr lang="zh-CN" altLang="en-US" sz="2000" dirty="0">
                <a:solidFill>
                  <a:srgbClr val="0070C0"/>
                </a:solidFill>
                <a:latin typeface="微软雅黑" panose="020B0503020204020204" pitchFamily="34" charset="-122"/>
                <a:ea typeface="微软雅黑" panose="020B0503020204020204" pitchFamily="34" charset="-122"/>
                <a:sym typeface="+mn-ea"/>
              </a:rPr>
              <a:t>将测试准备活动和测试执行活动清晰地体现出来</a:t>
            </a: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H</a:t>
            </a:r>
            <a:r>
              <a:rPr lang="zh-CN" altLang="en-US" sz="2000" dirty="0">
                <a:solidFill>
                  <a:srgbClr val="595959"/>
                </a:solidFill>
                <a:latin typeface="微软雅黑" panose="020B0503020204020204" pitchFamily="34" charset="-122"/>
                <a:ea typeface="微软雅黑" panose="020B0503020204020204" pitchFamily="34" charset="-122"/>
                <a:sym typeface="+mn-ea"/>
              </a:rPr>
              <a:t>模型如下图所示。</a:t>
            </a: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2" name="Title 1"/>
          <p:cNvSpPr txBox="1"/>
          <p:nvPr/>
        </p:nvSpPr>
        <p:spPr>
          <a:xfrm>
            <a:off x="1143635" y="266700"/>
            <a:ext cx="48310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常见的软件测试模型</a:t>
            </a:r>
          </a:p>
        </p:txBody>
      </p:sp>
      <p:graphicFrame>
        <p:nvGraphicFramePr>
          <p:cNvPr id="3" name="对象 2"/>
          <p:cNvGraphicFramePr/>
          <p:nvPr>
            <p:extLst>
              <p:ext uri="{D42A27DB-BD31-4B8C-83A1-F6EECF244321}">
                <p14:modId xmlns:p14="http://schemas.microsoft.com/office/powerpoint/2010/main" val="4078433333"/>
              </p:ext>
            </p:extLst>
          </p:nvPr>
        </p:nvGraphicFramePr>
        <p:xfrm>
          <a:off x="2870835" y="3501794"/>
          <a:ext cx="6207760" cy="1791335"/>
        </p:xfrm>
        <a:graphic>
          <a:graphicData uri="http://schemas.openxmlformats.org/presentationml/2006/ole">
            <mc:AlternateContent xmlns:mc="http://schemas.openxmlformats.org/markup-compatibility/2006">
              <mc:Choice xmlns:v="urn:schemas-microsoft-com:vml" Requires="v">
                <p:oleObj name="Visio" r:id="rId3" imgW="3505374" imgH="1036485" progId="Visio.Drawing.11">
                  <p:embed/>
                </p:oleObj>
              </mc:Choice>
              <mc:Fallback>
                <p:oleObj name="Visio" r:id="rId3" imgW="3505374" imgH="1036485" progId="Visio.Drawing.11">
                  <p:embed/>
                  <p:pic>
                    <p:nvPicPr>
                      <p:cNvPr id="0" name="图片 3"/>
                      <p:cNvPicPr/>
                      <p:nvPr/>
                    </p:nvPicPr>
                    <p:blipFill>
                      <a:blip r:embed="rId4"/>
                      <a:stretch>
                        <a:fillRect/>
                      </a:stretch>
                    </p:blipFill>
                    <p:spPr>
                      <a:xfrm>
                        <a:off x="2870835" y="3501794"/>
                        <a:ext cx="6207760" cy="1791335"/>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1143635" y="909955"/>
            <a:ext cx="10046970" cy="1680845"/>
          </a:xfrm>
          <a:prstGeom prst="rect">
            <a:avLst/>
          </a:prstGeom>
          <a:noFill/>
        </p:spPr>
        <p:txBody>
          <a:bodyPr wrap="square" rtlCol="0" anchor="t">
            <a:noAutofit/>
          </a:bodyPr>
          <a:lstStyle/>
          <a:p>
            <a:pPr algn="just">
              <a:lnSpc>
                <a:spcPct val="150000"/>
              </a:lnSpc>
              <a:buClrTx/>
              <a:buSzTx/>
              <a:buFontTx/>
            </a:pPr>
            <a:r>
              <a:rPr lang="en-US" altLang="zh-CN" sz="2000" b="1" dirty="0">
                <a:solidFill>
                  <a:srgbClr val="595959"/>
                </a:solidFill>
                <a:latin typeface="微软雅黑" panose="020B0503020204020204" pitchFamily="34" charset="-122"/>
                <a:ea typeface="微软雅黑" panose="020B0503020204020204" pitchFamily="34" charset="-122"/>
                <a:sym typeface="+mn-ea"/>
              </a:rPr>
              <a:t>4</a:t>
            </a:r>
            <a:r>
              <a:rPr lang="zh-CN" altLang="en-US" sz="2000" b="1" dirty="0">
                <a:solidFill>
                  <a:srgbClr val="595959"/>
                </a:solidFill>
                <a:latin typeface="微软雅黑" panose="020B0503020204020204" pitchFamily="34" charset="-122"/>
                <a:ea typeface="微软雅黑" panose="020B0503020204020204" pitchFamily="34" charset="-122"/>
                <a:sym typeface="+mn-ea"/>
              </a:rPr>
              <a:t>.</a:t>
            </a:r>
            <a:r>
              <a:rPr lang="en-US" altLang="zh-CN" sz="2000" b="1" dirty="0">
                <a:solidFill>
                  <a:srgbClr val="595959"/>
                </a:solidFill>
                <a:latin typeface="微软雅黑" panose="020B0503020204020204" pitchFamily="34" charset="-122"/>
                <a:ea typeface="微软雅黑" panose="020B0503020204020204" pitchFamily="34" charset="-122"/>
                <a:sym typeface="+mn-ea"/>
              </a:rPr>
              <a:t> X</a:t>
            </a:r>
            <a:r>
              <a:rPr lang="zh-CN" altLang="en-US" sz="2000" b="1" dirty="0">
                <a:solidFill>
                  <a:srgbClr val="595959"/>
                </a:solidFill>
                <a:latin typeface="微软雅黑" panose="020B0503020204020204" pitchFamily="34" charset="-122"/>
                <a:ea typeface="微软雅黑" panose="020B0503020204020204" pitchFamily="34" charset="-122"/>
                <a:sym typeface="+mn-ea"/>
              </a:rPr>
              <a:t>模型</a:t>
            </a:r>
          </a:p>
          <a:p>
            <a:pPr indent="457200" algn="just">
              <a:lnSpc>
                <a:spcPct val="150000"/>
              </a:lnSpc>
              <a:buClrTx/>
              <a:buSzTx/>
              <a:buFontTx/>
            </a:pPr>
            <a:r>
              <a:rPr lang="en-US" altLang="zh-CN" sz="2000" dirty="0">
                <a:solidFill>
                  <a:srgbClr val="595959"/>
                </a:solidFill>
                <a:latin typeface="微软雅黑" panose="020B0503020204020204" pitchFamily="34" charset="-122"/>
                <a:ea typeface="微软雅黑" panose="020B0503020204020204" pitchFamily="34" charset="-122"/>
                <a:sym typeface="+mn-ea"/>
              </a:rPr>
              <a:t>X模型的设计原理是</a:t>
            </a:r>
            <a:r>
              <a:rPr lang="en-US" altLang="zh-CN" sz="2000" dirty="0">
                <a:solidFill>
                  <a:srgbClr val="0070C0"/>
                </a:solidFill>
                <a:latin typeface="微软雅黑" panose="020B0503020204020204" pitchFamily="34" charset="-122"/>
                <a:ea typeface="微软雅黑" panose="020B0503020204020204" pitchFamily="34" charset="-122"/>
                <a:sym typeface="+mn-ea"/>
              </a:rPr>
              <a:t>将程序分成多个片段反复迭代测试</a:t>
            </a:r>
            <a:r>
              <a:rPr lang="en-US" altLang="zh-CN" sz="2000" dirty="0">
                <a:solidFill>
                  <a:srgbClr val="595959"/>
                </a:solidFill>
                <a:latin typeface="微软雅黑" panose="020B0503020204020204" pitchFamily="34" charset="-122"/>
                <a:ea typeface="微软雅黑" panose="020B0503020204020204" pitchFamily="34" charset="-122"/>
                <a:sym typeface="+mn-ea"/>
              </a:rPr>
              <a:t>，然后将多个片段集成再进行迭代测试，X模型</a:t>
            </a:r>
            <a:r>
              <a:rPr lang="zh-CN" altLang="en-US" sz="2000" dirty="0">
                <a:solidFill>
                  <a:srgbClr val="595959"/>
                </a:solidFill>
                <a:latin typeface="微软雅黑" panose="020B0503020204020204" pitchFamily="34" charset="-122"/>
                <a:ea typeface="微软雅黑" panose="020B0503020204020204" pitchFamily="34" charset="-122"/>
                <a:sym typeface="+mn-ea"/>
              </a:rPr>
              <a:t>如下图所示。	</a:t>
            </a: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2" name="Title 1"/>
          <p:cNvSpPr txBox="1"/>
          <p:nvPr/>
        </p:nvSpPr>
        <p:spPr>
          <a:xfrm>
            <a:off x="1143635" y="266700"/>
            <a:ext cx="48310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常见的软件测试模型</a:t>
            </a: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95206" y="2591777"/>
            <a:ext cx="5452521" cy="3933794"/>
          </a:xfrm>
          <a:prstGeom prst="rect">
            <a:avLst/>
          </a:prstGeom>
        </p:spPr>
      </p:pic>
      <p:sp>
        <p:nvSpPr>
          <p:cNvPr id="4" name="文本框 3">
            <a:extLst>
              <a:ext uri="{FF2B5EF4-FFF2-40B4-BE49-F238E27FC236}">
                <a16:creationId xmlns:a16="http://schemas.microsoft.com/office/drawing/2014/main" id="{0E8078F2-BE05-4268-90C1-90040270CE6E}"/>
              </a:ext>
            </a:extLst>
          </p:cNvPr>
          <p:cNvSpPr txBox="1"/>
          <p:nvPr/>
        </p:nvSpPr>
        <p:spPr>
          <a:xfrm>
            <a:off x="8183206" y="4725794"/>
            <a:ext cx="3816000" cy="400110"/>
          </a:xfrm>
          <a:prstGeom prst="rect">
            <a:avLst/>
          </a:prstGeom>
          <a:noFill/>
        </p:spPr>
        <p:txBody>
          <a:bodyPr wrap="squar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sym typeface="+mn-ea"/>
              </a:rPr>
              <a:t>不进行实现计划的特殊类型测试</a:t>
            </a:r>
            <a:endParaRPr lang="zh-CN" altLang="en-US" sz="2000" dirty="0">
              <a:solidFill>
                <a:srgbClr val="0070C0"/>
              </a:solidFill>
              <a:latin typeface="微软雅黑" panose="020B0503020204020204" pitchFamily="34" charset="-122"/>
              <a:ea typeface="微软雅黑" panose="020B0503020204020204" pitchFamily="34" charset="-122"/>
            </a:endParaRPr>
          </a:p>
        </p:txBody>
      </p:sp>
      <p:cxnSp>
        <p:nvCxnSpPr>
          <p:cNvPr id="6" name="直接箭头连接符 5">
            <a:extLst>
              <a:ext uri="{FF2B5EF4-FFF2-40B4-BE49-F238E27FC236}">
                <a16:creationId xmlns:a16="http://schemas.microsoft.com/office/drawing/2014/main" id="{430C7BAD-7F65-A71E-03A7-3AEB540734F9}"/>
              </a:ext>
            </a:extLst>
          </p:cNvPr>
          <p:cNvCxnSpPr>
            <a:cxnSpLocks/>
            <a:stCxn id="4" idx="1"/>
          </p:cNvCxnSpPr>
          <p:nvPr/>
        </p:nvCxnSpPr>
        <p:spPr>
          <a:xfrm flipH="1">
            <a:off x="7319206" y="4925849"/>
            <a:ext cx="864000" cy="3759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264920" y="1701800"/>
            <a:ext cx="9659620" cy="2582545"/>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mn-lt"/>
              <a:ea typeface="+mn-ea"/>
              <a:cs typeface="等线" panose="02010600030101010101" charset="-122"/>
            </a:endParaRPr>
          </a:p>
        </p:txBody>
      </p:sp>
      <p:sp>
        <p:nvSpPr>
          <p:cNvPr id="11" name="原创设计师QQ598969553          _6"/>
          <p:cNvSpPr/>
          <p:nvPr/>
        </p:nvSpPr>
        <p:spPr>
          <a:xfrm>
            <a:off x="1708785" y="1477010"/>
            <a:ext cx="1037590" cy="46228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6" name="文本框 5"/>
          <p:cNvSpPr txBox="1"/>
          <p:nvPr/>
        </p:nvSpPr>
        <p:spPr>
          <a:xfrm>
            <a:off x="1852930" y="1376680"/>
            <a:ext cx="837565" cy="553085"/>
          </a:xfrm>
          <a:prstGeom prst="rect">
            <a:avLst/>
          </a:prstGeom>
          <a:noFill/>
        </p:spPr>
        <p:txBody>
          <a:bodyPr wrap="square" rtlCol="0">
            <a:spAutoFit/>
          </a:bodyPr>
          <a:lstStyle/>
          <a:p>
            <a:pPr>
              <a:lnSpc>
                <a:spcPct val="150000"/>
              </a:lnSpc>
            </a:pPr>
            <a:r>
              <a:rPr lang="zh-CN" altLang="en-US" sz="2000" b="1" dirty="0">
                <a:solidFill>
                  <a:schemeClr val="bg1"/>
                </a:solidFill>
                <a:latin typeface="微软雅黑" panose="020B0503020204020204" pitchFamily="34" charset="-122"/>
                <a:ea typeface="微软雅黑" panose="020B0503020204020204" pitchFamily="34" charset="-122"/>
              </a:rPr>
              <a:t>总结</a:t>
            </a:r>
          </a:p>
        </p:txBody>
      </p:sp>
      <p:sp>
        <p:nvSpPr>
          <p:cNvPr id="7" name="文本框 6"/>
          <p:cNvSpPr txBox="1"/>
          <p:nvPr/>
        </p:nvSpPr>
        <p:spPr>
          <a:xfrm>
            <a:off x="1420495" y="2061845"/>
            <a:ext cx="9199245" cy="1753235"/>
          </a:xfrm>
          <a:prstGeom prst="rect">
            <a:avLst/>
          </a:prstGeom>
          <a:noFill/>
        </p:spPr>
        <p:txBody>
          <a:bodyPr wrap="square" rtlCol="0">
            <a:spAutoFit/>
          </a:bodyPr>
          <a:lstStyle/>
          <a:p>
            <a:pPr indent="457200">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前面</a:t>
            </a:r>
            <a:r>
              <a:rPr lang="en-US" altLang="zh-CN" sz="1800" dirty="0">
                <a:solidFill>
                  <a:srgbClr val="595959"/>
                </a:solidFill>
                <a:latin typeface="微软雅黑" panose="020B0503020204020204" pitchFamily="34" charset="-122"/>
                <a:ea typeface="微软雅黑" panose="020B0503020204020204" pitchFamily="34" charset="-122"/>
              </a:rPr>
              <a:t>共介绍了4种软件测试模型，在实际测试工作中，测试人员更多的是结合W模型与H模型进行工作，</a:t>
            </a:r>
            <a:r>
              <a:rPr lang="en-US" altLang="zh-CN" sz="1800" dirty="0">
                <a:solidFill>
                  <a:srgbClr val="0070C0"/>
                </a:solidFill>
                <a:latin typeface="微软雅黑" panose="020B0503020204020204" pitchFamily="34" charset="-122"/>
                <a:ea typeface="微软雅黑" panose="020B0503020204020204" pitchFamily="34" charset="-122"/>
              </a:rPr>
              <a:t>软件各个方面的测试</a:t>
            </a:r>
            <a:r>
              <a:rPr lang="en-US" altLang="zh-CN" sz="1800" dirty="0">
                <a:solidFill>
                  <a:srgbClr val="595959"/>
                </a:solidFill>
                <a:latin typeface="微软雅黑" panose="020B0503020204020204" pitchFamily="34" charset="-122"/>
                <a:ea typeface="微软雅黑" panose="020B0503020204020204" pitchFamily="34" charset="-122"/>
              </a:rPr>
              <a:t>内容</a:t>
            </a:r>
            <a:r>
              <a:rPr lang="en-US" altLang="zh-CN" sz="1800" dirty="0">
                <a:solidFill>
                  <a:srgbClr val="0070C0"/>
                </a:solidFill>
                <a:latin typeface="微软雅黑" panose="020B0503020204020204" pitchFamily="34" charset="-122"/>
                <a:ea typeface="微软雅黑" panose="020B0503020204020204" pitchFamily="34" charset="-122"/>
              </a:rPr>
              <a:t>以W模型为准</a:t>
            </a:r>
            <a:r>
              <a:rPr lang="en-US" altLang="zh-CN" sz="1800" dirty="0">
                <a:solidFill>
                  <a:srgbClr val="595959"/>
                </a:solidFill>
                <a:latin typeface="微软雅黑" panose="020B0503020204020204" pitchFamily="34" charset="-122"/>
                <a:ea typeface="微软雅黑" panose="020B0503020204020204" pitchFamily="34" charset="-122"/>
              </a:rPr>
              <a:t>，而</a:t>
            </a:r>
            <a:r>
              <a:rPr lang="en-US" altLang="zh-CN" sz="1800" dirty="0">
                <a:solidFill>
                  <a:srgbClr val="0070C0"/>
                </a:solidFill>
                <a:effectLst/>
                <a:latin typeface="微软雅黑" panose="020B0503020204020204" pitchFamily="34" charset="-122"/>
                <a:ea typeface="微软雅黑" panose="020B0503020204020204" pitchFamily="34" charset="-122"/>
              </a:rPr>
              <a:t>测试周期、测试计划和进度是以H模型为指导</a:t>
            </a:r>
            <a:r>
              <a:rPr lang="en-US" altLang="zh-CN"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rgbClr val="0070C0"/>
                </a:solidFill>
                <a:latin typeface="微软雅黑" panose="020B0503020204020204" pitchFamily="34" charset="-122"/>
                <a:ea typeface="微软雅黑" panose="020B0503020204020204" pitchFamily="34" charset="-122"/>
              </a:rPr>
              <a:t>X模型</a:t>
            </a:r>
            <a:r>
              <a:rPr lang="en-US" altLang="zh-CN" sz="1800" dirty="0">
                <a:solidFill>
                  <a:srgbClr val="595959"/>
                </a:solidFill>
                <a:latin typeface="微软雅黑" panose="020B0503020204020204" pitchFamily="34" charset="-122"/>
                <a:ea typeface="微软雅黑" panose="020B0503020204020204" pitchFamily="34" charset="-122"/>
              </a:rPr>
              <a:t>更多是</a:t>
            </a:r>
            <a:r>
              <a:rPr lang="en-US" altLang="zh-CN" sz="1800" dirty="0">
                <a:solidFill>
                  <a:srgbClr val="0070C0"/>
                </a:solidFill>
                <a:latin typeface="微软雅黑" panose="020B0503020204020204" pitchFamily="34" charset="-122"/>
                <a:ea typeface="微软雅黑" panose="020B0503020204020204" pitchFamily="34" charset="-122"/>
              </a:rPr>
              <a:t>作为最终测试、熟练性测试的模板</a:t>
            </a:r>
            <a:r>
              <a:rPr lang="en-US" altLang="zh-CN" sz="1800" dirty="0">
                <a:solidFill>
                  <a:srgbClr val="595959"/>
                </a:solidFill>
                <a:latin typeface="微软雅黑" panose="020B0503020204020204" pitchFamily="34" charset="-122"/>
                <a:ea typeface="微软雅黑" panose="020B0503020204020204" pitchFamily="34" charset="-122"/>
              </a:rPr>
              <a:t>，例如对一个业务</a:t>
            </a:r>
            <a:r>
              <a:rPr lang="zh-CN" altLang="en-US" sz="1800" dirty="0">
                <a:solidFill>
                  <a:srgbClr val="595959"/>
                </a:solidFill>
                <a:latin typeface="微软雅黑" panose="020B0503020204020204" pitchFamily="34" charset="-122"/>
                <a:ea typeface="微软雅黑" panose="020B0503020204020204" pitchFamily="34" charset="-122"/>
              </a:rPr>
              <a:t>进行的</a:t>
            </a:r>
            <a:r>
              <a:rPr lang="en-US" altLang="zh-CN" sz="1800" dirty="0">
                <a:solidFill>
                  <a:srgbClr val="595959"/>
                </a:solidFill>
                <a:latin typeface="微软雅黑" panose="020B0503020204020204" pitchFamily="34" charset="-122"/>
                <a:ea typeface="微软雅黑" panose="020B0503020204020204" pitchFamily="34" charset="-122"/>
              </a:rPr>
              <a:t>测试已经有2年时间，可以使用X模型进行模块化的、探索性的方向测试。</a:t>
            </a:r>
          </a:p>
        </p:txBody>
      </p:sp>
      <p:sp>
        <p:nvSpPr>
          <p:cNvPr id="3" name="Title 1"/>
          <p:cNvSpPr txBox="1"/>
          <p:nvPr/>
        </p:nvSpPr>
        <p:spPr>
          <a:xfrm>
            <a:off x="1143635" y="266700"/>
            <a:ext cx="48310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常见的软件测试模型</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软件</a:t>
            </a:r>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测试</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的</a:t>
            </a:r>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原则</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1.5</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857240" y="3213100"/>
            <a:ext cx="5876290"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熟悉软件测试的原则，能够归纳</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软件测试的6个基本原则</a:t>
            </a:r>
            <a:endParaRPr lang="zh-CN"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35" y="266700"/>
            <a:ext cx="48310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1.5.1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软件测试的原则</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1143635" y="1054100"/>
            <a:ext cx="10046970" cy="669290"/>
          </a:xfrm>
          <a:prstGeom prst="rect">
            <a:avLst/>
          </a:prstGeom>
          <a:noFill/>
        </p:spPr>
        <p:txBody>
          <a:bodyPr wrap="square" rtlCol="0" anchor="t">
            <a:noAutofit/>
          </a:bodyPr>
          <a:lstStyle/>
          <a:p>
            <a:pPr algn="just">
              <a:lnSpc>
                <a:spcPct val="150000"/>
              </a:lnSpc>
              <a:buClrTx/>
              <a:buSzTx/>
              <a:buFontTx/>
            </a:pPr>
            <a:r>
              <a:rPr lang="zh-CN" sz="2000" dirty="0">
                <a:solidFill>
                  <a:srgbClr val="0070C0"/>
                </a:solidFill>
                <a:latin typeface="微软雅黑" panose="020B0503020204020204" pitchFamily="34" charset="-122"/>
                <a:ea typeface="微软雅黑" panose="020B0503020204020204" pitchFamily="34" charset="-122"/>
                <a:sym typeface="+mn-ea"/>
              </a:rPr>
              <a:t>软件测试</a:t>
            </a:r>
            <a:r>
              <a:rPr lang="zh-CN" sz="2000" dirty="0">
                <a:solidFill>
                  <a:srgbClr val="595959"/>
                </a:solidFill>
                <a:latin typeface="微软雅黑" panose="020B0503020204020204" pitchFamily="34" charset="-122"/>
                <a:ea typeface="微软雅黑" panose="020B0503020204020204" pitchFamily="34" charset="-122"/>
                <a:sym typeface="+mn-ea"/>
              </a:rPr>
              <a:t>行业公认的</a:t>
            </a:r>
            <a:r>
              <a:rPr lang="zh-CN" sz="2000" dirty="0">
                <a:solidFill>
                  <a:srgbClr val="0070C0"/>
                </a:solidFill>
                <a:latin typeface="微软雅黑" panose="020B0503020204020204" pitchFamily="34" charset="-122"/>
                <a:ea typeface="微软雅黑" panose="020B0503020204020204" pitchFamily="34" charset="-122"/>
                <a:sym typeface="+mn-ea"/>
              </a:rPr>
              <a:t>6个</a:t>
            </a:r>
            <a:r>
              <a:rPr lang="zh-CN" sz="2000">
                <a:solidFill>
                  <a:srgbClr val="0070C0"/>
                </a:solidFill>
                <a:latin typeface="微软雅黑" panose="020B0503020204020204" pitchFamily="34" charset="-122"/>
                <a:ea typeface="微软雅黑" panose="020B0503020204020204" pitchFamily="34" charset="-122"/>
                <a:sym typeface="+mn-ea"/>
              </a:rPr>
              <a:t>基本原则</a:t>
            </a:r>
            <a:r>
              <a:rPr lang="zh-CN" sz="2000">
                <a:solidFill>
                  <a:srgbClr val="595959"/>
                </a:solidFill>
                <a:latin typeface="微软雅黑" panose="020B0503020204020204" pitchFamily="34" charset="-122"/>
                <a:ea typeface="微软雅黑" panose="020B0503020204020204" pitchFamily="34" charset="-122"/>
                <a:sym typeface="+mn-ea"/>
              </a:rPr>
              <a:t>。</a:t>
            </a:r>
            <a:r>
              <a:rPr lang="zh-CN" altLang="en-US" sz="2000" dirty="0">
                <a:solidFill>
                  <a:srgbClr val="595959"/>
                </a:solidFill>
                <a:latin typeface="微软雅黑" panose="020B0503020204020204" pitchFamily="34" charset="-122"/>
                <a:ea typeface="微软雅黑" panose="020B0503020204020204" pitchFamily="34" charset="-122"/>
                <a:sym typeface="+mn-ea"/>
              </a:rPr>
              <a:t>	</a:t>
            </a: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	</a:t>
            </a:r>
          </a:p>
          <a:p>
            <a:pPr algn="just">
              <a:lnSpc>
                <a:spcPct val="150000"/>
              </a:lnSpc>
              <a:buClrTx/>
              <a:buSzTx/>
              <a:buFontTx/>
            </a:pPr>
            <a:r>
              <a:rPr lang="zh-CN" altLang="en-US" sz="2000">
                <a:solidFill>
                  <a:srgbClr val="595959"/>
                </a:solidFill>
                <a:latin typeface="微软雅黑" panose="020B0503020204020204" pitchFamily="34" charset="-122"/>
                <a:ea typeface="微软雅黑" panose="020B0503020204020204" pitchFamily="34" charset="-122"/>
                <a:sym typeface="+mn-ea"/>
              </a:rPr>
              <a:t>	</a:t>
            </a: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2" name="Title 1"/>
          <p:cNvSpPr txBox="1"/>
          <p:nvPr/>
        </p:nvSpPr>
        <p:spPr>
          <a:xfrm>
            <a:off x="1143635" y="266700"/>
            <a:ext cx="48310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1.5.1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软件测试的原则</a:t>
            </a:r>
          </a:p>
        </p:txBody>
      </p:sp>
      <p:grpSp>
        <p:nvGrpSpPr>
          <p:cNvPr id="3" name="Group 14"/>
          <p:cNvGrpSpPr/>
          <p:nvPr/>
        </p:nvGrpSpPr>
        <p:grpSpPr>
          <a:xfrm>
            <a:off x="4444423" y="2294584"/>
            <a:ext cx="1414667" cy="1619124"/>
            <a:chOff x="5379142" y="2991066"/>
            <a:chExt cx="1414667" cy="1619124"/>
          </a:xfrm>
        </p:grpSpPr>
        <p:sp>
          <p:nvSpPr>
            <p:cNvPr id="4" name="Shape 1723"/>
            <p:cNvSpPr/>
            <p:nvPr/>
          </p:nvSpPr>
          <p:spPr>
            <a:xfrm rot="18900000">
              <a:off x="5379143" y="2991066"/>
              <a:ext cx="1414666" cy="1414666"/>
            </a:xfrm>
            <a:prstGeom prst="roundRect">
              <a:avLst>
                <a:gd name="adj" fmla="val 15000"/>
              </a:avLst>
            </a:prstGeom>
            <a:solidFill>
              <a:srgbClr val="0070C0"/>
            </a:solidFill>
            <a:ln w="12700">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sp>
          <p:nvSpPr>
            <p:cNvPr id="5" name="Shape 1726"/>
            <p:cNvSpPr/>
            <p:nvPr/>
          </p:nvSpPr>
          <p:spPr>
            <a:xfrm rot="18900000">
              <a:off x="5379142" y="3195523"/>
              <a:ext cx="1414666" cy="1414667"/>
            </a:xfrm>
            <a:prstGeom prst="roundRect">
              <a:avLst>
                <a:gd name="adj" fmla="val 15000"/>
              </a:avLst>
            </a:prstGeom>
            <a:solidFill>
              <a:schemeClr val="bg2"/>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grpSp>
      <p:grpSp>
        <p:nvGrpSpPr>
          <p:cNvPr id="6" name="Group 12"/>
          <p:cNvGrpSpPr/>
          <p:nvPr/>
        </p:nvGrpSpPr>
        <p:grpSpPr>
          <a:xfrm>
            <a:off x="2629151" y="2502927"/>
            <a:ext cx="1414667" cy="1619124"/>
            <a:chOff x="3563871" y="3199409"/>
            <a:chExt cx="1414666" cy="1619124"/>
          </a:xfrm>
        </p:grpSpPr>
        <p:sp>
          <p:nvSpPr>
            <p:cNvPr id="7" name="Shape 1722"/>
            <p:cNvSpPr/>
            <p:nvPr/>
          </p:nvSpPr>
          <p:spPr>
            <a:xfrm rot="8100000">
              <a:off x="3563871" y="3403867"/>
              <a:ext cx="1414666" cy="1414666"/>
            </a:xfrm>
            <a:prstGeom prst="roundRect">
              <a:avLst>
                <a:gd name="adj" fmla="val 15000"/>
              </a:avLst>
            </a:prstGeom>
            <a:solidFill>
              <a:srgbClr val="0070C0"/>
            </a:solidFill>
            <a:ln w="12700">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sp>
          <p:nvSpPr>
            <p:cNvPr id="8" name="Shape 1729"/>
            <p:cNvSpPr/>
            <p:nvPr/>
          </p:nvSpPr>
          <p:spPr>
            <a:xfrm rot="8100000">
              <a:off x="3563871" y="3199409"/>
              <a:ext cx="1414666" cy="1414667"/>
            </a:xfrm>
            <a:prstGeom prst="roundRect">
              <a:avLst>
                <a:gd name="adj" fmla="val 15000"/>
              </a:avLst>
            </a:prstGeom>
            <a:solidFill>
              <a:schemeClr val="bg2"/>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grpSp>
      <p:grpSp>
        <p:nvGrpSpPr>
          <p:cNvPr id="9" name="Group 11"/>
          <p:cNvGrpSpPr/>
          <p:nvPr/>
        </p:nvGrpSpPr>
        <p:grpSpPr>
          <a:xfrm>
            <a:off x="808356" y="2294584"/>
            <a:ext cx="1414667" cy="1619124"/>
            <a:chOff x="1743076" y="2991066"/>
            <a:chExt cx="1414666" cy="1619124"/>
          </a:xfrm>
        </p:grpSpPr>
        <p:sp>
          <p:nvSpPr>
            <p:cNvPr id="10" name="Shape 1721"/>
            <p:cNvSpPr/>
            <p:nvPr/>
          </p:nvSpPr>
          <p:spPr>
            <a:xfrm rot="18900000">
              <a:off x="1743076" y="2991066"/>
              <a:ext cx="1414666" cy="1414666"/>
            </a:xfrm>
            <a:prstGeom prst="roundRect">
              <a:avLst>
                <a:gd name="adj" fmla="val 15000"/>
              </a:avLst>
            </a:prstGeom>
            <a:solidFill>
              <a:srgbClr val="0070C0"/>
            </a:solidFill>
            <a:ln w="12700">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sp>
          <p:nvSpPr>
            <p:cNvPr id="11" name="Shape 1732"/>
            <p:cNvSpPr/>
            <p:nvPr/>
          </p:nvSpPr>
          <p:spPr>
            <a:xfrm rot="18900000">
              <a:off x="1743076" y="3195523"/>
              <a:ext cx="1414666" cy="1414667"/>
            </a:xfrm>
            <a:prstGeom prst="roundRect">
              <a:avLst>
                <a:gd name="adj" fmla="val 15000"/>
              </a:avLst>
            </a:prstGeom>
            <a:solidFill>
              <a:schemeClr val="bg2"/>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grpSp>
      <p:grpSp>
        <p:nvGrpSpPr>
          <p:cNvPr id="12" name="Group 15"/>
          <p:cNvGrpSpPr/>
          <p:nvPr/>
        </p:nvGrpSpPr>
        <p:grpSpPr>
          <a:xfrm>
            <a:off x="6265217" y="2502927"/>
            <a:ext cx="1414667" cy="1619125"/>
            <a:chOff x="7199937" y="3199409"/>
            <a:chExt cx="1414666" cy="1619125"/>
          </a:xfrm>
        </p:grpSpPr>
        <p:sp>
          <p:nvSpPr>
            <p:cNvPr id="13" name="Shape 1724"/>
            <p:cNvSpPr/>
            <p:nvPr/>
          </p:nvSpPr>
          <p:spPr>
            <a:xfrm rot="8100000">
              <a:off x="7199937" y="3403868"/>
              <a:ext cx="1414666" cy="1414666"/>
            </a:xfrm>
            <a:prstGeom prst="roundRect">
              <a:avLst>
                <a:gd name="adj" fmla="val 15000"/>
              </a:avLst>
            </a:prstGeom>
            <a:solidFill>
              <a:srgbClr val="0070C0"/>
            </a:solidFill>
            <a:ln w="12700">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sp>
          <p:nvSpPr>
            <p:cNvPr id="14" name="Shape 1735"/>
            <p:cNvSpPr/>
            <p:nvPr/>
          </p:nvSpPr>
          <p:spPr>
            <a:xfrm rot="8100000">
              <a:off x="7199937" y="3199409"/>
              <a:ext cx="1414666" cy="1414667"/>
            </a:xfrm>
            <a:prstGeom prst="roundRect">
              <a:avLst>
                <a:gd name="adj" fmla="val 15000"/>
              </a:avLst>
            </a:prstGeom>
            <a:solidFill>
              <a:schemeClr val="bg2"/>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grpSp>
      <p:grpSp>
        <p:nvGrpSpPr>
          <p:cNvPr id="15" name="Group 16"/>
          <p:cNvGrpSpPr/>
          <p:nvPr/>
        </p:nvGrpSpPr>
        <p:grpSpPr>
          <a:xfrm>
            <a:off x="8080489" y="2294584"/>
            <a:ext cx="1414667" cy="1619124"/>
            <a:chOff x="9015209" y="2991066"/>
            <a:chExt cx="1414666" cy="1619124"/>
          </a:xfrm>
        </p:grpSpPr>
        <p:sp>
          <p:nvSpPr>
            <p:cNvPr id="16" name="Shape 1725"/>
            <p:cNvSpPr/>
            <p:nvPr/>
          </p:nvSpPr>
          <p:spPr>
            <a:xfrm rot="18900000">
              <a:off x="9015209" y="2991066"/>
              <a:ext cx="1414666" cy="1414666"/>
            </a:xfrm>
            <a:prstGeom prst="roundRect">
              <a:avLst>
                <a:gd name="adj" fmla="val 15000"/>
              </a:avLst>
            </a:prstGeom>
            <a:solidFill>
              <a:srgbClr val="0070C0"/>
            </a:solidFill>
            <a:ln w="12700">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sp>
          <p:nvSpPr>
            <p:cNvPr id="17" name="Shape 1738"/>
            <p:cNvSpPr/>
            <p:nvPr/>
          </p:nvSpPr>
          <p:spPr>
            <a:xfrm rot="18900000">
              <a:off x="9015209" y="3195523"/>
              <a:ext cx="1414666" cy="1414667"/>
            </a:xfrm>
            <a:prstGeom prst="roundRect">
              <a:avLst>
                <a:gd name="adj" fmla="val 15000"/>
              </a:avLst>
            </a:prstGeom>
            <a:solidFill>
              <a:schemeClr val="bg2"/>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dirty="0">
                <a:latin typeface="微软雅黑" panose="020B0503020204020204" pitchFamily="34" charset="-122"/>
                <a:ea typeface="微软雅黑" panose="020B0503020204020204" pitchFamily="34" charset="-122"/>
                <a:cs typeface="+mn-ea"/>
                <a:sym typeface="+mn-lt"/>
              </a:endParaRPr>
            </a:p>
          </p:txBody>
        </p:sp>
      </p:grpSp>
      <p:sp>
        <p:nvSpPr>
          <p:cNvPr id="18" name="Text Placeholder 4"/>
          <p:cNvSpPr txBox="1"/>
          <p:nvPr/>
        </p:nvSpPr>
        <p:spPr>
          <a:xfrm>
            <a:off x="910280" y="3072491"/>
            <a:ext cx="12108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b="1" dirty="0">
                <a:solidFill>
                  <a:srgbClr val="595959"/>
                </a:solidFill>
                <a:latin typeface="微软雅黑" panose="020B0503020204020204" pitchFamily="34" charset="-122"/>
                <a:ea typeface="微软雅黑" panose="020B0503020204020204" pitchFamily="34" charset="-122"/>
                <a:sym typeface="+mn-lt"/>
              </a:rPr>
              <a:t>1.测试</a:t>
            </a:r>
            <a:r>
              <a:rPr lang="zh-CN" altLang="en-US" sz="1600" b="1">
                <a:solidFill>
                  <a:srgbClr val="595959"/>
                </a:solidFill>
                <a:latin typeface="微软雅黑" panose="020B0503020204020204" pitchFamily="34" charset="-122"/>
                <a:ea typeface="微软雅黑" panose="020B0503020204020204" pitchFamily="34" charset="-122"/>
                <a:sym typeface="+mn-lt"/>
              </a:rPr>
              <a:t>应基于用户需求</a:t>
            </a:r>
            <a:endParaRPr lang="zh-CN" altLang="en-US" sz="1600" b="1" dirty="0">
              <a:solidFill>
                <a:srgbClr val="595959"/>
              </a:solidFill>
              <a:latin typeface="微软雅黑" panose="020B0503020204020204" pitchFamily="34" charset="-122"/>
              <a:ea typeface="微软雅黑" panose="020B0503020204020204" pitchFamily="34" charset="-122"/>
              <a:sym typeface="+mn-lt"/>
            </a:endParaRPr>
          </a:p>
        </p:txBody>
      </p:sp>
      <p:sp>
        <p:nvSpPr>
          <p:cNvPr id="19" name="Text Placeholder 4"/>
          <p:cNvSpPr txBox="1"/>
          <p:nvPr/>
        </p:nvSpPr>
        <p:spPr>
          <a:xfrm>
            <a:off x="2728312" y="3072491"/>
            <a:ext cx="12108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b="1" dirty="0">
                <a:solidFill>
                  <a:srgbClr val="595959"/>
                </a:solidFill>
                <a:latin typeface="微软雅黑" panose="020B0503020204020204" pitchFamily="34" charset="-122"/>
                <a:ea typeface="微软雅黑" panose="020B0503020204020204" pitchFamily="34" charset="-122"/>
                <a:sym typeface="+mn-lt"/>
              </a:rPr>
              <a:t>2.测试要尽早进行</a:t>
            </a:r>
          </a:p>
        </p:txBody>
      </p:sp>
      <p:sp>
        <p:nvSpPr>
          <p:cNvPr id="20" name="Text Placeholder 4"/>
          <p:cNvSpPr txBox="1"/>
          <p:nvPr/>
        </p:nvSpPr>
        <p:spPr>
          <a:xfrm>
            <a:off x="4545633" y="3072491"/>
            <a:ext cx="12108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b="1" dirty="0">
                <a:solidFill>
                  <a:srgbClr val="595959"/>
                </a:solidFill>
                <a:latin typeface="微软雅黑" panose="020B0503020204020204" pitchFamily="34" charset="-122"/>
                <a:ea typeface="微软雅黑" panose="020B0503020204020204" pitchFamily="34" charset="-122"/>
                <a:sym typeface="+mn-lt"/>
              </a:rPr>
              <a:t>3.不能做到穷尽测试</a:t>
            </a:r>
          </a:p>
        </p:txBody>
      </p:sp>
      <p:sp>
        <p:nvSpPr>
          <p:cNvPr id="21" name="Text Placeholder 4"/>
          <p:cNvSpPr txBox="1"/>
          <p:nvPr/>
        </p:nvSpPr>
        <p:spPr>
          <a:xfrm>
            <a:off x="6311900" y="3072765"/>
            <a:ext cx="1557655" cy="267970"/>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b="1" dirty="0">
                <a:solidFill>
                  <a:srgbClr val="595959"/>
                </a:solidFill>
                <a:latin typeface="微软雅黑" panose="020B0503020204020204" pitchFamily="34" charset="-122"/>
                <a:ea typeface="微软雅黑" panose="020B0503020204020204" pitchFamily="34" charset="-122"/>
                <a:sym typeface="+mn-lt"/>
              </a:rPr>
              <a:t>4.遵循GoodEnough原则</a:t>
            </a:r>
          </a:p>
        </p:txBody>
      </p:sp>
      <p:sp>
        <p:nvSpPr>
          <p:cNvPr id="22" name="Text Placeholder 4"/>
          <p:cNvSpPr txBox="1"/>
          <p:nvPr/>
        </p:nvSpPr>
        <p:spPr>
          <a:xfrm>
            <a:off x="8182413" y="3072491"/>
            <a:ext cx="12108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b="1" dirty="0">
                <a:solidFill>
                  <a:srgbClr val="595959"/>
                </a:solidFill>
                <a:latin typeface="微软雅黑" panose="020B0503020204020204" pitchFamily="34" charset="-122"/>
                <a:ea typeface="微软雅黑" panose="020B0503020204020204" pitchFamily="34" charset="-122"/>
                <a:sym typeface="+mn-lt"/>
              </a:rPr>
              <a:t>5.测试缺陷要符合“二八”定理</a:t>
            </a:r>
          </a:p>
        </p:txBody>
      </p:sp>
      <p:grpSp>
        <p:nvGrpSpPr>
          <p:cNvPr id="23" name="Group 15"/>
          <p:cNvGrpSpPr/>
          <p:nvPr/>
        </p:nvGrpSpPr>
        <p:grpSpPr>
          <a:xfrm>
            <a:off x="9917102" y="2499117"/>
            <a:ext cx="1414667" cy="1619125"/>
            <a:chOff x="7199937" y="3199409"/>
            <a:chExt cx="1414666" cy="1619125"/>
          </a:xfrm>
        </p:grpSpPr>
        <p:sp>
          <p:nvSpPr>
            <p:cNvPr id="25" name="Shape 1724"/>
            <p:cNvSpPr/>
            <p:nvPr/>
          </p:nvSpPr>
          <p:spPr>
            <a:xfrm rot="8100000">
              <a:off x="7199937" y="3403868"/>
              <a:ext cx="1414666" cy="1414666"/>
            </a:xfrm>
            <a:prstGeom prst="roundRect">
              <a:avLst>
                <a:gd name="adj" fmla="val 15000"/>
              </a:avLst>
            </a:prstGeom>
            <a:solidFill>
              <a:srgbClr val="0070C0"/>
            </a:solidFill>
            <a:ln w="12700">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sp>
          <p:nvSpPr>
            <p:cNvPr id="26" name="Shape 1735"/>
            <p:cNvSpPr/>
            <p:nvPr/>
          </p:nvSpPr>
          <p:spPr>
            <a:xfrm rot="8100000">
              <a:off x="7199937" y="3199409"/>
              <a:ext cx="1414666" cy="1414667"/>
            </a:xfrm>
            <a:prstGeom prst="roundRect">
              <a:avLst>
                <a:gd name="adj" fmla="val 15000"/>
              </a:avLst>
            </a:prstGeom>
            <a:solidFill>
              <a:schemeClr val="bg2"/>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grpSp>
      <p:sp>
        <p:nvSpPr>
          <p:cNvPr id="27" name="Text Placeholder 4"/>
          <p:cNvSpPr txBox="1"/>
          <p:nvPr/>
        </p:nvSpPr>
        <p:spPr>
          <a:xfrm>
            <a:off x="10015550" y="3068681"/>
            <a:ext cx="12108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b="1" dirty="0">
                <a:solidFill>
                  <a:srgbClr val="595959"/>
                </a:solidFill>
                <a:latin typeface="微软雅黑" panose="020B0503020204020204" pitchFamily="34" charset="-122"/>
                <a:ea typeface="微软雅黑" panose="020B0503020204020204" pitchFamily="34" charset="-122"/>
                <a:sym typeface="+mn-lt"/>
              </a:rPr>
              <a:t>6.避免缺陷免疫</a:t>
            </a:r>
          </a:p>
        </p:txBody>
      </p:sp>
      <p:sp>
        <p:nvSpPr>
          <p:cNvPr id="28" name="Shape 1452">
            <a:extLst>
              <a:ext uri="{FF2B5EF4-FFF2-40B4-BE49-F238E27FC236}">
                <a16:creationId xmlns:a16="http://schemas.microsoft.com/office/drawing/2014/main" id="{DF6BF9A0-FE35-FAD2-2374-8C0A5D50808D}"/>
              </a:ext>
            </a:extLst>
          </p:cNvPr>
          <p:cNvSpPr/>
          <p:nvPr/>
        </p:nvSpPr>
        <p:spPr>
          <a:xfrm>
            <a:off x="542327" y="4365794"/>
            <a:ext cx="1736879" cy="2369224"/>
          </a:xfrm>
          <a:prstGeom prst="roundRect">
            <a:avLst>
              <a:gd name="adj" fmla="val 6924"/>
            </a:avLst>
          </a:prstGeom>
          <a:ln w="12700">
            <a:solidFill>
              <a:srgbClr val="A6AAA9"/>
            </a:solidFill>
            <a:miter lim="400000"/>
          </a:ln>
        </p:spPr>
        <p:txBody>
          <a:bodyPr lIns="19051" tIns="19051" rIns="19051" bIns="19051" anchor="ctr"/>
          <a:lstStyle/>
          <a:p>
            <a:pPr lvl="0"/>
            <a:r>
              <a:rPr lang="zh-CN" altLang="en-US" sz="1600" dirty="0">
                <a:solidFill>
                  <a:srgbClr val="595959"/>
                </a:solidFill>
                <a:latin typeface="微软雅黑" panose="020B0503020204020204" pitchFamily="34" charset="-122"/>
                <a:ea typeface="微软雅黑" panose="020B0503020204020204" pitchFamily="34" charset="-122"/>
              </a:rPr>
              <a:t>测试的核心目的是验证软件是否满足用户的需求，所以一切都</a:t>
            </a:r>
            <a:r>
              <a:rPr lang="zh-CN" altLang="en-US" sz="1600" dirty="0">
                <a:solidFill>
                  <a:srgbClr val="0070C0"/>
                </a:solidFill>
                <a:latin typeface="微软雅黑" panose="020B0503020204020204" pitchFamily="34" charset="-122"/>
                <a:ea typeface="微软雅黑" panose="020B0503020204020204" pitchFamily="34" charset="-122"/>
              </a:rPr>
              <a:t>以用户需求为依据</a:t>
            </a:r>
            <a:r>
              <a:rPr lang="zh-CN" altLang="en-US" sz="1600" dirty="0">
                <a:solidFill>
                  <a:srgbClr val="595959"/>
                </a:solidFill>
                <a:latin typeface="微软雅黑" panose="020B0503020204020204" pitchFamily="34" charset="-122"/>
                <a:ea typeface="微软雅黑" panose="020B0503020204020204" pitchFamily="34" charset="-122"/>
              </a:rPr>
              <a:t>，确保测试能有效检验软件</a:t>
            </a:r>
            <a:r>
              <a:rPr lang="zh-CN" altLang="en-US" sz="1600" dirty="0">
                <a:solidFill>
                  <a:srgbClr val="0070C0"/>
                </a:solidFill>
                <a:latin typeface="微软雅黑" panose="020B0503020204020204" pitchFamily="34" charset="-122"/>
                <a:ea typeface="微软雅黑" panose="020B0503020204020204" pitchFamily="34" charset="-122"/>
              </a:rPr>
              <a:t>是否符合用户期望</a:t>
            </a:r>
            <a:endParaRPr sz="1600" dirty="0">
              <a:solidFill>
                <a:srgbClr val="0070C0"/>
              </a:solidFill>
              <a:latin typeface="微软雅黑" panose="020B0503020204020204" pitchFamily="34" charset="-122"/>
              <a:ea typeface="微软雅黑" panose="020B0503020204020204" pitchFamily="34" charset="-122"/>
              <a:sym typeface="+mn-lt"/>
            </a:endParaRPr>
          </a:p>
        </p:txBody>
      </p:sp>
      <p:sp>
        <p:nvSpPr>
          <p:cNvPr id="29" name="Shape 1452">
            <a:extLst>
              <a:ext uri="{FF2B5EF4-FFF2-40B4-BE49-F238E27FC236}">
                <a16:creationId xmlns:a16="http://schemas.microsoft.com/office/drawing/2014/main" id="{7A2D991A-2C7B-3EE6-3228-E39A339F64E7}"/>
              </a:ext>
            </a:extLst>
          </p:cNvPr>
          <p:cNvSpPr/>
          <p:nvPr/>
        </p:nvSpPr>
        <p:spPr>
          <a:xfrm>
            <a:off x="2465281" y="4365794"/>
            <a:ext cx="1736879" cy="2369224"/>
          </a:xfrm>
          <a:prstGeom prst="roundRect">
            <a:avLst>
              <a:gd name="adj" fmla="val 6924"/>
            </a:avLst>
          </a:prstGeom>
          <a:ln w="12700">
            <a:solidFill>
              <a:srgbClr val="A6AAA9"/>
            </a:solidFill>
            <a:miter lim="400000"/>
          </a:ln>
        </p:spPr>
        <p:txBody>
          <a:bodyPr lIns="19051" tIns="19051" rIns="19051" bIns="19051" anchor="ctr"/>
          <a:lstStyle/>
          <a:p>
            <a:r>
              <a:rPr lang="zh-CN" altLang="en-US" sz="1600" dirty="0">
                <a:solidFill>
                  <a:srgbClr val="595959"/>
                </a:solidFill>
                <a:latin typeface="微软雅黑" panose="020B0503020204020204" pitchFamily="34" charset="-122"/>
                <a:ea typeface="微软雅黑" panose="020B0503020204020204" pitchFamily="34" charset="-122"/>
              </a:rPr>
              <a:t>在</a:t>
            </a:r>
            <a:r>
              <a:rPr lang="zh-CN" altLang="en-US" sz="1600" dirty="0">
                <a:solidFill>
                  <a:srgbClr val="0070C0"/>
                </a:solidFill>
                <a:latin typeface="微软雅黑" panose="020B0503020204020204" pitchFamily="34" charset="-122"/>
                <a:ea typeface="微软雅黑" panose="020B0503020204020204" pitchFamily="34" charset="-122"/>
              </a:rPr>
              <a:t>软件开发的早期阶段</a:t>
            </a:r>
            <a:r>
              <a:rPr lang="zh-CN" altLang="en-US" sz="1600" dirty="0">
                <a:solidFill>
                  <a:srgbClr val="595959"/>
                </a:solidFill>
                <a:latin typeface="微软雅黑" panose="020B0503020204020204" pitchFamily="34" charset="-122"/>
                <a:ea typeface="微软雅黑" panose="020B0503020204020204" pitchFamily="34" charset="-122"/>
              </a:rPr>
              <a:t>就开展测试相关工作，尽早发现潜在的问题，降低后续修复问题的成本，提高软件开发效率</a:t>
            </a:r>
            <a:endParaRPr sz="1600" dirty="0">
              <a:solidFill>
                <a:srgbClr val="595959"/>
              </a:solidFill>
              <a:latin typeface="微软雅黑" panose="020B0503020204020204" pitchFamily="34" charset="-122"/>
              <a:ea typeface="微软雅黑" panose="020B0503020204020204" pitchFamily="34" charset="-122"/>
              <a:sym typeface="+mn-lt"/>
            </a:endParaRPr>
          </a:p>
        </p:txBody>
      </p:sp>
      <p:sp>
        <p:nvSpPr>
          <p:cNvPr id="30" name="Shape 1452">
            <a:extLst>
              <a:ext uri="{FF2B5EF4-FFF2-40B4-BE49-F238E27FC236}">
                <a16:creationId xmlns:a16="http://schemas.microsoft.com/office/drawing/2014/main" id="{54A3F905-A903-F798-20C8-AD8DBEC9C04D}"/>
              </a:ext>
            </a:extLst>
          </p:cNvPr>
          <p:cNvSpPr/>
          <p:nvPr/>
        </p:nvSpPr>
        <p:spPr>
          <a:xfrm>
            <a:off x="4388235" y="4364997"/>
            <a:ext cx="1736879" cy="2369224"/>
          </a:xfrm>
          <a:prstGeom prst="roundRect">
            <a:avLst>
              <a:gd name="adj" fmla="val 6924"/>
            </a:avLst>
          </a:prstGeom>
          <a:ln w="12700">
            <a:solidFill>
              <a:srgbClr val="A6AAA9"/>
            </a:solidFill>
            <a:miter lim="400000"/>
          </a:ln>
        </p:spPr>
        <p:txBody>
          <a:bodyPr lIns="19051" tIns="19051" rIns="19051" bIns="19051" anchor="ctr"/>
          <a:lstStyle/>
          <a:p>
            <a:r>
              <a:rPr lang="zh-CN" altLang="en-US" sz="1600" dirty="0">
                <a:solidFill>
                  <a:srgbClr val="595959"/>
                </a:solidFill>
                <a:latin typeface="微软雅黑" panose="020B0503020204020204" pitchFamily="34" charset="-122"/>
                <a:ea typeface="微软雅黑" panose="020B0503020204020204" pitchFamily="34" charset="-122"/>
              </a:rPr>
              <a:t>选取</a:t>
            </a:r>
            <a:r>
              <a:rPr lang="zh-CN" altLang="en-US" sz="1600" dirty="0">
                <a:solidFill>
                  <a:srgbClr val="0070C0"/>
                </a:solidFill>
                <a:latin typeface="微软雅黑" panose="020B0503020204020204" pitchFamily="34" charset="-122"/>
                <a:ea typeface="微软雅黑" panose="020B0503020204020204" pitchFamily="34" charset="-122"/>
              </a:rPr>
              <a:t>具有代表性的测试用例</a:t>
            </a:r>
            <a:r>
              <a:rPr lang="zh-CN" altLang="en-US" sz="1600" dirty="0">
                <a:solidFill>
                  <a:srgbClr val="595959"/>
                </a:solidFill>
                <a:latin typeface="微软雅黑" panose="020B0503020204020204" pitchFamily="34" charset="-122"/>
                <a:ea typeface="微软雅黑" panose="020B0503020204020204" pitchFamily="34" charset="-122"/>
              </a:rPr>
              <a:t>来覆盖主要的功能、场景和风险点</a:t>
            </a:r>
            <a:endParaRPr sz="1600" dirty="0">
              <a:solidFill>
                <a:srgbClr val="595959"/>
              </a:solidFill>
              <a:latin typeface="微软雅黑" panose="020B0503020204020204" pitchFamily="34" charset="-122"/>
              <a:ea typeface="微软雅黑" panose="020B0503020204020204" pitchFamily="34" charset="-122"/>
              <a:sym typeface="+mn-lt"/>
            </a:endParaRPr>
          </a:p>
        </p:txBody>
      </p:sp>
      <p:sp>
        <p:nvSpPr>
          <p:cNvPr id="31" name="Shape 1452">
            <a:extLst>
              <a:ext uri="{FF2B5EF4-FFF2-40B4-BE49-F238E27FC236}">
                <a16:creationId xmlns:a16="http://schemas.microsoft.com/office/drawing/2014/main" id="{15B695F0-9AC1-3B88-BDD0-7B17DE6AB47B}"/>
              </a:ext>
            </a:extLst>
          </p:cNvPr>
          <p:cNvSpPr/>
          <p:nvPr/>
        </p:nvSpPr>
        <p:spPr>
          <a:xfrm>
            <a:off x="6311189" y="4364997"/>
            <a:ext cx="1736879" cy="2369224"/>
          </a:xfrm>
          <a:prstGeom prst="roundRect">
            <a:avLst>
              <a:gd name="adj" fmla="val 6924"/>
            </a:avLst>
          </a:prstGeom>
          <a:ln w="12700">
            <a:solidFill>
              <a:srgbClr val="A6AAA9"/>
            </a:solidFill>
            <a:miter lim="400000"/>
          </a:ln>
        </p:spPr>
        <p:txBody>
          <a:bodyPr lIns="19051" tIns="19051" rIns="19051" bIns="19051" anchor="ctr"/>
          <a:lstStyle/>
          <a:p>
            <a:r>
              <a:rPr lang="zh-CN" altLang="en-US" sz="1600" dirty="0">
                <a:solidFill>
                  <a:srgbClr val="595959"/>
                </a:solidFill>
                <a:latin typeface="微软雅黑" panose="020B0503020204020204" pitchFamily="34" charset="-122"/>
                <a:ea typeface="微软雅黑" panose="020B0503020204020204" pitchFamily="34" charset="-122"/>
              </a:rPr>
              <a:t>测试不需要追求绝对的完美，只要软件达到了 </a:t>
            </a:r>
            <a:r>
              <a:rPr lang="zh-CN" altLang="en-US" sz="1600" dirty="0">
                <a:solidFill>
                  <a:srgbClr val="0070C0"/>
                </a:solidFill>
                <a:latin typeface="微软雅黑" panose="020B0503020204020204" pitchFamily="34" charset="-122"/>
                <a:ea typeface="微软雅黑" panose="020B0503020204020204" pitchFamily="34" charset="-122"/>
              </a:rPr>
              <a:t>“足够好”</a:t>
            </a:r>
            <a:r>
              <a:rPr lang="zh-CN" altLang="en-US" sz="1600" dirty="0">
                <a:solidFill>
                  <a:srgbClr val="595959"/>
                </a:solidFill>
                <a:latin typeface="微软雅黑" panose="020B0503020204020204" pitchFamily="34" charset="-122"/>
                <a:ea typeface="微软雅黑" panose="020B0503020204020204" pitchFamily="34" charset="-122"/>
              </a:rPr>
              <a:t> 的质量标准，在可接受的缺陷范围内，就可以考虑结束测试</a:t>
            </a:r>
            <a:endParaRPr sz="1600" dirty="0">
              <a:solidFill>
                <a:srgbClr val="595959"/>
              </a:solidFill>
              <a:latin typeface="微软雅黑" panose="020B0503020204020204" pitchFamily="34" charset="-122"/>
              <a:ea typeface="微软雅黑" panose="020B0503020204020204" pitchFamily="34" charset="-122"/>
              <a:sym typeface="+mn-lt"/>
            </a:endParaRPr>
          </a:p>
        </p:txBody>
      </p:sp>
      <p:sp>
        <p:nvSpPr>
          <p:cNvPr id="32" name="Shape 1452">
            <a:extLst>
              <a:ext uri="{FF2B5EF4-FFF2-40B4-BE49-F238E27FC236}">
                <a16:creationId xmlns:a16="http://schemas.microsoft.com/office/drawing/2014/main" id="{8799DBA4-8D49-D65A-5C88-CDC45E9367A1}"/>
              </a:ext>
            </a:extLst>
          </p:cNvPr>
          <p:cNvSpPr/>
          <p:nvPr/>
        </p:nvSpPr>
        <p:spPr>
          <a:xfrm>
            <a:off x="8218740" y="4364997"/>
            <a:ext cx="1736879" cy="2369224"/>
          </a:xfrm>
          <a:prstGeom prst="roundRect">
            <a:avLst>
              <a:gd name="adj" fmla="val 6924"/>
            </a:avLst>
          </a:prstGeom>
          <a:ln w="12700">
            <a:solidFill>
              <a:srgbClr val="A6AAA9"/>
            </a:solidFill>
            <a:miter lim="400000"/>
          </a:ln>
        </p:spPr>
        <p:txBody>
          <a:bodyPr lIns="19051" tIns="19051" rIns="19051" bIns="19051" anchor="ctr"/>
          <a:lstStyle/>
          <a:p>
            <a:r>
              <a:rPr lang="en-US" altLang="zh-CN" sz="1600" dirty="0">
                <a:solidFill>
                  <a:srgbClr val="0070C0"/>
                </a:solidFill>
                <a:latin typeface="微软雅黑" panose="020B0503020204020204" pitchFamily="34" charset="-122"/>
                <a:ea typeface="微软雅黑" panose="020B0503020204020204" pitchFamily="34" charset="-122"/>
              </a:rPr>
              <a:t>80% </a:t>
            </a:r>
            <a:r>
              <a:rPr lang="zh-CN" altLang="en-US" sz="1600" dirty="0">
                <a:solidFill>
                  <a:srgbClr val="0070C0"/>
                </a:solidFill>
                <a:latin typeface="微软雅黑" panose="020B0503020204020204" pitchFamily="34" charset="-122"/>
                <a:ea typeface="微软雅黑" panose="020B0503020204020204" pitchFamily="34" charset="-122"/>
              </a:rPr>
              <a:t>的软件缺陷集中在 </a:t>
            </a:r>
            <a:r>
              <a:rPr lang="en-US" altLang="zh-CN" sz="1600" dirty="0">
                <a:solidFill>
                  <a:srgbClr val="0070C0"/>
                </a:solidFill>
                <a:latin typeface="微软雅黑" panose="020B0503020204020204" pitchFamily="34" charset="-122"/>
                <a:ea typeface="微软雅黑" panose="020B0503020204020204" pitchFamily="34" charset="-122"/>
              </a:rPr>
              <a:t>20% </a:t>
            </a:r>
            <a:r>
              <a:rPr lang="zh-CN" altLang="en-US" sz="1600" dirty="0">
                <a:solidFill>
                  <a:srgbClr val="0070C0"/>
                </a:solidFill>
                <a:latin typeface="微软雅黑" panose="020B0503020204020204" pitchFamily="34" charset="-122"/>
                <a:ea typeface="微软雅黑" panose="020B0503020204020204" pitchFamily="34" charset="-122"/>
              </a:rPr>
              <a:t>的模块中</a:t>
            </a:r>
            <a:r>
              <a:rPr lang="zh-CN" altLang="en-US" sz="1600" dirty="0">
                <a:solidFill>
                  <a:srgbClr val="595959"/>
                </a:solidFill>
                <a:latin typeface="微软雅黑" panose="020B0503020204020204" pitchFamily="34" charset="-122"/>
                <a:ea typeface="微软雅黑" panose="020B0503020204020204" pitchFamily="34" charset="-122"/>
              </a:rPr>
              <a:t>，测试时应重点关注这些高缺陷率的模块，提高测试的效率和针对性</a:t>
            </a:r>
            <a:endParaRPr sz="1600" dirty="0">
              <a:solidFill>
                <a:srgbClr val="595959"/>
              </a:solidFill>
              <a:latin typeface="微软雅黑" panose="020B0503020204020204" pitchFamily="34" charset="-122"/>
              <a:ea typeface="微软雅黑" panose="020B0503020204020204" pitchFamily="34" charset="-122"/>
              <a:sym typeface="+mn-lt"/>
            </a:endParaRPr>
          </a:p>
        </p:txBody>
      </p:sp>
      <p:sp>
        <p:nvSpPr>
          <p:cNvPr id="33" name="Shape 1452">
            <a:extLst>
              <a:ext uri="{FF2B5EF4-FFF2-40B4-BE49-F238E27FC236}">
                <a16:creationId xmlns:a16="http://schemas.microsoft.com/office/drawing/2014/main" id="{7B72E07C-D09D-07C0-387B-4532FE664835}"/>
              </a:ext>
            </a:extLst>
          </p:cNvPr>
          <p:cNvSpPr/>
          <p:nvPr/>
        </p:nvSpPr>
        <p:spPr>
          <a:xfrm>
            <a:off x="10146575" y="4364997"/>
            <a:ext cx="1736879" cy="2369224"/>
          </a:xfrm>
          <a:prstGeom prst="roundRect">
            <a:avLst>
              <a:gd name="adj" fmla="val 6924"/>
            </a:avLst>
          </a:prstGeom>
          <a:ln w="12700">
            <a:solidFill>
              <a:srgbClr val="A6AAA9"/>
            </a:solidFill>
            <a:miter lim="400000"/>
          </a:ln>
        </p:spPr>
        <p:txBody>
          <a:bodyPr lIns="19051" tIns="19051" rIns="19051" bIns="19051" anchor="ctr"/>
          <a:lstStyle/>
          <a:p>
            <a:r>
              <a:rPr lang="zh-CN" altLang="en-US" sz="1600" dirty="0">
                <a:solidFill>
                  <a:srgbClr val="595959"/>
                </a:solidFill>
                <a:latin typeface="微软雅黑" panose="020B0503020204020204" pitchFamily="34" charset="-122"/>
                <a:ea typeface="微软雅黑" panose="020B0503020204020204" pitchFamily="34" charset="-122"/>
              </a:rPr>
              <a:t>防止测试人员或开发人员对某些类型的缺陷产生 “免疫”，即</a:t>
            </a:r>
            <a:r>
              <a:rPr lang="zh-CN" altLang="en-US" sz="1600" dirty="0">
                <a:solidFill>
                  <a:srgbClr val="0070C0"/>
                </a:solidFill>
                <a:latin typeface="微软雅黑" panose="020B0503020204020204" pitchFamily="34" charset="-122"/>
                <a:ea typeface="微软雅黑" panose="020B0503020204020204" pitchFamily="34" charset="-122"/>
              </a:rPr>
              <a:t>不能因为经常遇到某些缺陷，就忽视对它们的检测</a:t>
            </a:r>
            <a:endParaRPr sz="1600" dirty="0">
              <a:solidFill>
                <a:srgbClr val="0070C0"/>
              </a:solidFill>
              <a:latin typeface="微软雅黑" panose="020B0503020204020204" pitchFamily="34" charset="-122"/>
              <a:ea typeface="微软雅黑" panose="020B0503020204020204" pitchFamily="34" charset="-122"/>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CB231-1FA9-4E1E-51EF-14CC523B7F69}"/>
            </a:ext>
          </a:extLst>
        </p:cNvPr>
        <p:cNvGrpSpPr/>
        <p:nvPr/>
      </p:nvGrpSpPr>
      <p:grpSpPr>
        <a:xfrm>
          <a:off x="0" y="0"/>
          <a:ext cx="0" cy="0"/>
          <a:chOff x="0" y="0"/>
          <a:chExt cx="0" cy="0"/>
        </a:xfrm>
      </p:grpSpPr>
      <p:sp>
        <p:nvSpPr>
          <p:cNvPr id="24" name="文本框 23">
            <a:extLst>
              <a:ext uri="{FF2B5EF4-FFF2-40B4-BE49-F238E27FC236}">
                <a16:creationId xmlns:a16="http://schemas.microsoft.com/office/drawing/2014/main" id="{7E9E9BDD-EC80-73AB-70E4-5B4B939A1AF6}"/>
              </a:ext>
            </a:extLst>
          </p:cNvPr>
          <p:cNvSpPr txBox="1"/>
          <p:nvPr/>
        </p:nvSpPr>
        <p:spPr>
          <a:xfrm>
            <a:off x="1143635" y="1413794"/>
            <a:ext cx="9919571" cy="2735694"/>
          </a:xfrm>
          <a:prstGeom prst="rect">
            <a:avLst/>
          </a:prstGeom>
          <a:noFill/>
        </p:spPr>
        <p:txBody>
          <a:bodyPr wrap="square" rtlCol="0" anchor="t">
            <a:noAutofit/>
          </a:bodyPr>
          <a:lstStyle/>
          <a:p>
            <a:pPr marL="342900" indent="-342900" algn="just">
              <a:lnSpc>
                <a:spcPct val="150000"/>
              </a:lnSpc>
              <a:buClrTx/>
              <a:buSzTx/>
              <a:buFont typeface="Wingdings" panose="05000000000000000000" charset="0"/>
              <a:buChar char="l"/>
            </a:pPr>
            <a:r>
              <a:rPr lang="zh-CN" altLang="en-US" sz="2000" dirty="0">
                <a:solidFill>
                  <a:srgbClr val="595959"/>
                </a:solidFill>
                <a:latin typeface="微软雅黑" panose="020B0503020204020204" pitchFamily="34" charset="-122"/>
                <a:ea typeface="微软雅黑" panose="020B0503020204020204" pitchFamily="34" charset="-122"/>
                <a:sym typeface="+mn-ea"/>
              </a:rPr>
              <a:t>测试</a:t>
            </a:r>
            <a:r>
              <a:rPr lang="zh-CN" altLang="en-US" sz="2000" dirty="0">
                <a:solidFill>
                  <a:srgbClr val="0070C0"/>
                </a:solidFill>
                <a:latin typeface="微软雅黑" panose="020B0503020204020204" pitchFamily="34" charset="-122"/>
                <a:ea typeface="微软雅黑" panose="020B0503020204020204" pitchFamily="34" charset="-122"/>
                <a:sym typeface="+mn-ea"/>
              </a:rPr>
              <a:t>超过了预定的时间</a:t>
            </a:r>
            <a:r>
              <a:rPr lang="zh-CN" altLang="en-US" sz="2000" dirty="0">
                <a:solidFill>
                  <a:srgbClr val="595959"/>
                </a:solidFill>
                <a:latin typeface="微软雅黑" panose="020B0503020204020204" pitchFamily="34" charset="-122"/>
                <a:ea typeface="微软雅黑" panose="020B0503020204020204" pitchFamily="34" charset="-122"/>
                <a:sym typeface="+mn-ea"/>
              </a:rPr>
              <a:t>，停止测试。</a:t>
            </a:r>
          </a:p>
          <a:p>
            <a:pPr marL="342900" indent="-342900" algn="just">
              <a:lnSpc>
                <a:spcPct val="150000"/>
              </a:lnSpc>
              <a:buClrTx/>
              <a:buSzTx/>
              <a:buFont typeface="Wingdings" panose="05000000000000000000" charset="0"/>
              <a:buChar char="l"/>
            </a:pPr>
            <a:r>
              <a:rPr lang="zh-CN" altLang="en-US" sz="2000" dirty="0">
                <a:solidFill>
                  <a:srgbClr val="0070C0"/>
                </a:solidFill>
                <a:latin typeface="微软雅黑" panose="020B0503020204020204" pitchFamily="34" charset="-122"/>
                <a:ea typeface="微软雅黑" panose="020B0503020204020204" pitchFamily="34" charset="-122"/>
                <a:sym typeface="+mn-ea"/>
              </a:rPr>
              <a:t>执行了所有测试用例但没有发现故障</a:t>
            </a:r>
            <a:r>
              <a:rPr lang="zh-CN" altLang="en-US" sz="2000" dirty="0">
                <a:solidFill>
                  <a:srgbClr val="595959"/>
                </a:solidFill>
                <a:latin typeface="微软雅黑" panose="020B0503020204020204" pitchFamily="34" charset="-122"/>
                <a:ea typeface="微软雅黑" panose="020B0503020204020204" pitchFamily="34" charset="-122"/>
                <a:sym typeface="+mn-ea"/>
              </a:rPr>
              <a:t>，停止测试。</a:t>
            </a:r>
          </a:p>
          <a:p>
            <a:pPr marL="342900" indent="-342900" algn="just">
              <a:lnSpc>
                <a:spcPct val="150000"/>
              </a:lnSpc>
              <a:buClrTx/>
              <a:buSzTx/>
              <a:buFont typeface="Wingdings" panose="05000000000000000000" charset="0"/>
              <a:buChar char="l"/>
            </a:pPr>
            <a:r>
              <a:rPr lang="zh-CN" altLang="en-US" sz="2000" dirty="0">
                <a:solidFill>
                  <a:srgbClr val="595959"/>
                </a:solidFill>
                <a:latin typeface="微软雅黑" panose="020B0503020204020204" pitchFamily="34" charset="-122"/>
                <a:ea typeface="微软雅黑" panose="020B0503020204020204" pitchFamily="34" charset="-122"/>
                <a:sym typeface="+mn-ea"/>
              </a:rPr>
              <a:t>使用</a:t>
            </a:r>
            <a:r>
              <a:rPr lang="zh-CN" altLang="en-US" sz="2000" dirty="0">
                <a:solidFill>
                  <a:srgbClr val="0070C0"/>
                </a:solidFill>
                <a:latin typeface="微软雅黑" panose="020B0503020204020204" pitchFamily="34" charset="-122"/>
                <a:ea typeface="微软雅黑" panose="020B0503020204020204" pitchFamily="34" charset="-122"/>
                <a:sym typeface="+mn-ea"/>
              </a:rPr>
              <a:t>特定的测试用例方法</a:t>
            </a:r>
            <a:r>
              <a:rPr lang="zh-CN" altLang="en-US" sz="2000" dirty="0">
                <a:solidFill>
                  <a:srgbClr val="595959"/>
                </a:solidFill>
                <a:latin typeface="微软雅黑" panose="020B0503020204020204" pitchFamily="34" charset="-122"/>
                <a:ea typeface="微软雅黑" panose="020B0503020204020204" pitchFamily="34" charset="-122"/>
                <a:sym typeface="+mn-ea"/>
              </a:rPr>
              <a:t>作为判断测试停止的基础。</a:t>
            </a:r>
          </a:p>
          <a:p>
            <a:pPr marL="342900" indent="-342900" algn="just">
              <a:lnSpc>
                <a:spcPct val="150000"/>
              </a:lnSpc>
              <a:buClrTx/>
              <a:buSzTx/>
              <a:buFont typeface="Wingdings" panose="05000000000000000000" charset="0"/>
              <a:buChar char="l"/>
            </a:pPr>
            <a:r>
              <a:rPr lang="zh-CN" altLang="en-US" sz="2000" dirty="0">
                <a:solidFill>
                  <a:srgbClr val="0070C0"/>
                </a:solidFill>
                <a:latin typeface="微软雅黑" panose="020B0503020204020204" pitchFamily="34" charset="-122"/>
                <a:ea typeface="微软雅黑" panose="020B0503020204020204" pitchFamily="34" charset="-122"/>
                <a:sym typeface="+mn-ea"/>
              </a:rPr>
              <a:t>正面指出测试完成的要求</a:t>
            </a:r>
            <a:r>
              <a:rPr lang="zh-CN" altLang="en-US" sz="2000" dirty="0">
                <a:solidFill>
                  <a:srgbClr val="595959"/>
                </a:solidFill>
                <a:latin typeface="微软雅黑" panose="020B0503020204020204" pitchFamily="34" charset="-122"/>
                <a:ea typeface="微软雅黑" panose="020B0503020204020204" pitchFamily="34" charset="-122"/>
                <a:sym typeface="+mn-ea"/>
              </a:rPr>
              <a:t>，如发现并修改</a:t>
            </a:r>
            <a:r>
              <a:rPr lang="en-US" altLang="zh-CN" sz="2000" dirty="0">
                <a:solidFill>
                  <a:srgbClr val="595959"/>
                </a:solidFill>
                <a:latin typeface="微软雅黑" panose="020B0503020204020204" pitchFamily="34" charset="-122"/>
                <a:ea typeface="微软雅黑" panose="020B0503020204020204" pitchFamily="34" charset="-122"/>
                <a:sym typeface="+mn-ea"/>
              </a:rPr>
              <a:t>70</a:t>
            </a:r>
            <a:r>
              <a:rPr lang="zh-CN" altLang="en-US" sz="2000" dirty="0">
                <a:solidFill>
                  <a:srgbClr val="595959"/>
                </a:solidFill>
                <a:latin typeface="微软雅黑" panose="020B0503020204020204" pitchFamily="34" charset="-122"/>
                <a:ea typeface="微软雅黑" panose="020B0503020204020204" pitchFamily="34" charset="-122"/>
                <a:sym typeface="+mn-ea"/>
              </a:rPr>
              <a:t>个软件故障。</a:t>
            </a:r>
          </a:p>
          <a:p>
            <a:pPr marL="342900" indent="-342900" algn="just">
              <a:lnSpc>
                <a:spcPct val="150000"/>
              </a:lnSpc>
              <a:buClrTx/>
              <a:buSzTx/>
              <a:buFont typeface="Wingdings" panose="05000000000000000000" charset="0"/>
              <a:buChar char="l"/>
            </a:pPr>
            <a:r>
              <a:rPr lang="zh-CN" altLang="en-US" sz="2000" dirty="0">
                <a:solidFill>
                  <a:srgbClr val="595959"/>
                </a:solidFill>
                <a:latin typeface="微软雅黑" panose="020B0503020204020204" pitchFamily="34" charset="-122"/>
                <a:ea typeface="微软雅黑" panose="020B0503020204020204" pitchFamily="34" charset="-122"/>
                <a:sym typeface="+mn-ea"/>
              </a:rPr>
              <a:t>根据</a:t>
            </a:r>
            <a:r>
              <a:rPr lang="zh-CN" altLang="en-US" sz="2000" dirty="0">
                <a:solidFill>
                  <a:srgbClr val="0070C0"/>
                </a:solidFill>
                <a:latin typeface="微软雅黑" panose="020B0503020204020204" pitchFamily="34" charset="-122"/>
                <a:ea typeface="微软雅黑" panose="020B0503020204020204" pitchFamily="34" charset="-122"/>
                <a:sym typeface="+mn-ea"/>
              </a:rPr>
              <a:t>单位时间内查出故障的数量</a:t>
            </a:r>
            <a:r>
              <a:rPr lang="zh-CN" altLang="en-US" sz="2000" dirty="0">
                <a:solidFill>
                  <a:srgbClr val="595959"/>
                </a:solidFill>
                <a:latin typeface="微软雅黑" panose="020B0503020204020204" pitchFamily="34" charset="-122"/>
                <a:ea typeface="微软雅黑" panose="020B0503020204020204" pitchFamily="34" charset="-122"/>
                <a:sym typeface="+mn-ea"/>
              </a:rPr>
              <a:t>决定是否停止测试。	</a:t>
            </a:r>
          </a:p>
        </p:txBody>
      </p:sp>
      <p:sp>
        <p:nvSpPr>
          <p:cNvPr id="31" name="Title 1">
            <a:extLst>
              <a:ext uri="{FF2B5EF4-FFF2-40B4-BE49-F238E27FC236}">
                <a16:creationId xmlns:a16="http://schemas.microsoft.com/office/drawing/2014/main" id="{19FA34A2-E578-EFD4-2C9C-91EA98A74084}"/>
              </a:ext>
            </a:extLst>
          </p:cNvPr>
          <p:cNvSpPr txBox="1"/>
          <p:nvPr/>
        </p:nvSpPr>
        <p:spPr>
          <a:xfrm>
            <a:off x="1143635" y="266700"/>
            <a:ext cx="48310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1.5.2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软件测试停止原则</a:t>
            </a:r>
          </a:p>
        </p:txBody>
      </p:sp>
    </p:spTree>
    <p:extLst>
      <p:ext uri="{BB962C8B-B14F-4D97-AF65-F5344CB8AC3E}">
        <p14:creationId xmlns:p14="http://schemas.microsoft.com/office/powerpoint/2010/main" val="3276248862"/>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软件测试的</a:t>
            </a:r>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基本流程</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1.6</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857240" y="3213100"/>
            <a:ext cx="5876290"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熟悉软件测试的基本流程，能够</a:t>
            </a:r>
            <a:r>
              <a:rPr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归纳软件测试的5个基本流程</a:t>
            </a:r>
            <a:endParaRPr lang="zh-CN"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35" y="266700"/>
            <a:ext cx="48310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软件测试的流程</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1143635" y="1054100"/>
            <a:ext cx="10046970" cy="1485900"/>
          </a:xfrm>
          <a:prstGeom prst="rect">
            <a:avLst/>
          </a:prstGeom>
          <a:noFill/>
        </p:spPr>
        <p:txBody>
          <a:bodyPr wrap="square" rtlCol="0" anchor="t">
            <a:noAutofit/>
          </a:bodyPr>
          <a:lstStyle/>
          <a:p>
            <a:pPr indent="457200" algn="just">
              <a:lnSpc>
                <a:spcPct val="150000"/>
              </a:lnSpc>
              <a:buClrTx/>
              <a:buSzTx/>
              <a:buFontTx/>
            </a:pPr>
            <a:r>
              <a:rPr lang="zh-CN" sz="2000" dirty="0">
                <a:solidFill>
                  <a:srgbClr val="595959"/>
                </a:solidFill>
                <a:latin typeface="微软雅黑" panose="020B0503020204020204" pitchFamily="34" charset="-122"/>
                <a:ea typeface="微软雅黑" panose="020B0503020204020204" pitchFamily="34" charset="-122"/>
                <a:sym typeface="+mn-ea"/>
              </a:rPr>
              <a:t>不同类型的软件产品测试的方式和重点不一样，测试流程也会不一样。同样类型的软件产品，不同公司所制定的测试流程也会不一样。虽然</a:t>
            </a:r>
            <a:r>
              <a:rPr lang="zh-CN" sz="2000" dirty="0">
                <a:solidFill>
                  <a:srgbClr val="0070C0"/>
                </a:solidFill>
                <a:latin typeface="微软雅黑" panose="020B0503020204020204" pitchFamily="34" charset="-122"/>
                <a:ea typeface="微软雅黑" panose="020B0503020204020204" pitchFamily="34" charset="-122"/>
                <a:sym typeface="+mn-ea"/>
              </a:rPr>
              <a:t>不同软件的详细测试步骤不同</a:t>
            </a:r>
            <a:r>
              <a:rPr lang="zh-CN" sz="2000" dirty="0">
                <a:solidFill>
                  <a:srgbClr val="595959"/>
                </a:solidFill>
                <a:latin typeface="微软雅黑" panose="020B0503020204020204" pitchFamily="34" charset="-122"/>
                <a:ea typeface="微软雅黑" panose="020B0503020204020204" pitchFamily="34" charset="-122"/>
                <a:sym typeface="+mn-ea"/>
              </a:rPr>
              <a:t>，</a:t>
            </a:r>
            <a:r>
              <a:rPr lang="zh-CN" sz="2000" dirty="0">
                <a:solidFill>
                  <a:srgbClr val="0070C0"/>
                </a:solidFill>
                <a:latin typeface="微软雅黑" panose="020B0503020204020204" pitchFamily="34" charset="-122"/>
                <a:ea typeface="微软雅黑" panose="020B0503020204020204" pitchFamily="34" charset="-122"/>
                <a:sym typeface="+mn-ea"/>
              </a:rPr>
              <a:t>但它们所遵循的最基本的测试流程</a:t>
            </a:r>
            <a:r>
              <a:rPr lang="zh-CN" altLang="en-US" sz="2000" dirty="0">
                <a:solidFill>
                  <a:srgbClr val="0070C0"/>
                </a:solidFill>
                <a:latin typeface="微软雅黑" panose="020B0503020204020204" pitchFamily="34" charset="-122"/>
                <a:ea typeface="微软雅黑" panose="020B0503020204020204" pitchFamily="34" charset="-122"/>
                <a:sym typeface="+mn-ea"/>
              </a:rPr>
              <a:t>通常</a:t>
            </a:r>
            <a:r>
              <a:rPr lang="zh-CN" sz="2000" dirty="0">
                <a:solidFill>
                  <a:srgbClr val="0070C0"/>
                </a:solidFill>
                <a:latin typeface="微软雅黑" panose="020B0503020204020204" pitchFamily="34" charset="-122"/>
                <a:ea typeface="微软雅黑" panose="020B0503020204020204" pitchFamily="34" charset="-122"/>
                <a:sym typeface="+mn-ea"/>
              </a:rPr>
              <a:t>是一样的</a:t>
            </a:r>
            <a:r>
              <a:rPr lang="zh-CN" sz="2000" dirty="0">
                <a:solidFill>
                  <a:srgbClr val="595959"/>
                </a:solidFill>
                <a:latin typeface="微软雅黑" panose="020B0503020204020204" pitchFamily="34" charset="-122"/>
                <a:ea typeface="微软雅黑" panose="020B0503020204020204" pitchFamily="34" charset="-122"/>
                <a:sym typeface="+mn-ea"/>
              </a:rPr>
              <a:t>。</a:t>
            </a:r>
            <a:r>
              <a:rPr lang="zh-CN" altLang="en-US" sz="2000" dirty="0">
                <a:solidFill>
                  <a:srgbClr val="595959"/>
                </a:solidFill>
                <a:latin typeface="微软雅黑" panose="020B0503020204020204" pitchFamily="34" charset="-122"/>
                <a:ea typeface="微软雅黑" panose="020B0503020204020204" pitchFamily="34" charset="-122"/>
                <a:sym typeface="+mn-ea"/>
              </a:rPr>
              <a:t>	</a:t>
            </a: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	</a:t>
            </a: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31" name="Title 1"/>
          <p:cNvSpPr txBox="1"/>
          <p:nvPr/>
        </p:nvSpPr>
        <p:spPr>
          <a:xfrm>
            <a:off x="1143635" y="266700"/>
            <a:ext cx="48310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软件测试的流程</a:t>
            </a:r>
          </a:p>
        </p:txBody>
      </p:sp>
      <p:sp>
        <p:nvSpPr>
          <p:cNvPr id="28" name="任意多边形 27">
            <a:hlinkClick r:id="rId3" action="ppaction://hlinksldjump"/>
          </p:cNvPr>
          <p:cNvSpPr/>
          <p:nvPr/>
        </p:nvSpPr>
        <p:spPr>
          <a:xfrm>
            <a:off x="1209373" y="3173384"/>
            <a:ext cx="1645920" cy="702656"/>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分析测试需求</a:t>
            </a:r>
            <a:endParaRPr lang="zh-CN" altLang="en-US" sz="2000" b="1" kern="1200" dirty="0">
              <a:solidFill>
                <a:schemeClr val="bg1"/>
              </a:solidFill>
            </a:endParaRPr>
          </a:p>
        </p:txBody>
      </p:sp>
      <p:sp>
        <p:nvSpPr>
          <p:cNvPr id="29" name="任意多边形 28">
            <a:hlinkClick r:id="rId4" action="ppaction://hlinksldjump"/>
          </p:cNvPr>
          <p:cNvSpPr/>
          <p:nvPr/>
        </p:nvSpPr>
        <p:spPr>
          <a:xfrm>
            <a:off x="3347207" y="3173384"/>
            <a:ext cx="1607818" cy="702656"/>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制定测试计划</a:t>
            </a:r>
            <a:endParaRPr lang="zh-CN" altLang="en-US" sz="2000" b="1" kern="1200" dirty="0">
              <a:solidFill>
                <a:schemeClr val="bg1"/>
              </a:solidFill>
            </a:endParaRPr>
          </a:p>
        </p:txBody>
      </p:sp>
      <p:sp>
        <p:nvSpPr>
          <p:cNvPr id="30" name="任意多边形 29">
            <a:hlinkClick r:id="rId5" action="ppaction://hlinksldjump"/>
          </p:cNvPr>
          <p:cNvSpPr/>
          <p:nvPr/>
        </p:nvSpPr>
        <p:spPr>
          <a:xfrm>
            <a:off x="5446939" y="3214024"/>
            <a:ext cx="1518916" cy="702656"/>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设计测试用例</a:t>
            </a:r>
            <a:endParaRPr lang="zh-CN" altLang="en-US" sz="2000" b="1" kern="1200" dirty="0">
              <a:solidFill>
                <a:schemeClr val="bg1"/>
              </a:solidFill>
            </a:endParaRPr>
          </a:p>
        </p:txBody>
      </p:sp>
      <p:sp>
        <p:nvSpPr>
          <p:cNvPr id="32" name="任意多边形 31">
            <a:hlinkClick r:id="rId6" action="ppaction://hlinksldjump"/>
          </p:cNvPr>
          <p:cNvSpPr/>
          <p:nvPr/>
        </p:nvSpPr>
        <p:spPr>
          <a:xfrm>
            <a:off x="7457772" y="3214024"/>
            <a:ext cx="1440175" cy="709716"/>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kern="1200" dirty="0">
                <a:solidFill>
                  <a:schemeClr val="bg1"/>
                </a:solidFill>
              </a:rPr>
              <a:t>执行测试</a:t>
            </a:r>
          </a:p>
        </p:txBody>
      </p:sp>
      <p:sp>
        <p:nvSpPr>
          <p:cNvPr id="33" name="任意多边形 32"/>
          <p:cNvSpPr/>
          <p:nvPr/>
        </p:nvSpPr>
        <p:spPr>
          <a:xfrm>
            <a:off x="2966115" y="3356645"/>
            <a:ext cx="270270" cy="311651"/>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u="sng" kern="1200"/>
          </a:p>
        </p:txBody>
      </p:sp>
      <p:sp>
        <p:nvSpPr>
          <p:cNvPr id="34" name="任意多边形 33"/>
          <p:cNvSpPr/>
          <p:nvPr/>
        </p:nvSpPr>
        <p:spPr>
          <a:xfrm>
            <a:off x="5065847" y="3394599"/>
            <a:ext cx="270270" cy="311651"/>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u="sng" kern="1200"/>
          </a:p>
        </p:txBody>
      </p:sp>
      <p:sp>
        <p:nvSpPr>
          <p:cNvPr id="35" name="任意多边形 34"/>
          <p:cNvSpPr/>
          <p:nvPr/>
        </p:nvSpPr>
        <p:spPr>
          <a:xfrm>
            <a:off x="7076677" y="3426635"/>
            <a:ext cx="270270" cy="311651"/>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u="sng" kern="1200"/>
          </a:p>
        </p:txBody>
      </p:sp>
      <p:sp>
        <p:nvSpPr>
          <p:cNvPr id="36" name="任意多边形 35">
            <a:hlinkClick r:id="rId7" action="ppaction://hlinksldjump"/>
          </p:cNvPr>
          <p:cNvSpPr/>
          <p:nvPr/>
        </p:nvSpPr>
        <p:spPr>
          <a:xfrm>
            <a:off x="9407006" y="3213389"/>
            <a:ext cx="1440175" cy="709716"/>
          </a:xfrm>
          <a:custGeom>
            <a:avLst/>
            <a:gdLst>
              <a:gd name="connsiteX0" fmla="*/ 0 w 2611120"/>
              <a:gd name="connsiteY0" fmla="*/ 0 h 421534"/>
              <a:gd name="connsiteX1" fmla="*/ 2611120 w 2611120"/>
              <a:gd name="connsiteY1" fmla="*/ 0 h 421534"/>
              <a:gd name="connsiteX2" fmla="*/ 2611120 w 2611120"/>
              <a:gd name="connsiteY2" fmla="*/ 421534 h 421534"/>
              <a:gd name="connsiteX3" fmla="*/ 0 w 2611120"/>
              <a:gd name="connsiteY3" fmla="*/ 421534 h 421534"/>
              <a:gd name="connsiteX4" fmla="*/ 0 w 2611120"/>
              <a:gd name="connsiteY4" fmla="*/ 0 h 42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120" h="421534">
                <a:moveTo>
                  <a:pt x="0" y="0"/>
                </a:moveTo>
                <a:lnTo>
                  <a:pt x="2611120" y="0"/>
                </a:lnTo>
                <a:lnTo>
                  <a:pt x="2611120" y="421534"/>
                </a:lnTo>
                <a:lnTo>
                  <a:pt x="0" y="421534"/>
                </a:lnTo>
                <a:lnTo>
                  <a:pt x="0" y="0"/>
                </a:lnTo>
                <a:close/>
              </a:path>
            </a:pathLst>
          </a:custGeom>
          <a:solidFill>
            <a:srgbClr val="0075CC">
              <a:alpha val="90000"/>
            </a:srgbClr>
          </a:solidFill>
          <a:ln>
            <a:solidFill>
              <a:srgbClr val="0075CC">
                <a:alpha val="90000"/>
              </a:srgb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2024" tIns="34290" rIns="192024" bIns="34290" numCol="1" spcCol="1270" anchor="ctr" anchorCtr="0">
            <a:noAutofit/>
          </a:bodyPr>
          <a:lstStyle/>
          <a:p>
            <a:pPr lvl="0" algn="ctr" defTabSz="1200150">
              <a:lnSpc>
                <a:spcPct val="90000"/>
              </a:lnSpc>
              <a:spcBef>
                <a:spcPct val="0"/>
              </a:spcBef>
              <a:spcAft>
                <a:spcPct val="35000"/>
              </a:spcAft>
            </a:pPr>
            <a:r>
              <a:rPr lang="zh-CN" altLang="en-US" sz="2000" b="1" dirty="0">
                <a:solidFill>
                  <a:schemeClr val="bg1"/>
                </a:solidFill>
              </a:rPr>
              <a:t>编写测试报告</a:t>
            </a:r>
            <a:endParaRPr lang="zh-CN" altLang="en-US" sz="2000" b="1" kern="1200" dirty="0">
              <a:solidFill>
                <a:schemeClr val="bg1"/>
              </a:solidFill>
            </a:endParaRPr>
          </a:p>
        </p:txBody>
      </p:sp>
      <p:sp>
        <p:nvSpPr>
          <p:cNvPr id="37" name="任意多边形 36"/>
          <p:cNvSpPr/>
          <p:nvPr/>
        </p:nvSpPr>
        <p:spPr>
          <a:xfrm>
            <a:off x="9008766" y="3385995"/>
            <a:ext cx="270270" cy="311651"/>
          </a:xfrm>
          <a:custGeom>
            <a:avLst/>
            <a:gdLst>
              <a:gd name="connsiteX0" fmla="*/ 0 w 270270"/>
              <a:gd name="connsiteY0" fmla="*/ 68563 h 342816"/>
              <a:gd name="connsiteX1" fmla="*/ 135135 w 270270"/>
              <a:gd name="connsiteY1" fmla="*/ 68563 h 342816"/>
              <a:gd name="connsiteX2" fmla="*/ 135135 w 270270"/>
              <a:gd name="connsiteY2" fmla="*/ 0 h 342816"/>
              <a:gd name="connsiteX3" fmla="*/ 270270 w 270270"/>
              <a:gd name="connsiteY3" fmla="*/ 171408 h 342816"/>
              <a:gd name="connsiteX4" fmla="*/ 135135 w 270270"/>
              <a:gd name="connsiteY4" fmla="*/ 342816 h 342816"/>
              <a:gd name="connsiteX5" fmla="*/ 135135 w 270270"/>
              <a:gd name="connsiteY5" fmla="*/ 274253 h 342816"/>
              <a:gd name="connsiteX6" fmla="*/ 0 w 270270"/>
              <a:gd name="connsiteY6" fmla="*/ 274253 h 342816"/>
              <a:gd name="connsiteX7" fmla="*/ 0 w 270270"/>
              <a:gd name="connsiteY7" fmla="*/ 68563 h 34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270" h="342816">
                <a:moveTo>
                  <a:pt x="0" y="68563"/>
                </a:moveTo>
                <a:lnTo>
                  <a:pt x="135135" y="68563"/>
                </a:lnTo>
                <a:lnTo>
                  <a:pt x="135135" y="0"/>
                </a:lnTo>
                <a:lnTo>
                  <a:pt x="270270" y="171408"/>
                </a:lnTo>
                <a:lnTo>
                  <a:pt x="135135" y="342816"/>
                </a:lnTo>
                <a:lnTo>
                  <a:pt x="135135" y="274253"/>
                </a:lnTo>
                <a:lnTo>
                  <a:pt x="0" y="274253"/>
                </a:lnTo>
                <a:lnTo>
                  <a:pt x="0" y="6856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63" rIns="81080" bIns="68562" numCol="1" spcCol="1270" anchor="ctr" anchorCtr="0">
            <a:noAutofit/>
          </a:bodyPr>
          <a:lstStyle/>
          <a:p>
            <a:pPr lvl="0" algn="ctr" defTabSz="666750">
              <a:lnSpc>
                <a:spcPct val="90000"/>
              </a:lnSpc>
              <a:spcBef>
                <a:spcPct val="0"/>
              </a:spcBef>
              <a:spcAft>
                <a:spcPct val="35000"/>
              </a:spcAft>
            </a:pPr>
            <a:endParaRPr lang="zh-CN" altLang="en-US" sz="2000" b="1" u="sng" kern="1200"/>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1143635" y="981074"/>
            <a:ext cx="10046970" cy="4824719"/>
          </a:xfrm>
          <a:prstGeom prst="rect">
            <a:avLst/>
          </a:prstGeom>
          <a:noFill/>
        </p:spPr>
        <p:txBody>
          <a:bodyPr wrap="square" rtlCol="0" anchor="t">
            <a:noAutofit/>
          </a:bodyPr>
          <a:lstStyle/>
          <a:p>
            <a:pPr algn="just">
              <a:lnSpc>
                <a:spcPct val="150000"/>
              </a:lnSpc>
              <a:buClrTx/>
              <a:buSzTx/>
              <a:buFontTx/>
            </a:pPr>
            <a:r>
              <a:rPr lang="zh-CN" sz="2000" b="1" dirty="0">
                <a:solidFill>
                  <a:srgbClr val="595959"/>
                </a:solidFill>
                <a:latin typeface="微软雅黑" panose="020B0503020204020204" pitchFamily="34" charset="-122"/>
                <a:ea typeface="微软雅黑" panose="020B0503020204020204" pitchFamily="34" charset="-122"/>
                <a:sym typeface="+mn-ea"/>
              </a:rPr>
              <a:t>1.</a:t>
            </a:r>
            <a:r>
              <a:rPr lang="en-US" altLang="zh-CN" sz="2000" b="1" dirty="0">
                <a:solidFill>
                  <a:srgbClr val="595959"/>
                </a:solidFill>
                <a:latin typeface="微软雅黑" panose="020B0503020204020204" pitchFamily="34" charset="-122"/>
                <a:ea typeface="微软雅黑" panose="020B0503020204020204" pitchFamily="34" charset="-122"/>
                <a:sym typeface="+mn-ea"/>
              </a:rPr>
              <a:t> </a:t>
            </a:r>
            <a:r>
              <a:rPr lang="zh-CN" sz="2000" b="1" dirty="0">
                <a:solidFill>
                  <a:srgbClr val="595959"/>
                </a:solidFill>
                <a:latin typeface="微软雅黑" panose="020B0503020204020204" pitchFamily="34" charset="-122"/>
                <a:ea typeface="微软雅黑" panose="020B0503020204020204" pitchFamily="34" charset="-122"/>
                <a:sym typeface="+mn-ea"/>
              </a:rPr>
              <a:t>分析测试需求</a:t>
            </a:r>
            <a:endParaRPr lang="en-US" altLang="zh-CN" sz="2000" b="1" dirty="0">
              <a:solidFill>
                <a:srgbClr val="595959"/>
              </a:solidFill>
              <a:latin typeface="微软雅黑" panose="020B0503020204020204" pitchFamily="34" charset="-122"/>
              <a:ea typeface="微软雅黑" panose="020B0503020204020204" pitchFamily="34" charset="-122"/>
              <a:sym typeface="+mn-ea"/>
            </a:endParaRPr>
          </a:p>
          <a:p>
            <a:pPr algn="just">
              <a:lnSpc>
                <a:spcPct val="150000"/>
              </a:lnSpc>
              <a:buClrTx/>
              <a:buSzTx/>
              <a:buFontTx/>
            </a:pPr>
            <a:endParaRPr lang="zh-CN" sz="2000" b="1" dirty="0">
              <a:solidFill>
                <a:srgbClr val="595959"/>
              </a:solidFill>
              <a:latin typeface="微软雅黑" panose="020B0503020204020204" pitchFamily="34" charset="-122"/>
              <a:ea typeface="微软雅黑" panose="020B0503020204020204" pitchFamily="34" charset="-122"/>
              <a:sym typeface="+mn-ea"/>
            </a:endParaRPr>
          </a:p>
          <a:p>
            <a:pPr indent="457200" algn="just">
              <a:lnSpc>
                <a:spcPct val="150000"/>
              </a:lnSpc>
              <a:buClrTx/>
              <a:buSzTx/>
              <a:buFontTx/>
            </a:pPr>
            <a:r>
              <a:rPr lang="zh-CN" sz="2000" dirty="0">
                <a:solidFill>
                  <a:srgbClr val="0070C0"/>
                </a:solidFill>
                <a:latin typeface="微软雅黑" panose="020B0503020204020204" pitchFamily="34" charset="-122"/>
                <a:ea typeface="微软雅黑" panose="020B0503020204020204" pitchFamily="34" charset="-122"/>
                <a:sym typeface="+mn-ea"/>
              </a:rPr>
              <a:t>测试人员在制定测试计划之前</a:t>
            </a:r>
            <a:r>
              <a:rPr lang="zh-CN" sz="2000" dirty="0">
                <a:solidFill>
                  <a:srgbClr val="595959"/>
                </a:solidFill>
                <a:latin typeface="微软雅黑" panose="020B0503020204020204" pitchFamily="34" charset="-122"/>
                <a:ea typeface="微软雅黑" panose="020B0503020204020204" pitchFamily="34" charset="-122"/>
                <a:sym typeface="+mn-ea"/>
              </a:rPr>
              <a:t>需要先对</a:t>
            </a:r>
            <a:r>
              <a:rPr lang="zh-CN" altLang="en-US" sz="2000" dirty="0">
                <a:solidFill>
                  <a:srgbClr val="595959"/>
                </a:solidFill>
                <a:latin typeface="微软雅黑" panose="020B0503020204020204" pitchFamily="34" charset="-122"/>
                <a:ea typeface="微软雅黑" panose="020B0503020204020204" pitchFamily="34" charset="-122"/>
                <a:sym typeface="+mn-ea"/>
              </a:rPr>
              <a:t>用户</a:t>
            </a:r>
            <a:r>
              <a:rPr lang="zh-CN" sz="2000" dirty="0">
                <a:solidFill>
                  <a:srgbClr val="595959"/>
                </a:solidFill>
                <a:latin typeface="微软雅黑" panose="020B0503020204020204" pitchFamily="34" charset="-122"/>
                <a:ea typeface="微软雅黑" panose="020B0503020204020204" pitchFamily="34" charset="-122"/>
                <a:sym typeface="+mn-ea"/>
              </a:rPr>
              <a:t>需求进行分析，以便对要开发的软件产品有一个清晰的认识，从而</a:t>
            </a:r>
            <a:r>
              <a:rPr lang="zh-CN" sz="2000" dirty="0">
                <a:solidFill>
                  <a:srgbClr val="0070C0"/>
                </a:solidFill>
                <a:latin typeface="微软雅黑" panose="020B0503020204020204" pitchFamily="34" charset="-122"/>
                <a:ea typeface="微软雅黑" panose="020B0503020204020204" pitchFamily="34" charset="-122"/>
                <a:sym typeface="+mn-ea"/>
              </a:rPr>
              <a:t>明确测试对象及测试工作的范围和测试重点</a:t>
            </a:r>
            <a:r>
              <a:rPr lang="zh-CN" sz="2000" dirty="0">
                <a:solidFill>
                  <a:srgbClr val="595959"/>
                </a:solidFill>
                <a:latin typeface="微软雅黑" panose="020B0503020204020204" pitchFamily="34" charset="-122"/>
                <a:ea typeface="微软雅黑" panose="020B0503020204020204" pitchFamily="34" charset="-122"/>
                <a:sym typeface="+mn-ea"/>
              </a:rPr>
              <a:t>。在分析需求时还可以获取一些测试数据，</a:t>
            </a:r>
            <a:r>
              <a:rPr lang="zh-CN" altLang="en-US" sz="2000" dirty="0">
                <a:solidFill>
                  <a:srgbClr val="595959"/>
                </a:solidFill>
                <a:latin typeface="微软雅黑" panose="020B0503020204020204" pitchFamily="34" charset="-122"/>
                <a:ea typeface="微软雅黑" panose="020B0503020204020204" pitchFamily="34" charset="-122"/>
                <a:sym typeface="+mn-ea"/>
              </a:rPr>
              <a:t>将其</a:t>
            </a:r>
            <a:r>
              <a:rPr lang="zh-CN" sz="2000" dirty="0">
                <a:solidFill>
                  <a:srgbClr val="595959"/>
                </a:solidFill>
                <a:latin typeface="微软雅黑" panose="020B0503020204020204" pitchFamily="34" charset="-122"/>
                <a:ea typeface="微软雅黑" panose="020B0503020204020204" pitchFamily="34" charset="-122"/>
                <a:sym typeface="+mn-ea"/>
              </a:rPr>
              <a:t>作为测试计划的基本依据，为后续的测试打好基础。</a:t>
            </a:r>
            <a:endParaRPr lang="en-US" altLang="zh-CN" sz="2000" dirty="0">
              <a:solidFill>
                <a:srgbClr val="595959"/>
              </a:solidFill>
              <a:latin typeface="微软雅黑" panose="020B0503020204020204" pitchFamily="34" charset="-122"/>
              <a:ea typeface="微软雅黑" panose="020B0503020204020204" pitchFamily="34" charset="-122"/>
              <a:sym typeface="+mn-ea"/>
            </a:endParaRP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	</a:t>
            </a:r>
          </a:p>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分析测试需求其实也是对用户需求进行测试，</a:t>
            </a:r>
            <a:r>
              <a:rPr lang="zh-CN" altLang="en-US" sz="2000" dirty="0">
                <a:solidFill>
                  <a:srgbClr val="0070C0"/>
                </a:solidFill>
                <a:latin typeface="微软雅黑" panose="020B0503020204020204" pitchFamily="34" charset="-122"/>
                <a:ea typeface="微软雅黑" panose="020B0503020204020204" pitchFamily="34" charset="-122"/>
                <a:sym typeface="+mn-ea"/>
              </a:rPr>
              <a:t>测试人员可以发现用户需求中不合理的地方，例如需求描述是否完整、准确、无歧义，以及需求优先级安排是否合理等</a:t>
            </a:r>
            <a:r>
              <a:rPr lang="zh-CN" altLang="en-US" sz="2000" dirty="0">
                <a:solidFill>
                  <a:srgbClr val="595959"/>
                </a:solidFill>
                <a:latin typeface="微软雅黑" panose="020B0503020204020204" pitchFamily="34" charset="-122"/>
                <a:ea typeface="微软雅黑" panose="020B0503020204020204" pitchFamily="34" charset="-122"/>
                <a:sym typeface="+mn-ea"/>
              </a:rPr>
              <a:t>。测试人员一般会根据软件开发需求文档制作一个需求规格说明书检查列表，按照各个检查项对用户需求进行分析、校验</a:t>
            </a:r>
            <a:r>
              <a:rPr lang="zh-CN" altLang="en-US" sz="1800" dirty="0">
                <a:solidFill>
                  <a:srgbClr val="595959"/>
                </a:solidFill>
                <a:latin typeface="微软雅黑" panose="020B0503020204020204" pitchFamily="34" charset="-122"/>
                <a:ea typeface="微软雅黑" panose="020B0503020204020204" pitchFamily="34" charset="-122"/>
                <a:sym typeface="+mn-ea"/>
              </a:rPr>
              <a:t>。</a:t>
            </a: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31" name="Title 1"/>
          <p:cNvSpPr txBox="1"/>
          <p:nvPr/>
        </p:nvSpPr>
        <p:spPr>
          <a:xfrm>
            <a:off x="1143635" y="266700"/>
            <a:ext cx="48310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软件测试的流程</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8310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软件测试的流程</a:t>
            </a:r>
          </a:p>
        </p:txBody>
      </p:sp>
      <p:graphicFrame>
        <p:nvGraphicFramePr>
          <p:cNvPr id="5" name="表格 4"/>
          <p:cNvGraphicFramePr>
            <a:graphicFrameLocks noGrp="1"/>
          </p:cNvGraphicFramePr>
          <p:nvPr>
            <p:custDataLst>
              <p:tags r:id="rId1"/>
            </p:custDataLst>
          </p:nvPr>
        </p:nvGraphicFramePr>
        <p:xfrm>
          <a:off x="1487170" y="1557020"/>
          <a:ext cx="8928036" cy="4560570"/>
        </p:xfrm>
        <a:graphic>
          <a:graphicData uri="http://schemas.openxmlformats.org/drawingml/2006/table">
            <a:tbl>
              <a:tblPr firstRow="1" firstCol="1" bandRow="1">
                <a:tableStyleId>{5C22544A-7EE6-4342-B048-85BDC9FD1C3A}</a:tableStyleId>
              </a:tblPr>
              <a:tblGrid>
                <a:gridCol w="809625">
                  <a:extLst>
                    <a:ext uri="{9D8B030D-6E8A-4147-A177-3AD203B41FA5}">
                      <a16:colId xmlns:a16="http://schemas.microsoft.com/office/drawing/2014/main" val="20000"/>
                    </a:ext>
                  </a:extLst>
                </a:gridCol>
                <a:gridCol w="5022411">
                  <a:extLst>
                    <a:ext uri="{9D8B030D-6E8A-4147-A177-3AD203B41FA5}">
                      <a16:colId xmlns:a16="http://schemas.microsoft.com/office/drawing/2014/main" val="20001"/>
                    </a:ext>
                  </a:extLst>
                </a:gridCol>
                <a:gridCol w="2448000">
                  <a:extLst>
                    <a:ext uri="{9D8B030D-6E8A-4147-A177-3AD203B41FA5}">
                      <a16:colId xmlns:a16="http://schemas.microsoft.com/office/drawing/2014/main" val="20002"/>
                    </a:ext>
                  </a:extLst>
                </a:gridCol>
                <a:gridCol w="648000">
                  <a:extLst>
                    <a:ext uri="{9D8B030D-6E8A-4147-A177-3AD203B41FA5}">
                      <a16:colId xmlns:a16="http://schemas.microsoft.com/office/drawing/2014/main" val="20003"/>
                    </a:ext>
                  </a:extLst>
                </a:gridCol>
              </a:tblGrid>
              <a:tr h="380365">
                <a:tc>
                  <a:txBody>
                    <a:bodyPr/>
                    <a:lstStyle/>
                    <a:p>
                      <a:pPr algn="ctr">
                        <a:spcAft>
                          <a:spcPts val="0"/>
                        </a:spcAft>
                      </a:pPr>
                      <a:r>
                        <a:rPr lang="zh-CN" sz="1800" kern="100" dirty="0">
                          <a:effectLst/>
                          <a:latin typeface="微软雅黑" panose="020B0503020204020204" pitchFamily="34" charset="-122"/>
                          <a:ea typeface="微软雅黑" panose="020B0503020204020204" pitchFamily="34" charset="-122"/>
                        </a:rPr>
                        <a:t>序号</a:t>
                      </a:r>
                    </a:p>
                  </a:txBody>
                  <a:tcPr marL="68580" marR="68580" marT="0" marB="0" anchor="ctr">
                    <a:solidFill>
                      <a:srgbClr val="0075CC"/>
                    </a:solidFill>
                  </a:tcPr>
                </a:tc>
                <a:tc>
                  <a:txBody>
                    <a:bodyPr/>
                    <a:lstStyle/>
                    <a:p>
                      <a:pPr algn="ctr">
                        <a:spcAft>
                          <a:spcPts val="0"/>
                        </a:spcAft>
                      </a:pPr>
                      <a:r>
                        <a:rPr lang="zh-CN" sz="1800" kern="100">
                          <a:effectLst/>
                          <a:latin typeface="微软雅黑" panose="020B0503020204020204" pitchFamily="34" charset="-122"/>
                          <a:ea typeface="微软雅黑" panose="020B0503020204020204" pitchFamily="34" charset="-122"/>
                        </a:rPr>
                        <a:t>检查项</a:t>
                      </a:r>
                    </a:p>
                  </a:txBody>
                  <a:tcPr marL="68580" marR="68580" marT="0" marB="0" anchor="ctr">
                    <a:solidFill>
                      <a:srgbClr val="0075CC"/>
                    </a:solidFill>
                  </a:tcPr>
                </a:tc>
                <a:tc>
                  <a:txBody>
                    <a:bodyPr/>
                    <a:lstStyle/>
                    <a:p>
                      <a:pPr algn="ctr">
                        <a:spcAft>
                          <a:spcPts val="0"/>
                        </a:spcAft>
                      </a:pPr>
                      <a:r>
                        <a:rPr lang="zh-CN" sz="1800" kern="100">
                          <a:effectLst/>
                          <a:latin typeface="微软雅黑" panose="020B0503020204020204" pitchFamily="34" charset="-122"/>
                          <a:ea typeface="微软雅黑" panose="020B0503020204020204" pitchFamily="34" charset="-122"/>
                        </a:rPr>
                        <a:t>检查结果</a:t>
                      </a:r>
                    </a:p>
                  </a:txBody>
                  <a:tcPr marL="68580" marR="68580" marT="0" marB="0" anchor="ctr">
                    <a:solidFill>
                      <a:srgbClr val="0075CC"/>
                    </a:solidFill>
                  </a:tcPr>
                </a:tc>
                <a:tc>
                  <a:txBody>
                    <a:bodyPr/>
                    <a:lstStyle/>
                    <a:p>
                      <a:pPr algn="ctr">
                        <a:spcAft>
                          <a:spcPts val="0"/>
                        </a:spcAft>
                      </a:pPr>
                      <a:r>
                        <a:rPr lang="zh-CN" sz="1800" kern="100">
                          <a:effectLst/>
                          <a:latin typeface="微软雅黑" panose="020B0503020204020204" pitchFamily="34" charset="-122"/>
                          <a:ea typeface="微软雅黑" panose="020B0503020204020204" pitchFamily="34" charset="-122"/>
                        </a:rPr>
                        <a:t>说明</a:t>
                      </a:r>
                    </a:p>
                  </a:txBody>
                  <a:tcPr marL="68580" marR="68580" marT="0" marB="0" anchor="ctr">
                    <a:solidFill>
                      <a:srgbClr val="0075CC"/>
                    </a:solidFill>
                  </a:tcPr>
                </a:tc>
                <a:extLst>
                  <a:ext uri="{0D108BD9-81ED-4DB2-BD59-A6C34878D82A}">
                    <a16:rowId xmlns:a16="http://schemas.microsoft.com/office/drawing/2014/main" val="10000"/>
                  </a:ext>
                </a:extLst>
              </a:tr>
              <a:tr h="379730">
                <a:tc>
                  <a:txBody>
                    <a:bodyPr/>
                    <a:lstStyle/>
                    <a:p>
                      <a:pPr algn="ctr">
                        <a:spcAft>
                          <a:spcPts val="0"/>
                        </a:spcAft>
                      </a:pPr>
                      <a:r>
                        <a:rPr lang="en-US" sz="1600" kern="100">
                          <a:effectLst/>
                          <a:latin typeface="微软雅黑" panose="020B0503020204020204" pitchFamily="34" charset="-122"/>
                          <a:ea typeface="微软雅黑" panose="020B0503020204020204" pitchFamily="34" charset="-122"/>
                        </a:rPr>
                        <a:t>1</a:t>
                      </a:r>
                    </a:p>
                  </a:txBody>
                  <a:tcPr marL="68580" marR="68580" marT="0" marB="0" anchor="ctr">
                    <a:solidFill>
                      <a:srgbClr val="0075CC"/>
                    </a:solidFill>
                  </a:tcPr>
                </a:tc>
                <a:tc>
                  <a:txBody>
                    <a:bodyPr/>
                    <a:lstStyle/>
                    <a:p>
                      <a:pPr algn="just">
                        <a:spcAft>
                          <a:spcPts val="0"/>
                        </a:spcAft>
                      </a:pPr>
                      <a:r>
                        <a:rPr lang="zh-CN" sz="1800" kern="1200" dirty="0">
                          <a:solidFill>
                            <a:srgbClr val="595959"/>
                          </a:solidFill>
                          <a:latin typeface="微软雅黑" panose="020B0503020204020204" pitchFamily="34" charset="-122"/>
                          <a:ea typeface="微软雅黑" panose="020B0503020204020204" pitchFamily="34" charset="-122"/>
                          <a:cs typeface="+mn-cs"/>
                        </a:rPr>
                        <a:t>是否覆盖了</a:t>
                      </a:r>
                      <a:r>
                        <a:rPr lang="zh-CN" altLang="en-US" sz="1800" kern="1200" dirty="0">
                          <a:solidFill>
                            <a:srgbClr val="595959"/>
                          </a:solidFill>
                          <a:latin typeface="微软雅黑" panose="020B0503020204020204" pitchFamily="34" charset="-122"/>
                          <a:ea typeface="微软雅黑" panose="020B0503020204020204" pitchFamily="34" charset="-122"/>
                          <a:cs typeface="+mn-cs"/>
                        </a:rPr>
                        <a:t>用户</a:t>
                      </a:r>
                      <a:r>
                        <a:rPr lang="zh-CN" sz="1800" kern="1200" dirty="0">
                          <a:solidFill>
                            <a:srgbClr val="595959"/>
                          </a:solidFill>
                          <a:latin typeface="微软雅黑" panose="020B0503020204020204" pitchFamily="34" charset="-122"/>
                          <a:ea typeface="微软雅黑" panose="020B0503020204020204" pitchFamily="34" charset="-122"/>
                          <a:cs typeface="+mn-cs"/>
                        </a:rPr>
                        <a:t>提出的所有需求项</a:t>
                      </a:r>
                    </a:p>
                  </a:txBody>
                  <a:tcPr marL="68580" marR="68580" marT="0" marB="0" anchor="ctr"/>
                </a:tc>
                <a:tc>
                  <a:txBody>
                    <a:bodyPr/>
                    <a:lstStyle/>
                    <a:p>
                      <a:pPr algn="just">
                        <a:spcAft>
                          <a:spcPts val="0"/>
                        </a:spcAft>
                      </a:pPr>
                      <a:r>
                        <a:rPr lang="zh-CN" sz="1800" kern="1200" dirty="0">
                          <a:solidFill>
                            <a:srgbClr val="595959"/>
                          </a:solidFill>
                          <a:latin typeface="微软雅黑" panose="020B0503020204020204" pitchFamily="34" charset="-122"/>
                          <a:ea typeface="微软雅黑" panose="020B0503020204020204" pitchFamily="34" charset="-122"/>
                          <a:cs typeface="+mn-cs"/>
                        </a:rPr>
                        <a:t>是【】否【】</a:t>
                      </a:r>
                      <a:r>
                        <a:rPr lang="en-US" sz="1800" kern="1200" dirty="0">
                          <a:solidFill>
                            <a:srgbClr val="595959"/>
                          </a:solidFill>
                          <a:latin typeface="微软雅黑" panose="020B0503020204020204" pitchFamily="34" charset="-122"/>
                          <a:ea typeface="微软雅黑" panose="020B0503020204020204" pitchFamily="34" charset="-122"/>
                          <a:cs typeface="+mn-cs"/>
                        </a:rPr>
                        <a:t>NA</a:t>
                      </a:r>
                      <a:r>
                        <a:rPr lang="zh-CN" sz="1800" kern="1200" dirty="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just">
                        <a:spcAft>
                          <a:spcPts val="0"/>
                        </a:spcAft>
                      </a:pPr>
                      <a:r>
                        <a:rPr lang="en-US" sz="1600" kern="100">
                          <a:effectLst/>
                          <a:latin typeface="微软雅黑" panose="020B0503020204020204" pitchFamily="34" charset="-122"/>
                          <a:ea typeface="微软雅黑" panose="020B0503020204020204" pitchFamily="34" charset="-122"/>
                        </a:rPr>
                        <a:t> </a:t>
                      </a:r>
                    </a:p>
                  </a:txBody>
                  <a:tcPr marL="68580" marR="68580" marT="0" marB="0" anchor="ctr"/>
                </a:tc>
                <a:extLst>
                  <a:ext uri="{0D108BD9-81ED-4DB2-BD59-A6C34878D82A}">
                    <a16:rowId xmlns:a16="http://schemas.microsoft.com/office/drawing/2014/main" val="10001"/>
                  </a:ext>
                </a:extLst>
              </a:tr>
              <a:tr h="380365">
                <a:tc>
                  <a:txBody>
                    <a:bodyPr/>
                    <a:lstStyle/>
                    <a:p>
                      <a:pPr algn="ctr">
                        <a:spcAft>
                          <a:spcPts val="0"/>
                        </a:spcAft>
                      </a:pPr>
                      <a:r>
                        <a:rPr lang="en-US" sz="1600" kern="100">
                          <a:effectLst/>
                          <a:latin typeface="微软雅黑" panose="020B0503020204020204" pitchFamily="34" charset="-122"/>
                          <a:ea typeface="微软雅黑" panose="020B0503020204020204" pitchFamily="34" charset="-122"/>
                        </a:rPr>
                        <a:t>2</a:t>
                      </a:r>
                    </a:p>
                  </a:txBody>
                  <a:tcPr marL="68580" marR="68580" marT="0" marB="0" anchor="ctr">
                    <a:solidFill>
                      <a:srgbClr val="0075CC"/>
                    </a:solidFill>
                  </a:tcPr>
                </a:tc>
                <a:tc>
                  <a:txBody>
                    <a:bodyPr/>
                    <a:lstStyle/>
                    <a:p>
                      <a:pPr algn="just">
                        <a:spcAft>
                          <a:spcPts val="0"/>
                        </a:spcAft>
                      </a:pPr>
                      <a:r>
                        <a:rPr lang="zh-CN" sz="1800" kern="1200" dirty="0">
                          <a:solidFill>
                            <a:srgbClr val="595959"/>
                          </a:solidFill>
                          <a:latin typeface="微软雅黑" panose="020B0503020204020204" pitchFamily="34" charset="-122"/>
                          <a:ea typeface="微软雅黑" panose="020B0503020204020204" pitchFamily="34" charset="-122"/>
                          <a:cs typeface="+mn-cs"/>
                        </a:rPr>
                        <a:t>用词是否</a:t>
                      </a:r>
                      <a:r>
                        <a:rPr lang="zh-CN" altLang="en-US" sz="1800" kern="1200" dirty="0">
                          <a:solidFill>
                            <a:srgbClr val="595959"/>
                          </a:solidFill>
                          <a:latin typeface="微软雅黑" panose="020B0503020204020204" pitchFamily="34" charset="-122"/>
                          <a:ea typeface="微软雅黑" panose="020B0503020204020204" pitchFamily="34" charset="-122"/>
                          <a:cs typeface="+mn-cs"/>
                        </a:rPr>
                        <a:t>准确</a:t>
                      </a:r>
                      <a:r>
                        <a:rPr lang="zh-CN" sz="1800" kern="1200" dirty="0">
                          <a:solidFill>
                            <a:srgbClr val="595959"/>
                          </a:solidFill>
                          <a:latin typeface="微软雅黑" panose="020B0503020204020204" pitchFamily="34" charset="-122"/>
                          <a:ea typeface="微软雅黑" panose="020B0503020204020204" pitchFamily="34" charset="-122"/>
                          <a:cs typeface="+mn-cs"/>
                        </a:rPr>
                        <a:t>、语义是否存在歧义</a:t>
                      </a:r>
                    </a:p>
                  </a:txBody>
                  <a:tcPr marL="68580" marR="68580" marT="0" marB="0" anchor="ctr"/>
                </a:tc>
                <a:tc>
                  <a:txBody>
                    <a:bodyPr/>
                    <a:lstStyle/>
                    <a:p>
                      <a:pPr algn="just">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是【】否【】</a:t>
                      </a:r>
                      <a:r>
                        <a:rPr lang="en-US" sz="1800" kern="1200">
                          <a:solidFill>
                            <a:srgbClr val="595959"/>
                          </a:solidFill>
                          <a:latin typeface="微软雅黑" panose="020B0503020204020204" pitchFamily="34" charset="-122"/>
                          <a:ea typeface="微软雅黑" panose="020B0503020204020204" pitchFamily="34" charset="-122"/>
                          <a:cs typeface="+mn-cs"/>
                        </a:rPr>
                        <a:t>NA</a:t>
                      </a:r>
                      <a:r>
                        <a:rPr lang="zh-CN"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just">
                        <a:spcAft>
                          <a:spcPts val="0"/>
                        </a:spcAft>
                      </a:pPr>
                      <a:r>
                        <a:rPr lang="en-US" sz="1600" kern="100">
                          <a:effectLst/>
                          <a:latin typeface="微软雅黑" panose="020B0503020204020204" pitchFamily="34" charset="-122"/>
                          <a:ea typeface="微软雅黑" panose="020B0503020204020204" pitchFamily="34" charset="-122"/>
                        </a:rPr>
                        <a:t> </a:t>
                      </a:r>
                    </a:p>
                  </a:txBody>
                  <a:tcPr marL="68580" marR="68580" marT="0" marB="0" anchor="ctr"/>
                </a:tc>
                <a:extLst>
                  <a:ext uri="{0D108BD9-81ED-4DB2-BD59-A6C34878D82A}">
                    <a16:rowId xmlns:a16="http://schemas.microsoft.com/office/drawing/2014/main" val="10002"/>
                  </a:ext>
                </a:extLst>
              </a:tr>
              <a:tr h="379730">
                <a:tc>
                  <a:txBody>
                    <a:bodyPr/>
                    <a:lstStyle/>
                    <a:p>
                      <a:pPr algn="ctr">
                        <a:spcAft>
                          <a:spcPts val="0"/>
                        </a:spcAft>
                      </a:pPr>
                      <a:r>
                        <a:rPr lang="en-US" sz="1600" kern="100">
                          <a:effectLst/>
                          <a:latin typeface="微软雅黑" panose="020B0503020204020204" pitchFamily="34" charset="-122"/>
                          <a:ea typeface="微软雅黑" panose="020B0503020204020204" pitchFamily="34" charset="-122"/>
                        </a:rPr>
                        <a:t>3</a:t>
                      </a:r>
                    </a:p>
                  </a:txBody>
                  <a:tcPr marL="68580" marR="68580" marT="0" marB="0" anchor="ctr">
                    <a:solidFill>
                      <a:srgbClr val="0075CC"/>
                    </a:solidFill>
                  </a:tcPr>
                </a:tc>
                <a:tc>
                  <a:txBody>
                    <a:bodyPr/>
                    <a:lstStyle/>
                    <a:p>
                      <a:pPr algn="just">
                        <a:spcAft>
                          <a:spcPts val="0"/>
                        </a:spcAft>
                      </a:pPr>
                      <a:r>
                        <a:rPr lang="zh-CN" sz="1800" kern="1200" dirty="0">
                          <a:solidFill>
                            <a:srgbClr val="595959"/>
                          </a:solidFill>
                          <a:latin typeface="微软雅黑" panose="020B0503020204020204" pitchFamily="34" charset="-122"/>
                          <a:ea typeface="微软雅黑" panose="020B0503020204020204" pitchFamily="34" charset="-122"/>
                          <a:cs typeface="+mn-cs"/>
                        </a:rPr>
                        <a:t>是否清楚地描述了软件需要做什么以及不做什么</a:t>
                      </a:r>
                    </a:p>
                  </a:txBody>
                  <a:tcPr marL="68580" marR="68580" marT="0" marB="0" anchor="ctr"/>
                </a:tc>
                <a:tc>
                  <a:txBody>
                    <a:bodyPr/>
                    <a:lstStyle/>
                    <a:p>
                      <a:pPr algn="just">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是【】否【】</a:t>
                      </a:r>
                      <a:r>
                        <a:rPr lang="en-US" sz="1800" kern="1200">
                          <a:solidFill>
                            <a:srgbClr val="595959"/>
                          </a:solidFill>
                          <a:latin typeface="微软雅黑" panose="020B0503020204020204" pitchFamily="34" charset="-122"/>
                          <a:ea typeface="微软雅黑" panose="020B0503020204020204" pitchFamily="34" charset="-122"/>
                          <a:cs typeface="+mn-cs"/>
                        </a:rPr>
                        <a:t>NA</a:t>
                      </a:r>
                      <a:r>
                        <a:rPr lang="zh-CN"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just">
                        <a:spcAft>
                          <a:spcPts val="0"/>
                        </a:spcAft>
                      </a:pPr>
                      <a:r>
                        <a:rPr lang="en-US" sz="1600" kern="100">
                          <a:effectLst/>
                          <a:latin typeface="微软雅黑" panose="020B0503020204020204" pitchFamily="34" charset="-122"/>
                          <a:ea typeface="微软雅黑" panose="020B0503020204020204" pitchFamily="34" charset="-122"/>
                        </a:rPr>
                        <a:t> </a:t>
                      </a:r>
                    </a:p>
                  </a:txBody>
                  <a:tcPr marL="68580" marR="68580" marT="0" marB="0" anchor="ctr"/>
                </a:tc>
                <a:extLst>
                  <a:ext uri="{0D108BD9-81ED-4DB2-BD59-A6C34878D82A}">
                    <a16:rowId xmlns:a16="http://schemas.microsoft.com/office/drawing/2014/main" val="10003"/>
                  </a:ext>
                </a:extLst>
              </a:tr>
              <a:tr h="380365">
                <a:tc>
                  <a:txBody>
                    <a:bodyPr/>
                    <a:lstStyle/>
                    <a:p>
                      <a:pPr algn="ctr">
                        <a:spcAft>
                          <a:spcPts val="0"/>
                        </a:spcAft>
                      </a:pPr>
                      <a:r>
                        <a:rPr lang="en-US" sz="1600" kern="100">
                          <a:effectLst/>
                          <a:latin typeface="微软雅黑" panose="020B0503020204020204" pitchFamily="34" charset="-122"/>
                          <a:ea typeface="微软雅黑" panose="020B0503020204020204" pitchFamily="34" charset="-122"/>
                        </a:rPr>
                        <a:t>4</a:t>
                      </a:r>
                    </a:p>
                  </a:txBody>
                  <a:tcPr marL="68580" marR="68580" marT="0" marB="0" anchor="ctr">
                    <a:solidFill>
                      <a:srgbClr val="0075CC"/>
                    </a:solidFill>
                  </a:tcPr>
                </a:tc>
                <a:tc>
                  <a:txBody>
                    <a:bodyPr/>
                    <a:lstStyle/>
                    <a:p>
                      <a:pPr algn="just">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是否描述了软件的目标环境，包括软硬件环境</a:t>
                      </a:r>
                    </a:p>
                  </a:txBody>
                  <a:tcPr marL="68580" marR="68580" marT="0" marB="0" anchor="ctr"/>
                </a:tc>
                <a:tc>
                  <a:txBody>
                    <a:bodyPr/>
                    <a:lstStyle/>
                    <a:p>
                      <a:pPr algn="just">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是【】否【】</a:t>
                      </a:r>
                      <a:r>
                        <a:rPr lang="en-US" sz="1800" kern="1200">
                          <a:solidFill>
                            <a:srgbClr val="595959"/>
                          </a:solidFill>
                          <a:latin typeface="微软雅黑" panose="020B0503020204020204" pitchFamily="34" charset="-122"/>
                          <a:ea typeface="微软雅黑" panose="020B0503020204020204" pitchFamily="34" charset="-122"/>
                          <a:cs typeface="+mn-cs"/>
                        </a:rPr>
                        <a:t>NA</a:t>
                      </a:r>
                      <a:r>
                        <a:rPr lang="zh-CN"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just">
                        <a:spcAft>
                          <a:spcPts val="0"/>
                        </a:spcAft>
                      </a:pPr>
                      <a:r>
                        <a:rPr lang="en-US" sz="1600" kern="100">
                          <a:effectLst/>
                          <a:latin typeface="微软雅黑" panose="020B0503020204020204" pitchFamily="34" charset="-122"/>
                          <a:ea typeface="微软雅黑" panose="020B0503020204020204" pitchFamily="34" charset="-122"/>
                        </a:rPr>
                        <a:t> </a:t>
                      </a:r>
                    </a:p>
                  </a:txBody>
                  <a:tcPr marL="68580" marR="68580" marT="0" marB="0" anchor="ctr"/>
                </a:tc>
                <a:extLst>
                  <a:ext uri="{0D108BD9-81ED-4DB2-BD59-A6C34878D82A}">
                    <a16:rowId xmlns:a16="http://schemas.microsoft.com/office/drawing/2014/main" val="10004"/>
                  </a:ext>
                </a:extLst>
              </a:tr>
              <a:tr h="379730">
                <a:tc>
                  <a:txBody>
                    <a:bodyPr/>
                    <a:lstStyle/>
                    <a:p>
                      <a:pPr algn="ctr">
                        <a:spcAft>
                          <a:spcPts val="0"/>
                        </a:spcAft>
                      </a:pPr>
                      <a:r>
                        <a:rPr lang="en-US" sz="1600" kern="100">
                          <a:effectLst/>
                          <a:latin typeface="微软雅黑" panose="020B0503020204020204" pitchFamily="34" charset="-122"/>
                          <a:ea typeface="微软雅黑" panose="020B0503020204020204" pitchFamily="34" charset="-122"/>
                        </a:rPr>
                        <a:t>5</a:t>
                      </a:r>
                    </a:p>
                  </a:txBody>
                  <a:tcPr marL="68580" marR="68580" marT="0" marB="0" anchor="ctr">
                    <a:solidFill>
                      <a:srgbClr val="0075CC"/>
                    </a:solidFill>
                  </a:tcPr>
                </a:tc>
                <a:tc>
                  <a:txBody>
                    <a:bodyPr/>
                    <a:lstStyle/>
                    <a:p>
                      <a:pPr algn="just">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是否对需求项进行了合理的编号</a:t>
                      </a:r>
                    </a:p>
                  </a:txBody>
                  <a:tcPr marL="68580" marR="68580" marT="0" marB="0" anchor="ctr"/>
                </a:tc>
                <a:tc>
                  <a:txBody>
                    <a:bodyPr/>
                    <a:lstStyle/>
                    <a:p>
                      <a:pPr algn="just">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是【】否【】</a:t>
                      </a:r>
                      <a:r>
                        <a:rPr lang="en-US" sz="1800" kern="1200">
                          <a:solidFill>
                            <a:srgbClr val="595959"/>
                          </a:solidFill>
                          <a:latin typeface="微软雅黑" panose="020B0503020204020204" pitchFamily="34" charset="-122"/>
                          <a:ea typeface="微软雅黑" panose="020B0503020204020204" pitchFamily="34" charset="-122"/>
                          <a:cs typeface="+mn-cs"/>
                        </a:rPr>
                        <a:t>NA</a:t>
                      </a:r>
                      <a:r>
                        <a:rPr lang="zh-CN"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just">
                        <a:spcAft>
                          <a:spcPts val="0"/>
                        </a:spcAft>
                      </a:pPr>
                      <a:r>
                        <a:rPr lang="en-US" sz="1600" kern="100">
                          <a:effectLst/>
                          <a:latin typeface="微软雅黑" panose="020B0503020204020204" pitchFamily="34" charset="-122"/>
                          <a:ea typeface="微软雅黑" panose="020B0503020204020204" pitchFamily="34" charset="-122"/>
                        </a:rPr>
                        <a:t> </a:t>
                      </a:r>
                    </a:p>
                  </a:txBody>
                  <a:tcPr marL="68580" marR="68580" marT="0" marB="0" anchor="ctr"/>
                </a:tc>
                <a:extLst>
                  <a:ext uri="{0D108BD9-81ED-4DB2-BD59-A6C34878D82A}">
                    <a16:rowId xmlns:a16="http://schemas.microsoft.com/office/drawing/2014/main" val="10005"/>
                  </a:ext>
                </a:extLst>
              </a:tr>
              <a:tr h="380365">
                <a:tc>
                  <a:txBody>
                    <a:bodyPr/>
                    <a:lstStyle/>
                    <a:p>
                      <a:pPr algn="ctr">
                        <a:spcAft>
                          <a:spcPts val="0"/>
                        </a:spcAft>
                      </a:pPr>
                      <a:r>
                        <a:rPr lang="en-US" sz="1600" kern="100" dirty="0">
                          <a:effectLst/>
                          <a:latin typeface="微软雅黑" panose="020B0503020204020204" pitchFamily="34" charset="-122"/>
                          <a:ea typeface="微软雅黑" panose="020B0503020204020204" pitchFamily="34" charset="-122"/>
                        </a:rPr>
                        <a:t>6</a:t>
                      </a:r>
                    </a:p>
                  </a:txBody>
                  <a:tcPr marL="68580" marR="68580" marT="0" marB="0" anchor="ctr">
                    <a:solidFill>
                      <a:srgbClr val="0075CC"/>
                    </a:solidFill>
                  </a:tcPr>
                </a:tc>
                <a:tc>
                  <a:txBody>
                    <a:bodyPr/>
                    <a:lstStyle/>
                    <a:p>
                      <a:pPr algn="just">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需求项是否前后一致、彼此不冲突</a:t>
                      </a:r>
                    </a:p>
                  </a:txBody>
                  <a:tcPr marL="68580" marR="68580" marT="0" marB="0" anchor="ctr"/>
                </a:tc>
                <a:tc>
                  <a:txBody>
                    <a:bodyPr/>
                    <a:lstStyle/>
                    <a:p>
                      <a:pPr algn="just">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是【】否【】</a:t>
                      </a:r>
                      <a:r>
                        <a:rPr lang="en-US" sz="1800" kern="1200">
                          <a:solidFill>
                            <a:srgbClr val="595959"/>
                          </a:solidFill>
                          <a:latin typeface="微软雅黑" panose="020B0503020204020204" pitchFamily="34" charset="-122"/>
                          <a:ea typeface="微软雅黑" panose="020B0503020204020204" pitchFamily="34" charset="-122"/>
                          <a:cs typeface="+mn-cs"/>
                        </a:rPr>
                        <a:t>NA</a:t>
                      </a:r>
                      <a:r>
                        <a:rPr lang="zh-CN"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just">
                        <a:spcAft>
                          <a:spcPts val="0"/>
                        </a:spcAft>
                      </a:pPr>
                      <a:r>
                        <a:rPr lang="en-US" sz="1600" kern="100">
                          <a:effectLst/>
                          <a:latin typeface="微软雅黑" panose="020B0503020204020204" pitchFamily="34" charset="-122"/>
                          <a:ea typeface="微软雅黑" panose="020B0503020204020204" pitchFamily="34" charset="-122"/>
                        </a:rPr>
                        <a:t> </a:t>
                      </a:r>
                    </a:p>
                  </a:txBody>
                  <a:tcPr marL="68580" marR="68580" marT="0" marB="0" anchor="ctr"/>
                </a:tc>
                <a:extLst>
                  <a:ext uri="{0D108BD9-81ED-4DB2-BD59-A6C34878D82A}">
                    <a16:rowId xmlns:a16="http://schemas.microsoft.com/office/drawing/2014/main" val="10006"/>
                  </a:ext>
                </a:extLst>
              </a:tr>
              <a:tr h="760095">
                <a:tc>
                  <a:txBody>
                    <a:bodyPr/>
                    <a:lstStyle/>
                    <a:p>
                      <a:pPr algn="ctr">
                        <a:spcAft>
                          <a:spcPts val="0"/>
                        </a:spcAft>
                      </a:pPr>
                      <a:r>
                        <a:rPr lang="en-US" sz="1600" kern="100">
                          <a:effectLst/>
                          <a:latin typeface="微软雅黑" panose="020B0503020204020204" pitchFamily="34" charset="-122"/>
                          <a:ea typeface="微软雅黑" panose="020B0503020204020204" pitchFamily="34" charset="-122"/>
                        </a:rPr>
                        <a:t>7</a:t>
                      </a:r>
                    </a:p>
                  </a:txBody>
                  <a:tcPr marL="68580" marR="68580" marT="0" marB="0" anchor="ctr">
                    <a:solidFill>
                      <a:srgbClr val="0075CC"/>
                    </a:solidFill>
                  </a:tcPr>
                </a:tc>
                <a:tc>
                  <a:txBody>
                    <a:bodyPr/>
                    <a:lstStyle/>
                    <a:p>
                      <a:pPr algn="just">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是否清楚地说明了软件的每个输入、输出格式，以及输入与输出之间的对应关系</a:t>
                      </a:r>
                    </a:p>
                  </a:txBody>
                  <a:tcPr marL="68580" marR="68580" marT="0" marB="0" anchor="ctr"/>
                </a:tc>
                <a:tc>
                  <a:txBody>
                    <a:bodyPr/>
                    <a:lstStyle/>
                    <a:p>
                      <a:pPr algn="just">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是【】否【】</a:t>
                      </a:r>
                      <a:r>
                        <a:rPr lang="en-US" sz="1800" kern="1200">
                          <a:solidFill>
                            <a:srgbClr val="595959"/>
                          </a:solidFill>
                          <a:latin typeface="微软雅黑" panose="020B0503020204020204" pitchFamily="34" charset="-122"/>
                          <a:ea typeface="微软雅黑" panose="020B0503020204020204" pitchFamily="34" charset="-122"/>
                          <a:cs typeface="+mn-cs"/>
                        </a:rPr>
                        <a:t>NA</a:t>
                      </a:r>
                      <a:r>
                        <a:rPr lang="zh-CN"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just">
                        <a:spcAft>
                          <a:spcPts val="0"/>
                        </a:spcAft>
                      </a:pPr>
                      <a:r>
                        <a:rPr lang="en-US" sz="1600" kern="100">
                          <a:effectLst/>
                          <a:latin typeface="微软雅黑" panose="020B0503020204020204" pitchFamily="34" charset="-122"/>
                          <a:ea typeface="微软雅黑" panose="020B0503020204020204" pitchFamily="34" charset="-122"/>
                        </a:rPr>
                        <a:t> </a:t>
                      </a:r>
                    </a:p>
                  </a:txBody>
                  <a:tcPr marL="68580" marR="68580" marT="0" marB="0" anchor="ctr"/>
                </a:tc>
                <a:extLst>
                  <a:ext uri="{0D108BD9-81ED-4DB2-BD59-A6C34878D82A}">
                    <a16:rowId xmlns:a16="http://schemas.microsoft.com/office/drawing/2014/main" val="10007"/>
                  </a:ext>
                </a:extLst>
              </a:tr>
              <a:tr h="379730">
                <a:tc>
                  <a:txBody>
                    <a:bodyPr/>
                    <a:lstStyle/>
                    <a:p>
                      <a:pPr algn="ctr">
                        <a:spcAft>
                          <a:spcPts val="0"/>
                        </a:spcAft>
                      </a:pPr>
                      <a:r>
                        <a:rPr lang="en-US" sz="1600" kern="100">
                          <a:effectLst/>
                          <a:latin typeface="微软雅黑" panose="020B0503020204020204" pitchFamily="34" charset="-122"/>
                          <a:ea typeface="微软雅黑" panose="020B0503020204020204" pitchFamily="34" charset="-122"/>
                        </a:rPr>
                        <a:t>8</a:t>
                      </a:r>
                    </a:p>
                  </a:txBody>
                  <a:tcPr marL="68580" marR="68580" marT="0" marB="0" anchor="ctr">
                    <a:solidFill>
                      <a:srgbClr val="0075CC"/>
                    </a:solidFill>
                  </a:tcPr>
                </a:tc>
                <a:tc>
                  <a:txBody>
                    <a:bodyPr/>
                    <a:lstStyle/>
                    <a:p>
                      <a:pPr algn="just">
                        <a:spcAft>
                          <a:spcPts val="0"/>
                        </a:spcAft>
                      </a:pPr>
                      <a:r>
                        <a:rPr lang="zh-CN" sz="1800" kern="1200" dirty="0">
                          <a:solidFill>
                            <a:srgbClr val="595959"/>
                          </a:solidFill>
                          <a:latin typeface="微软雅黑" panose="020B0503020204020204" pitchFamily="34" charset="-122"/>
                          <a:ea typeface="微软雅黑" panose="020B0503020204020204" pitchFamily="34" charset="-122"/>
                          <a:cs typeface="+mn-cs"/>
                        </a:rPr>
                        <a:t>是否清晰地描述了软件系统的性能要求</a:t>
                      </a:r>
                    </a:p>
                  </a:txBody>
                  <a:tcPr marL="68580" marR="68580" marT="0" marB="0" anchor="ctr"/>
                </a:tc>
                <a:tc>
                  <a:txBody>
                    <a:bodyPr/>
                    <a:lstStyle/>
                    <a:p>
                      <a:pPr algn="just">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是【】否【】</a:t>
                      </a:r>
                      <a:r>
                        <a:rPr lang="en-US" sz="1800" kern="1200">
                          <a:solidFill>
                            <a:srgbClr val="595959"/>
                          </a:solidFill>
                          <a:latin typeface="微软雅黑" panose="020B0503020204020204" pitchFamily="34" charset="-122"/>
                          <a:ea typeface="微软雅黑" panose="020B0503020204020204" pitchFamily="34" charset="-122"/>
                          <a:cs typeface="+mn-cs"/>
                        </a:rPr>
                        <a:t>NA</a:t>
                      </a:r>
                      <a:r>
                        <a:rPr lang="zh-CN"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just">
                        <a:spcAft>
                          <a:spcPts val="0"/>
                        </a:spcAft>
                      </a:pPr>
                      <a:r>
                        <a:rPr lang="en-US" sz="1600" kern="100">
                          <a:effectLst/>
                          <a:latin typeface="微软雅黑" panose="020B0503020204020204" pitchFamily="34" charset="-122"/>
                          <a:ea typeface="微软雅黑" panose="020B0503020204020204" pitchFamily="34" charset="-122"/>
                        </a:rPr>
                        <a:t> </a:t>
                      </a:r>
                    </a:p>
                  </a:txBody>
                  <a:tcPr marL="68580" marR="68580" marT="0" marB="0" anchor="ctr"/>
                </a:tc>
                <a:extLst>
                  <a:ext uri="{0D108BD9-81ED-4DB2-BD59-A6C34878D82A}">
                    <a16:rowId xmlns:a16="http://schemas.microsoft.com/office/drawing/2014/main" val="10008"/>
                  </a:ext>
                </a:extLst>
              </a:tr>
              <a:tr h="380365">
                <a:tc>
                  <a:txBody>
                    <a:bodyPr/>
                    <a:lstStyle/>
                    <a:p>
                      <a:pPr algn="ctr">
                        <a:spcAft>
                          <a:spcPts val="0"/>
                        </a:spcAft>
                      </a:pPr>
                      <a:r>
                        <a:rPr lang="en-US" sz="1600" kern="100">
                          <a:effectLst/>
                          <a:latin typeface="微软雅黑" panose="020B0503020204020204" pitchFamily="34" charset="-122"/>
                          <a:ea typeface="微软雅黑" panose="020B0503020204020204" pitchFamily="34" charset="-122"/>
                        </a:rPr>
                        <a:t>9</a:t>
                      </a:r>
                    </a:p>
                  </a:txBody>
                  <a:tcPr marL="68580" marR="68580" marT="0" marB="0" anchor="ctr">
                    <a:solidFill>
                      <a:srgbClr val="0075CC"/>
                    </a:solidFill>
                  </a:tcPr>
                </a:tc>
                <a:tc>
                  <a:txBody>
                    <a:bodyPr/>
                    <a:lstStyle/>
                    <a:p>
                      <a:pPr algn="just">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需求的优先级是否</a:t>
                      </a:r>
                      <a:r>
                        <a:rPr lang="zh-CN" altLang="en-US" sz="1800" kern="1200">
                          <a:solidFill>
                            <a:srgbClr val="595959"/>
                          </a:solidFill>
                          <a:latin typeface="微软雅黑" panose="020B0503020204020204" pitchFamily="34" charset="-122"/>
                          <a:ea typeface="微软雅黑" panose="020B0503020204020204" pitchFamily="34" charset="-122"/>
                          <a:cs typeface="+mn-cs"/>
                        </a:rPr>
                        <a:t>进行了</a:t>
                      </a:r>
                      <a:r>
                        <a:rPr lang="zh-CN" sz="1800" kern="1200">
                          <a:solidFill>
                            <a:srgbClr val="595959"/>
                          </a:solidFill>
                          <a:latin typeface="微软雅黑" panose="020B0503020204020204" pitchFamily="34" charset="-122"/>
                          <a:ea typeface="微软雅黑" panose="020B0503020204020204" pitchFamily="34" charset="-122"/>
                          <a:cs typeface="+mn-cs"/>
                        </a:rPr>
                        <a:t>合理分配</a:t>
                      </a:r>
                    </a:p>
                  </a:txBody>
                  <a:tcPr marL="68580" marR="68580" marT="0" marB="0" anchor="ctr"/>
                </a:tc>
                <a:tc>
                  <a:txBody>
                    <a:bodyPr/>
                    <a:lstStyle/>
                    <a:p>
                      <a:pPr algn="just">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是【】否【】</a:t>
                      </a:r>
                      <a:r>
                        <a:rPr lang="en-US" sz="1800" kern="1200">
                          <a:solidFill>
                            <a:srgbClr val="595959"/>
                          </a:solidFill>
                          <a:latin typeface="微软雅黑" panose="020B0503020204020204" pitchFamily="34" charset="-122"/>
                          <a:ea typeface="微软雅黑" panose="020B0503020204020204" pitchFamily="34" charset="-122"/>
                          <a:cs typeface="+mn-cs"/>
                        </a:rPr>
                        <a:t>NA</a:t>
                      </a:r>
                      <a:r>
                        <a:rPr lang="zh-CN"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just">
                        <a:spcAft>
                          <a:spcPts val="0"/>
                        </a:spcAft>
                      </a:pPr>
                      <a:r>
                        <a:rPr lang="en-US" sz="1600" kern="100">
                          <a:effectLst/>
                          <a:latin typeface="微软雅黑" panose="020B0503020204020204" pitchFamily="34" charset="-122"/>
                          <a:ea typeface="微软雅黑" panose="020B0503020204020204" pitchFamily="34" charset="-122"/>
                        </a:rPr>
                        <a:t> </a:t>
                      </a:r>
                    </a:p>
                  </a:txBody>
                  <a:tcPr marL="68580" marR="68580" marT="0" marB="0" anchor="ctr"/>
                </a:tc>
                <a:extLst>
                  <a:ext uri="{0D108BD9-81ED-4DB2-BD59-A6C34878D82A}">
                    <a16:rowId xmlns:a16="http://schemas.microsoft.com/office/drawing/2014/main" val="10009"/>
                  </a:ext>
                </a:extLst>
              </a:tr>
              <a:tr h="379730">
                <a:tc>
                  <a:txBody>
                    <a:bodyPr/>
                    <a:lstStyle/>
                    <a:p>
                      <a:pPr algn="ctr">
                        <a:spcAft>
                          <a:spcPts val="0"/>
                        </a:spcAft>
                      </a:pPr>
                      <a:r>
                        <a:rPr lang="en-US" sz="1600" kern="100">
                          <a:effectLst/>
                          <a:latin typeface="微软雅黑" panose="020B0503020204020204" pitchFamily="34" charset="-122"/>
                          <a:ea typeface="微软雅黑" panose="020B0503020204020204" pitchFamily="34" charset="-122"/>
                        </a:rPr>
                        <a:t>10</a:t>
                      </a:r>
                    </a:p>
                  </a:txBody>
                  <a:tcPr marL="68580" marR="68580" marT="0" marB="0" anchor="ctr">
                    <a:solidFill>
                      <a:srgbClr val="0075CC"/>
                    </a:solidFill>
                  </a:tcPr>
                </a:tc>
                <a:tc>
                  <a:txBody>
                    <a:bodyPr/>
                    <a:lstStyle/>
                    <a:p>
                      <a:pPr algn="just">
                        <a:spcAft>
                          <a:spcPts val="0"/>
                        </a:spcAft>
                      </a:pPr>
                      <a:r>
                        <a:rPr lang="zh-CN" sz="1800" kern="1200" dirty="0">
                          <a:solidFill>
                            <a:srgbClr val="595959"/>
                          </a:solidFill>
                          <a:latin typeface="微软雅黑" panose="020B0503020204020204" pitchFamily="34" charset="-122"/>
                          <a:ea typeface="微软雅黑" panose="020B0503020204020204" pitchFamily="34" charset="-122"/>
                          <a:cs typeface="+mn-cs"/>
                        </a:rPr>
                        <a:t>是否描述了各种约束条件</a:t>
                      </a:r>
                    </a:p>
                  </a:txBody>
                  <a:tcPr marL="68580" marR="68580" marT="0" marB="0" anchor="ctr"/>
                </a:tc>
                <a:tc>
                  <a:txBody>
                    <a:bodyPr/>
                    <a:lstStyle/>
                    <a:p>
                      <a:pPr algn="just">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是【】否【】</a:t>
                      </a:r>
                      <a:r>
                        <a:rPr lang="en-US" sz="1800" kern="1200">
                          <a:solidFill>
                            <a:srgbClr val="595959"/>
                          </a:solidFill>
                          <a:latin typeface="微软雅黑" panose="020B0503020204020204" pitchFamily="34" charset="-122"/>
                          <a:ea typeface="微软雅黑" panose="020B0503020204020204" pitchFamily="34" charset="-122"/>
                          <a:cs typeface="+mn-cs"/>
                        </a:rPr>
                        <a:t>NA</a:t>
                      </a:r>
                      <a:r>
                        <a:rPr lang="zh-CN"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just">
                        <a:spcAft>
                          <a:spcPts val="0"/>
                        </a:spcAft>
                      </a:pPr>
                      <a:r>
                        <a:rPr lang="en-US" sz="1600" kern="100" dirty="0">
                          <a:effectLst/>
                          <a:latin typeface="微软雅黑" panose="020B0503020204020204" pitchFamily="34" charset="-122"/>
                          <a:ea typeface="微软雅黑" panose="020B0503020204020204" pitchFamily="34" charset="-122"/>
                        </a:rPr>
                        <a:t> </a:t>
                      </a:r>
                    </a:p>
                  </a:txBody>
                  <a:tcPr marL="68580" marR="68580" marT="0" marB="0" anchor="ctr"/>
                </a:tc>
                <a:extLst>
                  <a:ext uri="{0D108BD9-81ED-4DB2-BD59-A6C34878D82A}">
                    <a16:rowId xmlns:a16="http://schemas.microsoft.com/office/drawing/2014/main" val="10010"/>
                  </a:ext>
                </a:extLst>
              </a:tr>
            </a:tbl>
          </a:graphicData>
        </a:graphic>
      </p:graphicFrame>
      <p:sp>
        <p:nvSpPr>
          <p:cNvPr id="2" name="文本框 1"/>
          <p:cNvSpPr txBox="1"/>
          <p:nvPr/>
        </p:nvSpPr>
        <p:spPr>
          <a:xfrm>
            <a:off x="1414780" y="816610"/>
            <a:ext cx="6096000" cy="553085"/>
          </a:xfrm>
          <a:prstGeom prst="rect">
            <a:avLst/>
          </a:prstGeom>
          <a:noFill/>
        </p:spPr>
        <p:txBody>
          <a:bodyPr wrap="square" rtlCol="0" anchor="t">
            <a:spAutoFit/>
          </a:bodyPr>
          <a:lstStyle/>
          <a:p>
            <a:pPr algn="just">
              <a:lnSpc>
                <a:spcPct val="150000"/>
              </a:lnSpc>
              <a:buClrTx/>
              <a:buSzTx/>
              <a:buFontTx/>
            </a:pPr>
            <a:r>
              <a:rPr lang="zh-CN" altLang="en-US" sz="2000" dirty="0">
                <a:solidFill>
                  <a:srgbClr val="0070C0"/>
                </a:solidFill>
                <a:latin typeface="微软雅黑" panose="020B0503020204020204" pitchFamily="34" charset="-122"/>
                <a:ea typeface="微软雅黑" panose="020B0503020204020204" pitchFamily="34" charset="-122"/>
                <a:sym typeface="+mn-ea"/>
              </a:rPr>
              <a:t>软件需求规格说明书检查列表</a:t>
            </a:r>
            <a:r>
              <a:rPr lang="zh-CN" altLang="en-US" sz="2000" dirty="0">
                <a:solidFill>
                  <a:srgbClr val="595959"/>
                </a:solidFill>
                <a:latin typeface="微软雅黑" panose="020B0503020204020204" pitchFamily="34" charset="-122"/>
                <a:ea typeface="微软雅黑" panose="020B0503020204020204" pitchFamily="34" charset="-122"/>
                <a:sym typeface="+mn-ea"/>
              </a:rPr>
              <a:t>如下表所示。</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1143635" y="837565"/>
            <a:ext cx="10046970" cy="5616575"/>
          </a:xfrm>
          <a:prstGeom prst="rect">
            <a:avLst/>
          </a:prstGeom>
          <a:noFill/>
        </p:spPr>
        <p:txBody>
          <a:bodyPr wrap="square" rtlCol="0" anchor="t">
            <a:noAutofit/>
          </a:bodyPr>
          <a:lstStyle/>
          <a:p>
            <a:pPr algn="just">
              <a:lnSpc>
                <a:spcPct val="150000"/>
              </a:lnSpc>
              <a:buClrTx/>
              <a:buSzTx/>
              <a:buFontTx/>
            </a:pPr>
            <a:r>
              <a:rPr lang="en-US" altLang="zh-CN" sz="2000" b="1" dirty="0">
                <a:solidFill>
                  <a:srgbClr val="595959"/>
                </a:solidFill>
                <a:latin typeface="微软雅黑" panose="020B0503020204020204" pitchFamily="34" charset="-122"/>
                <a:ea typeface="微软雅黑" panose="020B0503020204020204" pitchFamily="34" charset="-122"/>
                <a:sym typeface="+mn-ea"/>
              </a:rPr>
              <a:t>2</a:t>
            </a:r>
            <a:r>
              <a:rPr lang="zh-CN" sz="2000" b="1" dirty="0">
                <a:solidFill>
                  <a:srgbClr val="595959"/>
                </a:solidFill>
                <a:latin typeface="微软雅黑" panose="020B0503020204020204" pitchFamily="34" charset="-122"/>
                <a:ea typeface="微软雅黑" panose="020B0503020204020204" pitchFamily="34" charset="-122"/>
                <a:sym typeface="+mn-ea"/>
              </a:rPr>
              <a:t>.</a:t>
            </a:r>
            <a:r>
              <a:rPr lang="en-US" altLang="zh-CN" sz="2000" b="1" dirty="0">
                <a:solidFill>
                  <a:srgbClr val="595959"/>
                </a:solidFill>
                <a:latin typeface="微软雅黑" panose="020B0503020204020204" pitchFamily="34" charset="-122"/>
                <a:ea typeface="微软雅黑" panose="020B0503020204020204" pitchFamily="34" charset="-122"/>
                <a:sym typeface="+mn-ea"/>
              </a:rPr>
              <a:t> </a:t>
            </a:r>
            <a:r>
              <a:rPr lang="zh-CN" sz="2000" b="1" dirty="0">
                <a:solidFill>
                  <a:srgbClr val="595959"/>
                </a:solidFill>
                <a:latin typeface="微软雅黑" panose="020B0503020204020204" pitchFamily="34" charset="-122"/>
                <a:ea typeface="微软雅黑" panose="020B0503020204020204" pitchFamily="34" charset="-122"/>
                <a:sym typeface="+mn-ea"/>
              </a:rPr>
              <a:t>制定测试计划</a:t>
            </a: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sym typeface="+mn-ea"/>
              </a:rPr>
              <a:t>测试工作</a:t>
            </a:r>
            <a:r>
              <a:rPr lang="zh-CN" altLang="en-US" sz="1800" dirty="0">
                <a:solidFill>
                  <a:srgbClr val="0070C0"/>
                </a:solidFill>
                <a:latin typeface="微软雅黑" panose="020B0503020204020204" pitchFamily="34" charset="-122"/>
                <a:ea typeface="微软雅黑" panose="020B0503020204020204" pitchFamily="34" charset="-122"/>
                <a:sym typeface="+mn-ea"/>
              </a:rPr>
              <a:t>贯穿于整个软件生命周期</a:t>
            </a:r>
            <a:r>
              <a:rPr lang="zh-CN" altLang="en-US" sz="1800" dirty="0">
                <a:solidFill>
                  <a:srgbClr val="595959"/>
                </a:solidFill>
                <a:latin typeface="微软雅黑" panose="020B0503020204020204" pitchFamily="34" charset="-122"/>
                <a:ea typeface="微软雅黑" panose="020B0503020204020204" pitchFamily="34" charset="-122"/>
                <a:sym typeface="+mn-ea"/>
              </a:rPr>
              <a:t>，是一项庞大而复杂的工作，需要制定一个完整且详细的测试计划作为指导。测试计划中一般要做好以下工作安排。</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sym typeface="+mn-ea"/>
              </a:rPr>
              <a:t>确定测试范围：</a:t>
            </a:r>
            <a:r>
              <a:rPr lang="zh-CN" altLang="en-US" sz="1800" dirty="0">
                <a:solidFill>
                  <a:srgbClr val="0070C0"/>
                </a:solidFill>
                <a:latin typeface="微软雅黑" panose="020B0503020204020204" pitchFamily="34" charset="-122"/>
                <a:ea typeface="微软雅黑" panose="020B0503020204020204" pitchFamily="34" charset="-122"/>
                <a:sym typeface="+mn-ea"/>
              </a:rPr>
              <a:t>明确哪些对象是需要测试的</a:t>
            </a:r>
            <a:r>
              <a:rPr lang="zh-CN" altLang="en-US" sz="1800" dirty="0">
                <a:solidFill>
                  <a:srgbClr val="595959"/>
                </a:solidFill>
                <a:latin typeface="微软雅黑" panose="020B0503020204020204" pitchFamily="34" charset="-122"/>
                <a:ea typeface="微软雅黑" panose="020B0503020204020204" pitchFamily="34" charset="-122"/>
                <a:sym typeface="+mn-ea"/>
              </a:rPr>
              <a:t>，哪些对象是不需要测试的。</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sym typeface="+mn-ea"/>
              </a:rPr>
              <a:t>制定测试策略：测试策略是测试计划中最重要的部分，它</a:t>
            </a:r>
            <a:r>
              <a:rPr lang="zh-CN" altLang="en-US" sz="1800" dirty="0">
                <a:solidFill>
                  <a:srgbClr val="0070C0"/>
                </a:solidFill>
                <a:latin typeface="微软雅黑" panose="020B0503020204020204" pitchFamily="34" charset="-122"/>
                <a:ea typeface="微软雅黑" panose="020B0503020204020204" pitchFamily="34" charset="-122"/>
                <a:sym typeface="+mn-ea"/>
              </a:rPr>
              <a:t>将要测试的内容划分出不同的优先级，以确定测试重点</a:t>
            </a:r>
            <a:r>
              <a:rPr lang="zh-CN" altLang="en-US" sz="1800" dirty="0">
                <a:solidFill>
                  <a:srgbClr val="595959"/>
                </a:solidFill>
                <a:latin typeface="微软雅黑" panose="020B0503020204020204" pitchFamily="34" charset="-122"/>
                <a:ea typeface="微软雅黑" panose="020B0503020204020204" pitchFamily="34" charset="-122"/>
                <a:sym typeface="+mn-ea"/>
              </a:rPr>
              <a:t>，并根据测试模块的特点和测试类型（如功能测试、性能测试）选定测试环境和测试方法（如人工测试、自动化测试）。</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sym typeface="+mn-ea"/>
              </a:rPr>
              <a:t>安排测试资源：通过</a:t>
            </a:r>
            <a:r>
              <a:rPr lang="zh-CN" altLang="en-US" sz="1800" dirty="0">
                <a:solidFill>
                  <a:srgbClr val="0070C0"/>
                </a:solidFill>
                <a:latin typeface="微软雅黑" panose="020B0503020204020204" pitchFamily="34" charset="-122"/>
                <a:ea typeface="微软雅黑" panose="020B0503020204020204" pitchFamily="34" charset="-122"/>
                <a:sym typeface="+mn-ea"/>
              </a:rPr>
              <a:t>考虑测试难度、时间、工作量等因素，对测试资源进行合理安排</a:t>
            </a:r>
            <a:r>
              <a:rPr lang="zh-CN" altLang="en-US" sz="1800" dirty="0">
                <a:solidFill>
                  <a:srgbClr val="595959"/>
                </a:solidFill>
                <a:latin typeface="微软雅黑" panose="020B0503020204020204" pitchFamily="34" charset="-122"/>
                <a:ea typeface="微软雅黑" panose="020B0503020204020204" pitchFamily="34" charset="-122"/>
                <a:sym typeface="+mn-ea"/>
              </a:rPr>
              <a:t>，包括人员分配、工具配置等。</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sym typeface="+mn-ea"/>
              </a:rPr>
              <a:t>安排测试进度：</a:t>
            </a:r>
            <a:r>
              <a:rPr lang="zh-CN" altLang="en-US" sz="1800" dirty="0">
                <a:solidFill>
                  <a:srgbClr val="0070C0"/>
                </a:solidFill>
                <a:latin typeface="微软雅黑" panose="020B0503020204020204" pitchFamily="34" charset="-122"/>
                <a:ea typeface="微软雅黑" panose="020B0503020204020204" pitchFamily="34" charset="-122"/>
                <a:sym typeface="+mn-ea"/>
              </a:rPr>
              <a:t>根据软件开发计划、产品的整体计划来安排测试工作的进度</a:t>
            </a:r>
            <a:r>
              <a:rPr lang="zh-CN" altLang="en-US" sz="1800" dirty="0">
                <a:solidFill>
                  <a:srgbClr val="595959"/>
                </a:solidFill>
                <a:latin typeface="微软雅黑" panose="020B0503020204020204" pitchFamily="34" charset="-122"/>
                <a:ea typeface="微软雅黑" panose="020B0503020204020204" pitchFamily="34" charset="-122"/>
                <a:sym typeface="+mn-ea"/>
              </a:rPr>
              <a:t>，同时还要考虑各部分工作的变化。在安排工作进度时，最好在各项测试工作之间预留一个缓冲时间以应对计划变更。</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sym typeface="+mn-ea"/>
              </a:rPr>
              <a:t>预估测试风险：</a:t>
            </a:r>
            <a:r>
              <a:rPr lang="zh-CN" altLang="en-US" sz="1800" dirty="0">
                <a:solidFill>
                  <a:srgbClr val="0070C0"/>
                </a:solidFill>
                <a:latin typeface="微软雅黑" panose="020B0503020204020204" pitchFamily="34" charset="-122"/>
                <a:ea typeface="微软雅黑" panose="020B0503020204020204" pitchFamily="34" charset="-122"/>
                <a:sym typeface="+mn-ea"/>
              </a:rPr>
              <a:t>罗列出</a:t>
            </a:r>
            <a:r>
              <a:rPr lang="zh-CN" altLang="en-US" sz="1800" dirty="0">
                <a:solidFill>
                  <a:srgbClr val="595959"/>
                </a:solidFill>
                <a:latin typeface="微软雅黑" panose="020B0503020204020204" pitchFamily="34" charset="-122"/>
                <a:ea typeface="微软雅黑" panose="020B0503020204020204" pitchFamily="34" charset="-122"/>
                <a:sym typeface="+mn-ea"/>
              </a:rPr>
              <a:t>测试工作过程中</a:t>
            </a:r>
            <a:r>
              <a:rPr lang="zh-CN" altLang="en-US" sz="1800" dirty="0">
                <a:solidFill>
                  <a:srgbClr val="0070C0"/>
                </a:solidFill>
                <a:latin typeface="微软雅黑" panose="020B0503020204020204" pitchFamily="34" charset="-122"/>
                <a:ea typeface="微软雅黑" panose="020B0503020204020204" pitchFamily="34" charset="-122"/>
                <a:sym typeface="+mn-ea"/>
              </a:rPr>
              <a:t>可能会出现的不确定因素</a:t>
            </a:r>
            <a:r>
              <a:rPr lang="zh-CN" altLang="en-US" sz="1800" dirty="0">
                <a:solidFill>
                  <a:srgbClr val="595959"/>
                </a:solidFill>
                <a:latin typeface="微软雅黑" panose="020B0503020204020204" pitchFamily="34" charset="-122"/>
                <a:ea typeface="微软雅黑" panose="020B0503020204020204" pitchFamily="34" charset="-122"/>
                <a:sym typeface="+mn-ea"/>
              </a:rPr>
              <a:t>，并</a:t>
            </a:r>
            <a:r>
              <a:rPr lang="zh-CN" altLang="en-US" sz="1800" dirty="0">
                <a:solidFill>
                  <a:srgbClr val="0070C0"/>
                </a:solidFill>
                <a:latin typeface="微软雅黑" panose="020B0503020204020204" pitchFamily="34" charset="-122"/>
                <a:ea typeface="微软雅黑" panose="020B0503020204020204" pitchFamily="34" charset="-122"/>
                <a:sym typeface="+mn-ea"/>
              </a:rPr>
              <a:t>制定应对策略</a:t>
            </a:r>
            <a:r>
              <a:rPr lang="zh-CN" altLang="en-US" sz="1800" dirty="0">
                <a:solidFill>
                  <a:srgbClr val="595959"/>
                </a:solidFill>
                <a:latin typeface="微软雅黑" panose="020B0503020204020204" pitchFamily="34" charset="-122"/>
                <a:ea typeface="微软雅黑" panose="020B0503020204020204" pitchFamily="34" charset="-122"/>
                <a:sym typeface="+mn-ea"/>
              </a:rPr>
              <a:t>。	</a:t>
            </a: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31" name="Title 1"/>
          <p:cNvSpPr txBox="1"/>
          <p:nvPr/>
        </p:nvSpPr>
        <p:spPr>
          <a:xfrm>
            <a:off x="1143635" y="266700"/>
            <a:ext cx="48310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软件测试的流程</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1143635" y="837564"/>
            <a:ext cx="10046970" cy="5112229"/>
          </a:xfrm>
          <a:prstGeom prst="rect">
            <a:avLst/>
          </a:prstGeom>
          <a:noFill/>
        </p:spPr>
        <p:txBody>
          <a:bodyPr wrap="square" rtlCol="0" anchor="t">
            <a:noAutofit/>
          </a:bodyPr>
          <a:lstStyle/>
          <a:p>
            <a:pPr algn="just">
              <a:lnSpc>
                <a:spcPct val="150000"/>
              </a:lnSpc>
              <a:buClrTx/>
              <a:buSzTx/>
              <a:buFontTx/>
            </a:pPr>
            <a:r>
              <a:rPr lang="en-US" altLang="zh-CN" sz="2000" b="1" dirty="0">
                <a:solidFill>
                  <a:srgbClr val="595959"/>
                </a:solidFill>
                <a:latin typeface="微软雅黑" panose="020B0503020204020204" pitchFamily="34" charset="-122"/>
                <a:ea typeface="微软雅黑" panose="020B0503020204020204" pitchFamily="34" charset="-122"/>
                <a:sym typeface="+mn-ea"/>
              </a:rPr>
              <a:t>3</a:t>
            </a:r>
            <a:r>
              <a:rPr lang="zh-CN" sz="2000" b="1" dirty="0">
                <a:solidFill>
                  <a:srgbClr val="595959"/>
                </a:solidFill>
                <a:latin typeface="微软雅黑" panose="020B0503020204020204" pitchFamily="34" charset="-122"/>
                <a:ea typeface="微软雅黑" panose="020B0503020204020204" pitchFamily="34" charset="-122"/>
                <a:sym typeface="+mn-ea"/>
              </a:rPr>
              <a:t>.</a:t>
            </a:r>
            <a:r>
              <a:rPr lang="en-US" altLang="zh-CN" sz="2000" b="1" dirty="0">
                <a:solidFill>
                  <a:srgbClr val="595959"/>
                </a:solidFill>
                <a:latin typeface="微软雅黑" panose="020B0503020204020204" pitchFamily="34" charset="-122"/>
                <a:ea typeface="微软雅黑" panose="020B0503020204020204" pitchFamily="34" charset="-122"/>
                <a:sym typeface="+mn-ea"/>
              </a:rPr>
              <a:t> </a:t>
            </a:r>
            <a:r>
              <a:rPr lang="zh-CN" altLang="en-US" sz="2000" b="1" dirty="0">
                <a:solidFill>
                  <a:srgbClr val="595959"/>
                </a:solidFill>
                <a:latin typeface="微软雅黑" panose="020B0503020204020204" pitchFamily="34" charset="-122"/>
                <a:ea typeface="微软雅黑" panose="020B0503020204020204" pitchFamily="34" charset="-122"/>
                <a:sym typeface="+mn-ea"/>
              </a:rPr>
              <a:t>设计</a:t>
            </a:r>
            <a:r>
              <a:rPr lang="zh-CN" sz="2000" b="1" dirty="0">
                <a:solidFill>
                  <a:srgbClr val="595959"/>
                </a:solidFill>
                <a:latin typeface="微软雅黑" panose="020B0503020204020204" pitchFamily="34" charset="-122"/>
                <a:ea typeface="微软雅黑" panose="020B0503020204020204" pitchFamily="34" charset="-122"/>
                <a:sym typeface="+mn-ea"/>
              </a:rPr>
              <a:t>测试</a:t>
            </a:r>
            <a:r>
              <a:rPr lang="zh-CN" altLang="en-US" sz="2000" b="1" dirty="0">
                <a:solidFill>
                  <a:srgbClr val="595959"/>
                </a:solidFill>
                <a:latin typeface="微软雅黑" panose="020B0503020204020204" pitchFamily="34" charset="-122"/>
                <a:ea typeface="微软雅黑" panose="020B0503020204020204" pitchFamily="34" charset="-122"/>
                <a:sym typeface="+mn-ea"/>
              </a:rPr>
              <a:t>用例</a:t>
            </a:r>
            <a:endParaRPr lang="zh-CN" sz="2000" b="1" dirty="0">
              <a:solidFill>
                <a:srgbClr val="595959"/>
              </a:solidFill>
              <a:latin typeface="微软雅黑" panose="020B0503020204020204" pitchFamily="34" charset="-122"/>
              <a:ea typeface="微软雅黑" panose="020B0503020204020204" pitchFamily="34" charset="-122"/>
              <a:sym typeface="+mn-ea"/>
            </a:endParaRP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sym typeface="+mn-ea"/>
              </a:rPr>
              <a:t>测试用例（Test Case）是指</a:t>
            </a:r>
            <a:r>
              <a:rPr lang="zh-CN" altLang="en-US" sz="1800" dirty="0">
                <a:solidFill>
                  <a:srgbClr val="0070C0"/>
                </a:solidFill>
                <a:latin typeface="微软雅黑" panose="020B0503020204020204" pitchFamily="34" charset="-122"/>
                <a:ea typeface="微软雅黑" panose="020B0503020204020204" pitchFamily="34" charset="-122"/>
                <a:sym typeface="+mn-ea"/>
              </a:rPr>
              <a:t>一套详细的测试方案</a:t>
            </a:r>
            <a:r>
              <a:rPr lang="zh-CN" altLang="en-US" sz="1800" dirty="0">
                <a:solidFill>
                  <a:srgbClr val="595959"/>
                </a:solidFill>
                <a:latin typeface="微软雅黑" panose="020B0503020204020204" pitchFamily="34" charset="-122"/>
                <a:ea typeface="微软雅黑" panose="020B0503020204020204" pitchFamily="34" charset="-122"/>
                <a:sym typeface="+mn-ea"/>
              </a:rPr>
              <a:t>，包括</a:t>
            </a:r>
            <a:r>
              <a:rPr lang="zh-CN" altLang="en-US" sz="1800" dirty="0">
                <a:solidFill>
                  <a:srgbClr val="0070C0"/>
                </a:solidFill>
                <a:latin typeface="微软雅黑" panose="020B0503020204020204" pitchFamily="34" charset="-122"/>
                <a:ea typeface="微软雅黑" panose="020B0503020204020204" pitchFamily="34" charset="-122"/>
                <a:sym typeface="+mn-ea"/>
              </a:rPr>
              <a:t>测试环境、测试步骤、测试数据和预期结果</a:t>
            </a:r>
            <a:r>
              <a:rPr lang="zh-CN" altLang="en-US" sz="1800" dirty="0">
                <a:solidFill>
                  <a:srgbClr val="595959"/>
                </a:solidFill>
                <a:latin typeface="微软雅黑" panose="020B0503020204020204" pitchFamily="34" charset="-122"/>
                <a:ea typeface="微软雅黑" panose="020B0503020204020204" pitchFamily="34" charset="-122"/>
                <a:sym typeface="+mn-ea"/>
              </a:rPr>
              <a:t>。不同的公司会有不同的测试用例模板，虽然它们在风格和样式上有所不同，但本质上是一样的，都包括测试用例的基本要素。</a:t>
            </a:r>
          </a:p>
          <a:p>
            <a:pPr indent="457200"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sym typeface="+mn-ea"/>
              </a:rPr>
              <a:t>测试用例编写的原则是尽量用最少的测试用例达到最大测试覆盖率</a:t>
            </a:r>
            <a:r>
              <a:rPr lang="zh-CN" altLang="en-US" sz="1800" dirty="0">
                <a:solidFill>
                  <a:srgbClr val="595959"/>
                </a:solidFill>
                <a:latin typeface="微软雅黑" panose="020B0503020204020204" pitchFamily="34" charset="-122"/>
                <a:ea typeface="微软雅黑" panose="020B0503020204020204" pitchFamily="34" charset="-122"/>
                <a:sym typeface="+mn-ea"/>
              </a:rPr>
              <a:t>。测试用例</a:t>
            </a:r>
            <a:r>
              <a:rPr lang="zh-CN" altLang="en-US" sz="1800" dirty="0">
                <a:solidFill>
                  <a:srgbClr val="0070C0"/>
                </a:solidFill>
                <a:latin typeface="微软雅黑" panose="020B0503020204020204" pitchFamily="34" charset="-122"/>
                <a:ea typeface="微软雅黑" panose="020B0503020204020204" pitchFamily="34" charset="-122"/>
                <a:sym typeface="+mn-ea"/>
              </a:rPr>
              <a:t>常用的设计方法</a:t>
            </a:r>
            <a:r>
              <a:rPr lang="zh-CN" altLang="en-US" sz="1800" dirty="0">
                <a:solidFill>
                  <a:srgbClr val="595959"/>
                </a:solidFill>
                <a:latin typeface="微软雅黑" panose="020B0503020204020204" pitchFamily="34" charset="-122"/>
                <a:ea typeface="微软雅黑" panose="020B0503020204020204" pitchFamily="34" charset="-122"/>
                <a:sym typeface="+mn-ea"/>
              </a:rPr>
              <a:t>包括</a:t>
            </a:r>
            <a:r>
              <a:rPr lang="zh-CN" altLang="en-US" sz="1800" dirty="0">
                <a:solidFill>
                  <a:srgbClr val="0070C0"/>
                </a:solidFill>
                <a:latin typeface="微软雅黑" panose="020B0503020204020204" pitchFamily="34" charset="-122"/>
                <a:ea typeface="微软雅黑" panose="020B0503020204020204" pitchFamily="34" charset="-122"/>
                <a:sym typeface="+mn-ea"/>
              </a:rPr>
              <a:t>等价类划分法、边界值分析法、因果图与决策表法、正交实验设计法、逻辑覆盖法</a:t>
            </a:r>
            <a:r>
              <a:rPr lang="zh-CN" altLang="en-US" sz="1800" dirty="0">
                <a:solidFill>
                  <a:srgbClr val="595959"/>
                </a:solidFill>
                <a:latin typeface="微软雅黑" panose="020B0503020204020204" pitchFamily="34" charset="-122"/>
                <a:ea typeface="微软雅黑" panose="020B0503020204020204" pitchFamily="34" charset="-122"/>
                <a:sym typeface="+mn-ea"/>
              </a:rPr>
              <a:t>等，这些设计方法会在后面的章节中陆续讲解。</a:t>
            </a:r>
          </a:p>
          <a:p>
            <a:pPr algn="just">
              <a:lnSpc>
                <a:spcPct val="150000"/>
              </a:lnSpc>
              <a:buClrTx/>
              <a:buSzTx/>
              <a:buFontTx/>
            </a:pPr>
            <a:r>
              <a:rPr lang="en-US" altLang="zh-CN" sz="2000" b="1" dirty="0">
                <a:solidFill>
                  <a:srgbClr val="595959"/>
                </a:solidFill>
                <a:latin typeface="微软雅黑" panose="020B0503020204020204" pitchFamily="34" charset="-122"/>
                <a:ea typeface="微软雅黑" panose="020B0503020204020204" pitchFamily="34" charset="-122"/>
                <a:sym typeface="+mn-ea"/>
              </a:rPr>
              <a:t>4</a:t>
            </a:r>
            <a:r>
              <a:rPr lang="zh-CN" sz="2000" b="1" dirty="0">
                <a:solidFill>
                  <a:srgbClr val="595959"/>
                </a:solidFill>
                <a:latin typeface="微软雅黑" panose="020B0503020204020204" pitchFamily="34" charset="-122"/>
                <a:ea typeface="微软雅黑" panose="020B0503020204020204" pitchFamily="34" charset="-122"/>
                <a:sym typeface="+mn-ea"/>
              </a:rPr>
              <a:t>.</a:t>
            </a:r>
            <a:r>
              <a:rPr lang="en-US" altLang="zh-CN" sz="2000" b="1" dirty="0">
                <a:solidFill>
                  <a:srgbClr val="595959"/>
                </a:solidFill>
                <a:latin typeface="微软雅黑" panose="020B0503020204020204" pitchFamily="34" charset="-122"/>
                <a:ea typeface="微软雅黑" panose="020B0503020204020204" pitchFamily="34" charset="-122"/>
                <a:sym typeface="+mn-ea"/>
              </a:rPr>
              <a:t> </a:t>
            </a:r>
            <a:r>
              <a:rPr lang="zh-CN" sz="2000" b="1" dirty="0">
                <a:solidFill>
                  <a:srgbClr val="595959"/>
                </a:solidFill>
                <a:latin typeface="微软雅黑" panose="020B0503020204020204" pitchFamily="34" charset="-122"/>
                <a:ea typeface="微软雅黑" panose="020B0503020204020204" pitchFamily="34" charset="-122"/>
                <a:sym typeface="+mn-ea"/>
              </a:rPr>
              <a:t>执行测试</a:t>
            </a:r>
          </a:p>
          <a:p>
            <a:pPr indent="457200" algn="just">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sym typeface="+mn-ea"/>
              </a:rPr>
              <a:t>执行测试是</a:t>
            </a:r>
            <a:r>
              <a:rPr lang="zh-CN" sz="1800" dirty="0">
                <a:solidFill>
                  <a:srgbClr val="0070C0"/>
                </a:solidFill>
                <a:latin typeface="微软雅黑" panose="020B0503020204020204" pitchFamily="34" charset="-122"/>
                <a:ea typeface="微软雅黑" panose="020B0503020204020204" pitchFamily="34" charset="-122"/>
                <a:sym typeface="+mn-ea"/>
              </a:rPr>
              <a:t>按照测试用例执行测试的过程</a:t>
            </a:r>
            <a:r>
              <a:rPr lang="zh-CN" sz="1800" dirty="0">
                <a:solidFill>
                  <a:srgbClr val="595959"/>
                </a:solidFill>
                <a:latin typeface="微软雅黑" panose="020B0503020204020204" pitchFamily="34" charset="-122"/>
                <a:ea typeface="微软雅黑" panose="020B0503020204020204" pitchFamily="34" charset="-122"/>
                <a:sym typeface="+mn-ea"/>
              </a:rPr>
              <a:t>，这是测试人员最主要的活动阶段。在执行测试时要</a:t>
            </a:r>
            <a:r>
              <a:rPr lang="zh-CN" sz="1800" dirty="0">
                <a:solidFill>
                  <a:srgbClr val="0070C0"/>
                </a:solidFill>
                <a:latin typeface="微软雅黑" panose="020B0503020204020204" pitchFamily="34" charset="-122"/>
                <a:ea typeface="微软雅黑" panose="020B0503020204020204" pitchFamily="34" charset="-122"/>
                <a:sym typeface="+mn-ea"/>
              </a:rPr>
              <a:t>根据测试用例的优先级进行</a:t>
            </a:r>
            <a:r>
              <a:rPr lang="zh-CN" sz="1800" dirty="0">
                <a:solidFill>
                  <a:srgbClr val="595959"/>
                </a:solidFill>
                <a:latin typeface="微软雅黑" panose="020B0503020204020204" pitchFamily="34" charset="-122"/>
                <a:ea typeface="微软雅黑" panose="020B0503020204020204" pitchFamily="34" charset="-122"/>
                <a:sym typeface="+mn-ea"/>
              </a:rPr>
              <a:t>。测试执行过程看似简单，只要按照测试用例完成测试工作即可，但实则并不如此。测试用例的数目非常多，测试人员需要完成所有测试用例的执行，</a:t>
            </a:r>
            <a:r>
              <a:rPr lang="zh-CN" sz="1800" dirty="0">
                <a:solidFill>
                  <a:srgbClr val="0070C0"/>
                </a:solidFill>
                <a:latin typeface="微软雅黑" panose="020B0503020204020204" pitchFamily="34" charset="-122"/>
                <a:ea typeface="微软雅黑" panose="020B0503020204020204" pitchFamily="34" charset="-122"/>
                <a:sym typeface="+mn-ea"/>
              </a:rPr>
              <a:t>每一个测试用例都可能会发现很多缺陷，测试人员要做好测试记录与跟踪，衡量缺陷的质量并编写缺陷报告</a:t>
            </a:r>
            <a:r>
              <a:rPr lang="zh-CN" sz="1800" dirty="0">
                <a:solidFill>
                  <a:srgbClr val="595959"/>
                </a:solidFill>
                <a:latin typeface="微软雅黑" panose="020B0503020204020204" pitchFamily="34" charset="-122"/>
                <a:ea typeface="微软雅黑" panose="020B0503020204020204" pitchFamily="34" charset="-122"/>
                <a:sym typeface="+mn-ea"/>
              </a:rPr>
              <a:t>。</a:t>
            </a: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31" name="Title 1"/>
          <p:cNvSpPr txBox="1"/>
          <p:nvPr/>
        </p:nvSpPr>
        <p:spPr>
          <a:xfrm>
            <a:off x="1143635" y="266700"/>
            <a:ext cx="48310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软件测试的流程</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1143635" y="837565"/>
            <a:ext cx="10046970" cy="5616575"/>
          </a:xfrm>
          <a:prstGeom prst="rect">
            <a:avLst/>
          </a:prstGeom>
          <a:noFill/>
        </p:spPr>
        <p:txBody>
          <a:bodyPr wrap="square" rtlCol="0" anchor="t">
            <a:noAutofit/>
          </a:bodyPr>
          <a:lstStyle/>
          <a:p>
            <a:pPr algn="just">
              <a:lnSpc>
                <a:spcPct val="150000"/>
              </a:lnSpc>
              <a:buClrTx/>
              <a:buSzTx/>
              <a:buFontTx/>
            </a:pPr>
            <a:r>
              <a:rPr lang="en-US" altLang="zh-CN" sz="2000" b="1" dirty="0">
                <a:solidFill>
                  <a:srgbClr val="595959"/>
                </a:solidFill>
                <a:latin typeface="微软雅黑" panose="020B0503020204020204" pitchFamily="34" charset="-122"/>
                <a:ea typeface="微软雅黑" panose="020B0503020204020204" pitchFamily="34" charset="-122"/>
                <a:sym typeface="+mn-ea"/>
              </a:rPr>
              <a:t>5</a:t>
            </a:r>
            <a:r>
              <a:rPr lang="zh-CN" sz="2000" b="1" dirty="0">
                <a:solidFill>
                  <a:srgbClr val="595959"/>
                </a:solidFill>
                <a:latin typeface="微软雅黑" panose="020B0503020204020204" pitchFamily="34" charset="-122"/>
                <a:ea typeface="微软雅黑" panose="020B0503020204020204" pitchFamily="34" charset="-122"/>
                <a:sym typeface="+mn-ea"/>
              </a:rPr>
              <a:t>.</a:t>
            </a:r>
            <a:r>
              <a:rPr lang="en-US" altLang="zh-CN" sz="2000" b="1" dirty="0">
                <a:solidFill>
                  <a:srgbClr val="595959"/>
                </a:solidFill>
                <a:latin typeface="微软雅黑" panose="020B0503020204020204" pitchFamily="34" charset="-122"/>
                <a:ea typeface="微软雅黑" panose="020B0503020204020204" pitchFamily="34" charset="-122"/>
                <a:sym typeface="+mn-ea"/>
              </a:rPr>
              <a:t> </a:t>
            </a:r>
            <a:r>
              <a:rPr lang="zh-CN" sz="2000" b="1" dirty="0">
                <a:solidFill>
                  <a:srgbClr val="595959"/>
                </a:solidFill>
                <a:latin typeface="微软雅黑" panose="020B0503020204020204" pitchFamily="34" charset="-122"/>
                <a:ea typeface="微软雅黑" panose="020B0503020204020204" pitchFamily="34" charset="-122"/>
                <a:sym typeface="+mn-ea"/>
              </a:rPr>
              <a:t>编写测试报告</a:t>
            </a:r>
          </a:p>
          <a:p>
            <a:pPr indent="457200"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sym typeface="+mn-ea"/>
              </a:rPr>
              <a:t>测试报告是对一个测试活动的总结，包括对项目测试过程进行归纳，对测试数据进行统计，对项目的测试质量进行客观评价。一份完整的测试报告必须包含以下几个要点。</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sym typeface="+mn-ea"/>
              </a:rPr>
              <a:t>引言：</a:t>
            </a:r>
            <a:r>
              <a:rPr lang="zh-CN" altLang="en-US" sz="1800" dirty="0">
                <a:solidFill>
                  <a:srgbClr val="0070C0"/>
                </a:solidFill>
                <a:latin typeface="微软雅黑" panose="020B0503020204020204" pitchFamily="34" charset="-122"/>
                <a:ea typeface="微软雅黑" panose="020B0503020204020204" pitchFamily="34" charset="-122"/>
                <a:sym typeface="+mn-ea"/>
              </a:rPr>
              <a:t>描述测试报告编写目的</a:t>
            </a:r>
            <a:r>
              <a:rPr lang="zh-CN" altLang="en-US" sz="1800" dirty="0">
                <a:solidFill>
                  <a:srgbClr val="595959"/>
                </a:solidFill>
                <a:latin typeface="微软雅黑" panose="020B0503020204020204" pitchFamily="34" charset="-122"/>
                <a:ea typeface="微软雅黑" panose="020B0503020204020204" pitchFamily="34" charset="-122"/>
                <a:sym typeface="+mn-ea"/>
              </a:rPr>
              <a:t>、报告中出现的</a:t>
            </a:r>
            <a:r>
              <a:rPr lang="zh-CN" altLang="en-US" sz="1800" dirty="0">
                <a:solidFill>
                  <a:srgbClr val="0070C0"/>
                </a:solidFill>
                <a:latin typeface="微软雅黑" panose="020B0503020204020204" pitchFamily="34" charset="-122"/>
                <a:ea typeface="微软雅黑" panose="020B0503020204020204" pitchFamily="34" charset="-122"/>
                <a:sym typeface="+mn-ea"/>
              </a:rPr>
              <a:t>专业术语解释</a:t>
            </a:r>
            <a:r>
              <a:rPr lang="zh-CN" altLang="en-US" sz="1800" dirty="0">
                <a:solidFill>
                  <a:srgbClr val="595959"/>
                </a:solidFill>
                <a:latin typeface="微软雅黑" panose="020B0503020204020204" pitchFamily="34" charset="-122"/>
                <a:ea typeface="微软雅黑" panose="020B0503020204020204" pitchFamily="34" charset="-122"/>
                <a:sym typeface="+mn-ea"/>
              </a:rPr>
              <a:t>和</a:t>
            </a:r>
            <a:r>
              <a:rPr lang="zh-CN" altLang="en-US" sz="1800" dirty="0">
                <a:solidFill>
                  <a:srgbClr val="0070C0"/>
                </a:solidFill>
                <a:latin typeface="微软雅黑" panose="020B0503020204020204" pitchFamily="34" charset="-122"/>
                <a:ea typeface="微软雅黑" panose="020B0503020204020204" pitchFamily="34" charset="-122"/>
                <a:sym typeface="+mn-ea"/>
              </a:rPr>
              <a:t>参考资料</a:t>
            </a:r>
            <a:r>
              <a:rPr lang="zh-CN" altLang="en-US" sz="1800" dirty="0">
                <a:solidFill>
                  <a:srgbClr val="595959"/>
                </a:solidFill>
                <a:latin typeface="微软雅黑" panose="020B0503020204020204" pitchFamily="34" charset="-122"/>
                <a:ea typeface="微软雅黑" panose="020B0503020204020204" pitchFamily="34" charset="-122"/>
                <a:sym typeface="+mn-ea"/>
              </a:rPr>
              <a:t>等。</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sym typeface="+mn-ea"/>
              </a:rPr>
              <a:t>测试概要：介绍</a:t>
            </a:r>
            <a:r>
              <a:rPr lang="zh-CN" altLang="en-US" sz="1800" dirty="0">
                <a:solidFill>
                  <a:srgbClr val="0070C0"/>
                </a:solidFill>
                <a:latin typeface="微软雅黑" panose="020B0503020204020204" pitchFamily="34" charset="-122"/>
                <a:ea typeface="微软雅黑" panose="020B0503020204020204" pitchFamily="34" charset="-122"/>
                <a:sym typeface="+mn-ea"/>
              </a:rPr>
              <a:t>项目背景</a:t>
            </a:r>
            <a:r>
              <a:rPr lang="zh-CN" altLang="en-US" sz="1800" dirty="0">
                <a:solidFill>
                  <a:srgbClr val="595959"/>
                </a:solidFill>
                <a:latin typeface="微软雅黑" panose="020B0503020204020204" pitchFamily="34" charset="-122"/>
                <a:ea typeface="微软雅黑" panose="020B0503020204020204" pitchFamily="34" charset="-122"/>
                <a:sym typeface="+mn-ea"/>
              </a:rPr>
              <a:t>、</a:t>
            </a:r>
            <a:r>
              <a:rPr lang="zh-CN" altLang="en-US" sz="1800" dirty="0">
                <a:solidFill>
                  <a:srgbClr val="0070C0"/>
                </a:solidFill>
                <a:latin typeface="微软雅黑" panose="020B0503020204020204" pitchFamily="34" charset="-122"/>
                <a:ea typeface="微软雅黑" panose="020B0503020204020204" pitchFamily="34" charset="-122"/>
                <a:sym typeface="+mn-ea"/>
              </a:rPr>
              <a:t>测试时间</a:t>
            </a:r>
            <a:r>
              <a:rPr lang="zh-CN" altLang="en-US" sz="1800" dirty="0">
                <a:solidFill>
                  <a:srgbClr val="595959"/>
                </a:solidFill>
                <a:latin typeface="微软雅黑" panose="020B0503020204020204" pitchFamily="34" charset="-122"/>
                <a:ea typeface="微软雅黑" panose="020B0503020204020204" pitchFamily="34" charset="-122"/>
                <a:sym typeface="+mn-ea"/>
              </a:rPr>
              <a:t>、</a:t>
            </a:r>
            <a:r>
              <a:rPr lang="zh-CN" altLang="en-US" sz="1800" dirty="0">
                <a:solidFill>
                  <a:srgbClr val="0070C0"/>
                </a:solidFill>
                <a:latin typeface="微软雅黑" panose="020B0503020204020204" pitchFamily="34" charset="-122"/>
                <a:ea typeface="微软雅黑" panose="020B0503020204020204" pitchFamily="34" charset="-122"/>
                <a:sym typeface="+mn-ea"/>
              </a:rPr>
              <a:t>测试地点</a:t>
            </a:r>
            <a:r>
              <a:rPr lang="zh-CN" altLang="en-US" sz="1800" dirty="0">
                <a:solidFill>
                  <a:srgbClr val="595959"/>
                </a:solidFill>
                <a:latin typeface="微软雅黑" panose="020B0503020204020204" pitchFamily="34" charset="-122"/>
                <a:ea typeface="微软雅黑" panose="020B0503020204020204" pitchFamily="34" charset="-122"/>
                <a:sym typeface="+mn-ea"/>
              </a:rPr>
              <a:t>及</a:t>
            </a:r>
            <a:r>
              <a:rPr lang="zh-CN" altLang="en-US" sz="1800" dirty="0">
                <a:solidFill>
                  <a:srgbClr val="0070C0"/>
                </a:solidFill>
                <a:latin typeface="微软雅黑" panose="020B0503020204020204" pitchFamily="34" charset="-122"/>
                <a:ea typeface="微软雅黑" panose="020B0503020204020204" pitchFamily="34" charset="-122"/>
                <a:sym typeface="+mn-ea"/>
              </a:rPr>
              <a:t>测试人员</a:t>
            </a:r>
            <a:r>
              <a:rPr lang="zh-CN" altLang="en-US" sz="1800" dirty="0">
                <a:solidFill>
                  <a:srgbClr val="595959"/>
                </a:solidFill>
                <a:latin typeface="微软雅黑" panose="020B0503020204020204" pitchFamily="34" charset="-122"/>
                <a:ea typeface="微软雅黑" panose="020B0503020204020204" pitchFamily="34" charset="-122"/>
                <a:sym typeface="+mn-ea"/>
              </a:rPr>
              <a:t>等信息。</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sym typeface="+mn-ea"/>
              </a:rPr>
              <a:t>测试内容及执行情况：描述本次</a:t>
            </a:r>
            <a:r>
              <a:rPr lang="zh-CN" altLang="en-US" sz="1800" dirty="0">
                <a:solidFill>
                  <a:srgbClr val="0070C0"/>
                </a:solidFill>
                <a:latin typeface="微软雅黑" panose="020B0503020204020204" pitchFamily="34" charset="-122"/>
                <a:ea typeface="微软雅黑" panose="020B0503020204020204" pitchFamily="34" charset="-122"/>
                <a:sym typeface="+mn-ea"/>
              </a:rPr>
              <a:t>测试模块的版本</a:t>
            </a:r>
            <a:r>
              <a:rPr lang="zh-CN" altLang="en-US" sz="1800" dirty="0">
                <a:solidFill>
                  <a:srgbClr val="595959"/>
                </a:solidFill>
                <a:latin typeface="微软雅黑" panose="020B0503020204020204" pitchFamily="34" charset="-122"/>
                <a:ea typeface="微软雅黑" panose="020B0503020204020204" pitchFamily="34" charset="-122"/>
                <a:sym typeface="+mn-ea"/>
              </a:rPr>
              <a:t>、</a:t>
            </a:r>
            <a:r>
              <a:rPr lang="zh-CN" altLang="en-US" sz="1800" dirty="0">
                <a:solidFill>
                  <a:srgbClr val="0070C0"/>
                </a:solidFill>
                <a:latin typeface="微软雅黑" panose="020B0503020204020204" pitchFamily="34" charset="-122"/>
                <a:ea typeface="微软雅黑" panose="020B0503020204020204" pitchFamily="34" charset="-122"/>
                <a:sym typeface="+mn-ea"/>
              </a:rPr>
              <a:t>测试类型</a:t>
            </a:r>
            <a:r>
              <a:rPr lang="zh-CN" altLang="en-US" sz="1800" dirty="0">
                <a:solidFill>
                  <a:srgbClr val="595959"/>
                </a:solidFill>
                <a:latin typeface="微软雅黑" panose="020B0503020204020204" pitchFamily="34" charset="-122"/>
                <a:ea typeface="微软雅黑" panose="020B0503020204020204" pitchFamily="34" charset="-122"/>
                <a:sym typeface="+mn-ea"/>
              </a:rPr>
              <a:t>，使用的</a:t>
            </a:r>
            <a:r>
              <a:rPr lang="zh-CN" altLang="en-US" sz="1800" dirty="0">
                <a:solidFill>
                  <a:srgbClr val="0070C0"/>
                </a:solidFill>
                <a:latin typeface="微软雅黑" panose="020B0503020204020204" pitchFamily="34" charset="-122"/>
                <a:ea typeface="微软雅黑" panose="020B0503020204020204" pitchFamily="34" charset="-122"/>
                <a:sym typeface="+mn-ea"/>
              </a:rPr>
              <a:t>测试用例设计方法</a:t>
            </a:r>
            <a:r>
              <a:rPr lang="zh-CN" altLang="en-US" sz="1800" dirty="0">
                <a:solidFill>
                  <a:srgbClr val="595959"/>
                </a:solidFill>
                <a:latin typeface="微软雅黑" panose="020B0503020204020204" pitchFamily="34" charset="-122"/>
                <a:ea typeface="微软雅黑" panose="020B0503020204020204" pitchFamily="34" charset="-122"/>
                <a:sym typeface="+mn-ea"/>
              </a:rPr>
              <a:t>及</a:t>
            </a:r>
            <a:r>
              <a:rPr lang="zh-CN" altLang="en-US" sz="1800" dirty="0">
                <a:solidFill>
                  <a:srgbClr val="0070C0"/>
                </a:solidFill>
                <a:latin typeface="微软雅黑" panose="020B0503020204020204" pitchFamily="34" charset="-122"/>
                <a:ea typeface="微软雅黑" panose="020B0503020204020204" pitchFamily="34" charset="-122"/>
                <a:sym typeface="+mn-ea"/>
              </a:rPr>
              <a:t>测试通过覆盖率</a:t>
            </a:r>
            <a:r>
              <a:rPr lang="zh-CN" altLang="en-US" sz="1800" dirty="0">
                <a:solidFill>
                  <a:srgbClr val="595959"/>
                </a:solidFill>
                <a:latin typeface="微软雅黑" panose="020B0503020204020204" pitchFamily="34" charset="-122"/>
                <a:ea typeface="微软雅黑" panose="020B0503020204020204" pitchFamily="34" charset="-122"/>
                <a:sym typeface="+mn-ea"/>
              </a:rPr>
              <a:t>，依据测试的通过情况提供</a:t>
            </a:r>
            <a:r>
              <a:rPr lang="zh-CN" altLang="en-US" sz="1800" dirty="0">
                <a:solidFill>
                  <a:srgbClr val="0070C0"/>
                </a:solidFill>
                <a:latin typeface="微软雅黑" panose="020B0503020204020204" pitchFamily="34" charset="-122"/>
                <a:ea typeface="微软雅黑" panose="020B0503020204020204" pitchFamily="34" charset="-122"/>
                <a:sym typeface="+mn-ea"/>
              </a:rPr>
              <a:t>对测试执行过程的评估结论</a:t>
            </a:r>
            <a:r>
              <a:rPr lang="zh-CN" altLang="en-US" sz="1800" dirty="0">
                <a:solidFill>
                  <a:srgbClr val="595959"/>
                </a:solidFill>
                <a:latin typeface="微软雅黑" panose="020B0503020204020204" pitchFamily="34" charset="-122"/>
                <a:ea typeface="微软雅黑" panose="020B0503020204020204" pitchFamily="34" charset="-122"/>
                <a:sym typeface="+mn-ea"/>
              </a:rPr>
              <a:t>，并给出测试执行活动的改进建议，以供后续测试执行活动借鉴。</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sym typeface="+mn-ea"/>
              </a:rPr>
              <a:t>缺陷统计与分析：统计本次测试所发现的</a:t>
            </a:r>
            <a:r>
              <a:rPr lang="zh-CN" altLang="en-US" sz="1800" dirty="0">
                <a:solidFill>
                  <a:srgbClr val="0070C0"/>
                </a:solidFill>
                <a:latin typeface="微软雅黑" panose="020B0503020204020204" pitchFamily="34" charset="-122"/>
                <a:ea typeface="微软雅黑" panose="020B0503020204020204" pitchFamily="34" charset="-122"/>
                <a:sym typeface="+mn-ea"/>
              </a:rPr>
              <a:t>缺陷数目、类型</a:t>
            </a:r>
            <a:r>
              <a:rPr lang="zh-CN" altLang="en-US" sz="1800" dirty="0">
                <a:solidFill>
                  <a:srgbClr val="595959"/>
                </a:solidFill>
                <a:latin typeface="微软雅黑" panose="020B0503020204020204" pitchFamily="34" charset="-122"/>
                <a:ea typeface="微软雅黑" panose="020B0503020204020204" pitchFamily="34" charset="-122"/>
                <a:sym typeface="+mn-ea"/>
              </a:rPr>
              <a:t>等，</a:t>
            </a:r>
            <a:r>
              <a:rPr lang="zh-CN" altLang="en-US" sz="1800" dirty="0">
                <a:solidFill>
                  <a:srgbClr val="0070C0"/>
                </a:solidFill>
                <a:latin typeface="微软雅黑" panose="020B0503020204020204" pitchFamily="34" charset="-122"/>
                <a:ea typeface="微软雅黑" panose="020B0503020204020204" pitchFamily="34" charset="-122"/>
                <a:sym typeface="+mn-ea"/>
              </a:rPr>
              <a:t>分析缺陷产生的原因</a:t>
            </a:r>
            <a:r>
              <a:rPr lang="zh-CN" altLang="en-US" sz="1800" dirty="0">
                <a:solidFill>
                  <a:srgbClr val="595959"/>
                </a:solidFill>
                <a:latin typeface="微软雅黑" panose="020B0503020204020204" pitchFamily="34" charset="-122"/>
                <a:ea typeface="微软雅黑" panose="020B0503020204020204" pitchFamily="34" charset="-122"/>
                <a:sym typeface="+mn-ea"/>
              </a:rPr>
              <a:t>，给出规避措施等建议，同时还要记录残留缺陷和未解决问题。</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sym typeface="+mn-ea"/>
              </a:rPr>
              <a:t>测试结论与建议：从需求符合度、功能正确性、性能指标等</a:t>
            </a:r>
            <a:r>
              <a:rPr lang="zh-CN" altLang="en-US" sz="1800" dirty="0">
                <a:solidFill>
                  <a:srgbClr val="0070C0"/>
                </a:solidFill>
                <a:latin typeface="微软雅黑" panose="020B0503020204020204" pitchFamily="34" charset="-122"/>
                <a:ea typeface="微软雅黑" panose="020B0503020204020204" pitchFamily="34" charset="-122"/>
                <a:sym typeface="+mn-ea"/>
              </a:rPr>
              <a:t>多个维度对版本质量进行总体评价</a:t>
            </a:r>
            <a:r>
              <a:rPr lang="zh-CN" altLang="en-US" sz="1800" dirty="0">
                <a:solidFill>
                  <a:srgbClr val="595959"/>
                </a:solidFill>
                <a:latin typeface="微软雅黑" panose="020B0503020204020204" pitchFamily="34" charset="-122"/>
                <a:ea typeface="微软雅黑" panose="020B0503020204020204" pitchFamily="34" charset="-122"/>
                <a:sym typeface="+mn-ea"/>
              </a:rPr>
              <a:t>，</a:t>
            </a:r>
            <a:r>
              <a:rPr lang="zh-CN" altLang="en-US" sz="1800" dirty="0">
                <a:solidFill>
                  <a:srgbClr val="0070C0"/>
                </a:solidFill>
                <a:latin typeface="微软雅黑" panose="020B0503020204020204" pitchFamily="34" charset="-122"/>
                <a:ea typeface="微软雅黑" panose="020B0503020204020204" pitchFamily="34" charset="-122"/>
                <a:sym typeface="+mn-ea"/>
              </a:rPr>
              <a:t>给出具体、明确的结论与建议</a:t>
            </a:r>
            <a:r>
              <a:rPr lang="zh-CN" altLang="en-US" sz="1800" dirty="0">
                <a:solidFill>
                  <a:srgbClr val="595959"/>
                </a:solidFill>
                <a:latin typeface="微软雅黑" panose="020B0503020204020204" pitchFamily="34" charset="-122"/>
                <a:ea typeface="微软雅黑" panose="020B0503020204020204" pitchFamily="34" charset="-122"/>
                <a:sym typeface="+mn-ea"/>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sym typeface="+mn-ea"/>
              </a:rPr>
              <a:t>测试报告的数据是真实的，</a:t>
            </a:r>
            <a:r>
              <a:rPr lang="zh-CN" altLang="en-US" sz="1800" dirty="0">
                <a:solidFill>
                  <a:srgbClr val="0070C0"/>
                </a:solidFill>
                <a:latin typeface="微软雅黑" panose="020B0503020204020204" pitchFamily="34" charset="-122"/>
                <a:ea typeface="微软雅黑" panose="020B0503020204020204" pitchFamily="34" charset="-122"/>
                <a:sym typeface="+mn-ea"/>
              </a:rPr>
              <a:t>每一条结论的得出都要有评价依据</a:t>
            </a:r>
            <a:r>
              <a:rPr lang="zh-CN" altLang="en-US" sz="1800" dirty="0">
                <a:solidFill>
                  <a:srgbClr val="595959"/>
                </a:solidFill>
                <a:latin typeface="微软雅黑" panose="020B0503020204020204" pitchFamily="34" charset="-122"/>
                <a:ea typeface="微软雅黑" panose="020B0503020204020204" pitchFamily="34" charset="-122"/>
                <a:sym typeface="+mn-ea"/>
              </a:rPr>
              <a:t>，不能是主观臆断的。</a:t>
            </a: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31" name="Title 1"/>
          <p:cNvSpPr txBox="1"/>
          <p:nvPr/>
        </p:nvSpPr>
        <p:spPr>
          <a:xfrm>
            <a:off x="1143635" y="266700"/>
            <a:ext cx="48310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软件测试的流程</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形 22" descr="讲故事"/>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67" y="1398145"/>
            <a:ext cx="1015842" cy="1015842"/>
          </a:xfrm>
          <a:prstGeom prst="rect">
            <a:avLst/>
          </a:prstGeom>
        </p:spPr>
      </p:pic>
      <p:sp>
        <p:nvSpPr>
          <p:cNvPr id="25" name="矩形 24"/>
          <p:cNvSpPr/>
          <p:nvPr/>
        </p:nvSpPr>
        <p:spPr>
          <a:xfrm>
            <a:off x="2150286" y="1608089"/>
            <a:ext cx="2513792"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2004143" y="1752128"/>
            <a:ext cx="2806078" cy="461665"/>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测试的</a:t>
            </a:r>
            <a:r>
              <a:rPr lang="zh-CN" altLang="en-US">
                <a:solidFill>
                  <a:schemeClr val="bg1"/>
                </a:solidFill>
                <a:latin typeface="微软雅黑" panose="020B0503020204020204" pitchFamily="34" charset="-122"/>
                <a:ea typeface="微软雅黑" panose="020B0503020204020204" pitchFamily="34" charset="-122"/>
                <a:sym typeface="Arial" panose="020B0604020202020204" pitchFamily="34" charset="0"/>
              </a:rPr>
              <a:t>准入、准</a:t>
            </a:r>
            <a:r>
              <a:rPr lang="zh-CN" altLang="en-US"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出</a:t>
            </a:r>
          </a:p>
        </p:txBody>
      </p:sp>
      <p:sp>
        <p:nvSpPr>
          <p:cNvPr id="27" name="矩形 26"/>
          <p:cNvSpPr/>
          <p:nvPr/>
        </p:nvSpPr>
        <p:spPr>
          <a:xfrm>
            <a:off x="4768664"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4956363"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0" name="矩形 19"/>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4" name="文本框 3"/>
          <p:cNvSpPr txBox="1"/>
          <p:nvPr/>
        </p:nvSpPr>
        <p:spPr>
          <a:xfrm>
            <a:off x="1198880" y="2565400"/>
            <a:ext cx="9504326" cy="2941320"/>
          </a:xfrm>
          <a:prstGeom prst="rect">
            <a:avLst/>
          </a:prstGeom>
          <a:noFill/>
        </p:spPr>
        <p:txBody>
          <a:bodyPr wrap="square" rtlCol="0" anchor="t">
            <a:noAutofit/>
          </a:bodyPr>
          <a:lstStyle/>
          <a:p>
            <a:pPr algn="l">
              <a:lnSpc>
                <a:spcPct val="150000"/>
              </a:lnSpc>
              <a:buClrTx/>
              <a:buSzTx/>
              <a:buFontTx/>
            </a:pPr>
            <a:r>
              <a:rPr sz="2000" dirty="0">
                <a:solidFill>
                  <a:srgbClr val="595959"/>
                </a:solidFill>
                <a:latin typeface="微软雅黑" panose="020B0503020204020204" pitchFamily="34" charset="-122"/>
                <a:ea typeface="微软雅黑" panose="020B0503020204020204" pitchFamily="34" charset="-122"/>
              </a:rPr>
              <a:t>测试准入标准如下。</a:t>
            </a:r>
          </a:p>
          <a:p>
            <a:pPr algn="l">
              <a:lnSpc>
                <a:spcPct val="150000"/>
              </a:lnSpc>
              <a:buClrTx/>
              <a:buSzTx/>
              <a:buFontTx/>
            </a:pPr>
            <a:r>
              <a:rPr sz="1800" dirty="0">
                <a:solidFill>
                  <a:srgbClr val="595959"/>
                </a:solidFill>
                <a:latin typeface="微软雅黑" panose="020B0503020204020204" pitchFamily="34" charset="-122"/>
                <a:ea typeface="微软雅黑" panose="020B0503020204020204" pitchFamily="34" charset="-122"/>
              </a:rPr>
              <a:t>（1）</a:t>
            </a:r>
            <a:r>
              <a:rPr sz="1800" dirty="0">
                <a:solidFill>
                  <a:srgbClr val="0070C0"/>
                </a:solidFill>
                <a:latin typeface="微软雅黑" panose="020B0503020204020204" pitchFamily="34" charset="-122"/>
                <a:ea typeface="微软雅黑" panose="020B0503020204020204" pitchFamily="34" charset="-122"/>
              </a:rPr>
              <a:t>开发编码结束</a:t>
            </a:r>
            <a:r>
              <a:rPr sz="1800" dirty="0">
                <a:solidFill>
                  <a:srgbClr val="595959"/>
                </a:solidFill>
                <a:latin typeface="微软雅黑" panose="020B0503020204020204" pitchFamily="34" charset="-122"/>
                <a:ea typeface="微软雅黑" panose="020B0503020204020204" pitchFamily="34" charset="-122"/>
              </a:rPr>
              <a:t>，开发人员在开发环境</a:t>
            </a:r>
            <a:r>
              <a:rPr lang="zh-CN" altLang="en-US" sz="1800" dirty="0">
                <a:solidFill>
                  <a:srgbClr val="595959"/>
                </a:solidFill>
                <a:latin typeface="微软雅黑" panose="020B0503020204020204" pitchFamily="34" charset="-122"/>
                <a:ea typeface="微软雅黑" panose="020B0503020204020204" pitchFamily="34" charset="-122"/>
              </a:rPr>
              <a:t>中</a:t>
            </a:r>
            <a:r>
              <a:rPr sz="1800" dirty="0" err="1">
                <a:solidFill>
                  <a:srgbClr val="595959"/>
                </a:solidFill>
                <a:latin typeface="微软雅黑" panose="020B0503020204020204" pitchFamily="34" charset="-122"/>
                <a:ea typeface="微软雅黑" panose="020B0503020204020204" pitchFamily="34" charset="-122"/>
              </a:rPr>
              <a:t>已经进行了单元测试，即</a:t>
            </a:r>
            <a:r>
              <a:rPr sz="1800" dirty="0" err="1">
                <a:solidFill>
                  <a:srgbClr val="0070C0"/>
                </a:solidFill>
                <a:latin typeface="微软雅黑" panose="020B0503020204020204" pitchFamily="34" charset="-122"/>
                <a:ea typeface="微软雅黑" panose="020B0503020204020204" pitchFamily="34" charset="-122"/>
              </a:rPr>
              <a:t>开发人员完成</a:t>
            </a:r>
            <a:r>
              <a:rPr lang="zh-CN" altLang="en-US" sz="1800" dirty="0">
                <a:solidFill>
                  <a:srgbClr val="0070C0"/>
                </a:solidFill>
                <a:latin typeface="微软雅黑" panose="020B0503020204020204" pitchFamily="34" charset="-122"/>
                <a:ea typeface="微软雅黑" panose="020B0503020204020204" pitchFamily="34" charset="-122"/>
              </a:rPr>
              <a:t>了</a:t>
            </a:r>
            <a:r>
              <a:rPr sz="1800" dirty="0" err="1">
                <a:solidFill>
                  <a:srgbClr val="0070C0"/>
                </a:solidFill>
                <a:latin typeface="微软雅黑" panose="020B0503020204020204" pitchFamily="34" charset="-122"/>
                <a:ea typeface="微软雅黑" panose="020B0503020204020204" pitchFamily="34" charset="-122"/>
              </a:rPr>
              <a:t>自测</a:t>
            </a:r>
            <a:r>
              <a:rPr sz="1800" dirty="0">
                <a:solidFill>
                  <a:srgbClr val="595959"/>
                </a:solidFill>
                <a:latin typeface="微软雅黑" panose="020B0503020204020204" pitchFamily="34" charset="-122"/>
                <a:ea typeface="微软雅黑" panose="020B0503020204020204" pitchFamily="34" charset="-122"/>
              </a:rPr>
              <a:t>。</a:t>
            </a:r>
          </a:p>
          <a:p>
            <a:pPr algn="l">
              <a:lnSpc>
                <a:spcPct val="150000"/>
              </a:lnSpc>
              <a:buClrTx/>
              <a:buSzTx/>
              <a:buFontTx/>
            </a:pPr>
            <a:r>
              <a:rPr sz="1800" dirty="0">
                <a:solidFill>
                  <a:srgbClr val="595959"/>
                </a:solidFill>
                <a:latin typeface="微软雅黑" panose="020B0503020204020204" pitchFamily="34" charset="-122"/>
                <a:ea typeface="微软雅黑" panose="020B0503020204020204" pitchFamily="34" charset="-122"/>
              </a:rPr>
              <a:t>（2）</a:t>
            </a:r>
            <a:r>
              <a:rPr sz="1800" dirty="0">
                <a:solidFill>
                  <a:srgbClr val="0070C0"/>
                </a:solidFill>
                <a:latin typeface="微软雅黑" panose="020B0503020204020204" pitchFamily="34" charset="-122"/>
                <a:ea typeface="微软雅黑" panose="020B0503020204020204" pitchFamily="34" charset="-122"/>
              </a:rPr>
              <a:t>软件需求上规定的功能都已经实现</a:t>
            </a:r>
            <a:r>
              <a:rPr sz="1800" dirty="0">
                <a:solidFill>
                  <a:srgbClr val="595959"/>
                </a:solidFill>
                <a:latin typeface="微软雅黑" panose="020B0503020204020204" pitchFamily="34" charset="-122"/>
                <a:ea typeface="微软雅黑" panose="020B0503020204020204" pitchFamily="34" charset="-122"/>
              </a:rPr>
              <a:t>。如果没有完全实现，开发人员提供测试范围。</a:t>
            </a:r>
          </a:p>
          <a:p>
            <a:pPr algn="l">
              <a:lnSpc>
                <a:spcPct val="150000"/>
              </a:lnSpc>
              <a:buClrTx/>
              <a:buSzTx/>
              <a:buFontTx/>
            </a:pPr>
            <a:r>
              <a:rPr sz="1800" dirty="0">
                <a:solidFill>
                  <a:srgbClr val="595959"/>
                </a:solidFill>
                <a:latin typeface="微软雅黑" panose="020B0503020204020204" pitchFamily="34" charset="-122"/>
                <a:ea typeface="微软雅黑" panose="020B0503020204020204" pitchFamily="34" charset="-122"/>
              </a:rPr>
              <a:t>（3）测试项目</a:t>
            </a:r>
            <a:r>
              <a:rPr sz="1800" dirty="0">
                <a:solidFill>
                  <a:srgbClr val="0070C0"/>
                </a:solidFill>
                <a:latin typeface="微软雅黑" panose="020B0503020204020204" pitchFamily="34" charset="-122"/>
                <a:ea typeface="微软雅黑" panose="020B0503020204020204" pitchFamily="34" charset="-122"/>
              </a:rPr>
              <a:t>通过基本的冒烟测试</a:t>
            </a:r>
            <a:r>
              <a:rPr sz="1800" dirty="0">
                <a:solidFill>
                  <a:srgbClr val="595959"/>
                </a:solidFill>
                <a:latin typeface="微软雅黑" panose="020B0503020204020204" pitchFamily="34" charset="-122"/>
                <a:ea typeface="微软雅黑" panose="020B0503020204020204" pitchFamily="34" charset="-122"/>
              </a:rPr>
              <a:t>，界面上的功能均已实现，</a:t>
            </a:r>
            <a:r>
              <a:rPr sz="1800" dirty="0">
                <a:solidFill>
                  <a:srgbClr val="0070C0"/>
                </a:solidFill>
                <a:latin typeface="微软雅黑" panose="020B0503020204020204" pitchFamily="34" charset="-122"/>
                <a:ea typeface="微软雅黑" panose="020B0503020204020204" pitchFamily="34" charset="-122"/>
              </a:rPr>
              <a:t>符合设计规定的功能</a:t>
            </a:r>
            <a:r>
              <a:rPr sz="1800" dirty="0">
                <a:solidFill>
                  <a:srgbClr val="595959"/>
                </a:solidFill>
                <a:latin typeface="微软雅黑" panose="020B0503020204020204" pitchFamily="34" charset="-122"/>
                <a:ea typeface="微软雅黑" panose="020B0503020204020204" pitchFamily="34" charset="-122"/>
              </a:rPr>
              <a:t>。</a:t>
            </a:r>
          </a:p>
          <a:p>
            <a:pPr algn="l">
              <a:lnSpc>
                <a:spcPct val="150000"/>
              </a:lnSpc>
              <a:buClrTx/>
              <a:buSzTx/>
              <a:buFontTx/>
            </a:pPr>
            <a:r>
              <a:rPr sz="1800" dirty="0">
                <a:solidFill>
                  <a:srgbClr val="595959"/>
                </a:solidFill>
                <a:latin typeface="微软雅黑" panose="020B0503020204020204" pitchFamily="34" charset="-122"/>
                <a:ea typeface="微软雅黑" panose="020B0503020204020204" pitchFamily="34" charset="-122"/>
              </a:rPr>
              <a:t>（4）测试项目的</a:t>
            </a:r>
            <a:r>
              <a:rPr sz="1800" dirty="0">
                <a:solidFill>
                  <a:srgbClr val="0070C0"/>
                </a:solidFill>
                <a:latin typeface="微软雅黑" panose="020B0503020204020204" pitchFamily="34" charset="-122"/>
                <a:ea typeface="微软雅黑" panose="020B0503020204020204" pitchFamily="34" charset="-122"/>
              </a:rPr>
              <a:t>代码符合软件编码规范</a:t>
            </a:r>
            <a:r>
              <a:rPr sz="1800" dirty="0">
                <a:solidFill>
                  <a:srgbClr val="595959"/>
                </a:solidFill>
                <a:latin typeface="微软雅黑" panose="020B0503020204020204" pitchFamily="34" charset="-122"/>
                <a:ea typeface="微软雅黑" panose="020B0503020204020204" pitchFamily="34" charset="-122"/>
              </a:rPr>
              <a:t>并已</a:t>
            </a:r>
            <a:r>
              <a:rPr sz="1800" dirty="0">
                <a:solidFill>
                  <a:srgbClr val="0070C0"/>
                </a:solidFill>
                <a:latin typeface="微软雅黑" panose="020B0503020204020204" pitchFamily="34" charset="-122"/>
                <a:ea typeface="微软雅黑" panose="020B0503020204020204" pitchFamily="34" charset="-122"/>
              </a:rPr>
              <a:t>通过评审</a:t>
            </a:r>
            <a:r>
              <a:rPr sz="1800" dirty="0">
                <a:solidFill>
                  <a:srgbClr val="595959"/>
                </a:solidFill>
                <a:latin typeface="微软雅黑" panose="020B0503020204020204" pitchFamily="34" charset="-122"/>
                <a:ea typeface="微软雅黑" panose="020B0503020204020204" pitchFamily="34" charset="-122"/>
              </a:rPr>
              <a:t>。</a:t>
            </a:r>
          </a:p>
          <a:p>
            <a:pPr algn="l">
              <a:lnSpc>
                <a:spcPct val="150000"/>
              </a:lnSpc>
              <a:buClrTx/>
              <a:buSzTx/>
              <a:buFontTx/>
            </a:pPr>
            <a:r>
              <a:rPr sz="1800" dirty="0">
                <a:solidFill>
                  <a:srgbClr val="595959"/>
                </a:solidFill>
                <a:latin typeface="微软雅黑" panose="020B0503020204020204" pitchFamily="34" charset="-122"/>
                <a:ea typeface="微软雅黑" panose="020B0503020204020204" pitchFamily="34" charset="-122"/>
              </a:rPr>
              <a:t>（5）开发人员</a:t>
            </a:r>
            <a:r>
              <a:rPr sz="1800" dirty="0">
                <a:solidFill>
                  <a:srgbClr val="0070C0"/>
                </a:solidFill>
                <a:latin typeface="微软雅黑" panose="020B0503020204020204" pitchFamily="34" charset="-122"/>
                <a:ea typeface="微软雅黑" panose="020B0503020204020204" pitchFamily="34" charset="-122"/>
              </a:rPr>
              <a:t>提交</a:t>
            </a:r>
            <a:r>
              <a:rPr sz="1800" dirty="0">
                <a:solidFill>
                  <a:srgbClr val="595959"/>
                </a:solidFill>
                <a:latin typeface="微软雅黑" panose="020B0503020204020204" pitchFamily="34" charset="-122"/>
                <a:ea typeface="微软雅黑" panose="020B0503020204020204" pitchFamily="34" charset="-122"/>
              </a:rPr>
              <a:t>了</a:t>
            </a:r>
            <a:r>
              <a:rPr sz="1800" dirty="0">
                <a:solidFill>
                  <a:srgbClr val="0070C0"/>
                </a:solidFill>
                <a:latin typeface="微软雅黑" panose="020B0503020204020204" pitchFamily="34" charset="-122"/>
                <a:ea typeface="微软雅黑" panose="020B0503020204020204" pitchFamily="34" charset="-122"/>
              </a:rPr>
              <a:t>测试申请</a:t>
            </a:r>
            <a:r>
              <a:rPr sz="1800" dirty="0">
                <a:solidFill>
                  <a:srgbClr val="595959"/>
                </a:solidFill>
                <a:latin typeface="微软雅黑" panose="020B0503020204020204" pitchFamily="34" charset="-122"/>
                <a:ea typeface="微软雅黑" panose="020B0503020204020204" pitchFamily="34" charset="-122"/>
              </a:rPr>
              <a:t>并</a:t>
            </a:r>
            <a:r>
              <a:rPr sz="1800" dirty="0">
                <a:solidFill>
                  <a:srgbClr val="0070C0"/>
                </a:solidFill>
                <a:latin typeface="微软雅黑" panose="020B0503020204020204" pitchFamily="34" charset="-122"/>
                <a:ea typeface="微软雅黑" panose="020B0503020204020204" pitchFamily="34" charset="-122"/>
              </a:rPr>
              <a:t>提供</a:t>
            </a:r>
            <a:r>
              <a:rPr sz="1800" dirty="0">
                <a:solidFill>
                  <a:srgbClr val="595959"/>
                </a:solidFill>
                <a:latin typeface="微软雅黑" panose="020B0503020204020204" pitchFamily="34" charset="-122"/>
                <a:ea typeface="微软雅黑" panose="020B0503020204020204" pitchFamily="34" charset="-122"/>
              </a:rPr>
              <a:t>了</a:t>
            </a:r>
            <a:r>
              <a:rPr sz="1800" dirty="0">
                <a:solidFill>
                  <a:srgbClr val="0070C0"/>
                </a:solidFill>
                <a:latin typeface="微软雅黑" panose="020B0503020204020204" pitchFamily="34" charset="-122"/>
                <a:ea typeface="微软雅黑" panose="020B0503020204020204" pitchFamily="34" charset="-122"/>
              </a:rPr>
              <a:t>相应的文档资料</a:t>
            </a:r>
            <a:r>
              <a:rPr sz="1800" dirty="0">
                <a:solidFill>
                  <a:srgbClr val="595959"/>
                </a:solidFill>
                <a:latin typeface="微软雅黑" panose="020B0503020204020204" pitchFamily="34" charset="-122"/>
                <a:ea typeface="微软雅黑" panose="020B0503020204020204" pitchFamily="34" charset="-122"/>
              </a:rPr>
              <a:t>。</a:t>
            </a:r>
          </a:p>
          <a:p>
            <a:pPr algn="l">
              <a:lnSpc>
                <a:spcPct val="150000"/>
              </a:lnSpc>
              <a:buClrTx/>
              <a:buSzTx/>
              <a:buFontTx/>
            </a:pPr>
            <a:endParaRPr sz="1800" dirty="0">
              <a:solidFill>
                <a:srgbClr val="595959"/>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35" y="266700"/>
            <a:ext cx="48310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软件测试的流程</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8310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软件测试的流程</a:t>
            </a:r>
          </a:p>
        </p:txBody>
      </p:sp>
      <p:sp>
        <p:nvSpPr>
          <p:cNvPr id="2" name="文本框 1"/>
          <p:cNvSpPr txBox="1"/>
          <p:nvPr/>
        </p:nvSpPr>
        <p:spPr>
          <a:xfrm>
            <a:off x="1198880" y="1414145"/>
            <a:ext cx="6096000" cy="4292600"/>
          </a:xfrm>
          <a:prstGeom prst="rect">
            <a:avLst/>
          </a:prstGeom>
          <a:noFill/>
        </p:spPr>
        <p:txBody>
          <a:bodyPr wrap="square" rtlCol="0" anchor="t">
            <a:spAutoFit/>
          </a:bodyPr>
          <a:lstStyle/>
          <a:p>
            <a:pPr>
              <a:lnSpc>
                <a:spcPct val="150000"/>
              </a:lnSpc>
            </a:pPr>
            <a:r>
              <a:rPr sz="2000" dirty="0">
                <a:solidFill>
                  <a:srgbClr val="595959"/>
                </a:solidFill>
                <a:latin typeface="微软雅黑" panose="020B0503020204020204" pitchFamily="34" charset="-122"/>
                <a:ea typeface="微软雅黑" panose="020B0503020204020204" pitchFamily="34" charset="-122"/>
              </a:rPr>
              <a:t>测试准出标准如下。</a:t>
            </a:r>
          </a:p>
          <a:p>
            <a:pPr>
              <a:lnSpc>
                <a:spcPct val="150000"/>
              </a:lnSpc>
            </a:pPr>
            <a:r>
              <a:rPr sz="1800" dirty="0">
                <a:solidFill>
                  <a:srgbClr val="595959"/>
                </a:solidFill>
                <a:latin typeface="微软雅黑" panose="020B0503020204020204" pitchFamily="34" charset="-122"/>
                <a:ea typeface="微软雅黑" panose="020B0503020204020204" pitchFamily="34" charset="-122"/>
              </a:rPr>
              <a:t>（1</a:t>
            </a:r>
            <a:r>
              <a:rPr sz="1800">
                <a:solidFill>
                  <a:srgbClr val="595959"/>
                </a:solidFill>
                <a:latin typeface="微软雅黑" panose="020B0503020204020204" pitchFamily="34" charset="-122"/>
                <a:ea typeface="微软雅黑" panose="020B0503020204020204" pitchFamily="34" charset="-122"/>
              </a:rPr>
              <a:t>）测试项目</a:t>
            </a:r>
            <a:r>
              <a:rPr sz="1800">
                <a:solidFill>
                  <a:srgbClr val="0070C0"/>
                </a:solidFill>
                <a:latin typeface="微软雅黑" panose="020B0503020204020204" pitchFamily="34" charset="-122"/>
                <a:ea typeface="微软雅黑" panose="020B0503020204020204" pitchFamily="34" charset="-122"/>
              </a:rPr>
              <a:t>满足</a:t>
            </a:r>
            <a:r>
              <a:rPr lang="zh-CN" altLang="en-US" sz="1800">
                <a:solidFill>
                  <a:srgbClr val="0070C0"/>
                </a:solidFill>
                <a:latin typeface="微软雅黑" panose="020B0503020204020204" pitchFamily="34" charset="-122"/>
                <a:ea typeface="微软雅黑" panose="020B0503020204020204" pitchFamily="34" charset="-122"/>
              </a:rPr>
              <a:t>用户</a:t>
            </a:r>
            <a:r>
              <a:rPr sz="1800">
                <a:solidFill>
                  <a:srgbClr val="0070C0"/>
                </a:solidFill>
                <a:latin typeface="微软雅黑" panose="020B0503020204020204" pitchFamily="34" charset="-122"/>
                <a:ea typeface="微软雅黑" panose="020B0503020204020204" pitchFamily="34" charset="-122"/>
              </a:rPr>
              <a:t>需求</a:t>
            </a:r>
            <a:r>
              <a:rPr sz="1800" dirty="0">
                <a:solidFill>
                  <a:srgbClr val="595959"/>
                </a:solidFill>
                <a:latin typeface="微软雅黑" panose="020B0503020204020204" pitchFamily="34" charset="-122"/>
                <a:ea typeface="微软雅黑" panose="020B0503020204020204" pitchFamily="34" charset="-122"/>
              </a:rPr>
              <a:t>。</a:t>
            </a:r>
          </a:p>
          <a:p>
            <a:pPr>
              <a:lnSpc>
                <a:spcPct val="150000"/>
              </a:lnSpc>
            </a:pPr>
            <a:r>
              <a:rPr sz="1800" dirty="0">
                <a:solidFill>
                  <a:srgbClr val="595959"/>
                </a:solidFill>
                <a:latin typeface="微软雅黑" panose="020B0503020204020204" pitchFamily="34" charset="-122"/>
                <a:ea typeface="微软雅黑" panose="020B0503020204020204" pitchFamily="34" charset="-122"/>
              </a:rPr>
              <a:t>（2）所有</a:t>
            </a:r>
            <a:r>
              <a:rPr sz="1800" dirty="0">
                <a:solidFill>
                  <a:srgbClr val="0070C0"/>
                </a:solidFill>
                <a:latin typeface="微软雅黑" panose="020B0503020204020204" pitchFamily="34" charset="-122"/>
                <a:ea typeface="微软雅黑" panose="020B0503020204020204" pitchFamily="34" charset="-122"/>
              </a:rPr>
              <a:t>测试用例</a:t>
            </a:r>
            <a:r>
              <a:rPr sz="1800" dirty="0">
                <a:solidFill>
                  <a:srgbClr val="595959"/>
                </a:solidFill>
                <a:latin typeface="微软雅黑" panose="020B0503020204020204" pitchFamily="34" charset="-122"/>
                <a:ea typeface="微软雅黑" panose="020B0503020204020204" pitchFamily="34" charset="-122"/>
              </a:rPr>
              <a:t>都已经</a:t>
            </a:r>
            <a:r>
              <a:rPr sz="1800" dirty="0">
                <a:solidFill>
                  <a:srgbClr val="0070C0"/>
                </a:solidFill>
                <a:latin typeface="微软雅黑" panose="020B0503020204020204" pitchFamily="34" charset="-122"/>
                <a:ea typeface="微软雅黑" panose="020B0503020204020204" pitchFamily="34" charset="-122"/>
              </a:rPr>
              <a:t>通过评审并成功执行</a:t>
            </a:r>
            <a:r>
              <a:rPr sz="1800" dirty="0">
                <a:solidFill>
                  <a:srgbClr val="595959"/>
                </a:solidFill>
                <a:latin typeface="微软雅黑" panose="020B0503020204020204" pitchFamily="34" charset="-122"/>
                <a:ea typeface="微软雅黑" panose="020B0503020204020204" pitchFamily="34" charset="-122"/>
              </a:rPr>
              <a:t>。</a:t>
            </a:r>
          </a:p>
          <a:p>
            <a:pPr>
              <a:lnSpc>
                <a:spcPct val="150000"/>
              </a:lnSpc>
            </a:pPr>
            <a:r>
              <a:rPr sz="1800" dirty="0">
                <a:solidFill>
                  <a:srgbClr val="595959"/>
                </a:solidFill>
                <a:latin typeface="微软雅黑" panose="020B0503020204020204" pitchFamily="34" charset="-122"/>
                <a:ea typeface="微软雅黑" panose="020B0503020204020204" pitchFamily="34" charset="-122"/>
              </a:rPr>
              <a:t>（3）测试</a:t>
            </a:r>
            <a:r>
              <a:rPr sz="1800" dirty="0">
                <a:solidFill>
                  <a:srgbClr val="0070C0"/>
                </a:solidFill>
                <a:latin typeface="微软雅黑" panose="020B0503020204020204" pitchFamily="34" charset="-122"/>
                <a:ea typeface="微软雅黑" panose="020B0503020204020204" pitchFamily="34" charset="-122"/>
              </a:rPr>
              <a:t>覆盖率</a:t>
            </a:r>
            <a:r>
              <a:rPr sz="1800" dirty="0">
                <a:solidFill>
                  <a:srgbClr val="595959"/>
                </a:solidFill>
                <a:latin typeface="微软雅黑" panose="020B0503020204020204" pitchFamily="34" charset="-122"/>
                <a:ea typeface="微软雅黑" panose="020B0503020204020204" pitchFamily="34" charset="-122"/>
              </a:rPr>
              <a:t>已经</a:t>
            </a:r>
            <a:r>
              <a:rPr sz="1800" dirty="0">
                <a:solidFill>
                  <a:srgbClr val="0070C0"/>
                </a:solidFill>
                <a:latin typeface="微软雅黑" panose="020B0503020204020204" pitchFamily="34" charset="-122"/>
                <a:ea typeface="微软雅黑" panose="020B0503020204020204" pitchFamily="34" charset="-122"/>
              </a:rPr>
              <a:t>达到要求</a:t>
            </a:r>
            <a:r>
              <a:rPr sz="1800" dirty="0">
                <a:solidFill>
                  <a:srgbClr val="595959"/>
                </a:solidFill>
                <a:latin typeface="微软雅黑" panose="020B0503020204020204" pitchFamily="34" charset="-122"/>
                <a:ea typeface="微软雅黑" panose="020B0503020204020204" pitchFamily="34" charset="-122"/>
              </a:rPr>
              <a:t>。</a:t>
            </a:r>
          </a:p>
          <a:p>
            <a:pPr>
              <a:lnSpc>
                <a:spcPct val="150000"/>
              </a:lnSpc>
            </a:pPr>
            <a:r>
              <a:rPr sz="1800" dirty="0">
                <a:solidFill>
                  <a:srgbClr val="595959"/>
                </a:solidFill>
                <a:latin typeface="微软雅黑" panose="020B0503020204020204" pitchFamily="34" charset="-122"/>
                <a:ea typeface="微软雅黑" panose="020B0503020204020204" pitchFamily="34" charset="-122"/>
              </a:rPr>
              <a:t>（4）所有发现的</a:t>
            </a:r>
            <a:r>
              <a:rPr sz="1800" dirty="0">
                <a:solidFill>
                  <a:srgbClr val="0070C0"/>
                </a:solidFill>
                <a:latin typeface="微软雅黑" panose="020B0503020204020204" pitchFamily="34" charset="-122"/>
                <a:ea typeface="微软雅黑" panose="020B0503020204020204" pitchFamily="34" charset="-122"/>
              </a:rPr>
              <a:t>缺陷都记录在缺陷管理系统中</a:t>
            </a:r>
            <a:r>
              <a:rPr sz="1800" dirty="0">
                <a:solidFill>
                  <a:srgbClr val="595959"/>
                </a:solidFill>
                <a:latin typeface="微软雅黑" panose="020B0503020204020204" pitchFamily="34" charset="-122"/>
                <a:ea typeface="微软雅黑" panose="020B0503020204020204" pitchFamily="34" charset="-122"/>
              </a:rPr>
              <a:t>。</a:t>
            </a:r>
          </a:p>
          <a:p>
            <a:pPr>
              <a:lnSpc>
                <a:spcPct val="150000"/>
              </a:lnSpc>
            </a:pPr>
            <a:r>
              <a:rPr sz="1800" dirty="0">
                <a:solidFill>
                  <a:srgbClr val="595959"/>
                </a:solidFill>
                <a:latin typeface="微软雅黑" panose="020B0503020204020204" pitchFamily="34" charset="-122"/>
                <a:ea typeface="微软雅黑" panose="020B0503020204020204" pitchFamily="34" charset="-122"/>
              </a:rPr>
              <a:t>（5）</a:t>
            </a:r>
            <a:r>
              <a:rPr sz="1800" dirty="0">
                <a:solidFill>
                  <a:srgbClr val="0070C0"/>
                </a:solidFill>
                <a:latin typeface="微软雅黑" panose="020B0503020204020204" pitchFamily="34" charset="-122"/>
                <a:ea typeface="微软雅黑" panose="020B0503020204020204" pitchFamily="34" charset="-122"/>
              </a:rPr>
              <a:t>一、二级错误修复率达到100%</a:t>
            </a:r>
            <a:r>
              <a:rPr sz="1800" dirty="0">
                <a:solidFill>
                  <a:srgbClr val="595959"/>
                </a:solidFill>
                <a:latin typeface="微软雅黑" panose="020B0503020204020204" pitchFamily="34" charset="-122"/>
                <a:ea typeface="微软雅黑" panose="020B0503020204020204" pitchFamily="34" charset="-122"/>
              </a:rPr>
              <a:t>。</a:t>
            </a:r>
          </a:p>
          <a:p>
            <a:pPr>
              <a:lnSpc>
                <a:spcPct val="150000"/>
              </a:lnSpc>
            </a:pPr>
            <a:r>
              <a:rPr sz="1800" dirty="0">
                <a:solidFill>
                  <a:srgbClr val="595959"/>
                </a:solidFill>
                <a:latin typeface="微软雅黑" panose="020B0503020204020204" pitchFamily="34" charset="-122"/>
                <a:ea typeface="微软雅黑" panose="020B0503020204020204" pitchFamily="34" charset="-122"/>
              </a:rPr>
              <a:t>（6）</a:t>
            </a:r>
            <a:r>
              <a:rPr sz="1800" dirty="0">
                <a:solidFill>
                  <a:srgbClr val="0070C0"/>
                </a:solidFill>
                <a:latin typeface="微软雅黑" panose="020B0503020204020204" pitchFamily="34" charset="-122"/>
                <a:ea typeface="微软雅黑" panose="020B0503020204020204" pitchFamily="34" charset="-122"/>
              </a:rPr>
              <a:t>三、四级错误修复率达到95%</a:t>
            </a:r>
            <a:r>
              <a:rPr sz="1800" dirty="0">
                <a:solidFill>
                  <a:srgbClr val="595959"/>
                </a:solidFill>
                <a:latin typeface="微软雅黑" panose="020B0503020204020204" pitchFamily="34" charset="-122"/>
                <a:ea typeface="微软雅黑" panose="020B0503020204020204" pitchFamily="34" charset="-122"/>
              </a:rPr>
              <a:t>。</a:t>
            </a:r>
          </a:p>
          <a:p>
            <a:pPr>
              <a:lnSpc>
                <a:spcPct val="150000"/>
              </a:lnSpc>
            </a:pPr>
            <a:r>
              <a:rPr sz="1800" dirty="0">
                <a:solidFill>
                  <a:srgbClr val="595959"/>
                </a:solidFill>
                <a:latin typeface="微软雅黑" panose="020B0503020204020204" pitchFamily="34" charset="-122"/>
                <a:ea typeface="微软雅黑" panose="020B0503020204020204" pitchFamily="34" charset="-122"/>
              </a:rPr>
              <a:t>（7）所有</a:t>
            </a:r>
            <a:r>
              <a:rPr sz="1800" dirty="0">
                <a:solidFill>
                  <a:srgbClr val="0070C0"/>
                </a:solidFill>
                <a:latin typeface="微软雅黑" panose="020B0503020204020204" pitchFamily="34" charset="-122"/>
                <a:ea typeface="微软雅黑" panose="020B0503020204020204" pitchFamily="34" charset="-122"/>
              </a:rPr>
              <a:t>遗留问题</a:t>
            </a:r>
            <a:r>
              <a:rPr sz="1800" dirty="0">
                <a:solidFill>
                  <a:srgbClr val="595959"/>
                </a:solidFill>
                <a:latin typeface="微软雅黑" panose="020B0503020204020204" pitchFamily="34" charset="-122"/>
                <a:ea typeface="微软雅黑" panose="020B0503020204020204" pitchFamily="34" charset="-122"/>
              </a:rPr>
              <a:t>都已经</a:t>
            </a:r>
            <a:r>
              <a:rPr sz="1800" dirty="0">
                <a:solidFill>
                  <a:srgbClr val="0070C0"/>
                </a:solidFill>
                <a:latin typeface="微软雅黑" panose="020B0503020204020204" pitchFamily="34" charset="-122"/>
                <a:ea typeface="微软雅黑" panose="020B0503020204020204" pitchFamily="34" charset="-122"/>
              </a:rPr>
              <a:t>有解决方案</a:t>
            </a:r>
            <a:r>
              <a:rPr sz="1800" dirty="0">
                <a:solidFill>
                  <a:srgbClr val="595959"/>
                </a:solidFill>
                <a:latin typeface="微软雅黑" panose="020B0503020204020204" pitchFamily="34" charset="-122"/>
                <a:ea typeface="微软雅黑" panose="020B0503020204020204" pitchFamily="34" charset="-122"/>
              </a:rPr>
              <a:t>。</a:t>
            </a:r>
          </a:p>
          <a:p>
            <a:pPr>
              <a:lnSpc>
                <a:spcPct val="150000"/>
              </a:lnSpc>
            </a:pPr>
            <a:r>
              <a:rPr sz="1800" dirty="0">
                <a:solidFill>
                  <a:srgbClr val="595959"/>
                </a:solidFill>
                <a:latin typeface="微软雅黑" panose="020B0503020204020204" pitchFamily="34" charset="-122"/>
                <a:ea typeface="微软雅黑" panose="020B0503020204020204" pitchFamily="34" charset="-122"/>
              </a:rPr>
              <a:t>（8）测试项目的</a:t>
            </a:r>
            <a:r>
              <a:rPr sz="1800" dirty="0">
                <a:solidFill>
                  <a:srgbClr val="0070C0"/>
                </a:solidFill>
                <a:latin typeface="微软雅黑" panose="020B0503020204020204" pitchFamily="34" charset="-122"/>
                <a:ea typeface="微软雅黑" panose="020B0503020204020204" pitchFamily="34" charset="-122"/>
              </a:rPr>
              <a:t>功能、性能、安全性等都满足要求</a:t>
            </a:r>
            <a:r>
              <a:rPr sz="1800" dirty="0">
                <a:solidFill>
                  <a:srgbClr val="595959"/>
                </a:solidFill>
                <a:latin typeface="微软雅黑" panose="020B0503020204020204" pitchFamily="34" charset="-122"/>
                <a:ea typeface="微软雅黑" panose="020B0503020204020204" pitchFamily="34" charset="-122"/>
              </a:rPr>
              <a:t>。</a:t>
            </a:r>
          </a:p>
          <a:p>
            <a:pPr>
              <a:lnSpc>
                <a:spcPct val="150000"/>
              </a:lnSpc>
            </a:pPr>
            <a:r>
              <a:rPr sz="1800" dirty="0">
                <a:solidFill>
                  <a:srgbClr val="595959"/>
                </a:solidFill>
                <a:latin typeface="微软雅黑" panose="020B0503020204020204" pitchFamily="34" charset="-122"/>
                <a:ea typeface="微软雅黑" panose="020B0503020204020204" pitchFamily="34" charset="-122"/>
              </a:rPr>
              <a:t>（9）</a:t>
            </a:r>
            <a:r>
              <a:rPr sz="1800" dirty="0">
                <a:solidFill>
                  <a:srgbClr val="0070C0"/>
                </a:solidFill>
                <a:latin typeface="微软雅黑" panose="020B0503020204020204" pitchFamily="34" charset="-122"/>
                <a:ea typeface="微软雅黑" panose="020B0503020204020204" pitchFamily="34" charset="-122"/>
              </a:rPr>
              <a:t>完成</a:t>
            </a:r>
            <a:r>
              <a:rPr sz="1800" dirty="0">
                <a:solidFill>
                  <a:srgbClr val="595959"/>
                </a:solidFill>
                <a:latin typeface="微软雅黑" panose="020B0503020204020204" pitchFamily="34" charset="-122"/>
                <a:ea typeface="微软雅黑" panose="020B0503020204020204" pitchFamily="34" charset="-122"/>
              </a:rPr>
              <a:t>系统</a:t>
            </a:r>
            <a:r>
              <a:rPr sz="1800" dirty="0">
                <a:solidFill>
                  <a:srgbClr val="0070C0"/>
                </a:solidFill>
                <a:latin typeface="微软雅黑" panose="020B0503020204020204" pitchFamily="34" charset="-122"/>
                <a:ea typeface="微软雅黑" panose="020B0503020204020204" pitchFamily="34" charset="-122"/>
              </a:rPr>
              <a:t>测试总结报告</a:t>
            </a:r>
            <a:r>
              <a:rPr sz="1800" dirty="0">
                <a:solidFill>
                  <a:srgbClr val="595959"/>
                </a:solidFill>
                <a:latin typeface="微软雅黑" panose="020B0503020204020204" pitchFamily="34" charset="-122"/>
                <a:ea typeface="微软雅黑" panose="020B0503020204020204" pitchFamily="34" charset="-122"/>
              </a:rPr>
              <a:t>。</a:t>
            </a:r>
          </a:p>
        </p:txBody>
      </p:sp>
      <p:sp>
        <p:nvSpPr>
          <p:cNvPr id="20" name="矩形 19"/>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8310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软件测试的流程</a:t>
            </a:r>
          </a:p>
        </p:txBody>
      </p:sp>
      <p:sp>
        <p:nvSpPr>
          <p:cNvPr id="2" name="文本框 1"/>
          <p:cNvSpPr txBox="1"/>
          <p:nvPr/>
        </p:nvSpPr>
        <p:spPr>
          <a:xfrm>
            <a:off x="1198880" y="1412240"/>
            <a:ext cx="9962515" cy="2676525"/>
          </a:xfrm>
          <a:prstGeom prst="rect">
            <a:avLst/>
          </a:prstGeom>
          <a:noFill/>
        </p:spPr>
        <p:txBody>
          <a:bodyPr wrap="square" rtlCol="0" anchor="t">
            <a:spAutoFit/>
          </a:bodyPr>
          <a:lstStyle/>
          <a:p>
            <a:pPr indent="457200">
              <a:lnSpc>
                <a:spcPct val="150000"/>
              </a:lnSpc>
            </a:pPr>
            <a:r>
              <a:rPr sz="2000" dirty="0" err="1">
                <a:solidFill>
                  <a:srgbClr val="595959"/>
                </a:solidFill>
                <a:latin typeface="微软雅黑" panose="020B0503020204020204" pitchFamily="34" charset="-122"/>
                <a:ea typeface="微软雅黑" panose="020B0503020204020204" pitchFamily="34" charset="-122"/>
              </a:rPr>
              <a:t>在测试过程中可能会出现一些</a:t>
            </a:r>
            <a:r>
              <a:rPr sz="2000" dirty="0" err="1">
                <a:solidFill>
                  <a:srgbClr val="0070C0"/>
                </a:solidFill>
                <a:latin typeface="微软雅黑" panose="020B0503020204020204" pitchFamily="34" charset="-122"/>
                <a:ea typeface="微软雅黑" panose="020B0503020204020204" pitchFamily="34" charset="-122"/>
              </a:rPr>
              <a:t>意外情况导致测试工作暂停</a:t>
            </a:r>
            <a:r>
              <a:rPr sz="2000" dirty="0" err="1">
                <a:solidFill>
                  <a:srgbClr val="595959"/>
                </a:solidFill>
                <a:latin typeface="微软雅黑" panose="020B0503020204020204" pitchFamily="34" charset="-122"/>
                <a:ea typeface="微软雅黑" panose="020B0503020204020204" pitchFamily="34" charset="-122"/>
              </a:rPr>
              <a:t>，这个暂停并不是上</a:t>
            </a:r>
            <a:r>
              <a:rPr lang="zh-CN" altLang="en-US" sz="2000" dirty="0">
                <a:solidFill>
                  <a:srgbClr val="595959"/>
                </a:solidFill>
                <a:latin typeface="微软雅黑" panose="020B0503020204020204" pitchFamily="34" charset="-122"/>
                <a:ea typeface="微软雅黑" panose="020B0503020204020204" pitchFamily="34" charset="-122"/>
              </a:rPr>
              <a:t>面</a:t>
            </a:r>
            <a:r>
              <a:rPr sz="2000" dirty="0">
                <a:solidFill>
                  <a:srgbClr val="595959"/>
                </a:solidFill>
                <a:latin typeface="微软雅黑" panose="020B0503020204020204" pitchFamily="34" charset="-122"/>
                <a:ea typeface="微软雅黑" panose="020B0503020204020204" pitchFamily="34" charset="-122"/>
              </a:rPr>
              <a:t>所说的测试结束，而是非正常的。测试中</a:t>
            </a:r>
            <a:r>
              <a:rPr sz="2000" dirty="0">
                <a:solidFill>
                  <a:srgbClr val="0070C0"/>
                </a:solidFill>
                <a:latin typeface="微软雅黑" panose="020B0503020204020204" pitchFamily="34" charset="-122"/>
                <a:ea typeface="微软雅黑" panose="020B0503020204020204" pitchFamily="34" charset="-122"/>
              </a:rPr>
              <a:t>需要暂停的情况</a:t>
            </a:r>
            <a:r>
              <a:rPr sz="2000" dirty="0">
                <a:solidFill>
                  <a:srgbClr val="595959"/>
                </a:solidFill>
                <a:latin typeface="微软雅黑" panose="020B0503020204020204" pitchFamily="34" charset="-122"/>
                <a:ea typeface="微软雅黑" panose="020B0503020204020204" pitchFamily="34" charset="-122"/>
              </a:rPr>
              <a:t>主要</a:t>
            </a:r>
            <a:r>
              <a:rPr sz="2000" dirty="0">
                <a:solidFill>
                  <a:srgbClr val="0070C0"/>
                </a:solidFill>
                <a:latin typeface="微软雅黑" panose="020B0503020204020204" pitchFamily="34" charset="-122"/>
                <a:ea typeface="微软雅黑" panose="020B0503020204020204" pitchFamily="34" charset="-122"/>
              </a:rPr>
              <a:t>包括以下4种</a:t>
            </a:r>
            <a:r>
              <a:rPr sz="2000" dirty="0">
                <a:solidFill>
                  <a:srgbClr val="595959"/>
                </a:solidFill>
                <a:latin typeface="微软雅黑" panose="020B0503020204020204" pitchFamily="34" charset="-122"/>
                <a:ea typeface="微软雅黑" panose="020B0503020204020204" pitchFamily="34" charset="-122"/>
              </a:rPr>
              <a:t>。</a:t>
            </a:r>
          </a:p>
          <a:p>
            <a:pPr>
              <a:lnSpc>
                <a:spcPct val="150000"/>
              </a:lnSpc>
            </a:pPr>
            <a:r>
              <a:rPr sz="1800" dirty="0">
                <a:solidFill>
                  <a:srgbClr val="595959"/>
                </a:solidFill>
                <a:latin typeface="微软雅黑" panose="020B0503020204020204" pitchFamily="34" charset="-122"/>
                <a:ea typeface="微软雅黑" panose="020B0503020204020204" pitchFamily="34" charset="-122"/>
              </a:rPr>
              <a:t>（1）测试人员进行冒烟测试时</a:t>
            </a:r>
            <a:r>
              <a:rPr sz="1800" dirty="0">
                <a:solidFill>
                  <a:srgbClr val="0070C0"/>
                </a:solidFill>
                <a:latin typeface="微软雅黑" panose="020B0503020204020204" pitchFamily="34" charset="-122"/>
                <a:ea typeface="微软雅黑" panose="020B0503020204020204" pitchFamily="34" charset="-122"/>
              </a:rPr>
              <a:t>发现重大缺陷</a:t>
            </a:r>
            <a:r>
              <a:rPr sz="1800" dirty="0">
                <a:solidFill>
                  <a:srgbClr val="595959"/>
                </a:solidFill>
                <a:latin typeface="微软雅黑" panose="020B0503020204020204" pitchFamily="34" charset="-122"/>
                <a:ea typeface="微软雅黑" panose="020B0503020204020204" pitchFamily="34" charset="-122"/>
              </a:rPr>
              <a:t>，导致测试无法正常进行，</a:t>
            </a:r>
            <a:r>
              <a:rPr sz="1800" dirty="0">
                <a:solidFill>
                  <a:srgbClr val="0070C0"/>
                </a:solidFill>
                <a:latin typeface="微软雅黑" panose="020B0503020204020204" pitchFamily="34" charset="-122"/>
                <a:ea typeface="微软雅黑" panose="020B0503020204020204" pitchFamily="34" charset="-122"/>
              </a:rPr>
              <a:t>需要暂停并返回开发</a:t>
            </a:r>
            <a:r>
              <a:rPr sz="1800" dirty="0">
                <a:solidFill>
                  <a:srgbClr val="595959"/>
                </a:solidFill>
                <a:latin typeface="微软雅黑" panose="020B0503020204020204" pitchFamily="34" charset="-122"/>
                <a:ea typeface="微软雅黑" panose="020B0503020204020204" pitchFamily="34" charset="-122"/>
              </a:rPr>
              <a:t>。</a:t>
            </a:r>
          </a:p>
          <a:p>
            <a:pPr>
              <a:lnSpc>
                <a:spcPct val="150000"/>
              </a:lnSpc>
            </a:pPr>
            <a:r>
              <a:rPr sz="1800" dirty="0">
                <a:solidFill>
                  <a:srgbClr val="595959"/>
                </a:solidFill>
                <a:latin typeface="微软雅黑" panose="020B0503020204020204" pitchFamily="34" charset="-122"/>
                <a:ea typeface="微软雅黑" panose="020B0503020204020204" pitchFamily="34" charset="-122"/>
              </a:rPr>
              <a:t>（2）测试人员进行冒烟测试时发现</a:t>
            </a:r>
            <a:r>
              <a:rPr lang="zh-CN" altLang="en-US" sz="1800" dirty="0">
                <a:solidFill>
                  <a:srgbClr val="0070C0"/>
                </a:solidFill>
                <a:latin typeface="微软雅黑" panose="020B0503020204020204" pitchFamily="34" charset="-122"/>
                <a:ea typeface="微软雅黑" panose="020B0503020204020204" pitchFamily="34" charset="-122"/>
              </a:rPr>
              <a:t>缺陷</a:t>
            </a:r>
            <a:r>
              <a:rPr sz="1800" dirty="0" err="1">
                <a:solidFill>
                  <a:srgbClr val="0070C0"/>
                </a:solidFill>
                <a:latin typeface="微软雅黑" panose="020B0503020204020204" pitchFamily="34" charset="-122"/>
                <a:ea typeface="微软雅黑" panose="020B0503020204020204" pitchFamily="34" charset="-122"/>
              </a:rPr>
              <a:t>过多</a:t>
            </a:r>
            <a:r>
              <a:rPr sz="1800" dirty="0" err="1">
                <a:solidFill>
                  <a:srgbClr val="595959"/>
                </a:solidFill>
                <a:latin typeface="微软雅黑" panose="020B0503020204020204" pitchFamily="34" charset="-122"/>
                <a:ea typeface="微软雅黑" panose="020B0503020204020204" pitchFamily="34" charset="-122"/>
              </a:rPr>
              <a:t>可以</a:t>
            </a:r>
            <a:r>
              <a:rPr sz="1800" dirty="0" err="1">
                <a:solidFill>
                  <a:srgbClr val="0070C0"/>
                </a:solidFill>
                <a:latin typeface="微软雅黑" panose="020B0503020204020204" pitchFamily="34" charset="-122"/>
                <a:ea typeface="微软雅黑" panose="020B0503020204020204" pitchFamily="34" charset="-122"/>
              </a:rPr>
              <a:t>申请暂停</a:t>
            </a:r>
            <a:r>
              <a:rPr sz="1800" dirty="0" err="1">
                <a:solidFill>
                  <a:srgbClr val="595959"/>
                </a:solidFill>
                <a:latin typeface="微软雅黑" panose="020B0503020204020204" pitchFamily="34" charset="-122"/>
                <a:ea typeface="微软雅黑" panose="020B0503020204020204" pitchFamily="34" charset="-122"/>
              </a:rPr>
              <a:t>测试，</a:t>
            </a:r>
            <a:r>
              <a:rPr sz="1800" dirty="0" err="1">
                <a:solidFill>
                  <a:srgbClr val="0070C0"/>
                </a:solidFill>
                <a:latin typeface="微软雅黑" panose="020B0503020204020204" pitchFamily="34" charset="-122"/>
                <a:ea typeface="微软雅黑" panose="020B0503020204020204" pitchFamily="34" charset="-122"/>
              </a:rPr>
              <a:t>返回开发</a:t>
            </a:r>
            <a:r>
              <a:rPr sz="1800" dirty="0">
                <a:solidFill>
                  <a:srgbClr val="595959"/>
                </a:solidFill>
                <a:latin typeface="微软雅黑" panose="020B0503020204020204" pitchFamily="34" charset="-122"/>
                <a:ea typeface="微软雅黑" panose="020B0503020204020204" pitchFamily="34" charset="-122"/>
              </a:rPr>
              <a:t>。</a:t>
            </a:r>
          </a:p>
          <a:p>
            <a:pPr>
              <a:lnSpc>
                <a:spcPct val="150000"/>
              </a:lnSpc>
            </a:pPr>
            <a:r>
              <a:rPr sz="1800" dirty="0">
                <a:solidFill>
                  <a:srgbClr val="595959"/>
                </a:solidFill>
                <a:latin typeface="微软雅黑" panose="020B0503020204020204" pitchFamily="34" charset="-122"/>
                <a:ea typeface="微软雅黑" panose="020B0503020204020204" pitchFamily="34" charset="-122"/>
              </a:rPr>
              <a:t>（3）测试</a:t>
            </a:r>
            <a:r>
              <a:rPr sz="1800" dirty="0">
                <a:solidFill>
                  <a:srgbClr val="0070C0"/>
                </a:solidFill>
                <a:latin typeface="微软雅黑" panose="020B0503020204020204" pitchFamily="34" charset="-122"/>
                <a:ea typeface="微软雅黑" panose="020B0503020204020204" pitchFamily="34" charset="-122"/>
              </a:rPr>
              <a:t>项目</a:t>
            </a:r>
            <a:r>
              <a:rPr sz="1800" dirty="0">
                <a:solidFill>
                  <a:srgbClr val="595959"/>
                </a:solidFill>
                <a:latin typeface="微软雅黑" panose="020B0503020204020204" pitchFamily="34" charset="-122"/>
                <a:ea typeface="微软雅黑" panose="020B0503020204020204" pitchFamily="34" charset="-122"/>
              </a:rPr>
              <a:t>需要</a:t>
            </a:r>
            <a:r>
              <a:rPr sz="1800" dirty="0">
                <a:solidFill>
                  <a:srgbClr val="0070C0"/>
                </a:solidFill>
                <a:latin typeface="微软雅黑" panose="020B0503020204020204" pitchFamily="34" charset="-122"/>
                <a:ea typeface="微软雅黑" panose="020B0503020204020204" pitchFamily="34" charset="-122"/>
              </a:rPr>
              <a:t>更新调整</a:t>
            </a:r>
            <a:r>
              <a:rPr sz="1800" dirty="0">
                <a:solidFill>
                  <a:srgbClr val="595959"/>
                </a:solidFill>
                <a:latin typeface="微软雅黑" panose="020B0503020204020204" pitchFamily="34" charset="-122"/>
                <a:ea typeface="微软雅黑" panose="020B0503020204020204" pitchFamily="34" charset="-122"/>
              </a:rPr>
              <a:t>而暂停，</a:t>
            </a:r>
            <a:r>
              <a:rPr sz="1800" dirty="0">
                <a:solidFill>
                  <a:srgbClr val="0070C0"/>
                </a:solidFill>
                <a:latin typeface="微软雅黑" panose="020B0503020204020204" pitchFamily="34" charset="-122"/>
                <a:ea typeface="微软雅黑" panose="020B0503020204020204" pitchFamily="34" charset="-122"/>
              </a:rPr>
              <a:t>测试工作</a:t>
            </a:r>
            <a:r>
              <a:rPr sz="1800" dirty="0">
                <a:solidFill>
                  <a:srgbClr val="595959"/>
                </a:solidFill>
                <a:latin typeface="微软雅黑" panose="020B0503020204020204" pitchFamily="34" charset="-122"/>
                <a:ea typeface="微软雅黑" panose="020B0503020204020204" pitchFamily="34" charset="-122"/>
              </a:rPr>
              <a:t>也要相应</a:t>
            </a:r>
            <a:r>
              <a:rPr sz="1800" dirty="0">
                <a:solidFill>
                  <a:srgbClr val="0070C0"/>
                </a:solidFill>
                <a:latin typeface="微软雅黑" panose="020B0503020204020204" pitchFamily="34" charset="-122"/>
                <a:ea typeface="微软雅黑" panose="020B0503020204020204" pitchFamily="34" charset="-122"/>
              </a:rPr>
              <a:t>暂停</a:t>
            </a:r>
            <a:r>
              <a:rPr sz="1800" dirty="0">
                <a:solidFill>
                  <a:srgbClr val="595959"/>
                </a:solidFill>
                <a:latin typeface="微软雅黑" panose="020B0503020204020204" pitchFamily="34" charset="-122"/>
                <a:ea typeface="微软雅黑" panose="020B0503020204020204" pitchFamily="34" charset="-122"/>
              </a:rPr>
              <a:t>。</a:t>
            </a:r>
          </a:p>
          <a:p>
            <a:pPr>
              <a:lnSpc>
                <a:spcPct val="150000"/>
              </a:lnSpc>
            </a:pPr>
            <a:r>
              <a:rPr sz="1800" dirty="0">
                <a:solidFill>
                  <a:srgbClr val="595959"/>
                </a:solidFill>
                <a:latin typeface="微软雅黑" panose="020B0503020204020204" pitchFamily="34" charset="-122"/>
                <a:ea typeface="微软雅黑" panose="020B0503020204020204" pitchFamily="34" charset="-122"/>
              </a:rPr>
              <a:t>（4）如果</a:t>
            </a:r>
            <a:r>
              <a:rPr sz="1800" dirty="0">
                <a:solidFill>
                  <a:srgbClr val="0070C0"/>
                </a:solidFill>
                <a:latin typeface="微软雅黑" panose="020B0503020204020204" pitchFamily="34" charset="-122"/>
                <a:ea typeface="微软雅黑" panose="020B0503020204020204" pitchFamily="34" charset="-122"/>
              </a:rPr>
              <a:t>测试人员有</a:t>
            </a:r>
            <a:r>
              <a:rPr sz="1800" dirty="0">
                <a:solidFill>
                  <a:srgbClr val="595959"/>
                </a:solidFill>
                <a:latin typeface="微软雅黑" panose="020B0503020204020204" pitchFamily="34" charset="-122"/>
                <a:ea typeface="微软雅黑" panose="020B0503020204020204" pitchFamily="34" charset="-122"/>
              </a:rPr>
              <a:t>其他</a:t>
            </a:r>
            <a:r>
              <a:rPr sz="1800" dirty="0">
                <a:solidFill>
                  <a:srgbClr val="0070C0"/>
                </a:solidFill>
                <a:latin typeface="微软雅黑" panose="020B0503020204020204" pitchFamily="34" charset="-122"/>
                <a:ea typeface="微软雅黑" panose="020B0503020204020204" pitchFamily="34" charset="-122"/>
              </a:rPr>
              <a:t>优先级更高的任务</a:t>
            </a:r>
            <a:r>
              <a:rPr sz="1800" dirty="0">
                <a:solidFill>
                  <a:srgbClr val="595959"/>
                </a:solidFill>
                <a:latin typeface="微软雅黑" panose="020B0503020204020204" pitchFamily="34" charset="-122"/>
                <a:ea typeface="微软雅黑" panose="020B0503020204020204" pitchFamily="34" charset="-122"/>
              </a:rPr>
              <a:t>，可以</a:t>
            </a:r>
            <a:r>
              <a:rPr sz="1800" dirty="0">
                <a:solidFill>
                  <a:srgbClr val="0070C0"/>
                </a:solidFill>
                <a:latin typeface="微软雅黑" panose="020B0503020204020204" pitchFamily="34" charset="-122"/>
                <a:ea typeface="微软雅黑" panose="020B0503020204020204" pitchFamily="34" charset="-122"/>
              </a:rPr>
              <a:t>申请暂停测试</a:t>
            </a:r>
            <a:r>
              <a:rPr sz="1800" dirty="0">
                <a:solidFill>
                  <a:srgbClr val="595959"/>
                </a:solidFill>
                <a:latin typeface="微软雅黑" panose="020B0503020204020204" pitchFamily="34" charset="-122"/>
                <a:ea typeface="微软雅黑" panose="020B0503020204020204" pitchFamily="34" charset="-122"/>
              </a:rPr>
              <a:t>。</a:t>
            </a:r>
          </a:p>
        </p:txBody>
      </p:sp>
      <p:sp>
        <p:nvSpPr>
          <p:cNvPr id="20" name="矩形 19"/>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1143635" y="1054100"/>
            <a:ext cx="10046970" cy="575945"/>
          </a:xfrm>
          <a:prstGeom prst="rect">
            <a:avLst/>
          </a:prstGeom>
          <a:noFill/>
        </p:spPr>
        <p:txBody>
          <a:bodyPr wrap="square" rtlCol="0" anchor="t">
            <a:noAutofit/>
          </a:bodyPr>
          <a:lstStyle/>
          <a:p>
            <a:pPr algn="just">
              <a:lnSpc>
                <a:spcPct val="150000"/>
              </a:lnSpc>
              <a:buClrTx/>
              <a:buSzTx/>
              <a:buFontTx/>
            </a:pPr>
            <a:r>
              <a:rPr lang="zh-CN" sz="2000" dirty="0">
                <a:solidFill>
                  <a:srgbClr val="595959"/>
                </a:solidFill>
                <a:latin typeface="微软雅黑" panose="020B0503020204020204" pitchFamily="34" charset="-122"/>
                <a:ea typeface="微软雅黑" panose="020B0503020204020204" pitchFamily="34" charset="-122"/>
                <a:sym typeface="+mn-ea"/>
              </a:rPr>
              <a:t>微信</a:t>
            </a:r>
            <a:r>
              <a:rPr lang="zh-CN" sz="2000" dirty="0">
                <a:solidFill>
                  <a:srgbClr val="0070C0"/>
                </a:solidFill>
                <a:latin typeface="微软雅黑" panose="020B0503020204020204" pitchFamily="34" charset="-122"/>
                <a:ea typeface="微软雅黑" panose="020B0503020204020204" pitchFamily="34" charset="-122"/>
                <a:sym typeface="+mn-ea"/>
              </a:rPr>
              <a:t>朋友圈的功能业务流程</a:t>
            </a:r>
            <a:r>
              <a:rPr lang="zh-CN" sz="2000" dirty="0">
                <a:solidFill>
                  <a:srgbClr val="595959"/>
                </a:solidFill>
                <a:latin typeface="微软雅黑" panose="020B0503020204020204" pitchFamily="34" charset="-122"/>
                <a:ea typeface="微软雅黑" panose="020B0503020204020204" pitchFamily="34" charset="-122"/>
                <a:sym typeface="+mn-ea"/>
              </a:rPr>
              <a:t>如下图所</a:t>
            </a:r>
            <a:r>
              <a:rPr lang="zh-CN" sz="2000">
                <a:solidFill>
                  <a:srgbClr val="595959"/>
                </a:solidFill>
                <a:latin typeface="微软雅黑" panose="020B0503020204020204" pitchFamily="34" charset="-122"/>
                <a:ea typeface="微软雅黑" panose="020B0503020204020204" pitchFamily="34" charset="-122"/>
                <a:sym typeface="+mn-ea"/>
              </a:rPr>
              <a:t>示。</a:t>
            </a: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2" name="Title 1"/>
          <p:cNvSpPr txBox="1"/>
          <p:nvPr/>
        </p:nvSpPr>
        <p:spPr>
          <a:xfrm>
            <a:off x="1143635" y="266700"/>
            <a:ext cx="59359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实例：微信朋友圈功能的测试流程</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3786" y="1630045"/>
            <a:ext cx="1109420" cy="473484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1143635" y="1054100"/>
            <a:ext cx="10046970" cy="4873625"/>
          </a:xfrm>
          <a:prstGeom prst="rect">
            <a:avLst/>
          </a:prstGeom>
          <a:noFill/>
        </p:spPr>
        <p:txBody>
          <a:bodyPr wrap="square" rtlCol="0" anchor="t">
            <a:noAutofit/>
          </a:bodyPr>
          <a:lstStyle/>
          <a:p>
            <a:pPr indent="457200" algn="just">
              <a:lnSpc>
                <a:spcPct val="150000"/>
              </a:lnSpc>
              <a:buClrTx/>
              <a:buSzTx/>
              <a:buFontTx/>
            </a:pPr>
            <a:r>
              <a:rPr lang="zh-CN" sz="2000" dirty="0">
                <a:solidFill>
                  <a:srgbClr val="595959"/>
                </a:solidFill>
                <a:latin typeface="微软雅黑" panose="020B0503020204020204" pitchFamily="34" charset="-122"/>
                <a:ea typeface="微软雅黑" panose="020B0503020204020204" pitchFamily="34" charset="-122"/>
                <a:sym typeface="+mn-ea"/>
              </a:rPr>
              <a:t>微信朋友圈功能</a:t>
            </a:r>
            <a:r>
              <a:rPr lang="zh-CN" altLang="en-US" sz="2000" dirty="0">
                <a:solidFill>
                  <a:srgbClr val="595959"/>
                </a:solidFill>
                <a:latin typeface="微软雅黑" panose="020B0503020204020204" pitchFamily="34" charset="-122"/>
                <a:ea typeface="微软雅黑" panose="020B0503020204020204" pitchFamily="34" charset="-122"/>
                <a:sym typeface="+mn-ea"/>
              </a:rPr>
              <a:t>的</a:t>
            </a:r>
            <a:r>
              <a:rPr lang="zh-CN" sz="2000" dirty="0">
                <a:solidFill>
                  <a:srgbClr val="595959"/>
                </a:solidFill>
                <a:latin typeface="微软雅黑" panose="020B0503020204020204" pitchFamily="34" charset="-122"/>
                <a:ea typeface="微软雅黑" panose="020B0503020204020204" pitchFamily="34" charset="-122"/>
                <a:sym typeface="+mn-ea"/>
              </a:rPr>
              <a:t>业务流程主要包括</a:t>
            </a:r>
            <a:r>
              <a:rPr lang="en-US" altLang="zh-CN" sz="2000" dirty="0">
                <a:solidFill>
                  <a:srgbClr val="595959"/>
                </a:solidFill>
                <a:latin typeface="微软雅黑" panose="020B0503020204020204" pitchFamily="34" charset="-122"/>
                <a:ea typeface="微软雅黑" panose="020B0503020204020204" pitchFamily="34" charset="-122"/>
                <a:sym typeface="+mn-ea"/>
              </a:rPr>
              <a:t>6</a:t>
            </a:r>
            <a:r>
              <a:rPr lang="zh-CN" sz="2000" dirty="0">
                <a:solidFill>
                  <a:srgbClr val="595959"/>
                </a:solidFill>
                <a:latin typeface="微软雅黑" panose="020B0503020204020204" pitchFamily="34" charset="-122"/>
                <a:ea typeface="微软雅黑" panose="020B0503020204020204" pitchFamily="34" charset="-122"/>
                <a:sym typeface="+mn-ea"/>
              </a:rPr>
              <a:t>个，分别是</a:t>
            </a:r>
            <a:r>
              <a:rPr lang="zh-CN" sz="2000" dirty="0">
                <a:solidFill>
                  <a:srgbClr val="0070C0"/>
                </a:solidFill>
                <a:latin typeface="微软雅黑" panose="020B0503020204020204" pitchFamily="34" charset="-122"/>
                <a:ea typeface="微软雅黑" panose="020B0503020204020204" pitchFamily="34" charset="-122"/>
                <a:sym typeface="+mn-ea"/>
              </a:rPr>
              <a:t>开始</a:t>
            </a:r>
            <a:r>
              <a:rPr lang="zh-CN" sz="2000" dirty="0">
                <a:solidFill>
                  <a:srgbClr val="595959"/>
                </a:solidFill>
                <a:latin typeface="微软雅黑" panose="020B0503020204020204" pitchFamily="34" charset="-122"/>
                <a:ea typeface="微软雅黑" panose="020B0503020204020204" pitchFamily="34" charset="-122"/>
                <a:sym typeface="+mn-ea"/>
              </a:rPr>
              <a:t>、</a:t>
            </a:r>
            <a:r>
              <a:rPr lang="zh-CN" sz="2000" dirty="0">
                <a:solidFill>
                  <a:srgbClr val="0070C0"/>
                </a:solidFill>
                <a:latin typeface="微软雅黑" panose="020B0503020204020204" pitchFamily="34" charset="-122"/>
                <a:ea typeface="微软雅黑" panose="020B0503020204020204" pitchFamily="34" charset="-122"/>
                <a:sym typeface="+mn-ea"/>
              </a:rPr>
              <a:t>注册/登录、发布朋友圈、查看朋友圈、点赞/评论朋友圈</a:t>
            </a:r>
            <a:r>
              <a:rPr lang="zh-CN" sz="2000" dirty="0">
                <a:solidFill>
                  <a:srgbClr val="595959"/>
                </a:solidFill>
                <a:latin typeface="微软雅黑" panose="020B0503020204020204" pitchFamily="34" charset="-122"/>
                <a:ea typeface="微软雅黑" panose="020B0503020204020204" pitchFamily="34" charset="-122"/>
                <a:sym typeface="+mn-ea"/>
              </a:rPr>
              <a:t>、</a:t>
            </a:r>
            <a:r>
              <a:rPr lang="zh-CN" sz="2000" dirty="0">
                <a:solidFill>
                  <a:srgbClr val="0070C0"/>
                </a:solidFill>
                <a:latin typeface="微软雅黑" panose="020B0503020204020204" pitchFamily="34" charset="-122"/>
                <a:ea typeface="微软雅黑" panose="020B0503020204020204" pitchFamily="34" charset="-122"/>
                <a:sym typeface="+mn-ea"/>
              </a:rPr>
              <a:t>结束</a:t>
            </a:r>
            <a:r>
              <a:rPr lang="zh-CN" sz="2000" dirty="0">
                <a:solidFill>
                  <a:srgbClr val="595959"/>
                </a:solidFill>
                <a:latin typeface="微软雅黑" panose="020B0503020204020204" pitchFamily="34" charset="-122"/>
                <a:ea typeface="微软雅黑" panose="020B0503020204020204" pitchFamily="34" charset="-122"/>
                <a:sym typeface="+mn-ea"/>
              </a:rPr>
              <a:t>。下面主要对该业务流程中的发布朋友圈功能进行测试。</a:t>
            </a:r>
          </a:p>
          <a:p>
            <a:pPr algn="just">
              <a:lnSpc>
                <a:spcPct val="150000"/>
              </a:lnSpc>
              <a:buClrTx/>
              <a:buSzTx/>
              <a:buFontTx/>
            </a:pPr>
            <a:r>
              <a:rPr lang="zh-CN" sz="2000" dirty="0">
                <a:solidFill>
                  <a:srgbClr val="595959"/>
                </a:solidFill>
                <a:latin typeface="微软雅黑" panose="020B0503020204020204" pitchFamily="34" charset="-122"/>
                <a:ea typeface="微软雅黑" panose="020B0503020204020204" pitchFamily="34" charset="-122"/>
                <a:sym typeface="+mn-ea"/>
              </a:rPr>
              <a:t>(1)分析测试需求</a:t>
            </a:r>
          </a:p>
          <a:p>
            <a:pPr indent="457200" algn="just">
              <a:lnSpc>
                <a:spcPct val="150000"/>
              </a:lnSpc>
              <a:buClrTx/>
              <a:buSzTx/>
              <a:buFontTx/>
            </a:pPr>
            <a:r>
              <a:rPr lang="zh-CN" sz="2000" dirty="0">
                <a:solidFill>
                  <a:srgbClr val="595959"/>
                </a:solidFill>
                <a:latin typeface="微软雅黑" panose="020B0503020204020204" pitchFamily="34" charset="-122"/>
                <a:ea typeface="微软雅黑" panose="020B0503020204020204" pitchFamily="34" charset="-122"/>
                <a:sym typeface="+mn-ea"/>
              </a:rPr>
              <a:t>测试人员对软件需求进行分析，并</a:t>
            </a:r>
            <a:r>
              <a:rPr lang="zh-CN" sz="2000" dirty="0">
                <a:solidFill>
                  <a:srgbClr val="0070C0"/>
                </a:solidFill>
                <a:latin typeface="微软雅黑" panose="020B0503020204020204" pitchFamily="34" charset="-122"/>
                <a:ea typeface="微软雅黑" panose="020B0503020204020204" pitchFamily="34" charset="-122"/>
                <a:sym typeface="+mn-ea"/>
              </a:rPr>
              <a:t>确定要测试的功能是发布朋友圈</a:t>
            </a:r>
            <a:r>
              <a:rPr lang="zh-CN" sz="2000" dirty="0">
                <a:solidFill>
                  <a:srgbClr val="595959"/>
                </a:solidFill>
                <a:latin typeface="微软雅黑" panose="020B0503020204020204" pitchFamily="34" charset="-122"/>
                <a:ea typeface="微软雅黑" panose="020B0503020204020204" pitchFamily="34" charset="-122"/>
                <a:sym typeface="+mn-ea"/>
              </a:rPr>
              <a:t>。</a:t>
            </a:r>
            <a:r>
              <a:rPr lang="zh-CN" sz="2000" dirty="0">
                <a:solidFill>
                  <a:srgbClr val="0070C0"/>
                </a:solidFill>
                <a:latin typeface="微软雅黑" panose="020B0503020204020204" pitchFamily="34" charset="-122"/>
                <a:ea typeface="微软雅黑" panose="020B0503020204020204" pitchFamily="34" charset="-122"/>
                <a:sym typeface="+mn-ea"/>
              </a:rPr>
              <a:t>发布</a:t>
            </a:r>
            <a:r>
              <a:rPr lang="zh-CN" altLang="en-US" sz="2000" dirty="0">
                <a:solidFill>
                  <a:srgbClr val="0070C0"/>
                </a:solidFill>
                <a:latin typeface="微软雅黑" panose="020B0503020204020204" pitchFamily="34" charset="-122"/>
                <a:ea typeface="微软雅黑" panose="020B0503020204020204" pitchFamily="34" charset="-122"/>
                <a:sym typeface="+mn-ea"/>
              </a:rPr>
              <a:t>的</a:t>
            </a:r>
            <a:r>
              <a:rPr lang="zh-CN" sz="2000" dirty="0">
                <a:solidFill>
                  <a:srgbClr val="0070C0"/>
                </a:solidFill>
                <a:latin typeface="微软雅黑" panose="020B0503020204020204" pitchFamily="34" charset="-122"/>
                <a:ea typeface="微软雅黑" panose="020B0503020204020204" pitchFamily="34" charset="-122"/>
                <a:sym typeface="+mn-ea"/>
              </a:rPr>
              <a:t>朋友圈</a:t>
            </a:r>
            <a:r>
              <a:rPr lang="zh-CN" sz="2000" dirty="0">
                <a:solidFill>
                  <a:srgbClr val="595959"/>
                </a:solidFill>
                <a:latin typeface="微软雅黑" panose="020B0503020204020204" pitchFamily="34" charset="-122"/>
                <a:ea typeface="微软雅黑" panose="020B0503020204020204" pitchFamily="34" charset="-122"/>
                <a:sym typeface="+mn-ea"/>
              </a:rPr>
              <a:t>内容主要有</a:t>
            </a:r>
            <a:r>
              <a:rPr lang="zh-CN" sz="2000" dirty="0">
                <a:solidFill>
                  <a:srgbClr val="0070C0"/>
                </a:solidFill>
                <a:latin typeface="微软雅黑" panose="020B0503020204020204" pitchFamily="34" charset="-122"/>
                <a:ea typeface="微软雅黑" panose="020B0503020204020204" pitchFamily="34" charset="-122"/>
                <a:sym typeface="+mn-ea"/>
              </a:rPr>
              <a:t>5种形式</a:t>
            </a:r>
            <a:r>
              <a:rPr lang="zh-CN" sz="2000" dirty="0">
                <a:solidFill>
                  <a:srgbClr val="595959"/>
                </a:solidFill>
                <a:latin typeface="微软雅黑" panose="020B0503020204020204" pitchFamily="34" charset="-122"/>
                <a:ea typeface="微软雅黑" panose="020B0503020204020204" pitchFamily="34" charset="-122"/>
                <a:sym typeface="+mn-ea"/>
              </a:rPr>
              <a:t>，分别是</a:t>
            </a:r>
            <a:r>
              <a:rPr lang="zh-CN" sz="2000" dirty="0">
                <a:solidFill>
                  <a:srgbClr val="0070C0"/>
                </a:solidFill>
                <a:latin typeface="微软雅黑" panose="020B0503020204020204" pitchFamily="34" charset="-122"/>
                <a:ea typeface="微软雅黑" panose="020B0503020204020204" pitchFamily="34" charset="-122"/>
                <a:sym typeface="+mn-ea"/>
              </a:rPr>
              <a:t>文字、照片、视频、文字+</a:t>
            </a:r>
            <a:r>
              <a:rPr lang="zh-CN" altLang="zh-CN" sz="2000" dirty="0">
                <a:solidFill>
                  <a:srgbClr val="0070C0"/>
                </a:solidFill>
                <a:latin typeface="微软雅黑" panose="020B0503020204020204" pitchFamily="34" charset="-122"/>
                <a:ea typeface="微软雅黑" panose="020B0503020204020204" pitchFamily="34" charset="-122"/>
                <a:sym typeface="+mn-ea"/>
              </a:rPr>
              <a:t>照片</a:t>
            </a:r>
            <a:r>
              <a:rPr lang="zh-CN" sz="2000" dirty="0">
                <a:solidFill>
                  <a:srgbClr val="0070C0"/>
                </a:solidFill>
                <a:latin typeface="微软雅黑" panose="020B0503020204020204" pitchFamily="34" charset="-122"/>
                <a:ea typeface="微软雅黑" panose="020B0503020204020204" pitchFamily="34" charset="-122"/>
                <a:sym typeface="+mn-ea"/>
              </a:rPr>
              <a:t>、文字+视频</a:t>
            </a:r>
            <a:r>
              <a:rPr lang="zh-CN" sz="2000" dirty="0">
                <a:solidFill>
                  <a:srgbClr val="595959"/>
                </a:solidFill>
                <a:latin typeface="微软雅黑" panose="020B0503020204020204" pitchFamily="34" charset="-122"/>
                <a:ea typeface="微软雅黑" panose="020B0503020204020204" pitchFamily="34" charset="-122"/>
                <a:sym typeface="+mn-ea"/>
              </a:rPr>
              <a:t>，假设关于这5种形式的朋友圈内容</a:t>
            </a:r>
            <a:r>
              <a:rPr lang="zh-CN" altLang="en-US" sz="2000" dirty="0">
                <a:solidFill>
                  <a:srgbClr val="595959"/>
                </a:solidFill>
                <a:latin typeface="微软雅黑" panose="020B0503020204020204" pitchFamily="34" charset="-122"/>
                <a:ea typeface="微软雅黑" panose="020B0503020204020204" pitchFamily="34" charset="-122"/>
                <a:sym typeface="+mn-ea"/>
              </a:rPr>
              <a:t>的</a:t>
            </a:r>
            <a:r>
              <a:rPr lang="zh-CN" sz="2000" dirty="0">
                <a:solidFill>
                  <a:srgbClr val="595959"/>
                </a:solidFill>
                <a:latin typeface="微软雅黑" panose="020B0503020204020204" pitchFamily="34" charset="-122"/>
                <a:ea typeface="微软雅黑" panose="020B0503020204020204" pitchFamily="34" charset="-122"/>
                <a:sym typeface="+mn-ea"/>
              </a:rPr>
              <a:t>具体要求如下。</a:t>
            </a:r>
          </a:p>
          <a:p>
            <a:pPr marL="342900" indent="-342900" algn="just">
              <a:lnSpc>
                <a:spcPct val="150000"/>
              </a:lnSpc>
              <a:buClrTx/>
              <a:buSzTx/>
              <a:buFont typeface="Wingdings" panose="05000000000000000000" charset="0"/>
              <a:buChar char="l"/>
            </a:pPr>
            <a:r>
              <a:rPr lang="zh-CN" sz="2000" dirty="0">
                <a:solidFill>
                  <a:srgbClr val="595959"/>
                </a:solidFill>
                <a:latin typeface="微软雅黑" panose="020B0503020204020204" pitchFamily="34" charset="-122"/>
                <a:ea typeface="微软雅黑" panose="020B0503020204020204" pitchFamily="34" charset="-122"/>
                <a:sym typeface="+mn-ea"/>
              </a:rPr>
              <a:t>文字：1~1500字。</a:t>
            </a:r>
          </a:p>
          <a:p>
            <a:pPr marL="342900" indent="-342900" algn="just">
              <a:lnSpc>
                <a:spcPct val="150000"/>
              </a:lnSpc>
              <a:buClrTx/>
              <a:buSzTx/>
              <a:buFont typeface="Wingdings" panose="05000000000000000000" charset="0"/>
              <a:buChar char="l"/>
            </a:pPr>
            <a:r>
              <a:rPr lang="zh-CN" sz="2000" dirty="0">
                <a:solidFill>
                  <a:srgbClr val="595959"/>
                </a:solidFill>
                <a:latin typeface="微软雅黑" panose="020B0503020204020204" pitchFamily="34" charset="-122"/>
                <a:ea typeface="微软雅黑" panose="020B0503020204020204" pitchFamily="34" charset="-122"/>
                <a:sym typeface="+mn-ea"/>
              </a:rPr>
              <a:t>照片：1~9张。</a:t>
            </a:r>
          </a:p>
          <a:p>
            <a:pPr marL="342900" indent="-342900" algn="just">
              <a:lnSpc>
                <a:spcPct val="150000"/>
              </a:lnSpc>
              <a:buClrTx/>
              <a:buSzTx/>
              <a:buFont typeface="Wingdings" panose="05000000000000000000" charset="0"/>
              <a:buChar char="l"/>
            </a:pPr>
            <a:r>
              <a:rPr lang="zh-CN" sz="2000" dirty="0">
                <a:solidFill>
                  <a:srgbClr val="595959"/>
                </a:solidFill>
                <a:latin typeface="微软雅黑" panose="020B0503020204020204" pitchFamily="34" charset="-122"/>
                <a:ea typeface="微软雅黑" panose="020B0503020204020204" pitchFamily="34" charset="-122"/>
                <a:sym typeface="+mn-ea"/>
              </a:rPr>
              <a:t>视频：1~15秒。</a:t>
            </a: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2" name="Title 1"/>
          <p:cNvSpPr txBox="1"/>
          <p:nvPr/>
        </p:nvSpPr>
        <p:spPr>
          <a:xfrm>
            <a:off x="1143635" y="266700"/>
            <a:ext cx="59359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实例：微信朋友圈功能的测试流程</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1143635" y="909955"/>
            <a:ext cx="10046970" cy="1076960"/>
          </a:xfrm>
          <a:prstGeom prst="rect">
            <a:avLst/>
          </a:prstGeom>
          <a:noFill/>
        </p:spPr>
        <p:txBody>
          <a:bodyPr wrap="square" rtlCol="0" anchor="t">
            <a:noAutofit/>
          </a:bodyPr>
          <a:lstStyle/>
          <a:p>
            <a:pPr algn="just">
              <a:lnSpc>
                <a:spcPct val="150000"/>
              </a:lnSpc>
              <a:buClrTx/>
              <a:buSzTx/>
              <a:buFontTx/>
            </a:pPr>
            <a:r>
              <a:rPr lang="zh-CN" sz="2000" dirty="0">
                <a:solidFill>
                  <a:srgbClr val="595959"/>
                </a:solidFill>
                <a:latin typeface="微软雅黑" panose="020B0503020204020204" pitchFamily="34" charset="-122"/>
                <a:ea typeface="微软雅黑" panose="020B0503020204020204" pitchFamily="34" charset="-122"/>
                <a:sym typeface="+mn-ea"/>
              </a:rPr>
              <a:t>(2)制订测试计划</a:t>
            </a:r>
            <a:endParaRPr lang="zh-CN" altLang="en-US" sz="2000" dirty="0">
              <a:solidFill>
                <a:srgbClr val="595959"/>
              </a:solidFill>
              <a:latin typeface="微软雅黑" panose="020B0503020204020204" pitchFamily="34" charset="-122"/>
              <a:ea typeface="微软雅黑" panose="020B0503020204020204" pitchFamily="34" charset="-122"/>
              <a:sym typeface="+mn-ea"/>
            </a:endParaRP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发布朋友圈功能的</a:t>
            </a:r>
            <a:r>
              <a:rPr lang="zh-CN" altLang="en-US" sz="2000" dirty="0">
                <a:solidFill>
                  <a:srgbClr val="0070C0"/>
                </a:solidFill>
                <a:latin typeface="微软雅黑" panose="020B0503020204020204" pitchFamily="34" charset="-122"/>
                <a:ea typeface="微软雅黑" panose="020B0503020204020204" pitchFamily="34" charset="-122"/>
                <a:sym typeface="+mn-ea"/>
              </a:rPr>
              <a:t>测试计划</a:t>
            </a:r>
            <a:r>
              <a:rPr lang="zh-CN" altLang="en-US" sz="2000" dirty="0">
                <a:solidFill>
                  <a:srgbClr val="595959"/>
                </a:solidFill>
                <a:latin typeface="微软雅黑" panose="020B0503020204020204" pitchFamily="34" charset="-122"/>
                <a:ea typeface="微软雅黑" panose="020B0503020204020204" pitchFamily="34" charset="-122"/>
                <a:sym typeface="+mn-ea"/>
              </a:rPr>
              <a:t>如下表所示。		</a:t>
            </a:r>
          </a:p>
        </p:txBody>
      </p:sp>
      <p:sp>
        <p:nvSpPr>
          <p:cNvPr id="2" name="Title 1"/>
          <p:cNvSpPr txBox="1"/>
          <p:nvPr/>
        </p:nvSpPr>
        <p:spPr>
          <a:xfrm>
            <a:off x="1143635" y="266700"/>
            <a:ext cx="59359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实例：微信朋友圈功能的测试流程</a:t>
            </a:r>
          </a:p>
        </p:txBody>
      </p:sp>
      <p:graphicFrame>
        <p:nvGraphicFramePr>
          <p:cNvPr id="7" name="表格 6"/>
          <p:cNvGraphicFramePr/>
          <p:nvPr>
            <p:custDataLst>
              <p:tags r:id="rId1"/>
            </p:custDataLst>
            <p:extLst>
              <p:ext uri="{D42A27DB-BD31-4B8C-83A1-F6EECF244321}">
                <p14:modId xmlns:p14="http://schemas.microsoft.com/office/powerpoint/2010/main" val="612275454"/>
              </p:ext>
            </p:extLst>
          </p:nvPr>
        </p:nvGraphicFramePr>
        <p:xfrm>
          <a:off x="2999105" y="2205355"/>
          <a:ext cx="5186045" cy="3281045"/>
        </p:xfrm>
        <a:graphic>
          <a:graphicData uri="http://schemas.openxmlformats.org/drawingml/2006/table">
            <a:tbl>
              <a:tblPr firstRow="1" bandRow="1">
                <a:tableStyleId>{5C22544A-7EE6-4342-B048-85BDC9FD1C3A}</a:tableStyleId>
              </a:tblPr>
              <a:tblGrid>
                <a:gridCol w="1510030">
                  <a:extLst>
                    <a:ext uri="{9D8B030D-6E8A-4147-A177-3AD203B41FA5}">
                      <a16:colId xmlns:a16="http://schemas.microsoft.com/office/drawing/2014/main" val="20000"/>
                    </a:ext>
                  </a:extLst>
                </a:gridCol>
                <a:gridCol w="3676015">
                  <a:extLst>
                    <a:ext uri="{9D8B030D-6E8A-4147-A177-3AD203B41FA5}">
                      <a16:colId xmlns:a16="http://schemas.microsoft.com/office/drawing/2014/main" val="20001"/>
                    </a:ext>
                  </a:extLst>
                </a:gridCol>
              </a:tblGrid>
              <a:tr h="472440">
                <a:tc>
                  <a:txBody>
                    <a:bodyPr/>
                    <a:lstStyle/>
                    <a:p>
                      <a:pPr algn="ctr">
                        <a:buNone/>
                      </a:pPr>
                      <a:r>
                        <a:rPr lang="zh-CN" altLang="en-US" sz="1600">
                          <a:latin typeface="微软雅黑" panose="020B0503020204020204" pitchFamily="34" charset="-122"/>
                          <a:ea typeface="微软雅黑" panose="020B0503020204020204" pitchFamily="34" charset="-122"/>
                        </a:rPr>
                        <a:t>软件版本</a:t>
                      </a:r>
                    </a:p>
                  </a:txBody>
                  <a:tcPr anchor="ctr"/>
                </a:tc>
                <a:tc>
                  <a:txBody>
                    <a:bodyPr/>
                    <a:lstStyle/>
                    <a:p>
                      <a:pPr algn="l">
                        <a:buNone/>
                      </a:pPr>
                      <a:r>
                        <a:rPr lang="zh-CN" altLang="en-US" sz="1600" b="0" dirty="0">
                          <a:solidFill>
                            <a:srgbClr val="595959"/>
                          </a:solidFill>
                          <a:latin typeface="微软雅黑" panose="020B0503020204020204" pitchFamily="34" charset="-122"/>
                          <a:ea typeface="微软雅黑" panose="020B0503020204020204" pitchFamily="34" charset="-122"/>
                        </a:rPr>
                        <a:t>微信</a:t>
                      </a:r>
                      <a:r>
                        <a:rPr lang="en-US" altLang="zh-CN" sz="1600" b="0" dirty="0">
                          <a:solidFill>
                            <a:srgbClr val="595959"/>
                          </a:solidFill>
                          <a:latin typeface="微软雅黑" panose="020B0503020204020204" pitchFamily="34" charset="-122"/>
                          <a:ea typeface="微软雅黑" panose="020B0503020204020204" pitchFamily="34" charset="-122"/>
                        </a:rPr>
                        <a:t>8.0.62</a:t>
                      </a:r>
                      <a:r>
                        <a:rPr lang="zh-CN" altLang="en-US" sz="1600" b="0" dirty="0">
                          <a:solidFill>
                            <a:srgbClr val="595959"/>
                          </a:solidFill>
                          <a:latin typeface="微软雅黑" panose="020B0503020204020204" pitchFamily="34" charset="-122"/>
                          <a:ea typeface="微软雅黑" panose="020B0503020204020204" pitchFamily="34" charset="-122"/>
                        </a:rPr>
                        <a:t>版本</a:t>
                      </a:r>
                    </a:p>
                  </a:txBody>
                  <a:tcPr anchor="ctr">
                    <a:solidFill>
                      <a:schemeClr val="accent2">
                        <a:lumMod val="20000"/>
                        <a:lumOff val="80000"/>
                      </a:schemeClr>
                    </a:solidFill>
                  </a:tcPr>
                </a:tc>
                <a:extLst>
                  <a:ext uri="{0D108BD9-81ED-4DB2-BD59-A6C34878D82A}">
                    <a16:rowId xmlns:a16="http://schemas.microsoft.com/office/drawing/2014/main" val="10000"/>
                  </a:ext>
                </a:extLst>
              </a:tr>
              <a:tr h="468630">
                <a:tc>
                  <a:txBody>
                    <a:bodyPr/>
                    <a:lstStyle/>
                    <a:p>
                      <a:pPr algn="ctr">
                        <a:buClrTx/>
                        <a:buSzTx/>
                        <a:buFontTx/>
                        <a:buNone/>
                      </a:pPr>
                      <a:r>
                        <a:rPr lang="zh-CN" altLang="en-US" sz="1600" b="1">
                          <a:solidFill>
                            <a:schemeClr val="lt1"/>
                          </a:solidFill>
                          <a:latin typeface="微软雅黑" panose="020B0503020204020204" pitchFamily="34" charset="-122"/>
                          <a:ea typeface="微软雅黑" panose="020B0503020204020204" pitchFamily="34" charset="-122"/>
                        </a:rPr>
                        <a:t>模块</a:t>
                      </a:r>
                    </a:p>
                  </a:txBody>
                  <a:tcPr anchor="ctr">
                    <a:solidFill>
                      <a:schemeClr val="accent1"/>
                    </a:solidFill>
                  </a:tcPr>
                </a:tc>
                <a:tc>
                  <a:txBody>
                    <a:bodyPr/>
                    <a:lstStyle/>
                    <a:p>
                      <a:pPr algn="l">
                        <a:buClrTx/>
                        <a:buSzTx/>
                        <a:buFontTx/>
                        <a:buNone/>
                      </a:pPr>
                      <a:r>
                        <a:rPr lang="zh-CN" altLang="en-US" sz="1600" dirty="0">
                          <a:solidFill>
                            <a:srgbClr val="595959"/>
                          </a:solidFill>
                          <a:latin typeface="微软雅黑" panose="020B0503020204020204" pitchFamily="34" charset="-122"/>
                          <a:ea typeface="微软雅黑" panose="020B0503020204020204" pitchFamily="34" charset="-122"/>
                        </a:rPr>
                        <a:t>发布朋友圈</a:t>
                      </a:r>
                    </a:p>
                  </a:txBody>
                  <a:tcPr anchor="ctr"/>
                </a:tc>
                <a:extLst>
                  <a:ext uri="{0D108BD9-81ED-4DB2-BD59-A6C34878D82A}">
                    <a16:rowId xmlns:a16="http://schemas.microsoft.com/office/drawing/2014/main" val="10001"/>
                  </a:ext>
                </a:extLst>
              </a:tr>
              <a:tr h="467995">
                <a:tc>
                  <a:txBody>
                    <a:bodyPr/>
                    <a:lstStyle/>
                    <a:p>
                      <a:pPr algn="ctr">
                        <a:buNone/>
                      </a:pPr>
                      <a:r>
                        <a:rPr lang="zh-CN" altLang="en-US" sz="1600" b="1">
                          <a:solidFill>
                            <a:schemeClr val="lt1"/>
                          </a:solidFill>
                          <a:latin typeface="微软雅黑" panose="020B0503020204020204" pitchFamily="34" charset="-122"/>
                          <a:ea typeface="微软雅黑" panose="020B0503020204020204" pitchFamily="34" charset="-122"/>
                        </a:rPr>
                        <a:t>负责人</a:t>
                      </a:r>
                    </a:p>
                  </a:txBody>
                  <a:tcPr anchor="ctr">
                    <a:solidFill>
                      <a:schemeClr val="accent1"/>
                    </a:solidFill>
                  </a:tcPr>
                </a:tc>
                <a:tc>
                  <a:txBody>
                    <a:bodyPr/>
                    <a:lstStyle/>
                    <a:p>
                      <a:pPr algn="l">
                        <a:buClrTx/>
                        <a:buSzTx/>
                        <a:buFontTx/>
                        <a:buNone/>
                      </a:pPr>
                      <a:r>
                        <a:rPr lang="zh-CN" altLang="en-US" sz="1600" dirty="0">
                          <a:solidFill>
                            <a:srgbClr val="595959"/>
                          </a:solidFill>
                          <a:latin typeface="微软雅黑" panose="020B0503020204020204" pitchFamily="34" charset="-122"/>
                          <a:ea typeface="微软雅黑" panose="020B0503020204020204" pitchFamily="34" charset="-122"/>
                        </a:rPr>
                        <a:t>测试组长</a:t>
                      </a:r>
                    </a:p>
                  </a:txBody>
                  <a:tcPr anchor="ctr"/>
                </a:tc>
                <a:extLst>
                  <a:ext uri="{0D108BD9-81ED-4DB2-BD59-A6C34878D82A}">
                    <a16:rowId xmlns:a16="http://schemas.microsoft.com/office/drawing/2014/main" val="10002"/>
                  </a:ext>
                </a:extLst>
              </a:tr>
              <a:tr h="467995">
                <a:tc>
                  <a:txBody>
                    <a:bodyPr/>
                    <a:lstStyle/>
                    <a:p>
                      <a:pPr algn="ctr">
                        <a:buNone/>
                      </a:pPr>
                      <a:r>
                        <a:rPr lang="zh-CN" altLang="en-US" sz="1600" b="1">
                          <a:solidFill>
                            <a:schemeClr val="lt1"/>
                          </a:solidFill>
                          <a:latin typeface="微软雅黑" panose="020B0503020204020204" pitchFamily="34" charset="-122"/>
                          <a:ea typeface="微软雅黑" panose="020B0503020204020204" pitchFamily="34" charset="-122"/>
                        </a:rPr>
                        <a:t>测试人员</a:t>
                      </a:r>
                    </a:p>
                  </a:txBody>
                  <a:tcPr anchor="ctr">
                    <a:solidFill>
                      <a:schemeClr val="accent1"/>
                    </a:solidFill>
                  </a:tcPr>
                </a:tc>
                <a:tc>
                  <a:txBody>
                    <a:bodyPr/>
                    <a:lstStyle/>
                    <a:p>
                      <a:pPr algn="l">
                        <a:buClrTx/>
                        <a:buSzTx/>
                        <a:buFontTx/>
                        <a:buNone/>
                      </a:pPr>
                      <a:r>
                        <a:rPr lang="zh-CN" altLang="en-US" sz="1600" dirty="0">
                          <a:solidFill>
                            <a:srgbClr val="595959"/>
                          </a:solidFill>
                          <a:latin typeface="微软雅黑" panose="020B0503020204020204" pitchFamily="34" charset="-122"/>
                          <a:ea typeface="微软雅黑" panose="020B0503020204020204" pitchFamily="34" charset="-122"/>
                        </a:rPr>
                        <a:t>测试员1、测试员2</a:t>
                      </a:r>
                    </a:p>
                  </a:txBody>
                  <a:tcPr anchor="ctr"/>
                </a:tc>
                <a:extLst>
                  <a:ext uri="{0D108BD9-81ED-4DB2-BD59-A6C34878D82A}">
                    <a16:rowId xmlns:a16="http://schemas.microsoft.com/office/drawing/2014/main" val="10003"/>
                  </a:ext>
                </a:extLst>
              </a:tr>
              <a:tr h="467360">
                <a:tc>
                  <a:txBody>
                    <a:bodyPr/>
                    <a:lstStyle/>
                    <a:p>
                      <a:pPr algn="ctr">
                        <a:buNone/>
                      </a:pPr>
                      <a:r>
                        <a:rPr lang="zh-CN" altLang="en-US" sz="1600" b="1">
                          <a:solidFill>
                            <a:schemeClr val="lt1"/>
                          </a:solidFill>
                          <a:latin typeface="微软雅黑" panose="020B0503020204020204" pitchFamily="34" charset="-122"/>
                          <a:ea typeface="微软雅黑" panose="020B0503020204020204" pitchFamily="34" charset="-122"/>
                        </a:rPr>
                        <a:t>测试时间</a:t>
                      </a:r>
                    </a:p>
                  </a:txBody>
                  <a:tcPr anchor="ctr">
                    <a:solidFill>
                      <a:schemeClr val="accent1"/>
                    </a:solidFill>
                  </a:tcPr>
                </a:tc>
                <a:tc>
                  <a:txBody>
                    <a:bodyPr/>
                    <a:lstStyle/>
                    <a:p>
                      <a:pPr algn="l">
                        <a:buClrTx/>
                        <a:buSzTx/>
                        <a:buFontTx/>
                        <a:buNone/>
                      </a:pPr>
                      <a:r>
                        <a:rPr lang="zh-CN" altLang="en-US" sz="1600" dirty="0">
                          <a:solidFill>
                            <a:srgbClr val="595959"/>
                          </a:solidFill>
                          <a:latin typeface="微软雅黑" panose="020B0503020204020204" pitchFamily="34" charset="-122"/>
                          <a:ea typeface="微软雅黑" panose="020B0503020204020204" pitchFamily="34" charset="-122"/>
                        </a:rPr>
                        <a:t>202</a:t>
                      </a:r>
                      <a:r>
                        <a:rPr lang="en-US" altLang="zh-CN" sz="1600" dirty="0">
                          <a:solidFill>
                            <a:srgbClr val="595959"/>
                          </a:solidFill>
                          <a:latin typeface="微软雅黑" panose="020B0503020204020204" pitchFamily="34" charset="-122"/>
                          <a:ea typeface="微软雅黑" panose="020B0503020204020204" pitchFamily="34" charset="-122"/>
                        </a:rPr>
                        <a:t>5</a:t>
                      </a:r>
                      <a:r>
                        <a:rPr lang="zh-CN" altLang="en-US" sz="1600" dirty="0">
                          <a:solidFill>
                            <a:srgbClr val="595959"/>
                          </a:solidFill>
                          <a:latin typeface="微软雅黑" panose="020B0503020204020204" pitchFamily="34" charset="-122"/>
                          <a:ea typeface="微软雅黑" panose="020B0503020204020204" pitchFamily="34" charset="-122"/>
                        </a:rPr>
                        <a:t>.</a:t>
                      </a:r>
                      <a:r>
                        <a:rPr lang="en-US" altLang="zh-CN" sz="1600" dirty="0">
                          <a:solidFill>
                            <a:srgbClr val="595959"/>
                          </a:solidFill>
                          <a:latin typeface="微软雅黑" panose="020B0503020204020204" pitchFamily="34" charset="-122"/>
                          <a:ea typeface="微软雅黑" panose="020B0503020204020204" pitchFamily="34" charset="-122"/>
                        </a:rPr>
                        <a:t>09</a:t>
                      </a:r>
                      <a:r>
                        <a:rPr lang="zh-CN" altLang="en-US" sz="1600" dirty="0">
                          <a:solidFill>
                            <a:srgbClr val="595959"/>
                          </a:solidFill>
                          <a:latin typeface="微软雅黑" panose="020B0503020204020204" pitchFamily="34" charset="-122"/>
                          <a:ea typeface="微软雅黑" panose="020B0503020204020204" pitchFamily="34" charset="-122"/>
                        </a:rPr>
                        <a:t>.</a:t>
                      </a:r>
                      <a:r>
                        <a:rPr lang="en-US" altLang="zh-CN" sz="1600" dirty="0">
                          <a:solidFill>
                            <a:srgbClr val="595959"/>
                          </a:solidFill>
                          <a:latin typeface="微软雅黑" panose="020B0503020204020204" pitchFamily="34" charset="-122"/>
                          <a:ea typeface="微软雅黑" panose="020B0503020204020204" pitchFamily="34" charset="-122"/>
                        </a:rPr>
                        <a:t>0</a:t>
                      </a:r>
                      <a:r>
                        <a:rPr lang="zh-CN" altLang="en-US" sz="1600" dirty="0">
                          <a:solidFill>
                            <a:srgbClr val="595959"/>
                          </a:solidFill>
                          <a:latin typeface="微软雅黑" panose="020B0503020204020204" pitchFamily="34" charset="-122"/>
                          <a:ea typeface="微软雅黑" panose="020B0503020204020204" pitchFamily="34" charset="-122"/>
                        </a:rPr>
                        <a:t>1~202</a:t>
                      </a:r>
                      <a:r>
                        <a:rPr lang="en-US" altLang="zh-CN" sz="1600" dirty="0">
                          <a:solidFill>
                            <a:srgbClr val="595959"/>
                          </a:solidFill>
                          <a:latin typeface="微软雅黑" panose="020B0503020204020204" pitchFamily="34" charset="-122"/>
                          <a:ea typeface="微软雅黑" panose="020B0503020204020204" pitchFamily="34" charset="-122"/>
                        </a:rPr>
                        <a:t>5</a:t>
                      </a:r>
                      <a:r>
                        <a:rPr lang="zh-CN" altLang="en-US" sz="1600" dirty="0">
                          <a:solidFill>
                            <a:srgbClr val="595959"/>
                          </a:solidFill>
                          <a:latin typeface="微软雅黑" panose="020B0503020204020204" pitchFamily="34" charset="-122"/>
                          <a:ea typeface="微软雅黑" panose="020B0503020204020204" pitchFamily="34" charset="-122"/>
                        </a:rPr>
                        <a:t>.</a:t>
                      </a:r>
                      <a:r>
                        <a:rPr lang="en-US" altLang="zh-CN" sz="1600" dirty="0">
                          <a:solidFill>
                            <a:srgbClr val="595959"/>
                          </a:solidFill>
                          <a:latin typeface="微软雅黑" panose="020B0503020204020204" pitchFamily="34" charset="-122"/>
                          <a:ea typeface="微软雅黑" panose="020B0503020204020204" pitchFamily="34" charset="-122"/>
                        </a:rPr>
                        <a:t>09</a:t>
                      </a:r>
                      <a:r>
                        <a:rPr lang="zh-CN" altLang="en-US" sz="1600" dirty="0">
                          <a:solidFill>
                            <a:srgbClr val="595959"/>
                          </a:solidFill>
                          <a:latin typeface="微软雅黑" panose="020B0503020204020204" pitchFamily="34" charset="-122"/>
                          <a:ea typeface="微软雅黑" panose="020B0503020204020204" pitchFamily="34" charset="-122"/>
                        </a:rPr>
                        <a:t>.</a:t>
                      </a:r>
                      <a:r>
                        <a:rPr lang="en-US" altLang="zh-CN" sz="1600" dirty="0">
                          <a:solidFill>
                            <a:srgbClr val="595959"/>
                          </a:solidFill>
                          <a:latin typeface="微软雅黑" panose="020B0503020204020204" pitchFamily="34" charset="-122"/>
                          <a:ea typeface="微软雅黑" panose="020B0503020204020204" pitchFamily="34" charset="-122"/>
                        </a:rPr>
                        <a:t>0</a:t>
                      </a:r>
                      <a:r>
                        <a:rPr lang="zh-CN" altLang="en-US" sz="1600" dirty="0">
                          <a:solidFill>
                            <a:srgbClr val="595959"/>
                          </a:solidFill>
                          <a:latin typeface="微软雅黑" panose="020B0503020204020204" pitchFamily="34" charset="-122"/>
                          <a:ea typeface="微软雅黑" panose="020B0503020204020204" pitchFamily="34" charset="-122"/>
                        </a:rPr>
                        <a:t>3</a:t>
                      </a:r>
                    </a:p>
                  </a:txBody>
                  <a:tcPr anchor="ctr"/>
                </a:tc>
                <a:extLst>
                  <a:ext uri="{0D108BD9-81ED-4DB2-BD59-A6C34878D82A}">
                    <a16:rowId xmlns:a16="http://schemas.microsoft.com/office/drawing/2014/main" val="10004"/>
                  </a:ext>
                </a:extLst>
              </a:tr>
              <a:tr h="469265">
                <a:tc>
                  <a:txBody>
                    <a:bodyPr/>
                    <a:lstStyle/>
                    <a:p>
                      <a:pPr algn="ctr">
                        <a:buNone/>
                      </a:pPr>
                      <a:r>
                        <a:rPr lang="zh-CN" altLang="en-US" sz="1600" b="1">
                          <a:solidFill>
                            <a:schemeClr val="lt1"/>
                          </a:solidFill>
                          <a:latin typeface="微软雅黑" panose="020B0503020204020204" pitchFamily="34" charset="-122"/>
                          <a:ea typeface="微软雅黑" panose="020B0503020204020204" pitchFamily="34" charset="-122"/>
                        </a:rPr>
                        <a:t>测试用例</a:t>
                      </a:r>
                    </a:p>
                  </a:txBody>
                  <a:tcPr anchor="ctr">
                    <a:solidFill>
                      <a:schemeClr val="accent1"/>
                    </a:solidFill>
                  </a:tcPr>
                </a:tc>
                <a:tc>
                  <a:txBody>
                    <a:bodyPr/>
                    <a:lstStyle/>
                    <a:p>
                      <a:pPr algn="l">
                        <a:buClrTx/>
                        <a:buSzTx/>
                        <a:buFontTx/>
                        <a:buNone/>
                      </a:pPr>
                      <a:r>
                        <a:rPr lang="zh-CN" altLang="en-US" sz="1600" dirty="0">
                          <a:solidFill>
                            <a:srgbClr val="595959"/>
                          </a:solidFill>
                          <a:latin typeface="微软雅黑" panose="020B0503020204020204" pitchFamily="34" charset="-122"/>
                          <a:ea typeface="微软雅黑" panose="020B0503020204020204" pitchFamily="34" charset="-122"/>
                        </a:rPr>
                        <a:t>001~008</a:t>
                      </a:r>
                    </a:p>
                  </a:txBody>
                  <a:tcPr anchor="ctr"/>
                </a:tc>
                <a:extLst>
                  <a:ext uri="{0D108BD9-81ED-4DB2-BD59-A6C34878D82A}">
                    <a16:rowId xmlns:a16="http://schemas.microsoft.com/office/drawing/2014/main" val="10005"/>
                  </a:ext>
                </a:extLst>
              </a:tr>
              <a:tr h="467360">
                <a:tc>
                  <a:txBody>
                    <a:bodyPr/>
                    <a:lstStyle/>
                    <a:p>
                      <a:pPr algn="ctr">
                        <a:buClrTx/>
                        <a:buSzTx/>
                        <a:buFontTx/>
                        <a:buNone/>
                      </a:pPr>
                      <a:r>
                        <a:rPr lang="zh-CN" altLang="en-US" sz="1600" b="1">
                          <a:solidFill>
                            <a:schemeClr val="lt1"/>
                          </a:solidFill>
                          <a:latin typeface="微软雅黑" panose="020B0503020204020204" pitchFamily="34" charset="-122"/>
                          <a:ea typeface="微软雅黑" panose="020B0503020204020204" pitchFamily="34" charset="-122"/>
                        </a:rPr>
                        <a:t>回归测试</a:t>
                      </a:r>
                    </a:p>
                  </a:txBody>
                  <a:tcPr anchor="ctr">
                    <a:solidFill>
                      <a:schemeClr val="accent1"/>
                    </a:solidFill>
                  </a:tcPr>
                </a:tc>
                <a:tc>
                  <a:txBody>
                    <a:bodyPr/>
                    <a:lstStyle/>
                    <a:p>
                      <a:pPr algn="l">
                        <a:buClrTx/>
                        <a:buSzTx/>
                        <a:buFontTx/>
                        <a:buNone/>
                      </a:pPr>
                      <a:r>
                        <a:rPr lang="zh-CN" altLang="en-US" sz="1600" dirty="0">
                          <a:solidFill>
                            <a:srgbClr val="595959"/>
                          </a:solidFill>
                          <a:latin typeface="微软雅黑" panose="020B0503020204020204" pitchFamily="34" charset="-122"/>
                          <a:ea typeface="微软雅黑" panose="020B0503020204020204" pitchFamily="34" charset="-122"/>
                        </a:rPr>
                        <a:t>202</a:t>
                      </a:r>
                      <a:r>
                        <a:rPr lang="en-US" altLang="zh-CN" sz="1600" dirty="0">
                          <a:solidFill>
                            <a:srgbClr val="595959"/>
                          </a:solidFill>
                          <a:latin typeface="微软雅黑" panose="020B0503020204020204" pitchFamily="34" charset="-122"/>
                          <a:ea typeface="微软雅黑" panose="020B0503020204020204" pitchFamily="34" charset="-122"/>
                        </a:rPr>
                        <a:t>5</a:t>
                      </a:r>
                      <a:r>
                        <a:rPr lang="zh-CN" altLang="en-US" sz="1600" dirty="0">
                          <a:solidFill>
                            <a:srgbClr val="595959"/>
                          </a:solidFill>
                          <a:latin typeface="微软雅黑" panose="020B0503020204020204" pitchFamily="34" charset="-122"/>
                          <a:ea typeface="微软雅黑" panose="020B0503020204020204" pitchFamily="34" charset="-122"/>
                        </a:rPr>
                        <a:t>.</a:t>
                      </a:r>
                      <a:r>
                        <a:rPr lang="en-US" altLang="zh-CN" sz="1600" dirty="0">
                          <a:solidFill>
                            <a:srgbClr val="595959"/>
                          </a:solidFill>
                          <a:latin typeface="微软雅黑" panose="020B0503020204020204" pitchFamily="34" charset="-122"/>
                          <a:ea typeface="微软雅黑" panose="020B0503020204020204" pitchFamily="34" charset="-122"/>
                        </a:rPr>
                        <a:t>09</a:t>
                      </a:r>
                      <a:r>
                        <a:rPr lang="zh-CN" altLang="en-US" sz="1600" dirty="0">
                          <a:solidFill>
                            <a:srgbClr val="595959"/>
                          </a:solidFill>
                          <a:latin typeface="微软雅黑" panose="020B0503020204020204" pitchFamily="34" charset="-122"/>
                          <a:ea typeface="微软雅黑" panose="020B0503020204020204" pitchFamily="34" charset="-122"/>
                        </a:rPr>
                        <a:t>.10~202</a:t>
                      </a:r>
                      <a:r>
                        <a:rPr lang="en-US" altLang="zh-CN" sz="1600" dirty="0">
                          <a:solidFill>
                            <a:srgbClr val="595959"/>
                          </a:solidFill>
                          <a:latin typeface="微软雅黑" panose="020B0503020204020204" pitchFamily="34" charset="-122"/>
                          <a:ea typeface="微软雅黑" panose="020B0503020204020204" pitchFamily="34" charset="-122"/>
                        </a:rPr>
                        <a:t>5</a:t>
                      </a:r>
                      <a:r>
                        <a:rPr lang="zh-CN" altLang="en-US" sz="1600" dirty="0">
                          <a:solidFill>
                            <a:srgbClr val="595959"/>
                          </a:solidFill>
                          <a:latin typeface="微软雅黑" panose="020B0503020204020204" pitchFamily="34" charset="-122"/>
                          <a:ea typeface="微软雅黑" panose="020B0503020204020204" pitchFamily="34" charset="-122"/>
                        </a:rPr>
                        <a:t>.</a:t>
                      </a:r>
                      <a:r>
                        <a:rPr lang="en-US" altLang="zh-CN" sz="1600" dirty="0">
                          <a:solidFill>
                            <a:srgbClr val="595959"/>
                          </a:solidFill>
                          <a:latin typeface="微软雅黑" panose="020B0503020204020204" pitchFamily="34" charset="-122"/>
                          <a:ea typeface="微软雅黑" panose="020B0503020204020204" pitchFamily="34" charset="-122"/>
                        </a:rPr>
                        <a:t>09</a:t>
                      </a:r>
                      <a:r>
                        <a:rPr lang="zh-CN" altLang="en-US" sz="1600" dirty="0">
                          <a:solidFill>
                            <a:srgbClr val="595959"/>
                          </a:solidFill>
                          <a:latin typeface="微软雅黑" panose="020B0503020204020204" pitchFamily="34" charset="-122"/>
                          <a:ea typeface="微软雅黑" panose="020B0503020204020204" pitchFamily="34" charset="-122"/>
                        </a:rPr>
                        <a:t>.13</a:t>
                      </a:r>
                    </a:p>
                  </a:txBody>
                  <a:tcPr anchor="ctr"/>
                </a:tc>
                <a:extLst>
                  <a:ext uri="{0D108BD9-81ED-4DB2-BD59-A6C34878D82A}">
                    <a16:rowId xmlns:a16="http://schemas.microsoft.com/office/drawing/2014/main" val="10006"/>
                  </a:ext>
                </a:extLst>
              </a:tr>
            </a:tbl>
          </a:graphicData>
        </a:graphic>
      </p:graphicFrame>
      <p:sp>
        <p:nvSpPr>
          <p:cNvPr id="9" name="文本框 8"/>
          <p:cNvSpPr txBox="1"/>
          <p:nvPr/>
        </p:nvSpPr>
        <p:spPr>
          <a:xfrm>
            <a:off x="9972675" y="3814445"/>
            <a:ext cx="4046855" cy="281940"/>
          </a:xfrm>
          <a:prstGeom prst="rect">
            <a:avLst/>
          </a:prstGeom>
          <a:noFill/>
        </p:spPr>
        <p:txBody>
          <a:bodyPr wrap="square" rtlCol="0">
            <a:no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1143635" y="909955"/>
            <a:ext cx="10046970" cy="4144010"/>
          </a:xfrm>
          <a:prstGeom prst="rect">
            <a:avLst/>
          </a:prstGeom>
          <a:noFill/>
        </p:spPr>
        <p:txBody>
          <a:bodyPr wrap="square" rtlCol="0" anchor="t">
            <a:noAutofit/>
          </a:bodyPr>
          <a:lstStyle/>
          <a:p>
            <a:pPr algn="just">
              <a:lnSpc>
                <a:spcPct val="150000"/>
              </a:lnSpc>
              <a:buClrTx/>
              <a:buSzTx/>
              <a:buFontTx/>
            </a:pPr>
            <a:r>
              <a:rPr 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3</a:t>
            </a:r>
            <a:r>
              <a:rPr lang="zh-CN" sz="2000" dirty="0">
                <a:solidFill>
                  <a:srgbClr val="595959"/>
                </a:solidFill>
                <a:latin typeface="微软雅黑" panose="020B0503020204020204" pitchFamily="34" charset="-122"/>
                <a:ea typeface="微软雅黑" panose="020B0503020204020204" pitchFamily="34" charset="-122"/>
                <a:sym typeface="+mn-ea"/>
              </a:rPr>
              <a:t>)设计测试用例</a:t>
            </a:r>
            <a:endParaRPr lang="zh-CN" altLang="en-US" sz="2000" dirty="0">
              <a:solidFill>
                <a:srgbClr val="595959"/>
              </a:solidFill>
              <a:latin typeface="微软雅黑" panose="020B0503020204020204" pitchFamily="34" charset="-122"/>
              <a:ea typeface="微软雅黑" panose="020B0503020204020204" pitchFamily="34" charset="-122"/>
              <a:sym typeface="+mn-ea"/>
            </a:endParaRPr>
          </a:p>
          <a:p>
            <a:pPr indent="457200"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本次</a:t>
            </a:r>
            <a:r>
              <a:rPr lang="zh-CN" altLang="en-US" sz="2000" dirty="0">
                <a:solidFill>
                  <a:srgbClr val="0070C0"/>
                </a:solidFill>
                <a:latin typeface="微软雅黑" panose="020B0503020204020204" pitchFamily="34" charset="-122"/>
                <a:ea typeface="微软雅黑" panose="020B0503020204020204" pitchFamily="34" charset="-122"/>
                <a:sym typeface="+mn-ea"/>
              </a:rPr>
              <a:t>测试的重点是发布朋友圈</a:t>
            </a:r>
            <a:r>
              <a:rPr lang="zh-CN" altLang="en-US" sz="2000" dirty="0">
                <a:solidFill>
                  <a:srgbClr val="595959"/>
                </a:solidFill>
                <a:latin typeface="微软雅黑" panose="020B0503020204020204" pitchFamily="34" charset="-122"/>
                <a:ea typeface="微软雅黑" panose="020B0503020204020204" pitchFamily="34" charset="-122"/>
                <a:sym typeface="+mn-ea"/>
              </a:rPr>
              <a:t>，在设计测试用例时，需要考虑</a:t>
            </a:r>
            <a:r>
              <a:rPr lang="zh-CN" altLang="en-US" sz="2000" dirty="0">
                <a:solidFill>
                  <a:srgbClr val="0070C0"/>
                </a:solidFill>
                <a:latin typeface="微软雅黑" panose="020B0503020204020204" pitchFamily="34" charset="-122"/>
                <a:ea typeface="微软雅黑" panose="020B0503020204020204" pitchFamily="34" charset="-122"/>
                <a:sym typeface="+mn-ea"/>
              </a:rPr>
              <a:t>发布朋友圈的内容形式</a:t>
            </a:r>
            <a:r>
              <a:rPr lang="zh-CN" altLang="en-US" sz="2000" dirty="0">
                <a:solidFill>
                  <a:srgbClr val="595959"/>
                </a:solidFill>
                <a:latin typeface="微软雅黑" panose="020B0503020204020204" pitchFamily="34" charset="-122"/>
                <a:ea typeface="微软雅黑" panose="020B0503020204020204" pitchFamily="34" charset="-122"/>
                <a:sym typeface="+mn-ea"/>
              </a:rPr>
              <a:t>，在分析测试需求阶段可以明确发布朋友圈的内容形式主要有以下</a:t>
            </a:r>
            <a:r>
              <a:rPr lang="zh-CN" altLang="en-US" sz="2000" dirty="0">
                <a:solidFill>
                  <a:srgbClr val="0070C0"/>
                </a:solidFill>
                <a:latin typeface="微软雅黑" panose="020B0503020204020204" pitchFamily="34" charset="-122"/>
                <a:ea typeface="微软雅黑" panose="020B0503020204020204" pitchFamily="34" charset="-122"/>
                <a:sym typeface="+mn-ea"/>
              </a:rPr>
              <a:t>5种</a:t>
            </a:r>
            <a:r>
              <a:rPr lang="zh-CN" altLang="en-US" sz="2000" dirty="0">
                <a:solidFill>
                  <a:srgbClr val="595959"/>
                </a:solidFill>
                <a:latin typeface="微软雅黑" panose="020B0503020204020204" pitchFamily="34" charset="-122"/>
                <a:ea typeface="微软雅黑" panose="020B0503020204020204" pitchFamily="34" charset="-122"/>
                <a:sym typeface="+mn-ea"/>
              </a:rPr>
              <a:t>。</a:t>
            </a:r>
          </a:p>
          <a:p>
            <a:pPr marL="342900" indent="-342900" algn="just">
              <a:lnSpc>
                <a:spcPct val="150000"/>
              </a:lnSpc>
              <a:buClrTx/>
              <a:buSzTx/>
              <a:buFont typeface="Wingdings" panose="05000000000000000000" charset="0"/>
              <a:buChar char="l"/>
            </a:pPr>
            <a:r>
              <a:rPr lang="zh-CN" altLang="en-US" sz="2000" dirty="0">
                <a:solidFill>
                  <a:srgbClr val="595959"/>
                </a:solidFill>
                <a:latin typeface="微软雅黑" panose="020B0503020204020204" pitchFamily="34" charset="-122"/>
                <a:ea typeface="微软雅黑" panose="020B0503020204020204" pitchFamily="34" charset="-122"/>
                <a:sym typeface="+mn-ea"/>
              </a:rPr>
              <a:t>只发布</a:t>
            </a:r>
            <a:r>
              <a:rPr lang="zh-CN" altLang="en-US" sz="2000" dirty="0">
                <a:solidFill>
                  <a:srgbClr val="0070C0"/>
                </a:solidFill>
                <a:latin typeface="微软雅黑" panose="020B0503020204020204" pitchFamily="34" charset="-122"/>
                <a:ea typeface="微软雅黑" panose="020B0503020204020204" pitchFamily="34" charset="-122"/>
                <a:sym typeface="+mn-ea"/>
              </a:rPr>
              <a:t>文字</a:t>
            </a:r>
            <a:r>
              <a:rPr lang="zh-CN" altLang="en-US" sz="2000" dirty="0">
                <a:solidFill>
                  <a:srgbClr val="595959"/>
                </a:solidFill>
                <a:latin typeface="微软雅黑" panose="020B0503020204020204" pitchFamily="34" charset="-122"/>
                <a:ea typeface="微软雅黑" panose="020B0503020204020204" pitchFamily="34" charset="-122"/>
                <a:sym typeface="+mn-ea"/>
              </a:rPr>
              <a:t>。</a:t>
            </a:r>
          </a:p>
          <a:p>
            <a:pPr marL="342900" indent="-342900" algn="just">
              <a:lnSpc>
                <a:spcPct val="150000"/>
              </a:lnSpc>
              <a:buClrTx/>
              <a:buSzTx/>
              <a:buFont typeface="Wingdings" panose="05000000000000000000" charset="0"/>
              <a:buChar char="l"/>
            </a:pPr>
            <a:r>
              <a:rPr lang="zh-CN" altLang="en-US" sz="2000" dirty="0">
                <a:solidFill>
                  <a:srgbClr val="595959"/>
                </a:solidFill>
                <a:latin typeface="微软雅黑" panose="020B0503020204020204" pitchFamily="34" charset="-122"/>
                <a:ea typeface="微软雅黑" panose="020B0503020204020204" pitchFamily="34" charset="-122"/>
                <a:sym typeface="+mn-ea"/>
              </a:rPr>
              <a:t>只发布</a:t>
            </a:r>
            <a:r>
              <a:rPr lang="zh-CN" altLang="en-US" sz="2000" dirty="0">
                <a:solidFill>
                  <a:srgbClr val="0070C0"/>
                </a:solidFill>
                <a:latin typeface="微软雅黑" panose="020B0503020204020204" pitchFamily="34" charset="-122"/>
                <a:ea typeface="微软雅黑" panose="020B0503020204020204" pitchFamily="34" charset="-122"/>
                <a:sym typeface="+mn-ea"/>
              </a:rPr>
              <a:t>照片</a:t>
            </a:r>
            <a:r>
              <a:rPr lang="zh-CN" altLang="en-US" sz="2000" dirty="0">
                <a:solidFill>
                  <a:srgbClr val="595959"/>
                </a:solidFill>
                <a:latin typeface="微软雅黑" panose="020B0503020204020204" pitchFamily="34" charset="-122"/>
                <a:ea typeface="微软雅黑" panose="020B0503020204020204" pitchFamily="34" charset="-122"/>
                <a:sym typeface="+mn-ea"/>
              </a:rPr>
              <a:t>。</a:t>
            </a:r>
          </a:p>
          <a:p>
            <a:pPr marL="342900" indent="-342900" algn="just">
              <a:lnSpc>
                <a:spcPct val="150000"/>
              </a:lnSpc>
              <a:buClrTx/>
              <a:buSzTx/>
              <a:buFont typeface="Wingdings" panose="05000000000000000000" charset="0"/>
              <a:buChar char="l"/>
            </a:pPr>
            <a:r>
              <a:rPr lang="zh-CN" altLang="en-US" sz="2000" dirty="0">
                <a:solidFill>
                  <a:srgbClr val="595959"/>
                </a:solidFill>
                <a:latin typeface="微软雅黑" panose="020B0503020204020204" pitchFamily="34" charset="-122"/>
                <a:ea typeface="微软雅黑" panose="020B0503020204020204" pitchFamily="34" charset="-122"/>
                <a:sym typeface="+mn-ea"/>
              </a:rPr>
              <a:t>只发布</a:t>
            </a:r>
            <a:r>
              <a:rPr lang="zh-CN" altLang="en-US" sz="2000" dirty="0">
                <a:solidFill>
                  <a:srgbClr val="0070C0"/>
                </a:solidFill>
                <a:latin typeface="微软雅黑" panose="020B0503020204020204" pitchFamily="34" charset="-122"/>
                <a:ea typeface="微软雅黑" panose="020B0503020204020204" pitchFamily="34" charset="-122"/>
                <a:sym typeface="+mn-ea"/>
              </a:rPr>
              <a:t>视频</a:t>
            </a:r>
            <a:r>
              <a:rPr lang="zh-CN" altLang="en-US" sz="2000" dirty="0">
                <a:solidFill>
                  <a:srgbClr val="595959"/>
                </a:solidFill>
                <a:latin typeface="微软雅黑" panose="020B0503020204020204" pitchFamily="34" charset="-122"/>
                <a:ea typeface="微软雅黑" panose="020B0503020204020204" pitchFamily="34" charset="-122"/>
                <a:sym typeface="+mn-ea"/>
              </a:rPr>
              <a:t>。</a:t>
            </a:r>
          </a:p>
          <a:p>
            <a:pPr marL="342900" indent="-342900" algn="just">
              <a:lnSpc>
                <a:spcPct val="150000"/>
              </a:lnSpc>
              <a:buClrTx/>
              <a:buSzTx/>
              <a:buFont typeface="Wingdings" panose="05000000000000000000" charset="0"/>
              <a:buChar char="l"/>
            </a:pPr>
            <a:r>
              <a:rPr lang="zh-CN" altLang="en-US" sz="2000" dirty="0">
                <a:solidFill>
                  <a:srgbClr val="595959"/>
                </a:solidFill>
                <a:latin typeface="微软雅黑" panose="020B0503020204020204" pitchFamily="34" charset="-122"/>
                <a:ea typeface="微软雅黑" panose="020B0503020204020204" pitchFamily="34" charset="-122"/>
                <a:sym typeface="+mn-ea"/>
              </a:rPr>
              <a:t>发布</a:t>
            </a:r>
            <a:r>
              <a:rPr lang="zh-CN" altLang="en-US" sz="2000" dirty="0">
                <a:solidFill>
                  <a:srgbClr val="0070C0"/>
                </a:solidFill>
                <a:latin typeface="微软雅黑" panose="020B0503020204020204" pitchFamily="34" charset="-122"/>
                <a:ea typeface="微软雅黑" panose="020B0503020204020204" pitchFamily="34" charset="-122"/>
                <a:sym typeface="+mn-ea"/>
              </a:rPr>
              <a:t>文字+照片</a:t>
            </a:r>
            <a:r>
              <a:rPr lang="zh-CN" altLang="en-US" sz="2000" dirty="0">
                <a:solidFill>
                  <a:srgbClr val="595959"/>
                </a:solidFill>
                <a:latin typeface="微软雅黑" panose="020B0503020204020204" pitchFamily="34" charset="-122"/>
                <a:ea typeface="微软雅黑" panose="020B0503020204020204" pitchFamily="34" charset="-122"/>
                <a:sym typeface="+mn-ea"/>
              </a:rPr>
              <a:t>。</a:t>
            </a:r>
          </a:p>
          <a:p>
            <a:pPr marL="342900" indent="-342900" algn="just">
              <a:lnSpc>
                <a:spcPct val="150000"/>
              </a:lnSpc>
              <a:buClrTx/>
              <a:buSzTx/>
              <a:buFont typeface="Wingdings" panose="05000000000000000000" charset="0"/>
              <a:buChar char="l"/>
            </a:pPr>
            <a:r>
              <a:rPr lang="zh-CN" altLang="en-US" sz="2000" dirty="0">
                <a:solidFill>
                  <a:srgbClr val="595959"/>
                </a:solidFill>
                <a:latin typeface="微软雅黑" panose="020B0503020204020204" pitchFamily="34" charset="-122"/>
                <a:ea typeface="微软雅黑" panose="020B0503020204020204" pitchFamily="34" charset="-122"/>
                <a:sym typeface="+mn-ea"/>
              </a:rPr>
              <a:t>发布</a:t>
            </a:r>
            <a:r>
              <a:rPr lang="zh-CN" altLang="en-US" sz="2000" dirty="0">
                <a:solidFill>
                  <a:srgbClr val="0070C0"/>
                </a:solidFill>
                <a:latin typeface="微软雅黑" panose="020B0503020204020204" pitchFamily="34" charset="-122"/>
                <a:ea typeface="微软雅黑" panose="020B0503020204020204" pitchFamily="34" charset="-122"/>
                <a:sym typeface="+mn-ea"/>
              </a:rPr>
              <a:t>文字+视频</a:t>
            </a:r>
            <a:r>
              <a:rPr lang="zh-CN" altLang="en-US" sz="2000" dirty="0">
                <a:solidFill>
                  <a:srgbClr val="595959"/>
                </a:solidFill>
                <a:latin typeface="微软雅黑" panose="020B0503020204020204" pitchFamily="34" charset="-122"/>
                <a:ea typeface="微软雅黑" panose="020B0503020204020204" pitchFamily="34" charset="-122"/>
                <a:sym typeface="+mn-ea"/>
              </a:rPr>
              <a:t>。		</a:t>
            </a:r>
          </a:p>
        </p:txBody>
      </p:sp>
      <p:sp>
        <p:nvSpPr>
          <p:cNvPr id="2" name="Title 1"/>
          <p:cNvSpPr txBox="1"/>
          <p:nvPr/>
        </p:nvSpPr>
        <p:spPr>
          <a:xfrm>
            <a:off x="1143635" y="266700"/>
            <a:ext cx="59359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实例：微信朋友圈功能的测试流程</a:t>
            </a:r>
          </a:p>
        </p:txBody>
      </p:sp>
      <p:sp>
        <p:nvSpPr>
          <p:cNvPr id="9" name="文本框 8"/>
          <p:cNvSpPr txBox="1"/>
          <p:nvPr/>
        </p:nvSpPr>
        <p:spPr>
          <a:xfrm>
            <a:off x="9972675" y="3814445"/>
            <a:ext cx="4046855" cy="281940"/>
          </a:xfrm>
          <a:prstGeom prst="rect">
            <a:avLst/>
          </a:prstGeom>
          <a:noFill/>
        </p:spPr>
        <p:txBody>
          <a:bodyPr wrap="square" rtlCol="0">
            <a:no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1143635" y="805815"/>
            <a:ext cx="10046970" cy="635635"/>
          </a:xfrm>
          <a:prstGeom prst="rect">
            <a:avLst/>
          </a:prstGeom>
          <a:noFill/>
        </p:spPr>
        <p:txBody>
          <a:bodyPr wrap="square" rtlCol="0" anchor="t">
            <a:noAutofit/>
          </a:bodyPr>
          <a:lstStyle/>
          <a:p>
            <a:pPr algn="just">
              <a:lnSpc>
                <a:spcPct val="150000"/>
              </a:lnSpc>
              <a:buClrTx/>
              <a:buSzTx/>
              <a:buFontTx/>
            </a:pPr>
            <a:r>
              <a:rPr sz="2000" dirty="0">
                <a:solidFill>
                  <a:srgbClr val="595959"/>
                </a:solidFill>
                <a:latin typeface="微软雅黑" panose="020B0503020204020204" pitchFamily="34" charset="-122"/>
                <a:ea typeface="微软雅黑" panose="020B0503020204020204" pitchFamily="34" charset="-122"/>
                <a:sym typeface="+mn-ea"/>
              </a:rPr>
              <a:t>针对</a:t>
            </a:r>
            <a:r>
              <a:rPr lang="zh-CN" sz="2000" dirty="0">
                <a:solidFill>
                  <a:srgbClr val="595959"/>
                </a:solidFill>
                <a:latin typeface="微软雅黑" panose="020B0503020204020204" pitchFamily="34" charset="-122"/>
                <a:ea typeface="微软雅黑" panose="020B0503020204020204" pitchFamily="34" charset="-122"/>
                <a:sym typeface="+mn-ea"/>
              </a:rPr>
              <a:t>前面</a:t>
            </a:r>
            <a:r>
              <a:rPr sz="2000" dirty="0">
                <a:solidFill>
                  <a:srgbClr val="595959"/>
                </a:solidFill>
                <a:latin typeface="微软雅黑" panose="020B0503020204020204" pitchFamily="34" charset="-122"/>
                <a:ea typeface="微软雅黑" panose="020B0503020204020204" pitchFamily="34" charset="-122"/>
                <a:sym typeface="+mn-ea"/>
              </a:rPr>
              <a:t>5种形式来</a:t>
            </a:r>
            <a:r>
              <a:rPr sz="2000" dirty="0">
                <a:solidFill>
                  <a:srgbClr val="0070C0"/>
                </a:solidFill>
                <a:latin typeface="微软雅黑" panose="020B0503020204020204" pitchFamily="34" charset="-122"/>
                <a:ea typeface="微软雅黑" panose="020B0503020204020204" pitchFamily="34" charset="-122"/>
                <a:sym typeface="+mn-ea"/>
              </a:rPr>
              <a:t>设计发布朋友圈功能的测试用例</a:t>
            </a:r>
            <a:r>
              <a:rPr sz="2000" dirty="0">
                <a:solidFill>
                  <a:srgbClr val="595959"/>
                </a:solidFill>
                <a:latin typeface="微软雅黑" panose="020B0503020204020204" pitchFamily="34" charset="-122"/>
                <a:ea typeface="微软雅黑" panose="020B0503020204020204" pitchFamily="34" charset="-122"/>
                <a:sym typeface="+mn-ea"/>
              </a:rPr>
              <a:t>，如</a:t>
            </a:r>
            <a:r>
              <a:rPr lang="zh-CN" sz="2000" dirty="0">
                <a:solidFill>
                  <a:srgbClr val="595959"/>
                </a:solidFill>
                <a:latin typeface="微软雅黑" panose="020B0503020204020204" pitchFamily="34" charset="-122"/>
                <a:ea typeface="微软雅黑" panose="020B0503020204020204" pitchFamily="34" charset="-122"/>
                <a:sym typeface="+mn-ea"/>
              </a:rPr>
              <a:t>下</a:t>
            </a:r>
            <a:r>
              <a:rPr sz="2000" dirty="0">
                <a:solidFill>
                  <a:srgbClr val="595959"/>
                </a:solidFill>
                <a:latin typeface="微软雅黑" panose="020B0503020204020204" pitchFamily="34" charset="-122"/>
                <a:ea typeface="微软雅黑" panose="020B0503020204020204" pitchFamily="34" charset="-122"/>
                <a:sym typeface="+mn-ea"/>
              </a:rPr>
              <a:t>表所示。</a:t>
            </a:r>
            <a:endParaRPr lang="zh-CN" altLang="en-US" sz="2000" dirty="0">
              <a:solidFill>
                <a:srgbClr val="595959"/>
              </a:solidFill>
              <a:latin typeface="微软雅黑" panose="020B0503020204020204" pitchFamily="34" charset="-122"/>
              <a:ea typeface="微软雅黑" panose="020B0503020204020204" pitchFamily="34" charset="-122"/>
              <a:sym typeface="+mn-ea"/>
            </a:endParaRPr>
          </a:p>
        </p:txBody>
      </p:sp>
      <p:sp>
        <p:nvSpPr>
          <p:cNvPr id="2" name="Title 1"/>
          <p:cNvSpPr txBox="1"/>
          <p:nvPr/>
        </p:nvSpPr>
        <p:spPr>
          <a:xfrm>
            <a:off x="1143635" y="266700"/>
            <a:ext cx="59359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实例：微信朋友圈功能的测试流程</a:t>
            </a:r>
          </a:p>
        </p:txBody>
      </p:sp>
      <p:sp>
        <p:nvSpPr>
          <p:cNvPr id="9" name="文本框 8"/>
          <p:cNvSpPr txBox="1"/>
          <p:nvPr/>
        </p:nvSpPr>
        <p:spPr>
          <a:xfrm>
            <a:off x="9972675" y="3814445"/>
            <a:ext cx="4046855" cy="281940"/>
          </a:xfrm>
          <a:prstGeom prst="rect">
            <a:avLst/>
          </a:prstGeom>
          <a:noFill/>
        </p:spPr>
        <p:txBody>
          <a:bodyPr wrap="square" rtlCol="0">
            <a:no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aphicFrame>
        <p:nvGraphicFramePr>
          <p:cNvPr id="3" name="表格 2"/>
          <p:cNvGraphicFramePr/>
          <p:nvPr>
            <p:custDataLst>
              <p:tags r:id="rId1"/>
            </p:custDataLst>
          </p:nvPr>
        </p:nvGraphicFramePr>
        <p:xfrm>
          <a:off x="982980" y="1341755"/>
          <a:ext cx="10448925" cy="5535930"/>
        </p:xfrm>
        <a:graphic>
          <a:graphicData uri="http://schemas.openxmlformats.org/drawingml/2006/table">
            <a:tbl>
              <a:tblPr firstRow="1" bandRow="1">
                <a:tableStyleId>{5C22544A-7EE6-4342-B048-85BDC9FD1C3A}</a:tableStyleId>
              </a:tblPr>
              <a:tblGrid>
                <a:gridCol w="1224226">
                  <a:extLst>
                    <a:ext uri="{9D8B030D-6E8A-4147-A177-3AD203B41FA5}">
                      <a16:colId xmlns:a16="http://schemas.microsoft.com/office/drawing/2014/main" val="20000"/>
                    </a:ext>
                  </a:extLst>
                </a:gridCol>
                <a:gridCol w="1310694">
                  <a:extLst>
                    <a:ext uri="{9D8B030D-6E8A-4147-A177-3AD203B41FA5}">
                      <a16:colId xmlns:a16="http://schemas.microsoft.com/office/drawing/2014/main" val="20001"/>
                    </a:ext>
                  </a:extLst>
                </a:gridCol>
                <a:gridCol w="1386840">
                  <a:extLst>
                    <a:ext uri="{9D8B030D-6E8A-4147-A177-3AD203B41FA5}">
                      <a16:colId xmlns:a16="http://schemas.microsoft.com/office/drawing/2014/main" val="20002"/>
                    </a:ext>
                  </a:extLst>
                </a:gridCol>
                <a:gridCol w="1655445">
                  <a:extLst>
                    <a:ext uri="{9D8B030D-6E8A-4147-A177-3AD203B41FA5}">
                      <a16:colId xmlns:a16="http://schemas.microsoft.com/office/drawing/2014/main" val="20003"/>
                    </a:ext>
                  </a:extLst>
                </a:gridCol>
                <a:gridCol w="2096770">
                  <a:extLst>
                    <a:ext uri="{9D8B030D-6E8A-4147-A177-3AD203B41FA5}">
                      <a16:colId xmlns:a16="http://schemas.microsoft.com/office/drawing/2014/main" val="20004"/>
                    </a:ext>
                  </a:extLst>
                </a:gridCol>
                <a:gridCol w="1387475">
                  <a:extLst>
                    <a:ext uri="{9D8B030D-6E8A-4147-A177-3AD203B41FA5}">
                      <a16:colId xmlns:a16="http://schemas.microsoft.com/office/drawing/2014/main" val="20005"/>
                    </a:ext>
                  </a:extLst>
                </a:gridCol>
                <a:gridCol w="1387475">
                  <a:extLst>
                    <a:ext uri="{9D8B030D-6E8A-4147-A177-3AD203B41FA5}">
                      <a16:colId xmlns:a16="http://schemas.microsoft.com/office/drawing/2014/main" val="20006"/>
                    </a:ext>
                  </a:extLst>
                </a:gridCol>
              </a:tblGrid>
              <a:tr h="5372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用例编号</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测试功能</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测试标题</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预置条件</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步骤描述</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测试数据</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1554480">
                <a:tc>
                  <a:txBody>
                    <a:bodyPr/>
                    <a:lstStyle/>
                    <a:p>
                      <a:pPr algn="ct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001</a:t>
                      </a:r>
                    </a:p>
                  </a:txBody>
                  <a:tcPr anchor="ctr"/>
                </a:tc>
                <a:tc>
                  <a:txBody>
                    <a:bodyPr/>
                    <a:lstStyle/>
                    <a:p>
                      <a:pPr>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发布朋友圈</a:t>
                      </a:r>
                    </a:p>
                  </a:txBody>
                  <a:tcPr anchor="ctr"/>
                </a:tc>
                <a:tc>
                  <a:txBody>
                    <a:bodyPr/>
                    <a:lstStyle/>
                    <a:p>
                      <a:pPr>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发布一段文字</a:t>
                      </a:r>
                    </a:p>
                  </a:txBody>
                  <a:tcPr anchor="ctr"/>
                </a:tc>
                <a:tc>
                  <a:txBody>
                    <a:bodyPr/>
                    <a:lstStyle/>
                    <a:p>
                      <a:pPr>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1.网络连接正常；</a:t>
                      </a:r>
                    </a:p>
                    <a:p>
                      <a:pPr>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2.成功登录微信</a:t>
                      </a:r>
                    </a:p>
                  </a:txBody>
                  <a:tcPr anchor="ctr"/>
                </a:tc>
                <a:tc>
                  <a:txBody>
                    <a:bodyPr/>
                    <a:lstStyle/>
                    <a:p>
                      <a:pPr>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1.在“发现”界面点击朋友圈；</a:t>
                      </a:r>
                    </a:p>
                    <a:p>
                      <a:pPr>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2.长按朋友圈界面右上角的相机图标；</a:t>
                      </a:r>
                    </a:p>
                    <a:p>
                      <a:pPr>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3.输入一段文字然后点击“发表”按钮</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一段字数为50的内容</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发布成功</a:t>
                      </a:r>
                    </a:p>
                  </a:txBody>
                  <a:tcPr anchor="ctr"/>
                </a:tc>
                <a:extLst>
                  <a:ext uri="{0D108BD9-81ED-4DB2-BD59-A6C34878D82A}">
                    <a16:rowId xmlns:a16="http://schemas.microsoft.com/office/drawing/2014/main" val="10001"/>
                  </a:ext>
                </a:extLst>
              </a:tr>
              <a:tr h="1310640">
                <a:tc>
                  <a:txBody>
                    <a:bodyPr/>
                    <a:lstStyle/>
                    <a:p>
                      <a:pPr algn="ctr">
                        <a:buClrTx/>
                        <a:buSzTx/>
                        <a:buFontTx/>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002</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发布朋友圈</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发布内容为空</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1.网络连接正常；</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2.成功登录微信</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1.在“发现”界面点击朋友圈；</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2.长按朋友圈界面右上角的相机图标；</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3.不输入内容</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内容为空</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发布失败</a:t>
                      </a:r>
                    </a:p>
                  </a:txBody>
                  <a:tcPr anchor="ctr"/>
                </a:tc>
                <a:extLst>
                  <a:ext uri="{0D108BD9-81ED-4DB2-BD59-A6C34878D82A}">
                    <a16:rowId xmlns:a16="http://schemas.microsoft.com/office/drawing/2014/main" val="10002"/>
                  </a:ext>
                </a:extLst>
              </a:tr>
              <a:tr h="1066800">
                <a:tc>
                  <a:txBody>
                    <a:bodyPr/>
                    <a:lstStyle/>
                    <a:p>
                      <a:pPr algn="ctr">
                        <a:buClrTx/>
                        <a:buSzTx/>
                        <a:buFontTx/>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003</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发布朋友圈</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发布1张照片</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1.网络连接正常；</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2.成功登录微信；</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3.进入发布朋友圈界面</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1.在发布朋友圈界面点击相机图标；</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2.在相册中选择任意一张照片</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1张照片 </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发布成功</a:t>
                      </a:r>
                    </a:p>
                  </a:txBody>
                  <a:tcPr anchor="ctr"/>
                </a:tc>
                <a:extLst>
                  <a:ext uri="{0D108BD9-81ED-4DB2-BD59-A6C34878D82A}">
                    <a16:rowId xmlns:a16="http://schemas.microsoft.com/office/drawing/2014/main" val="10003"/>
                  </a:ext>
                </a:extLst>
              </a:tr>
              <a:tr h="1066800">
                <a:tc>
                  <a:txBody>
                    <a:bodyPr/>
                    <a:lstStyle/>
                    <a:p>
                      <a:pPr algn="ctr">
                        <a:buClrTx/>
                        <a:buSzTx/>
                        <a:buFontTx/>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004</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发布朋友圈</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发布10张照片</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1.网络连接正常；</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2.成功登录微信；</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3.进入发布朋友圈界面</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1.在发布朋友圈界面点击相机图标；</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2.在相册中选择照片</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10张照片</a:t>
                      </a:r>
                    </a:p>
                  </a:txBody>
                  <a:tcPr anchor="ctr"/>
                </a:tc>
                <a:tc>
                  <a:txBody>
                    <a:bodyPr/>
                    <a:lstStyle/>
                    <a:p>
                      <a:pPr>
                        <a:buNone/>
                      </a:pPr>
                      <a:r>
                        <a:rPr lang="zh-CN" altLang="en-US" sz="1600" kern="1200" dirty="0">
                          <a:solidFill>
                            <a:srgbClr val="595959"/>
                          </a:solidFill>
                          <a:latin typeface="微软雅黑" panose="020B0503020204020204" pitchFamily="34" charset="-122"/>
                          <a:ea typeface="微软雅黑" panose="020B0503020204020204" pitchFamily="34" charset="-122"/>
                          <a:cs typeface="+mn-cs"/>
                        </a:rPr>
                        <a:t>发布失败</a:t>
                      </a:r>
                    </a:p>
                  </a:txBody>
                  <a:tcPr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35" y="266700"/>
            <a:ext cx="59359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实例：微信朋友圈功能的测试流程</a:t>
            </a:r>
          </a:p>
        </p:txBody>
      </p:sp>
      <p:sp>
        <p:nvSpPr>
          <p:cNvPr id="9" name="文本框 8"/>
          <p:cNvSpPr txBox="1"/>
          <p:nvPr/>
        </p:nvSpPr>
        <p:spPr>
          <a:xfrm>
            <a:off x="9972675" y="3814445"/>
            <a:ext cx="4046855" cy="281940"/>
          </a:xfrm>
          <a:prstGeom prst="rect">
            <a:avLst/>
          </a:prstGeom>
          <a:noFill/>
        </p:spPr>
        <p:txBody>
          <a:bodyPr wrap="square" rtlCol="0">
            <a:no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aphicFrame>
        <p:nvGraphicFramePr>
          <p:cNvPr id="3" name="表格 2"/>
          <p:cNvGraphicFramePr/>
          <p:nvPr>
            <p:custDataLst>
              <p:tags r:id="rId1"/>
            </p:custDataLst>
          </p:nvPr>
        </p:nvGraphicFramePr>
        <p:xfrm>
          <a:off x="982980" y="1053465"/>
          <a:ext cx="10448925" cy="5535930"/>
        </p:xfrm>
        <a:graphic>
          <a:graphicData uri="http://schemas.openxmlformats.org/drawingml/2006/table">
            <a:tbl>
              <a:tblPr firstRow="1" bandRow="1">
                <a:tableStyleId>{5C22544A-7EE6-4342-B048-85BDC9FD1C3A}</a:tableStyleId>
              </a:tblPr>
              <a:tblGrid>
                <a:gridCol w="1329690">
                  <a:extLst>
                    <a:ext uri="{9D8B030D-6E8A-4147-A177-3AD203B41FA5}">
                      <a16:colId xmlns:a16="http://schemas.microsoft.com/office/drawing/2014/main" val="20000"/>
                    </a:ext>
                  </a:extLst>
                </a:gridCol>
                <a:gridCol w="1205230">
                  <a:extLst>
                    <a:ext uri="{9D8B030D-6E8A-4147-A177-3AD203B41FA5}">
                      <a16:colId xmlns:a16="http://schemas.microsoft.com/office/drawing/2014/main" val="20001"/>
                    </a:ext>
                  </a:extLst>
                </a:gridCol>
                <a:gridCol w="1386840">
                  <a:extLst>
                    <a:ext uri="{9D8B030D-6E8A-4147-A177-3AD203B41FA5}">
                      <a16:colId xmlns:a16="http://schemas.microsoft.com/office/drawing/2014/main" val="20002"/>
                    </a:ext>
                  </a:extLst>
                </a:gridCol>
                <a:gridCol w="1655445">
                  <a:extLst>
                    <a:ext uri="{9D8B030D-6E8A-4147-A177-3AD203B41FA5}">
                      <a16:colId xmlns:a16="http://schemas.microsoft.com/office/drawing/2014/main" val="20003"/>
                    </a:ext>
                  </a:extLst>
                </a:gridCol>
                <a:gridCol w="2096770">
                  <a:extLst>
                    <a:ext uri="{9D8B030D-6E8A-4147-A177-3AD203B41FA5}">
                      <a16:colId xmlns:a16="http://schemas.microsoft.com/office/drawing/2014/main" val="20004"/>
                    </a:ext>
                  </a:extLst>
                </a:gridCol>
                <a:gridCol w="1387475">
                  <a:extLst>
                    <a:ext uri="{9D8B030D-6E8A-4147-A177-3AD203B41FA5}">
                      <a16:colId xmlns:a16="http://schemas.microsoft.com/office/drawing/2014/main" val="20005"/>
                    </a:ext>
                  </a:extLst>
                </a:gridCol>
                <a:gridCol w="1387475">
                  <a:extLst>
                    <a:ext uri="{9D8B030D-6E8A-4147-A177-3AD203B41FA5}">
                      <a16:colId xmlns:a16="http://schemas.microsoft.com/office/drawing/2014/main" val="20006"/>
                    </a:ext>
                  </a:extLst>
                </a:gridCol>
              </a:tblGrid>
              <a:tr h="5372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用例编号</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测试功能</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测试标题</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预置条件</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步骤描述</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测试数据</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1554480">
                <a:tc>
                  <a:txBody>
                    <a:bodyPr/>
                    <a:lstStyle/>
                    <a:p>
                      <a:pPr algn="ct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00</a:t>
                      </a:r>
                      <a:r>
                        <a:rPr lang="en-US" altLang="zh-CN" sz="1600" kern="1200">
                          <a:solidFill>
                            <a:srgbClr val="595959"/>
                          </a:solidFill>
                          <a:latin typeface="微软雅黑" panose="020B0503020204020204" pitchFamily="34" charset="-122"/>
                          <a:ea typeface="微软雅黑" panose="020B0503020204020204" pitchFamily="34" charset="-122"/>
                          <a:cs typeface="+mn-cs"/>
                        </a:rPr>
                        <a:t>5</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发布朋友圈</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发布一段15秒视频</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1.网络连接正常；</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2.成功登录微信；</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3.进入发布朋友圈界面</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1.在发布朋友圈界面点击相机图标；</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2.在相册中选择一段视频</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一段15秒的视频</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发布成功</a:t>
                      </a:r>
                    </a:p>
                  </a:txBody>
                  <a:tcPr anchor="ctr"/>
                </a:tc>
                <a:extLst>
                  <a:ext uri="{0D108BD9-81ED-4DB2-BD59-A6C34878D82A}">
                    <a16:rowId xmlns:a16="http://schemas.microsoft.com/office/drawing/2014/main" val="10001"/>
                  </a:ext>
                </a:extLst>
              </a:tr>
              <a:tr h="1310640">
                <a:tc>
                  <a:txBody>
                    <a:bodyPr/>
                    <a:lstStyle/>
                    <a:p>
                      <a:pPr algn="ctr">
                        <a:buClrTx/>
                        <a:buSzTx/>
                        <a:buFontTx/>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00</a:t>
                      </a:r>
                      <a:r>
                        <a:rPr lang="en-US" altLang="zh-CN" sz="1600" kern="120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发布朋友圈</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发布一段20秒视频</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1.网络连接正常；</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2.成功登录微信；</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3.进入发布朋友圈界面</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1.在发布朋友圈界面点击相机图标；</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2.在相册中选择一段视频</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一段20秒的视频</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发布失败</a:t>
                      </a:r>
                    </a:p>
                  </a:txBody>
                  <a:tcPr anchor="ctr"/>
                </a:tc>
                <a:extLst>
                  <a:ext uri="{0D108BD9-81ED-4DB2-BD59-A6C34878D82A}">
                    <a16:rowId xmlns:a16="http://schemas.microsoft.com/office/drawing/2014/main" val="10002"/>
                  </a:ext>
                </a:extLst>
              </a:tr>
              <a:tr h="1066800">
                <a:tc>
                  <a:txBody>
                    <a:bodyPr/>
                    <a:lstStyle/>
                    <a:p>
                      <a:pPr algn="ctr">
                        <a:buClrTx/>
                        <a:buSzTx/>
                        <a:buFontTx/>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00</a:t>
                      </a:r>
                      <a:r>
                        <a:rPr lang="en-US" altLang="zh-CN" sz="1600" kern="1200">
                          <a:solidFill>
                            <a:srgbClr val="595959"/>
                          </a:solidFill>
                          <a:latin typeface="微软雅黑" panose="020B0503020204020204" pitchFamily="34" charset="-122"/>
                          <a:ea typeface="微软雅黑" panose="020B0503020204020204" pitchFamily="34" charset="-122"/>
                          <a:cs typeface="+mn-cs"/>
                        </a:rPr>
                        <a:t>7</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发布朋友圈</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发布文字+照片</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1.网络连接正常；</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2.成功登录微信；</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3.进入发布朋友圈界面</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1.在发布朋友圈界面点击相机图标；</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2.在相册中选择照片；</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3.输入文字</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1.选择9张照片；</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2.输入一段10字文字 </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发布成功</a:t>
                      </a:r>
                    </a:p>
                  </a:txBody>
                  <a:tcPr anchor="ctr"/>
                </a:tc>
                <a:extLst>
                  <a:ext uri="{0D108BD9-81ED-4DB2-BD59-A6C34878D82A}">
                    <a16:rowId xmlns:a16="http://schemas.microsoft.com/office/drawing/2014/main" val="10003"/>
                  </a:ext>
                </a:extLst>
              </a:tr>
              <a:tr h="1066800">
                <a:tc>
                  <a:txBody>
                    <a:bodyPr/>
                    <a:lstStyle/>
                    <a:p>
                      <a:pPr algn="ctr">
                        <a:buClrTx/>
                        <a:buSzTx/>
                        <a:buFontTx/>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00</a:t>
                      </a:r>
                      <a:r>
                        <a:rPr lang="en-US" altLang="zh-CN" sz="1600" kern="1200">
                          <a:solidFill>
                            <a:srgbClr val="595959"/>
                          </a:solidFill>
                          <a:latin typeface="微软雅黑" panose="020B0503020204020204" pitchFamily="34" charset="-122"/>
                          <a:ea typeface="微软雅黑" panose="020B0503020204020204" pitchFamily="34" charset="-122"/>
                          <a:cs typeface="+mn-cs"/>
                        </a:rPr>
                        <a:t>8</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发布朋友圈</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发布文字+视频</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1.网络连接正常；</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2.成功登录微信；</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3.进入发布朋友圈界面</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1.在发布朋友圈界面点击相机图标；</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2.在相册中选择视频；</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3.输入文字</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1.选择一段10秒视频；</a:t>
                      </a:r>
                    </a:p>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2.输入一段10字文字</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发布</a:t>
                      </a:r>
                      <a:r>
                        <a:rPr lang="zh-CN" altLang="en-US" sz="1600" kern="1200">
                          <a:solidFill>
                            <a:srgbClr val="595959"/>
                          </a:solidFill>
                          <a:latin typeface="微软雅黑" panose="020B0503020204020204" pitchFamily="34" charset="-122"/>
                          <a:ea typeface="微软雅黑" panose="020B0503020204020204" pitchFamily="34" charset="-122"/>
                          <a:cs typeface="+mn-cs"/>
                          <a:sym typeface="+mn-ea"/>
                        </a:rPr>
                        <a:t>成功</a:t>
                      </a:r>
                      <a:endParaRPr lang="zh-CN" altLang="en-US" sz="16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3025" y="837565"/>
            <a:ext cx="9262110" cy="1014730"/>
          </a:xfrm>
          <a:prstGeom prst="rect">
            <a:avLst/>
          </a:prstGeom>
          <a:noFill/>
        </p:spPr>
        <p:txBody>
          <a:bodyPr wrap="square" rtlCol="0" anchor="t">
            <a:spAutoFit/>
          </a:bodyPr>
          <a:lstStyle/>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(4)测试执行</a:t>
            </a: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发布朋友圈功能的测试</a:t>
            </a:r>
            <a:r>
              <a:rPr lang="zh-CN" altLang="en-US" sz="2000" dirty="0">
                <a:solidFill>
                  <a:srgbClr val="0070C0"/>
                </a:solidFill>
                <a:latin typeface="微软雅黑" panose="020B0503020204020204" pitchFamily="34" charset="-122"/>
                <a:ea typeface="微软雅黑" panose="020B0503020204020204" pitchFamily="34" charset="-122"/>
                <a:sym typeface="+mn-ea"/>
              </a:rPr>
              <a:t>缺陷报告</a:t>
            </a:r>
            <a:r>
              <a:rPr lang="zh-CN" altLang="en-US" sz="2000" dirty="0">
                <a:solidFill>
                  <a:srgbClr val="595959"/>
                </a:solidFill>
                <a:latin typeface="微软雅黑" panose="020B0503020204020204" pitchFamily="34" charset="-122"/>
                <a:ea typeface="微软雅黑" panose="020B0503020204020204" pitchFamily="34" charset="-122"/>
                <a:sym typeface="+mn-ea"/>
              </a:rPr>
              <a:t>如下表所示。</a:t>
            </a:r>
          </a:p>
        </p:txBody>
      </p:sp>
      <p:sp>
        <p:nvSpPr>
          <p:cNvPr id="3" name="Title 1"/>
          <p:cNvSpPr txBox="1"/>
          <p:nvPr/>
        </p:nvSpPr>
        <p:spPr>
          <a:xfrm>
            <a:off x="1143635" y="266700"/>
            <a:ext cx="59359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实例：微信朋友圈功能的测试流程</a:t>
            </a:r>
          </a:p>
        </p:txBody>
      </p:sp>
      <p:graphicFrame>
        <p:nvGraphicFramePr>
          <p:cNvPr id="7" name="表格 6"/>
          <p:cNvGraphicFramePr/>
          <p:nvPr>
            <p:custDataLst>
              <p:tags r:id="rId1"/>
            </p:custDataLst>
            <p:extLst>
              <p:ext uri="{D42A27DB-BD31-4B8C-83A1-F6EECF244321}">
                <p14:modId xmlns:p14="http://schemas.microsoft.com/office/powerpoint/2010/main" val="524381438"/>
              </p:ext>
            </p:extLst>
          </p:nvPr>
        </p:nvGraphicFramePr>
        <p:xfrm>
          <a:off x="1055370" y="1880235"/>
          <a:ext cx="5186045" cy="4102100"/>
        </p:xfrm>
        <a:graphic>
          <a:graphicData uri="http://schemas.openxmlformats.org/drawingml/2006/table">
            <a:tbl>
              <a:tblPr firstRow="1" bandRow="1">
                <a:tableStyleId>{5C22544A-7EE6-4342-B048-85BDC9FD1C3A}</a:tableStyleId>
              </a:tblPr>
              <a:tblGrid>
                <a:gridCol w="1510030">
                  <a:extLst>
                    <a:ext uri="{9D8B030D-6E8A-4147-A177-3AD203B41FA5}">
                      <a16:colId xmlns:a16="http://schemas.microsoft.com/office/drawing/2014/main" val="20000"/>
                    </a:ext>
                  </a:extLst>
                </a:gridCol>
                <a:gridCol w="3676015">
                  <a:extLst>
                    <a:ext uri="{9D8B030D-6E8A-4147-A177-3AD203B41FA5}">
                      <a16:colId xmlns:a16="http://schemas.microsoft.com/office/drawing/2014/main" val="20001"/>
                    </a:ext>
                  </a:extLst>
                </a:gridCol>
              </a:tblGrid>
              <a:tr h="472440">
                <a:tc>
                  <a:txBody>
                    <a:bodyPr/>
                    <a:lstStyle/>
                    <a:p>
                      <a:pPr algn="ctr">
                        <a:buNone/>
                      </a:pPr>
                      <a:r>
                        <a:rPr lang="zh-CN" altLang="en-US" sz="1600">
                          <a:latin typeface="微软雅黑" panose="020B0503020204020204" pitchFamily="34" charset="-122"/>
                          <a:ea typeface="微软雅黑" panose="020B0503020204020204" pitchFamily="34" charset="-122"/>
                        </a:rPr>
                        <a:t>缺陷ID</a:t>
                      </a:r>
                    </a:p>
                  </a:txBody>
                  <a:tcPr anchor="ctr"/>
                </a:tc>
                <a:tc>
                  <a:txBody>
                    <a:bodyPr/>
                    <a:lstStyle/>
                    <a:p>
                      <a:pPr algn="l">
                        <a:buNone/>
                      </a:pPr>
                      <a:r>
                        <a:rPr lang="zh-CN" altLang="en-US" sz="1600" b="0" dirty="0">
                          <a:solidFill>
                            <a:srgbClr val="595959"/>
                          </a:solidFill>
                          <a:latin typeface="微软雅黑" panose="020B0503020204020204" pitchFamily="34" charset="-122"/>
                          <a:ea typeface="微软雅黑" panose="020B0503020204020204" pitchFamily="34" charset="-122"/>
                        </a:rPr>
                        <a:t>2</a:t>
                      </a:r>
                      <a:r>
                        <a:rPr lang="en-US" altLang="zh-CN" sz="1600" b="0" dirty="0">
                          <a:solidFill>
                            <a:srgbClr val="595959"/>
                          </a:solidFill>
                          <a:latin typeface="微软雅黑" panose="020B0503020204020204" pitchFamily="34" charset="-122"/>
                          <a:ea typeface="微软雅黑" panose="020B0503020204020204" pitchFamily="34" charset="-122"/>
                        </a:rPr>
                        <a:t>5</a:t>
                      </a:r>
                      <a:r>
                        <a:rPr lang="zh-CN" altLang="en-US" sz="1600" b="0" dirty="0">
                          <a:solidFill>
                            <a:srgbClr val="595959"/>
                          </a:solidFill>
                          <a:latin typeface="微软雅黑" panose="020B0503020204020204" pitchFamily="34" charset="-122"/>
                          <a:ea typeface="微软雅黑" panose="020B0503020204020204" pitchFamily="34" charset="-122"/>
                        </a:rPr>
                        <a:t>_0</a:t>
                      </a:r>
                      <a:r>
                        <a:rPr lang="en-US" altLang="zh-CN" sz="1600" b="0" dirty="0">
                          <a:solidFill>
                            <a:srgbClr val="595959"/>
                          </a:solidFill>
                          <a:latin typeface="微软雅黑" panose="020B0503020204020204" pitchFamily="34" charset="-122"/>
                          <a:ea typeface="微软雅黑" panose="020B0503020204020204" pitchFamily="34" charset="-122"/>
                        </a:rPr>
                        <a:t>9</a:t>
                      </a:r>
                      <a:r>
                        <a:rPr lang="zh-CN" altLang="en-US" sz="1600" b="0" dirty="0">
                          <a:solidFill>
                            <a:srgbClr val="595959"/>
                          </a:solidFill>
                          <a:latin typeface="微软雅黑" panose="020B0503020204020204" pitchFamily="34" charset="-122"/>
                          <a:ea typeface="微软雅黑" panose="020B0503020204020204" pitchFamily="34" charset="-122"/>
                        </a:rPr>
                        <a:t>_001</a:t>
                      </a:r>
                    </a:p>
                  </a:txBody>
                  <a:tcPr anchor="ctr">
                    <a:solidFill>
                      <a:schemeClr val="accent2">
                        <a:lumMod val="20000"/>
                        <a:lumOff val="80000"/>
                      </a:schemeClr>
                    </a:solidFill>
                  </a:tcPr>
                </a:tc>
                <a:extLst>
                  <a:ext uri="{0D108BD9-81ED-4DB2-BD59-A6C34878D82A}">
                    <a16:rowId xmlns:a16="http://schemas.microsoft.com/office/drawing/2014/main" val="10000"/>
                  </a:ext>
                </a:extLst>
              </a:tr>
              <a:tr h="468630">
                <a:tc>
                  <a:txBody>
                    <a:bodyPr/>
                    <a:lstStyle/>
                    <a:p>
                      <a:pPr algn="ctr">
                        <a:buClrTx/>
                        <a:buSzTx/>
                        <a:buFontTx/>
                        <a:buNone/>
                      </a:pPr>
                      <a:r>
                        <a:rPr lang="zh-CN" altLang="en-US" sz="1600" b="1">
                          <a:solidFill>
                            <a:schemeClr val="lt1"/>
                          </a:solidFill>
                          <a:latin typeface="微软雅黑" panose="020B0503020204020204" pitchFamily="34" charset="-122"/>
                          <a:ea typeface="微软雅黑" panose="020B0503020204020204" pitchFamily="34" charset="-122"/>
                        </a:rPr>
                        <a:t>测试软件名称</a:t>
                      </a:r>
                    </a:p>
                  </a:txBody>
                  <a:tcPr anchor="ctr">
                    <a:solidFill>
                      <a:schemeClr val="accent1"/>
                    </a:solidFill>
                  </a:tcPr>
                </a:tc>
                <a:tc>
                  <a:txBody>
                    <a:bodyPr/>
                    <a:lstStyle/>
                    <a:p>
                      <a:pPr algn="l">
                        <a:buClrTx/>
                        <a:buSzTx/>
                        <a:buFontTx/>
                        <a:buNone/>
                      </a:pPr>
                      <a:r>
                        <a:rPr lang="zh-CN" altLang="en-US" sz="1600" dirty="0">
                          <a:solidFill>
                            <a:srgbClr val="595959"/>
                          </a:solidFill>
                          <a:latin typeface="微软雅黑" panose="020B0503020204020204" pitchFamily="34" charset="-122"/>
                          <a:ea typeface="微软雅黑" panose="020B0503020204020204" pitchFamily="34" charset="-122"/>
                        </a:rPr>
                        <a:t>微信</a:t>
                      </a:r>
                    </a:p>
                  </a:txBody>
                  <a:tcPr anchor="ctr"/>
                </a:tc>
                <a:extLst>
                  <a:ext uri="{0D108BD9-81ED-4DB2-BD59-A6C34878D82A}">
                    <a16:rowId xmlns:a16="http://schemas.microsoft.com/office/drawing/2014/main" val="10001"/>
                  </a:ext>
                </a:extLst>
              </a:tr>
              <a:tr h="467995">
                <a:tc>
                  <a:txBody>
                    <a:bodyPr/>
                    <a:lstStyle/>
                    <a:p>
                      <a:pPr algn="ctr">
                        <a:buNone/>
                      </a:pPr>
                      <a:r>
                        <a:rPr lang="zh-CN" altLang="en-US" sz="1600" b="1">
                          <a:solidFill>
                            <a:schemeClr val="lt1"/>
                          </a:solidFill>
                          <a:latin typeface="微软雅黑" panose="020B0503020204020204" pitchFamily="34" charset="-122"/>
                          <a:ea typeface="微软雅黑" panose="020B0503020204020204" pitchFamily="34" charset="-122"/>
                        </a:rPr>
                        <a:t>测试软件版本</a:t>
                      </a:r>
                    </a:p>
                  </a:txBody>
                  <a:tcPr anchor="ctr">
                    <a:solidFill>
                      <a:schemeClr val="accent1"/>
                    </a:solidFill>
                  </a:tcPr>
                </a:tc>
                <a:tc>
                  <a:txBody>
                    <a:bodyPr/>
                    <a:lstStyle/>
                    <a:p>
                      <a:pPr algn="l">
                        <a:buClrTx/>
                        <a:buSzTx/>
                        <a:buFontTx/>
                        <a:buNone/>
                      </a:pPr>
                      <a:r>
                        <a:rPr lang="en-US" altLang="zh-CN" sz="1600" dirty="0">
                          <a:solidFill>
                            <a:srgbClr val="595959"/>
                          </a:solidFill>
                          <a:latin typeface="微软雅黑" panose="020B0503020204020204" pitchFamily="34" charset="-122"/>
                          <a:ea typeface="微软雅黑" panose="020B0503020204020204" pitchFamily="34" charset="-122"/>
                        </a:rPr>
                        <a:t>8.0.62</a:t>
                      </a:r>
                      <a:endParaRPr lang="zh-CN" altLang="en-US" sz="1600" dirty="0">
                        <a:solidFill>
                          <a:srgbClr val="595959"/>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2"/>
                  </a:ext>
                </a:extLst>
              </a:tr>
              <a:tr h="467995">
                <a:tc>
                  <a:txBody>
                    <a:bodyPr/>
                    <a:lstStyle/>
                    <a:p>
                      <a:pPr algn="ctr">
                        <a:buNone/>
                      </a:pPr>
                      <a:r>
                        <a:rPr lang="zh-CN" altLang="en-US" sz="1600" b="1">
                          <a:solidFill>
                            <a:schemeClr val="lt1"/>
                          </a:solidFill>
                          <a:latin typeface="微软雅黑" panose="020B0503020204020204" pitchFamily="34" charset="-122"/>
                          <a:ea typeface="微软雅黑" panose="020B0503020204020204" pitchFamily="34" charset="-122"/>
                        </a:rPr>
                        <a:t>缺陷发现日期</a:t>
                      </a:r>
                    </a:p>
                  </a:txBody>
                  <a:tcPr anchor="ctr">
                    <a:solidFill>
                      <a:schemeClr val="accent1"/>
                    </a:solidFill>
                  </a:tcPr>
                </a:tc>
                <a:tc>
                  <a:txBody>
                    <a:bodyPr/>
                    <a:lstStyle/>
                    <a:p>
                      <a:pPr algn="l">
                        <a:buClrTx/>
                        <a:buSzTx/>
                        <a:buFontTx/>
                        <a:buNone/>
                      </a:pPr>
                      <a:r>
                        <a:rPr lang="zh-CN" altLang="en-US" sz="1600" dirty="0">
                          <a:solidFill>
                            <a:srgbClr val="595959"/>
                          </a:solidFill>
                          <a:latin typeface="微软雅黑" panose="020B0503020204020204" pitchFamily="34" charset="-122"/>
                          <a:ea typeface="微软雅黑" panose="020B0503020204020204" pitchFamily="34" charset="-122"/>
                        </a:rPr>
                        <a:t>20</a:t>
                      </a:r>
                      <a:r>
                        <a:rPr lang="en-US" altLang="zh-CN" sz="1600" dirty="0">
                          <a:solidFill>
                            <a:srgbClr val="595959"/>
                          </a:solidFill>
                          <a:latin typeface="微软雅黑" panose="020B0503020204020204" pitchFamily="34" charset="-122"/>
                          <a:ea typeface="微软雅黑" panose="020B0503020204020204" pitchFamily="34" charset="-122"/>
                        </a:rPr>
                        <a:t>25</a:t>
                      </a:r>
                      <a:r>
                        <a:rPr lang="zh-CN" altLang="en-US" sz="1600" dirty="0">
                          <a:solidFill>
                            <a:srgbClr val="595959"/>
                          </a:solidFill>
                          <a:latin typeface="微软雅黑" panose="020B0503020204020204" pitchFamily="34" charset="-122"/>
                          <a:ea typeface="微软雅黑" panose="020B0503020204020204" pitchFamily="34" charset="-122"/>
                        </a:rPr>
                        <a:t>0</a:t>
                      </a:r>
                      <a:r>
                        <a:rPr lang="en-US" altLang="zh-CN" sz="1600" dirty="0">
                          <a:solidFill>
                            <a:srgbClr val="595959"/>
                          </a:solidFill>
                          <a:latin typeface="微软雅黑" panose="020B0503020204020204" pitchFamily="34" charset="-122"/>
                          <a:ea typeface="微软雅黑" panose="020B0503020204020204" pitchFamily="34" charset="-122"/>
                        </a:rPr>
                        <a:t>9</a:t>
                      </a:r>
                      <a:r>
                        <a:rPr lang="zh-CN" altLang="en-US" sz="1600" dirty="0">
                          <a:solidFill>
                            <a:srgbClr val="595959"/>
                          </a:solidFill>
                          <a:latin typeface="微软雅黑" panose="020B0503020204020204" pitchFamily="34" charset="-122"/>
                          <a:ea typeface="微软雅黑" panose="020B0503020204020204" pitchFamily="34" charset="-122"/>
                        </a:rPr>
                        <a:t>02</a:t>
                      </a:r>
                    </a:p>
                  </a:txBody>
                  <a:tcPr anchor="ctr"/>
                </a:tc>
                <a:extLst>
                  <a:ext uri="{0D108BD9-81ED-4DB2-BD59-A6C34878D82A}">
                    <a16:rowId xmlns:a16="http://schemas.microsoft.com/office/drawing/2014/main" val="10003"/>
                  </a:ext>
                </a:extLst>
              </a:tr>
              <a:tr h="467360">
                <a:tc>
                  <a:txBody>
                    <a:bodyPr/>
                    <a:lstStyle/>
                    <a:p>
                      <a:pPr algn="ctr">
                        <a:buNone/>
                      </a:pPr>
                      <a:r>
                        <a:rPr lang="zh-CN" altLang="en-US" sz="1600" b="1">
                          <a:solidFill>
                            <a:schemeClr val="lt1"/>
                          </a:solidFill>
                          <a:latin typeface="微软雅黑" panose="020B0503020204020204" pitchFamily="34" charset="-122"/>
                          <a:ea typeface="微软雅黑" panose="020B0503020204020204" pitchFamily="34" charset="-122"/>
                        </a:rPr>
                        <a:t>测试人员</a:t>
                      </a:r>
                    </a:p>
                  </a:txBody>
                  <a:tcPr anchor="ctr">
                    <a:solidFill>
                      <a:schemeClr val="accent1"/>
                    </a:solidFill>
                  </a:tcPr>
                </a:tc>
                <a:tc>
                  <a:txBody>
                    <a:bodyPr/>
                    <a:lstStyle/>
                    <a:p>
                      <a:pPr algn="l">
                        <a:buClrTx/>
                        <a:buSzTx/>
                        <a:buFontTx/>
                        <a:buNone/>
                      </a:pPr>
                      <a:r>
                        <a:rPr lang="zh-CN" altLang="en-US" sz="1600" dirty="0">
                          <a:solidFill>
                            <a:srgbClr val="595959"/>
                          </a:solidFill>
                          <a:latin typeface="微软雅黑" panose="020B0503020204020204" pitchFamily="34" charset="-122"/>
                          <a:ea typeface="微软雅黑" panose="020B0503020204020204" pitchFamily="34" charset="-122"/>
                        </a:rPr>
                        <a:t>测试员1</a:t>
                      </a:r>
                    </a:p>
                  </a:txBody>
                  <a:tcPr anchor="ctr"/>
                </a:tc>
                <a:extLst>
                  <a:ext uri="{0D108BD9-81ED-4DB2-BD59-A6C34878D82A}">
                    <a16:rowId xmlns:a16="http://schemas.microsoft.com/office/drawing/2014/main" val="10004"/>
                  </a:ext>
                </a:extLst>
              </a:tr>
              <a:tr h="469265">
                <a:tc>
                  <a:txBody>
                    <a:bodyPr/>
                    <a:lstStyle/>
                    <a:p>
                      <a:pPr algn="ctr">
                        <a:buNone/>
                      </a:pPr>
                      <a:r>
                        <a:rPr lang="zh-CN" altLang="en-US" sz="1600" b="1">
                          <a:solidFill>
                            <a:schemeClr val="lt1"/>
                          </a:solidFill>
                          <a:latin typeface="微软雅黑" panose="020B0503020204020204" pitchFamily="34" charset="-122"/>
                          <a:ea typeface="微软雅黑" panose="020B0503020204020204" pitchFamily="34" charset="-122"/>
                        </a:rPr>
                        <a:t>缺陷描述</a:t>
                      </a:r>
                    </a:p>
                  </a:txBody>
                  <a:tcPr anchor="ctr">
                    <a:solidFill>
                      <a:schemeClr val="accent1"/>
                    </a:solidFill>
                  </a:tcPr>
                </a:tc>
                <a:tc>
                  <a:txBody>
                    <a:bodyPr/>
                    <a:lstStyle/>
                    <a:p>
                      <a:pPr algn="l">
                        <a:buClrTx/>
                        <a:buSzTx/>
                        <a:buFontTx/>
                        <a:buNone/>
                      </a:pPr>
                      <a:r>
                        <a:rPr lang="zh-CN" altLang="en-US" sz="1600" dirty="0">
                          <a:solidFill>
                            <a:srgbClr val="595959"/>
                          </a:solidFill>
                          <a:latin typeface="微软雅黑" panose="020B0503020204020204" pitchFamily="34" charset="-122"/>
                          <a:ea typeface="微软雅黑" panose="020B0503020204020204" pitchFamily="34" charset="-122"/>
                        </a:rPr>
                        <a:t>该版本的发布朋友圈功能在输入内容为空的情况下，点击“发表”按钮后发布成功</a:t>
                      </a:r>
                    </a:p>
                  </a:txBody>
                  <a:tcPr anchor="ctr"/>
                </a:tc>
                <a:extLst>
                  <a:ext uri="{0D108BD9-81ED-4DB2-BD59-A6C34878D82A}">
                    <a16:rowId xmlns:a16="http://schemas.microsoft.com/office/drawing/2014/main" val="10005"/>
                  </a:ext>
                </a:extLst>
              </a:tr>
              <a:tr h="467360">
                <a:tc>
                  <a:txBody>
                    <a:bodyPr/>
                    <a:lstStyle/>
                    <a:p>
                      <a:pPr algn="ctr">
                        <a:buClrTx/>
                        <a:buSzTx/>
                        <a:buFontTx/>
                        <a:buNone/>
                      </a:pPr>
                      <a:r>
                        <a:rPr lang="zh-CN" altLang="en-US" sz="1600" b="1">
                          <a:solidFill>
                            <a:schemeClr val="lt1"/>
                          </a:solidFill>
                          <a:latin typeface="微软雅黑" panose="020B0503020204020204" pitchFamily="34" charset="-122"/>
                          <a:ea typeface="微软雅黑" panose="020B0503020204020204" pitchFamily="34" charset="-122"/>
                        </a:rPr>
                        <a:t>附件（可附图）</a:t>
                      </a:r>
                    </a:p>
                  </a:txBody>
                  <a:tcPr anchor="ctr">
                    <a:solidFill>
                      <a:schemeClr val="accent1"/>
                    </a:solidFill>
                  </a:tcPr>
                </a:tc>
                <a:tc>
                  <a:txBody>
                    <a:bodyPr/>
                    <a:lstStyle/>
                    <a:p>
                      <a:pPr algn="l">
                        <a:buClrTx/>
                        <a:buSzTx/>
                        <a:buFontTx/>
                        <a:buNone/>
                      </a:pPr>
                      <a:r>
                        <a:rPr lang="zh-CN" altLang="en-US" sz="1600" dirty="0">
                          <a:solidFill>
                            <a:srgbClr val="595959"/>
                          </a:solidFill>
                          <a:latin typeface="微软雅黑" panose="020B0503020204020204" pitchFamily="34" charset="-122"/>
                          <a:ea typeface="微软雅黑" panose="020B0503020204020204" pitchFamily="34" charset="-122"/>
                        </a:rPr>
                        <a:t>附图1（链接）</a:t>
                      </a:r>
                    </a:p>
                  </a:txBody>
                  <a:tcPr anchor="ctr"/>
                </a:tc>
                <a:extLst>
                  <a:ext uri="{0D108BD9-81ED-4DB2-BD59-A6C34878D82A}">
                    <a16:rowId xmlns:a16="http://schemas.microsoft.com/office/drawing/2014/main" val="10006"/>
                  </a:ext>
                </a:extLst>
              </a:tr>
              <a:tr h="467360">
                <a:tc>
                  <a:txBody>
                    <a:bodyPr/>
                    <a:lstStyle/>
                    <a:p>
                      <a:pPr algn="ctr">
                        <a:buClrTx/>
                        <a:buSzTx/>
                        <a:buFontTx/>
                        <a:buNone/>
                      </a:pPr>
                      <a:r>
                        <a:rPr lang="zh-CN" altLang="en-US" sz="1600" b="1" dirty="0">
                          <a:solidFill>
                            <a:schemeClr val="lt1"/>
                          </a:solidFill>
                          <a:latin typeface="微软雅黑" panose="020B0503020204020204" pitchFamily="34" charset="-122"/>
                          <a:ea typeface="微软雅黑" panose="020B0503020204020204" pitchFamily="34" charset="-122"/>
                        </a:rPr>
                        <a:t>缺陷类型</a:t>
                      </a:r>
                    </a:p>
                  </a:txBody>
                  <a:tcPr anchor="ctr">
                    <a:solidFill>
                      <a:schemeClr val="accent1"/>
                    </a:solidFill>
                  </a:tcPr>
                </a:tc>
                <a:tc>
                  <a:txBody>
                    <a:bodyPr/>
                    <a:lstStyle/>
                    <a:p>
                      <a:pPr algn="l">
                        <a:buClrTx/>
                        <a:buSzTx/>
                        <a:buFontTx/>
                        <a:buNone/>
                      </a:pPr>
                      <a:r>
                        <a:rPr lang="zh-CN" altLang="en-US" sz="1600" dirty="0">
                          <a:solidFill>
                            <a:srgbClr val="595959"/>
                          </a:solidFill>
                          <a:latin typeface="微软雅黑" panose="020B0503020204020204" pitchFamily="34" charset="-122"/>
                          <a:ea typeface="微软雅黑" panose="020B0503020204020204" pitchFamily="34" charset="-122"/>
                        </a:rPr>
                        <a:t>功能类型缺陷</a:t>
                      </a:r>
                    </a:p>
                  </a:txBody>
                  <a:tcPr anchor="ctr"/>
                </a:tc>
                <a:extLst>
                  <a:ext uri="{0D108BD9-81ED-4DB2-BD59-A6C34878D82A}">
                    <a16:rowId xmlns:a16="http://schemas.microsoft.com/office/drawing/2014/main" val="10007"/>
                  </a:ext>
                </a:extLst>
              </a:tr>
            </a:tbl>
          </a:graphicData>
        </a:graphic>
      </p:graphicFrame>
      <p:graphicFrame>
        <p:nvGraphicFramePr>
          <p:cNvPr id="4" name="表格 3"/>
          <p:cNvGraphicFramePr/>
          <p:nvPr>
            <p:custDataLst>
              <p:tags r:id="rId2"/>
            </p:custDataLst>
            <p:extLst>
              <p:ext uri="{D42A27DB-BD31-4B8C-83A1-F6EECF244321}">
                <p14:modId xmlns:p14="http://schemas.microsoft.com/office/powerpoint/2010/main" val="3287755557"/>
              </p:ext>
            </p:extLst>
          </p:nvPr>
        </p:nvGraphicFramePr>
        <p:xfrm>
          <a:off x="6454775" y="1892300"/>
          <a:ext cx="5186045" cy="3355975"/>
        </p:xfrm>
        <a:graphic>
          <a:graphicData uri="http://schemas.openxmlformats.org/drawingml/2006/table">
            <a:tbl>
              <a:tblPr firstRow="1" bandRow="1">
                <a:tableStyleId>{5C22544A-7EE6-4342-B048-85BDC9FD1C3A}</a:tableStyleId>
              </a:tblPr>
              <a:tblGrid>
                <a:gridCol w="1510030">
                  <a:extLst>
                    <a:ext uri="{9D8B030D-6E8A-4147-A177-3AD203B41FA5}">
                      <a16:colId xmlns:a16="http://schemas.microsoft.com/office/drawing/2014/main" val="20000"/>
                    </a:ext>
                  </a:extLst>
                </a:gridCol>
                <a:gridCol w="3676015">
                  <a:extLst>
                    <a:ext uri="{9D8B030D-6E8A-4147-A177-3AD203B41FA5}">
                      <a16:colId xmlns:a16="http://schemas.microsoft.com/office/drawing/2014/main" val="20001"/>
                    </a:ext>
                  </a:extLst>
                </a:gridCol>
              </a:tblGrid>
              <a:tr h="528955">
                <a:tc>
                  <a:txBody>
                    <a:bodyPr/>
                    <a:lstStyle/>
                    <a:p>
                      <a:pPr algn="ctr">
                        <a:buNone/>
                      </a:pPr>
                      <a:r>
                        <a:rPr lang="zh-CN" altLang="en-US" sz="1600">
                          <a:latin typeface="微软雅黑" panose="020B0503020204020204" pitchFamily="34" charset="-122"/>
                          <a:ea typeface="微软雅黑" panose="020B0503020204020204" pitchFamily="34" charset="-122"/>
                          <a:sym typeface="+mn-ea"/>
                        </a:rPr>
                        <a:t>缺陷严重程度</a:t>
                      </a:r>
                      <a:endParaRPr lang="zh-CN" altLang="en-US" sz="1600">
                        <a:latin typeface="微软雅黑" panose="020B0503020204020204" pitchFamily="34" charset="-122"/>
                        <a:ea typeface="微软雅黑" panose="020B0503020204020204" pitchFamily="34" charset="-122"/>
                      </a:endParaRPr>
                    </a:p>
                  </a:txBody>
                  <a:tcPr anchor="ctr"/>
                </a:tc>
                <a:tc>
                  <a:txBody>
                    <a:bodyPr/>
                    <a:lstStyle/>
                    <a:p>
                      <a:pPr algn="l">
                        <a:buClrTx/>
                        <a:buSzTx/>
                        <a:buFontTx/>
                        <a:buNone/>
                      </a:pPr>
                      <a:r>
                        <a:rPr lang="zh-CN" altLang="en-US" sz="1600" b="0" dirty="0">
                          <a:solidFill>
                            <a:srgbClr val="595959"/>
                          </a:solidFill>
                          <a:latin typeface="微软雅黑" panose="020B0503020204020204" pitchFamily="34" charset="-122"/>
                          <a:ea typeface="微软雅黑" panose="020B0503020204020204" pitchFamily="34" charset="-122"/>
                          <a:sym typeface="+mn-ea"/>
                        </a:rPr>
                        <a:t>严重</a:t>
                      </a:r>
                      <a:endParaRPr lang="zh-CN" altLang="en-US" sz="1600" b="0" dirty="0">
                        <a:solidFill>
                          <a:srgbClr val="595959"/>
                        </a:solidFill>
                        <a:latin typeface="微软雅黑" panose="020B0503020204020204" pitchFamily="34" charset="-122"/>
                        <a:ea typeface="微软雅黑" panose="020B0503020204020204" pitchFamily="34" charset="-122"/>
                      </a:endParaRPr>
                    </a:p>
                  </a:txBody>
                  <a:tcPr anchor="ctr">
                    <a:solidFill>
                      <a:schemeClr val="accent2">
                        <a:lumMod val="20000"/>
                        <a:lumOff val="80000"/>
                      </a:schemeClr>
                    </a:solidFill>
                  </a:tcPr>
                </a:tc>
                <a:extLst>
                  <a:ext uri="{0D108BD9-81ED-4DB2-BD59-A6C34878D82A}">
                    <a16:rowId xmlns:a16="http://schemas.microsoft.com/office/drawing/2014/main" val="10000"/>
                  </a:ext>
                </a:extLst>
              </a:tr>
              <a:tr h="467995">
                <a:tc>
                  <a:txBody>
                    <a:bodyPr/>
                    <a:lstStyle/>
                    <a:p>
                      <a:pPr algn="ctr">
                        <a:buNone/>
                      </a:pPr>
                      <a:r>
                        <a:rPr lang="zh-CN" altLang="en-US" sz="1600" b="1">
                          <a:solidFill>
                            <a:schemeClr val="lt1"/>
                          </a:solidFill>
                          <a:latin typeface="微软雅黑" panose="020B0503020204020204" pitchFamily="34" charset="-122"/>
                          <a:ea typeface="微软雅黑" panose="020B0503020204020204" pitchFamily="34" charset="-122"/>
                        </a:rPr>
                        <a:t>缺陷优先级</a:t>
                      </a:r>
                    </a:p>
                  </a:txBody>
                  <a:tcPr anchor="ctr">
                    <a:solidFill>
                      <a:schemeClr val="accent1"/>
                    </a:solidFill>
                  </a:tcPr>
                </a:tc>
                <a:tc>
                  <a:txBody>
                    <a:bodyPr/>
                    <a:lstStyle/>
                    <a:p>
                      <a:pPr algn="l">
                        <a:buClrTx/>
                        <a:buSzTx/>
                        <a:buFontTx/>
                        <a:buNone/>
                      </a:pPr>
                      <a:r>
                        <a:rPr lang="zh-CN" altLang="en-US" sz="1600" dirty="0">
                          <a:solidFill>
                            <a:srgbClr val="595959"/>
                          </a:solidFill>
                          <a:latin typeface="微软雅黑" panose="020B0503020204020204" pitchFamily="34" charset="-122"/>
                          <a:ea typeface="微软雅黑" panose="020B0503020204020204" pitchFamily="34" charset="-122"/>
                        </a:rPr>
                        <a:t>立即解决</a:t>
                      </a:r>
                    </a:p>
                  </a:txBody>
                  <a:tcPr anchor="ctr"/>
                </a:tc>
                <a:extLst>
                  <a:ext uri="{0D108BD9-81ED-4DB2-BD59-A6C34878D82A}">
                    <a16:rowId xmlns:a16="http://schemas.microsoft.com/office/drawing/2014/main" val="10001"/>
                  </a:ext>
                </a:extLst>
              </a:tr>
              <a:tr h="467995">
                <a:tc>
                  <a:txBody>
                    <a:bodyPr/>
                    <a:lstStyle/>
                    <a:p>
                      <a:pPr algn="ctr">
                        <a:buNone/>
                      </a:pPr>
                      <a:r>
                        <a:rPr lang="zh-CN" altLang="en-US" sz="1600" b="1">
                          <a:solidFill>
                            <a:schemeClr val="lt1"/>
                          </a:solidFill>
                          <a:latin typeface="微软雅黑" panose="020B0503020204020204" pitchFamily="34" charset="-122"/>
                          <a:ea typeface="微软雅黑" panose="020B0503020204020204" pitchFamily="34" charset="-122"/>
                        </a:rPr>
                        <a:t>测试环境</a:t>
                      </a:r>
                    </a:p>
                  </a:txBody>
                  <a:tcPr anchor="ctr">
                    <a:solidFill>
                      <a:schemeClr val="accent1"/>
                    </a:solidFill>
                  </a:tcPr>
                </a:tc>
                <a:tc>
                  <a:txBody>
                    <a:bodyPr/>
                    <a:lstStyle/>
                    <a:p>
                      <a:pPr algn="l">
                        <a:buClrTx/>
                        <a:buSzTx/>
                        <a:buFontTx/>
                        <a:buNone/>
                      </a:pPr>
                      <a:r>
                        <a:rPr lang="zh-CN" altLang="en-US" sz="1600" dirty="0">
                          <a:solidFill>
                            <a:srgbClr val="595959"/>
                          </a:solidFill>
                          <a:latin typeface="微软雅黑" panose="020B0503020204020204" pitchFamily="34" charset="-122"/>
                          <a:ea typeface="微软雅黑" panose="020B0503020204020204" pitchFamily="34" charset="-122"/>
                        </a:rPr>
                        <a:t>手机信息：</a:t>
                      </a:r>
                      <a:r>
                        <a:rPr lang="en-US" altLang="zh-CN" sz="1600" dirty="0">
                          <a:solidFill>
                            <a:srgbClr val="595959"/>
                          </a:solidFill>
                          <a:latin typeface="微软雅黑" panose="020B0503020204020204" pitchFamily="34" charset="-122"/>
                          <a:ea typeface="微软雅黑" panose="020B0503020204020204" pitchFamily="34" charset="-122"/>
                        </a:rPr>
                        <a:t>vivo X100;</a:t>
                      </a:r>
                      <a:endParaRPr lang="zh-CN" altLang="en-US" sz="1600" dirty="0">
                        <a:solidFill>
                          <a:srgbClr val="595959"/>
                        </a:solidFill>
                        <a:latin typeface="微软雅黑" panose="020B0503020204020204" pitchFamily="34" charset="-122"/>
                        <a:ea typeface="微软雅黑" panose="020B0503020204020204" pitchFamily="34" charset="-122"/>
                      </a:endParaRPr>
                    </a:p>
                    <a:p>
                      <a:pPr algn="l">
                        <a:buClrTx/>
                        <a:buSzTx/>
                        <a:buFontTx/>
                        <a:buNone/>
                      </a:pPr>
                      <a:r>
                        <a:rPr lang="zh-CN" altLang="en-US" sz="1600" dirty="0">
                          <a:solidFill>
                            <a:srgbClr val="595959"/>
                          </a:solidFill>
                          <a:latin typeface="微软雅黑" panose="020B0503020204020204" pitchFamily="34" charset="-122"/>
                          <a:ea typeface="微软雅黑" panose="020B0503020204020204" pitchFamily="34" charset="-122"/>
                        </a:rPr>
                        <a:t>内存：</a:t>
                      </a:r>
                      <a:r>
                        <a:rPr lang="en-US" altLang="zh-CN" sz="1600" dirty="0">
                          <a:solidFill>
                            <a:srgbClr val="595959"/>
                          </a:solidFill>
                          <a:latin typeface="微软雅黑" panose="020B0503020204020204" pitchFamily="34" charset="-122"/>
                          <a:ea typeface="微软雅黑" panose="020B0503020204020204" pitchFamily="34" charset="-122"/>
                        </a:rPr>
                        <a:t>16.0</a:t>
                      </a:r>
                      <a:r>
                        <a:rPr lang="zh-CN" altLang="en-US" sz="1600" dirty="0">
                          <a:solidFill>
                            <a:srgbClr val="595959"/>
                          </a:solidFill>
                          <a:latin typeface="微软雅黑" panose="020B0503020204020204" pitchFamily="34" charset="-122"/>
                          <a:ea typeface="微软雅黑" panose="020B0503020204020204" pitchFamily="34" charset="-122"/>
                        </a:rPr>
                        <a:t>GB</a:t>
                      </a:r>
                      <a:r>
                        <a:rPr lang="en-US" altLang="zh-CN" sz="1600" dirty="0">
                          <a:solidFill>
                            <a:srgbClr val="595959"/>
                          </a:solidFill>
                          <a:latin typeface="微软雅黑" panose="020B0503020204020204" pitchFamily="34" charset="-122"/>
                          <a:ea typeface="微软雅黑" panose="020B0503020204020204" pitchFamily="34" charset="-122"/>
                        </a:rPr>
                        <a:t>;</a:t>
                      </a:r>
                      <a:endParaRPr lang="zh-CN" altLang="en-US" sz="1600" dirty="0">
                        <a:solidFill>
                          <a:srgbClr val="595959"/>
                        </a:solidFill>
                        <a:latin typeface="微软雅黑" panose="020B0503020204020204" pitchFamily="34" charset="-122"/>
                        <a:ea typeface="微软雅黑" panose="020B0503020204020204" pitchFamily="34" charset="-122"/>
                      </a:endParaRPr>
                    </a:p>
                    <a:p>
                      <a:pPr algn="l">
                        <a:buClrTx/>
                        <a:buSzTx/>
                        <a:buFontTx/>
                        <a:buNone/>
                      </a:pPr>
                      <a:r>
                        <a:rPr lang="zh-CN" altLang="en-US" sz="1600" dirty="0">
                          <a:solidFill>
                            <a:srgbClr val="595959"/>
                          </a:solidFill>
                          <a:latin typeface="微软雅黑" panose="020B0503020204020204" pitchFamily="34" charset="-122"/>
                          <a:ea typeface="微软雅黑" panose="020B0503020204020204" pitchFamily="34" charset="-122"/>
                        </a:rPr>
                        <a:t>系统类型：Android </a:t>
                      </a:r>
                      <a:r>
                        <a:rPr lang="en-US" altLang="zh-CN" sz="1600" dirty="0">
                          <a:solidFill>
                            <a:srgbClr val="595959"/>
                          </a:solidFill>
                          <a:latin typeface="微软雅黑" panose="020B0503020204020204" pitchFamily="34" charset="-122"/>
                          <a:ea typeface="微软雅黑" panose="020B0503020204020204" pitchFamily="34" charset="-122"/>
                        </a:rPr>
                        <a:t>15</a:t>
                      </a:r>
                      <a:r>
                        <a:rPr lang="zh-CN" altLang="en-US" sz="1600" dirty="0">
                          <a:solidFill>
                            <a:srgbClr val="595959"/>
                          </a:solidFill>
                          <a:latin typeface="微软雅黑" panose="020B0503020204020204" pitchFamily="34" charset="-122"/>
                          <a:ea typeface="微软雅黑" panose="020B0503020204020204" pitchFamily="34" charset="-122"/>
                        </a:rPr>
                        <a:t>.0操作系统</a:t>
                      </a:r>
                    </a:p>
                  </a:txBody>
                  <a:tcPr anchor="ctr"/>
                </a:tc>
                <a:extLst>
                  <a:ext uri="{0D108BD9-81ED-4DB2-BD59-A6C34878D82A}">
                    <a16:rowId xmlns:a16="http://schemas.microsoft.com/office/drawing/2014/main" val="10002"/>
                  </a:ext>
                </a:extLst>
              </a:tr>
              <a:tr h="467360">
                <a:tc>
                  <a:txBody>
                    <a:bodyPr/>
                    <a:lstStyle/>
                    <a:p>
                      <a:pPr algn="ctr">
                        <a:buNone/>
                      </a:pPr>
                      <a:r>
                        <a:rPr lang="zh-CN" altLang="en-US" sz="1600" b="1">
                          <a:solidFill>
                            <a:schemeClr val="lt1"/>
                          </a:solidFill>
                          <a:latin typeface="微软雅黑" panose="020B0503020204020204" pitchFamily="34" charset="-122"/>
                          <a:ea typeface="微软雅黑" panose="020B0503020204020204" pitchFamily="34" charset="-122"/>
                        </a:rPr>
                        <a:t>重现步骤</a:t>
                      </a:r>
                    </a:p>
                  </a:txBody>
                  <a:tcPr anchor="ctr">
                    <a:solidFill>
                      <a:schemeClr val="accent1"/>
                    </a:solidFill>
                  </a:tcPr>
                </a:tc>
                <a:tc>
                  <a:txBody>
                    <a:bodyPr/>
                    <a:lstStyle/>
                    <a:p>
                      <a:pPr algn="l">
                        <a:buClrTx/>
                        <a:buSzTx/>
                        <a:buFontTx/>
                        <a:buNone/>
                      </a:pPr>
                      <a:r>
                        <a:rPr lang="en-US" altLang="zh-CN" sz="1600" dirty="0">
                          <a:solidFill>
                            <a:srgbClr val="595959"/>
                          </a:solidFill>
                          <a:latin typeface="微软雅黑" panose="020B0503020204020204" pitchFamily="34" charset="-122"/>
                          <a:ea typeface="微软雅黑" panose="020B0503020204020204" pitchFamily="34" charset="-122"/>
                        </a:rPr>
                        <a:t>1.</a:t>
                      </a:r>
                      <a:r>
                        <a:rPr lang="zh-CN" altLang="en-US" sz="1600" dirty="0">
                          <a:solidFill>
                            <a:srgbClr val="595959"/>
                          </a:solidFill>
                          <a:latin typeface="微软雅黑" panose="020B0503020204020204" pitchFamily="34" charset="-122"/>
                          <a:ea typeface="微软雅黑" panose="020B0503020204020204" pitchFamily="34" charset="-122"/>
                        </a:rPr>
                        <a:t>在发现界面点击</a:t>
                      </a:r>
                      <a:r>
                        <a:rPr lang="zh-CN" altLang="en-US" sz="1600">
                          <a:solidFill>
                            <a:srgbClr val="595959"/>
                          </a:solidFill>
                          <a:latin typeface="微软雅黑" panose="020B0503020204020204" pitchFamily="34" charset="-122"/>
                          <a:ea typeface="微软雅黑" panose="020B0503020204020204" pitchFamily="34" charset="-122"/>
                        </a:rPr>
                        <a:t>朋友圈</a:t>
                      </a:r>
                      <a:r>
                        <a:rPr lang="en-US" altLang="zh-CN" sz="1600">
                          <a:solidFill>
                            <a:srgbClr val="595959"/>
                          </a:solidFill>
                          <a:latin typeface="微软雅黑" panose="020B0503020204020204" pitchFamily="34" charset="-122"/>
                          <a:ea typeface="微软雅黑" panose="020B0503020204020204" pitchFamily="34" charset="-122"/>
                        </a:rPr>
                        <a:t>;</a:t>
                      </a:r>
                      <a:endParaRPr lang="zh-CN" altLang="en-US" sz="1600" dirty="0">
                        <a:solidFill>
                          <a:srgbClr val="595959"/>
                        </a:solidFill>
                        <a:latin typeface="微软雅黑" panose="020B0503020204020204" pitchFamily="34" charset="-122"/>
                        <a:ea typeface="微软雅黑" panose="020B0503020204020204" pitchFamily="34" charset="-122"/>
                      </a:endParaRPr>
                    </a:p>
                    <a:p>
                      <a:pPr algn="l">
                        <a:buClrTx/>
                        <a:buSzTx/>
                        <a:buFontTx/>
                        <a:buNone/>
                      </a:pPr>
                      <a:r>
                        <a:rPr lang="en-US" altLang="zh-CN" sz="1600" dirty="0">
                          <a:solidFill>
                            <a:srgbClr val="595959"/>
                          </a:solidFill>
                          <a:latin typeface="微软雅黑" panose="020B0503020204020204" pitchFamily="34" charset="-122"/>
                          <a:ea typeface="微软雅黑" panose="020B0503020204020204" pitchFamily="34" charset="-122"/>
                        </a:rPr>
                        <a:t>2.</a:t>
                      </a:r>
                      <a:r>
                        <a:rPr lang="zh-CN" altLang="en-US" sz="1600" dirty="0">
                          <a:solidFill>
                            <a:srgbClr val="595959"/>
                          </a:solidFill>
                          <a:latin typeface="微软雅黑" panose="020B0503020204020204" pitchFamily="34" charset="-122"/>
                          <a:ea typeface="微软雅黑" panose="020B0503020204020204" pitchFamily="34" charset="-122"/>
                        </a:rPr>
                        <a:t>长按朋友圈界面右上角的</a:t>
                      </a:r>
                      <a:r>
                        <a:rPr lang="zh-CN" altLang="en-US" sz="1600">
                          <a:solidFill>
                            <a:srgbClr val="595959"/>
                          </a:solidFill>
                          <a:latin typeface="微软雅黑" panose="020B0503020204020204" pitchFamily="34" charset="-122"/>
                          <a:ea typeface="微软雅黑" panose="020B0503020204020204" pitchFamily="34" charset="-122"/>
                        </a:rPr>
                        <a:t>相机图标</a:t>
                      </a:r>
                      <a:r>
                        <a:rPr lang="en-US" altLang="zh-CN" sz="1600">
                          <a:solidFill>
                            <a:srgbClr val="595959"/>
                          </a:solidFill>
                          <a:latin typeface="微软雅黑" panose="020B0503020204020204" pitchFamily="34" charset="-122"/>
                          <a:ea typeface="微软雅黑" panose="020B0503020204020204" pitchFamily="34" charset="-122"/>
                        </a:rPr>
                        <a:t>;</a:t>
                      </a:r>
                      <a:endParaRPr lang="zh-CN" altLang="en-US" sz="1600" dirty="0">
                        <a:solidFill>
                          <a:srgbClr val="595959"/>
                        </a:solidFill>
                        <a:latin typeface="微软雅黑" panose="020B0503020204020204" pitchFamily="34" charset="-122"/>
                        <a:ea typeface="微软雅黑" panose="020B0503020204020204" pitchFamily="34" charset="-122"/>
                      </a:endParaRPr>
                    </a:p>
                    <a:p>
                      <a:pPr algn="l">
                        <a:buClrTx/>
                        <a:buSzTx/>
                        <a:buFontTx/>
                        <a:buNone/>
                      </a:pPr>
                      <a:r>
                        <a:rPr lang="en-US" altLang="zh-CN" sz="1600" dirty="0">
                          <a:solidFill>
                            <a:srgbClr val="595959"/>
                          </a:solidFill>
                          <a:latin typeface="微软雅黑" panose="020B0503020204020204" pitchFamily="34" charset="-122"/>
                          <a:ea typeface="微软雅黑" panose="020B0503020204020204" pitchFamily="34" charset="-122"/>
                        </a:rPr>
                        <a:t>3.</a:t>
                      </a:r>
                      <a:r>
                        <a:rPr lang="zh-CN" altLang="en-US" sz="1600" dirty="0">
                          <a:solidFill>
                            <a:srgbClr val="595959"/>
                          </a:solidFill>
                          <a:latin typeface="微软雅黑" panose="020B0503020204020204" pitchFamily="34" charset="-122"/>
                          <a:ea typeface="微软雅黑" panose="020B0503020204020204" pitchFamily="34" charset="-122"/>
                        </a:rPr>
                        <a:t>不</a:t>
                      </a:r>
                      <a:r>
                        <a:rPr lang="zh-CN" altLang="en-US" sz="1600">
                          <a:solidFill>
                            <a:srgbClr val="595959"/>
                          </a:solidFill>
                          <a:latin typeface="微软雅黑" panose="020B0503020204020204" pitchFamily="34" charset="-122"/>
                          <a:ea typeface="微软雅黑" panose="020B0503020204020204" pitchFamily="34" charset="-122"/>
                        </a:rPr>
                        <a:t>输入内容</a:t>
                      </a:r>
                      <a:r>
                        <a:rPr lang="en-US" altLang="zh-CN" sz="1600">
                          <a:solidFill>
                            <a:srgbClr val="595959"/>
                          </a:solidFill>
                          <a:latin typeface="微软雅黑" panose="020B0503020204020204" pitchFamily="34" charset="-122"/>
                          <a:ea typeface="微软雅黑" panose="020B0503020204020204" pitchFamily="34" charset="-122"/>
                        </a:rPr>
                        <a:t>;</a:t>
                      </a:r>
                      <a:endParaRPr lang="zh-CN" altLang="en-US" sz="1600" dirty="0">
                        <a:solidFill>
                          <a:srgbClr val="595959"/>
                        </a:solidFill>
                        <a:latin typeface="微软雅黑" panose="020B0503020204020204" pitchFamily="34" charset="-122"/>
                        <a:ea typeface="微软雅黑" panose="020B0503020204020204" pitchFamily="34" charset="-122"/>
                      </a:endParaRPr>
                    </a:p>
                    <a:p>
                      <a:pPr algn="l">
                        <a:buClrTx/>
                        <a:buSzTx/>
                        <a:buFontTx/>
                        <a:buNone/>
                      </a:pPr>
                      <a:r>
                        <a:rPr lang="en-US" altLang="zh-CN" sz="1600" dirty="0">
                          <a:solidFill>
                            <a:srgbClr val="595959"/>
                          </a:solidFill>
                          <a:latin typeface="微软雅黑" panose="020B0503020204020204" pitchFamily="34" charset="-122"/>
                          <a:ea typeface="微软雅黑" panose="020B0503020204020204" pitchFamily="34" charset="-122"/>
                        </a:rPr>
                        <a:t>4.</a:t>
                      </a:r>
                      <a:r>
                        <a:rPr lang="zh-CN" altLang="en-US" sz="1600" dirty="0">
                          <a:solidFill>
                            <a:srgbClr val="595959"/>
                          </a:solidFill>
                          <a:latin typeface="微软雅黑" panose="020B0503020204020204" pitchFamily="34" charset="-122"/>
                          <a:ea typeface="微软雅黑" panose="020B0503020204020204" pitchFamily="34" charset="-122"/>
                        </a:rPr>
                        <a:t>点击</a:t>
                      </a:r>
                      <a:r>
                        <a:rPr lang="en-US" altLang="zh-CN" sz="1600" dirty="0">
                          <a:solidFill>
                            <a:srgbClr val="595959"/>
                          </a:solidFill>
                          <a:latin typeface="微软雅黑" panose="020B0503020204020204" pitchFamily="34" charset="-122"/>
                          <a:ea typeface="微软雅黑" panose="020B0503020204020204" pitchFamily="34" charset="-122"/>
                        </a:rPr>
                        <a:t>“</a:t>
                      </a:r>
                      <a:r>
                        <a:rPr lang="zh-CN" altLang="en-US" sz="1600" dirty="0">
                          <a:solidFill>
                            <a:srgbClr val="595959"/>
                          </a:solidFill>
                          <a:latin typeface="微软雅黑" panose="020B0503020204020204" pitchFamily="34" charset="-122"/>
                          <a:ea typeface="微软雅黑" panose="020B0503020204020204" pitchFamily="34" charset="-122"/>
                        </a:rPr>
                        <a:t>发表</a:t>
                      </a:r>
                      <a:r>
                        <a:rPr lang="en-US" altLang="zh-CN" sz="1600" dirty="0">
                          <a:solidFill>
                            <a:srgbClr val="595959"/>
                          </a:solidFill>
                          <a:latin typeface="微软雅黑" panose="020B0503020204020204" pitchFamily="34" charset="-122"/>
                          <a:ea typeface="微软雅黑" panose="020B0503020204020204" pitchFamily="34" charset="-122"/>
                        </a:rPr>
                        <a:t>”</a:t>
                      </a:r>
                      <a:r>
                        <a:rPr lang="zh-CN" altLang="en-US" sz="1600" dirty="0">
                          <a:solidFill>
                            <a:srgbClr val="595959"/>
                          </a:solidFill>
                          <a:latin typeface="微软雅黑" panose="020B0503020204020204" pitchFamily="34" charset="-122"/>
                          <a:ea typeface="微软雅黑" panose="020B0503020204020204" pitchFamily="34" charset="-122"/>
                        </a:rPr>
                        <a:t>按钮</a:t>
                      </a:r>
                    </a:p>
                  </a:txBody>
                  <a:tcPr anchor="ctr"/>
                </a:tc>
                <a:extLst>
                  <a:ext uri="{0D108BD9-81ED-4DB2-BD59-A6C34878D82A}">
                    <a16:rowId xmlns:a16="http://schemas.microsoft.com/office/drawing/2014/main" val="10003"/>
                  </a:ext>
                </a:extLst>
              </a:tr>
              <a:tr h="469265">
                <a:tc>
                  <a:txBody>
                    <a:bodyPr/>
                    <a:lstStyle/>
                    <a:p>
                      <a:pPr algn="ctr">
                        <a:buNone/>
                      </a:pPr>
                      <a:r>
                        <a:rPr lang="zh-CN" altLang="en-US" sz="1600" b="1">
                          <a:solidFill>
                            <a:schemeClr val="lt1"/>
                          </a:solidFill>
                          <a:latin typeface="微软雅黑" panose="020B0503020204020204" pitchFamily="34" charset="-122"/>
                          <a:ea typeface="微软雅黑" panose="020B0503020204020204" pitchFamily="34" charset="-122"/>
                        </a:rPr>
                        <a:t>备注</a:t>
                      </a:r>
                    </a:p>
                  </a:txBody>
                  <a:tcPr anchor="ctr">
                    <a:solidFill>
                      <a:schemeClr val="accent1"/>
                    </a:solidFill>
                  </a:tcPr>
                </a:tc>
                <a:tc>
                  <a:txBody>
                    <a:bodyPr/>
                    <a:lstStyle/>
                    <a:p>
                      <a:pPr algn="l">
                        <a:buClrTx/>
                        <a:buSzTx/>
                        <a:buFontTx/>
                        <a:buNone/>
                      </a:pPr>
                      <a:r>
                        <a:rPr lang="zh-CN" altLang="en-US" sz="1600" dirty="0">
                          <a:solidFill>
                            <a:srgbClr val="595959"/>
                          </a:solidFill>
                          <a:latin typeface="微软雅黑" panose="020B0503020204020204" pitchFamily="34" charset="-122"/>
                          <a:ea typeface="微软雅黑" panose="020B0503020204020204" pitchFamily="34" charset="-122"/>
                        </a:rPr>
                        <a:t>无</a:t>
                      </a:r>
                    </a:p>
                  </a:txBody>
                  <a:tcPr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3025" y="837565"/>
            <a:ext cx="9262110" cy="1014730"/>
          </a:xfrm>
          <a:prstGeom prst="rect">
            <a:avLst/>
          </a:prstGeom>
          <a:noFill/>
        </p:spPr>
        <p:txBody>
          <a:bodyPr wrap="square" rtlCol="0" anchor="t">
            <a:spAutoFit/>
          </a:bodyPr>
          <a:lstStyle/>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5</a:t>
            </a:r>
            <a:r>
              <a:rPr lang="zh-CN" altLang="en-US" sz="2000" dirty="0">
                <a:solidFill>
                  <a:srgbClr val="595959"/>
                </a:solidFill>
                <a:latin typeface="微软雅黑" panose="020B0503020204020204" pitchFamily="34" charset="-122"/>
                <a:ea typeface="微软雅黑" panose="020B0503020204020204" pitchFamily="34" charset="-122"/>
                <a:sym typeface="+mn-ea"/>
              </a:rPr>
              <a:t>)编写测试报告</a:t>
            </a: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mn-ea"/>
              </a:rPr>
              <a:t>本次测试的</a:t>
            </a:r>
            <a:r>
              <a:rPr lang="zh-CN" altLang="en-US" sz="2000" dirty="0">
                <a:solidFill>
                  <a:srgbClr val="0070C0"/>
                </a:solidFill>
                <a:latin typeface="微软雅黑" panose="020B0503020204020204" pitchFamily="34" charset="-122"/>
                <a:ea typeface="微软雅黑" panose="020B0503020204020204" pitchFamily="34" charset="-122"/>
                <a:sym typeface="+mn-ea"/>
              </a:rPr>
              <a:t>测试报告</a:t>
            </a:r>
            <a:r>
              <a:rPr lang="zh-CN" altLang="en-US" sz="2000" dirty="0">
                <a:solidFill>
                  <a:srgbClr val="595959"/>
                </a:solidFill>
                <a:latin typeface="微软雅黑" panose="020B0503020204020204" pitchFamily="34" charset="-122"/>
                <a:ea typeface="微软雅黑" panose="020B0503020204020204" pitchFamily="34" charset="-122"/>
                <a:sym typeface="+mn-ea"/>
              </a:rPr>
              <a:t>可以按照如下目录编写。</a:t>
            </a:r>
          </a:p>
        </p:txBody>
      </p:sp>
      <p:sp>
        <p:nvSpPr>
          <p:cNvPr id="3" name="Title 1"/>
          <p:cNvSpPr txBox="1"/>
          <p:nvPr/>
        </p:nvSpPr>
        <p:spPr>
          <a:xfrm>
            <a:off x="1143635" y="266700"/>
            <a:ext cx="593598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实例：微信朋友圈功能的测试流程</a:t>
            </a:r>
          </a:p>
        </p:txBody>
      </p:sp>
      <p:sp>
        <p:nvSpPr>
          <p:cNvPr id="5" name="文本框 4"/>
          <p:cNvSpPr txBox="1"/>
          <p:nvPr/>
        </p:nvSpPr>
        <p:spPr>
          <a:xfrm>
            <a:off x="1631315" y="1845945"/>
            <a:ext cx="2537460" cy="4900295"/>
          </a:xfrm>
          <a:prstGeom prst="rect">
            <a:avLst/>
          </a:prstGeom>
          <a:noFill/>
        </p:spPr>
        <p:txBody>
          <a:bodyPr wrap="square" rtlCol="0" anchor="t">
            <a:noAutofit/>
          </a:bodyPr>
          <a:lstStyle/>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一、</a:t>
            </a:r>
            <a:r>
              <a:rPr lang="zh-CN" altLang="en-US" sz="1600" dirty="0">
                <a:solidFill>
                  <a:srgbClr val="0070C0"/>
                </a:solidFill>
                <a:latin typeface="微软雅黑" panose="020B0503020204020204" pitchFamily="34" charset="-122"/>
                <a:ea typeface="微软雅黑" panose="020B0503020204020204" pitchFamily="34" charset="-122"/>
              </a:rPr>
              <a:t>引言</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1.目的</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2.术语解释</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3.参考资料</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二、</a:t>
            </a:r>
            <a:r>
              <a:rPr lang="zh-CN" altLang="en-US" sz="1600" dirty="0">
                <a:solidFill>
                  <a:srgbClr val="0070C0"/>
                </a:solidFill>
                <a:latin typeface="微软雅黑" panose="020B0503020204020204" pitchFamily="34" charset="-122"/>
                <a:ea typeface="微软雅黑" panose="020B0503020204020204" pitchFamily="34" charset="-122"/>
              </a:rPr>
              <a:t>测试概要</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1.项目简介</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2.测试环境</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3.测试时间、地点及人员</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三、</a:t>
            </a:r>
            <a:r>
              <a:rPr lang="zh-CN" altLang="en-US" sz="1600" dirty="0">
                <a:solidFill>
                  <a:srgbClr val="0070C0"/>
                </a:solidFill>
                <a:latin typeface="微软雅黑" panose="020B0503020204020204" pitchFamily="34" charset="-122"/>
                <a:ea typeface="微软雅黑" panose="020B0503020204020204" pitchFamily="34" charset="-122"/>
              </a:rPr>
              <a:t>测试内容及执行情况</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1.测试目标</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2.测试范围</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3.测试用例使用情况</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4.回归测试</a:t>
            </a:r>
          </a:p>
          <a:p>
            <a:pPr>
              <a:lnSpc>
                <a:spcPct val="150000"/>
              </a:lnSpc>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4366895" y="1879600"/>
            <a:ext cx="2873375" cy="4892675"/>
          </a:xfrm>
          <a:prstGeom prst="rect">
            <a:avLst/>
          </a:prstGeom>
          <a:noFill/>
        </p:spPr>
        <p:txBody>
          <a:bodyPr wrap="square" rtlCol="0" anchor="t">
            <a:spAutoFit/>
          </a:bodyPr>
          <a:lstStyle/>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四、</a:t>
            </a:r>
            <a:r>
              <a:rPr lang="zh-CN" altLang="en-US" sz="1600" dirty="0">
                <a:solidFill>
                  <a:srgbClr val="0070C0"/>
                </a:solidFill>
                <a:latin typeface="微软雅黑" panose="020B0503020204020204" pitchFamily="34" charset="-122"/>
                <a:ea typeface="微软雅黑" panose="020B0503020204020204" pitchFamily="34" charset="-122"/>
              </a:rPr>
              <a:t>缺陷统计与分析</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1.缺陷数目与类型</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2.缺陷的解决情况</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3.缺陷的趋势分析</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五、</a:t>
            </a:r>
            <a:r>
              <a:rPr lang="zh-CN" altLang="en-US" sz="1600" dirty="0">
                <a:solidFill>
                  <a:srgbClr val="0070C0"/>
                </a:solidFill>
                <a:latin typeface="微软雅黑" panose="020B0503020204020204" pitchFamily="34" charset="-122"/>
                <a:ea typeface="微软雅黑" panose="020B0503020204020204" pitchFamily="34" charset="-122"/>
              </a:rPr>
              <a:t>测试分析</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1.测试覆盖率分析</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2.需求符合度分析</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3.功能正确性分析</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4.产品质量分析</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5.测试局限性</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六、</a:t>
            </a:r>
            <a:r>
              <a:rPr lang="zh-CN" altLang="en-US" sz="1600" dirty="0">
                <a:solidFill>
                  <a:srgbClr val="0070C0"/>
                </a:solidFill>
                <a:latin typeface="微软雅黑" panose="020B0503020204020204" pitchFamily="34" charset="-122"/>
                <a:ea typeface="微软雅黑" panose="020B0503020204020204" pitchFamily="34" charset="-122"/>
              </a:rPr>
              <a:t>测试总结</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1.遗留问题</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2.测试经验总结</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7174865" y="1917700"/>
            <a:ext cx="2523490" cy="1938020"/>
          </a:xfrm>
          <a:prstGeom prst="rect">
            <a:avLst/>
          </a:prstGeom>
          <a:noFill/>
        </p:spPr>
        <p:txBody>
          <a:bodyPr wrap="square" rtlCol="0" anchor="t">
            <a:spAutoFit/>
          </a:bodyPr>
          <a:lstStyle/>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七、</a:t>
            </a:r>
            <a:r>
              <a:rPr lang="zh-CN" altLang="en-US" sz="1600" dirty="0">
                <a:solidFill>
                  <a:srgbClr val="0070C0"/>
                </a:solidFill>
                <a:latin typeface="微软雅黑" panose="020B0503020204020204" pitchFamily="34" charset="-122"/>
                <a:ea typeface="微软雅黑" panose="020B0503020204020204" pitchFamily="34" charset="-122"/>
              </a:rPr>
              <a:t>附件</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1.测试用例清单</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2.缺陷清单</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3.交付的测试工作产品</a:t>
            </a:r>
          </a:p>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4.遗留问题报告</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p>
        </p:txBody>
      </p:sp>
      <p:sp>
        <p:nvSpPr>
          <p:cNvPr id="4" name="圆角矩形 3"/>
          <p:cNvSpPr/>
          <p:nvPr/>
        </p:nvSpPr>
        <p:spPr>
          <a:xfrm>
            <a:off x="1527810" y="1990090"/>
            <a:ext cx="8909050" cy="3873500"/>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5" name="TextBox 38"/>
          <p:cNvSpPr txBox="1"/>
          <p:nvPr/>
        </p:nvSpPr>
        <p:spPr>
          <a:xfrm>
            <a:off x="1913890" y="2493645"/>
            <a:ext cx="8136890" cy="2908489"/>
          </a:xfrm>
          <a:prstGeom prst="rect">
            <a:avLst/>
          </a:prstGeom>
          <a:noFill/>
        </p:spPr>
        <p:txBody>
          <a:bodyPr wrap="square" lIns="0" tIns="0" rIns="0" bIns="0" rtlCol="0">
            <a:spAutoFit/>
          </a:bodyPr>
          <a:lstStyle/>
          <a:p>
            <a:pPr algn="just">
              <a:lnSpc>
                <a:spcPct val="150000"/>
              </a:lnSpc>
              <a:buClrTx/>
              <a:buSzTx/>
              <a:buFontTx/>
            </a:pP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本章对</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软件测试的基础知识</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进行了讲解，首先介绍了软件相关的知识，包括软件</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生命周期</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、软件</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开发模型</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、软件</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质量</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；其次讲解了</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软件缺陷管理</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，包括软件缺陷产生的原因、分类、处理流程和常见的缺陷管理工具；然后讲解了</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软件测试</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的简介、</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目的、分类</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，软件测试与软件开发的关系、常见的</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软件测试模型</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、软件测试的</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原则</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；最后讲解了软件测试的</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基本流程</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，并且</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通过微信发布朋友圈的功能测试</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让读者简单</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认识了软件测试的基本流程</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本章</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的知识细碎且独立，却</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是软件测试入门的必备知识</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，能为读者在后续章节更深入地学习软件测试打下坚实的基础。</a:t>
            </a:r>
          </a:p>
        </p:txBody>
      </p:sp>
      <p:sp>
        <p:nvSpPr>
          <p:cNvPr id="6" name="椭圆 5"/>
          <p:cNvSpPr/>
          <p:nvPr/>
        </p:nvSpPr>
        <p:spPr>
          <a:xfrm>
            <a:off x="4513580" y="1558290"/>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latin typeface="微软雅黑" panose="020B0503020204020204" pitchFamily="34" charset="-122"/>
                <a:ea typeface="微软雅黑" panose="020B0503020204020204" pitchFamily="34" charset="-122"/>
              </a:rPr>
              <a:t>本</a:t>
            </a:r>
          </a:p>
        </p:txBody>
      </p:sp>
      <p:sp>
        <p:nvSpPr>
          <p:cNvPr id="7" name="椭圆 6"/>
          <p:cNvSpPr/>
          <p:nvPr/>
        </p:nvSpPr>
        <p:spPr>
          <a:xfrm>
            <a:off x="5232400" y="1558290"/>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dirty="0">
                <a:latin typeface="微软雅黑" panose="020B0503020204020204" pitchFamily="34" charset="-122"/>
                <a:ea typeface="微软雅黑" panose="020B0503020204020204" pitchFamily="34" charset="-122"/>
                <a:sym typeface="+mn-ea"/>
              </a:rPr>
              <a:t>章</a:t>
            </a:r>
          </a:p>
        </p:txBody>
      </p:sp>
      <p:sp>
        <p:nvSpPr>
          <p:cNvPr id="8" name="椭圆 7"/>
          <p:cNvSpPr/>
          <p:nvPr/>
        </p:nvSpPr>
        <p:spPr>
          <a:xfrm>
            <a:off x="5951220" y="1558290"/>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a:latin typeface="微软雅黑" panose="020B0503020204020204" pitchFamily="34" charset="-122"/>
                <a:ea typeface="微软雅黑" panose="020B0503020204020204" pitchFamily="34" charset="-122"/>
                <a:sym typeface="+mn-ea"/>
              </a:rPr>
              <a:t>小</a:t>
            </a:r>
          </a:p>
        </p:txBody>
      </p:sp>
      <p:sp>
        <p:nvSpPr>
          <p:cNvPr id="9" name="椭圆 8"/>
          <p:cNvSpPr/>
          <p:nvPr/>
        </p:nvSpPr>
        <p:spPr>
          <a:xfrm>
            <a:off x="6670040" y="1558290"/>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a:latin typeface="微软雅黑" panose="020B0503020204020204" pitchFamily="34" charset="-122"/>
                <a:ea typeface="微软雅黑" panose="020B0503020204020204" pitchFamily="34" charset="-122"/>
                <a:sym typeface="+mn-ea"/>
              </a:rPr>
              <a:t>结</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417f8e4a56fc57c2e92e6fdc581ab83ee55365e"/>
  <p:tag name="KSO_WPP_MARK_KEY" val="f71d5144-0573-45f9-bb21-9102466a32de"/>
  <p:tag name="COMMONDATA" val="eyJoZGlkIjoiNDY0OTc4MTEzM2QwNzhhZWVhYWUxYmE3MGYxNjJlMjcifQ=="/>
</p:tagLst>
</file>

<file path=ppt/tags/tag2.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SubTitle"/>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Other"/>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ext"/>
  <p:tag name="MH_ORDER" val="1"/>
</p:tagLst>
</file>

<file path=ppt/tags/tag5.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SubTitle"/>
  <p:tag name="MH_ORDER" val="2"/>
</p:tagLst>
</file>

<file path=ppt/tags/tag6.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Other"/>
  <p:tag name="MH_ORDER" val="2"/>
</p:tagLst>
</file>

<file path=ppt/tags/tag7.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ext"/>
  <p:tag name="MH_ORDER" val="2"/>
</p:tagLst>
</file>

<file path=ppt/tags/tag8.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SubTitle"/>
  <p:tag name="MH_ORDER" val="3"/>
</p:tagLst>
</file>

<file path=ppt/tags/tag9.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Other"/>
  <p:tag name="MH_ORDER" val="3"/>
</p:tagLst>
</file>

<file path=ppt/tags/tag10.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ext"/>
  <p:tag name="MH_ORDER" val="3"/>
</p:tagLst>
</file>

<file path=ppt/tags/tag11.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itle"/>
  <p:tag name="MH_ORDER" val="1"/>
</p:tagLst>
</file>

<file path=ppt/tags/tag12.xml><?xml version="1.0" encoding="utf-8"?>
<p:tagLst xmlns:a="http://schemas.openxmlformats.org/drawingml/2006/main" xmlns:r="http://schemas.openxmlformats.org/officeDocument/2006/relationships" xmlns:p="http://schemas.openxmlformats.org/presentationml/2006/main">
  <p:tag name="PA" val="v3.2.0"/>
</p:tagLst>
</file>

<file path=ppt/tags/tag13.xml><?xml version="1.0" encoding="utf-8"?>
<p:tagLst xmlns:a="http://schemas.openxmlformats.org/drawingml/2006/main" xmlns:r="http://schemas.openxmlformats.org/officeDocument/2006/relationships" xmlns:p="http://schemas.openxmlformats.org/presentationml/2006/main">
  <p:tag name="PA" val="v3.2.0"/>
</p:tagLst>
</file>

<file path=ppt/tags/tag14.xml><?xml version="1.0" encoding="utf-8"?>
<p:tagLst xmlns:a="http://schemas.openxmlformats.org/drawingml/2006/main" xmlns:r="http://schemas.openxmlformats.org/officeDocument/2006/relationships" xmlns:p="http://schemas.openxmlformats.org/presentationml/2006/main">
  <p:tag name="PA" val="v3.2.0"/>
</p:tagLst>
</file>

<file path=ppt/tags/tag15.xml><?xml version="1.0" encoding="utf-8"?>
<p:tagLst xmlns:a="http://schemas.openxmlformats.org/drawingml/2006/main" xmlns:r="http://schemas.openxmlformats.org/officeDocument/2006/relationships" xmlns:p="http://schemas.openxmlformats.org/presentationml/2006/main">
  <p:tag name="PA" val="v3.2.0"/>
</p:tagLst>
</file>

<file path=ppt/tags/tag16.xml><?xml version="1.0" encoding="utf-8"?>
<p:tagLst xmlns:a="http://schemas.openxmlformats.org/drawingml/2006/main" xmlns:r="http://schemas.openxmlformats.org/officeDocument/2006/relationships" xmlns:p="http://schemas.openxmlformats.org/presentationml/2006/main">
  <p:tag name="PA" val="v3.2.0"/>
</p:tagLst>
</file>

<file path=ppt/tags/tag17.xml><?xml version="1.0" encoding="utf-8"?>
<p:tagLst xmlns:a="http://schemas.openxmlformats.org/drawingml/2006/main" xmlns:r="http://schemas.openxmlformats.org/officeDocument/2006/relationships" xmlns:p="http://schemas.openxmlformats.org/presentationml/2006/main">
  <p:tag name="KSO_WM_UNIT_TABLE_BEAUTIFY" val="smartTable{66663912-20ec-4b7d-a2f3-62f270b37135}"/>
  <p:tag name="TABLE_ENDDRAG_ORIGIN_RECT" val="679*359"/>
  <p:tag name="TABLE_ENDDRAG_RECT" val="100*151*679*359"/>
</p:tagLst>
</file>

<file path=ppt/tags/tag18.xml><?xml version="1.0" encoding="utf-8"?>
<p:tagLst xmlns:a="http://schemas.openxmlformats.org/drawingml/2006/main" xmlns:r="http://schemas.openxmlformats.org/officeDocument/2006/relationships" xmlns:p="http://schemas.openxmlformats.org/presentationml/2006/main">
  <p:tag name="KSO_WM_UNIT_TABLE_BEAUTIFY" val="smartTable{d4472ab1-e84b-44d4-befc-316c02793ddd}"/>
  <p:tag name="TABLE_ENDDRAG_ORIGIN_RECT" val="516*272"/>
  <p:tag name="TABLE_ENDDRAG_RECT" val="144*180*517*272"/>
</p:tagLst>
</file>

<file path=ppt/tags/tag19.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822*430"/>
  <p:tag name="TABLE_ENDDRAG_RECT" val="77*105*822*430"/>
</p:tagLst>
</file>

<file path=ppt/tags/tag20.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822*430"/>
  <p:tag name="TABLE_ENDDRAG_RECT" val="77*105*822*430"/>
</p:tagLst>
</file>

<file path=ppt/tags/tag21.xml><?xml version="1.0" encoding="utf-8"?>
<p:tagLst xmlns:a="http://schemas.openxmlformats.org/drawingml/2006/main" xmlns:r="http://schemas.openxmlformats.org/officeDocument/2006/relationships" xmlns:p="http://schemas.openxmlformats.org/presentationml/2006/main">
  <p:tag name="KSO_WM_UNIT_TABLE_BEAUTIFY" val="smartTable{d4472ab1-e84b-44d4-befc-316c02793ddd}"/>
  <p:tag name="TABLE_ENDDRAG_ORIGIN_RECT" val="516*272"/>
  <p:tag name="TABLE_ENDDRAG_RECT" val="144*180*517*272"/>
</p:tagLst>
</file>

<file path=ppt/tags/tag22.xml><?xml version="1.0" encoding="utf-8"?>
<p:tagLst xmlns:a="http://schemas.openxmlformats.org/drawingml/2006/main" xmlns:r="http://schemas.openxmlformats.org/officeDocument/2006/relationships" xmlns:p="http://schemas.openxmlformats.org/presentationml/2006/main">
  <p:tag name="KSO_WM_UNIT_TABLE_BEAUTIFY" val="smartTable{0ea46504-f7a4-46c8-9a1c-7ce1d50e5aa4}"/>
  <p:tag name="TABLE_ENDDRAG_ORIGIN_RECT" val="516*272"/>
  <p:tag name="TABLE_ENDDRAG_RECT" val="144*180*517*272"/>
</p:tagLst>
</file>

<file path=ppt/theme/theme1.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4110</TotalTime>
  <Words>8679</Words>
  <Application>Microsoft Office PowerPoint</Application>
  <PresentationFormat>自定义</PresentationFormat>
  <Paragraphs>946</Paragraphs>
  <Slides>89</Slides>
  <Notes>85</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89</vt:i4>
      </vt:variant>
    </vt:vector>
  </HeadingPairs>
  <TitlesOfParts>
    <vt:vector size="99" baseType="lpstr">
      <vt:lpstr>微软雅黑</vt:lpstr>
      <vt:lpstr>字魂105号-简雅黑</vt:lpstr>
      <vt:lpstr>Arial</vt:lpstr>
      <vt:lpstr>Arial Black</vt:lpstr>
      <vt:lpstr>Calibri</vt:lpstr>
      <vt:lpstr>Lato Light</vt:lpstr>
      <vt:lpstr>Wingdings</vt:lpstr>
      <vt:lpstr>Office 主题</vt:lpstr>
      <vt:lpstr>Microsoft Visio 2003-2010 Drawing</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磊 饶</cp:lastModifiedBy>
  <cp:revision>10</cp:revision>
  <dcterms:created xsi:type="dcterms:W3CDTF">2020-09-03T07:01:00Z</dcterms:created>
  <dcterms:modified xsi:type="dcterms:W3CDTF">2025-12-14T08:14:36Z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2052-12.1.0.15120</vt:lpwstr>
  </property>
  <property fmtid="{D5CDD505-2E9C-101B-9397-08002B2CF9AE}" pid="3" name="ICV">
    <vt:lpwstr>73267FFA9B5E4B43A6BD5025191E9EAE_13</vt:lpwstr>
  </property>
</Properties>
</file>