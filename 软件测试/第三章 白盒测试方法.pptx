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1.xml" ContentType="application/vnd.openxmlformats-officedocument.presentationml.notesSlide+xml"/>
  <Override PartName="/ppt/tags/tag4.xml" ContentType="application/vnd.openxmlformats-officedocument.presentationml.tags+xml"/>
  <Override PartName="/ppt/notesSlides/notesSlide22.xml" ContentType="application/vnd.openxmlformats-officedocument.presentationml.notesSlide+xml"/>
  <Override PartName="/ppt/tags/tag5.xml" ContentType="application/vnd.openxmlformats-officedocument.presentationml.tags+xml"/>
  <Override PartName="/ppt/notesSlides/notesSlide23.xml" ContentType="application/vnd.openxmlformats-officedocument.presentationml.notesSlide+xml"/>
  <Override PartName="/ppt/tags/tag6.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7.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8.xml" ContentType="application/vnd.openxmlformats-officedocument.presentationml.tags+xml"/>
  <Override PartName="/ppt/notesSlides/notesSlide42.xml" ContentType="application/vnd.openxmlformats-officedocument.presentationml.notesSlide+xml"/>
  <Override PartName="/ppt/tags/tag9.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10.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11.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2.xml" ContentType="application/vnd.openxmlformats-officedocument.presentationml.tags+xml"/>
  <Override PartName="/ppt/notesSlides/notesSlide52.xml" ContentType="application/vnd.openxmlformats-officedocument.presentationml.notesSlide+xml"/>
  <Override PartName="/ppt/tags/tag13.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14.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tags/tag30.xml" ContentType="application/vnd.openxmlformats-officedocument.presentationml.tags+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31.xml" ContentType="application/vnd.openxmlformats-officedocument.presentationml.tags+xml"/>
  <Override PartName="/ppt/notesSlides/notesSlide77.xml" ContentType="application/vnd.openxmlformats-officedocument.presentationml.notesSlide+xml"/>
  <Override PartName="/ppt/tags/tag32.xml" ContentType="application/vnd.openxmlformats-officedocument.presentationml.tags+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5"/>
  </p:notesMasterIdLst>
  <p:handoutMasterIdLst>
    <p:handoutMasterId r:id="rId86"/>
  </p:handoutMasterIdLst>
  <p:sldIdLst>
    <p:sldId id="1395" r:id="rId2"/>
    <p:sldId id="1391" r:id="rId3"/>
    <p:sldId id="1392" r:id="rId4"/>
    <p:sldId id="1393" r:id="rId5"/>
    <p:sldId id="1394" r:id="rId6"/>
    <p:sldId id="1309" r:id="rId7"/>
    <p:sldId id="1312" r:id="rId8"/>
    <p:sldId id="1374" r:id="rId9"/>
    <p:sldId id="1376" r:id="rId10"/>
    <p:sldId id="1377" r:id="rId11"/>
    <p:sldId id="1381" r:id="rId12"/>
    <p:sldId id="1378" r:id="rId13"/>
    <p:sldId id="1382" r:id="rId14"/>
    <p:sldId id="1379" r:id="rId15"/>
    <p:sldId id="1383" r:id="rId16"/>
    <p:sldId id="1380" r:id="rId17"/>
    <p:sldId id="1313" r:id="rId18"/>
    <p:sldId id="1314" r:id="rId19"/>
    <p:sldId id="1315" r:id="rId20"/>
    <p:sldId id="1316" r:id="rId21"/>
    <p:sldId id="1317" r:id="rId22"/>
    <p:sldId id="1318" r:id="rId23"/>
    <p:sldId id="1319" r:id="rId24"/>
    <p:sldId id="1320" r:id="rId25"/>
    <p:sldId id="1321" r:id="rId26"/>
    <p:sldId id="1322" r:id="rId27"/>
    <p:sldId id="1384" r:id="rId28"/>
    <p:sldId id="1385" r:id="rId29"/>
    <p:sldId id="1324" r:id="rId30"/>
    <p:sldId id="1325" r:id="rId31"/>
    <p:sldId id="1326" r:id="rId32"/>
    <p:sldId id="1327" r:id="rId33"/>
    <p:sldId id="1328" r:id="rId34"/>
    <p:sldId id="1388" r:id="rId35"/>
    <p:sldId id="1389" r:id="rId36"/>
    <p:sldId id="1329" r:id="rId37"/>
    <p:sldId id="1330" r:id="rId38"/>
    <p:sldId id="1331" r:id="rId39"/>
    <p:sldId id="1332" r:id="rId40"/>
    <p:sldId id="1333" r:id="rId41"/>
    <p:sldId id="1334" r:id="rId42"/>
    <p:sldId id="1335" r:id="rId43"/>
    <p:sldId id="1386" r:id="rId44"/>
    <p:sldId id="1336" r:id="rId45"/>
    <p:sldId id="1337" r:id="rId46"/>
    <p:sldId id="1339" r:id="rId47"/>
    <p:sldId id="1340" r:id="rId48"/>
    <p:sldId id="1341" r:id="rId49"/>
    <p:sldId id="1342" r:id="rId50"/>
    <p:sldId id="1343" r:id="rId51"/>
    <p:sldId id="1344" r:id="rId52"/>
    <p:sldId id="1345" r:id="rId53"/>
    <p:sldId id="1346" r:id="rId54"/>
    <p:sldId id="1347" r:id="rId55"/>
    <p:sldId id="1348" r:id="rId56"/>
    <p:sldId id="1350" r:id="rId57"/>
    <p:sldId id="1351" r:id="rId58"/>
    <p:sldId id="1387" r:id="rId59"/>
    <p:sldId id="1352" r:id="rId60"/>
    <p:sldId id="1353" r:id="rId61"/>
    <p:sldId id="1354" r:id="rId62"/>
    <p:sldId id="1355" r:id="rId63"/>
    <p:sldId id="1396" r:id="rId64"/>
    <p:sldId id="1356" r:id="rId65"/>
    <p:sldId id="1357" r:id="rId66"/>
    <p:sldId id="1358" r:id="rId67"/>
    <p:sldId id="1359" r:id="rId68"/>
    <p:sldId id="1360" r:id="rId69"/>
    <p:sldId id="1398" r:id="rId70"/>
    <p:sldId id="1397" r:id="rId71"/>
    <p:sldId id="1361" r:id="rId72"/>
    <p:sldId id="1362" r:id="rId73"/>
    <p:sldId id="1363" r:id="rId74"/>
    <p:sldId id="1399" r:id="rId75"/>
    <p:sldId id="1366" r:id="rId76"/>
    <p:sldId id="1367" r:id="rId77"/>
    <p:sldId id="1368" r:id="rId78"/>
    <p:sldId id="1369" r:id="rId79"/>
    <p:sldId id="1370" r:id="rId80"/>
    <p:sldId id="1371" r:id="rId81"/>
    <p:sldId id="1372" r:id="rId82"/>
    <p:sldId id="1365" r:id="rId83"/>
    <p:sldId id="1373" r:id="rId84"/>
  </p:sldIdLst>
  <p:sldSz cx="12190413" cy="6859588"/>
  <p:notesSz cx="6858000" cy="9144000"/>
  <p:custDataLst>
    <p:tags r:id="rId87"/>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4" userDrawn="1">
          <p15:clr>
            <a:srgbClr val="A4A3A4"/>
          </p15:clr>
        </p15:guide>
        <p15:guide id="2" pos="619" userDrawn="1">
          <p15:clr>
            <a:srgbClr val="A4A3A4"/>
          </p15:clr>
        </p15:guide>
        <p15:guide id="3" pos="7252" userDrawn="1">
          <p15:clr>
            <a:srgbClr val="A4A3A4"/>
          </p15:clr>
        </p15:guide>
      </p15:sldGuideLst>
    </p:ext>
    <p:ext uri="{2D200454-40CA-4A62-9FC3-DE9A4176ACB9}">
      <p15:notesGuideLst xmlns:p15="http://schemas.microsoft.com/office/powerpoint/2012/main">
        <p15:guide id="1" orient="horz" pos="3031">
          <p15:clr>
            <a:srgbClr val="A4A3A4"/>
          </p15:clr>
        </p15:guide>
        <p15:guide id="2" pos="221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孟方思" initials="mfs" lastIdx="1" clrIdx="0"/>
  <p:cmAuthor id="2" name="LD" initials="L" lastIdx="2" clrIdx="1"/>
  <p:cmAuthor id="3" name="Lv0593" initials="L" lastIdx="15" clrIdx="2"/>
  <p:cmAuthor id="4" name="Administrator" initials="A"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BBC"/>
    <a:srgbClr val="0075CC"/>
    <a:srgbClr val="005DA2"/>
    <a:srgbClr val="595959"/>
    <a:srgbClr val="1369B2"/>
    <a:srgbClr val="FF0000"/>
    <a:srgbClr val="FAFAFA"/>
    <a:srgbClr val="F2F2F2"/>
    <a:srgbClr val="008DF6"/>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2" autoAdjust="0"/>
    <p:restoredTop sz="95026" autoAdjust="0"/>
  </p:normalViewPr>
  <p:slideViewPr>
    <p:cSldViewPr showGuides="1">
      <p:cViewPr varScale="1">
        <p:scale>
          <a:sx n="117" d="100"/>
          <a:sy n="117" d="100"/>
        </p:scale>
        <p:origin x="451" y="86"/>
      </p:cViewPr>
      <p:guideLst>
        <p:guide orient="horz" pos="2274"/>
        <p:guide pos="619"/>
        <p:guide pos="7252"/>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7" d="100"/>
          <a:sy n="87" d="100"/>
        </p:scale>
        <p:origin x="3840" y="96"/>
      </p:cViewPr>
      <p:guideLst>
        <p:guide orient="horz" pos="3031"/>
        <p:guide pos="2216"/>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gs" Target="tags/tag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2025/12/14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2025/12/14</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E154B-C105-4500-F625-4CAFC364F4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02C43B-8E76-9E95-71D3-142E86CE7F86}"/>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FD5E30AC-7F0D-A8F8-36CD-389496702A7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81B9AF4-0FB0-6943-F38B-EFCC71F8FC39}"/>
              </a:ext>
            </a:extLst>
          </p:cNvPr>
          <p:cNvSpPr>
            <a:spLocks noGrp="1"/>
          </p:cNvSpPr>
          <p:nvPr>
            <p:ph type="sldNum" sz="quarter" idx="10"/>
          </p:nvPr>
        </p:nvSpPr>
        <p:spPr/>
        <p:txBody>
          <a:bodyPr/>
          <a:lstStyle/>
          <a:p>
            <a:fld id="{7392B679-AE23-4750-8FB0-6513430B8953}" type="slidenum">
              <a:rPr lang="zh-CN" altLang="en-US" smtClean="0"/>
              <a:t>1</a:t>
            </a:fld>
            <a:endParaRPr lang="zh-CN" altLang="en-US"/>
          </a:p>
        </p:txBody>
      </p:sp>
    </p:spTree>
    <p:extLst>
      <p:ext uri="{BB962C8B-B14F-4D97-AF65-F5344CB8AC3E}">
        <p14:creationId xmlns:p14="http://schemas.microsoft.com/office/powerpoint/2010/main" val="3495703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965A2-7667-4395-1B38-0D47A4138C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EE77BA-0634-D52B-20C4-48F053635B6D}"/>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8D8BE155-6046-E85C-E41A-EF5C507EDB1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19F56F1-2793-BC9C-3042-61C8D11F7556}"/>
              </a:ext>
            </a:extLst>
          </p:cNvPr>
          <p:cNvSpPr>
            <a:spLocks noGrp="1"/>
          </p:cNvSpPr>
          <p:nvPr>
            <p:ph type="sldNum" sz="quarter" idx="10"/>
          </p:nvPr>
        </p:nvSpPr>
        <p:spPr/>
        <p:txBody>
          <a:bodyPr/>
          <a:lstStyle/>
          <a:p>
            <a:fld id="{7392B679-AE23-4750-8FB0-6513430B8953}" type="slidenum">
              <a:rPr lang="zh-CN" altLang="en-US" smtClean="0"/>
              <a:t>2</a:t>
            </a:fld>
            <a:endParaRPr lang="zh-CN" altLang="en-US"/>
          </a:p>
        </p:txBody>
      </p:sp>
    </p:spTree>
    <p:extLst>
      <p:ext uri="{BB962C8B-B14F-4D97-AF65-F5344CB8AC3E}">
        <p14:creationId xmlns:p14="http://schemas.microsoft.com/office/powerpoint/2010/main" val="3882642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47794-9143-41C0-6A82-A881B1B27B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471E61-6255-4DF2-22B6-ECCFEB7FE24D}"/>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72C2A2EF-EE9B-CC4E-9666-F6C2739DADD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D9562B4-BF9F-E24F-B73C-8B08CA748150}"/>
              </a:ext>
            </a:extLst>
          </p:cNvPr>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2900739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B6B16-3310-C196-9556-063AD66136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08C87D-0B59-8E7C-1894-780D98D29295}"/>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ED056090-32A4-719C-5D0A-A92BB5DD1F8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CD01437-D3C2-9143-AB0E-5A0C3BE4E46D}"/>
              </a:ext>
            </a:extLst>
          </p:cNvPr>
          <p:cNvSpPr>
            <a:spLocks noGrp="1"/>
          </p:cNvSpPr>
          <p:nvPr>
            <p:ph type="sldNum" sz="quarter" idx="10"/>
          </p:nvPr>
        </p:nvSpPr>
        <p:spPr/>
        <p:txBody>
          <a:bodyPr/>
          <a:lstStyle/>
          <a:p>
            <a:fld id="{7392B679-AE23-4750-8FB0-6513430B8953}" type="slidenum">
              <a:rPr lang="zh-CN" altLang="en-US" smtClean="0"/>
              <a:t>4</a:t>
            </a:fld>
            <a:endParaRPr lang="zh-CN" altLang="en-US"/>
          </a:p>
        </p:txBody>
      </p:sp>
    </p:spTree>
    <p:extLst>
      <p:ext uri="{BB962C8B-B14F-4D97-AF65-F5344CB8AC3E}">
        <p14:creationId xmlns:p14="http://schemas.microsoft.com/office/powerpoint/2010/main" val="2300532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F8430-C3B9-0A0C-E5D4-BB89B7418D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D52449-7258-7588-93AC-D6CCBD2D9426}"/>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2B12BF88-0296-9A54-F90E-8E68EB46A96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2E2026D-B909-2BA0-45DD-8886BFCA5E5D}"/>
              </a:ext>
            </a:extLst>
          </p:cNvPr>
          <p:cNvSpPr>
            <a:spLocks noGrp="1"/>
          </p:cNvSpPr>
          <p:nvPr>
            <p:ph type="sldNum" sz="quarter" idx="10"/>
          </p:nvPr>
        </p:nvSpPr>
        <p:spPr/>
        <p:txBody>
          <a:bodyPr/>
          <a:lstStyle/>
          <a:p>
            <a:fld id="{7392B679-AE23-4750-8FB0-6513430B8953}" type="slidenum">
              <a:rPr lang="zh-CN" altLang="en-US" smtClean="0"/>
              <a:t>5</a:t>
            </a:fld>
            <a:endParaRPr lang="zh-CN" altLang="en-US"/>
          </a:p>
        </p:txBody>
      </p:sp>
    </p:spTree>
    <p:extLst>
      <p:ext uri="{BB962C8B-B14F-4D97-AF65-F5344CB8AC3E}">
        <p14:creationId xmlns:p14="http://schemas.microsoft.com/office/powerpoint/2010/main" val="3562049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extLst>
      <p:ext uri="{BB962C8B-B14F-4D97-AF65-F5344CB8AC3E}">
        <p14:creationId xmlns:p14="http://schemas.microsoft.com/office/powerpoint/2010/main" val="749263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extLst>
      <p:ext uri="{BB962C8B-B14F-4D97-AF65-F5344CB8AC3E}">
        <p14:creationId xmlns:p14="http://schemas.microsoft.com/office/powerpoint/2010/main" val="2328850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875AF-7A1C-3A6E-3C67-B4709D0F39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CFFBC1-BD46-3B77-722D-4376A4BFE48C}"/>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99EB32E4-58A5-2AF0-1D32-53B544571CC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CE3F430-CFCD-0812-6B49-F14059145F8D}"/>
              </a:ext>
            </a:extLst>
          </p:cNvPr>
          <p:cNvSpPr>
            <a:spLocks noGrp="1"/>
          </p:cNvSpPr>
          <p:nvPr>
            <p:ph type="sldNum" sz="quarter" idx="10"/>
          </p:nvPr>
        </p:nvSpPr>
        <p:spPr/>
        <p:txBody>
          <a:bodyPr/>
          <a:lstStyle/>
          <a:p>
            <a:fld id="{7392B679-AE23-4750-8FB0-6513430B8953}" type="slidenum">
              <a:rPr lang="zh-CN" altLang="en-US" smtClean="0"/>
              <a:t>8</a:t>
            </a:fld>
            <a:endParaRPr lang="zh-CN" altLang="en-US"/>
          </a:p>
        </p:txBody>
      </p:sp>
    </p:spTree>
    <p:extLst>
      <p:ext uri="{BB962C8B-B14F-4D97-AF65-F5344CB8AC3E}">
        <p14:creationId xmlns:p14="http://schemas.microsoft.com/office/powerpoint/2010/main" val="2059150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1E876-A636-1DCA-11B6-AFE2F1584F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20F23F-C0DC-1230-5CD2-67372E238544}"/>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7212EE9C-BC22-48D4-899F-70CBC17E790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F04EFEE-126D-F1A4-3120-0532FB607971}"/>
              </a:ext>
            </a:extLst>
          </p:cNvPr>
          <p:cNvSpPr>
            <a:spLocks noGrp="1"/>
          </p:cNvSpPr>
          <p:nvPr>
            <p:ph type="sldNum" sz="quarter" idx="10"/>
          </p:nvPr>
        </p:nvSpPr>
        <p:spPr/>
        <p:txBody>
          <a:bodyPr/>
          <a:lstStyle/>
          <a:p>
            <a:fld id="{7392B679-AE23-4750-8FB0-6513430B8953}" type="slidenum">
              <a:rPr lang="zh-CN" altLang="en-US" smtClean="0"/>
              <a:t>9</a:t>
            </a:fld>
            <a:endParaRPr lang="zh-CN" altLang="en-US"/>
          </a:p>
        </p:txBody>
      </p:sp>
    </p:spTree>
    <p:extLst>
      <p:ext uri="{BB962C8B-B14F-4D97-AF65-F5344CB8AC3E}">
        <p14:creationId xmlns:p14="http://schemas.microsoft.com/office/powerpoint/2010/main" val="2710206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F3B11-DB79-F964-7EAA-12A7D571EF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AD19A2-CE86-3855-AD73-1EC6AC3F9EF2}"/>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4AB1261A-5D1D-44A1-4D9B-5D7FDB3069A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13D640E-A572-56ED-236B-94D11BA7FA2B}"/>
              </a:ext>
            </a:extLst>
          </p:cNvPr>
          <p:cNvSpPr>
            <a:spLocks noGrp="1"/>
          </p:cNvSpPr>
          <p:nvPr>
            <p:ph type="sldNum" sz="quarter" idx="10"/>
          </p:nvPr>
        </p:nvSpPr>
        <p:spPr/>
        <p:txBody>
          <a:bodyPr/>
          <a:lstStyle/>
          <a:p>
            <a:fld id="{7392B679-AE23-4750-8FB0-6513430B8953}" type="slidenum">
              <a:rPr lang="zh-CN" altLang="en-US" smtClean="0"/>
              <a:t>10</a:t>
            </a:fld>
            <a:endParaRPr lang="zh-CN" altLang="en-US"/>
          </a:p>
        </p:txBody>
      </p:sp>
    </p:spTree>
    <p:extLst>
      <p:ext uri="{BB962C8B-B14F-4D97-AF65-F5344CB8AC3E}">
        <p14:creationId xmlns:p14="http://schemas.microsoft.com/office/powerpoint/2010/main" val="31919124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A52A8-FF5F-0CF6-BA32-DAFCED5F28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1B14C6-B233-1C37-1535-10E33DF1EC42}"/>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8B5FD28D-0B83-0018-BDC3-6127D84C8C4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A4C8E95-C139-7AE8-5597-F36E6C74A314}"/>
              </a:ext>
            </a:extLst>
          </p:cNvPr>
          <p:cNvSpPr>
            <a:spLocks noGrp="1"/>
          </p:cNvSpPr>
          <p:nvPr>
            <p:ph type="sldNum" sz="quarter" idx="10"/>
          </p:nvPr>
        </p:nvSpPr>
        <p:spPr/>
        <p:txBody>
          <a:bodyPr/>
          <a:lstStyle/>
          <a:p>
            <a:fld id="{7392B679-AE23-4750-8FB0-6513430B8953}" type="slidenum">
              <a:rPr lang="zh-CN" altLang="en-US" smtClean="0"/>
              <a:t>11</a:t>
            </a:fld>
            <a:endParaRPr lang="zh-CN" altLang="en-US"/>
          </a:p>
        </p:txBody>
      </p:sp>
    </p:spTree>
    <p:extLst>
      <p:ext uri="{BB962C8B-B14F-4D97-AF65-F5344CB8AC3E}">
        <p14:creationId xmlns:p14="http://schemas.microsoft.com/office/powerpoint/2010/main" val="2470989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5B2B7-5C7D-0318-282D-AE04FE31A4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771705-0867-6532-24E5-5D985BBAB449}"/>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9B09A66D-E26B-ED03-24DE-AB49C4ABCE1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E0FE6AB-2D95-71E8-8FE2-D500DAB573A0}"/>
              </a:ext>
            </a:extLst>
          </p:cNvPr>
          <p:cNvSpPr>
            <a:spLocks noGrp="1"/>
          </p:cNvSpPr>
          <p:nvPr>
            <p:ph type="sldNum" sz="quarter" idx="10"/>
          </p:nvPr>
        </p:nvSpPr>
        <p:spPr/>
        <p:txBody>
          <a:bodyPr/>
          <a:lstStyle/>
          <a:p>
            <a:fld id="{7392B679-AE23-4750-8FB0-6513430B8953}" type="slidenum">
              <a:rPr lang="zh-CN" altLang="en-US" smtClean="0"/>
              <a:t>12</a:t>
            </a:fld>
            <a:endParaRPr lang="zh-CN" altLang="en-US"/>
          </a:p>
        </p:txBody>
      </p:sp>
    </p:spTree>
    <p:extLst>
      <p:ext uri="{BB962C8B-B14F-4D97-AF65-F5344CB8AC3E}">
        <p14:creationId xmlns:p14="http://schemas.microsoft.com/office/powerpoint/2010/main" val="3678934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62FBF-F905-8D36-93E5-3ADFE0D92F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38863F-BFB7-4A59-4AE9-25B0C3D298BB}"/>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074FB861-E694-B64C-25B6-9D7ECBE4BD9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2A7D68E-A6F8-9DCE-C797-0E60B738B554}"/>
              </a:ext>
            </a:extLst>
          </p:cNvPr>
          <p:cNvSpPr>
            <a:spLocks noGrp="1"/>
          </p:cNvSpPr>
          <p:nvPr>
            <p:ph type="sldNum" sz="quarter" idx="10"/>
          </p:nvPr>
        </p:nvSpPr>
        <p:spPr/>
        <p:txBody>
          <a:bodyPr/>
          <a:lstStyle/>
          <a:p>
            <a:fld id="{7392B679-AE23-4750-8FB0-6513430B8953}" type="slidenum">
              <a:rPr lang="zh-CN" altLang="en-US" smtClean="0"/>
              <a:t>13</a:t>
            </a:fld>
            <a:endParaRPr lang="zh-CN" altLang="en-US"/>
          </a:p>
        </p:txBody>
      </p:sp>
    </p:spTree>
    <p:extLst>
      <p:ext uri="{BB962C8B-B14F-4D97-AF65-F5344CB8AC3E}">
        <p14:creationId xmlns:p14="http://schemas.microsoft.com/office/powerpoint/2010/main" val="3336808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293D-D951-54AC-4176-5F0C8BA36D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BECCA3-2A0F-F0BE-EAF4-6634455811A5}"/>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7192C294-1070-B27E-CF45-7E7CF3D2D5E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D7D973B-6C21-CAAB-71CF-6B67D68063A8}"/>
              </a:ext>
            </a:extLst>
          </p:cNvPr>
          <p:cNvSpPr>
            <a:spLocks noGrp="1"/>
          </p:cNvSpPr>
          <p:nvPr>
            <p:ph type="sldNum" sz="quarter" idx="10"/>
          </p:nvPr>
        </p:nvSpPr>
        <p:spPr/>
        <p:txBody>
          <a:bodyPr/>
          <a:lstStyle/>
          <a:p>
            <a:fld id="{7392B679-AE23-4750-8FB0-6513430B8953}" type="slidenum">
              <a:rPr lang="zh-CN" altLang="en-US" smtClean="0"/>
              <a:t>14</a:t>
            </a:fld>
            <a:endParaRPr lang="zh-CN" altLang="en-US"/>
          </a:p>
        </p:txBody>
      </p:sp>
    </p:spTree>
    <p:extLst>
      <p:ext uri="{BB962C8B-B14F-4D97-AF65-F5344CB8AC3E}">
        <p14:creationId xmlns:p14="http://schemas.microsoft.com/office/powerpoint/2010/main" val="292302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B789F-F8EB-9C2E-1D18-33D4C09717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0D89E9-077F-F768-AFB2-ACBF9160AFDF}"/>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E0FA92AD-29AA-4502-6584-D565B2180EC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2102BAC-3595-71E0-39DA-BA9A950D8708}"/>
              </a:ext>
            </a:extLst>
          </p:cNvPr>
          <p:cNvSpPr>
            <a:spLocks noGrp="1"/>
          </p:cNvSpPr>
          <p:nvPr>
            <p:ph type="sldNum" sz="quarter" idx="10"/>
          </p:nvPr>
        </p:nvSpPr>
        <p:spPr/>
        <p:txBody>
          <a:bodyPr/>
          <a:lstStyle/>
          <a:p>
            <a:fld id="{7392B679-AE23-4750-8FB0-6513430B8953}" type="slidenum">
              <a:rPr lang="zh-CN" altLang="en-US" smtClean="0"/>
              <a:t>15</a:t>
            </a:fld>
            <a:endParaRPr lang="zh-CN" altLang="en-US"/>
          </a:p>
        </p:txBody>
      </p:sp>
    </p:spTree>
    <p:extLst>
      <p:ext uri="{BB962C8B-B14F-4D97-AF65-F5344CB8AC3E}">
        <p14:creationId xmlns:p14="http://schemas.microsoft.com/office/powerpoint/2010/main" val="25819248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1A45-5138-3D7A-D7AD-1E534ADC8A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AA495A-DC6A-29EA-8CBC-0577E35C915C}"/>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9161BAFF-61A5-1736-08C1-E6557C49922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058F80E-795C-40D2-7BAA-4DD66BA44266}"/>
              </a:ext>
            </a:extLst>
          </p:cNvPr>
          <p:cNvSpPr>
            <a:spLocks noGrp="1"/>
          </p:cNvSpPr>
          <p:nvPr>
            <p:ph type="sldNum" sz="quarter" idx="10"/>
          </p:nvPr>
        </p:nvSpPr>
        <p:spPr/>
        <p:txBody>
          <a:bodyPr/>
          <a:lstStyle/>
          <a:p>
            <a:fld id="{7392B679-AE23-4750-8FB0-6513430B8953}" type="slidenum">
              <a:rPr lang="zh-CN" altLang="en-US" smtClean="0"/>
              <a:t>16</a:t>
            </a:fld>
            <a:endParaRPr lang="zh-CN" altLang="en-US"/>
          </a:p>
        </p:txBody>
      </p:sp>
    </p:spTree>
    <p:extLst>
      <p:ext uri="{BB962C8B-B14F-4D97-AF65-F5344CB8AC3E}">
        <p14:creationId xmlns:p14="http://schemas.microsoft.com/office/powerpoint/2010/main" val="962997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6FBF2-94B6-8794-29E7-19BA71CA0C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5C9030-29F2-543A-C7DA-40CB2BC92ABC}"/>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24F09845-210A-929E-089D-67EDD607A8F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3052279-2302-2954-12B8-369FB3903EDB}"/>
              </a:ext>
            </a:extLst>
          </p:cNvPr>
          <p:cNvSpPr>
            <a:spLocks noGrp="1"/>
          </p:cNvSpPr>
          <p:nvPr>
            <p:ph type="sldNum" sz="quarter" idx="10"/>
          </p:nvPr>
        </p:nvSpPr>
        <p:spPr/>
        <p:txBody>
          <a:bodyPr/>
          <a:lstStyle/>
          <a:p>
            <a:fld id="{7392B679-AE23-4750-8FB0-6513430B8953}" type="slidenum">
              <a:rPr lang="zh-CN" altLang="en-US" smtClean="0"/>
              <a:t>27</a:t>
            </a:fld>
            <a:endParaRPr lang="zh-CN" altLang="en-US"/>
          </a:p>
        </p:txBody>
      </p:sp>
    </p:spTree>
    <p:extLst>
      <p:ext uri="{BB962C8B-B14F-4D97-AF65-F5344CB8AC3E}">
        <p14:creationId xmlns:p14="http://schemas.microsoft.com/office/powerpoint/2010/main" val="1710953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5D0CB-5B79-169A-FA0A-9A1BCB5A84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83BEEB-06B1-0752-A1F2-1C2D5498826C}"/>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E8A3B539-1809-CA69-509E-FF0A4240E94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DE15EB9-8136-A998-4D72-01AE47922571}"/>
              </a:ext>
            </a:extLst>
          </p:cNvPr>
          <p:cNvSpPr>
            <a:spLocks noGrp="1"/>
          </p:cNvSpPr>
          <p:nvPr>
            <p:ph type="sldNum" sz="quarter" idx="10"/>
          </p:nvPr>
        </p:nvSpPr>
        <p:spPr/>
        <p:txBody>
          <a:bodyPr/>
          <a:lstStyle/>
          <a:p>
            <a:fld id="{7392B679-AE23-4750-8FB0-6513430B8953}" type="slidenum">
              <a:rPr lang="zh-CN" altLang="en-US" smtClean="0"/>
              <a:t>28</a:t>
            </a:fld>
            <a:endParaRPr lang="zh-CN" altLang="en-US"/>
          </a:p>
        </p:txBody>
      </p:sp>
    </p:spTree>
    <p:extLst>
      <p:ext uri="{BB962C8B-B14F-4D97-AF65-F5344CB8AC3E}">
        <p14:creationId xmlns:p14="http://schemas.microsoft.com/office/powerpoint/2010/main" val="6010437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25264-A1C0-A799-80F8-6D5CCC9A30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C9D982-0E7E-E897-18B4-6FD5E98D1BB9}"/>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8486CA80-88C5-2DE4-82AD-B68CD8B322D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DE1C36C-9946-595B-7FAD-55CF427850A3}"/>
              </a:ext>
            </a:extLst>
          </p:cNvPr>
          <p:cNvSpPr>
            <a:spLocks noGrp="1"/>
          </p:cNvSpPr>
          <p:nvPr>
            <p:ph type="sldNum" sz="quarter" idx="10"/>
          </p:nvPr>
        </p:nvSpPr>
        <p:spPr/>
        <p:txBody>
          <a:bodyPr/>
          <a:lstStyle/>
          <a:p>
            <a:fld id="{7392B679-AE23-4750-8FB0-6513430B8953}" type="slidenum">
              <a:rPr lang="zh-CN" altLang="en-US" smtClean="0"/>
              <a:t>34</a:t>
            </a:fld>
            <a:endParaRPr lang="zh-CN" altLang="en-US"/>
          </a:p>
        </p:txBody>
      </p:sp>
    </p:spTree>
    <p:extLst>
      <p:ext uri="{BB962C8B-B14F-4D97-AF65-F5344CB8AC3E}">
        <p14:creationId xmlns:p14="http://schemas.microsoft.com/office/powerpoint/2010/main" val="33223229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D39A-45B4-539E-EF53-62E70B3060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D2DFA6-E3BA-80D7-B5F1-05FC7A4C2BB8}"/>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B3CD9201-EF15-F2A0-951A-B2150B7FB4E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9829225-60CC-6BFC-BC37-28B2B0B8A43E}"/>
              </a:ext>
            </a:extLst>
          </p:cNvPr>
          <p:cNvSpPr>
            <a:spLocks noGrp="1"/>
          </p:cNvSpPr>
          <p:nvPr>
            <p:ph type="sldNum" sz="quarter" idx="10"/>
          </p:nvPr>
        </p:nvSpPr>
        <p:spPr/>
        <p:txBody>
          <a:bodyPr/>
          <a:lstStyle/>
          <a:p>
            <a:fld id="{7392B679-AE23-4750-8FB0-6513430B8953}" type="slidenum">
              <a:rPr lang="zh-CN" altLang="en-US" smtClean="0"/>
              <a:t>35</a:t>
            </a:fld>
            <a:endParaRPr lang="zh-CN" altLang="en-US"/>
          </a:p>
        </p:txBody>
      </p:sp>
    </p:spTree>
    <p:extLst>
      <p:ext uri="{BB962C8B-B14F-4D97-AF65-F5344CB8AC3E}">
        <p14:creationId xmlns:p14="http://schemas.microsoft.com/office/powerpoint/2010/main" val="32559853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9CB0E-3105-CCCC-A702-CB15FB5EA0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1D8A9B-549F-321A-8F5F-900D30E2CC46}"/>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33365BE8-6797-F8C9-6F9C-38BBB26DA88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FF77E37-9CDD-90BC-E584-57EE2F66D0DE}"/>
              </a:ext>
            </a:extLst>
          </p:cNvPr>
          <p:cNvSpPr>
            <a:spLocks noGrp="1"/>
          </p:cNvSpPr>
          <p:nvPr>
            <p:ph type="sldNum" sz="quarter" idx="10"/>
          </p:nvPr>
        </p:nvSpPr>
        <p:spPr/>
        <p:txBody>
          <a:bodyPr/>
          <a:lstStyle/>
          <a:p>
            <a:fld id="{7392B679-AE23-4750-8FB0-6513430B8953}" type="slidenum">
              <a:rPr lang="zh-CN" altLang="en-US" smtClean="0"/>
              <a:t>43</a:t>
            </a:fld>
            <a:endParaRPr lang="zh-CN" altLang="en-US"/>
          </a:p>
        </p:txBody>
      </p:sp>
    </p:spTree>
    <p:extLst>
      <p:ext uri="{BB962C8B-B14F-4D97-AF65-F5344CB8AC3E}">
        <p14:creationId xmlns:p14="http://schemas.microsoft.com/office/powerpoint/2010/main" val="8528859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330E1-89D5-4D96-7013-0029767C34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ADB55E-DF62-5007-92E1-0A59D13D66E0}"/>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1073220A-1E2E-5357-5BFA-3627980BB19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1B21288-F4B2-4DF2-86F2-11A21397D145}"/>
              </a:ext>
            </a:extLst>
          </p:cNvPr>
          <p:cNvSpPr>
            <a:spLocks noGrp="1"/>
          </p:cNvSpPr>
          <p:nvPr>
            <p:ph type="sldNum" sz="quarter" idx="10"/>
          </p:nvPr>
        </p:nvSpPr>
        <p:spPr/>
        <p:txBody>
          <a:bodyPr/>
          <a:lstStyle/>
          <a:p>
            <a:fld id="{7392B679-AE23-4750-8FB0-6513430B8953}" type="slidenum">
              <a:rPr lang="zh-CN" altLang="en-US" smtClean="0"/>
              <a:t>58</a:t>
            </a:fld>
            <a:endParaRPr lang="zh-CN" altLang="en-US"/>
          </a:p>
        </p:txBody>
      </p:sp>
    </p:spTree>
    <p:extLst>
      <p:ext uri="{BB962C8B-B14F-4D97-AF65-F5344CB8AC3E}">
        <p14:creationId xmlns:p14="http://schemas.microsoft.com/office/powerpoint/2010/main" val="8320812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39B8-8DD5-34B2-A012-2F7C042F36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9673A7-DC6E-BA86-7210-FCA45766A050}"/>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49CAB48B-5756-088F-DF9E-464F4458BE3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DADE0FE-AB18-C4CA-7E21-48574B50C275}"/>
              </a:ext>
            </a:extLst>
          </p:cNvPr>
          <p:cNvSpPr>
            <a:spLocks noGrp="1"/>
          </p:cNvSpPr>
          <p:nvPr>
            <p:ph type="sldNum" sz="quarter" idx="10"/>
          </p:nvPr>
        </p:nvSpPr>
        <p:spPr/>
        <p:txBody>
          <a:bodyPr/>
          <a:lstStyle/>
          <a:p>
            <a:fld id="{7392B679-AE23-4750-8FB0-6513430B8953}" type="slidenum">
              <a:rPr lang="zh-CN" altLang="en-US" smtClean="0"/>
              <a:t>63</a:t>
            </a:fld>
            <a:endParaRPr lang="zh-CN" altLang="en-US"/>
          </a:p>
        </p:txBody>
      </p:sp>
    </p:spTree>
    <p:extLst>
      <p:ext uri="{BB962C8B-B14F-4D97-AF65-F5344CB8AC3E}">
        <p14:creationId xmlns:p14="http://schemas.microsoft.com/office/powerpoint/2010/main" val="253805044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B22F5-639C-19A1-AFB5-C6146C07D2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DAF48C-D897-91D4-E1C0-9E96037F3BE7}"/>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B0323021-2CB2-2C63-65F3-F4DD838B1F8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B68B726-C3A4-F32F-443E-E4CA227051E1}"/>
              </a:ext>
            </a:extLst>
          </p:cNvPr>
          <p:cNvSpPr>
            <a:spLocks noGrp="1"/>
          </p:cNvSpPr>
          <p:nvPr>
            <p:ph type="sldNum" sz="quarter" idx="10"/>
          </p:nvPr>
        </p:nvSpPr>
        <p:spPr/>
        <p:txBody>
          <a:bodyPr/>
          <a:lstStyle/>
          <a:p>
            <a:fld id="{7392B679-AE23-4750-8FB0-6513430B8953}" type="slidenum">
              <a:rPr lang="zh-CN" altLang="en-US" smtClean="0"/>
              <a:t>69</a:t>
            </a:fld>
            <a:endParaRPr lang="zh-CN" altLang="en-US"/>
          </a:p>
        </p:txBody>
      </p:sp>
    </p:spTree>
    <p:extLst>
      <p:ext uri="{BB962C8B-B14F-4D97-AF65-F5344CB8AC3E}">
        <p14:creationId xmlns:p14="http://schemas.microsoft.com/office/powerpoint/2010/main" val="4385023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6C36C-0DA1-4A58-B2FE-A6EDB8748D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3D6CC6-10AB-B6FE-AE35-F717A2D2F919}"/>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06FAC352-995D-8FC2-3403-4BD9731F8B7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3D25A15-B32F-A5CD-1810-01F38D378932}"/>
              </a:ext>
            </a:extLst>
          </p:cNvPr>
          <p:cNvSpPr>
            <a:spLocks noGrp="1"/>
          </p:cNvSpPr>
          <p:nvPr>
            <p:ph type="sldNum" sz="quarter" idx="10"/>
          </p:nvPr>
        </p:nvSpPr>
        <p:spPr/>
        <p:txBody>
          <a:bodyPr/>
          <a:lstStyle/>
          <a:p>
            <a:fld id="{7392B679-AE23-4750-8FB0-6513430B8953}" type="slidenum">
              <a:rPr lang="zh-CN" altLang="en-US" smtClean="0"/>
              <a:t>70</a:t>
            </a:fld>
            <a:endParaRPr lang="zh-CN" altLang="en-US"/>
          </a:p>
        </p:txBody>
      </p:sp>
    </p:spTree>
    <p:extLst>
      <p:ext uri="{BB962C8B-B14F-4D97-AF65-F5344CB8AC3E}">
        <p14:creationId xmlns:p14="http://schemas.microsoft.com/office/powerpoint/2010/main" val="2331274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D0F26-B832-82A0-382E-9219F0209F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7CA6D3-73AB-1AF2-C0D1-E467409CBFEA}"/>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7572B73A-CABC-B19F-4F24-404E5BB4776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D3E4FD8-3877-6546-B9D7-2CED48809FA8}"/>
              </a:ext>
            </a:extLst>
          </p:cNvPr>
          <p:cNvSpPr>
            <a:spLocks noGrp="1"/>
          </p:cNvSpPr>
          <p:nvPr>
            <p:ph type="sldNum" sz="quarter" idx="10"/>
          </p:nvPr>
        </p:nvSpPr>
        <p:spPr/>
        <p:txBody>
          <a:bodyPr/>
          <a:lstStyle/>
          <a:p>
            <a:fld id="{7392B679-AE23-4750-8FB0-6513430B8953}" type="slidenum">
              <a:rPr lang="zh-CN" altLang="en-US" smtClean="0"/>
              <a:t>74</a:t>
            </a:fld>
            <a:endParaRPr lang="zh-CN" altLang="en-US"/>
          </a:p>
        </p:txBody>
      </p:sp>
    </p:spTree>
    <p:extLst>
      <p:ext uri="{BB962C8B-B14F-4D97-AF65-F5344CB8AC3E}">
        <p14:creationId xmlns:p14="http://schemas.microsoft.com/office/powerpoint/2010/main" val="165120846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82</a:t>
            </a:fld>
            <a:endParaRPr lang="zh-CN" altLang="en-US"/>
          </a:p>
        </p:txBody>
      </p:sp>
    </p:spTree>
    <p:extLst>
      <p:ext uri="{BB962C8B-B14F-4D97-AF65-F5344CB8AC3E}">
        <p14:creationId xmlns:p14="http://schemas.microsoft.com/office/powerpoint/2010/main" val="334337783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5794"/>
            <a:ext cx="12190413" cy="2413577"/>
            <a:chOff x="170694" y="178255"/>
            <a:chExt cx="3936004" cy="779007"/>
          </a:xfrm>
        </p:grpSpPr>
        <p:sp>
          <p:nvSpPr>
            <p:cNvPr id="44" name="等腰三角形 43"/>
            <p:cNvSpPr/>
            <p:nvPr/>
          </p:nvSpPr>
          <p:spPr>
            <a:xfrm>
              <a:off x="1270819" y="178255"/>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70694" y="600746"/>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666" y="178257"/>
              <a:ext cx="1100951"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8484731"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756764"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620748"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5028797"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892781"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73961BE7-DAC0-CDE0-8F21-7146BAAB083C}"/>
              </a:ext>
            </a:extLst>
          </p:cNvPr>
          <p:cNvPicPr>
            <a:picLocks noChangeAspect="1"/>
          </p:cNvPicPr>
          <p:nvPr userDrawn="1"/>
        </p:nvPicPr>
        <p:blipFill>
          <a:blip r:embed="rId2"/>
          <a:stretch>
            <a:fillRect/>
          </a:stretch>
        </p:blipFill>
        <p:spPr>
          <a:xfrm>
            <a:off x="9124663" y="49251"/>
            <a:ext cx="2631023" cy="6827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5CD5A0D5-285C-7D6E-7138-E44D48EC6E0A}"/>
              </a:ext>
            </a:extLst>
          </p:cNvPr>
          <p:cNvPicPr>
            <a:picLocks noChangeAspect="1"/>
          </p:cNvPicPr>
          <p:nvPr userDrawn="1"/>
        </p:nvPicPr>
        <p:blipFill>
          <a:blip r:embed="rId2">
            <a:alphaModFix amt="20000"/>
          </a:blip>
          <a:stretch>
            <a:fillRect/>
          </a:stretch>
        </p:blipFill>
        <p:spPr>
          <a:xfrm>
            <a:off x="8615206" y="3218535"/>
            <a:ext cx="3342857" cy="35428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FBFE6862-BF2A-1EA1-75FF-91E4F21F9BA3}"/>
              </a:ext>
            </a:extLst>
          </p:cNvPr>
          <p:cNvPicPr>
            <a:picLocks noChangeAspect="1"/>
          </p:cNvPicPr>
          <p:nvPr userDrawn="1"/>
        </p:nvPicPr>
        <p:blipFill>
          <a:blip r:embed="rId2"/>
          <a:stretch>
            <a:fillRect/>
          </a:stretch>
        </p:blipFill>
        <p:spPr>
          <a:xfrm>
            <a:off x="8552086" y="477794"/>
            <a:ext cx="2631023" cy="6827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4334510" y="2411730"/>
            <a:ext cx="4063365" cy="1106805"/>
          </a:xfrm>
          <a:prstGeom prst="rect">
            <a:avLst/>
          </a:prstGeom>
          <a:noFill/>
        </p:spPr>
        <p:txBody>
          <a:bodyPr wrap="square" rtlCol="0">
            <a:spAutoFit/>
            <a:scene3d>
              <a:camera prst="orthographicFront"/>
              <a:lightRig rig="threePt" dir="t"/>
            </a:scene3d>
          </a:bodyPr>
          <a:lstStyle/>
          <a:p>
            <a:r>
              <a:rPr lang="zh-CN" altLang="en-US" sz="6600" dirty="0">
                <a:ln/>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谢谢</a:t>
            </a:r>
          </a:p>
        </p:txBody>
      </p:sp>
      <p:pic>
        <p:nvPicPr>
          <p:cNvPr id="3" name="图片 2">
            <a:extLst>
              <a:ext uri="{FF2B5EF4-FFF2-40B4-BE49-F238E27FC236}">
                <a16:creationId xmlns:a16="http://schemas.microsoft.com/office/drawing/2014/main" id="{96836030-28AB-487A-CBE1-3412745CB7DB}"/>
              </a:ext>
            </a:extLst>
          </p:cNvPr>
          <p:cNvPicPr>
            <a:picLocks noChangeAspect="1"/>
          </p:cNvPicPr>
          <p:nvPr userDrawn="1"/>
        </p:nvPicPr>
        <p:blipFill>
          <a:blip r:embed="rId2">
            <a:alphaModFix amt="20000"/>
          </a:blip>
          <a:stretch>
            <a:fillRect/>
          </a:stretch>
        </p:blipFill>
        <p:spPr>
          <a:xfrm>
            <a:off x="8615206" y="3218535"/>
            <a:ext cx="3342857" cy="35428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2025/12/14</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6.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6.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8.e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tags" Target="../tags/tag27.xml"/><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tags" Target="../tags/tag26.xml"/><Relationship Id="rId17" Type="http://schemas.openxmlformats.org/officeDocument/2006/relationships/notesSlide" Target="../notesSlides/notesSlide65.xml"/><Relationship Id="rId2" Type="http://schemas.openxmlformats.org/officeDocument/2006/relationships/tags" Target="../tags/tag16.xml"/><Relationship Id="rId16"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5" Type="http://schemas.openxmlformats.org/officeDocument/2006/relationships/tags" Target="../tags/tag19.xml"/><Relationship Id="rId15" Type="http://schemas.openxmlformats.org/officeDocument/2006/relationships/tags" Target="../tags/tag29.xml"/><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tags" Target="../tags/tag2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7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00D14-06C6-174A-D06B-430210FAA346}"/>
            </a:ext>
          </a:extLst>
        </p:cNvPr>
        <p:cNvGrpSpPr/>
        <p:nvPr/>
      </p:nvGrpSpPr>
      <p:grpSpPr>
        <a:xfrm>
          <a:off x="0" y="0"/>
          <a:ext cx="0" cy="0"/>
          <a:chOff x="0" y="0"/>
          <a:chExt cx="0" cy="0"/>
        </a:xfrm>
      </p:grpSpPr>
      <p:sp>
        <p:nvSpPr>
          <p:cNvPr id="47" name="文本框 18">
            <a:extLst>
              <a:ext uri="{FF2B5EF4-FFF2-40B4-BE49-F238E27FC236}">
                <a16:creationId xmlns:a16="http://schemas.microsoft.com/office/drawing/2014/main" id="{D86B8977-3040-604A-0BE6-F3379A7BA7EF}"/>
              </a:ext>
            </a:extLst>
          </p:cNvPr>
          <p:cNvSpPr txBox="1"/>
          <p:nvPr/>
        </p:nvSpPr>
        <p:spPr>
          <a:xfrm>
            <a:off x="3503295" y="2637790"/>
            <a:ext cx="5504180" cy="783590"/>
          </a:xfrm>
          <a:prstGeom prst="rect">
            <a:avLst/>
          </a:prstGeom>
          <a:noFill/>
        </p:spPr>
        <p:txBody>
          <a:bodyPr wrap="square" rtlCol="0">
            <a:spAutoFit/>
          </a:bodyPr>
          <a:lstStyle/>
          <a:p>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3</a:t>
            </a: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白盒测试方法</a:t>
            </a:r>
          </a:p>
        </p:txBody>
      </p:sp>
    </p:spTree>
    <p:extLst>
      <p:ext uri="{BB962C8B-B14F-4D97-AF65-F5344CB8AC3E}">
        <p14:creationId xmlns:p14="http://schemas.microsoft.com/office/powerpoint/2010/main" val="806982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A1BFC-B1FB-1554-2ACC-A4AFCBB84DE9}"/>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AF68AC78-3E03-69E2-E370-8E88320ACB6F}"/>
              </a:ext>
            </a:extLst>
          </p:cNvPr>
          <p:cNvSpPr txBox="1">
            <a:spLocks noChangeArrowheads="1"/>
          </p:cNvSpPr>
          <p:nvPr/>
        </p:nvSpPr>
        <p:spPr bwMode="auto">
          <a:xfrm>
            <a:off x="5735206" y="1087102"/>
            <a:ext cx="5214406" cy="4685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代码检查法主要检查</a:t>
            </a:r>
            <a:r>
              <a:rPr lang="zh-CN" altLang="en-US" sz="2000" dirty="0">
                <a:solidFill>
                  <a:srgbClr val="0070C0"/>
                </a:solidFill>
                <a:latin typeface="微软雅黑" panose="020B0503020204020204" pitchFamily="34" charset="-122"/>
                <a:ea typeface="微软雅黑" panose="020B0503020204020204" pitchFamily="34" charset="-122"/>
              </a:rPr>
              <a:t>代码和程序设计的一致性，代码结构的合理性，代码编写的标准性、可读性，代码逻辑表达的正确性</a:t>
            </a:r>
            <a:r>
              <a:rPr lang="zh-CN" altLang="en-US" sz="2000" dirty="0">
                <a:solidFill>
                  <a:srgbClr val="595959"/>
                </a:solidFill>
                <a:latin typeface="微软雅黑" panose="020B0503020204020204" pitchFamily="34" charset="-122"/>
                <a:ea typeface="微软雅黑" panose="020B0503020204020204" pitchFamily="34" charset="-122"/>
              </a:rPr>
              <a:t>等方面。主要参考文档为：程序设计文档、程序的源代码清单、编码规范、代码缺陷检查表等。代码检查看到的是</a:t>
            </a:r>
            <a:r>
              <a:rPr lang="zh-CN" altLang="en-US" sz="2000" dirty="0">
                <a:solidFill>
                  <a:srgbClr val="0070C0"/>
                </a:solidFill>
                <a:latin typeface="微软雅黑" panose="020B0503020204020204" pitchFamily="34" charset="-122"/>
                <a:ea typeface="微软雅黑" panose="020B0503020204020204" pitchFamily="34" charset="-122"/>
              </a:rPr>
              <a:t>问题本身</a:t>
            </a:r>
            <a:r>
              <a:rPr lang="zh-CN" altLang="en-US" sz="2000" dirty="0">
                <a:solidFill>
                  <a:srgbClr val="595959"/>
                </a:solidFill>
                <a:latin typeface="微软雅黑" panose="020B0503020204020204" pitchFamily="34" charset="-122"/>
                <a:ea typeface="微软雅黑" panose="020B0503020204020204" pitchFamily="34" charset="-122"/>
              </a:rPr>
              <a:t>而非问题的征兆。代码检查非常耗费时间，而且代码检查需要知识和经验的积累。</a:t>
            </a: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代码检查法包括</a:t>
            </a:r>
            <a:r>
              <a:rPr lang="zh-CN" altLang="en-US" sz="2000" dirty="0">
                <a:solidFill>
                  <a:srgbClr val="0070C0"/>
                </a:solidFill>
                <a:latin typeface="微软雅黑" panose="020B0503020204020204" pitchFamily="34" charset="-122"/>
                <a:ea typeface="微软雅黑" panose="020B0503020204020204" pitchFamily="34" charset="-122"/>
              </a:rPr>
              <a:t>代码审查、代码走查和桌面检查</a:t>
            </a:r>
            <a:r>
              <a:rPr lang="zh-CN" altLang="en-US" sz="2000" dirty="0">
                <a:solidFill>
                  <a:srgbClr val="595959"/>
                </a:solidFill>
                <a:latin typeface="微软雅黑" panose="020B0503020204020204" pitchFamily="34" charset="-122"/>
                <a:ea typeface="微软雅黑" panose="020B0503020204020204" pitchFamily="34" charset="-122"/>
              </a:rPr>
              <a:t>三种方式。</a:t>
            </a:r>
          </a:p>
        </p:txBody>
      </p:sp>
      <p:sp>
        <p:nvSpPr>
          <p:cNvPr id="31" name="Title 1">
            <a:extLst>
              <a:ext uri="{FF2B5EF4-FFF2-40B4-BE49-F238E27FC236}">
                <a16:creationId xmlns:a16="http://schemas.microsoft.com/office/drawing/2014/main" id="{F0A1D067-A05B-061A-36CA-8499011A3B91}"/>
              </a:ext>
            </a:extLst>
          </p:cNvPr>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代码检查法</a:t>
            </a:r>
          </a:p>
        </p:txBody>
      </p:sp>
      <p:pic>
        <p:nvPicPr>
          <p:cNvPr id="2" name="图片 1">
            <a:extLst>
              <a:ext uri="{FF2B5EF4-FFF2-40B4-BE49-F238E27FC236}">
                <a16:creationId xmlns:a16="http://schemas.microsoft.com/office/drawing/2014/main" id="{90267462-1A3D-3ADD-4984-70BFDAE91002}"/>
              </a:ext>
            </a:extLst>
          </p:cNvPr>
          <p:cNvPicPr>
            <a:picLocks noChangeAspect="1"/>
          </p:cNvPicPr>
          <p:nvPr/>
        </p:nvPicPr>
        <p:blipFill>
          <a:blip r:embed="rId3"/>
          <a:stretch>
            <a:fillRect/>
          </a:stretch>
        </p:blipFill>
        <p:spPr>
          <a:xfrm>
            <a:off x="1055206" y="1426714"/>
            <a:ext cx="3715858" cy="4006159"/>
          </a:xfrm>
          <a:prstGeom prst="rect">
            <a:avLst/>
          </a:prstGeom>
        </p:spPr>
      </p:pic>
    </p:spTree>
    <p:extLst>
      <p:ext uri="{BB962C8B-B14F-4D97-AF65-F5344CB8AC3E}">
        <p14:creationId xmlns:p14="http://schemas.microsoft.com/office/powerpoint/2010/main" val="38803181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1F44E-8DF7-A18D-CD61-32DB2D649849}"/>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838AEDB5-9F54-0D2C-46FF-C9DA79834439}"/>
              </a:ext>
            </a:extLst>
          </p:cNvPr>
          <p:cNvSpPr txBox="1">
            <a:spLocks noChangeArrowheads="1"/>
          </p:cNvSpPr>
          <p:nvPr/>
        </p:nvSpPr>
        <p:spPr bwMode="auto">
          <a:xfrm>
            <a:off x="839206" y="1053794"/>
            <a:ext cx="10110406" cy="5608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42900" indent="-342900" algn="just">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rPr>
              <a:t>代码审查（</a:t>
            </a:r>
            <a:r>
              <a:rPr lang="en-US" altLang="zh-CN" sz="2000" dirty="0">
                <a:solidFill>
                  <a:srgbClr val="595959"/>
                </a:solidFill>
                <a:latin typeface="微软雅黑" panose="020B0503020204020204" pitchFamily="34" charset="-122"/>
                <a:ea typeface="微软雅黑" panose="020B0503020204020204" pitchFamily="34" charset="-122"/>
              </a:rPr>
              <a:t>Code Review</a:t>
            </a:r>
            <a:r>
              <a:rPr lang="zh-CN" altLang="en-US" sz="20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是一种</a:t>
            </a:r>
            <a:r>
              <a:rPr lang="zh-CN" altLang="en-US" sz="2000" dirty="0">
                <a:solidFill>
                  <a:srgbClr val="0070C0"/>
                </a:solidFill>
                <a:latin typeface="微软雅黑" panose="020B0503020204020204" pitchFamily="34" charset="-122"/>
                <a:ea typeface="微软雅黑" panose="020B0503020204020204" pitchFamily="34" charset="-122"/>
              </a:rPr>
              <a:t>正式</a:t>
            </a:r>
            <a:r>
              <a:rPr lang="zh-CN" altLang="en-US" sz="2000" dirty="0">
                <a:solidFill>
                  <a:srgbClr val="595959"/>
                </a:solidFill>
                <a:latin typeface="微软雅黑" panose="020B0503020204020204" pitchFamily="34" charset="-122"/>
                <a:ea typeface="微软雅黑" panose="020B0503020204020204" pitchFamily="34" charset="-122"/>
              </a:rPr>
              <a:t>的质量保证活动，由团队中其他成员（通常是资深开发者）对代码进行系统性检查，重点关注</a:t>
            </a:r>
            <a:r>
              <a:rPr lang="zh-CN" altLang="en-US" sz="2000" dirty="0">
                <a:solidFill>
                  <a:srgbClr val="0070C0"/>
                </a:solidFill>
                <a:latin typeface="微软雅黑" panose="020B0503020204020204" pitchFamily="34" charset="-122"/>
                <a:ea typeface="微软雅黑" panose="020B0503020204020204" pitchFamily="34" charset="-122"/>
              </a:rPr>
              <a:t>代码的正确性、安全性、性能、可读性、可维护性以及是否符合团队规范</a:t>
            </a:r>
            <a:r>
              <a:rPr lang="zh-CN" altLang="en-US" sz="2000" dirty="0">
                <a:solidFill>
                  <a:srgbClr val="595959"/>
                </a:solidFill>
                <a:latin typeface="微软雅黑" panose="020B0503020204020204" pitchFamily="34" charset="-122"/>
                <a:ea typeface="微软雅黑" panose="020B0503020204020204" pitchFamily="34" charset="-122"/>
              </a:rPr>
              <a:t>。其核心目的是发现代码中的缺陷、优化代码质量，并促进团队知识共享。</a:t>
            </a:r>
          </a:p>
          <a:p>
            <a:pPr marL="342900" indent="-342900" algn="just">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rPr>
              <a:t>代码走查（</a:t>
            </a:r>
            <a:r>
              <a:rPr lang="en-US" altLang="zh-CN" sz="2000" dirty="0">
                <a:solidFill>
                  <a:srgbClr val="595959"/>
                </a:solidFill>
                <a:latin typeface="微软雅黑" panose="020B0503020204020204" pitchFamily="34" charset="-122"/>
                <a:ea typeface="微软雅黑" panose="020B0503020204020204" pitchFamily="34" charset="-122"/>
              </a:rPr>
              <a:t>Code Walkthrough</a:t>
            </a:r>
            <a:r>
              <a:rPr lang="zh-CN" altLang="en-US" sz="20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是一种</a:t>
            </a:r>
            <a:r>
              <a:rPr lang="zh-CN" altLang="en-US" sz="2000" dirty="0">
                <a:solidFill>
                  <a:srgbClr val="0070C0"/>
                </a:solidFill>
                <a:latin typeface="微软雅黑" panose="020B0503020204020204" pitchFamily="34" charset="-122"/>
                <a:ea typeface="微软雅黑" panose="020B0503020204020204" pitchFamily="34" charset="-122"/>
              </a:rPr>
              <a:t>相对非正式</a:t>
            </a:r>
            <a:r>
              <a:rPr lang="zh-CN" altLang="en-US" sz="2000" dirty="0">
                <a:solidFill>
                  <a:srgbClr val="595959"/>
                </a:solidFill>
                <a:latin typeface="微软雅黑" panose="020B0503020204020204" pitchFamily="34" charset="-122"/>
                <a:ea typeface="微软雅黑" panose="020B0503020204020204" pitchFamily="34" charset="-122"/>
              </a:rPr>
              <a:t>的协作过程，由代码的作者主动引导团队成员逐行或逐模块浏览代码，重点关注</a:t>
            </a:r>
            <a:r>
              <a:rPr lang="zh-CN" altLang="en-US" sz="2000" dirty="0">
                <a:solidFill>
                  <a:srgbClr val="0070C0"/>
                </a:solidFill>
                <a:latin typeface="微软雅黑" panose="020B0503020204020204" pitchFamily="34" charset="-122"/>
                <a:ea typeface="微软雅黑" panose="020B0503020204020204" pitchFamily="34" charset="-122"/>
              </a:rPr>
              <a:t>代码的逻辑流程、设计意图和实现思路</a:t>
            </a:r>
            <a:r>
              <a:rPr lang="zh-CN" altLang="en-US" sz="2000" dirty="0">
                <a:solidFill>
                  <a:srgbClr val="595959"/>
                </a:solidFill>
                <a:latin typeface="微软雅黑" panose="020B0503020204020204" pitchFamily="34" charset="-122"/>
                <a:ea typeface="微软雅黑" panose="020B0503020204020204" pitchFamily="34" charset="-122"/>
              </a:rPr>
              <a:t>。其核心目的是让团队理解代码的工作原理，确认实现是否符合需求，并通过集体讨论发现潜在问题。</a:t>
            </a: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简单来说，</a:t>
            </a:r>
            <a:r>
              <a:rPr lang="zh-CN" altLang="en-US" sz="2000" dirty="0">
                <a:solidFill>
                  <a:srgbClr val="0070C0"/>
                </a:solidFill>
                <a:latin typeface="微软雅黑" panose="020B0503020204020204" pitchFamily="34" charset="-122"/>
                <a:ea typeface="微软雅黑" panose="020B0503020204020204" pitchFamily="34" charset="-122"/>
              </a:rPr>
              <a:t>代码审查更像 “专家质检”</a:t>
            </a:r>
            <a:r>
              <a:rPr lang="zh-CN" altLang="en-US" sz="2000" dirty="0">
                <a:solidFill>
                  <a:srgbClr val="595959"/>
                </a:solidFill>
                <a:latin typeface="微软雅黑" panose="020B0503020204020204" pitchFamily="34" charset="-122"/>
                <a:ea typeface="微软雅黑" panose="020B0503020204020204" pitchFamily="34" charset="-122"/>
              </a:rPr>
              <a:t>，通过严格检查确保代码质量；</a:t>
            </a:r>
            <a:r>
              <a:rPr lang="zh-CN" altLang="en-US" sz="2000" dirty="0">
                <a:solidFill>
                  <a:srgbClr val="0070C0"/>
                </a:solidFill>
                <a:latin typeface="微软雅黑" panose="020B0503020204020204" pitchFamily="34" charset="-122"/>
                <a:ea typeface="微软雅黑" panose="020B0503020204020204" pitchFamily="34" charset="-122"/>
              </a:rPr>
              <a:t>代码走查更像 “集体研讨”</a:t>
            </a:r>
            <a:r>
              <a:rPr lang="zh-CN" altLang="en-US" sz="2000" dirty="0">
                <a:solidFill>
                  <a:srgbClr val="595959"/>
                </a:solidFill>
                <a:latin typeface="微软雅黑" panose="020B0503020204020204" pitchFamily="34" charset="-122"/>
                <a:ea typeface="微软雅黑" panose="020B0503020204020204" pitchFamily="34" charset="-122"/>
              </a:rPr>
              <a:t>，通过共同理解促进团队对齐和问题发现。两者相辅相成，都是</a:t>
            </a:r>
            <a:r>
              <a:rPr lang="zh-CN" altLang="en-US" sz="2000" dirty="0">
                <a:solidFill>
                  <a:srgbClr val="0070C0"/>
                </a:solidFill>
                <a:latin typeface="微软雅黑" panose="020B0503020204020204" pitchFamily="34" charset="-122"/>
                <a:ea typeface="微软雅黑" panose="020B0503020204020204" pitchFamily="34" charset="-122"/>
              </a:rPr>
              <a:t>提升代码质量和团队协作效率</a:t>
            </a:r>
            <a:r>
              <a:rPr lang="zh-CN" altLang="en-US" sz="2000" dirty="0">
                <a:solidFill>
                  <a:srgbClr val="595959"/>
                </a:solidFill>
                <a:latin typeface="微软雅黑" panose="020B0503020204020204" pitchFamily="34" charset="-122"/>
                <a:ea typeface="微软雅黑" panose="020B0503020204020204" pitchFamily="34" charset="-122"/>
              </a:rPr>
              <a:t>的重要实践。</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31" name="Title 1">
            <a:extLst>
              <a:ext uri="{FF2B5EF4-FFF2-40B4-BE49-F238E27FC236}">
                <a16:creationId xmlns:a16="http://schemas.microsoft.com/office/drawing/2014/main" id="{C789E265-9A31-32E6-F197-17495C66F592}"/>
              </a:ext>
            </a:extLst>
          </p:cNvPr>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代码审查和走查</a:t>
            </a:r>
          </a:p>
        </p:txBody>
      </p:sp>
    </p:spTree>
    <p:extLst>
      <p:ext uri="{BB962C8B-B14F-4D97-AF65-F5344CB8AC3E}">
        <p14:creationId xmlns:p14="http://schemas.microsoft.com/office/powerpoint/2010/main" val="32406766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91341-3B45-4B0D-8AEC-2A0E3EBA5B2A}"/>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ADAD42F1-815F-68E7-704D-93A853BAECA7}"/>
              </a:ext>
            </a:extLst>
          </p:cNvPr>
          <p:cNvSpPr txBox="1">
            <a:spLocks noChangeArrowheads="1"/>
          </p:cNvSpPr>
          <p:nvPr/>
        </p:nvSpPr>
        <p:spPr bwMode="auto">
          <a:xfrm>
            <a:off x="1040003" y="1557794"/>
            <a:ext cx="10110406" cy="1915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桌面检查是一种传统的检查方法，由</a:t>
            </a:r>
            <a:r>
              <a:rPr lang="zh-CN" altLang="en-US" sz="2000" dirty="0">
                <a:solidFill>
                  <a:srgbClr val="0070C0"/>
                </a:solidFill>
                <a:latin typeface="微软雅黑" panose="020B0503020204020204" pitchFamily="34" charset="-122"/>
                <a:ea typeface="微软雅黑" panose="020B0503020204020204" pitchFamily="34" charset="-122"/>
              </a:rPr>
              <a:t>程序员检查自己编写的程序</a:t>
            </a:r>
            <a:r>
              <a:rPr lang="zh-CN" altLang="en-US" sz="2000" dirty="0">
                <a:solidFill>
                  <a:srgbClr val="595959"/>
                </a:solidFill>
                <a:latin typeface="微软雅黑" panose="020B0503020204020204" pitchFamily="34" charset="-122"/>
                <a:ea typeface="微软雅黑" panose="020B0503020204020204" pitchFamily="34" charset="-122"/>
              </a:rPr>
              <a:t>。程序员在程序通过编译之后，对</a:t>
            </a:r>
            <a:r>
              <a:rPr lang="zh-CN" altLang="en-US" sz="2000" dirty="0">
                <a:solidFill>
                  <a:srgbClr val="0070C0"/>
                </a:solidFill>
                <a:latin typeface="微软雅黑" panose="020B0503020204020204" pitchFamily="34" charset="-122"/>
                <a:ea typeface="微软雅黑" panose="020B0503020204020204" pitchFamily="34" charset="-122"/>
              </a:rPr>
              <a:t>源程序代码进行分析、检验，并补充相关文档</a:t>
            </a:r>
            <a:r>
              <a:rPr lang="zh-CN" altLang="en-US" sz="2000" dirty="0">
                <a:solidFill>
                  <a:srgbClr val="595959"/>
                </a:solidFill>
                <a:latin typeface="微软雅黑" panose="020B0503020204020204" pitchFamily="34" charset="-122"/>
                <a:ea typeface="微软雅黑" panose="020B0503020204020204" pitchFamily="34" charset="-122"/>
              </a:rPr>
              <a:t>，由于程序员熟悉自己的程序及其程序设计风格，桌面检查由程序员自己进行可以节省时间，但应</a:t>
            </a:r>
            <a:r>
              <a:rPr lang="zh-CN" altLang="en-US" sz="2000" dirty="0">
                <a:solidFill>
                  <a:srgbClr val="0070C0"/>
                </a:solidFill>
                <a:latin typeface="微软雅黑" panose="020B0503020204020204" pitchFamily="34" charset="-122"/>
                <a:ea typeface="微软雅黑" panose="020B0503020204020204" pitchFamily="34" charset="-122"/>
              </a:rPr>
              <a:t>避免主观片面性</a:t>
            </a:r>
            <a:r>
              <a:rPr lang="zh-CN" altLang="en-US" sz="2000" dirty="0">
                <a:solidFill>
                  <a:srgbClr val="595959"/>
                </a:solidFill>
                <a:latin typeface="微软雅黑" panose="020B0503020204020204" pitchFamily="34" charset="-122"/>
                <a:ea typeface="微软雅黑" panose="020B0503020204020204" pitchFamily="34" charset="-122"/>
              </a:rPr>
              <a:t>。桌面检查的效果逊色于代码检查和走查，但桌面检查胜过没有检查。</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31" name="Title 1">
            <a:extLst>
              <a:ext uri="{FF2B5EF4-FFF2-40B4-BE49-F238E27FC236}">
                <a16:creationId xmlns:a16="http://schemas.microsoft.com/office/drawing/2014/main" id="{F63B7A0B-43B7-67AA-FB3B-96F388789940}"/>
              </a:ext>
            </a:extLst>
          </p:cNvPr>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桌面检查</a:t>
            </a:r>
          </a:p>
        </p:txBody>
      </p:sp>
    </p:spTree>
    <p:extLst>
      <p:ext uri="{BB962C8B-B14F-4D97-AF65-F5344CB8AC3E}">
        <p14:creationId xmlns:p14="http://schemas.microsoft.com/office/powerpoint/2010/main" val="3258070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2E99E-E8AC-5879-4BF9-88CA01590270}"/>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79D8706F-5AD1-9EC8-DB05-184AB8D52592}"/>
              </a:ext>
            </a:extLst>
          </p:cNvPr>
          <p:cNvSpPr txBox="1">
            <a:spLocks noChangeArrowheads="1"/>
          </p:cNvSpPr>
          <p:nvPr/>
        </p:nvSpPr>
        <p:spPr bwMode="auto">
          <a:xfrm>
            <a:off x="1040003" y="1557794"/>
            <a:ext cx="10110406" cy="2377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0070C0"/>
                </a:solidFill>
                <a:latin typeface="微软雅黑" panose="020B0503020204020204" pitchFamily="34" charset="-122"/>
                <a:ea typeface="微软雅黑" panose="020B0503020204020204" pitchFamily="34" charset="-122"/>
              </a:rPr>
              <a:t>静态结构分析法</a:t>
            </a:r>
            <a:r>
              <a:rPr lang="zh-CN" altLang="en-US" sz="2000" dirty="0">
                <a:solidFill>
                  <a:srgbClr val="595959"/>
                </a:solidFill>
                <a:latin typeface="微软雅黑" panose="020B0503020204020204" pitchFamily="34" charset="-122"/>
                <a:ea typeface="微软雅黑" panose="020B0503020204020204" pitchFamily="34" charset="-122"/>
              </a:rPr>
              <a:t>主要是以</a:t>
            </a:r>
            <a:r>
              <a:rPr lang="zh-CN" altLang="en-US" sz="2000" dirty="0">
                <a:solidFill>
                  <a:srgbClr val="0070C0"/>
                </a:solidFill>
                <a:latin typeface="微软雅黑" panose="020B0503020204020204" pitchFamily="34" charset="-122"/>
                <a:ea typeface="微软雅黑" panose="020B0503020204020204" pitchFamily="34" charset="-122"/>
              </a:rPr>
              <a:t>图形的方式表现程序的内部结构</a:t>
            </a:r>
            <a:r>
              <a:rPr lang="zh-CN" altLang="en-US" sz="2000" dirty="0">
                <a:solidFill>
                  <a:srgbClr val="595959"/>
                </a:solidFill>
                <a:latin typeface="微软雅黑" panose="020B0503020204020204" pitchFamily="34" charset="-122"/>
                <a:ea typeface="微软雅黑" panose="020B0503020204020204" pitchFamily="34" charset="-122"/>
              </a:rPr>
              <a:t>。测试者通过使用测试工具分析程序源代码的系统结构、数据结构、内部控制逻辑等内部结构，生成</a:t>
            </a:r>
            <a:r>
              <a:rPr lang="zh-CN" altLang="en-US" sz="2000" dirty="0">
                <a:solidFill>
                  <a:srgbClr val="0070C0"/>
                </a:solidFill>
                <a:latin typeface="微软雅黑" panose="020B0503020204020204" pitchFamily="34" charset="-122"/>
                <a:ea typeface="微软雅黑" panose="020B0503020204020204" pitchFamily="34" charset="-122"/>
              </a:rPr>
              <a:t>函数调用关系图、模块控制流图、函数内部控制流图</a:t>
            </a:r>
            <a:r>
              <a:rPr lang="zh-CN" altLang="en-US" sz="2000" dirty="0">
                <a:solidFill>
                  <a:srgbClr val="595959"/>
                </a:solidFill>
                <a:latin typeface="微软雅黑" panose="020B0503020204020204" pitchFamily="34" charset="-122"/>
                <a:ea typeface="微软雅黑" panose="020B0503020204020204" pitchFamily="34" charset="-122"/>
              </a:rPr>
              <a:t>等各种图形图表，清晰地标识整个软件的组成结构，便于理解。通过分析这些图表（包括控制流分析、数据流分析、接口分析、表达式分析），检查软件是否存在缺陷或错误。</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31" name="Title 1">
            <a:extLst>
              <a:ext uri="{FF2B5EF4-FFF2-40B4-BE49-F238E27FC236}">
                <a16:creationId xmlns:a16="http://schemas.microsoft.com/office/drawing/2014/main" id="{752FA622-20E8-7522-6F34-A5F0F55E131E}"/>
              </a:ext>
            </a:extLst>
          </p:cNvPr>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静态结构分析法</a:t>
            </a:r>
          </a:p>
        </p:txBody>
      </p:sp>
    </p:spTree>
    <p:extLst>
      <p:ext uri="{BB962C8B-B14F-4D97-AF65-F5344CB8AC3E}">
        <p14:creationId xmlns:p14="http://schemas.microsoft.com/office/powerpoint/2010/main" val="560123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3503295" y="2637790"/>
            <a:ext cx="5504180" cy="783590"/>
          </a:xfrm>
          <a:prstGeom prst="rect">
            <a:avLst/>
          </a:prstGeom>
          <a:noFill/>
        </p:spPr>
        <p:txBody>
          <a:bodyPr wrap="square" rtlCol="0">
            <a:spAutoFit/>
          </a:bodyPr>
          <a:lstStyle/>
          <a:p>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3</a:t>
            </a: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白盒测试方法</a:t>
            </a:r>
          </a:p>
        </p:txBody>
      </p:sp>
    </p:spTree>
    <p:extLst>
      <p:ext uri="{BB962C8B-B14F-4D97-AF65-F5344CB8AC3E}">
        <p14:creationId xmlns:p14="http://schemas.microsoft.com/office/powerpoint/2010/main" val="5740988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631106" y="2133749"/>
            <a:ext cx="903908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白盒测试又称为</a:t>
            </a:r>
            <a:r>
              <a:rPr lang="zh-CN" altLang="en-US" sz="2000" dirty="0">
                <a:solidFill>
                  <a:srgbClr val="0070C0"/>
                </a:solidFill>
                <a:latin typeface="微软雅黑" panose="020B0503020204020204" pitchFamily="34" charset="-122"/>
                <a:ea typeface="微软雅黑" panose="020B0503020204020204" pitchFamily="34" charset="-122"/>
              </a:rPr>
              <a:t>透明盒测试</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结构测试</a:t>
            </a:r>
            <a:r>
              <a:rPr lang="zh-CN" altLang="en-US" sz="2000" dirty="0">
                <a:solidFill>
                  <a:srgbClr val="595959"/>
                </a:solidFill>
                <a:latin typeface="微软雅黑" panose="020B0503020204020204" pitchFamily="34" charset="-122"/>
                <a:ea typeface="微软雅黑" panose="020B0503020204020204" pitchFamily="34" charset="-122"/>
              </a:rPr>
              <a:t>，它基于</a:t>
            </a:r>
            <a:r>
              <a:rPr lang="zh-CN" altLang="en-US" sz="2000" dirty="0">
                <a:solidFill>
                  <a:srgbClr val="0070C0"/>
                </a:solidFill>
                <a:latin typeface="微软雅黑" panose="020B0503020204020204" pitchFamily="34" charset="-122"/>
                <a:ea typeface="微软雅黑" panose="020B0503020204020204" pitchFamily="34" charset="-122"/>
              </a:rPr>
              <a:t>程序的内部逻辑结构进行测试</a:t>
            </a:r>
            <a:r>
              <a:rPr lang="zh-CN" altLang="en-US" sz="2000" dirty="0">
                <a:solidFill>
                  <a:srgbClr val="595959"/>
                </a:solidFill>
                <a:latin typeface="微软雅黑" panose="020B0503020204020204" pitchFamily="34" charset="-122"/>
                <a:ea typeface="微软雅黑" panose="020B0503020204020204" pitchFamily="34" charset="-122"/>
              </a:rPr>
              <a:t>，而不是程序的功能（黑盒测试）。因此，进行白盒测试时，测试人员需要了解程序的内部逻辑结构，根据使用的编程语言设计测试用例。白盒测试的方法包括</a:t>
            </a:r>
            <a:r>
              <a:rPr lang="zh-CN" altLang="en-US" sz="2000" dirty="0">
                <a:solidFill>
                  <a:srgbClr val="0070C0"/>
                </a:solidFill>
                <a:latin typeface="微软雅黑" panose="020B0503020204020204" pitchFamily="34" charset="-122"/>
                <a:ea typeface="微软雅黑" panose="020B0503020204020204" pitchFamily="34" charset="-122"/>
              </a:rPr>
              <a:t>基本路径法、逻辑覆盖法、程序插桩法</a:t>
            </a:r>
            <a:r>
              <a:rPr lang="zh-CN" altLang="en-US" sz="2000" dirty="0">
                <a:solidFill>
                  <a:srgbClr val="595959"/>
                </a:solidFill>
                <a:latin typeface="微软雅黑" panose="020B0503020204020204" pitchFamily="34" charset="-122"/>
                <a:ea typeface="微软雅黑" panose="020B0503020204020204" pitchFamily="34" charset="-122"/>
              </a:rPr>
              <a:t>，本章将对白盒测试的方法进行详细讲解。</a:t>
            </a:r>
          </a:p>
        </p:txBody>
      </p:sp>
    </p:spTree>
    <p:extLst>
      <p:ext uri="{BB962C8B-B14F-4D97-AF65-F5344CB8AC3E}">
        <p14:creationId xmlns:p14="http://schemas.microsoft.com/office/powerpoint/2010/main" val="2623406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E2609-4161-F839-3E1F-221F02605A83}"/>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4A862CF5-4718-7F3B-53D0-54A4453DEF45}"/>
              </a:ext>
            </a:extLst>
          </p:cNvPr>
          <p:cNvSpPr txBox="1">
            <a:spLocks noChangeArrowheads="1"/>
          </p:cNvSpPr>
          <p:nvPr/>
        </p:nvSpPr>
        <p:spPr bwMode="auto">
          <a:xfrm>
            <a:off x="850394" y="1779600"/>
            <a:ext cx="4482129" cy="330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基本块是程序中</a:t>
            </a:r>
            <a:r>
              <a:rPr lang="zh-CN" altLang="en-US" sz="2000" dirty="0">
                <a:solidFill>
                  <a:srgbClr val="005DA2"/>
                </a:solidFill>
                <a:latin typeface="微软雅黑" panose="020B0503020204020204" pitchFamily="34" charset="-122"/>
                <a:ea typeface="微软雅黑" panose="020B0503020204020204" pitchFamily="34" charset="-122"/>
              </a:rPr>
              <a:t>连续的</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5DA2"/>
                </a:solidFill>
                <a:latin typeface="微软雅黑" panose="020B0503020204020204" pitchFamily="34" charset="-122"/>
                <a:ea typeface="微软雅黑" panose="020B0503020204020204" pitchFamily="34" charset="-122"/>
              </a:rPr>
              <a:t>无分支进入（除入口外）</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5DA2"/>
                </a:solidFill>
                <a:latin typeface="微软雅黑" panose="020B0503020204020204" pitchFamily="34" charset="-122"/>
                <a:ea typeface="微软雅黑" panose="020B0503020204020204" pitchFamily="34" charset="-122"/>
              </a:rPr>
              <a:t>无分支跳出（除出口外） </a:t>
            </a:r>
            <a:r>
              <a:rPr lang="zh-CN" altLang="en-US" sz="2000" dirty="0">
                <a:solidFill>
                  <a:srgbClr val="595959"/>
                </a:solidFill>
                <a:latin typeface="微软雅黑" panose="020B0503020204020204" pitchFamily="34" charset="-122"/>
                <a:ea typeface="微软雅黑" panose="020B0503020204020204" pitchFamily="34" charset="-122"/>
              </a:rPr>
              <a:t>的指令序列。简单来说，一旦程序执行进入一个基本块的入口，就会 “从头到尾” 执行完所有指令，中途</a:t>
            </a:r>
            <a:r>
              <a:rPr lang="zh-CN" altLang="en-US" sz="2000" dirty="0">
                <a:solidFill>
                  <a:srgbClr val="005DA2"/>
                </a:solidFill>
                <a:latin typeface="微软雅黑" panose="020B0503020204020204" pitchFamily="34" charset="-122"/>
                <a:ea typeface="微软雅黑" panose="020B0503020204020204" pitchFamily="34" charset="-122"/>
              </a:rPr>
              <a:t>不会被其他分支打断</a:t>
            </a:r>
            <a:r>
              <a:rPr lang="zh-CN" altLang="en-US" sz="2000" dirty="0">
                <a:solidFill>
                  <a:srgbClr val="595959"/>
                </a:solidFill>
                <a:latin typeface="微软雅黑" panose="020B0503020204020204" pitchFamily="34" charset="-122"/>
                <a:ea typeface="微软雅黑" panose="020B0503020204020204" pitchFamily="34" charset="-122"/>
              </a:rPr>
              <a:t>，也</a:t>
            </a:r>
            <a:r>
              <a:rPr lang="zh-CN" altLang="en-US" sz="2000" dirty="0">
                <a:solidFill>
                  <a:srgbClr val="005DA2"/>
                </a:solidFill>
                <a:latin typeface="微软雅黑" panose="020B0503020204020204" pitchFamily="34" charset="-122"/>
                <a:ea typeface="微软雅黑" panose="020B0503020204020204" pitchFamily="34" charset="-122"/>
              </a:rPr>
              <a:t>不会有其他分支跳转到块内的中间位置</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31" name="Title 1">
            <a:extLst>
              <a:ext uri="{FF2B5EF4-FFF2-40B4-BE49-F238E27FC236}">
                <a16:creationId xmlns:a16="http://schemas.microsoft.com/office/drawing/2014/main" id="{F205CFFA-98DF-8F2B-CA1A-AEF7119B486F}"/>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基本块（</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Basic Block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BB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p>
        </p:txBody>
      </p:sp>
      <p:sp>
        <p:nvSpPr>
          <p:cNvPr id="6" name="TextBox 35">
            <a:extLst>
              <a:ext uri="{FF2B5EF4-FFF2-40B4-BE49-F238E27FC236}">
                <a16:creationId xmlns:a16="http://schemas.microsoft.com/office/drawing/2014/main" id="{DE8A0AD4-7DDC-3FD7-7BCF-D3350E40D757}"/>
              </a:ext>
            </a:extLst>
          </p:cNvPr>
          <p:cNvSpPr txBox="1">
            <a:spLocks noChangeArrowheads="1"/>
          </p:cNvSpPr>
          <p:nvPr/>
        </p:nvSpPr>
        <p:spPr bwMode="auto">
          <a:xfrm>
            <a:off x="6294586" y="909794"/>
            <a:ext cx="5879207" cy="5608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int process(int x, int y) {</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int sum = x + y;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1</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int product = x * y;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2</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if (sum &gt; product) {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（条件分支）</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sum += 10;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4</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product = 0;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5</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 else {</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product -= 5;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6</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endParaRPr lang="zh-CN" altLang="en-US" sz="2000" dirty="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int result = sum + product;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7</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return result;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8</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a:t>
            </a:r>
          </a:p>
        </p:txBody>
      </p:sp>
      <p:sp>
        <p:nvSpPr>
          <p:cNvPr id="8" name="矩形 7">
            <a:extLst>
              <a:ext uri="{FF2B5EF4-FFF2-40B4-BE49-F238E27FC236}">
                <a16:creationId xmlns:a16="http://schemas.microsoft.com/office/drawing/2014/main" id="{88FE72D8-8E73-2F2F-4813-1DDC1B221F0E}"/>
              </a:ext>
            </a:extLst>
          </p:cNvPr>
          <p:cNvSpPr/>
          <p:nvPr/>
        </p:nvSpPr>
        <p:spPr>
          <a:xfrm>
            <a:off x="6294586" y="2925794"/>
            <a:ext cx="5704620" cy="79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19681CC8-DAE1-3D08-8C9F-9AEBA0950CDB}"/>
              </a:ext>
            </a:extLst>
          </p:cNvPr>
          <p:cNvSpPr txBox="1"/>
          <p:nvPr/>
        </p:nvSpPr>
        <p:spPr>
          <a:xfrm>
            <a:off x="6167206" y="2493794"/>
            <a:ext cx="792000" cy="369332"/>
          </a:xfrm>
          <a:prstGeom prst="rect">
            <a:avLst/>
          </a:prstGeom>
          <a:noFill/>
        </p:spPr>
        <p:txBody>
          <a:bodyPr wrap="square" rtlCol="0">
            <a:spAutoFit/>
          </a:bodyPr>
          <a:lstStyle/>
          <a:p>
            <a:r>
              <a:rPr lang="en-US" altLang="zh-CN" sz="1800" dirty="0">
                <a:solidFill>
                  <a:srgbClr val="FF0000"/>
                </a:solidFill>
                <a:latin typeface="微软雅黑" panose="020B0503020204020204" pitchFamily="34" charset="-122"/>
                <a:ea typeface="微软雅黑" panose="020B0503020204020204" pitchFamily="34" charset="-122"/>
              </a:rPr>
              <a:t>BB</a:t>
            </a:r>
            <a:endParaRPr lang="zh-CN" altLang="en-US" sz="18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231675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83EE1-CE90-C58C-66D7-3A5D34B82CD6}"/>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6D363E1D-588B-9765-8233-379ED1CE7917}"/>
              </a:ext>
            </a:extLst>
          </p:cNvPr>
          <p:cNvSpPr txBox="1">
            <a:spLocks noChangeArrowheads="1"/>
          </p:cNvSpPr>
          <p:nvPr/>
        </p:nvSpPr>
        <p:spPr bwMode="auto">
          <a:xfrm>
            <a:off x="839206" y="1053794"/>
            <a:ext cx="5056621" cy="5608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42900" indent="-342900" algn="just">
              <a:lnSpc>
                <a:spcPct val="150000"/>
              </a:lnSpc>
              <a:buFont typeface="Wingdings" panose="05000000000000000000" pitchFamily="2" charset="2"/>
              <a:buChar char="l"/>
            </a:pPr>
            <a:r>
              <a:rPr lang="zh-CN" altLang="en-US" sz="2000" dirty="0">
                <a:solidFill>
                  <a:srgbClr val="005DA2"/>
                </a:solidFill>
                <a:latin typeface="微软雅黑" panose="020B0503020204020204" pitchFamily="34" charset="-122"/>
                <a:ea typeface="微软雅黑" panose="020B0503020204020204" pitchFamily="34" charset="-122"/>
              </a:rPr>
              <a:t>单入口</a:t>
            </a:r>
            <a:r>
              <a:rPr lang="zh-CN" altLang="en-US" sz="2000" dirty="0">
                <a:solidFill>
                  <a:srgbClr val="595959"/>
                </a:solidFill>
                <a:latin typeface="微软雅黑" panose="020B0503020204020204" pitchFamily="34" charset="-122"/>
                <a:ea typeface="微软雅黑" panose="020B0503020204020204" pitchFamily="34" charset="-122"/>
              </a:rPr>
              <a:t>：只有一个 “开始执行点”</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即块的第一条指令。程序只能从这条指令进入该块，不能从块外的其他指令跳转到块内的中间指令。</a:t>
            </a:r>
          </a:p>
          <a:p>
            <a:pPr marL="342900" indent="-342900" algn="just">
              <a:lnSpc>
                <a:spcPct val="150000"/>
              </a:lnSpc>
              <a:buFont typeface="Wingdings" panose="05000000000000000000" pitchFamily="2" charset="2"/>
              <a:buChar char="l"/>
            </a:pPr>
            <a:r>
              <a:rPr lang="zh-CN" altLang="en-US" sz="2000" dirty="0">
                <a:solidFill>
                  <a:srgbClr val="005DA2"/>
                </a:solidFill>
                <a:latin typeface="微软雅黑" panose="020B0503020204020204" pitchFamily="34" charset="-122"/>
                <a:ea typeface="微软雅黑" panose="020B0503020204020204" pitchFamily="34" charset="-122"/>
              </a:rPr>
              <a:t>单出口</a:t>
            </a:r>
            <a:r>
              <a:rPr lang="zh-CN" altLang="en-US" sz="2000" dirty="0">
                <a:solidFill>
                  <a:srgbClr val="595959"/>
                </a:solidFill>
                <a:latin typeface="微软雅黑" panose="020B0503020204020204" pitchFamily="34" charset="-122"/>
                <a:ea typeface="微软雅黑" panose="020B0503020204020204" pitchFamily="34" charset="-122"/>
              </a:rPr>
              <a:t>：只有一个 “结束执行点”</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即块的最后一条指令。执行完这条指令后，程序只会跳转到一个或两个其他基本块（若为条件分支，则跳转到两个块；若为无条件分支 </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顺序执行，则跳转到一个块）。</a:t>
            </a:r>
          </a:p>
          <a:p>
            <a:pPr marL="342900" indent="-342900" algn="just">
              <a:lnSpc>
                <a:spcPct val="150000"/>
              </a:lnSpc>
              <a:buFont typeface="Wingdings" panose="05000000000000000000" pitchFamily="2" charset="2"/>
              <a:buChar char="l"/>
            </a:pPr>
            <a:r>
              <a:rPr lang="zh-CN" altLang="en-US" sz="2000" dirty="0">
                <a:solidFill>
                  <a:srgbClr val="005DA2"/>
                </a:solidFill>
                <a:latin typeface="微软雅黑" panose="020B0503020204020204" pitchFamily="34" charset="-122"/>
                <a:ea typeface="微软雅黑" panose="020B0503020204020204" pitchFamily="34" charset="-122"/>
              </a:rPr>
              <a:t>顺序执行：</a:t>
            </a:r>
            <a:r>
              <a:rPr lang="zh-CN" altLang="en-US" sz="2000" dirty="0">
                <a:solidFill>
                  <a:srgbClr val="595959"/>
                </a:solidFill>
                <a:latin typeface="微软雅黑" panose="020B0503020204020204" pitchFamily="34" charset="-122"/>
                <a:ea typeface="微软雅黑" panose="020B0503020204020204" pitchFamily="34" charset="-122"/>
              </a:rPr>
              <a:t>块内所有指令严格按顺序执行，没有分支、循环等控制流变化。</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31" name="Title 1">
            <a:extLst>
              <a:ext uri="{FF2B5EF4-FFF2-40B4-BE49-F238E27FC236}">
                <a16:creationId xmlns:a16="http://schemas.microsoft.com/office/drawing/2014/main" id="{473BF911-8153-D1E3-DBBB-889060582432}"/>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基本块的特点</a:t>
            </a:r>
          </a:p>
        </p:txBody>
      </p:sp>
      <p:sp>
        <p:nvSpPr>
          <p:cNvPr id="13" name="TextBox 35">
            <a:extLst>
              <a:ext uri="{FF2B5EF4-FFF2-40B4-BE49-F238E27FC236}">
                <a16:creationId xmlns:a16="http://schemas.microsoft.com/office/drawing/2014/main" id="{07FAE603-A7FD-B790-B5D9-817583F4AED9}"/>
              </a:ext>
            </a:extLst>
          </p:cNvPr>
          <p:cNvSpPr txBox="1">
            <a:spLocks noChangeArrowheads="1"/>
          </p:cNvSpPr>
          <p:nvPr/>
        </p:nvSpPr>
        <p:spPr bwMode="auto">
          <a:xfrm>
            <a:off x="6294586" y="909794"/>
            <a:ext cx="5879207" cy="5608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int process(int x, int y) {</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int sum = x + y;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1</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int product = x * y;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2</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if (sum &gt; product) {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（条件分支）</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sum += 10;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en-US" sz="2000" dirty="0">
                <a:solidFill>
                  <a:srgbClr val="FF0000"/>
                </a:solidFill>
                <a:latin typeface="微软雅黑" panose="020B0503020204020204" pitchFamily="34" charset="-122"/>
                <a:ea typeface="微软雅黑" panose="020B0503020204020204" pitchFamily="34" charset="-122"/>
              </a:rPr>
              <a:t>（入口）</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product = 0;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5</a:t>
            </a:r>
            <a:r>
              <a:rPr lang="zh-CN" altLang="en-US" sz="2000" dirty="0">
                <a:solidFill>
                  <a:srgbClr val="FF0000"/>
                </a:solidFill>
                <a:latin typeface="微软雅黑" panose="020B0503020204020204" pitchFamily="34" charset="-122"/>
                <a:ea typeface="微软雅黑" panose="020B0503020204020204" pitchFamily="34" charset="-122"/>
              </a:rPr>
              <a:t>（出口）</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 else {</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product -= 5;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6</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endParaRPr lang="zh-CN" altLang="en-US" sz="2000" dirty="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int result = sum + product;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7</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return result;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8</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a:t>
            </a:r>
          </a:p>
        </p:txBody>
      </p:sp>
      <p:sp>
        <p:nvSpPr>
          <p:cNvPr id="14" name="矩形 13">
            <a:extLst>
              <a:ext uri="{FF2B5EF4-FFF2-40B4-BE49-F238E27FC236}">
                <a16:creationId xmlns:a16="http://schemas.microsoft.com/office/drawing/2014/main" id="{CF862E73-CC44-2381-DE38-73AEACE42310}"/>
              </a:ext>
            </a:extLst>
          </p:cNvPr>
          <p:cNvSpPr/>
          <p:nvPr/>
        </p:nvSpPr>
        <p:spPr>
          <a:xfrm>
            <a:off x="6294586" y="2925794"/>
            <a:ext cx="5704620" cy="79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9F7B8CE-84AA-3C08-74AF-A32121CA602E}"/>
              </a:ext>
            </a:extLst>
          </p:cNvPr>
          <p:cNvSpPr txBox="1"/>
          <p:nvPr/>
        </p:nvSpPr>
        <p:spPr>
          <a:xfrm>
            <a:off x="6160819" y="2493794"/>
            <a:ext cx="792000" cy="369332"/>
          </a:xfrm>
          <a:prstGeom prst="rect">
            <a:avLst/>
          </a:prstGeom>
          <a:noFill/>
        </p:spPr>
        <p:txBody>
          <a:bodyPr wrap="square" rtlCol="0">
            <a:spAutoFit/>
          </a:bodyPr>
          <a:lstStyle/>
          <a:p>
            <a:r>
              <a:rPr lang="en-US" altLang="zh-CN" sz="1800" dirty="0">
                <a:solidFill>
                  <a:srgbClr val="FF0000"/>
                </a:solidFill>
                <a:latin typeface="微软雅黑" panose="020B0503020204020204" pitchFamily="34" charset="-122"/>
                <a:ea typeface="微软雅黑" panose="020B0503020204020204" pitchFamily="34" charset="-122"/>
              </a:rPr>
              <a:t>BB</a:t>
            </a:r>
            <a:endParaRPr lang="zh-CN" altLang="en-US" sz="18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483616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ABC51-5E7B-C9BD-8472-D3429C4D9E51}"/>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589FAF98-ABA5-51DD-DA68-D96201196AB2}"/>
              </a:ext>
            </a:extLst>
          </p:cNvPr>
          <p:cNvSpPr txBox="1">
            <a:spLocks noChangeArrowheads="1"/>
          </p:cNvSpPr>
          <p:nvPr/>
        </p:nvSpPr>
        <p:spPr bwMode="auto">
          <a:xfrm>
            <a:off x="1300816" y="1187422"/>
            <a:ext cx="9258389" cy="1453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划分基本块的核心是先找到“</a:t>
            </a:r>
            <a:r>
              <a:rPr lang="zh-CN" altLang="en-US" sz="2000" dirty="0">
                <a:solidFill>
                  <a:srgbClr val="006BBC"/>
                </a:solidFill>
                <a:latin typeface="微软雅黑" panose="020B0503020204020204" pitchFamily="34" charset="-122"/>
                <a:ea typeface="微软雅黑" panose="020B0503020204020204" pitchFamily="34" charset="-122"/>
              </a:rPr>
              <a:t>基本块的边界</a:t>
            </a:r>
            <a:r>
              <a:rPr lang="zh-CN" altLang="en-US" sz="2000" dirty="0">
                <a:solidFill>
                  <a:srgbClr val="595959"/>
                </a:solidFill>
                <a:latin typeface="微软雅黑" panose="020B0503020204020204" pitchFamily="34" charset="-122"/>
                <a:ea typeface="微软雅黑" panose="020B0503020204020204" pitchFamily="34" charset="-122"/>
              </a:rPr>
              <a:t>”（即 “入口点” 和 “出口点”），再将</a:t>
            </a:r>
            <a:r>
              <a:rPr lang="zh-CN" altLang="en-US" sz="2000" dirty="0">
                <a:solidFill>
                  <a:srgbClr val="006BBC"/>
                </a:solidFill>
                <a:latin typeface="微软雅黑" panose="020B0503020204020204" pitchFamily="34" charset="-122"/>
                <a:ea typeface="微软雅黑" panose="020B0503020204020204" pitchFamily="34" charset="-122"/>
              </a:rPr>
              <a:t>入口点到下一个入口点（或程序结束）的指令</a:t>
            </a:r>
            <a:r>
              <a:rPr lang="zh-CN" altLang="en-US" sz="2000" dirty="0">
                <a:solidFill>
                  <a:srgbClr val="595959"/>
                </a:solidFill>
                <a:latin typeface="微软雅黑" panose="020B0503020204020204" pitchFamily="34" charset="-122"/>
                <a:ea typeface="微软雅黑" panose="020B0503020204020204" pitchFamily="34" charset="-122"/>
              </a:rPr>
              <a:t>划分为一个基本块。具体步骤如下：</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31" name="Title 1">
            <a:extLst>
              <a:ext uri="{FF2B5EF4-FFF2-40B4-BE49-F238E27FC236}">
                <a16:creationId xmlns:a16="http://schemas.microsoft.com/office/drawing/2014/main" id="{51EE0E1C-0AFE-FDF4-FA77-07D0A8114743}"/>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基本块的划分</a:t>
            </a:r>
          </a:p>
        </p:txBody>
      </p:sp>
      <p:sp>
        <p:nvSpPr>
          <p:cNvPr id="2" name="TextBox 35">
            <a:extLst>
              <a:ext uri="{FF2B5EF4-FFF2-40B4-BE49-F238E27FC236}">
                <a16:creationId xmlns:a16="http://schemas.microsoft.com/office/drawing/2014/main" id="{547A8D13-5B37-B5D6-D7E1-9D685C3F7F25}"/>
              </a:ext>
            </a:extLst>
          </p:cNvPr>
          <p:cNvSpPr txBox="1">
            <a:spLocks noChangeArrowheads="1"/>
          </p:cNvSpPr>
          <p:nvPr/>
        </p:nvSpPr>
        <p:spPr bwMode="auto">
          <a:xfrm>
            <a:off x="1300816" y="3064703"/>
            <a:ext cx="9618389" cy="1453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步骤 </a:t>
            </a:r>
            <a:r>
              <a:rPr lang="en-US" altLang="zh-CN" sz="2000" b="1" dirty="0">
                <a:solidFill>
                  <a:srgbClr val="595959"/>
                </a:solidFill>
                <a:latin typeface="微软雅黑" panose="020B0503020204020204" pitchFamily="34" charset="-122"/>
                <a:ea typeface="微软雅黑" panose="020B0503020204020204" pitchFamily="34" charset="-122"/>
              </a:rPr>
              <a:t>1</a:t>
            </a:r>
            <a:r>
              <a:rPr lang="zh-CN" altLang="en-US" sz="2000" b="1" dirty="0">
                <a:solidFill>
                  <a:srgbClr val="595959"/>
                </a:solidFill>
                <a:latin typeface="微软雅黑" panose="020B0503020204020204" pitchFamily="34" charset="-122"/>
                <a:ea typeface="微软雅黑" panose="020B0503020204020204" pitchFamily="34" charset="-122"/>
              </a:rPr>
              <a:t>：确定“入口点”（基本块的起始指令）</a:t>
            </a:r>
            <a:endParaRPr lang="en-US" altLang="zh-CN" sz="2000" b="1" dirty="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步骤 </a:t>
            </a:r>
            <a:r>
              <a:rPr lang="en-US" altLang="zh-CN" sz="2000" b="1" dirty="0">
                <a:solidFill>
                  <a:srgbClr val="595959"/>
                </a:solidFill>
                <a:latin typeface="微软雅黑" panose="020B0503020204020204" pitchFamily="34" charset="-122"/>
                <a:ea typeface="微软雅黑" panose="020B0503020204020204" pitchFamily="34" charset="-122"/>
              </a:rPr>
              <a:t>2</a:t>
            </a:r>
            <a:r>
              <a:rPr lang="zh-CN" altLang="en-US" sz="2000" b="1" dirty="0">
                <a:solidFill>
                  <a:srgbClr val="595959"/>
                </a:solidFill>
                <a:latin typeface="微软雅黑" panose="020B0503020204020204" pitchFamily="34" charset="-122"/>
                <a:ea typeface="微软雅黑" panose="020B0503020204020204" pitchFamily="34" charset="-122"/>
              </a:rPr>
              <a:t>：确定 “出口点”（基本块的结束指令）</a:t>
            </a:r>
            <a:endParaRPr lang="en-US" altLang="zh-CN" sz="2000" b="1" dirty="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步骤 </a:t>
            </a:r>
            <a:r>
              <a:rPr lang="en-US" altLang="zh-CN" sz="2000" b="1" dirty="0">
                <a:solidFill>
                  <a:srgbClr val="595959"/>
                </a:solidFill>
                <a:latin typeface="微软雅黑" panose="020B0503020204020204" pitchFamily="34" charset="-122"/>
                <a:ea typeface="微软雅黑" panose="020B0503020204020204" pitchFamily="34" charset="-122"/>
              </a:rPr>
              <a:t>3</a:t>
            </a:r>
            <a:r>
              <a:rPr lang="zh-CN" altLang="en-US" sz="2000" b="1" dirty="0">
                <a:solidFill>
                  <a:srgbClr val="595959"/>
                </a:solidFill>
                <a:latin typeface="微软雅黑" panose="020B0503020204020204" pitchFamily="34" charset="-122"/>
                <a:ea typeface="微软雅黑" panose="020B0503020204020204" pitchFamily="34" charset="-122"/>
              </a:rPr>
              <a:t>：划分基本块</a:t>
            </a:r>
            <a:endParaRPr lang="en-US" altLang="zh-CN" sz="2000" b="1"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843309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62459-B4EF-E10C-10BE-C6A28CCD0FB2}"/>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DF6F4CB9-8F81-2917-5F19-78725524C34B}"/>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基本块的划分</a:t>
            </a:r>
          </a:p>
        </p:txBody>
      </p:sp>
      <p:sp>
        <p:nvSpPr>
          <p:cNvPr id="2" name="TextBox 35">
            <a:extLst>
              <a:ext uri="{FF2B5EF4-FFF2-40B4-BE49-F238E27FC236}">
                <a16:creationId xmlns:a16="http://schemas.microsoft.com/office/drawing/2014/main" id="{A58042AD-7113-FCB5-CD63-1267B12AF63C}"/>
              </a:ext>
            </a:extLst>
          </p:cNvPr>
          <p:cNvSpPr txBox="1">
            <a:spLocks noChangeArrowheads="1"/>
          </p:cNvSpPr>
          <p:nvPr/>
        </p:nvSpPr>
        <p:spPr bwMode="auto">
          <a:xfrm>
            <a:off x="639176" y="1602291"/>
            <a:ext cx="5272621" cy="4223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0070C0"/>
                </a:solidFill>
                <a:latin typeface="微软雅黑" panose="020B0503020204020204" pitchFamily="34" charset="-122"/>
                <a:ea typeface="微软雅黑" panose="020B0503020204020204" pitchFamily="34" charset="-122"/>
              </a:rPr>
              <a:t>步骤</a:t>
            </a:r>
            <a:r>
              <a:rPr lang="en-US" altLang="zh-CN" sz="2000" b="1" dirty="0">
                <a:solidFill>
                  <a:srgbClr val="0070C0"/>
                </a:solidFill>
                <a:latin typeface="微软雅黑" panose="020B0503020204020204" pitchFamily="34" charset="-122"/>
                <a:ea typeface="微软雅黑" panose="020B0503020204020204" pitchFamily="34" charset="-122"/>
              </a:rPr>
              <a:t>1</a:t>
            </a:r>
            <a:r>
              <a:rPr lang="zh-CN" altLang="en-US" sz="2000" b="1" dirty="0">
                <a:solidFill>
                  <a:srgbClr val="0070C0"/>
                </a:solidFill>
                <a:latin typeface="微软雅黑" panose="020B0503020204020204" pitchFamily="34" charset="-122"/>
                <a:ea typeface="微软雅黑" panose="020B0503020204020204" pitchFamily="34" charset="-122"/>
              </a:rPr>
              <a:t>：确定“入口点”（基本块的起始指令）</a:t>
            </a:r>
            <a:endParaRPr lang="en-US" altLang="zh-CN" sz="2000" b="1" dirty="0">
              <a:solidFill>
                <a:srgbClr val="0070C0"/>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满足以下任一条件的指令，即为入口点：</a:t>
            </a:r>
          </a:p>
          <a:p>
            <a:pPr marL="342900" indent="-342900" algn="just">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rPr>
              <a:t>程序的第一条指令（整个程序的入口）。</a:t>
            </a:r>
          </a:p>
          <a:p>
            <a:pPr marL="342900" indent="-342900" algn="just">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rPr>
              <a:t>被分支指令（如 </a:t>
            </a:r>
            <a:r>
              <a:rPr lang="en-US" altLang="zh-CN" sz="2000" dirty="0">
                <a:solidFill>
                  <a:srgbClr val="595959"/>
                </a:solidFill>
                <a:latin typeface="微软雅黑" panose="020B0503020204020204" pitchFamily="34" charset="-122"/>
                <a:ea typeface="微软雅黑" panose="020B0503020204020204" pitchFamily="34" charset="-122"/>
              </a:rPr>
              <a:t>if </a:t>
            </a:r>
            <a:r>
              <a:rPr lang="zh-CN" altLang="en-US" sz="2000" dirty="0">
                <a:solidFill>
                  <a:srgbClr val="595959"/>
                </a:solidFill>
                <a:latin typeface="微软雅黑" panose="020B0503020204020204" pitchFamily="34" charset="-122"/>
                <a:ea typeface="微软雅黑" panose="020B0503020204020204" pitchFamily="34" charset="-122"/>
              </a:rPr>
              <a:t>的 </a:t>
            </a:r>
            <a:r>
              <a:rPr lang="en-US" altLang="zh-CN" sz="2000" dirty="0">
                <a:solidFill>
                  <a:srgbClr val="595959"/>
                </a:solidFill>
                <a:latin typeface="微软雅黑" panose="020B0503020204020204" pitchFamily="34" charset="-122"/>
                <a:ea typeface="微软雅黑" panose="020B0503020204020204" pitchFamily="34" charset="-122"/>
              </a:rPr>
              <a:t>else</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for </a:t>
            </a:r>
            <a:r>
              <a:rPr lang="zh-CN" altLang="en-US" sz="2000" dirty="0">
                <a:solidFill>
                  <a:srgbClr val="595959"/>
                </a:solidFill>
                <a:latin typeface="微软雅黑" panose="020B0503020204020204" pitchFamily="34" charset="-122"/>
                <a:ea typeface="微软雅黑" panose="020B0503020204020204" pitchFamily="34" charset="-122"/>
              </a:rPr>
              <a:t>的循环体、</a:t>
            </a:r>
            <a:r>
              <a:rPr lang="en-US" altLang="zh-CN" sz="2000" dirty="0" err="1">
                <a:solidFill>
                  <a:srgbClr val="595959"/>
                </a:solidFill>
                <a:latin typeface="微软雅黑" panose="020B0503020204020204" pitchFamily="34" charset="-122"/>
                <a:ea typeface="微软雅黑" panose="020B0503020204020204" pitchFamily="34" charset="-122"/>
              </a:rPr>
              <a:t>goto</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return</a:t>
            </a:r>
            <a:r>
              <a:rPr lang="zh-CN" altLang="en-US" sz="2000" dirty="0">
                <a:solidFill>
                  <a:srgbClr val="595959"/>
                </a:solidFill>
                <a:latin typeface="微软雅黑" panose="020B0503020204020204" pitchFamily="34" charset="-122"/>
                <a:ea typeface="微软雅黑" panose="020B0503020204020204" pitchFamily="34" charset="-122"/>
              </a:rPr>
              <a:t>）跳转指向的指令（例如，</a:t>
            </a:r>
            <a:r>
              <a:rPr lang="en-US" altLang="zh-CN" sz="2000" dirty="0" err="1">
                <a:solidFill>
                  <a:srgbClr val="595959"/>
                </a:solidFill>
                <a:latin typeface="微软雅黑" panose="020B0503020204020204" pitchFamily="34" charset="-122"/>
                <a:ea typeface="微软雅黑" panose="020B0503020204020204" pitchFamily="34" charset="-122"/>
              </a:rPr>
              <a:t>goto</a:t>
            </a:r>
            <a:r>
              <a:rPr lang="en-US" altLang="zh-CN" sz="2000" dirty="0">
                <a:solidFill>
                  <a:srgbClr val="595959"/>
                </a:solidFill>
                <a:latin typeface="微软雅黑" panose="020B0503020204020204" pitchFamily="34" charset="-122"/>
                <a:ea typeface="微软雅黑" panose="020B0503020204020204" pitchFamily="34" charset="-122"/>
              </a:rPr>
              <a:t> L1</a:t>
            </a:r>
            <a:r>
              <a:rPr lang="zh-CN" altLang="en-US" sz="2000" dirty="0">
                <a:solidFill>
                  <a:srgbClr val="595959"/>
                </a:solidFill>
                <a:latin typeface="微软雅黑" panose="020B0503020204020204" pitchFamily="34" charset="-122"/>
                <a:ea typeface="微软雅黑" panose="020B0503020204020204" pitchFamily="34" charset="-122"/>
              </a:rPr>
              <a:t>中的</a:t>
            </a:r>
            <a:r>
              <a:rPr lang="en-US" altLang="zh-CN" sz="2000" dirty="0">
                <a:solidFill>
                  <a:srgbClr val="595959"/>
                </a:solidFill>
                <a:latin typeface="微软雅黑" panose="020B0503020204020204" pitchFamily="34" charset="-122"/>
                <a:ea typeface="微软雅黑" panose="020B0503020204020204" pitchFamily="34" charset="-122"/>
              </a:rPr>
              <a:t>L1</a:t>
            </a:r>
            <a:r>
              <a:rPr lang="zh-CN" altLang="en-US" sz="2000" dirty="0">
                <a:solidFill>
                  <a:srgbClr val="595959"/>
                </a:solidFill>
                <a:latin typeface="微软雅黑" panose="020B0503020204020204" pitchFamily="34" charset="-122"/>
                <a:ea typeface="微软雅黑" panose="020B0503020204020204" pitchFamily="34" charset="-122"/>
              </a:rPr>
              <a:t>对应的指令）。</a:t>
            </a:r>
          </a:p>
          <a:p>
            <a:pPr marL="342900" indent="-342900" algn="just">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rPr>
              <a:t>分支指令的下一条指令（例如，</a:t>
            </a:r>
            <a:r>
              <a:rPr lang="en-US" altLang="zh-CN" sz="2000" dirty="0">
                <a:solidFill>
                  <a:srgbClr val="595959"/>
                </a:solidFill>
                <a:latin typeface="微软雅黑" panose="020B0503020204020204" pitchFamily="34" charset="-122"/>
                <a:ea typeface="微软雅黑" panose="020B0503020204020204" pitchFamily="34" charset="-122"/>
              </a:rPr>
              <a:t>if (a&gt;0) { ... }</a:t>
            </a:r>
            <a:r>
              <a:rPr lang="zh-CN" altLang="en-US" sz="2000" dirty="0">
                <a:solidFill>
                  <a:srgbClr val="595959"/>
                </a:solidFill>
                <a:latin typeface="微软雅黑" panose="020B0503020204020204" pitchFamily="34" charset="-122"/>
                <a:ea typeface="微软雅黑" panose="020B0503020204020204" pitchFamily="34" charset="-122"/>
              </a:rPr>
              <a:t>中，</a:t>
            </a:r>
            <a:r>
              <a:rPr lang="en-US" altLang="zh-CN" sz="2000" dirty="0">
                <a:solidFill>
                  <a:srgbClr val="595959"/>
                </a:solidFill>
                <a:latin typeface="微软雅黑" panose="020B0503020204020204" pitchFamily="34" charset="-122"/>
                <a:ea typeface="微软雅黑" panose="020B0503020204020204" pitchFamily="34" charset="-122"/>
              </a:rPr>
              <a:t>if</a:t>
            </a:r>
            <a:r>
              <a:rPr lang="zh-CN" altLang="en-US" sz="2000" dirty="0">
                <a:solidFill>
                  <a:srgbClr val="595959"/>
                </a:solidFill>
                <a:latin typeface="微软雅黑" panose="020B0503020204020204" pitchFamily="34" charset="-122"/>
                <a:ea typeface="微软雅黑" panose="020B0503020204020204" pitchFamily="34" charset="-122"/>
              </a:rPr>
              <a:t>块结束后的第一条指令 </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因为</a:t>
            </a:r>
            <a:r>
              <a:rPr lang="en-US" altLang="zh-CN" sz="2000" dirty="0">
                <a:solidFill>
                  <a:srgbClr val="595959"/>
                </a:solidFill>
                <a:latin typeface="微软雅黑" panose="020B0503020204020204" pitchFamily="34" charset="-122"/>
                <a:ea typeface="微软雅黑" panose="020B0503020204020204" pitchFamily="34" charset="-122"/>
              </a:rPr>
              <a:t>if</a:t>
            </a:r>
            <a:r>
              <a:rPr lang="zh-CN" altLang="en-US" sz="2000" dirty="0">
                <a:solidFill>
                  <a:srgbClr val="595959"/>
                </a:solidFill>
                <a:latin typeface="微软雅黑" panose="020B0503020204020204" pitchFamily="34" charset="-122"/>
                <a:ea typeface="微软雅黑" panose="020B0503020204020204" pitchFamily="34" charset="-122"/>
              </a:rPr>
              <a:t>执行完后会跳转到这里）。</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3" name="TextBox 35">
            <a:extLst>
              <a:ext uri="{FF2B5EF4-FFF2-40B4-BE49-F238E27FC236}">
                <a16:creationId xmlns:a16="http://schemas.microsoft.com/office/drawing/2014/main" id="{574EE67B-09C9-36B6-E41D-1CC0026F6F1D}"/>
              </a:ext>
            </a:extLst>
          </p:cNvPr>
          <p:cNvSpPr txBox="1">
            <a:spLocks noChangeArrowheads="1"/>
          </p:cNvSpPr>
          <p:nvPr/>
        </p:nvSpPr>
        <p:spPr bwMode="auto">
          <a:xfrm>
            <a:off x="6294586" y="909794"/>
            <a:ext cx="5879207" cy="5608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int process(int x, int y) {</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int sum = x + y;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1 </a:t>
            </a:r>
            <a:r>
              <a:rPr lang="zh-CN" altLang="en-US" sz="2000" dirty="0">
                <a:solidFill>
                  <a:srgbClr val="FF0000"/>
                </a:solidFill>
                <a:latin typeface="微软雅黑" panose="020B0503020204020204" pitchFamily="34" charset="-122"/>
                <a:ea typeface="微软雅黑" panose="020B0503020204020204" pitchFamily="34" charset="-122"/>
              </a:rPr>
              <a:t>（入口）</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int product = x * y;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2</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if (sum &gt; product) {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（条件分支）</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sum += 10;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4 </a:t>
            </a:r>
            <a:r>
              <a:rPr lang="zh-CN" altLang="en-US" sz="2000" dirty="0">
                <a:solidFill>
                  <a:srgbClr val="FF0000"/>
                </a:solidFill>
                <a:latin typeface="微软雅黑" panose="020B0503020204020204" pitchFamily="34" charset="-122"/>
                <a:ea typeface="微软雅黑" panose="020B0503020204020204" pitchFamily="34" charset="-122"/>
              </a:rPr>
              <a:t>（入口）</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product = 0;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5</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 else {</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product -= 5;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6 </a:t>
            </a:r>
            <a:r>
              <a:rPr lang="zh-CN" altLang="en-US" sz="2000" dirty="0">
                <a:solidFill>
                  <a:srgbClr val="FF0000"/>
                </a:solidFill>
                <a:latin typeface="微软雅黑" panose="020B0503020204020204" pitchFamily="34" charset="-122"/>
                <a:ea typeface="微软雅黑" panose="020B0503020204020204" pitchFamily="34" charset="-122"/>
              </a:rPr>
              <a:t>（入口）</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endParaRPr lang="zh-CN" altLang="en-US" sz="2000" dirty="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int result = sum + product;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7 </a:t>
            </a:r>
            <a:r>
              <a:rPr lang="zh-CN" altLang="en-US" sz="2000" dirty="0">
                <a:solidFill>
                  <a:srgbClr val="FF0000"/>
                </a:solidFill>
                <a:latin typeface="微软雅黑" panose="020B0503020204020204" pitchFamily="34" charset="-122"/>
                <a:ea typeface="微软雅黑" panose="020B0503020204020204" pitchFamily="34" charset="-122"/>
              </a:rPr>
              <a:t>（入口）</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return result;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8</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0218718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2B54C-CD26-4B73-0BA9-E2EBA0CC4CE5}"/>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5827FEDF-CA63-127E-A20D-111DCF852DE5}"/>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基本块的划分</a:t>
            </a:r>
          </a:p>
        </p:txBody>
      </p:sp>
      <p:sp>
        <p:nvSpPr>
          <p:cNvPr id="2" name="TextBox 35">
            <a:extLst>
              <a:ext uri="{FF2B5EF4-FFF2-40B4-BE49-F238E27FC236}">
                <a16:creationId xmlns:a16="http://schemas.microsoft.com/office/drawing/2014/main" id="{53AEE622-AD8B-61C3-2ABA-27956453C05D}"/>
              </a:ext>
            </a:extLst>
          </p:cNvPr>
          <p:cNvSpPr txBox="1">
            <a:spLocks noChangeArrowheads="1"/>
          </p:cNvSpPr>
          <p:nvPr/>
        </p:nvSpPr>
        <p:spPr bwMode="auto">
          <a:xfrm>
            <a:off x="122860" y="937669"/>
            <a:ext cx="5385195" cy="3762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0070C0"/>
                </a:solidFill>
                <a:latin typeface="微软雅黑" panose="020B0503020204020204" pitchFamily="34" charset="-122"/>
                <a:ea typeface="微软雅黑" panose="020B0503020204020204" pitchFamily="34" charset="-122"/>
              </a:rPr>
              <a:t>步骤 </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：确定 “出口点”（基本块的结束指令）</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满足以下任一条件的指令，即为出口点（</a:t>
            </a:r>
            <a:r>
              <a:rPr lang="zh-CN" altLang="en-US" sz="2000" dirty="0">
                <a:solidFill>
                  <a:srgbClr val="0070C0"/>
                </a:solidFill>
                <a:latin typeface="微软雅黑" panose="020B0503020204020204" pitchFamily="34" charset="-122"/>
                <a:ea typeface="微软雅黑" panose="020B0503020204020204" pitchFamily="34" charset="-122"/>
              </a:rPr>
              <a:t>出口点的下一条指令必为入口点</a:t>
            </a:r>
            <a:r>
              <a:rPr lang="zh-CN" altLang="en-US" sz="2000" dirty="0">
                <a:solidFill>
                  <a:srgbClr val="595959"/>
                </a:solidFill>
                <a:latin typeface="微软雅黑" panose="020B0503020204020204" pitchFamily="34" charset="-122"/>
                <a:ea typeface="微软雅黑" panose="020B0503020204020204" pitchFamily="34" charset="-122"/>
              </a:rPr>
              <a:t>）：</a:t>
            </a:r>
          </a:p>
          <a:p>
            <a:pPr marL="342900" indent="-342900" algn="just">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rPr>
              <a:t>分支指令：包括条件分支（如</a:t>
            </a:r>
            <a:r>
              <a:rPr lang="en-US" altLang="zh-CN" sz="2000" dirty="0">
                <a:solidFill>
                  <a:srgbClr val="595959"/>
                </a:solidFill>
                <a:latin typeface="微软雅黑" panose="020B0503020204020204" pitchFamily="34" charset="-122"/>
                <a:ea typeface="微软雅黑" panose="020B0503020204020204" pitchFamily="34" charset="-122"/>
              </a:rPr>
              <a:t>if</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switch</a:t>
            </a:r>
            <a:r>
              <a:rPr lang="zh-CN" altLang="en-US" sz="2000" dirty="0">
                <a:solidFill>
                  <a:srgbClr val="595959"/>
                </a:solidFill>
                <a:latin typeface="微软雅黑" panose="020B0503020204020204" pitchFamily="34" charset="-122"/>
                <a:ea typeface="微软雅黑" panose="020B0503020204020204" pitchFamily="34" charset="-122"/>
              </a:rPr>
              <a:t>）、无条件分支（如</a:t>
            </a:r>
            <a:r>
              <a:rPr lang="en-US" altLang="zh-CN" sz="2000" dirty="0" err="1">
                <a:solidFill>
                  <a:srgbClr val="595959"/>
                </a:solidFill>
                <a:latin typeface="微软雅黑" panose="020B0503020204020204" pitchFamily="34" charset="-122"/>
                <a:ea typeface="微软雅黑" panose="020B0503020204020204" pitchFamily="34" charset="-122"/>
              </a:rPr>
              <a:t>goto</a:t>
            </a:r>
            <a:r>
              <a:rPr lang="zh-CN" altLang="en-US" sz="2000" dirty="0">
                <a:solidFill>
                  <a:srgbClr val="595959"/>
                </a:solidFill>
                <a:latin typeface="微软雅黑" panose="020B0503020204020204" pitchFamily="34" charset="-122"/>
                <a:ea typeface="微软雅黑" panose="020B0503020204020204" pitchFamily="34" charset="-122"/>
              </a:rPr>
              <a:t>）、返回指令（如</a:t>
            </a:r>
            <a:r>
              <a:rPr lang="en-US" altLang="zh-CN" sz="2000" dirty="0">
                <a:solidFill>
                  <a:srgbClr val="595959"/>
                </a:solidFill>
                <a:latin typeface="微软雅黑" panose="020B0503020204020204" pitchFamily="34" charset="-122"/>
                <a:ea typeface="微软雅黑" panose="020B0503020204020204" pitchFamily="34" charset="-122"/>
              </a:rPr>
              <a:t>return</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这些指令会</a:t>
            </a:r>
            <a:r>
              <a:rPr lang="zh-CN" altLang="en-US" sz="2000" b="1" dirty="0">
                <a:solidFill>
                  <a:srgbClr val="0070C0"/>
                </a:solidFill>
                <a:latin typeface="微软雅黑" panose="020B0503020204020204" pitchFamily="34" charset="-122"/>
                <a:ea typeface="微软雅黑" panose="020B0503020204020204" pitchFamily="34" charset="-122"/>
              </a:rPr>
              <a:t>改变程序的执行流</a:t>
            </a:r>
            <a:r>
              <a:rPr lang="zh-CN" altLang="en-US" sz="2000" dirty="0">
                <a:solidFill>
                  <a:srgbClr val="595959"/>
                </a:solidFill>
                <a:latin typeface="微软雅黑" panose="020B0503020204020204" pitchFamily="34" charset="-122"/>
                <a:ea typeface="微软雅黑" panose="020B0503020204020204" pitchFamily="34" charset="-122"/>
              </a:rPr>
              <a:t>，因此是当前块的最后一条指令。</a:t>
            </a:r>
          </a:p>
          <a:p>
            <a:pPr marL="342900" indent="-342900" algn="just">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rPr>
              <a:t>程序的最后一条指令（无后续执行流）。</a:t>
            </a:r>
          </a:p>
        </p:txBody>
      </p:sp>
      <p:sp>
        <p:nvSpPr>
          <p:cNvPr id="4" name="TextBox 35">
            <a:extLst>
              <a:ext uri="{FF2B5EF4-FFF2-40B4-BE49-F238E27FC236}">
                <a16:creationId xmlns:a16="http://schemas.microsoft.com/office/drawing/2014/main" id="{B4B29F30-00B6-5D79-0F4C-D86CF9756379}"/>
              </a:ext>
            </a:extLst>
          </p:cNvPr>
          <p:cNvSpPr txBox="1">
            <a:spLocks noChangeArrowheads="1"/>
          </p:cNvSpPr>
          <p:nvPr/>
        </p:nvSpPr>
        <p:spPr bwMode="auto">
          <a:xfrm>
            <a:off x="5494413" y="909794"/>
            <a:ext cx="6696000" cy="5608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int process(int x, int y) {</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int sum = x + y;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1 </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int product = x * y;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2</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if (sum &gt; product) {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（条件分支）</a:t>
            </a:r>
            <a:r>
              <a:rPr lang="zh-CN" altLang="en-US" sz="2000" dirty="0">
                <a:solidFill>
                  <a:srgbClr val="FF0000"/>
                </a:solidFill>
                <a:latin typeface="微软雅黑" panose="020B0503020204020204" pitchFamily="34" charset="-122"/>
                <a:ea typeface="微软雅黑" panose="020B0503020204020204" pitchFamily="34" charset="-122"/>
              </a:rPr>
              <a:t>（出口）</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sum += 10;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4 </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product = 0;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5    </a:t>
            </a:r>
            <a:endParaRPr lang="en-US" altLang="zh-CN" sz="2000" dirty="0">
              <a:solidFill>
                <a:srgbClr val="00B05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 else {</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product -= 5;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6    </a:t>
            </a:r>
            <a:endParaRPr lang="en-US" altLang="zh-CN" sz="2000" dirty="0">
              <a:solidFill>
                <a:srgbClr val="00B05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endParaRPr lang="zh-CN" altLang="en-US" sz="2000" dirty="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int result = sum + product;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7 </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return result;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8  </a:t>
            </a:r>
            <a:r>
              <a:rPr lang="zh-CN" altLang="en-US" sz="2000" dirty="0">
                <a:solidFill>
                  <a:srgbClr val="FF0000"/>
                </a:solidFill>
                <a:latin typeface="微软雅黑" panose="020B0503020204020204" pitchFamily="34" charset="-122"/>
                <a:ea typeface="微软雅黑" panose="020B0503020204020204" pitchFamily="34" charset="-122"/>
              </a:rPr>
              <a:t>（出口）</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a:t>
            </a:r>
          </a:p>
        </p:txBody>
      </p:sp>
      <p:sp>
        <p:nvSpPr>
          <p:cNvPr id="5" name="文本框 4">
            <a:extLst>
              <a:ext uri="{FF2B5EF4-FFF2-40B4-BE49-F238E27FC236}">
                <a16:creationId xmlns:a16="http://schemas.microsoft.com/office/drawing/2014/main" id="{15F99676-6C03-58B5-3BA2-0A93E266C74F}"/>
              </a:ext>
            </a:extLst>
          </p:cNvPr>
          <p:cNvSpPr txBox="1"/>
          <p:nvPr/>
        </p:nvSpPr>
        <p:spPr>
          <a:xfrm>
            <a:off x="10127206" y="3314039"/>
            <a:ext cx="1152000" cy="400110"/>
          </a:xfrm>
          <a:prstGeom prst="rect">
            <a:avLst/>
          </a:prstGeom>
          <a:noFill/>
        </p:spPr>
        <p:txBody>
          <a:bodyPr wrap="square" rtlCol="0">
            <a:spAutoFit/>
          </a:bodyPr>
          <a:lstStyle/>
          <a:p>
            <a:r>
              <a:rPr lang="zh-CN" altLang="en-US" sz="2000" dirty="0">
                <a:solidFill>
                  <a:srgbClr val="00B050"/>
                </a:solidFill>
                <a:latin typeface="微软雅黑" panose="020B0503020204020204" pitchFamily="34" charset="-122"/>
                <a:ea typeface="微软雅黑" panose="020B0503020204020204" pitchFamily="34" charset="-122"/>
              </a:rPr>
              <a:t>出口？</a:t>
            </a:r>
          </a:p>
        </p:txBody>
      </p:sp>
      <p:sp>
        <p:nvSpPr>
          <p:cNvPr id="6" name="文本框 5">
            <a:extLst>
              <a:ext uri="{FF2B5EF4-FFF2-40B4-BE49-F238E27FC236}">
                <a16:creationId xmlns:a16="http://schemas.microsoft.com/office/drawing/2014/main" id="{20A49449-D02C-D6A8-B3C7-F4CE2C97558D}"/>
              </a:ext>
            </a:extLst>
          </p:cNvPr>
          <p:cNvSpPr txBox="1"/>
          <p:nvPr/>
        </p:nvSpPr>
        <p:spPr>
          <a:xfrm>
            <a:off x="10127206" y="4221794"/>
            <a:ext cx="1152000" cy="400110"/>
          </a:xfrm>
          <a:prstGeom prst="rect">
            <a:avLst/>
          </a:prstGeom>
          <a:noFill/>
        </p:spPr>
        <p:txBody>
          <a:bodyPr wrap="square" rtlCol="0">
            <a:spAutoFit/>
          </a:bodyPr>
          <a:lstStyle/>
          <a:p>
            <a:r>
              <a:rPr lang="zh-CN" altLang="en-US" sz="2000" dirty="0">
                <a:solidFill>
                  <a:srgbClr val="00B050"/>
                </a:solidFill>
                <a:latin typeface="微软雅黑" panose="020B0503020204020204" pitchFamily="34" charset="-122"/>
                <a:ea typeface="微软雅黑" panose="020B0503020204020204" pitchFamily="34" charset="-122"/>
              </a:rPr>
              <a:t>出口？</a:t>
            </a:r>
          </a:p>
        </p:txBody>
      </p:sp>
      <p:sp>
        <p:nvSpPr>
          <p:cNvPr id="7" name="TextBox 35">
            <a:extLst>
              <a:ext uri="{FF2B5EF4-FFF2-40B4-BE49-F238E27FC236}">
                <a16:creationId xmlns:a16="http://schemas.microsoft.com/office/drawing/2014/main" id="{D6FE91CD-94BF-5B6B-4C80-6DA55467E83B}"/>
              </a:ext>
            </a:extLst>
          </p:cNvPr>
          <p:cNvSpPr txBox="1">
            <a:spLocks noChangeArrowheads="1"/>
          </p:cNvSpPr>
          <p:nvPr/>
        </p:nvSpPr>
        <p:spPr bwMode="auto">
          <a:xfrm>
            <a:off x="125323" y="4939032"/>
            <a:ext cx="5385195" cy="1915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42900" indent="-342900" algn="just">
              <a:lnSpc>
                <a:spcPct val="150000"/>
              </a:lnSpc>
              <a:buFont typeface="Wingdings" panose="05000000000000000000" pitchFamily="2" charset="2"/>
              <a:buChar char="l"/>
            </a:pPr>
            <a:r>
              <a:rPr lang="zh-CN" altLang="en-US" sz="2000" dirty="0">
                <a:solidFill>
                  <a:srgbClr val="00B050"/>
                </a:solidFill>
                <a:latin typeface="微软雅黑" panose="020B0503020204020204" pitchFamily="34" charset="-122"/>
                <a:ea typeface="微软雅黑" panose="020B0503020204020204" pitchFamily="34" charset="-122"/>
              </a:rPr>
              <a:t>出口点：会改变程序执行流的指令</a:t>
            </a:r>
          </a:p>
          <a:p>
            <a:pPr marL="342900" indent="-342900" algn="just">
              <a:lnSpc>
                <a:spcPct val="150000"/>
              </a:lnSpc>
              <a:buFont typeface="Wingdings" panose="05000000000000000000" pitchFamily="2" charset="2"/>
              <a:buChar char="l"/>
            </a:pPr>
            <a:r>
              <a:rPr lang="zh-CN" altLang="en-US" sz="2000" dirty="0">
                <a:solidFill>
                  <a:srgbClr val="00B050"/>
                </a:solidFill>
                <a:latin typeface="微软雅黑" panose="020B0503020204020204" pitchFamily="34" charset="-122"/>
                <a:ea typeface="微软雅黑" panose="020B0503020204020204" pitchFamily="34" charset="-122"/>
              </a:rPr>
              <a:t>隐含的分支结束： 指的是没有显式分支指令（如</a:t>
            </a:r>
            <a:r>
              <a:rPr lang="en-US" altLang="zh-CN" sz="2000" dirty="0">
                <a:solidFill>
                  <a:srgbClr val="00B050"/>
                </a:solidFill>
                <a:latin typeface="微软雅黑" panose="020B0503020204020204" pitchFamily="34" charset="-122"/>
                <a:ea typeface="微软雅黑" panose="020B0503020204020204" pitchFamily="34" charset="-122"/>
              </a:rPr>
              <a:t>if</a:t>
            </a:r>
            <a:r>
              <a:rPr lang="zh-CN" altLang="en-US" sz="2000" dirty="0">
                <a:solidFill>
                  <a:srgbClr val="00B050"/>
                </a:solidFill>
                <a:latin typeface="微软雅黑" panose="020B0503020204020204" pitchFamily="34" charset="-122"/>
                <a:ea typeface="微软雅黑" panose="020B0503020204020204" pitchFamily="34" charset="-122"/>
              </a:rPr>
              <a:t>、</a:t>
            </a:r>
            <a:r>
              <a:rPr lang="en-US" altLang="zh-CN" sz="2000" dirty="0" err="1">
                <a:solidFill>
                  <a:srgbClr val="00B050"/>
                </a:solidFill>
                <a:latin typeface="微软雅黑" panose="020B0503020204020204" pitchFamily="34" charset="-122"/>
                <a:ea typeface="微软雅黑" panose="020B0503020204020204" pitchFamily="34" charset="-122"/>
              </a:rPr>
              <a:t>goto</a:t>
            </a:r>
            <a:r>
              <a:rPr lang="zh-CN" altLang="en-US" sz="2000" dirty="0">
                <a:solidFill>
                  <a:srgbClr val="00B050"/>
                </a:solidFill>
                <a:latin typeface="微软雅黑" panose="020B0503020204020204" pitchFamily="34" charset="-122"/>
                <a:ea typeface="微软雅黑" panose="020B0503020204020204" pitchFamily="34" charset="-122"/>
              </a:rPr>
              <a:t>），但程序执行到此处后会自动跳转到下一个基本块</a:t>
            </a:r>
          </a:p>
        </p:txBody>
      </p:sp>
    </p:spTree>
    <p:extLst>
      <p:ext uri="{BB962C8B-B14F-4D97-AF65-F5344CB8AC3E}">
        <p14:creationId xmlns:p14="http://schemas.microsoft.com/office/powerpoint/2010/main" val="37807647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C9388-50BF-F213-3E73-7BBE23A82D5E}"/>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E3A4351E-676E-A2B3-1E13-C0AA35DBC713}"/>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基本块的划分</a:t>
            </a:r>
          </a:p>
        </p:txBody>
      </p:sp>
      <p:sp>
        <p:nvSpPr>
          <p:cNvPr id="3" name="TextBox 35">
            <a:extLst>
              <a:ext uri="{FF2B5EF4-FFF2-40B4-BE49-F238E27FC236}">
                <a16:creationId xmlns:a16="http://schemas.microsoft.com/office/drawing/2014/main" id="{F327CB3B-C4B9-6BC4-636F-CCCC5C1D2DB7}"/>
              </a:ext>
            </a:extLst>
          </p:cNvPr>
          <p:cNvSpPr txBox="1">
            <a:spLocks noChangeArrowheads="1"/>
          </p:cNvSpPr>
          <p:nvPr/>
        </p:nvSpPr>
        <p:spPr bwMode="auto">
          <a:xfrm>
            <a:off x="407206" y="2205794"/>
            <a:ext cx="4312596" cy="1915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步骤 </a:t>
            </a:r>
            <a:r>
              <a:rPr lang="en-US" altLang="zh-CN" sz="2000" b="1" dirty="0">
                <a:solidFill>
                  <a:srgbClr val="595959"/>
                </a:solidFill>
                <a:latin typeface="微软雅黑" panose="020B0503020204020204" pitchFamily="34" charset="-122"/>
                <a:ea typeface="微软雅黑" panose="020B0503020204020204" pitchFamily="34" charset="-122"/>
              </a:rPr>
              <a:t>3</a:t>
            </a:r>
            <a:r>
              <a:rPr lang="zh-CN" altLang="en-US" sz="2000" b="1" dirty="0">
                <a:solidFill>
                  <a:srgbClr val="595959"/>
                </a:solidFill>
                <a:latin typeface="微软雅黑" panose="020B0503020204020204" pitchFamily="34" charset="-122"/>
                <a:ea typeface="微软雅黑" panose="020B0503020204020204" pitchFamily="34" charset="-122"/>
              </a:rPr>
              <a:t>：划分基本块</a:t>
            </a:r>
          </a:p>
          <a:p>
            <a:pPr marL="342900" indent="-342900" algn="just">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rPr>
              <a:t>从每个入口点开始，依次收集指令，直到遇到下一个入口点或出口点，形成一个完整的基本块。</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593133CB-A90C-E7C3-0DE3-4F9677FDACAD}"/>
              </a:ext>
            </a:extLst>
          </p:cNvPr>
          <p:cNvSpPr/>
          <p:nvPr/>
        </p:nvSpPr>
        <p:spPr>
          <a:xfrm>
            <a:off x="5447206" y="2997794"/>
            <a:ext cx="6552000" cy="79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35">
            <a:extLst>
              <a:ext uri="{FF2B5EF4-FFF2-40B4-BE49-F238E27FC236}">
                <a16:creationId xmlns:a16="http://schemas.microsoft.com/office/drawing/2014/main" id="{574EE67B-09C9-36B6-E41D-1CC0026F6F1D}"/>
              </a:ext>
            </a:extLst>
          </p:cNvPr>
          <p:cNvSpPr txBox="1">
            <a:spLocks noChangeArrowheads="1"/>
          </p:cNvSpPr>
          <p:nvPr/>
        </p:nvSpPr>
        <p:spPr bwMode="auto">
          <a:xfrm>
            <a:off x="5359912" y="985438"/>
            <a:ext cx="6639294" cy="5608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defPPr>
              <a:defRPr lang="zh-CN"/>
            </a:defPPr>
            <a:lvl1pPr marL="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1pPr>
            <a:lvl2pPr marL="742950" indent="-28575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2pPr>
            <a:lvl3pPr marL="1143000" indent="-22860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3pPr>
            <a:lvl4pPr marL="1600200" indent="-22860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4pPr>
            <a:lvl5pPr marL="2057400" indent="-228600" algn="l" defTabSz="1219200" rtl="0" eaLnBrk="1" latinLnBrk="0" hangingPunct="1">
              <a:defRPr sz="2400" kern="1200">
                <a:solidFill>
                  <a:schemeClr val="tx1"/>
                </a:solidFill>
                <a:latin typeface="Calibri" panose="020F0502020204030204" pitchFamily="34" charset="0"/>
                <a:ea typeface="宋体" panose="02010600030101010101" pitchFamily="2" charset="-122"/>
                <a:cs typeface="+mn-cs"/>
              </a:defRPr>
            </a:lvl5pPr>
            <a:lvl6pPr marL="25146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6pPr>
            <a:lvl7pPr marL="29718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7pPr>
            <a:lvl8pPr marL="34290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8pPr>
            <a:lvl9pPr marL="3886200" indent="-228600" algn="l" defTabSz="1219200" rtl="0" eaLnBrk="0" fontAlgn="base" latinLnBrk="0" hangingPunct="0">
              <a:spcBef>
                <a:spcPct val="0"/>
              </a:spcBef>
              <a:spcAft>
                <a:spcPct val="0"/>
              </a:spcAft>
              <a:defRPr sz="2400" kern="1200">
                <a:solidFill>
                  <a:schemeClr val="tx1"/>
                </a:solidFill>
                <a:latin typeface="Calibri" panose="020F0502020204030204" pitchFamily="34" charset="0"/>
                <a:ea typeface="宋体" panose="02010600030101010101" pitchFamily="2" charset="-122"/>
                <a:cs typeface="+mn-cs"/>
              </a:defRPr>
            </a:lvl9pPr>
          </a:lstStyle>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int process(int x, int y) {</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int sum = x + y;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1 </a:t>
            </a:r>
            <a:r>
              <a:rPr lang="zh-CN" altLang="en-US" sz="2000" dirty="0">
                <a:solidFill>
                  <a:srgbClr val="0070C0"/>
                </a:solidFill>
                <a:latin typeface="微软雅黑" panose="020B0503020204020204" pitchFamily="34" charset="-122"/>
                <a:ea typeface="微软雅黑" panose="020B0503020204020204" pitchFamily="34" charset="-122"/>
              </a:rPr>
              <a:t>（入口）</a:t>
            </a:r>
            <a:endParaRPr lang="en-US" altLang="zh-CN" sz="2000" dirty="0">
              <a:solidFill>
                <a:srgbClr val="0070C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int product = x * y;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2</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if (sum &gt; product) {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（条件分支）</a:t>
            </a:r>
            <a:r>
              <a:rPr lang="zh-CN" altLang="en-US" sz="2000" dirty="0">
                <a:solidFill>
                  <a:srgbClr val="00B050"/>
                </a:solidFill>
                <a:latin typeface="微软雅黑" panose="020B0503020204020204" pitchFamily="34" charset="-122"/>
                <a:ea typeface="微软雅黑" panose="020B0503020204020204" pitchFamily="34" charset="-122"/>
              </a:rPr>
              <a:t>（出口）</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sum += 10;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4 </a:t>
            </a:r>
            <a:r>
              <a:rPr lang="zh-CN" altLang="en-US" sz="2000" dirty="0">
                <a:solidFill>
                  <a:srgbClr val="0070C0"/>
                </a:solidFill>
                <a:latin typeface="微软雅黑" panose="020B0503020204020204" pitchFamily="34" charset="-122"/>
                <a:ea typeface="微软雅黑" panose="020B0503020204020204" pitchFamily="34" charset="-122"/>
              </a:rPr>
              <a:t>（入口）</a:t>
            </a:r>
            <a:endParaRPr lang="en-US" altLang="zh-CN" sz="2000" dirty="0">
              <a:solidFill>
                <a:srgbClr val="0070C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product = 0;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5  </a:t>
            </a:r>
            <a:r>
              <a:rPr lang="zh-CN" altLang="en-US" sz="2000" dirty="0">
                <a:solidFill>
                  <a:srgbClr val="00B050"/>
                </a:solidFill>
                <a:latin typeface="微软雅黑" panose="020B0503020204020204" pitchFamily="34" charset="-122"/>
                <a:ea typeface="微软雅黑" panose="020B0503020204020204" pitchFamily="34" charset="-122"/>
              </a:rPr>
              <a:t>（分支结束）</a:t>
            </a:r>
            <a:endParaRPr lang="en-US" altLang="zh-CN" sz="2000" dirty="0">
              <a:solidFill>
                <a:srgbClr val="00B05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 else {</a:t>
            </a: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product -= 5;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6 </a:t>
            </a:r>
            <a:r>
              <a:rPr lang="zh-CN" altLang="en-US" sz="2000" dirty="0">
                <a:solidFill>
                  <a:srgbClr val="0070C0"/>
                </a:solidFill>
                <a:latin typeface="微软雅黑" panose="020B0503020204020204" pitchFamily="34" charset="-122"/>
                <a:ea typeface="微软雅黑" panose="020B0503020204020204" pitchFamily="34" charset="-122"/>
              </a:rPr>
              <a:t>（入口）</a:t>
            </a:r>
            <a:r>
              <a:rPr lang="zh-CN" altLang="en-US" sz="2000" dirty="0">
                <a:solidFill>
                  <a:srgbClr val="00B050"/>
                </a:solidFill>
                <a:latin typeface="微软雅黑" panose="020B0503020204020204" pitchFamily="34" charset="-122"/>
                <a:ea typeface="微软雅黑" panose="020B0503020204020204" pitchFamily="34" charset="-122"/>
              </a:rPr>
              <a:t>（分支结束）</a:t>
            </a:r>
            <a:endParaRPr lang="en-US" altLang="zh-CN" sz="2000" dirty="0">
              <a:solidFill>
                <a:srgbClr val="00B05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endParaRPr lang="zh-CN" altLang="en-US" sz="2000" dirty="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int result = sum + product;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7 </a:t>
            </a:r>
            <a:r>
              <a:rPr lang="zh-CN" altLang="en-US" sz="2000" dirty="0">
                <a:solidFill>
                  <a:srgbClr val="0070C0"/>
                </a:solidFill>
                <a:latin typeface="微软雅黑" panose="020B0503020204020204" pitchFamily="34" charset="-122"/>
                <a:ea typeface="微软雅黑" panose="020B0503020204020204" pitchFamily="34" charset="-122"/>
              </a:rPr>
              <a:t>（入口）</a:t>
            </a:r>
            <a:endParaRPr lang="en-US" altLang="zh-CN" sz="2000" dirty="0">
              <a:solidFill>
                <a:srgbClr val="0070C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return result;            // </a:t>
            </a:r>
            <a:r>
              <a:rPr lang="zh-CN" altLang="en-US" sz="2000" dirty="0">
                <a:solidFill>
                  <a:srgbClr val="595959"/>
                </a:solidFill>
                <a:latin typeface="微软雅黑" panose="020B0503020204020204" pitchFamily="34" charset="-122"/>
                <a:ea typeface="微软雅黑" panose="020B0503020204020204" pitchFamily="34" charset="-122"/>
              </a:rPr>
              <a:t>指令</a:t>
            </a:r>
            <a:r>
              <a:rPr lang="en-US" altLang="zh-CN" sz="2000" dirty="0">
                <a:solidFill>
                  <a:srgbClr val="595959"/>
                </a:solidFill>
                <a:latin typeface="微软雅黑" panose="020B0503020204020204" pitchFamily="34" charset="-122"/>
                <a:ea typeface="微软雅黑" panose="020B0503020204020204" pitchFamily="34" charset="-122"/>
              </a:rPr>
              <a:t>8  </a:t>
            </a:r>
            <a:r>
              <a:rPr lang="zh-CN" altLang="en-US" sz="2000" dirty="0">
                <a:solidFill>
                  <a:srgbClr val="00B050"/>
                </a:solidFill>
                <a:latin typeface="微软雅黑" panose="020B0503020204020204" pitchFamily="34" charset="-122"/>
                <a:ea typeface="微软雅黑" panose="020B0503020204020204" pitchFamily="34" charset="-122"/>
              </a:rPr>
              <a:t>（出口）</a:t>
            </a:r>
            <a:endParaRPr lang="en-US" altLang="zh-CN" sz="2000" dirty="0">
              <a:solidFill>
                <a:srgbClr val="00B050"/>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a:t>
            </a:r>
          </a:p>
        </p:txBody>
      </p:sp>
      <p:sp>
        <p:nvSpPr>
          <p:cNvPr id="8" name="矩形 7">
            <a:extLst>
              <a:ext uri="{FF2B5EF4-FFF2-40B4-BE49-F238E27FC236}">
                <a16:creationId xmlns:a16="http://schemas.microsoft.com/office/drawing/2014/main" id="{AD9CBE40-86D3-082E-5BCD-97AE762D1C0F}"/>
              </a:ext>
            </a:extLst>
          </p:cNvPr>
          <p:cNvSpPr/>
          <p:nvPr/>
        </p:nvSpPr>
        <p:spPr>
          <a:xfrm>
            <a:off x="5447206" y="1629794"/>
            <a:ext cx="6552000" cy="1224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0C9C818-9CC2-B4A1-831D-0822DA411FF2}"/>
              </a:ext>
            </a:extLst>
          </p:cNvPr>
          <p:cNvSpPr/>
          <p:nvPr/>
        </p:nvSpPr>
        <p:spPr>
          <a:xfrm>
            <a:off x="5447206" y="4221794"/>
            <a:ext cx="6552000" cy="576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2B9DFB2-D28A-3CC3-75F2-2D1FC9DA72A5}"/>
              </a:ext>
            </a:extLst>
          </p:cNvPr>
          <p:cNvSpPr/>
          <p:nvPr/>
        </p:nvSpPr>
        <p:spPr>
          <a:xfrm>
            <a:off x="5447206" y="5248183"/>
            <a:ext cx="6552000" cy="79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0A2B800A-5346-9811-F94B-08DAAD567D4B}"/>
              </a:ext>
            </a:extLst>
          </p:cNvPr>
          <p:cNvSpPr txBox="1"/>
          <p:nvPr/>
        </p:nvSpPr>
        <p:spPr>
          <a:xfrm>
            <a:off x="4920265" y="2057128"/>
            <a:ext cx="792000" cy="369332"/>
          </a:xfrm>
          <a:prstGeom prst="rect">
            <a:avLst/>
          </a:prstGeom>
          <a:noFill/>
        </p:spPr>
        <p:txBody>
          <a:bodyPr wrap="square" rtlCol="0">
            <a:spAutoFit/>
          </a:bodyPr>
          <a:lstStyle/>
          <a:p>
            <a:r>
              <a:rPr lang="en-US" altLang="zh-CN" sz="1800" dirty="0">
                <a:solidFill>
                  <a:srgbClr val="FF0000"/>
                </a:solidFill>
                <a:latin typeface="微软雅黑" panose="020B0503020204020204" pitchFamily="34" charset="-122"/>
                <a:ea typeface="微软雅黑" panose="020B0503020204020204" pitchFamily="34" charset="-122"/>
              </a:rPr>
              <a:t>BB1</a:t>
            </a:r>
            <a:endParaRPr lang="zh-CN" altLang="en-US" sz="1800" dirty="0">
              <a:solidFill>
                <a:srgbClr val="FF000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1C3B35FB-F9F2-72BC-680C-BBCD98E9FAE8}"/>
              </a:ext>
            </a:extLst>
          </p:cNvPr>
          <p:cNvSpPr txBox="1"/>
          <p:nvPr/>
        </p:nvSpPr>
        <p:spPr>
          <a:xfrm>
            <a:off x="4910931" y="3209128"/>
            <a:ext cx="792000" cy="369332"/>
          </a:xfrm>
          <a:prstGeom prst="rect">
            <a:avLst/>
          </a:prstGeom>
          <a:noFill/>
        </p:spPr>
        <p:txBody>
          <a:bodyPr wrap="square" rtlCol="0">
            <a:spAutoFit/>
          </a:bodyPr>
          <a:lstStyle/>
          <a:p>
            <a:r>
              <a:rPr lang="en-US" altLang="zh-CN" sz="1800" dirty="0">
                <a:solidFill>
                  <a:srgbClr val="FF0000"/>
                </a:solidFill>
                <a:latin typeface="微软雅黑" panose="020B0503020204020204" pitchFamily="34" charset="-122"/>
                <a:ea typeface="微软雅黑" panose="020B0503020204020204" pitchFamily="34" charset="-122"/>
              </a:rPr>
              <a:t>BB2</a:t>
            </a:r>
            <a:endParaRPr lang="zh-CN" altLang="en-US" sz="1800" dirty="0">
              <a:solidFill>
                <a:srgbClr val="FF00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0D776280-FAD7-E453-3B39-694E346BB351}"/>
              </a:ext>
            </a:extLst>
          </p:cNvPr>
          <p:cNvSpPr txBox="1"/>
          <p:nvPr/>
        </p:nvSpPr>
        <p:spPr>
          <a:xfrm>
            <a:off x="4867795" y="4325128"/>
            <a:ext cx="792000" cy="369332"/>
          </a:xfrm>
          <a:prstGeom prst="rect">
            <a:avLst/>
          </a:prstGeom>
          <a:noFill/>
        </p:spPr>
        <p:txBody>
          <a:bodyPr wrap="square" rtlCol="0">
            <a:spAutoFit/>
          </a:bodyPr>
          <a:lstStyle/>
          <a:p>
            <a:r>
              <a:rPr lang="en-US" altLang="zh-CN" sz="1800" dirty="0">
                <a:solidFill>
                  <a:srgbClr val="FF0000"/>
                </a:solidFill>
                <a:latin typeface="微软雅黑" panose="020B0503020204020204" pitchFamily="34" charset="-122"/>
                <a:ea typeface="微软雅黑" panose="020B0503020204020204" pitchFamily="34" charset="-122"/>
              </a:rPr>
              <a:t>BB3</a:t>
            </a:r>
            <a:endParaRPr lang="zh-CN" altLang="en-US" sz="1800" dirty="0">
              <a:solidFill>
                <a:srgbClr val="FF0000"/>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09BC2983-17C4-D86C-5763-8263D27F9D1B}"/>
              </a:ext>
            </a:extLst>
          </p:cNvPr>
          <p:cNvSpPr txBox="1"/>
          <p:nvPr/>
        </p:nvSpPr>
        <p:spPr>
          <a:xfrm>
            <a:off x="4867189" y="5459517"/>
            <a:ext cx="792000" cy="369332"/>
          </a:xfrm>
          <a:prstGeom prst="rect">
            <a:avLst/>
          </a:prstGeom>
          <a:noFill/>
        </p:spPr>
        <p:txBody>
          <a:bodyPr wrap="square" rtlCol="0">
            <a:spAutoFit/>
          </a:bodyPr>
          <a:lstStyle/>
          <a:p>
            <a:r>
              <a:rPr lang="en-US" altLang="zh-CN" sz="1800" dirty="0">
                <a:solidFill>
                  <a:srgbClr val="FF0000"/>
                </a:solidFill>
                <a:latin typeface="微软雅黑" panose="020B0503020204020204" pitchFamily="34" charset="-122"/>
                <a:ea typeface="微软雅黑" panose="020B0503020204020204" pitchFamily="34" charset="-122"/>
              </a:rPr>
              <a:t>BB4</a:t>
            </a:r>
            <a:endParaRPr lang="zh-CN" altLang="en-US" sz="18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40723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FB300-59C0-0698-ED8F-1B3E318BE9FE}"/>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490FFBA1-C729-71F8-1A67-8793F2710444}"/>
              </a:ext>
            </a:extLst>
          </p:cNvPr>
          <p:cNvSpPr txBox="1">
            <a:spLocks noChangeArrowheads="1"/>
          </p:cNvSpPr>
          <p:nvPr/>
        </p:nvSpPr>
        <p:spPr bwMode="auto">
          <a:xfrm>
            <a:off x="952980" y="909794"/>
            <a:ext cx="10260257"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控制流图是用</a:t>
            </a:r>
            <a:r>
              <a:rPr lang="zh-CN" altLang="en-US" sz="2000" b="1" dirty="0">
                <a:solidFill>
                  <a:srgbClr val="0075CC"/>
                </a:solidFill>
                <a:latin typeface="微软雅黑" panose="020B0503020204020204" pitchFamily="34" charset="-122"/>
                <a:ea typeface="微软雅黑" panose="020B0503020204020204" pitchFamily="34" charset="-122"/>
              </a:rPr>
              <a:t>有向图</a:t>
            </a:r>
            <a:r>
              <a:rPr lang="zh-CN" altLang="en-US" sz="2000" dirty="0">
                <a:solidFill>
                  <a:srgbClr val="595959"/>
                </a:solidFill>
                <a:latin typeface="微软雅黑" panose="020B0503020204020204" pitchFamily="34" charset="-122"/>
                <a:ea typeface="微软雅黑" panose="020B0503020204020204" pitchFamily="34" charset="-122"/>
              </a:rPr>
              <a:t>表示程序执行流的工具，它以 “基本块” 为</a:t>
            </a:r>
            <a:r>
              <a:rPr lang="zh-CN" altLang="en-US" sz="2000" dirty="0">
                <a:solidFill>
                  <a:srgbClr val="0075CC"/>
                </a:solidFill>
                <a:latin typeface="微软雅黑" panose="020B0503020204020204" pitchFamily="34" charset="-122"/>
                <a:ea typeface="微软雅黑" panose="020B0503020204020204" pitchFamily="34" charset="-122"/>
              </a:rPr>
              <a:t>节点</a:t>
            </a:r>
            <a:r>
              <a:rPr lang="zh-CN" altLang="en-US" sz="2000" dirty="0">
                <a:solidFill>
                  <a:srgbClr val="595959"/>
                </a:solidFill>
                <a:latin typeface="微软雅黑" panose="020B0503020204020204" pitchFamily="34" charset="-122"/>
                <a:ea typeface="微软雅黑" panose="020B0503020204020204" pitchFamily="34" charset="-122"/>
              </a:rPr>
              <a:t>，以 “基本块之间的执行跳转关系” 为</a:t>
            </a:r>
            <a:r>
              <a:rPr lang="zh-CN" altLang="en-US" sz="2000" dirty="0">
                <a:solidFill>
                  <a:srgbClr val="0075CC"/>
                </a:solidFill>
                <a:latin typeface="微软雅黑" panose="020B0503020204020204" pitchFamily="34" charset="-122"/>
                <a:ea typeface="微软雅黑" panose="020B0503020204020204" pitchFamily="34" charset="-122"/>
              </a:rPr>
              <a:t>有向边</a:t>
            </a:r>
            <a:r>
              <a:rPr lang="zh-CN" altLang="en-US" sz="2000" dirty="0">
                <a:solidFill>
                  <a:srgbClr val="595959"/>
                </a:solidFill>
                <a:latin typeface="微软雅黑" panose="020B0503020204020204" pitchFamily="34" charset="-122"/>
                <a:ea typeface="微软雅黑" panose="020B0503020204020204" pitchFamily="34" charset="-122"/>
              </a:rPr>
              <a:t>，直观地展示程序</a:t>
            </a:r>
            <a:r>
              <a:rPr lang="zh-CN" altLang="en-US" sz="2000" dirty="0">
                <a:solidFill>
                  <a:srgbClr val="0075CC"/>
                </a:solidFill>
                <a:latin typeface="微软雅黑" panose="020B0503020204020204" pitchFamily="34" charset="-122"/>
                <a:ea typeface="微软雅黑" panose="020B0503020204020204" pitchFamily="34" charset="-122"/>
              </a:rPr>
              <a:t>所有可能的执行路径</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31" name="Title 1">
            <a:extLst>
              <a:ext uri="{FF2B5EF4-FFF2-40B4-BE49-F238E27FC236}">
                <a16:creationId xmlns:a16="http://schemas.microsoft.com/office/drawing/2014/main" id="{72B5C0B9-F722-F5CE-9E50-ED976D99E30A}"/>
              </a:ext>
            </a:extLst>
          </p:cNvPr>
          <p:cNvSpPr txBox="1"/>
          <p:nvPr/>
        </p:nvSpPr>
        <p:spPr>
          <a:xfrm>
            <a:off x="1143690" y="266995"/>
            <a:ext cx="927151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控制流图（</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Control Flow Graph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CFG</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）：程序的“执行路径地图”</a:t>
            </a:r>
          </a:p>
        </p:txBody>
      </p:sp>
      <p:pic>
        <p:nvPicPr>
          <p:cNvPr id="15" name="图片 14">
            <a:extLst>
              <a:ext uri="{FF2B5EF4-FFF2-40B4-BE49-F238E27FC236}">
                <a16:creationId xmlns:a16="http://schemas.microsoft.com/office/drawing/2014/main" id="{0D2649F5-D613-48AC-4F58-C3BEBCC1D08F}"/>
              </a:ext>
            </a:extLst>
          </p:cNvPr>
          <p:cNvPicPr>
            <a:picLocks noChangeAspect="1"/>
          </p:cNvPicPr>
          <p:nvPr/>
        </p:nvPicPr>
        <p:blipFill>
          <a:blip r:embed="rId3"/>
          <a:stretch>
            <a:fillRect/>
          </a:stretch>
        </p:blipFill>
        <p:spPr>
          <a:xfrm>
            <a:off x="695206" y="2272593"/>
            <a:ext cx="5769115" cy="4320000"/>
          </a:xfrm>
          <a:prstGeom prst="rect">
            <a:avLst/>
          </a:prstGeom>
        </p:spPr>
      </p:pic>
      <p:pic>
        <p:nvPicPr>
          <p:cNvPr id="17" name="图片 16">
            <a:extLst>
              <a:ext uri="{FF2B5EF4-FFF2-40B4-BE49-F238E27FC236}">
                <a16:creationId xmlns:a16="http://schemas.microsoft.com/office/drawing/2014/main" id="{612824BC-3841-038C-A614-C1B2CBD59D8E}"/>
              </a:ext>
            </a:extLst>
          </p:cNvPr>
          <p:cNvPicPr>
            <a:picLocks noChangeAspect="1"/>
          </p:cNvPicPr>
          <p:nvPr/>
        </p:nvPicPr>
        <p:blipFill>
          <a:blip r:embed="rId4"/>
          <a:stretch>
            <a:fillRect/>
          </a:stretch>
        </p:blipFill>
        <p:spPr>
          <a:xfrm>
            <a:off x="7967206" y="1901856"/>
            <a:ext cx="2947501" cy="4497480"/>
          </a:xfrm>
          <a:prstGeom prst="rect">
            <a:avLst/>
          </a:prstGeom>
        </p:spPr>
      </p:pic>
    </p:spTree>
    <p:extLst>
      <p:ext uri="{BB962C8B-B14F-4D97-AF65-F5344CB8AC3E}">
        <p14:creationId xmlns:p14="http://schemas.microsoft.com/office/powerpoint/2010/main" val="35759889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8A529-C0C3-81D2-5E59-67E77E62F160}"/>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FED4E061-ED03-4324-7AF7-43492FF04AC4}"/>
              </a:ext>
            </a:extLst>
          </p:cNvPr>
          <p:cNvSpPr txBox="1"/>
          <p:nvPr/>
        </p:nvSpPr>
        <p:spPr>
          <a:xfrm>
            <a:off x="1143690" y="266995"/>
            <a:ext cx="927151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控制流图的组成</a:t>
            </a:r>
          </a:p>
        </p:txBody>
      </p:sp>
      <p:sp>
        <p:nvSpPr>
          <p:cNvPr id="6" name="TextBox 35">
            <a:extLst>
              <a:ext uri="{FF2B5EF4-FFF2-40B4-BE49-F238E27FC236}">
                <a16:creationId xmlns:a16="http://schemas.microsoft.com/office/drawing/2014/main" id="{A8D24029-49A2-2DAE-2904-42EABB2BC2AC}"/>
              </a:ext>
            </a:extLst>
          </p:cNvPr>
          <p:cNvSpPr txBox="1">
            <a:spLocks noChangeArrowheads="1"/>
          </p:cNvSpPr>
          <p:nvPr/>
        </p:nvSpPr>
        <p:spPr bwMode="auto">
          <a:xfrm>
            <a:off x="695206" y="1356626"/>
            <a:ext cx="6984000" cy="4685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42900" indent="-342900" algn="just">
              <a:lnSpc>
                <a:spcPct val="150000"/>
              </a:lnSpc>
              <a:buFont typeface="Wingdings" panose="05000000000000000000" pitchFamily="2" charset="2"/>
              <a:buChar char="l"/>
            </a:pPr>
            <a:r>
              <a:rPr lang="zh-CN" altLang="en-US" sz="2000" dirty="0">
                <a:solidFill>
                  <a:srgbClr val="0075CC"/>
                </a:solidFill>
                <a:latin typeface="微软雅黑" panose="020B0503020204020204" pitchFamily="34" charset="-122"/>
                <a:ea typeface="微软雅黑" panose="020B0503020204020204" pitchFamily="34" charset="-122"/>
              </a:rPr>
              <a:t>节点（</a:t>
            </a:r>
            <a:r>
              <a:rPr lang="en-US" altLang="zh-CN" sz="2000" dirty="0">
                <a:solidFill>
                  <a:srgbClr val="0075CC"/>
                </a:solidFill>
                <a:latin typeface="微软雅黑" panose="020B0503020204020204" pitchFamily="34" charset="-122"/>
                <a:ea typeface="微软雅黑" panose="020B0503020204020204" pitchFamily="34" charset="-122"/>
              </a:rPr>
              <a:t>Node</a:t>
            </a:r>
            <a:r>
              <a:rPr lang="zh-CN" altLang="en-US" sz="2000" dirty="0">
                <a:solidFill>
                  <a:srgbClr val="0075CC"/>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：每个节点对应一个基本块（</a:t>
            </a:r>
            <a:r>
              <a:rPr lang="en-US" altLang="zh-CN" sz="2000" dirty="0">
                <a:solidFill>
                  <a:srgbClr val="595959"/>
                </a:solidFill>
                <a:latin typeface="微软雅黑" panose="020B0503020204020204" pitchFamily="34" charset="-122"/>
                <a:ea typeface="微软雅黑" panose="020B0503020204020204" pitchFamily="34" charset="-122"/>
              </a:rPr>
              <a:t>BB</a:t>
            </a:r>
            <a:r>
              <a:rPr lang="zh-CN" altLang="en-US" sz="2000" dirty="0">
                <a:solidFill>
                  <a:srgbClr val="595959"/>
                </a:solidFill>
                <a:latin typeface="微软雅黑" panose="020B0503020204020204" pitchFamily="34" charset="-122"/>
                <a:ea typeface="微软雅黑" panose="020B0503020204020204" pitchFamily="34" charset="-122"/>
              </a:rPr>
              <a:t>），若基本块为空（如空循环体），也可表示为 “空节点”；此外，通常会增加两个特殊节点：</a:t>
            </a:r>
          </a:p>
          <a:p>
            <a:pPr marL="720000" indent="-342900" algn="just">
              <a:lnSpc>
                <a:spcPct val="150000"/>
              </a:lnSpc>
              <a:buFont typeface="Wingdings" panose="05000000000000000000" pitchFamily="2" charset="2"/>
              <a:buChar char="ü"/>
            </a:pPr>
            <a:r>
              <a:rPr lang="zh-CN" altLang="en-US" sz="2000" dirty="0">
                <a:solidFill>
                  <a:srgbClr val="0075CC"/>
                </a:solidFill>
                <a:latin typeface="微软雅黑" panose="020B0503020204020204" pitchFamily="34" charset="-122"/>
                <a:ea typeface="微软雅黑" panose="020B0503020204020204" pitchFamily="34" charset="-122"/>
              </a:rPr>
              <a:t>入口节点（</a:t>
            </a:r>
            <a:r>
              <a:rPr lang="en-US" altLang="zh-CN" sz="2000" dirty="0">
                <a:solidFill>
                  <a:srgbClr val="0075CC"/>
                </a:solidFill>
                <a:latin typeface="微软雅黑" panose="020B0503020204020204" pitchFamily="34" charset="-122"/>
                <a:ea typeface="微软雅黑" panose="020B0503020204020204" pitchFamily="34" charset="-122"/>
              </a:rPr>
              <a:t>Entry</a:t>
            </a:r>
            <a:r>
              <a:rPr lang="zh-CN" altLang="en-US" sz="2000" dirty="0">
                <a:solidFill>
                  <a:srgbClr val="0075CC"/>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：唯一的起始节点，指向程序的第一个基本块（表示程序开始执行）。</a:t>
            </a:r>
          </a:p>
          <a:p>
            <a:pPr marL="720000" indent="-342900" algn="just">
              <a:lnSpc>
                <a:spcPct val="150000"/>
              </a:lnSpc>
              <a:buFont typeface="Wingdings" panose="05000000000000000000" pitchFamily="2" charset="2"/>
              <a:buChar char="ü"/>
            </a:pPr>
            <a:r>
              <a:rPr lang="zh-CN" altLang="en-US" sz="2000" dirty="0">
                <a:solidFill>
                  <a:srgbClr val="0075CC"/>
                </a:solidFill>
                <a:latin typeface="微软雅黑" panose="020B0503020204020204" pitchFamily="34" charset="-122"/>
                <a:ea typeface="微软雅黑" panose="020B0503020204020204" pitchFamily="34" charset="-122"/>
              </a:rPr>
              <a:t>出口节点（</a:t>
            </a:r>
            <a:r>
              <a:rPr lang="en-US" altLang="zh-CN" sz="2000" dirty="0">
                <a:solidFill>
                  <a:srgbClr val="0075CC"/>
                </a:solidFill>
                <a:latin typeface="微软雅黑" panose="020B0503020204020204" pitchFamily="34" charset="-122"/>
                <a:ea typeface="微软雅黑" panose="020B0503020204020204" pitchFamily="34" charset="-122"/>
              </a:rPr>
              <a:t>Exit</a:t>
            </a:r>
            <a:r>
              <a:rPr lang="zh-CN" altLang="en-US" sz="2000" dirty="0">
                <a:solidFill>
                  <a:srgbClr val="0075CC"/>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：唯一的结束节点，由所有</a:t>
            </a:r>
            <a:r>
              <a:rPr lang="en-US" altLang="zh-CN" sz="2000" dirty="0">
                <a:solidFill>
                  <a:srgbClr val="595959"/>
                </a:solidFill>
                <a:latin typeface="微软雅黑" panose="020B0503020204020204" pitchFamily="34" charset="-122"/>
                <a:ea typeface="微软雅黑" panose="020B0503020204020204" pitchFamily="34" charset="-122"/>
              </a:rPr>
              <a:t>return</a:t>
            </a:r>
            <a:r>
              <a:rPr lang="zh-CN" altLang="en-US" sz="2000" dirty="0">
                <a:solidFill>
                  <a:srgbClr val="595959"/>
                </a:solidFill>
                <a:latin typeface="微软雅黑" panose="020B0503020204020204" pitchFamily="34" charset="-122"/>
                <a:ea typeface="微软雅黑" panose="020B0503020204020204" pitchFamily="34" charset="-122"/>
              </a:rPr>
              <a:t>或程序结束的基本块指向（表示程序执行终止）。</a:t>
            </a:r>
          </a:p>
          <a:p>
            <a:pPr marL="342900" indent="-342900" algn="just">
              <a:lnSpc>
                <a:spcPct val="150000"/>
              </a:lnSpc>
              <a:buFont typeface="Wingdings" panose="05000000000000000000" pitchFamily="2" charset="2"/>
              <a:buChar char="l"/>
            </a:pPr>
            <a:r>
              <a:rPr lang="zh-CN" altLang="en-US" sz="2000" dirty="0">
                <a:solidFill>
                  <a:srgbClr val="0075CC"/>
                </a:solidFill>
                <a:latin typeface="微软雅黑" panose="020B0503020204020204" pitchFamily="34" charset="-122"/>
                <a:ea typeface="微软雅黑" panose="020B0503020204020204" pitchFamily="34" charset="-122"/>
              </a:rPr>
              <a:t>有向边（</a:t>
            </a:r>
            <a:r>
              <a:rPr lang="en-US" altLang="zh-CN" sz="2000" dirty="0">
                <a:solidFill>
                  <a:srgbClr val="0075CC"/>
                </a:solidFill>
                <a:latin typeface="微软雅黑" panose="020B0503020204020204" pitchFamily="34" charset="-122"/>
                <a:ea typeface="微软雅黑" panose="020B0503020204020204" pitchFamily="34" charset="-122"/>
              </a:rPr>
              <a:t>Edge</a:t>
            </a:r>
            <a:r>
              <a:rPr lang="zh-CN" altLang="en-US" sz="2000" dirty="0">
                <a:solidFill>
                  <a:srgbClr val="0075CC"/>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：若基本块 </a:t>
            </a:r>
            <a:r>
              <a:rPr lang="en-US" altLang="zh-CN" sz="2000" dirty="0">
                <a:solidFill>
                  <a:srgbClr val="595959"/>
                </a:solidFill>
                <a:latin typeface="微软雅黑" panose="020B0503020204020204" pitchFamily="34" charset="-122"/>
                <a:ea typeface="微软雅黑" panose="020B0503020204020204" pitchFamily="34" charset="-122"/>
              </a:rPr>
              <a:t>A </a:t>
            </a:r>
            <a:r>
              <a:rPr lang="zh-CN" altLang="en-US" sz="2000" dirty="0">
                <a:solidFill>
                  <a:srgbClr val="595959"/>
                </a:solidFill>
                <a:latin typeface="微软雅黑" panose="020B0503020204020204" pitchFamily="34" charset="-122"/>
                <a:ea typeface="微软雅黑" panose="020B0503020204020204" pitchFamily="34" charset="-122"/>
              </a:rPr>
              <a:t>执行完后，程序可能跳转到基本块 </a:t>
            </a:r>
            <a:r>
              <a:rPr lang="en-US" altLang="zh-CN" sz="2000" dirty="0">
                <a:solidFill>
                  <a:srgbClr val="595959"/>
                </a:solidFill>
                <a:latin typeface="微软雅黑" panose="020B0503020204020204" pitchFamily="34" charset="-122"/>
                <a:ea typeface="微软雅黑" panose="020B0503020204020204" pitchFamily="34" charset="-122"/>
              </a:rPr>
              <a:t>B</a:t>
            </a:r>
            <a:r>
              <a:rPr lang="zh-CN" altLang="en-US" sz="2000" dirty="0">
                <a:solidFill>
                  <a:srgbClr val="595959"/>
                </a:solidFill>
                <a:latin typeface="微软雅黑" panose="020B0503020204020204" pitchFamily="34" charset="-122"/>
                <a:ea typeface="微软雅黑" panose="020B0503020204020204" pitchFamily="34" charset="-122"/>
              </a:rPr>
              <a:t>，则从 </a:t>
            </a:r>
            <a:r>
              <a:rPr lang="en-US" altLang="zh-CN" sz="2000" dirty="0">
                <a:solidFill>
                  <a:srgbClr val="595959"/>
                </a:solidFill>
                <a:latin typeface="微软雅黑" panose="020B0503020204020204" pitchFamily="34" charset="-122"/>
                <a:ea typeface="微软雅黑" panose="020B0503020204020204" pitchFamily="34" charset="-122"/>
              </a:rPr>
              <a:t>A </a:t>
            </a:r>
            <a:r>
              <a:rPr lang="zh-CN" altLang="en-US" sz="2000" dirty="0">
                <a:solidFill>
                  <a:srgbClr val="595959"/>
                </a:solidFill>
                <a:latin typeface="微软雅黑" panose="020B0503020204020204" pitchFamily="34" charset="-122"/>
                <a:ea typeface="微软雅黑" panose="020B0503020204020204" pitchFamily="34" charset="-122"/>
              </a:rPr>
              <a:t>到 </a:t>
            </a:r>
            <a:r>
              <a:rPr lang="en-US" altLang="zh-CN" sz="2000" dirty="0">
                <a:solidFill>
                  <a:srgbClr val="595959"/>
                </a:solidFill>
                <a:latin typeface="微软雅黑" panose="020B0503020204020204" pitchFamily="34" charset="-122"/>
                <a:ea typeface="微软雅黑" panose="020B0503020204020204" pitchFamily="34" charset="-122"/>
              </a:rPr>
              <a:t>B </a:t>
            </a:r>
            <a:r>
              <a:rPr lang="zh-CN" altLang="en-US" sz="2000" dirty="0">
                <a:solidFill>
                  <a:srgbClr val="595959"/>
                </a:solidFill>
                <a:latin typeface="微软雅黑" panose="020B0503020204020204" pitchFamily="34" charset="-122"/>
                <a:ea typeface="微软雅黑" panose="020B0503020204020204" pitchFamily="34" charset="-122"/>
              </a:rPr>
              <a:t>画一条有向边（</a:t>
            </a:r>
            <a:r>
              <a:rPr lang="en-US" altLang="zh-CN" sz="2000" dirty="0">
                <a:solidFill>
                  <a:srgbClr val="595959"/>
                </a:solidFill>
                <a:latin typeface="微软雅黑" panose="020B0503020204020204" pitchFamily="34" charset="-122"/>
                <a:ea typeface="微软雅黑" panose="020B0503020204020204" pitchFamily="34" charset="-122"/>
              </a:rPr>
              <a:t>A→B</a:t>
            </a:r>
            <a:r>
              <a:rPr lang="zh-CN" altLang="en-US" sz="2000" dirty="0">
                <a:solidFill>
                  <a:srgbClr val="595959"/>
                </a:solidFill>
                <a:latin typeface="微软雅黑" panose="020B0503020204020204" pitchFamily="34" charset="-122"/>
                <a:ea typeface="微软雅黑" panose="020B0503020204020204" pitchFamily="34" charset="-122"/>
              </a:rPr>
              <a:t>），边的含义是 “</a:t>
            </a:r>
            <a:r>
              <a:rPr lang="zh-CN" altLang="en-US" sz="2000" dirty="0">
                <a:solidFill>
                  <a:srgbClr val="0070C0"/>
                </a:solidFill>
                <a:latin typeface="微软雅黑" panose="020B0503020204020204" pitchFamily="34" charset="-122"/>
                <a:ea typeface="微软雅黑" panose="020B0503020204020204" pitchFamily="34" charset="-122"/>
              </a:rPr>
              <a:t>执行流从 </a:t>
            </a:r>
            <a:r>
              <a:rPr lang="en-US" altLang="zh-CN" sz="2000" dirty="0">
                <a:solidFill>
                  <a:srgbClr val="0070C0"/>
                </a:solidFill>
                <a:latin typeface="微软雅黑" panose="020B0503020204020204" pitchFamily="34" charset="-122"/>
                <a:ea typeface="微软雅黑" panose="020B0503020204020204" pitchFamily="34" charset="-122"/>
              </a:rPr>
              <a:t>A </a:t>
            </a:r>
            <a:r>
              <a:rPr lang="zh-CN" altLang="en-US" sz="2000" dirty="0">
                <a:solidFill>
                  <a:srgbClr val="0070C0"/>
                </a:solidFill>
                <a:latin typeface="微软雅黑" panose="020B0503020204020204" pitchFamily="34" charset="-122"/>
                <a:ea typeface="微软雅黑" panose="020B0503020204020204" pitchFamily="34" charset="-122"/>
              </a:rPr>
              <a:t>转移到 </a:t>
            </a:r>
            <a:r>
              <a:rPr lang="en-US" altLang="zh-CN" sz="2000" dirty="0">
                <a:solidFill>
                  <a:srgbClr val="0070C0"/>
                </a:solidFill>
                <a:latin typeface="微软雅黑" panose="020B0503020204020204" pitchFamily="34" charset="-122"/>
                <a:ea typeface="微软雅黑" panose="020B0503020204020204" pitchFamily="34" charset="-122"/>
              </a:rPr>
              <a:t>B</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460D70FD-03E3-F5DC-E3E9-BE64D13C4068}"/>
              </a:ext>
            </a:extLst>
          </p:cNvPr>
          <p:cNvPicPr>
            <a:picLocks noChangeAspect="1"/>
          </p:cNvPicPr>
          <p:nvPr/>
        </p:nvPicPr>
        <p:blipFill>
          <a:blip r:embed="rId3"/>
          <a:stretch>
            <a:fillRect/>
          </a:stretch>
        </p:blipFill>
        <p:spPr>
          <a:xfrm>
            <a:off x="8183206" y="1053794"/>
            <a:ext cx="3535680" cy="5394960"/>
          </a:xfrm>
          <a:prstGeom prst="rect">
            <a:avLst/>
          </a:prstGeom>
        </p:spPr>
      </p:pic>
    </p:spTree>
    <p:extLst>
      <p:ext uri="{BB962C8B-B14F-4D97-AF65-F5344CB8AC3E}">
        <p14:creationId xmlns:p14="http://schemas.microsoft.com/office/powerpoint/2010/main" val="16963716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7EE52-291D-827B-30D7-2FA09F1771E9}"/>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16380400-AAEA-E930-4784-C1D1E324122F}"/>
              </a:ext>
            </a:extLst>
          </p:cNvPr>
          <p:cNvSpPr txBox="1">
            <a:spLocks noChangeArrowheads="1"/>
          </p:cNvSpPr>
          <p:nvPr/>
        </p:nvSpPr>
        <p:spPr bwMode="auto">
          <a:xfrm>
            <a:off x="902141" y="1053794"/>
            <a:ext cx="10386129" cy="5147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在完成基本块划分后，按以下步骤构建 </a:t>
            </a:r>
            <a:r>
              <a:rPr lang="en-US" altLang="zh-CN" sz="2000" dirty="0">
                <a:solidFill>
                  <a:srgbClr val="595959"/>
                </a:solidFill>
                <a:latin typeface="微软雅黑" panose="020B0503020204020204" pitchFamily="34" charset="-122"/>
                <a:ea typeface="微软雅黑" panose="020B0503020204020204" pitchFamily="34" charset="-122"/>
              </a:rPr>
              <a:t>CFG</a:t>
            </a:r>
            <a:r>
              <a:rPr lang="zh-CN" altLang="en-US" sz="2000" dirty="0">
                <a:solidFill>
                  <a:srgbClr val="595959"/>
                </a:solidFill>
                <a:latin typeface="微软雅黑" panose="020B0503020204020204" pitchFamily="34" charset="-122"/>
                <a:ea typeface="微软雅黑" panose="020B0503020204020204" pitchFamily="34" charset="-122"/>
              </a:rPr>
              <a:t>：</a:t>
            </a:r>
          </a:p>
          <a:p>
            <a:pPr marL="457200" indent="-457200" algn="just">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rPr>
              <a:t>为每个基本块分配一个节点（记为 </a:t>
            </a:r>
            <a:r>
              <a:rPr lang="en-US" altLang="zh-CN" sz="2000" dirty="0">
                <a:solidFill>
                  <a:srgbClr val="0070C0"/>
                </a:solidFill>
                <a:latin typeface="微软雅黑" panose="020B0503020204020204" pitchFamily="34" charset="-122"/>
                <a:ea typeface="微软雅黑" panose="020B0503020204020204" pitchFamily="34" charset="-122"/>
              </a:rPr>
              <a:t>BB1</a:t>
            </a:r>
            <a:r>
              <a:rPr lang="zh-CN" altLang="en-US" sz="2000" dirty="0">
                <a:solidFill>
                  <a:srgbClr val="0070C0"/>
                </a:solidFill>
                <a:latin typeface="微软雅黑" panose="020B0503020204020204" pitchFamily="34" charset="-122"/>
                <a:ea typeface="微软雅黑" panose="020B0503020204020204" pitchFamily="34" charset="-122"/>
              </a:rPr>
              <a:t>、</a:t>
            </a:r>
            <a:r>
              <a:rPr lang="en-US" altLang="zh-CN" sz="2000" dirty="0">
                <a:solidFill>
                  <a:srgbClr val="0070C0"/>
                </a:solidFill>
                <a:latin typeface="微软雅黑" panose="020B0503020204020204" pitchFamily="34" charset="-122"/>
                <a:ea typeface="微软雅黑" panose="020B0503020204020204" pitchFamily="34" charset="-122"/>
              </a:rPr>
              <a:t>BB2</a:t>
            </a:r>
            <a:r>
              <a:rPr lang="zh-CN" altLang="en-US" sz="2000" dirty="0">
                <a:solidFill>
                  <a:srgbClr val="0070C0"/>
                </a:solidFill>
                <a:latin typeface="微软雅黑" panose="020B0503020204020204" pitchFamily="34" charset="-122"/>
                <a:ea typeface="微软雅黑" panose="020B0503020204020204" pitchFamily="34" charset="-122"/>
              </a:rPr>
              <a:t>、</a:t>
            </a:r>
            <a:r>
              <a:rPr lang="en-US" altLang="zh-CN" sz="2000"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a:t>
            </a:r>
            <a:r>
              <a:rPr lang="en-US" altLang="zh-CN" sz="2000" dirty="0" err="1">
                <a:solidFill>
                  <a:srgbClr val="0070C0"/>
                </a:solidFill>
                <a:latin typeface="微软雅黑" panose="020B0503020204020204" pitchFamily="34" charset="-122"/>
                <a:ea typeface="微软雅黑" panose="020B0503020204020204" pitchFamily="34" charset="-122"/>
              </a:rPr>
              <a:t>BBn</a:t>
            </a:r>
            <a:r>
              <a:rPr lang="zh-CN" altLang="en-US" sz="2000" dirty="0">
                <a:solidFill>
                  <a:srgbClr val="595959"/>
                </a:solidFill>
                <a:latin typeface="微软雅黑" panose="020B0503020204020204" pitchFamily="34" charset="-122"/>
                <a:ea typeface="微软雅黑" panose="020B0503020204020204" pitchFamily="34" charset="-122"/>
              </a:rPr>
              <a:t>），并添加 </a:t>
            </a:r>
            <a:r>
              <a:rPr lang="en-US" altLang="zh-CN" sz="2000" dirty="0">
                <a:solidFill>
                  <a:srgbClr val="0070C0"/>
                </a:solidFill>
                <a:latin typeface="微软雅黑" panose="020B0503020204020204" pitchFamily="34" charset="-122"/>
                <a:ea typeface="微软雅黑" panose="020B0503020204020204" pitchFamily="34" charset="-122"/>
              </a:rPr>
              <a:t>Entry </a:t>
            </a:r>
            <a:r>
              <a:rPr lang="zh-CN" altLang="en-US" sz="2000" dirty="0">
                <a:solidFill>
                  <a:srgbClr val="595959"/>
                </a:solidFill>
                <a:latin typeface="微软雅黑" panose="020B0503020204020204" pitchFamily="34" charset="-122"/>
                <a:ea typeface="微软雅黑" panose="020B0503020204020204" pitchFamily="34" charset="-122"/>
              </a:rPr>
              <a:t>和 </a:t>
            </a:r>
            <a:r>
              <a:rPr lang="en-US" altLang="zh-CN" sz="2000" dirty="0">
                <a:solidFill>
                  <a:srgbClr val="0070C0"/>
                </a:solidFill>
                <a:latin typeface="微软雅黑" panose="020B0503020204020204" pitchFamily="34" charset="-122"/>
                <a:ea typeface="微软雅黑" panose="020B0503020204020204" pitchFamily="34" charset="-122"/>
              </a:rPr>
              <a:t>Exit </a:t>
            </a:r>
            <a:r>
              <a:rPr lang="zh-CN" altLang="en-US" sz="2000" dirty="0">
                <a:solidFill>
                  <a:srgbClr val="595959"/>
                </a:solidFill>
                <a:latin typeface="微软雅黑" panose="020B0503020204020204" pitchFamily="34" charset="-122"/>
                <a:ea typeface="微软雅黑" panose="020B0503020204020204" pitchFamily="34" charset="-122"/>
              </a:rPr>
              <a:t>节点。</a:t>
            </a:r>
          </a:p>
          <a:p>
            <a:pPr marL="457200" indent="-457200" algn="just">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rPr>
              <a:t>对每个基本块 </a:t>
            </a:r>
            <a:r>
              <a:rPr lang="en-US" altLang="zh-CN" sz="2000" dirty="0" err="1">
                <a:solidFill>
                  <a:srgbClr val="595959"/>
                </a:solidFill>
                <a:latin typeface="微软雅黑" panose="020B0503020204020204" pitchFamily="34" charset="-122"/>
                <a:ea typeface="微软雅黑" panose="020B0503020204020204" pitchFamily="34" charset="-122"/>
              </a:rPr>
              <a:t>BBi</a:t>
            </a:r>
            <a:r>
              <a:rPr lang="zh-CN" altLang="en-US" sz="2000" dirty="0">
                <a:solidFill>
                  <a:srgbClr val="595959"/>
                </a:solidFill>
                <a:latin typeface="微软雅黑" panose="020B0503020204020204" pitchFamily="34" charset="-122"/>
                <a:ea typeface="微软雅黑" panose="020B0503020204020204" pitchFamily="34" charset="-122"/>
              </a:rPr>
              <a:t>，分析其出口指令的跳转逻辑：</a:t>
            </a:r>
          </a:p>
          <a:p>
            <a:pPr marL="720000" indent="-342900" algn="just">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rPr>
              <a:t>若 </a:t>
            </a:r>
            <a:r>
              <a:rPr lang="en-US" altLang="zh-CN" sz="2000" dirty="0" err="1">
                <a:solidFill>
                  <a:srgbClr val="595959"/>
                </a:solidFill>
                <a:latin typeface="微软雅黑" panose="020B0503020204020204" pitchFamily="34" charset="-122"/>
                <a:ea typeface="微软雅黑" panose="020B0503020204020204" pitchFamily="34" charset="-122"/>
              </a:rPr>
              <a:t>BBi</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的出口是</a:t>
            </a:r>
            <a:r>
              <a:rPr lang="zh-CN" altLang="en-US" sz="2000" dirty="0">
                <a:solidFill>
                  <a:srgbClr val="0070C0"/>
                </a:solidFill>
                <a:latin typeface="微软雅黑" panose="020B0503020204020204" pitchFamily="34" charset="-122"/>
                <a:ea typeface="微软雅黑" panose="020B0503020204020204" pitchFamily="34" charset="-122"/>
              </a:rPr>
              <a:t>无条件分支</a:t>
            </a:r>
            <a:r>
              <a:rPr lang="zh-CN" altLang="en-US" sz="2000" dirty="0">
                <a:solidFill>
                  <a:srgbClr val="595959"/>
                </a:solidFill>
                <a:latin typeface="微软雅黑" panose="020B0503020204020204" pitchFamily="34" charset="-122"/>
                <a:ea typeface="微软雅黑" panose="020B0503020204020204" pitchFamily="34" charset="-122"/>
              </a:rPr>
              <a:t>（如 </a:t>
            </a:r>
            <a:r>
              <a:rPr lang="en-US" altLang="zh-CN" sz="2000" dirty="0" err="1">
                <a:solidFill>
                  <a:srgbClr val="595959"/>
                </a:solidFill>
                <a:latin typeface="微软雅黑" panose="020B0503020204020204" pitchFamily="34" charset="-122"/>
                <a:ea typeface="微软雅黑" panose="020B0503020204020204" pitchFamily="34" charset="-122"/>
              </a:rPr>
              <a:t>goto</a:t>
            </a:r>
            <a:r>
              <a:rPr lang="en-US" altLang="zh-CN" sz="2000" dirty="0">
                <a:solidFill>
                  <a:srgbClr val="595959"/>
                </a:solidFill>
                <a:latin typeface="微软雅黑" panose="020B0503020204020204" pitchFamily="34" charset="-122"/>
                <a:ea typeface="微软雅黑" panose="020B0503020204020204" pitchFamily="34" charset="-122"/>
              </a:rPr>
              <a:t> L</a:t>
            </a:r>
            <a:r>
              <a:rPr lang="zh-CN" altLang="en-US" sz="2000" dirty="0">
                <a:solidFill>
                  <a:srgbClr val="595959"/>
                </a:solidFill>
                <a:latin typeface="微软雅黑" panose="020B0503020204020204" pitchFamily="34" charset="-122"/>
                <a:ea typeface="微软雅黑" panose="020B0503020204020204" pitchFamily="34" charset="-122"/>
              </a:rPr>
              <a:t>）：找到 </a:t>
            </a:r>
            <a:r>
              <a:rPr lang="en-US" altLang="zh-CN" sz="2000" dirty="0">
                <a:solidFill>
                  <a:srgbClr val="595959"/>
                </a:solidFill>
                <a:latin typeface="微软雅黑" panose="020B0503020204020204" pitchFamily="34" charset="-122"/>
                <a:ea typeface="微软雅黑" panose="020B0503020204020204" pitchFamily="34" charset="-122"/>
              </a:rPr>
              <a:t>L </a:t>
            </a:r>
            <a:r>
              <a:rPr lang="zh-CN" altLang="en-US" sz="2000" dirty="0">
                <a:solidFill>
                  <a:srgbClr val="595959"/>
                </a:solidFill>
                <a:latin typeface="微软雅黑" panose="020B0503020204020204" pitchFamily="34" charset="-122"/>
                <a:ea typeface="微软雅黑" panose="020B0503020204020204" pitchFamily="34" charset="-122"/>
              </a:rPr>
              <a:t>对应的基本块 </a:t>
            </a:r>
            <a:r>
              <a:rPr lang="en-US" altLang="zh-CN" sz="2000" dirty="0" err="1">
                <a:solidFill>
                  <a:srgbClr val="595959"/>
                </a:solidFill>
                <a:latin typeface="微软雅黑" panose="020B0503020204020204" pitchFamily="34" charset="-122"/>
                <a:ea typeface="微软雅黑" panose="020B0503020204020204" pitchFamily="34" charset="-122"/>
              </a:rPr>
              <a:t>BBj</a:t>
            </a:r>
            <a:r>
              <a:rPr lang="zh-CN" altLang="en-US" sz="2000" dirty="0">
                <a:solidFill>
                  <a:srgbClr val="595959"/>
                </a:solidFill>
                <a:latin typeface="微软雅黑" panose="020B0503020204020204" pitchFamily="34" charset="-122"/>
                <a:ea typeface="微软雅黑" panose="020B0503020204020204" pitchFamily="34" charset="-122"/>
              </a:rPr>
              <a:t>，添加边</a:t>
            </a:r>
            <a:r>
              <a:rPr lang="en-US" altLang="zh-CN" sz="2000" dirty="0" err="1">
                <a:solidFill>
                  <a:srgbClr val="0070C0"/>
                </a:solidFill>
                <a:latin typeface="微软雅黑" panose="020B0503020204020204" pitchFamily="34" charset="-122"/>
                <a:ea typeface="微软雅黑" panose="020B0503020204020204" pitchFamily="34" charset="-122"/>
              </a:rPr>
              <a:t>BBi</a:t>
            </a:r>
            <a:r>
              <a:rPr lang="en-US" altLang="zh-CN" sz="2000" dirty="0">
                <a:solidFill>
                  <a:srgbClr val="0070C0"/>
                </a:solidFill>
                <a:latin typeface="微软雅黑" panose="020B0503020204020204" pitchFamily="34" charset="-122"/>
                <a:ea typeface="微软雅黑" panose="020B0503020204020204" pitchFamily="34" charset="-122"/>
              </a:rPr>
              <a:t> → </a:t>
            </a:r>
            <a:r>
              <a:rPr lang="en-US" altLang="zh-CN" sz="2000" dirty="0" err="1">
                <a:solidFill>
                  <a:srgbClr val="0070C0"/>
                </a:solidFill>
                <a:latin typeface="微软雅黑" panose="020B0503020204020204" pitchFamily="34" charset="-122"/>
                <a:ea typeface="微软雅黑" panose="020B0503020204020204" pitchFamily="34" charset="-122"/>
              </a:rPr>
              <a:t>BBj</a:t>
            </a:r>
            <a:r>
              <a:rPr lang="zh-CN" altLang="en-US" sz="2000" dirty="0">
                <a:solidFill>
                  <a:srgbClr val="595959"/>
                </a:solidFill>
                <a:latin typeface="微软雅黑" panose="020B0503020204020204" pitchFamily="34" charset="-122"/>
                <a:ea typeface="微软雅黑" panose="020B0503020204020204" pitchFamily="34" charset="-122"/>
              </a:rPr>
              <a:t>。</a:t>
            </a:r>
          </a:p>
          <a:p>
            <a:pPr marL="720000" indent="-342900" algn="just">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rPr>
              <a:t>若 </a:t>
            </a:r>
            <a:r>
              <a:rPr lang="en-US" altLang="zh-CN" sz="2000" dirty="0" err="1">
                <a:solidFill>
                  <a:srgbClr val="595959"/>
                </a:solidFill>
                <a:latin typeface="微软雅黑" panose="020B0503020204020204" pitchFamily="34" charset="-122"/>
                <a:ea typeface="微软雅黑" panose="020B0503020204020204" pitchFamily="34" charset="-122"/>
              </a:rPr>
              <a:t>BBi</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的出口是</a:t>
            </a:r>
            <a:r>
              <a:rPr lang="zh-CN" altLang="en-US" sz="2000" dirty="0">
                <a:solidFill>
                  <a:srgbClr val="0070C0"/>
                </a:solidFill>
                <a:latin typeface="微软雅黑" panose="020B0503020204020204" pitchFamily="34" charset="-122"/>
                <a:ea typeface="微软雅黑" panose="020B0503020204020204" pitchFamily="34" charset="-122"/>
              </a:rPr>
              <a:t>条件分支</a:t>
            </a:r>
            <a:r>
              <a:rPr lang="zh-CN" altLang="en-US" sz="2000" dirty="0">
                <a:solidFill>
                  <a:srgbClr val="595959"/>
                </a:solidFill>
                <a:latin typeface="微软雅黑" panose="020B0503020204020204" pitchFamily="34" charset="-122"/>
                <a:ea typeface="微软雅黑" panose="020B0503020204020204" pitchFamily="34" charset="-122"/>
              </a:rPr>
              <a:t>（如 </a:t>
            </a:r>
            <a:r>
              <a:rPr lang="en-US" altLang="zh-CN" sz="2000" dirty="0">
                <a:solidFill>
                  <a:srgbClr val="595959"/>
                </a:solidFill>
                <a:latin typeface="微软雅黑" panose="020B0503020204020204" pitchFamily="34" charset="-122"/>
                <a:ea typeface="微软雅黑" panose="020B0503020204020204" pitchFamily="34" charset="-122"/>
              </a:rPr>
              <a:t>if (</a:t>
            </a:r>
            <a:r>
              <a:rPr lang="en-US" altLang="zh-CN" sz="2000" dirty="0" err="1">
                <a:solidFill>
                  <a:srgbClr val="595959"/>
                </a:solidFill>
                <a:latin typeface="微软雅黑" panose="020B0503020204020204" pitchFamily="34" charset="-122"/>
                <a:ea typeface="微软雅黑" panose="020B0503020204020204" pitchFamily="34" charset="-122"/>
              </a:rPr>
              <a:t>cond</a:t>
            </a:r>
            <a:r>
              <a:rPr lang="en-US" altLang="zh-CN" sz="2000" dirty="0">
                <a:solidFill>
                  <a:srgbClr val="595959"/>
                </a:solidFill>
                <a:latin typeface="微软雅黑" panose="020B0503020204020204" pitchFamily="34" charset="-122"/>
                <a:ea typeface="微软雅黑" panose="020B0503020204020204" pitchFamily="34" charset="-122"/>
              </a:rPr>
              <a:t>) {X} else {Y}</a:t>
            </a:r>
            <a:r>
              <a:rPr lang="zh-CN" altLang="en-US" sz="2000" dirty="0">
                <a:solidFill>
                  <a:srgbClr val="595959"/>
                </a:solidFill>
                <a:latin typeface="微软雅黑" panose="020B0503020204020204" pitchFamily="34" charset="-122"/>
                <a:ea typeface="微软雅黑" panose="020B0503020204020204" pitchFamily="34" charset="-122"/>
              </a:rPr>
              <a:t>）：</a:t>
            </a:r>
          </a:p>
          <a:p>
            <a:pPr marL="1080000" indent="-342900" algn="just">
              <a:lnSpc>
                <a:spcPct val="150000"/>
              </a:lnSpc>
              <a:buFont typeface="Wingdings" panose="05000000000000000000" pitchFamily="2" charset="2"/>
              <a:buChar char="ü"/>
            </a:pPr>
            <a:r>
              <a:rPr lang="zh-CN" altLang="en-US" sz="2000" dirty="0">
                <a:solidFill>
                  <a:srgbClr val="595959"/>
                </a:solidFill>
                <a:latin typeface="微软雅黑" panose="020B0503020204020204" pitchFamily="34" charset="-122"/>
                <a:ea typeface="微软雅黑" panose="020B0503020204020204" pitchFamily="34" charset="-122"/>
              </a:rPr>
              <a:t>条件为 “</a:t>
            </a:r>
            <a:r>
              <a:rPr lang="zh-CN" altLang="en-US" sz="2000" dirty="0">
                <a:solidFill>
                  <a:srgbClr val="0070C0"/>
                </a:solidFill>
                <a:latin typeface="微软雅黑" panose="020B0503020204020204" pitchFamily="34" charset="-122"/>
                <a:ea typeface="微软雅黑" panose="020B0503020204020204" pitchFamily="34" charset="-122"/>
              </a:rPr>
              <a:t>真</a:t>
            </a:r>
            <a:r>
              <a:rPr lang="zh-CN" altLang="en-US" sz="2000" dirty="0">
                <a:solidFill>
                  <a:srgbClr val="595959"/>
                </a:solidFill>
                <a:latin typeface="微软雅黑" panose="020B0503020204020204" pitchFamily="34" charset="-122"/>
                <a:ea typeface="微软雅黑" panose="020B0503020204020204" pitchFamily="34" charset="-122"/>
              </a:rPr>
              <a:t>” 时，跳转到 </a:t>
            </a:r>
            <a:r>
              <a:rPr lang="en-US" altLang="zh-CN" sz="2000" dirty="0">
                <a:solidFill>
                  <a:srgbClr val="595959"/>
                </a:solidFill>
                <a:latin typeface="微软雅黑" panose="020B0503020204020204" pitchFamily="34" charset="-122"/>
                <a:ea typeface="微软雅黑" panose="020B0503020204020204" pitchFamily="34" charset="-122"/>
              </a:rPr>
              <a:t>X </a:t>
            </a:r>
            <a:r>
              <a:rPr lang="zh-CN" altLang="en-US" sz="2000" dirty="0">
                <a:solidFill>
                  <a:srgbClr val="595959"/>
                </a:solidFill>
                <a:latin typeface="微软雅黑" panose="020B0503020204020204" pitchFamily="34" charset="-122"/>
                <a:ea typeface="微软雅黑" panose="020B0503020204020204" pitchFamily="34" charset="-122"/>
              </a:rPr>
              <a:t>对应的基本块 </a:t>
            </a:r>
            <a:r>
              <a:rPr lang="en-US" altLang="zh-CN" sz="2000" dirty="0" err="1">
                <a:solidFill>
                  <a:srgbClr val="595959"/>
                </a:solidFill>
                <a:latin typeface="微软雅黑" panose="020B0503020204020204" pitchFamily="34" charset="-122"/>
                <a:ea typeface="微软雅黑" panose="020B0503020204020204" pitchFamily="34" charset="-122"/>
              </a:rPr>
              <a:t>BBx</a:t>
            </a:r>
            <a:r>
              <a:rPr lang="zh-CN" altLang="en-US" sz="2000" dirty="0">
                <a:solidFill>
                  <a:srgbClr val="595959"/>
                </a:solidFill>
                <a:latin typeface="微软雅黑" panose="020B0503020204020204" pitchFamily="34" charset="-122"/>
                <a:ea typeface="微软雅黑" panose="020B0503020204020204" pitchFamily="34" charset="-122"/>
              </a:rPr>
              <a:t>，添加边</a:t>
            </a:r>
            <a:r>
              <a:rPr lang="en-US" altLang="zh-CN" sz="2000" dirty="0" err="1">
                <a:solidFill>
                  <a:srgbClr val="0070C0"/>
                </a:solidFill>
                <a:latin typeface="微软雅黑" panose="020B0503020204020204" pitchFamily="34" charset="-122"/>
                <a:ea typeface="微软雅黑" panose="020B0503020204020204" pitchFamily="34" charset="-122"/>
              </a:rPr>
              <a:t>BBi</a:t>
            </a:r>
            <a:r>
              <a:rPr lang="en-US" altLang="zh-CN" sz="2000" dirty="0">
                <a:solidFill>
                  <a:srgbClr val="0070C0"/>
                </a:solidFill>
                <a:latin typeface="微软雅黑" panose="020B0503020204020204" pitchFamily="34" charset="-122"/>
                <a:ea typeface="微软雅黑" panose="020B0503020204020204" pitchFamily="34" charset="-122"/>
              </a:rPr>
              <a:t> → </a:t>
            </a:r>
            <a:r>
              <a:rPr lang="en-US" altLang="zh-CN" sz="2000" dirty="0" err="1">
                <a:solidFill>
                  <a:srgbClr val="0070C0"/>
                </a:solidFill>
                <a:latin typeface="微软雅黑" panose="020B0503020204020204" pitchFamily="34" charset="-122"/>
                <a:ea typeface="微软雅黑" panose="020B0503020204020204" pitchFamily="34" charset="-122"/>
              </a:rPr>
              <a:t>BBx</a:t>
            </a:r>
            <a:r>
              <a:rPr lang="zh-CN" altLang="en-US" sz="2000" dirty="0">
                <a:solidFill>
                  <a:srgbClr val="595959"/>
                </a:solidFill>
                <a:latin typeface="微软雅黑" panose="020B0503020204020204" pitchFamily="34" charset="-122"/>
                <a:ea typeface="微软雅黑" panose="020B0503020204020204" pitchFamily="34" charset="-122"/>
              </a:rPr>
              <a:t>；</a:t>
            </a:r>
          </a:p>
          <a:p>
            <a:pPr marL="1080000" indent="-342900" algn="just">
              <a:lnSpc>
                <a:spcPct val="150000"/>
              </a:lnSpc>
              <a:buFont typeface="Wingdings" panose="05000000000000000000" pitchFamily="2" charset="2"/>
              <a:buChar char="ü"/>
            </a:pPr>
            <a:r>
              <a:rPr lang="zh-CN" altLang="en-US" sz="2000" dirty="0">
                <a:solidFill>
                  <a:srgbClr val="595959"/>
                </a:solidFill>
                <a:latin typeface="微软雅黑" panose="020B0503020204020204" pitchFamily="34" charset="-122"/>
                <a:ea typeface="微软雅黑" panose="020B0503020204020204" pitchFamily="34" charset="-122"/>
              </a:rPr>
              <a:t>条件为 “</a:t>
            </a:r>
            <a:r>
              <a:rPr lang="zh-CN" altLang="en-US" sz="2000" dirty="0">
                <a:solidFill>
                  <a:srgbClr val="0070C0"/>
                </a:solidFill>
                <a:latin typeface="微软雅黑" panose="020B0503020204020204" pitchFamily="34" charset="-122"/>
                <a:ea typeface="微软雅黑" panose="020B0503020204020204" pitchFamily="34" charset="-122"/>
              </a:rPr>
              <a:t>假</a:t>
            </a:r>
            <a:r>
              <a:rPr lang="zh-CN" altLang="en-US" sz="2000" dirty="0">
                <a:solidFill>
                  <a:srgbClr val="595959"/>
                </a:solidFill>
                <a:latin typeface="微软雅黑" panose="020B0503020204020204" pitchFamily="34" charset="-122"/>
                <a:ea typeface="微软雅黑" panose="020B0503020204020204" pitchFamily="34" charset="-122"/>
              </a:rPr>
              <a:t>” 时，跳转到 </a:t>
            </a:r>
            <a:r>
              <a:rPr lang="en-US" altLang="zh-CN" sz="2000" dirty="0">
                <a:solidFill>
                  <a:srgbClr val="595959"/>
                </a:solidFill>
                <a:latin typeface="微软雅黑" panose="020B0503020204020204" pitchFamily="34" charset="-122"/>
                <a:ea typeface="微软雅黑" panose="020B0503020204020204" pitchFamily="34" charset="-122"/>
              </a:rPr>
              <a:t>Y </a:t>
            </a:r>
            <a:r>
              <a:rPr lang="zh-CN" altLang="en-US" sz="2000" dirty="0">
                <a:solidFill>
                  <a:srgbClr val="595959"/>
                </a:solidFill>
                <a:latin typeface="微软雅黑" panose="020B0503020204020204" pitchFamily="34" charset="-122"/>
                <a:ea typeface="微软雅黑" panose="020B0503020204020204" pitchFamily="34" charset="-122"/>
              </a:rPr>
              <a:t>对应的基本块 </a:t>
            </a:r>
            <a:r>
              <a:rPr lang="en-US" altLang="zh-CN" sz="2000" dirty="0" err="1">
                <a:solidFill>
                  <a:srgbClr val="595959"/>
                </a:solidFill>
                <a:latin typeface="微软雅黑" panose="020B0503020204020204" pitchFamily="34" charset="-122"/>
                <a:ea typeface="微软雅黑" panose="020B0503020204020204" pitchFamily="34" charset="-122"/>
              </a:rPr>
              <a:t>BBy</a:t>
            </a:r>
            <a:r>
              <a:rPr lang="zh-CN" altLang="en-US" sz="2000" dirty="0">
                <a:solidFill>
                  <a:srgbClr val="595959"/>
                </a:solidFill>
                <a:latin typeface="微软雅黑" panose="020B0503020204020204" pitchFamily="34" charset="-122"/>
                <a:ea typeface="微软雅黑" panose="020B0503020204020204" pitchFamily="34" charset="-122"/>
              </a:rPr>
              <a:t>（若 </a:t>
            </a:r>
            <a:r>
              <a:rPr lang="en-US" altLang="zh-CN" sz="2000" dirty="0">
                <a:solidFill>
                  <a:srgbClr val="595959"/>
                </a:solidFill>
                <a:latin typeface="微软雅黑" panose="020B0503020204020204" pitchFamily="34" charset="-122"/>
                <a:ea typeface="微软雅黑" panose="020B0503020204020204" pitchFamily="34" charset="-122"/>
              </a:rPr>
              <a:t>else </a:t>
            </a:r>
            <a:r>
              <a:rPr lang="zh-CN" altLang="en-US" sz="2000" dirty="0">
                <a:solidFill>
                  <a:srgbClr val="595959"/>
                </a:solidFill>
                <a:latin typeface="微软雅黑" panose="020B0503020204020204" pitchFamily="34" charset="-122"/>
                <a:ea typeface="微软雅黑" panose="020B0503020204020204" pitchFamily="34" charset="-122"/>
              </a:rPr>
              <a:t>为空，则跳转到 </a:t>
            </a:r>
            <a:r>
              <a:rPr lang="en-US" altLang="zh-CN" sz="2000" dirty="0" err="1">
                <a:solidFill>
                  <a:srgbClr val="595959"/>
                </a:solidFill>
                <a:latin typeface="微软雅黑" panose="020B0503020204020204" pitchFamily="34" charset="-122"/>
                <a:ea typeface="微软雅黑" panose="020B0503020204020204" pitchFamily="34" charset="-122"/>
              </a:rPr>
              <a:t>BBi</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的下一个基本块），添加边</a:t>
            </a:r>
            <a:r>
              <a:rPr lang="en-US" altLang="zh-CN" sz="2000" dirty="0" err="1">
                <a:solidFill>
                  <a:srgbClr val="0070C0"/>
                </a:solidFill>
                <a:latin typeface="微软雅黑" panose="020B0503020204020204" pitchFamily="34" charset="-122"/>
                <a:ea typeface="微软雅黑" panose="020B0503020204020204" pitchFamily="34" charset="-122"/>
              </a:rPr>
              <a:t>BBi</a:t>
            </a:r>
            <a:r>
              <a:rPr lang="en-US" altLang="zh-CN" sz="2000" dirty="0">
                <a:solidFill>
                  <a:srgbClr val="0070C0"/>
                </a:solidFill>
                <a:latin typeface="微软雅黑" panose="020B0503020204020204" pitchFamily="34" charset="-122"/>
                <a:ea typeface="微软雅黑" panose="020B0503020204020204" pitchFamily="34" charset="-122"/>
              </a:rPr>
              <a:t> → </a:t>
            </a:r>
            <a:r>
              <a:rPr lang="en-US" altLang="zh-CN" sz="2000" dirty="0" err="1">
                <a:solidFill>
                  <a:srgbClr val="0070C0"/>
                </a:solidFill>
                <a:latin typeface="微软雅黑" panose="020B0503020204020204" pitchFamily="34" charset="-122"/>
                <a:ea typeface="微软雅黑" panose="020B0503020204020204" pitchFamily="34" charset="-122"/>
              </a:rPr>
              <a:t>BBy</a:t>
            </a:r>
            <a:r>
              <a:rPr lang="zh-CN" altLang="en-US" sz="2000" dirty="0">
                <a:solidFill>
                  <a:srgbClr val="595959"/>
                </a:solidFill>
                <a:latin typeface="微软雅黑" panose="020B0503020204020204" pitchFamily="34" charset="-122"/>
                <a:ea typeface="微软雅黑" panose="020B0503020204020204" pitchFamily="34" charset="-122"/>
              </a:rPr>
              <a:t>。</a:t>
            </a:r>
          </a:p>
          <a:p>
            <a:pPr marL="720000" indent="-342900" algn="just">
              <a:lnSpc>
                <a:spcPct val="150000"/>
              </a:lnSpc>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rPr>
              <a:t>若 </a:t>
            </a:r>
            <a:r>
              <a:rPr lang="en-US" altLang="zh-CN" sz="2000" dirty="0" err="1">
                <a:solidFill>
                  <a:srgbClr val="595959"/>
                </a:solidFill>
                <a:latin typeface="微软雅黑" panose="020B0503020204020204" pitchFamily="34" charset="-122"/>
                <a:ea typeface="微软雅黑" panose="020B0503020204020204" pitchFamily="34" charset="-122"/>
              </a:rPr>
              <a:t>BBi</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的出口是</a:t>
            </a:r>
            <a:r>
              <a:rPr lang="en-US" altLang="zh-CN" sz="2000" dirty="0">
                <a:solidFill>
                  <a:srgbClr val="0070C0"/>
                </a:solidFill>
                <a:latin typeface="微软雅黑" panose="020B0503020204020204" pitchFamily="34" charset="-122"/>
                <a:ea typeface="微软雅黑" panose="020B0503020204020204" pitchFamily="34" charset="-122"/>
              </a:rPr>
              <a:t>return </a:t>
            </a:r>
            <a:r>
              <a:rPr lang="zh-CN" altLang="en-US" sz="2000" dirty="0">
                <a:solidFill>
                  <a:srgbClr val="0070C0"/>
                </a:solidFill>
                <a:latin typeface="微软雅黑" panose="020B0503020204020204" pitchFamily="34" charset="-122"/>
                <a:ea typeface="微软雅黑" panose="020B0503020204020204" pitchFamily="34" charset="-122"/>
              </a:rPr>
              <a:t>指令</a:t>
            </a:r>
            <a:r>
              <a:rPr lang="zh-CN" altLang="en-US" sz="2000" dirty="0">
                <a:solidFill>
                  <a:srgbClr val="595959"/>
                </a:solidFill>
                <a:latin typeface="微软雅黑" panose="020B0503020204020204" pitchFamily="34" charset="-122"/>
                <a:ea typeface="微软雅黑" panose="020B0503020204020204" pitchFamily="34" charset="-122"/>
              </a:rPr>
              <a:t>：添加边</a:t>
            </a:r>
            <a:r>
              <a:rPr lang="en-US" altLang="zh-CN" sz="2000" dirty="0" err="1">
                <a:solidFill>
                  <a:srgbClr val="0070C0"/>
                </a:solidFill>
                <a:latin typeface="微软雅黑" panose="020B0503020204020204" pitchFamily="34" charset="-122"/>
                <a:ea typeface="微软雅黑" panose="020B0503020204020204" pitchFamily="34" charset="-122"/>
              </a:rPr>
              <a:t>BBi</a:t>
            </a:r>
            <a:r>
              <a:rPr lang="en-US" altLang="zh-CN" sz="2000" dirty="0">
                <a:solidFill>
                  <a:srgbClr val="0070C0"/>
                </a:solidFill>
                <a:latin typeface="微软雅黑" panose="020B0503020204020204" pitchFamily="34" charset="-122"/>
                <a:ea typeface="微软雅黑" panose="020B0503020204020204" pitchFamily="34" charset="-122"/>
              </a:rPr>
              <a:t> → Exit</a:t>
            </a:r>
            <a:r>
              <a:rPr lang="zh-CN" altLang="en-US" sz="2000" dirty="0">
                <a:solidFill>
                  <a:srgbClr val="595959"/>
                </a:solidFill>
                <a:latin typeface="微软雅黑" panose="020B0503020204020204" pitchFamily="34" charset="-122"/>
                <a:ea typeface="微软雅黑" panose="020B0503020204020204" pitchFamily="34" charset="-122"/>
              </a:rPr>
              <a:t>（执行流终止）。</a:t>
            </a:r>
          </a:p>
          <a:p>
            <a:pPr marL="457200" indent="-457200" algn="just">
              <a:lnSpc>
                <a:spcPct val="150000"/>
              </a:lnSpc>
              <a:buFont typeface="+mj-lt"/>
              <a:buAutoNum type="arabicPeriod" startAt="3"/>
            </a:pPr>
            <a:r>
              <a:rPr lang="zh-CN" altLang="en-US" sz="2000" dirty="0">
                <a:solidFill>
                  <a:srgbClr val="595959"/>
                </a:solidFill>
                <a:latin typeface="微软雅黑" panose="020B0503020204020204" pitchFamily="34" charset="-122"/>
                <a:ea typeface="微软雅黑" panose="020B0503020204020204" pitchFamily="34" charset="-122"/>
              </a:rPr>
              <a:t>连接 </a:t>
            </a:r>
            <a:r>
              <a:rPr lang="en-US" altLang="zh-CN" sz="2000" dirty="0">
                <a:solidFill>
                  <a:srgbClr val="595959"/>
                </a:solidFill>
                <a:latin typeface="微软雅黑" panose="020B0503020204020204" pitchFamily="34" charset="-122"/>
                <a:ea typeface="微软雅黑" panose="020B0503020204020204" pitchFamily="34" charset="-122"/>
              </a:rPr>
              <a:t>Entry </a:t>
            </a:r>
            <a:r>
              <a:rPr lang="zh-CN" altLang="en-US" sz="2000" dirty="0">
                <a:solidFill>
                  <a:srgbClr val="595959"/>
                </a:solidFill>
                <a:latin typeface="微软雅黑" panose="020B0503020204020204" pitchFamily="34" charset="-122"/>
                <a:ea typeface="微软雅黑" panose="020B0503020204020204" pitchFamily="34" charset="-122"/>
              </a:rPr>
              <a:t>节点：添加边</a:t>
            </a:r>
            <a:r>
              <a:rPr lang="en-US" altLang="zh-CN" sz="2000" dirty="0">
                <a:solidFill>
                  <a:srgbClr val="0070C0"/>
                </a:solidFill>
                <a:latin typeface="微软雅黑" panose="020B0503020204020204" pitchFamily="34" charset="-122"/>
                <a:ea typeface="微软雅黑" panose="020B0503020204020204" pitchFamily="34" charset="-122"/>
              </a:rPr>
              <a:t>Entry → </a:t>
            </a:r>
            <a:r>
              <a:rPr lang="zh-CN" altLang="en-US" sz="2000" dirty="0">
                <a:solidFill>
                  <a:srgbClr val="0070C0"/>
                </a:solidFill>
                <a:latin typeface="微软雅黑" panose="020B0503020204020204" pitchFamily="34" charset="-122"/>
                <a:ea typeface="微软雅黑" panose="020B0503020204020204" pitchFamily="34" charset="-122"/>
              </a:rPr>
              <a:t>程序的第一个基本块</a:t>
            </a:r>
            <a:r>
              <a:rPr lang="zh-CN" altLang="en-US" sz="2000" dirty="0">
                <a:solidFill>
                  <a:srgbClr val="595959"/>
                </a:solidFill>
                <a:latin typeface="微软雅黑" panose="020B0503020204020204" pitchFamily="34" charset="-122"/>
                <a:ea typeface="微软雅黑" panose="020B0503020204020204" pitchFamily="34" charset="-122"/>
              </a:rPr>
              <a:t>（如</a:t>
            </a:r>
            <a:r>
              <a:rPr lang="en-US" altLang="zh-CN" sz="2000" dirty="0">
                <a:solidFill>
                  <a:srgbClr val="595959"/>
                </a:solidFill>
                <a:latin typeface="微软雅黑" panose="020B0503020204020204" pitchFamily="34" charset="-122"/>
                <a:ea typeface="微软雅黑" panose="020B0503020204020204" pitchFamily="34" charset="-122"/>
              </a:rPr>
              <a:t>BB1</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31" name="Title 1">
            <a:extLst>
              <a:ext uri="{FF2B5EF4-FFF2-40B4-BE49-F238E27FC236}">
                <a16:creationId xmlns:a16="http://schemas.microsoft.com/office/drawing/2014/main" id="{F5D4A636-84CA-4988-953B-D79592CB98F9}"/>
              </a:ext>
            </a:extLst>
          </p:cNvPr>
          <p:cNvSpPr txBox="1"/>
          <p:nvPr/>
        </p:nvSpPr>
        <p:spPr>
          <a:xfrm>
            <a:off x="1143690" y="266995"/>
            <a:ext cx="927151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控制流图的构建</a:t>
            </a:r>
          </a:p>
        </p:txBody>
      </p:sp>
    </p:spTree>
    <p:extLst>
      <p:ext uri="{BB962C8B-B14F-4D97-AF65-F5344CB8AC3E}">
        <p14:creationId xmlns:p14="http://schemas.microsoft.com/office/powerpoint/2010/main" val="3271240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1933199"/>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2853597"/>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19265" y="3784175"/>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1911020"/>
            <a:ext cx="5142331" cy="613062"/>
            <a:chOff x="4315150" y="953426"/>
            <a:chExt cx="3857250" cy="540057"/>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基本路径</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2836771"/>
            <a:ext cx="5142331" cy="613062"/>
            <a:chOff x="4315150" y="1647579"/>
            <a:chExt cx="3857250" cy="540057"/>
          </a:xfrm>
        </p:grpSpPr>
        <p:sp>
          <p:nvSpPr>
            <p:cNvPr id="64" name="矩形 63"/>
            <p:cNvSpPr/>
            <p:nvPr/>
          </p:nvSpPr>
          <p:spPr>
            <a:xfrm>
              <a:off x="4841196" y="1730243"/>
              <a:ext cx="2827147" cy="331154"/>
            </a:xfrm>
            <a:prstGeom prst="rect">
              <a:avLst/>
            </a:prstGeom>
            <a:ln w="15875">
              <a:noFill/>
            </a:ln>
          </p:spPr>
          <p:txBody>
            <a:bodyPr wrap="square" lIns="68580" tIns="34290" rIns="68580" bIns="34290">
              <a:spAutoFit/>
            </a:bodyPr>
            <a:lstStyle/>
            <a:p>
              <a:pPr algn="l">
                <a:buClrTx/>
                <a:buSzTx/>
                <a:buFontTx/>
              </a:pP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逻辑覆盖</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24817" y="3762522"/>
            <a:ext cx="5142331" cy="613062"/>
            <a:chOff x="4315150" y="2341731"/>
            <a:chExt cx="3857250" cy="540057"/>
          </a:xfrm>
        </p:grpSpPr>
        <p:sp>
          <p:nvSpPr>
            <p:cNvPr id="67" name="矩形 66"/>
            <p:cNvSpPr/>
            <p:nvPr/>
          </p:nvSpPr>
          <p:spPr>
            <a:xfrm>
              <a:off x="4841197" y="2424395"/>
              <a:ext cx="2827146" cy="331154"/>
            </a:xfrm>
            <a:prstGeom prst="rect">
              <a:avLst/>
            </a:prstGeom>
            <a:ln w="15875">
              <a:noFill/>
            </a:ln>
          </p:spPr>
          <p:txBody>
            <a:bodyPr wrap="square" lIns="68580" tIns="34290" rIns="68580" bIns="34290">
              <a:spAutoFit/>
            </a:bodyPr>
            <a:lstStyle/>
            <a:p>
              <a:pPr algn="l">
                <a:buClrTx/>
                <a:buSzTx/>
                <a:buFontTx/>
              </a:pP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程序插桩</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基本路径</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3.1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基本路径法的概述</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使用基本路径法设计测试用例</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3.1.1	基本路径法概述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701165"/>
            <a:ext cx="6289675" cy="289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0070C0"/>
                </a:solidFill>
                <a:latin typeface="微软雅黑" panose="020B0503020204020204" pitchFamily="34" charset="-122"/>
                <a:ea typeface="微软雅黑" panose="020B0503020204020204" pitchFamily="34" charset="-122"/>
              </a:rPr>
              <a:t>基本路径法</a:t>
            </a:r>
            <a:r>
              <a:rPr lang="zh-CN" altLang="en-US" sz="2000" dirty="0">
                <a:solidFill>
                  <a:srgbClr val="595959"/>
                </a:solidFill>
                <a:latin typeface="微软雅黑" panose="020B0503020204020204" pitchFamily="34" charset="-122"/>
                <a:ea typeface="微软雅黑" panose="020B0503020204020204" pitchFamily="34" charset="-122"/>
              </a:rPr>
              <a:t>是一种</a:t>
            </a:r>
            <a:r>
              <a:rPr lang="zh-CN" altLang="en-US" sz="2000" dirty="0">
                <a:solidFill>
                  <a:srgbClr val="0070C0"/>
                </a:solidFill>
                <a:latin typeface="微软雅黑" panose="020B0503020204020204" pitchFamily="34" charset="-122"/>
                <a:ea typeface="微软雅黑" panose="020B0503020204020204" pitchFamily="34" charset="-122"/>
              </a:rPr>
              <a:t>将程序的流程图转化为程序控制流图</a:t>
            </a:r>
            <a:r>
              <a:rPr lang="zh-CN" altLang="en-US" sz="2000" dirty="0">
                <a:solidFill>
                  <a:srgbClr val="595959"/>
                </a:solidFill>
                <a:latin typeface="微软雅黑" panose="020B0503020204020204" pitchFamily="34" charset="-122"/>
                <a:ea typeface="微软雅黑" panose="020B0503020204020204" pitchFamily="34" charset="-122"/>
              </a:rPr>
              <a:t>，并在程序控制流图的基础上，分析被测程序控制构造的环路复杂性，导出基本可执行路径集合，从而设计测试用例的方法。使用</a:t>
            </a:r>
            <a:r>
              <a:rPr lang="zh-CN" altLang="en-US" sz="2000" dirty="0">
                <a:solidFill>
                  <a:srgbClr val="0070C0"/>
                </a:solidFill>
                <a:latin typeface="微软雅黑" panose="020B0503020204020204" pitchFamily="34" charset="-122"/>
                <a:ea typeface="微软雅黑" panose="020B0503020204020204" pitchFamily="34" charset="-122"/>
              </a:rPr>
              <a:t>基本路径法设计的测试用例</a:t>
            </a:r>
            <a:r>
              <a:rPr lang="zh-CN" altLang="en-US" sz="2000" dirty="0">
                <a:solidFill>
                  <a:srgbClr val="595959"/>
                </a:solidFill>
                <a:latin typeface="微软雅黑" panose="020B0503020204020204" pitchFamily="34" charset="-122"/>
                <a:ea typeface="微软雅黑" panose="020B0503020204020204" pitchFamily="34" charset="-122"/>
              </a:rPr>
              <a:t>需要</a:t>
            </a:r>
            <a:r>
              <a:rPr lang="zh-CN" altLang="en-US" sz="2000" dirty="0">
                <a:solidFill>
                  <a:srgbClr val="0070C0"/>
                </a:solidFill>
                <a:latin typeface="微软雅黑" panose="020B0503020204020204" pitchFamily="34" charset="-122"/>
                <a:ea typeface="微软雅黑" panose="020B0503020204020204" pitchFamily="34" charset="-122"/>
              </a:rPr>
              <a:t>确保被测程序中的每个可执行语句至少被执行一次</a:t>
            </a:r>
            <a:r>
              <a:rPr lang="zh-CN" altLang="en-US" sz="20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3.1.1	基本路径法概述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3.1.1	基本路径法概述</a:t>
            </a:r>
          </a:p>
        </p:txBody>
      </p:sp>
      <p:cxnSp>
        <p:nvCxnSpPr>
          <p:cNvPr id="24" name="直接连接符 27"/>
          <p:cNvCxnSpPr/>
          <p:nvPr/>
        </p:nvCxnSpPr>
        <p:spPr>
          <a:xfrm>
            <a:off x="1789659" y="1486205"/>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1730420" y="2340236"/>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26" name="组合 25"/>
          <p:cNvGrpSpPr/>
          <p:nvPr/>
        </p:nvGrpSpPr>
        <p:grpSpPr>
          <a:xfrm>
            <a:off x="-2086" y="2141478"/>
            <a:ext cx="1697534" cy="515997"/>
            <a:chOff x="-2086" y="2141478"/>
            <a:chExt cx="1697534" cy="515997"/>
          </a:xfrm>
        </p:grpSpPr>
        <p:sp>
          <p:nvSpPr>
            <p:cNvPr id="28"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 name="文本框 1"/>
            <p:cNvSpPr txBox="1"/>
            <p:nvPr/>
          </p:nvSpPr>
          <p:spPr>
            <a:xfrm>
              <a:off x="-2086" y="2168643"/>
              <a:ext cx="1490650" cy="461665"/>
            </a:xfrm>
            <a:prstGeom prst="rect">
              <a:avLst/>
            </a:prstGeom>
            <a:noFill/>
          </p:spPr>
          <p:txBody>
            <a:bodyPr wrap="square" rtlCol="0">
              <a:spAutoFit/>
            </a:bodyPr>
            <a:lstStyle/>
            <a:p>
              <a:pPr algn="ctr"/>
              <a:r>
                <a:rPr lang="zh-CN" altLang="en-US" sz="2400" dirty="0">
                  <a:solidFill>
                    <a:schemeClr val="bg1"/>
                  </a:solidFill>
                  <a:latin typeface="+mn-ea"/>
                </a:rPr>
                <a:t>步骤</a:t>
              </a:r>
              <a:r>
                <a:rPr lang="en-US" altLang="zh-CN" sz="2400" dirty="0">
                  <a:solidFill>
                    <a:schemeClr val="bg1"/>
                  </a:solidFill>
                  <a:latin typeface="+mn-ea"/>
                </a:rPr>
                <a:t>1</a:t>
              </a:r>
              <a:endParaRPr lang="zh-CN" altLang="en-US" sz="2400" dirty="0">
                <a:solidFill>
                  <a:schemeClr val="bg1"/>
                </a:solidFill>
                <a:latin typeface="+mn-ea"/>
              </a:endParaRPr>
            </a:p>
          </p:txBody>
        </p:sp>
      </p:grpSp>
      <p:sp>
        <p:nvSpPr>
          <p:cNvPr id="3" name="文本框 2"/>
          <p:cNvSpPr txBox="1"/>
          <p:nvPr/>
        </p:nvSpPr>
        <p:spPr>
          <a:xfrm>
            <a:off x="0" y="3100583"/>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35" name="文本框 34"/>
          <p:cNvSpPr txBox="1"/>
          <p:nvPr/>
        </p:nvSpPr>
        <p:spPr>
          <a:xfrm>
            <a:off x="-2086" y="4005356"/>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36" name="文本框 35"/>
          <p:cNvSpPr txBox="1"/>
          <p:nvPr/>
        </p:nvSpPr>
        <p:spPr>
          <a:xfrm>
            <a:off x="-10973" y="4910130"/>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4</a:t>
            </a:r>
            <a:endParaRPr lang="zh-CN" altLang="en-US" sz="2400" dirty="0">
              <a:latin typeface="+mn-ea"/>
            </a:endParaRPr>
          </a:p>
        </p:txBody>
      </p:sp>
      <p:sp>
        <p:nvSpPr>
          <p:cNvPr id="37" name="椭圆 36"/>
          <p:cNvSpPr/>
          <p:nvPr/>
        </p:nvSpPr>
        <p:spPr>
          <a:xfrm>
            <a:off x="1730420" y="3310523"/>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8" name="椭圆 37"/>
          <p:cNvSpPr/>
          <p:nvPr/>
        </p:nvSpPr>
        <p:spPr>
          <a:xfrm>
            <a:off x="1730420" y="4221571"/>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9" name="椭圆 38"/>
          <p:cNvSpPr/>
          <p:nvPr/>
        </p:nvSpPr>
        <p:spPr>
          <a:xfrm>
            <a:off x="1739806" y="5132619"/>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7" name="1"/>
          <p:cNvSpPr txBox="1"/>
          <p:nvPr>
            <p:custDataLst>
              <p:tags r:id="rId1"/>
            </p:custDataLst>
          </p:nvPr>
        </p:nvSpPr>
        <p:spPr>
          <a:xfrm>
            <a:off x="767080" y="837565"/>
            <a:ext cx="5267960" cy="398780"/>
          </a:xfrm>
          <a:prstGeom prst="rect">
            <a:avLst/>
          </a:prstGeom>
          <a:noFill/>
          <a:ln>
            <a:no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sz="20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使用基本路径法</a:t>
            </a:r>
            <a:r>
              <a:rPr kumimoji="0" lang="zh-CN" altLang="en-US" sz="20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设计测试用例的4个步骤</a:t>
            </a:r>
          </a:p>
        </p:txBody>
      </p:sp>
      <p:sp>
        <p:nvSpPr>
          <p:cNvPr id="4" name="文本框 3"/>
          <p:cNvSpPr txBox="1"/>
          <p:nvPr/>
        </p:nvSpPr>
        <p:spPr>
          <a:xfrm>
            <a:off x="2783205" y="2277745"/>
            <a:ext cx="6751320" cy="398780"/>
          </a:xfrm>
          <a:prstGeom prst="rect">
            <a:avLst/>
          </a:prstGeom>
          <a:noFill/>
        </p:spPr>
        <p:txBody>
          <a:bodyPr wrap="square" rtlCol="0" anchor="t">
            <a:spAutoFit/>
          </a:bodyPr>
          <a:lstStyle/>
          <a:p>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首先需要</a:t>
            </a:r>
            <a:r>
              <a:rPr lang="zh-CN" altLang="en-US" sz="2000" dirty="0">
                <a:solidFill>
                  <a:srgbClr val="0070C0"/>
                </a:solidFill>
                <a:latin typeface="微软雅黑" panose="020B0503020204020204" pitchFamily="34" charset="-122"/>
                <a:ea typeface="微软雅黑" panose="020B0503020204020204" pitchFamily="34" charset="-122"/>
              </a:rPr>
              <a:t>分析</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被测程序的</a:t>
            </a:r>
            <a:r>
              <a:rPr lang="zh-CN" altLang="en-US" sz="2000" dirty="0">
                <a:solidFill>
                  <a:srgbClr val="0070C0"/>
                </a:solidFill>
                <a:latin typeface="微软雅黑" panose="020B0503020204020204" pitchFamily="34" charset="-122"/>
                <a:ea typeface="微软雅黑" panose="020B0503020204020204" pitchFamily="34" charset="-122"/>
              </a:rPr>
              <a:t>源代码</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，并</a:t>
            </a:r>
            <a:r>
              <a:rPr lang="zh-CN" altLang="en-US" sz="2000" dirty="0">
                <a:solidFill>
                  <a:srgbClr val="0070C0"/>
                </a:solidFill>
                <a:latin typeface="微软雅黑" panose="020B0503020204020204" pitchFamily="34" charset="-122"/>
                <a:ea typeface="微软雅黑" panose="020B0503020204020204" pitchFamily="34" charset="-122"/>
              </a:rPr>
              <a:t>画出程序的流程图</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a:t>
            </a:r>
          </a:p>
        </p:txBody>
      </p:sp>
      <p:pic>
        <p:nvPicPr>
          <p:cNvPr id="16" name="Picture 2" descr="C:\Users\Administrator\Desktop\ppt展示模板-8.png"/>
          <p:cNvPicPr>
            <a:picLocks noChangeAspect="1" noChangeArrowheads="1"/>
          </p:cNvPicPr>
          <p:nvPr/>
        </p:nvPicPr>
        <p:blipFill>
          <a:blip r:embed="rId5"/>
          <a:srcRect/>
          <a:stretch>
            <a:fillRect/>
          </a:stretch>
        </p:blipFill>
        <p:spPr bwMode="auto">
          <a:xfrm>
            <a:off x="3629129" y="3100557"/>
            <a:ext cx="5059808" cy="3044254"/>
          </a:xfrm>
          <a:prstGeom prst="rect">
            <a:avLst/>
          </a:prstGeom>
          <a:noFill/>
          <a:extLst>
            <a:ext uri="{909E8E84-426E-40DD-AFC4-6F175D3DCCD1}">
              <a14:hiddenFill xmlns:a14="http://schemas.microsoft.com/office/drawing/2010/main">
                <a:solidFill>
                  <a:srgbClr val="FFFFFF"/>
                </a:solidFill>
              </a14:hiddenFill>
            </a:ext>
          </a:extLst>
        </p:spPr>
      </p:pic>
      <p:sp>
        <p:nvSpPr>
          <p:cNvPr id="17" name="矩形 16"/>
          <p:cNvSpPr/>
          <p:nvPr/>
        </p:nvSpPr>
        <p:spPr>
          <a:xfrm>
            <a:off x="4322123" y="3476697"/>
            <a:ext cx="3665189" cy="2112881"/>
          </a:xfrm>
          <a:prstGeom prst="rect">
            <a:avLst/>
          </a:prstGeom>
          <a:blipFill>
            <a:blip r:embed="rId6"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6" name="1"/>
          <p:cNvSpPr txBox="1"/>
          <p:nvPr>
            <p:custDataLst>
              <p:tags r:id="rId2"/>
            </p:custDataLst>
          </p:nvPr>
        </p:nvSpPr>
        <p:spPr>
          <a:xfrm>
            <a:off x="5839673" y="1153863"/>
            <a:ext cx="1761066" cy="460375"/>
          </a:xfrm>
          <a:prstGeom prst="rect">
            <a:avLst/>
          </a:prstGeom>
          <a:noFill/>
          <a:ln>
            <a:no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画出流程图</a:t>
            </a:r>
          </a:p>
        </p:txBody>
      </p:sp>
      <p:grpSp>
        <p:nvGrpSpPr>
          <p:cNvPr id="7" name="组合 6"/>
          <p:cNvGrpSpPr/>
          <p:nvPr/>
        </p:nvGrpSpPr>
        <p:grpSpPr>
          <a:xfrm>
            <a:off x="5895341" y="1614449"/>
            <a:ext cx="1654387" cy="45722"/>
            <a:chOff x="5367867" y="3100583"/>
            <a:chExt cx="1654387" cy="45722"/>
          </a:xfrm>
        </p:grpSpPr>
        <p:cxnSp>
          <p:nvCxnSpPr>
            <p:cNvPr id="8" name="直线连接符 8"/>
            <p:cNvCxnSpPr/>
            <p:nvPr/>
          </p:nvCxnSpPr>
          <p:spPr>
            <a:xfrm>
              <a:off x="5413586" y="3123298"/>
              <a:ext cx="15578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6976535" y="3100586"/>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3.1.1	基本路径法概述</a:t>
            </a:r>
          </a:p>
        </p:txBody>
      </p:sp>
      <p:cxnSp>
        <p:nvCxnSpPr>
          <p:cNvPr id="24" name="直接连接符 27"/>
          <p:cNvCxnSpPr/>
          <p:nvPr/>
        </p:nvCxnSpPr>
        <p:spPr>
          <a:xfrm>
            <a:off x="1789659" y="1486205"/>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1730420" y="2340236"/>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26" name="组合 25"/>
          <p:cNvGrpSpPr/>
          <p:nvPr/>
        </p:nvGrpSpPr>
        <p:grpSpPr>
          <a:xfrm>
            <a:off x="-181" y="3111758"/>
            <a:ext cx="1697534" cy="515997"/>
            <a:chOff x="-2086" y="2141478"/>
            <a:chExt cx="1697534" cy="515997"/>
          </a:xfrm>
        </p:grpSpPr>
        <p:sp>
          <p:nvSpPr>
            <p:cNvPr id="28"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 name="文本框 1"/>
            <p:cNvSpPr txBox="1"/>
            <p:nvPr/>
          </p:nvSpPr>
          <p:spPr>
            <a:xfrm>
              <a:off x="-2086" y="2168643"/>
              <a:ext cx="1490650" cy="460375"/>
            </a:xfrm>
            <a:prstGeom prst="rect">
              <a:avLst/>
            </a:prstGeom>
            <a:noFill/>
          </p:spPr>
          <p:txBody>
            <a:bodyPr wrap="square" rtlCol="0">
              <a:spAutoFit/>
            </a:bodyPr>
            <a:lstStyle/>
            <a:p>
              <a:pPr algn="ctr"/>
              <a:r>
                <a:rPr lang="zh-CN" altLang="en-US" sz="2400" dirty="0">
                  <a:solidFill>
                    <a:schemeClr val="bg1"/>
                  </a:solidFill>
                  <a:latin typeface="+mn-ea"/>
                </a:rPr>
                <a:t>步骤</a:t>
              </a:r>
              <a:r>
                <a:rPr lang="en-US" altLang="zh-CN" sz="2400" dirty="0">
                  <a:solidFill>
                    <a:schemeClr val="bg1"/>
                  </a:solidFill>
                  <a:latin typeface="+mn-ea"/>
                </a:rPr>
                <a:t>2</a:t>
              </a:r>
            </a:p>
          </p:txBody>
        </p:sp>
      </p:grpSp>
      <p:sp>
        <p:nvSpPr>
          <p:cNvPr id="3" name="文本框 2"/>
          <p:cNvSpPr txBox="1"/>
          <p:nvPr/>
        </p:nvSpPr>
        <p:spPr>
          <a:xfrm>
            <a:off x="0" y="2185548"/>
            <a:ext cx="1626833" cy="46037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35" name="文本框 34"/>
          <p:cNvSpPr txBox="1"/>
          <p:nvPr/>
        </p:nvSpPr>
        <p:spPr>
          <a:xfrm>
            <a:off x="-2086" y="4005356"/>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36" name="文本框 35"/>
          <p:cNvSpPr txBox="1"/>
          <p:nvPr/>
        </p:nvSpPr>
        <p:spPr>
          <a:xfrm>
            <a:off x="-10973" y="4910130"/>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4</a:t>
            </a:r>
            <a:endParaRPr lang="zh-CN" altLang="en-US" sz="2400" dirty="0">
              <a:latin typeface="+mn-ea"/>
            </a:endParaRPr>
          </a:p>
        </p:txBody>
      </p:sp>
      <p:sp>
        <p:nvSpPr>
          <p:cNvPr id="37" name="椭圆 36"/>
          <p:cNvSpPr/>
          <p:nvPr/>
        </p:nvSpPr>
        <p:spPr>
          <a:xfrm>
            <a:off x="1730420" y="3310523"/>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8" name="椭圆 37"/>
          <p:cNvSpPr/>
          <p:nvPr/>
        </p:nvSpPr>
        <p:spPr>
          <a:xfrm>
            <a:off x="1730420" y="4221571"/>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9" name="椭圆 38"/>
          <p:cNvSpPr/>
          <p:nvPr/>
        </p:nvSpPr>
        <p:spPr>
          <a:xfrm>
            <a:off x="1739806" y="5132619"/>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 name="文本框 3"/>
          <p:cNvSpPr txBox="1"/>
          <p:nvPr/>
        </p:nvSpPr>
        <p:spPr>
          <a:xfrm>
            <a:off x="2423159" y="1874520"/>
            <a:ext cx="8424043" cy="1753235"/>
          </a:xfrm>
          <a:prstGeom prst="rect">
            <a:avLst/>
          </a:prstGeom>
          <a:noFill/>
        </p:spPr>
        <p:txBody>
          <a:bodyPr wrap="square" rtlCol="0" anchor="t">
            <a:spAutoFit/>
          </a:bodyPr>
          <a:lstStyle/>
          <a:p>
            <a:pPr indent="457200">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控制流图是描述程序控制流的一种图示方法。控制流图可以由程序流程图转化而来。如果测试的源程序代码简洁，也可以直接</a:t>
            </a:r>
            <a:r>
              <a:rPr lang="zh-CN" altLang="en-US" sz="1800" dirty="0">
                <a:solidFill>
                  <a:srgbClr val="0070C0"/>
                </a:solidFill>
                <a:latin typeface="微软雅黑" panose="020B0503020204020204" pitchFamily="34" charset="-122"/>
                <a:ea typeface="微软雅黑" panose="020B0503020204020204" pitchFamily="34" charset="-122"/>
              </a:rPr>
              <a:t>通过分析源程序代码画出控制流图</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。在画程序的控制流图时，使用</a:t>
            </a:r>
            <a:r>
              <a:rPr lang="zh-CN" altLang="en-US" sz="1800" dirty="0">
                <a:solidFill>
                  <a:srgbClr val="0070C0"/>
                </a:solidFill>
                <a:latin typeface="微软雅黑" panose="020B0503020204020204" pitchFamily="34" charset="-122"/>
                <a:ea typeface="微软雅黑" panose="020B0503020204020204" pitchFamily="34" charset="-122"/>
              </a:rPr>
              <a:t>圆圈</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表示</a:t>
            </a:r>
            <a:r>
              <a:rPr lang="zh-CN" altLang="en-US" sz="1800" dirty="0">
                <a:solidFill>
                  <a:srgbClr val="0070C0"/>
                </a:solidFill>
                <a:latin typeface="微软雅黑" panose="020B0503020204020204" pitchFamily="34" charset="-122"/>
                <a:ea typeface="微软雅黑" panose="020B0503020204020204" pitchFamily="34" charset="-122"/>
              </a:rPr>
              <a:t>一条或多条无分支的语句（程序块）</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；使用</a:t>
            </a:r>
            <a:r>
              <a:rPr lang="zh-CN" altLang="en-US" sz="1800" dirty="0">
                <a:solidFill>
                  <a:srgbClr val="0070C0"/>
                </a:solidFill>
                <a:latin typeface="微软雅黑" panose="020B0503020204020204" pitchFamily="34" charset="-122"/>
                <a:ea typeface="微软雅黑" panose="020B0503020204020204" pitchFamily="34" charset="-122"/>
              </a:rPr>
              <a:t>箭头</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表示</a:t>
            </a:r>
            <a:r>
              <a:rPr lang="zh-CN" altLang="en-US" sz="1800" dirty="0">
                <a:solidFill>
                  <a:srgbClr val="0070C0"/>
                </a:solidFill>
                <a:latin typeface="微软雅黑" panose="020B0503020204020204" pitchFamily="34" charset="-122"/>
                <a:ea typeface="微软雅黑" panose="020B0503020204020204" pitchFamily="34" charset="-122"/>
              </a:rPr>
              <a:t>控制流方向</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。程序中常见的控制流图如下图所示。</a:t>
            </a:r>
          </a:p>
        </p:txBody>
      </p:sp>
      <p:sp>
        <p:nvSpPr>
          <p:cNvPr id="6" name="1"/>
          <p:cNvSpPr txBox="1"/>
          <p:nvPr>
            <p:custDataLst>
              <p:tags r:id="rId1"/>
            </p:custDataLst>
          </p:nvPr>
        </p:nvSpPr>
        <p:spPr>
          <a:xfrm>
            <a:off x="5742940" y="1125220"/>
            <a:ext cx="2015490" cy="460375"/>
          </a:xfrm>
          <a:prstGeom prst="rect">
            <a:avLst/>
          </a:prstGeom>
          <a:noFill/>
          <a:ln>
            <a:no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画出控制流图</a:t>
            </a:r>
          </a:p>
        </p:txBody>
      </p:sp>
      <p:grpSp>
        <p:nvGrpSpPr>
          <p:cNvPr id="7" name="组合 6"/>
          <p:cNvGrpSpPr/>
          <p:nvPr/>
        </p:nvGrpSpPr>
        <p:grpSpPr>
          <a:xfrm>
            <a:off x="5895341" y="1614449"/>
            <a:ext cx="1654387" cy="45722"/>
            <a:chOff x="5367867" y="3100583"/>
            <a:chExt cx="1654387" cy="45722"/>
          </a:xfrm>
        </p:grpSpPr>
        <p:cxnSp>
          <p:nvCxnSpPr>
            <p:cNvPr id="8" name="直线连接符 8"/>
            <p:cNvCxnSpPr/>
            <p:nvPr/>
          </p:nvCxnSpPr>
          <p:spPr>
            <a:xfrm>
              <a:off x="5413586" y="3123298"/>
              <a:ext cx="15578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6976535" y="3100586"/>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5" name="图片 4" descr="555"/>
          <p:cNvPicPr>
            <a:picLocks noChangeAspect="1"/>
          </p:cNvPicPr>
          <p:nvPr/>
        </p:nvPicPr>
        <p:blipFill>
          <a:blip r:embed="rId4"/>
          <a:stretch>
            <a:fillRect/>
          </a:stretch>
        </p:blipFill>
        <p:spPr>
          <a:xfrm>
            <a:off x="3790950" y="3688715"/>
            <a:ext cx="5168900" cy="300545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3.1.1	基本路径法概述</a:t>
            </a:r>
          </a:p>
        </p:txBody>
      </p:sp>
      <p:cxnSp>
        <p:nvCxnSpPr>
          <p:cNvPr id="24" name="直接连接符 27"/>
          <p:cNvCxnSpPr/>
          <p:nvPr/>
        </p:nvCxnSpPr>
        <p:spPr>
          <a:xfrm>
            <a:off x="1789659" y="1486205"/>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1730420" y="2340236"/>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26" name="组合 25"/>
          <p:cNvGrpSpPr/>
          <p:nvPr/>
        </p:nvGrpSpPr>
        <p:grpSpPr>
          <a:xfrm>
            <a:off x="-181" y="4031873"/>
            <a:ext cx="1697534" cy="515997"/>
            <a:chOff x="-2086" y="2141478"/>
            <a:chExt cx="1697534" cy="515997"/>
          </a:xfrm>
        </p:grpSpPr>
        <p:sp>
          <p:nvSpPr>
            <p:cNvPr id="28"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 name="文本框 1"/>
            <p:cNvSpPr txBox="1"/>
            <p:nvPr/>
          </p:nvSpPr>
          <p:spPr>
            <a:xfrm>
              <a:off x="-2086" y="2168643"/>
              <a:ext cx="1490650" cy="460375"/>
            </a:xfrm>
            <a:prstGeom prst="rect">
              <a:avLst/>
            </a:prstGeom>
            <a:noFill/>
          </p:spPr>
          <p:txBody>
            <a:bodyPr wrap="square" rtlCol="0">
              <a:spAutoFit/>
            </a:bodyPr>
            <a:lstStyle/>
            <a:p>
              <a:pPr algn="ctr"/>
              <a:r>
                <a:rPr lang="zh-CN" altLang="en-US" sz="2400" dirty="0">
                  <a:solidFill>
                    <a:schemeClr val="bg1"/>
                  </a:solidFill>
                  <a:latin typeface="+mn-ea"/>
                </a:rPr>
                <a:t>步骤</a:t>
              </a:r>
              <a:r>
                <a:rPr lang="en-US" altLang="zh-CN" sz="2400" dirty="0">
                  <a:solidFill>
                    <a:schemeClr val="bg1"/>
                  </a:solidFill>
                  <a:latin typeface="+mn-ea"/>
                </a:rPr>
                <a:t>3</a:t>
              </a:r>
            </a:p>
          </p:txBody>
        </p:sp>
      </p:grpSp>
      <p:sp>
        <p:nvSpPr>
          <p:cNvPr id="3" name="文本框 2"/>
          <p:cNvSpPr txBox="1"/>
          <p:nvPr/>
        </p:nvSpPr>
        <p:spPr>
          <a:xfrm>
            <a:off x="0" y="2185548"/>
            <a:ext cx="1626833" cy="46037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35" name="文本框 34"/>
          <p:cNvSpPr txBox="1"/>
          <p:nvPr/>
        </p:nvSpPr>
        <p:spPr>
          <a:xfrm>
            <a:off x="-81461" y="3130326"/>
            <a:ext cx="1626833" cy="46037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36" name="文本框 35"/>
          <p:cNvSpPr txBox="1"/>
          <p:nvPr/>
        </p:nvSpPr>
        <p:spPr>
          <a:xfrm>
            <a:off x="-10973" y="4910130"/>
            <a:ext cx="1626833" cy="46166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4</a:t>
            </a:r>
            <a:endParaRPr lang="zh-CN" altLang="en-US" sz="2400" dirty="0">
              <a:latin typeface="+mn-ea"/>
            </a:endParaRPr>
          </a:p>
        </p:txBody>
      </p:sp>
      <p:sp>
        <p:nvSpPr>
          <p:cNvPr id="37" name="椭圆 36"/>
          <p:cNvSpPr/>
          <p:nvPr/>
        </p:nvSpPr>
        <p:spPr>
          <a:xfrm>
            <a:off x="1730420" y="3310523"/>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8" name="椭圆 37"/>
          <p:cNvSpPr/>
          <p:nvPr/>
        </p:nvSpPr>
        <p:spPr>
          <a:xfrm>
            <a:off x="1730420" y="4221571"/>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9" name="椭圆 38"/>
          <p:cNvSpPr/>
          <p:nvPr/>
        </p:nvSpPr>
        <p:spPr>
          <a:xfrm>
            <a:off x="1739806" y="5132619"/>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 name="文本框 3"/>
          <p:cNvSpPr txBox="1"/>
          <p:nvPr/>
        </p:nvSpPr>
        <p:spPr>
          <a:xfrm>
            <a:off x="2423160" y="1874520"/>
            <a:ext cx="8228330" cy="3415030"/>
          </a:xfrm>
          <a:prstGeom prst="rect">
            <a:avLst/>
          </a:prstGeom>
          <a:noFill/>
        </p:spPr>
        <p:txBody>
          <a:bodyPr wrap="square" rtlCol="0" anchor="t">
            <a:spAutoFit/>
          </a:bodyPr>
          <a:lstStyle/>
          <a:p>
            <a:pPr>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计算程序圈复杂度的方法有3种，</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具体如下。</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l"/>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使用公式计算：</a:t>
            </a:r>
            <a:r>
              <a:rPr lang="zh-CN" altLang="en-US" sz="1800" dirty="0">
                <a:solidFill>
                  <a:srgbClr val="0070C0"/>
                </a:solidFill>
                <a:latin typeface="微软雅黑" panose="020B0503020204020204" pitchFamily="34" charset="-122"/>
                <a:ea typeface="微软雅黑" panose="020B0503020204020204" pitchFamily="34" charset="-122"/>
              </a:rPr>
              <a:t>V(G)=E-N+2</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，其中V(G)表示程序的圈复杂度，E表示控制流图中边的数量，N表示控制流图中节点的数量。</a:t>
            </a:r>
          </a:p>
          <a:p>
            <a:pPr marL="285750" indent="-285750" algn="l">
              <a:lnSpc>
                <a:spcPct val="150000"/>
              </a:lnSpc>
              <a:buClrTx/>
              <a:buSzTx/>
              <a:buFont typeface="Wingdings" panose="05000000000000000000" charset="0"/>
              <a:buChar char="l"/>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使用公式计算：</a:t>
            </a:r>
            <a:r>
              <a:rPr lang="zh-CN" altLang="en-US" sz="1800" dirty="0">
                <a:solidFill>
                  <a:srgbClr val="0070C0"/>
                </a:solidFill>
                <a:latin typeface="微软雅黑" panose="020B0503020204020204" pitchFamily="34" charset="-122"/>
                <a:ea typeface="微软雅黑" panose="020B0503020204020204" pitchFamily="34" charset="-122"/>
              </a:rPr>
              <a:t>V(G)=P+1</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，P表示控制流图中判定节点的数量。</a:t>
            </a:r>
          </a:p>
          <a:p>
            <a:pPr marL="285750" indent="-285750" algn="l">
              <a:lnSpc>
                <a:spcPct val="150000"/>
              </a:lnSpc>
              <a:buClrTx/>
              <a:buSzTx/>
              <a:buFont typeface="Wingdings" panose="05000000000000000000" charset="0"/>
              <a:buChar char="l"/>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程序的</a:t>
            </a:r>
            <a:r>
              <a:rPr lang="zh-CN" altLang="en-US" sz="1800" dirty="0">
                <a:solidFill>
                  <a:srgbClr val="0070C0"/>
                </a:solidFill>
                <a:latin typeface="微软雅黑" panose="020B0503020204020204" pitchFamily="34" charset="-122"/>
                <a:ea typeface="微软雅黑" panose="020B0503020204020204" pitchFamily="34" charset="-122"/>
              </a:rPr>
              <a:t>圈复杂度数</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量</a:t>
            </a:r>
            <a:r>
              <a:rPr lang="zh-CN" altLang="en-US" sz="1800" dirty="0">
                <a:solidFill>
                  <a:srgbClr val="0070C0"/>
                </a:solidFill>
                <a:latin typeface="微软雅黑" panose="020B0503020204020204" pitchFamily="34" charset="-122"/>
                <a:ea typeface="微软雅黑" panose="020B0503020204020204" pitchFamily="34" charset="-122"/>
              </a:rPr>
              <a:t>等于</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控制流图中的</a:t>
            </a:r>
            <a:r>
              <a:rPr lang="zh-CN" altLang="en-US" sz="1800" dirty="0">
                <a:solidFill>
                  <a:srgbClr val="0070C0"/>
                </a:solidFill>
                <a:latin typeface="微软雅黑" panose="020B0503020204020204" pitchFamily="34" charset="-122"/>
                <a:ea typeface="微软雅黑" panose="020B0503020204020204" pitchFamily="34" charset="-122"/>
              </a:rPr>
              <a:t>区域数量</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indent="0" algn="l">
              <a:lnSpc>
                <a:spcPct val="150000"/>
              </a:lnSpc>
              <a:buClrTx/>
              <a:buSzTx/>
              <a:buFont typeface="Wingdings" panose="05000000000000000000" charset="0"/>
              <a:buNone/>
            </a:pPr>
            <a:endParaRPr lang="zh-CN" altLang="en-US" sz="1800" dirty="0">
              <a:latin typeface="微软雅黑" panose="020B0503020204020204" pitchFamily="34" charset="-122"/>
              <a:ea typeface="微软雅黑" panose="020B0503020204020204" pitchFamily="34" charset="-122"/>
            </a:endParaRPr>
          </a:p>
          <a:p>
            <a:pPr indent="0" algn="l">
              <a:lnSpc>
                <a:spcPct val="150000"/>
              </a:lnSpc>
              <a:buClrTx/>
              <a:buSzTx/>
              <a:buFont typeface="Wingdings" panose="05000000000000000000" charset="0"/>
              <a:buNone/>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为了演示上述介绍的3种方法，假设</a:t>
            </a:r>
            <a:r>
              <a:rPr lang="zh-CN" altLang="en-US" sz="1800" dirty="0">
                <a:solidFill>
                  <a:srgbClr val="0070C0"/>
                </a:solidFill>
                <a:latin typeface="微软雅黑" panose="020B0503020204020204" pitchFamily="34" charset="-122"/>
                <a:ea typeface="微软雅黑" panose="020B0503020204020204" pitchFamily="34" charset="-122"/>
              </a:rPr>
              <a:t>某程序的</a:t>
            </a:r>
          </a:p>
          <a:p>
            <a:pPr indent="0" algn="l">
              <a:lnSpc>
                <a:spcPct val="150000"/>
              </a:lnSpc>
              <a:buClrTx/>
              <a:buSzTx/>
              <a:buFont typeface="Wingdings" panose="05000000000000000000" charset="0"/>
              <a:buNone/>
            </a:pPr>
            <a:r>
              <a:rPr lang="zh-CN" altLang="en-US" sz="1800" dirty="0">
                <a:solidFill>
                  <a:srgbClr val="0070C0"/>
                </a:solidFill>
                <a:latin typeface="微软雅黑" panose="020B0503020204020204" pitchFamily="34" charset="-122"/>
                <a:ea typeface="微软雅黑" panose="020B0503020204020204" pitchFamily="34" charset="-122"/>
              </a:rPr>
              <a:t>控制流图</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如右图所示。</a:t>
            </a:r>
          </a:p>
        </p:txBody>
      </p:sp>
      <p:sp>
        <p:nvSpPr>
          <p:cNvPr id="6" name="1"/>
          <p:cNvSpPr txBox="1"/>
          <p:nvPr>
            <p:custDataLst>
              <p:tags r:id="rId1"/>
            </p:custDataLst>
          </p:nvPr>
        </p:nvSpPr>
        <p:spPr>
          <a:xfrm>
            <a:off x="5231130" y="1125220"/>
            <a:ext cx="3088640" cy="460375"/>
          </a:xfrm>
          <a:prstGeom prst="rect">
            <a:avLst/>
          </a:prstGeom>
          <a:noFill/>
          <a:ln>
            <a:no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计算程序的圈复杂度</a:t>
            </a:r>
          </a:p>
        </p:txBody>
      </p:sp>
      <p:grpSp>
        <p:nvGrpSpPr>
          <p:cNvPr id="7" name="组合 6"/>
          <p:cNvGrpSpPr/>
          <p:nvPr/>
        </p:nvGrpSpPr>
        <p:grpSpPr>
          <a:xfrm>
            <a:off x="5895341" y="1614449"/>
            <a:ext cx="1654387" cy="45722"/>
            <a:chOff x="5367867" y="3100583"/>
            <a:chExt cx="1654387" cy="45722"/>
          </a:xfrm>
        </p:grpSpPr>
        <p:cxnSp>
          <p:nvCxnSpPr>
            <p:cNvPr id="8" name="直线连接符 8"/>
            <p:cNvCxnSpPr/>
            <p:nvPr/>
          </p:nvCxnSpPr>
          <p:spPr>
            <a:xfrm>
              <a:off x="5413586" y="3123298"/>
              <a:ext cx="15578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6976535" y="3100586"/>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0" name="图片 9" descr="666"/>
          <p:cNvPicPr>
            <a:picLocks noChangeAspect="1"/>
          </p:cNvPicPr>
          <p:nvPr/>
        </p:nvPicPr>
        <p:blipFill>
          <a:blip r:embed="rId4"/>
          <a:stretch>
            <a:fillRect/>
          </a:stretch>
        </p:blipFill>
        <p:spPr>
          <a:xfrm>
            <a:off x="7894955" y="3590925"/>
            <a:ext cx="3091815" cy="31153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3.1.1	基本路径法概述</a:t>
            </a:r>
          </a:p>
        </p:txBody>
      </p:sp>
      <p:cxnSp>
        <p:nvCxnSpPr>
          <p:cNvPr id="24" name="直接连接符 27"/>
          <p:cNvCxnSpPr/>
          <p:nvPr/>
        </p:nvCxnSpPr>
        <p:spPr>
          <a:xfrm>
            <a:off x="1789659" y="1486205"/>
            <a:ext cx="0" cy="4573454"/>
          </a:xfrm>
          <a:prstGeom prst="line">
            <a:avLst/>
          </a:prstGeom>
          <a:ln w="15875">
            <a:solidFill>
              <a:srgbClr val="414146"/>
            </a:solidFill>
            <a:prstDash val="dashDot"/>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1730420" y="2340236"/>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26" name="组合 25"/>
          <p:cNvGrpSpPr/>
          <p:nvPr/>
        </p:nvGrpSpPr>
        <p:grpSpPr>
          <a:xfrm>
            <a:off x="-181" y="4934843"/>
            <a:ext cx="1697534" cy="515997"/>
            <a:chOff x="-2086" y="2141478"/>
            <a:chExt cx="1697534" cy="515997"/>
          </a:xfrm>
        </p:grpSpPr>
        <p:sp>
          <p:nvSpPr>
            <p:cNvPr id="28" name="箭头: 五边形 31"/>
            <p:cNvSpPr/>
            <p:nvPr/>
          </p:nvSpPr>
          <p:spPr>
            <a:xfrm>
              <a:off x="57150" y="2141478"/>
              <a:ext cx="1638298" cy="515997"/>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 name="文本框 1"/>
            <p:cNvSpPr txBox="1"/>
            <p:nvPr/>
          </p:nvSpPr>
          <p:spPr>
            <a:xfrm>
              <a:off x="-2086" y="2168643"/>
              <a:ext cx="1490650" cy="460375"/>
            </a:xfrm>
            <a:prstGeom prst="rect">
              <a:avLst/>
            </a:prstGeom>
            <a:noFill/>
          </p:spPr>
          <p:txBody>
            <a:bodyPr wrap="square" rtlCol="0">
              <a:spAutoFit/>
            </a:bodyPr>
            <a:lstStyle/>
            <a:p>
              <a:pPr algn="ctr"/>
              <a:r>
                <a:rPr lang="zh-CN" altLang="en-US" sz="2400" dirty="0">
                  <a:solidFill>
                    <a:schemeClr val="bg1"/>
                  </a:solidFill>
                  <a:latin typeface="+mn-ea"/>
                </a:rPr>
                <a:t>步骤</a:t>
              </a:r>
              <a:r>
                <a:rPr lang="en-US" altLang="zh-CN" sz="2400" dirty="0">
                  <a:solidFill>
                    <a:schemeClr val="bg1"/>
                  </a:solidFill>
                  <a:latin typeface="+mn-ea"/>
                </a:rPr>
                <a:t>4</a:t>
              </a:r>
            </a:p>
          </p:txBody>
        </p:sp>
      </p:grpSp>
      <p:sp>
        <p:nvSpPr>
          <p:cNvPr id="3" name="文本框 2"/>
          <p:cNvSpPr txBox="1"/>
          <p:nvPr/>
        </p:nvSpPr>
        <p:spPr>
          <a:xfrm>
            <a:off x="0" y="2185548"/>
            <a:ext cx="1626833" cy="46037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1</a:t>
            </a:r>
            <a:endParaRPr lang="zh-CN" altLang="en-US" sz="2400" dirty="0">
              <a:latin typeface="+mn-ea"/>
            </a:endParaRPr>
          </a:p>
        </p:txBody>
      </p:sp>
      <p:sp>
        <p:nvSpPr>
          <p:cNvPr id="35" name="文本框 34"/>
          <p:cNvSpPr txBox="1"/>
          <p:nvPr/>
        </p:nvSpPr>
        <p:spPr>
          <a:xfrm>
            <a:off x="-81461" y="3130326"/>
            <a:ext cx="1626833" cy="46037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2</a:t>
            </a:r>
            <a:endParaRPr lang="zh-CN" altLang="en-US" sz="2400" dirty="0">
              <a:latin typeface="+mn-ea"/>
            </a:endParaRPr>
          </a:p>
        </p:txBody>
      </p:sp>
      <p:sp>
        <p:nvSpPr>
          <p:cNvPr id="36" name="文本框 35"/>
          <p:cNvSpPr txBox="1"/>
          <p:nvPr/>
        </p:nvSpPr>
        <p:spPr>
          <a:xfrm>
            <a:off x="-81458" y="4046530"/>
            <a:ext cx="1626833" cy="460375"/>
          </a:xfrm>
          <a:prstGeom prst="rect">
            <a:avLst/>
          </a:prstGeom>
          <a:noFill/>
        </p:spPr>
        <p:txBody>
          <a:bodyPr wrap="square" rtlCol="0">
            <a:spAutoFit/>
          </a:bodyPr>
          <a:lstStyle/>
          <a:p>
            <a:pPr algn="ctr"/>
            <a:r>
              <a:rPr lang="zh-CN" altLang="en-US" sz="2400" dirty="0">
                <a:latin typeface="+mn-ea"/>
              </a:rPr>
              <a:t>步骤</a:t>
            </a:r>
            <a:r>
              <a:rPr lang="en-US" altLang="zh-CN" sz="2400" dirty="0">
                <a:latin typeface="+mn-ea"/>
              </a:rPr>
              <a:t>3</a:t>
            </a:r>
            <a:endParaRPr lang="zh-CN" altLang="en-US" sz="2400" dirty="0">
              <a:latin typeface="+mn-ea"/>
            </a:endParaRPr>
          </a:p>
        </p:txBody>
      </p:sp>
      <p:sp>
        <p:nvSpPr>
          <p:cNvPr id="37" name="椭圆 36"/>
          <p:cNvSpPr/>
          <p:nvPr/>
        </p:nvSpPr>
        <p:spPr>
          <a:xfrm>
            <a:off x="1730420" y="3310523"/>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8" name="椭圆 37"/>
          <p:cNvSpPr/>
          <p:nvPr/>
        </p:nvSpPr>
        <p:spPr>
          <a:xfrm>
            <a:off x="1730420" y="4221571"/>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9" name="椭圆 38"/>
          <p:cNvSpPr/>
          <p:nvPr/>
        </p:nvSpPr>
        <p:spPr>
          <a:xfrm>
            <a:off x="1739806" y="5132619"/>
            <a:ext cx="118477" cy="11847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 name="文本框 3"/>
          <p:cNvSpPr txBox="1"/>
          <p:nvPr/>
        </p:nvSpPr>
        <p:spPr>
          <a:xfrm>
            <a:off x="2423160" y="1874520"/>
            <a:ext cx="8228330" cy="3782895"/>
          </a:xfrm>
          <a:prstGeom prst="rect">
            <a:avLst/>
          </a:prstGeom>
          <a:noFill/>
        </p:spPr>
        <p:txBody>
          <a:bodyPr wrap="square" rtlCol="0" anchor="t">
            <a:spAutoFit/>
          </a:bodyPr>
          <a:lstStyle/>
          <a:p>
            <a:pPr indent="457200">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根据计算出的程序圈复杂度导出基本可执行路径集合，从而设计测试用例的输入数据和预期结果。以上一页中某程序的控制流图为例，由于</a:t>
            </a:r>
            <a:r>
              <a:rPr lang="zh-CN" altLang="en-US" sz="1800" dirty="0">
                <a:solidFill>
                  <a:srgbClr val="0070C0"/>
                </a:solidFill>
                <a:latin typeface="微软雅黑" panose="020B0503020204020204" pitchFamily="34" charset="-122"/>
                <a:ea typeface="微软雅黑" panose="020B0503020204020204" pitchFamily="34" charset="-122"/>
              </a:rPr>
              <a:t>圈复杂度为4</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，所以可以</a:t>
            </a:r>
            <a:r>
              <a:rPr lang="zh-CN" altLang="en-US" sz="1800" dirty="0">
                <a:solidFill>
                  <a:srgbClr val="0070C0"/>
                </a:solidFill>
                <a:latin typeface="微软雅黑" panose="020B0503020204020204" pitchFamily="34" charset="-122"/>
                <a:ea typeface="微软雅黑" panose="020B0503020204020204" pitchFamily="34" charset="-122"/>
              </a:rPr>
              <a:t>得到4条独立的路径</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，具体如下。</a:t>
            </a:r>
          </a:p>
          <a:p>
            <a:pPr marL="285750" indent="-285750">
              <a:lnSpc>
                <a:spcPct val="150000"/>
              </a:lnSpc>
              <a:buFont typeface="Wingdings" panose="05000000000000000000" charset="0"/>
              <a:buChar char="l"/>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路径1：1→7。</a:t>
            </a:r>
          </a:p>
          <a:p>
            <a:pPr marL="285750" indent="-285750" algn="l">
              <a:lnSpc>
                <a:spcPct val="150000"/>
              </a:lnSpc>
              <a:buClrTx/>
              <a:buSzTx/>
              <a:buFont typeface="Wingdings" panose="05000000000000000000" charset="0"/>
              <a:buChar char="l"/>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路径2：1→2→3→7。</a:t>
            </a:r>
          </a:p>
          <a:p>
            <a:pPr marL="285750" indent="-285750" algn="l">
              <a:lnSpc>
                <a:spcPct val="150000"/>
              </a:lnSpc>
              <a:buClrTx/>
              <a:buSzTx/>
              <a:buFont typeface="Wingdings" panose="05000000000000000000" charset="0"/>
              <a:buChar char="l"/>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路径3：1→2→4→5→8→1→7。</a:t>
            </a:r>
          </a:p>
          <a:p>
            <a:pPr marL="285750" indent="-285750" algn="l">
              <a:lnSpc>
                <a:spcPct val="150000"/>
              </a:lnSpc>
              <a:buClrTx/>
              <a:buSzTx/>
              <a:buFont typeface="Wingdings" panose="05000000000000000000" charset="0"/>
              <a:buChar char="l"/>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路径4：1→2→4→6→8→1→7。</a:t>
            </a:r>
          </a:p>
          <a:p>
            <a:pPr>
              <a:lnSpc>
                <a:spcPct val="150000"/>
              </a:lnSpc>
            </a:pPr>
            <a:r>
              <a:rPr lang="zh-CN" altLang="en-US" sz="1800" dirty="0">
                <a:solidFill>
                  <a:srgbClr val="0070C0"/>
                </a:solidFill>
                <a:latin typeface="微软雅黑" panose="020B0503020204020204" pitchFamily="34" charset="-122"/>
                <a:ea typeface="微软雅黑" panose="020B0503020204020204" pitchFamily="34" charset="-122"/>
              </a:rPr>
              <a:t>根据</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以上</a:t>
            </a:r>
            <a:r>
              <a:rPr lang="zh-CN" altLang="en-US" sz="1800" dirty="0">
                <a:solidFill>
                  <a:srgbClr val="0070C0"/>
                </a:solidFill>
                <a:latin typeface="微软雅黑" panose="020B0503020204020204" pitchFamily="34" charset="-122"/>
                <a:ea typeface="微软雅黑" panose="020B0503020204020204" pitchFamily="34" charset="-122"/>
              </a:rPr>
              <a:t>4条独立的路径即可设计测试用例</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从而确保每一条路径都能被执行。</a:t>
            </a:r>
          </a:p>
        </p:txBody>
      </p:sp>
      <p:sp>
        <p:nvSpPr>
          <p:cNvPr id="6" name="1"/>
          <p:cNvSpPr txBox="1"/>
          <p:nvPr>
            <p:custDataLst>
              <p:tags r:id="rId1"/>
            </p:custDataLst>
          </p:nvPr>
        </p:nvSpPr>
        <p:spPr>
          <a:xfrm>
            <a:off x="5570220" y="1125220"/>
            <a:ext cx="2254885" cy="460375"/>
          </a:xfrm>
          <a:prstGeom prst="rect">
            <a:avLst/>
          </a:prstGeom>
          <a:noFill/>
          <a:ln>
            <a:no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sz="2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设计测试用例</a:t>
            </a:r>
          </a:p>
        </p:txBody>
      </p:sp>
      <p:grpSp>
        <p:nvGrpSpPr>
          <p:cNvPr id="7" name="组合 6"/>
          <p:cNvGrpSpPr/>
          <p:nvPr/>
        </p:nvGrpSpPr>
        <p:grpSpPr>
          <a:xfrm>
            <a:off x="5895341" y="1614449"/>
            <a:ext cx="1654387" cy="45722"/>
            <a:chOff x="5367867" y="3100583"/>
            <a:chExt cx="1654387" cy="45722"/>
          </a:xfrm>
        </p:grpSpPr>
        <p:cxnSp>
          <p:nvCxnSpPr>
            <p:cNvPr id="8" name="直线连接符 8"/>
            <p:cNvCxnSpPr/>
            <p:nvPr/>
          </p:nvCxnSpPr>
          <p:spPr>
            <a:xfrm>
              <a:off x="5413586" y="3123298"/>
              <a:ext cx="15578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5367867" y="3100583"/>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6976535" y="3100586"/>
              <a:ext cx="45719" cy="45719"/>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9" name="图片 8" descr="666">
            <a:extLst>
              <a:ext uri="{FF2B5EF4-FFF2-40B4-BE49-F238E27FC236}">
                <a16:creationId xmlns:a16="http://schemas.microsoft.com/office/drawing/2014/main" id="{38664632-7144-A81A-1E5D-5A0F92305331}"/>
              </a:ext>
            </a:extLst>
          </p:cNvPr>
          <p:cNvPicPr>
            <a:picLocks noChangeAspect="1"/>
          </p:cNvPicPr>
          <p:nvPr/>
        </p:nvPicPr>
        <p:blipFill>
          <a:blip r:embed="rId4"/>
          <a:stretch>
            <a:fillRect/>
          </a:stretch>
        </p:blipFill>
        <p:spPr>
          <a:xfrm>
            <a:off x="8255206" y="3151157"/>
            <a:ext cx="3091815" cy="31153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2150110" y="1607820"/>
            <a:ext cx="3665855"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1991360" y="1722120"/>
            <a:ext cx="3959225" cy="368300"/>
          </a:xfrm>
          <a:prstGeom prst="rect">
            <a:avLst/>
          </a:prstGeom>
          <a:noFill/>
        </p:spPr>
        <p:txBody>
          <a:bodyPr wrap="square" rtlCol="0">
            <a:spAutoFit/>
          </a:bodyPr>
          <a:lstStyle/>
          <a:p>
            <a:pPr algn="ctr"/>
            <a:r>
              <a:rPr lang="zh-CN" altLang="en-US"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如何将程序流程图转化为控制流图</a:t>
            </a:r>
          </a:p>
        </p:txBody>
      </p:sp>
      <p:sp>
        <p:nvSpPr>
          <p:cNvPr id="27" name="矩形 26"/>
          <p:cNvSpPr/>
          <p:nvPr/>
        </p:nvSpPr>
        <p:spPr>
          <a:xfrm>
            <a:off x="5911029"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6098728"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31" name="Title 1"/>
          <p:cNvSpPr txBox="1"/>
          <p:nvPr/>
        </p:nvSpPr>
        <p:spPr>
          <a:xfrm>
            <a:off x="1143690" y="266995"/>
            <a:ext cx="50381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3.1.1	程序流程图转化为控制流图</a:t>
            </a:r>
          </a:p>
        </p:txBody>
      </p:sp>
      <p:graphicFrame>
        <p:nvGraphicFramePr>
          <p:cNvPr id="5" name="表格 4">
            <a:extLst>
              <a:ext uri="{FF2B5EF4-FFF2-40B4-BE49-F238E27FC236}">
                <a16:creationId xmlns:a16="http://schemas.microsoft.com/office/drawing/2014/main" id="{6C1D7087-C742-1093-AE94-29FDCE3817BB}"/>
              </a:ext>
            </a:extLst>
          </p:cNvPr>
          <p:cNvGraphicFramePr>
            <a:graphicFrameLocks noGrp="1"/>
          </p:cNvGraphicFramePr>
          <p:nvPr>
            <p:extLst>
              <p:ext uri="{D42A27DB-BD31-4B8C-83A1-F6EECF244321}">
                <p14:modId xmlns:p14="http://schemas.microsoft.com/office/powerpoint/2010/main" val="1863089607"/>
              </p:ext>
            </p:extLst>
          </p:nvPr>
        </p:nvGraphicFramePr>
        <p:xfrm>
          <a:off x="1991360" y="3039459"/>
          <a:ext cx="8330726" cy="2530729"/>
        </p:xfrm>
        <a:graphic>
          <a:graphicData uri="http://schemas.openxmlformats.org/drawingml/2006/table">
            <a:tbl>
              <a:tblPr/>
              <a:tblGrid>
                <a:gridCol w="1360508">
                  <a:extLst>
                    <a:ext uri="{9D8B030D-6E8A-4147-A177-3AD203B41FA5}">
                      <a16:colId xmlns:a16="http://schemas.microsoft.com/office/drawing/2014/main" val="429836204"/>
                    </a:ext>
                  </a:extLst>
                </a:gridCol>
                <a:gridCol w="3653765">
                  <a:extLst>
                    <a:ext uri="{9D8B030D-6E8A-4147-A177-3AD203B41FA5}">
                      <a16:colId xmlns:a16="http://schemas.microsoft.com/office/drawing/2014/main" val="4211801202"/>
                    </a:ext>
                  </a:extLst>
                </a:gridCol>
                <a:gridCol w="3316453">
                  <a:extLst>
                    <a:ext uri="{9D8B030D-6E8A-4147-A177-3AD203B41FA5}">
                      <a16:colId xmlns:a16="http://schemas.microsoft.com/office/drawing/2014/main" val="888551238"/>
                    </a:ext>
                  </a:extLst>
                </a:gridCol>
              </a:tblGrid>
              <a:tr h="433099">
                <a:tc>
                  <a:txBody>
                    <a:bodyPr/>
                    <a:lstStyle/>
                    <a:p>
                      <a:pPr algn="ctr">
                        <a:lnSpc>
                          <a:spcPts val="2100"/>
                        </a:lnSpc>
                        <a:buNone/>
                      </a:pPr>
                      <a:r>
                        <a:rPr lang="zh-CN" altLang="en-US" sz="1600" b="1">
                          <a:solidFill>
                            <a:srgbClr val="000000"/>
                          </a:solidFill>
                          <a:effectLst/>
                        </a:rPr>
                        <a:t>特征</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lnSpc>
                          <a:spcPts val="2100"/>
                        </a:lnSpc>
                        <a:buNone/>
                      </a:pPr>
                      <a:r>
                        <a:rPr lang="zh-CN" altLang="en-US" sz="1600" b="1" dirty="0">
                          <a:solidFill>
                            <a:srgbClr val="000000"/>
                          </a:solidFill>
                          <a:effectLst/>
                        </a:rPr>
                        <a:t>程序流程图</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lnSpc>
                          <a:spcPts val="2100"/>
                        </a:lnSpc>
                        <a:buNone/>
                      </a:pPr>
                      <a:r>
                        <a:rPr lang="zh-CN" altLang="en-US" sz="1600" b="1" dirty="0">
                          <a:solidFill>
                            <a:srgbClr val="000000"/>
                          </a:solidFill>
                          <a:effectLst/>
                        </a:rPr>
                        <a:t>控制流图</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211633804"/>
                  </a:ext>
                </a:extLst>
              </a:tr>
              <a:tr h="433099">
                <a:tc>
                  <a:txBody>
                    <a:bodyPr/>
                    <a:lstStyle/>
                    <a:p>
                      <a:pPr algn="ctr">
                        <a:lnSpc>
                          <a:spcPts val="2100"/>
                        </a:lnSpc>
                        <a:buNone/>
                      </a:pPr>
                      <a:r>
                        <a:rPr lang="zh-CN" altLang="en-US" sz="1600" b="0">
                          <a:effectLst/>
                        </a:rPr>
                        <a:t>最小单元</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ts val="2100"/>
                        </a:lnSpc>
                        <a:buNone/>
                      </a:pPr>
                      <a:r>
                        <a:rPr lang="zh-CN" altLang="en-US" sz="1600" b="0" dirty="0">
                          <a:effectLst/>
                        </a:rPr>
                        <a:t>单个步骤（如输入、运算、判断）</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ts val="2100"/>
                        </a:lnSpc>
                        <a:buNone/>
                      </a:pPr>
                      <a:r>
                        <a:rPr lang="zh-CN" altLang="en-US" sz="1600" b="0">
                          <a:effectLst/>
                        </a:rPr>
                        <a:t>基本块（连续的顺序执行步骤）</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64956394"/>
                  </a:ext>
                </a:extLst>
              </a:tr>
              <a:tr h="503943">
                <a:tc>
                  <a:txBody>
                    <a:bodyPr/>
                    <a:lstStyle/>
                    <a:p>
                      <a:pPr algn="ctr">
                        <a:lnSpc>
                          <a:spcPts val="2100"/>
                        </a:lnSpc>
                        <a:buNone/>
                      </a:pPr>
                      <a:r>
                        <a:rPr lang="zh-CN" altLang="en-US" sz="1600" b="0">
                          <a:effectLst/>
                        </a:rPr>
                        <a:t>节点含义</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ts val="2100"/>
                        </a:lnSpc>
                        <a:buNone/>
                      </a:pPr>
                      <a:r>
                        <a:rPr lang="zh-CN" altLang="en-US" sz="1600" b="0" dirty="0">
                          <a:effectLst/>
                        </a:rPr>
                        <a:t>具体操作或判断</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ts val="2100"/>
                        </a:lnSpc>
                        <a:buNone/>
                      </a:pPr>
                      <a:r>
                        <a:rPr lang="zh-CN" altLang="en-US" sz="1600" b="0" dirty="0">
                          <a:effectLst/>
                        </a:rPr>
                        <a:t>抽象的基本块</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45127906"/>
                  </a:ext>
                </a:extLst>
              </a:tr>
              <a:tr h="564384">
                <a:tc>
                  <a:txBody>
                    <a:bodyPr/>
                    <a:lstStyle/>
                    <a:p>
                      <a:pPr algn="ctr">
                        <a:lnSpc>
                          <a:spcPts val="2100"/>
                        </a:lnSpc>
                        <a:buNone/>
                      </a:pPr>
                      <a:r>
                        <a:rPr lang="zh-CN" altLang="en-US" sz="1600" b="0">
                          <a:effectLst/>
                        </a:rPr>
                        <a:t>侧重点</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ts val="2100"/>
                        </a:lnSpc>
                        <a:buNone/>
                      </a:pPr>
                      <a:r>
                        <a:rPr lang="zh-CN" altLang="en-US" sz="1600" b="0" dirty="0">
                          <a:effectLst/>
                        </a:rPr>
                        <a:t>展示程序的执行步骤细节</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ts val="2100"/>
                        </a:lnSpc>
                        <a:buNone/>
                      </a:pPr>
                      <a:r>
                        <a:rPr lang="zh-CN" altLang="en-US" sz="1600" b="0">
                          <a:effectLst/>
                        </a:rPr>
                        <a:t>展示基本块之间的跳转关系</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29827620"/>
                  </a:ext>
                </a:extLst>
              </a:tr>
              <a:tr h="591690">
                <a:tc>
                  <a:txBody>
                    <a:bodyPr/>
                    <a:lstStyle/>
                    <a:p>
                      <a:pPr algn="ctr">
                        <a:lnSpc>
                          <a:spcPts val="2100"/>
                        </a:lnSpc>
                        <a:buNone/>
                      </a:pPr>
                      <a:r>
                        <a:rPr lang="zh-CN" altLang="en-US" sz="1600" b="0" dirty="0">
                          <a:effectLst/>
                        </a:rPr>
                        <a:t>用途</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ts val="2100"/>
                        </a:lnSpc>
                        <a:buNone/>
                      </a:pPr>
                      <a:r>
                        <a:rPr lang="zh-CN" altLang="en-US" sz="1600" b="0">
                          <a:effectLst/>
                        </a:rPr>
                        <a:t>便于人理解程序逻辑</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ts val="2100"/>
                        </a:lnSpc>
                        <a:buNone/>
                      </a:pPr>
                      <a:r>
                        <a:rPr lang="zh-CN" altLang="en-US" sz="1600" b="0" dirty="0">
                          <a:effectLst/>
                        </a:rPr>
                        <a:t>便于编译器分析和优化</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2449761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6971" y="1125794"/>
            <a:ext cx="10368226" cy="1012094"/>
          </a:xfrm>
          <a:prstGeom prst="rect">
            <a:avLst/>
          </a:prstGeom>
          <a:noFill/>
        </p:spPr>
        <p:txBody>
          <a:bodyPr wrap="square" rtlCol="0" anchor="t">
            <a:noAutofit/>
          </a:bodyPr>
          <a:lstStyle/>
          <a:p>
            <a:pPr indent="457200" algn="l">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转化的核心思路是：提取</a:t>
            </a:r>
            <a:r>
              <a:rPr lang="zh-CN" altLang="en-US" sz="1800" dirty="0">
                <a:solidFill>
                  <a:srgbClr val="0070C0"/>
                </a:solidFill>
                <a:latin typeface="微软雅黑" panose="020B0503020204020204" pitchFamily="34" charset="-122"/>
                <a:ea typeface="微软雅黑" panose="020B0503020204020204" pitchFamily="34" charset="-122"/>
              </a:rPr>
              <a:t>基本块</a:t>
            </a:r>
            <a:r>
              <a:rPr lang="zh-CN" altLang="en-US" sz="1800" dirty="0">
                <a:solidFill>
                  <a:srgbClr val="595959"/>
                </a:solidFill>
                <a:latin typeface="微软雅黑" panose="020B0503020204020204" pitchFamily="34" charset="-122"/>
                <a:ea typeface="微软雅黑" panose="020B0503020204020204" pitchFamily="34" charset="-122"/>
              </a:rPr>
              <a:t>并建立</a:t>
            </a:r>
            <a:r>
              <a:rPr lang="zh-CN" altLang="en-US" sz="1800" dirty="0">
                <a:solidFill>
                  <a:srgbClr val="0070C0"/>
                </a:solidFill>
                <a:latin typeface="微软雅黑" panose="020B0503020204020204" pitchFamily="34" charset="-122"/>
                <a:ea typeface="微软雅黑" panose="020B0503020204020204" pitchFamily="34" charset="-122"/>
              </a:rPr>
              <a:t>块间跳转关系</a:t>
            </a:r>
            <a:r>
              <a:rPr lang="zh-CN" altLang="en-US" sz="1800" dirty="0">
                <a:solidFill>
                  <a:srgbClr val="595959"/>
                </a:solidFill>
                <a:latin typeface="微软雅黑" panose="020B0503020204020204" pitchFamily="34" charset="-122"/>
                <a:ea typeface="微软雅黑" panose="020B0503020204020204" pitchFamily="34" charset="-122"/>
              </a:rPr>
              <a:t>，本质是将流程图中 </a:t>
            </a:r>
            <a:r>
              <a:rPr lang="zh-CN" altLang="en-US" sz="1800" dirty="0">
                <a:solidFill>
                  <a:srgbClr val="0070C0"/>
                </a:solidFill>
                <a:latin typeface="微软雅黑" panose="020B0503020204020204" pitchFamily="34" charset="-122"/>
                <a:ea typeface="微软雅黑" panose="020B0503020204020204" pitchFamily="34" charset="-122"/>
              </a:rPr>
              <a:t>“过程化的步骤” </a:t>
            </a:r>
            <a:r>
              <a:rPr lang="zh-CN" altLang="en-US" sz="1800" dirty="0">
                <a:solidFill>
                  <a:srgbClr val="595959"/>
                </a:solidFill>
                <a:latin typeface="微软雅黑" panose="020B0503020204020204" pitchFamily="34" charset="-122"/>
                <a:ea typeface="微软雅黑" panose="020B0503020204020204" pitchFamily="34" charset="-122"/>
              </a:rPr>
              <a:t>抽象为 </a:t>
            </a:r>
            <a:r>
              <a:rPr lang="zh-CN" altLang="en-US" sz="1800" dirty="0">
                <a:solidFill>
                  <a:srgbClr val="0070C0"/>
                </a:solidFill>
                <a:latin typeface="微软雅黑" panose="020B0503020204020204" pitchFamily="34" charset="-122"/>
                <a:ea typeface="微软雅黑" panose="020B0503020204020204" pitchFamily="34" charset="-122"/>
              </a:rPr>
              <a:t>“结构化的基本块节点”</a:t>
            </a:r>
            <a:r>
              <a:rPr lang="zh-CN" altLang="en-US" sz="1800" dirty="0">
                <a:solidFill>
                  <a:srgbClr val="595959"/>
                </a:solidFill>
                <a:latin typeface="微软雅黑" panose="020B0503020204020204" pitchFamily="34" charset="-122"/>
                <a:ea typeface="微软雅黑" panose="020B0503020204020204" pitchFamily="34" charset="-122"/>
              </a:rPr>
              <a:t>。以下为具体步骤：</a:t>
            </a:r>
            <a:endParaRPr sz="1800" dirty="0">
              <a:solidFill>
                <a:srgbClr val="595959"/>
              </a:solidFill>
              <a:latin typeface="微软雅黑" panose="020B0503020204020204" pitchFamily="34" charset="-122"/>
              <a:ea typeface="微软雅黑" panose="020B0503020204020204" pitchFamily="34" charset="-122"/>
            </a:endParaRPr>
          </a:p>
          <a:p>
            <a:pPr algn="l">
              <a:lnSpc>
                <a:spcPct val="150000"/>
              </a:lnSpc>
              <a:buClrTx/>
              <a:buSzTx/>
              <a:buFontTx/>
            </a:pPr>
            <a:endParaRPr sz="1800" dirty="0">
              <a:solidFill>
                <a:srgbClr val="595959"/>
              </a:solidFill>
              <a:latin typeface="微软雅黑" panose="020B0503020204020204" pitchFamily="34" charset="-122"/>
              <a:ea typeface="微软雅黑" panose="020B0503020204020204" pitchFamily="34" charset="-122"/>
            </a:endParaRPr>
          </a:p>
        </p:txBody>
      </p:sp>
      <p:sp>
        <p:nvSpPr>
          <p:cNvPr id="3" name="TextBox 35">
            <a:extLst>
              <a:ext uri="{FF2B5EF4-FFF2-40B4-BE49-F238E27FC236}">
                <a16:creationId xmlns:a16="http://schemas.microsoft.com/office/drawing/2014/main" id="{33D40DC5-126E-2AA6-A4C3-45C6A97E887A}"/>
              </a:ext>
            </a:extLst>
          </p:cNvPr>
          <p:cNvSpPr txBox="1">
            <a:spLocks noChangeArrowheads="1"/>
          </p:cNvSpPr>
          <p:nvPr/>
        </p:nvSpPr>
        <p:spPr bwMode="auto">
          <a:xfrm>
            <a:off x="976971" y="2637794"/>
            <a:ext cx="10368226" cy="2613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核心转化规则</a:t>
            </a:r>
            <a:endParaRPr lang="en-US" altLang="zh-CN" sz="2000" b="1" dirty="0">
              <a:solidFill>
                <a:srgbClr val="595959"/>
              </a:solidFill>
              <a:latin typeface="微软雅黑" panose="020B0503020204020204" pitchFamily="34" charset="-122"/>
              <a:ea typeface="微软雅黑" panose="020B0503020204020204" pitchFamily="34" charset="-122"/>
            </a:endParaRPr>
          </a:p>
          <a:p>
            <a:pPr marL="342900" indent="-342900" algn="just">
              <a:lnSpc>
                <a:spcPct val="150000"/>
              </a:lnSpc>
              <a:buFont typeface="+mj-lt"/>
              <a:buAutoNum type="arabicPeriod"/>
            </a:pPr>
            <a:r>
              <a:rPr lang="zh-CN" altLang="en-US" sz="1800" dirty="0">
                <a:solidFill>
                  <a:srgbClr val="0070C0"/>
                </a:solidFill>
                <a:latin typeface="微软雅黑" panose="020B0503020204020204" pitchFamily="34" charset="-122"/>
                <a:ea typeface="微软雅黑" panose="020B0503020204020204" pitchFamily="34" charset="-122"/>
              </a:rPr>
              <a:t>基本块提取</a:t>
            </a:r>
            <a:r>
              <a:rPr lang="zh-CN" altLang="en-US" sz="1800" dirty="0">
                <a:solidFill>
                  <a:srgbClr val="595959"/>
                </a:solidFill>
                <a:latin typeface="微软雅黑" panose="020B0503020204020204" pitchFamily="34" charset="-122"/>
                <a:ea typeface="微软雅黑" panose="020B0503020204020204" pitchFamily="34" charset="-122"/>
              </a:rPr>
              <a:t>：将流程图中 “连续顺序执行的步骤” 合并为一个基本块（</a:t>
            </a:r>
            <a:r>
              <a:rPr lang="en-US" altLang="zh-CN" sz="1800" dirty="0">
                <a:solidFill>
                  <a:srgbClr val="595959"/>
                </a:solidFill>
                <a:latin typeface="微软雅黑" panose="020B0503020204020204" pitchFamily="34" charset="-122"/>
                <a:ea typeface="微软雅黑" panose="020B0503020204020204" pitchFamily="34" charset="-122"/>
              </a:rPr>
              <a:t>BB</a:t>
            </a:r>
            <a:r>
              <a:rPr lang="zh-CN" altLang="en-US" sz="1800" dirty="0">
                <a:solidFill>
                  <a:srgbClr val="595959"/>
                </a:solidFill>
                <a:latin typeface="微软雅黑" panose="020B0503020204020204" pitchFamily="34" charset="-122"/>
                <a:ea typeface="微软雅黑" panose="020B0503020204020204" pitchFamily="34" charset="-122"/>
              </a:rPr>
              <a:t>），基本块需满足 “单入口、单出口”。</a:t>
            </a:r>
          </a:p>
          <a:p>
            <a:pPr marL="342900" indent="-342900" algn="just">
              <a:lnSpc>
                <a:spcPct val="150000"/>
              </a:lnSpc>
              <a:buFont typeface="+mj-lt"/>
              <a:buAutoNum type="arabicPeriod"/>
            </a:pPr>
            <a:r>
              <a:rPr lang="zh-CN" altLang="en-US" sz="1800" dirty="0">
                <a:solidFill>
                  <a:srgbClr val="0070C0"/>
                </a:solidFill>
                <a:latin typeface="微软雅黑" panose="020B0503020204020204" pitchFamily="34" charset="-122"/>
                <a:ea typeface="微软雅黑" panose="020B0503020204020204" pitchFamily="34" charset="-122"/>
              </a:rPr>
              <a:t>节点替换</a:t>
            </a:r>
            <a:r>
              <a:rPr lang="zh-CN" altLang="en-US" sz="1800" dirty="0">
                <a:solidFill>
                  <a:srgbClr val="595959"/>
                </a:solidFill>
                <a:latin typeface="微软雅黑" panose="020B0503020204020204" pitchFamily="34" charset="-122"/>
                <a:ea typeface="微软雅黑" panose="020B0503020204020204" pitchFamily="34" charset="-122"/>
              </a:rPr>
              <a:t>：用 “基本块” 替换流程图中的 “处理步骤”，用 “有向边” 替换流程图中的 “控制流箭头”。</a:t>
            </a:r>
          </a:p>
          <a:p>
            <a:pPr marL="342900" indent="-342900" algn="just">
              <a:lnSpc>
                <a:spcPct val="150000"/>
              </a:lnSpc>
              <a:buFont typeface="+mj-lt"/>
              <a:buAutoNum type="arabicPeriod"/>
            </a:pPr>
            <a:r>
              <a:rPr lang="zh-CN" altLang="en-US" sz="1800" dirty="0">
                <a:solidFill>
                  <a:srgbClr val="0070C0"/>
                </a:solidFill>
                <a:latin typeface="微软雅黑" panose="020B0503020204020204" pitchFamily="34" charset="-122"/>
                <a:ea typeface="微软雅黑" panose="020B0503020204020204" pitchFamily="34" charset="-122"/>
              </a:rPr>
              <a:t>保留分支结构</a:t>
            </a:r>
            <a:r>
              <a:rPr lang="zh-CN" altLang="en-US" sz="1800" dirty="0">
                <a:solidFill>
                  <a:srgbClr val="595959"/>
                </a:solidFill>
                <a:latin typeface="微软雅黑" panose="020B0503020204020204" pitchFamily="34" charset="-122"/>
                <a:ea typeface="微软雅黑" panose="020B0503020204020204" pitchFamily="34" charset="-122"/>
              </a:rPr>
              <a:t>：流程图中的分支（如</a:t>
            </a:r>
            <a:r>
              <a:rPr lang="en-US" altLang="zh-CN" sz="1800" dirty="0">
                <a:solidFill>
                  <a:srgbClr val="595959"/>
                </a:solidFill>
                <a:latin typeface="微软雅黑" panose="020B0503020204020204" pitchFamily="34" charset="-122"/>
                <a:ea typeface="微软雅黑" panose="020B0503020204020204" pitchFamily="34" charset="-122"/>
              </a:rPr>
              <a:t>if-else</a:t>
            </a:r>
            <a:r>
              <a:rPr lang="zh-CN" altLang="en-US" sz="1800" dirty="0">
                <a:solidFill>
                  <a:srgbClr val="595959"/>
                </a:solidFill>
                <a:latin typeface="微软雅黑" panose="020B0503020204020204" pitchFamily="34" charset="-122"/>
                <a:ea typeface="微软雅黑" panose="020B0503020204020204" pitchFamily="34" charset="-122"/>
              </a:rPr>
              <a:t>）、循环（如</a:t>
            </a:r>
            <a:r>
              <a:rPr lang="en-US" altLang="zh-CN" sz="1800" dirty="0">
                <a:solidFill>
                  <a:srgbClr val="595959"/>
                </a:solidFill>
                <a:latin typeface="微软雅黑" panose="020B0503020204020204" pitchFamily="34" charset="-122"/>
                <a:ea typeface="微软雅黑" panose="020B0503020204020204" pitchFamily="34" charset="-122"/>
              </a:rPr>
              <a:t>while</a:t>
            </a:r>
            <a:r>
              <a:rPr lang="zh-CN" altLang="en-US" sz="1800" dirty="0">
                <a:solidFill>
                  <a:srgbClr val="595959"/>
                </a:solidFill>
                <a:latin typeface="微软雅黑" panose="020B0503020204020204" pitchFamily="34" charset="-122"/>
                <a:ea typeface="微软雅黑" panose="020B0503020204020204" pitchFamily="34" charset="-122"/>
              </a:rPr>
              <a:t>）会转化为基本块之间的分支边。</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5" name="Title 1">
            <a:extLst>
              <a:ext uri="{FF2B5EF4-FFF2-40B4-BE49-F238E27FC236}">
                <a16:creationId xmlns:a16="http://schemas.microsoft.com/office/drawing/2014/main" id="{E93A485B-71D7-AB07-6C16-F4D7B721779B}"/>
              </a:ext>
            </a:extLst>
          </p:cNvPr>
          <p:cNvSpPr txBox="1"/>
          <p:nvPr/>
        </p:nvSpPr>
        <p:spPr>
          <a:xfrm>
            <a:off x="1143690" y="266995"/>
            <a:ext cx="50381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3.1.1	程序流程图转化为控制流图</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27C30-910F-ABE0-8A56-9B20E79D159B}"/>
            </a:ext>
          </a:extLst>
        </p:cNvPr>
        <p:cNvGrpSpPr/>
        <p:nvPr/>
      </p:nvGrpSpPr>
      <p:grpSpPr>
        <a:xfrm>
          <a:off x="0" y="0"/>
          <a:ext cx="0" cy="0"/>
          <a:chOff x="0" y="0"/>
          <a:chExt cx="0" cy="0"/>
        </a:xfrm>
      </p:grpSpPr>
      <p:sp>
        <p:nvSpPr>
          <p:cNvPr id="3" name="TextBox 35">
            <a:extLst>
              <a:ext uri="{FF2B5EF4-FFF2-40B4-BE49-F238E27FC236}">
                <a16:creationId xmlns:a16="http://schemas.microsoft.com/office/drawing/2014/main" id="{C7D32414-1ED2-A7B9-D0FE-ADBF2CC98114}"/>
              </a:ext>
            </a:extLst>
          </p:cNvPr>
          <p:cNvSpPr txBox="1">
            <a:spLocks noChangeArrowheads="1"/>
          </p:cNvSpPr>
          <p:nvPr/>
        </p:nvSpPr>
        <p:spPr bwMode="auto">
          <a:xfrm>
            <a:off x="909469" y="909794"/>
            <a:ext cx="10441736" cy="2197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步骤 </a:t>
            </a:r>
            <a:r>
              <a:rPr lang="en-US" altLang="zh-CN" sz="2000" b="1" dirty="0">
                <a:solidFill>
                  <a:srgbClr val="595959"/>
                </a:solidFill>
                <a:latin typeface="微软雅黑" panose="020B0503020204020204" pitchFamily="34" charset="-122"/>
                <a:ea typeface="微软雅黑" panose="020B0503020204020204" pitchFamily="34" charset="-122"/>
              </a:rPr>
              <a:t>1</a:t>
            </a:r>
            <a:r>
              <a:rPr lang="zh-CN" altLang="en-US" sz="2000" b="1" dirty="0">
                <a:solidFill>
                  <a:srgbClr val="595959"/>
                </a:solidFill>
                <a:latin typeface="微软雅黑" panose="020B0503020204020204" pitchFamily="34" charset="-122"/>
                <a:ea typeface="微软雅黑" panose="020B0503020204020204" pitchFamily="34" charset="-122"/>
              </a:rPr>
              <a:t>：识别 “入口点”（基本块的起始位置）</a:t>
            </a:r>
            <a:endParaRPr lang="en-US" altLang="zh-CN" sz="2000" b="1"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在流程图中，以下位置为基本块入口点：</a:t>
            </a:r>
          </a:p>
          <a:p>
            <a:pPr marL="720000" indent="-285750" algn="just">
              <a:lnSpc>
                <a:spcPct val="150000"/>
              </a:lnSpc>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流程图的</a:t>
            </a:r>
            <a:r>
              <a:rPr lang="zh-CN" altLang="en-US" sz="1800" dirty="0">
                <a:solidFill>
                  <a:srgbClr val="0070C0"/>
                </a:solidFill>
                <a:latin typeface="微软雅黑" panose="020B0503020204020204" pitchFamily="34" charset="-122"/>
                <a:ea typeface="微软雅黑" panose="020B0503020204020204" pitchFamily="34" charset="-122"/>
              </a:rPr>
              <a:t>起始节点</a:t>
            </a:r>
            <a:r>
              <a:rPr lang="zh-CN" altLang="en-US" sz="1800" dirty="0">
                <a:solidFill>
                  <a:srgbClr val="595959"/>
                </a:solidFill>
                <a:latin typeface="微软雅黑" panose="020B0503020204020204" pitchFamily="34" charset="-122"/>
                <a:ea typeface="微软雅黑" panose="020B0503020204020204" pitchFamily="34" charset="-122"/>
              </a:rPr>
              <a:t>（程序开始处）。</a:t>
            </a:r>
          </a:p>
          <a:p>
            <a:pPr marL="720000" indent="-285750" algn="just">
              <a:lnSpc>
                <a:spcPct val="150000"/>
              </a:lnSpc>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所有</a:t>
            </a:r>
            <a:r>
              <a:rPr lang="zh-CN" altLang="en-US" sz="1800" dirty="0">
                <a:solidFill>
                  <a:srgbClr val="0070C0"/>
                </a:solidFill>
                <a:latin typeface="微软雅黑" panose="020B0503020204020204" pitchFamily="34" charset="-122"/>
                <a:ea typeface="微软雅黑" panose="020B0503020204020204" pitchFamily="34" charset="-122"/>
              </a:rPr>
              <a:t>分支的目标节点</a:t>
            </a:r>
            <a:r>
              <a:rPr lang="zh-CN" altLang="en-US" sz="1800" dirty="0">
                <a:solidFill>
                  <a:srgbClr val="595959"/>
                </a:solidFill>
                <a:latin typeface="微软雅黑" panose="020B0503020204020204" pitchFamily="34" charset="-122"/>
                <a:ea typeface="微软雅黑" panose="020B0503020204020204" pitchFamily="34" charset="-122"/>
              </a:rPr>
              <a:t>（如</a:t>
            </a:r>
            <a:r>
              <a:rPr lang="en-US" altLang="zh-CN" sz="1800" dirty="0">
                <a:solidFill>
                  <a:srgbClr val="595959"/>
                </a:solidFill>
                <a:latin typeface="微软雅黑" panose="020B0503020204020204" pitchFamily="34" charset="-122"/>
                <a:ea typeface="微软雅黑" panose="020B0503020204020204" pitchFamily="34" charset="-122"/>
              </a:rPr>
              <a:t>if</a:t>
            </a:r>
            <a:r>
              <a:rPr lang="zh-CN" altLang="en-US" sz="1800" dirty="0">
                <a:solidFill>
                  <a:srgbClr val="595959"/>
                </a:solidFill>
                <a:latin typeface="微软雅黑" panose="020B0503020204020204" pitchFamily="34" charset="-122"/>
                <a:ea typeface="微软雅黑" panose="020B0503020204020204" pitchFamily="34" charset="-122"/>
              </a:rPr>
              <a:t>的 “真” 分支目标、“假” 分支目标）。</a:t>
            </a:r>
          </a:p>
          <a:p>
            <a:pPr marL="720000" indent="-285750" algn="just">
              <a:lnSpc>
                <a:spcPct val="150000"/>
              </a:lnSpc>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分支结构（如</a:t>
            </a:r>
            <a:r>
              <a:rPr lang="en-US" altLang="zh-CN" sz="1800" dirty="0">
                <a:solidFill>
                  <a:srgbClr val="595959"/>
                </a:solidFill>
                <a:latin typeface="微软雅黑" panose="020B0503020204020204" pitchFamily="34" charset="-122"/>
                <a:ea typeface="微软雅黑" panose="020B0503020204020204" pitchFamily="34" charset="-122"/>
              </a:rPr>
              <a:t>if-else</a:t>
            </a:r>
            <a:r>
              <a:rPr lang="zh-CN" altLang="en-US" sz="1800" dirty="0">
                <a:solidFill>
                  <a:srgbClr val="595959"/>
                </a:solidFill>
                <a:latin typeface="微软雅黑" panose="020B0503020204020204" pitchFamily="34" charset="-122"/>
                <a:ea typeface="微软雅黑" panose="020B0503020204020204" pitchFamily="34" charset="-122"/>
              </a:rPr>
              <a:t>、循环）的</a:t>
            </a:r>
            <a:r>
              <a:rPr lang="zh-CN" altLang="en-US" sz="1800" dirty="0">
                <a:solidFill>
                  <a:srgbClr val="0070C0"/>
                </a:solidFill>
                <a:latin typeface="微软雅黑" panose="020B0503020204020204" pitchFamily="34" charset="-122"/>
                <a:ea typeface="微软雅黑" panose="020B0503020204020204" pitchFamily="34" charset="-122"/>
              </a:rPr>
              <a:t>结束后第一个节点</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5" name="TextBox 35">
            <a:extLst>
              <a:ext uri="{FF2B5EF4-FFF2-40B4-BE49-F238E27FC236}">
                <a16:creationId xmlns:a16="http://schemas.microsoft.com/office/drawing/2014/main" id="{D6AB34F9-3412-2C6B-7B46-FDD427D1EDFA}"/>
              </a:ext>
            </a:extLst>
          </p:cNvPr>
          <p:cNvSpPr txBox="1">
            <a:spLocks noChangeArrowheads="1"/>
          </p:cNvSpPr>
          <p:nvPr/>
        </p:nvSpPr>
        <p:spPr bwMode="auto">
          <a:xfrm>
            <a:off x="909469" y="3357794"/>
            <a:ext cx="10441736" cy="1366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步骤 </a:t>
            </a:r>
            <a:r>
              <a:rPr lang="en-US" altLang="zh-CN" sz="2000" b="1" dirty="0">
                <a:solidFill>
                  <a:srgbClr val="595959"/>
                </a:solidFill>
                <a:latin typeface="微软雅黑" panose="020B0503020204020204" pitchFamily="34" charset="-122"/>
                <a:ea typeface="微软雅黑" panose="020B0503020204020204" pitchFamily="34" charset="-122"/>
              </a:rPr>
              <a:t>2</a:t>
            </a:r>
            <a:r>
              <a:rPr lang="zh-CN" altLang="en-US" sz="2000" b="1" dirty="0">
                <a:solidFill>
                  <a:srgbClr val="595959"/>
                </a:solidFill>
                <a:latin typeface="微软雅黑" panose="020B0503020204020204" pitchFamily="34" charset="-122"/>
                <a:ea typeface="微软雅黑" panose="020B0503020204020204" pitchFamily="34" charset="-122"/>
              </a:rPr>
              <a:t>：识别 “出口点”（基本块的结束位置）</a:t>
            </a:r>
            <a:endParaRPr lang="en-US" altLang="zh-CN" sz="2000" b="1" dirty="0">
              <a:solidFill>
                <a:srgbClr val="595959"/>
              </a:solidFill>
              <a:latin typeface="微软雅黑" panose="020B0503020204020204" pitchFamily="34" charset="-122"/>
              <a:ea typeface="微软雅黑" panose="020B0503020204020204" pitchFamily="34" charset="-122"/>
            </a:endParaRPr>
          </a:p>
          <a:p>
            <a:pPr marL="720000" indent="-285750" algn="just">
              <a:lnSpc>
                <a:spcPct val="150000"/>
              </a:lnSpc>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所有</a:t>
            </a:r>
            <a:r>
              <a:rPr lang="zh-CN" altLang="en-US" sz="1800" dirty="0">
                <a:solidFill>
                  <a:srgbClr val="0070C0"/>
                </a:solidFill>
                <a:latin typeface="微软雅黑" panose="020B0503020204020204" pitchFamily="34" charset="-122"/>
                <a:ea typeface="微软雅黑" panose="020B0503020204020204" pitchFamily="34" charset="-122"/>
              </a:rPr>
              <a:t>分支判断节点</a:t>
            </a:r>
            <a:r>
              <a:rPr lang="zh-CN" altLang="en-US" sz="1800" dirty="0">
                <a:solidFill>
                  <a:srgbClr val="595959"/>
                </a:solidFill>
                <a:latin typeface="微软雅黑" panose="020B0503020204020204" pitchFamily="34" charset="-122"/>
                <a:ea typeface="微软雅黑" panose="020B0503020204020204" pitchFamily="34" charset="-122"/>
              </a:rPr>
              <a:t>（如</a:t>
            </a:r>
            <a:r>
              <a:rPr lang="en-US" altLang="zh-CN" sz="1800" dirty="0">
                <a:solidFill>
                  <a:srgbClr val="595959"/>
                </a:solidFill>
                <a:latin typeface="微软雅黑" panose="020B0503020204020204" pitchFamily="34" charset="-122"/>
                <a:ea typeface="微软雅黑" panose="020B0503020204020204" pitchFamily="34" charset="-122"/>
              </a:rPr>
              <a:t>if</a:t>
            </a:r>
            <a:r>
              <a:rPr lang="zh-CN" altLang="en-US" sz="1800" dirty="0">
                <a:solidFill>
                  <a:srgbClr val="595959"/>
                </a:solidFill>
                <a:latin typeface="微软雅黑" panose="020B0503020204020204" pitchFamily="34" charset="-122"/>
                <a:ea typeface="微软雅黑" panose="020B0503020204020204" pitchFamily="34" charset="-122"/>
              </a:rPr>
              <a:t>条件判断、</a:t>
            </a:r>
            <a:r>
              <a:rPr lang="en-US" altLang="zh-CN" sz="1800" dirty="0">
                <a:solidFill>
                  <a:srgbClr val="595959"/>
                </a:solidFill>
                <a:latin typeface="微软雅黑" panose="020B0503020204020204" pitchFamily="34" charset="-122"/>
                <a:ea typeface="微软雅黑" panose="020B0503020204020204" pitchFamily="34" charset="-122"/>
              </a:rPr>
              <a:t>while</a:t>
            </a:r>
            <a:r>
              <a:rPr lang="zh-CN" altLang="en-US" sz="1800" dirty="0">
                <a:solidFill>
                  <a:srgbClr val="595959"/>
                </a:solidFill>
                <a:latin typeface="微软雅黑" panose="020B0503020204020204" pitchFamily="34" charset="-122"/>
                <a:ea typeface="微软雅黑" panose="020B0503020204020204" pitchFamily="34" charset="-122"/>
              </a:rPr>
              <a:t>循环条件）。</a:t>
            </a:r>
          </a:p>
          <a:p>
            <a:pPr marL="720000" indent="-285750" algn="just">
              <a:lnSpc>
                <a:spcPct val="150000"/>
              </a:lnSpc>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程序的</a:t>
            </a:r>
            <a:r>
              <a:rPr lang="zh-CN" altLang="en-US" sz="1800" dirty="0">
                <a:solidFill>
                  <a:srgbClr val="0070C0"/>
                </a:solidFill>
                <a:latin typeface="微软雅黑" panose="020B0503020204020204" pitchFamily="34" charset="-122"/>
                <a:ea typeface="微软雅黑" panose="020B0503020204020204" pitchFamily="34" charset="-122"/>
              </a:rPr>
              <a:t>终止节点</a:t>
            </a:r>
            <a:r>
              <a:rPr lang="zh-CN" altLang="en-US" sz="1800" dirty="0">
                <a:solidFill>
                  <a:srgbClr val="595959"/>
                </a:solidFill>
                <a:latin typeface="微软雅黑" panose="020B0503020204020204" pitchFamily="34" charset="-122"/>
                <a:ea typeface="微软雅黑" panose="020B0503020204020204" pitchFamily="34" charset="-122"/>
              </a:rPr>
              <a:t>（如</a:t>
            </a:r>
            <a:r>
              <a:rPr lang="en-US" altLang="zh-CN" sz="1800" dirty="0">
                <a:solidFill>
                  <a:srgbClr val="595959"/>
                </a:solidFill>
                <a:latin typeface="微软雅黑" panose="020B0503020204020204" pitchFamily="34" charset="-122"/>
                <a:ea typeface="微软雅黑" panose="020B0503020204020204" pitchFamily="34" charset="-122"/>
              </a:rPr>
              <a:t>return</a:t>
            </a:r>
            <a:r>
              <a:rPr lang="zh-CN" altLang="en-US" sz="1800" dirty="0">
                <a:solidFill>
                  <a:srgbClr val="595959"/>
                </a:solidFill>
                <a:latin typeface="微软雅黑" panose="020B0503020204020204" pitchFamily="34" charset="-122"/>
                <a:ea typeface="微软雅黑" panose="020B0503020204020204" pitchFamily="34" charset="-122"/>
              </a:rPr>
              <a:t>、结束框）。</a:t>
            </a:r>
          </a:p>
        </p:txBody>
      </p:sp>
      <p:sp>
        <p:nvSpPr>
          <p:cNvPr id="6" name="TextBox 35">
            <a:extLst>
              <a:ext uri="{FF2B5EF4-FFF2-40B4-BE49-F238E27FC236}">
                <a16:creationId xmlns:a16="http://schemas.microsoft.com/office/drawing/2014/main" id="{BC9D7D58-995A-4558-29B1-7C36CE3890EE}"/>
              </a:ext>
            </a:extLst>
          </p:cNvPr>
          <p:cNvSpPr txBox="1">
            <a:spLocks noChangeArrowheads="1"/>
          </p:cNvSpPr>
          <p:nvPr/>
        </p:nvSpPr>
        <p:spPr bwMode="auto">
          <a:xfrm>
            <a:off x="909469" y="4979827"/>
            <a:ext cx="10441736" cy="1782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步骤 </a:t>
            </a:r>
            <a:r>
              <a:rPr lang="en-US" altLang="zh-CN" sz="2000" b="1" dirty="0">
                <a:solidFill>
                  <a:srgbClr val="595959"/>
                </a:solidFill>
                <a:latin typeface="微软雅黑" panose="020B0503020204020204" pitchFamily="34" charset="-122"/>
                <a:ea typeface="微软雅黑" panose="020B0503020204020204" pitchFamily="34" charset="-122"/>
              </a:rPr>
              <a:t>3</a:t>
            </a:r>
            <a:r>
              <a:rPr lang="zh-CN" altLang="en-US" sz="2000" b="1" dirty="0">
                <a:solidFill>
                  <a:srgbClr val="595959"/>
                </a:solidFill>
                <a:latin typeface="微软雅黑" panose="020B0503020204020204" pitchFamily="34" charset="-122"/>
                <a:ea typeface="微软雅黑" panose="020B0503020204020204" pitchFamily="34" charset="-122"/>
              </a:rPr>
              <a:t>：划分基本块</a:t>
            </a:r>
            <a:endParaRPr lang="en-US" altLang="zh-CN" sz="2000" b="1"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从每个入口点开始，按顺序收集流程图中的处理步骤，直到遇到下一个入口点或出口点，形成一个基本块。</a:t>
            </a:r>
          </a:p>
          <a:p>
            <a:pPr algn="just">
              <a:lnSpc>
                <a:spcPct val="150000"/>
              </a:lnSpc>
            </a:pPr>
            <a:r>
              <a:rPr lang="zh-CN" altLang="en-US" sz="1800" b="1" dirty="0">
                <a:solidFill>
                  <a:srgbClr val="595959"/>
                </a:solidFill>
                <a:latin typeface="微软雅黑" panose="020B0503020204020204" pitchFamily="34" charset="-122"/>
                <a:ea typeface="微软雅黑" panose="020B0503020204020204" pitchFamily="34" charset="-122"/>
              </a:rPr>
              <a:t>规则：</a:t>
            </a:r>
            <a:r>
              <a:rPr lang="zh-CN" altLang="en-US" sz="1800" dirty="0">
                <a:solidFill>
                  <a:srgbClr val="595959"/>
                </a:solidFill>
                <a:latin typeface="微软雅黑" panose="020B0503020204020204" pitchFamily="34" charset="-122"/>
                <a:ea typeface="微软雅黑" panose="020B0503020204020204" pitchFamily="34" charset="-122"/>
              </a:rPr>
              <a:t>基本块内</a:t>
            </a:r>
            <a:r>
              <a:rPr lang="zh-CN" altLang="en-US" sz="1800" dirty="0">
                <a:solidFill>
                  <a:srgbClr val="0070C0"/>
                </a:solidFill>
                <a:latin typeface="微软雅黑" panose="020B0503020204020204" pitchFamily="34" charset="-122"/>
                <a:ea typeface="微软雅黑" panose="020B0503020204020204" pitchFamily="34" charset="-122"/>
              </a:rPr>
              <a:t>只能有 “处理步骤”（如赋值、运算），不能包含分支判断或跳转</a:t>
            </a:r>
            <a:r>
              <a:rPr lang="zh-CN" altLang="en-US" sz="1800" dirty="0">
                <a:solidFill>
                  <a:srgbClr val="595959"/>
                </a:solidFill>
                <a:latin typeface="微软雅黑" panose="020B0503020204020204" pitchFamily="34" charset="-122"/>
                <a:ea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7" name="Title 1">
            <a:extLst>
              <a:ext uri="{FF2B5EF4-FFF2-40B4-BE49-F238E27FC236}">
                <a16:creationId xmlns:a16="http://schemas.microsoft.com/office/drawing/2014/main" id="{3AFF59AB-D292-1814-B692-9C27D23E3BEA}"/>
              </a:ext>
            </a:extLst>
          </p:cNvPr>
          <p:cNvSpPr txBox="1"/>
          <p:nvPr/>
        </p:nvSpPr>
        <p:spPr>
          <a:xfrm>
            <a:off x="1143690" y="266995"/>
            <a:ext cx="50381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3.1.1	程序流程图转化为控制流图</a:t>
            </a:r>
          </a:p>
        </p:txBody>
      </p:sp>
    </p:spTree>
    <p:extLst>
      <p:ext uri="{BB962C8B-B14F-4D97-AF65-F5344CB8AC3E}">
        <p14:creationId xmlns:p14="http://schemas.microsoft.com/office/powerpoint/2010/main" val="41072964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1973D-E8B7-1B16-863D-AED2301CCEC6}"/>
            </a:ext>
          </a:extLst>
        </p:cNvPr>
        <p:cNvGrpSpPr/>
        <p:nvPr/>
      </p:nvGrpSpPr>
      <p:grpSpPr>
        <a:xfrm>
          <a:off x="0" y="0"/>
          <a:ext cx="0" cy="0"/>
          <a:chOff x="0" y="0"/>
          <a:chExt cx="0" cy="0"/>
        </a:xfrm>
      </p:grpSpPr>
      <p:sp>
        <p:nvSpPr>
          <p:cNvPr id="3" name="TextBox 35">
            <a:extLst>
              <a:ext uri="{FF2B5EF4-FFF2-40B4-BE49-F238E27FC236}">
                <a16:creationId xmlns:a16="http://schemas.microsoft.com/office/drawing/2014/main" id="{892AEAE5-330D-190E-AA94-9EDC58C19AAA}"/>
              </a:ext>
            </a:extLst>
          </p:cNvPr>
          <p:cNvSpPr txBox="1">
            <a:spLocks noChangeArrowheads="1"/>
          </p:cNvSpPr>
          <p:nvPr/>
        </p:nvSpPr>
        <p:spPr bwMode="auto">
          <a:xfrm>
            <a:off x="909469" y="909794"/>
            <a:ext cx="10441736" cy="951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步骤 </a:t>
            </a:r>
            <a:r>
              <a:rPr lang="en-US" altLang="zh-CN" sz="2000" b="1" dirty="0">
                <a:solidFill>
                  <a:srgbClr val="595959"/>
                </a:solidFill>
                <a:latin typeface="微软雅黑" panose="020B0503020204020204" pitchFamily="34" charset="-122"/>
                <a:ea typeface="微软雅黑" panose="020B0503020204020204" pitchFamily="34" charset="-122"/>
              </a:rPr>
              <a:t>4</a:t>
            </a:r>
            <a:r>
              <a:rPr lang="zh-CN" altLang="en-US" sz="2000" b="1" dirty="0">
                <a:solidFill>
                  <a:srgbClr val="595959"/>
                </a:solidFill>
                <a:latin typeface="微软雅黑" panose="020B0503020204020204" pitchFamily="34" charset="-122"/>
                <a:ea typeface="微软雅黑" panose="020B0503020204020204" pitchFamily="34" charset="-122"/>
              </a:rPr>
              <a:t>：为基本块命名</a:t>
            </a:r>
            <a:endParaRPr lang="en-US" altLang="zh-CN" sz="2000" b="1"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用 </a:t>
            </a:r>
            <a:r>
              <a:rPr lang="en-US" altLang="zh-CN" sz="1800" dirty="0">
                <a:solidFill>
                  <a:srgbClr val="595959"/>
                </a:solidFill>
                <a:latin typeface="微软雅黑" panose="020B0503020204020204" pitchFamily="34" charset="-122"/>
                <a:ea typeface="微软雅黑" panose="020B0503020204020204" pitchFamily="34" charset="-122"/>
              </a:rPr>
              <a:t>BB1</a:t>
            </a: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BB2</a:t>
            </a: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 </a:t>
            </a:r>
            <a:r>
              <a:rPr lang="zh-CN" altLang="en-US" sz="1800" dirty="0">
                <a:solidFill>
                  <a:srgbClr val="595959"/>
                </a:solidFill>
                <a:latin typeface="微软雅黑" panose="020B0503020204020204" pitchFamily="34" charset="-122"/>
                <a:ea typeface="微软雅黑" panose="020B0503020204020204" pitchFamily="34" charset="-122"/>
              </a:rPr>
              <a:t>等标识每个基本块，便于后续连接。</a:t>
            </a:r>
          </a:p>
        </p:txBody>
      </p:sp>
      <p:sp>
        <p:nvSpPr>
          <p:cNvPr id="5" name="TextBox 35">
            <a:extLst>
              <a:ext uri="{FF2B5EF4-FFF2-40B4-BE49-F238E27FC236}">
                <a16:creationId xmlns:a16="http://schemas.microsoft.com/office/drawing/2014/main" id="{45D74DA0-DD19-1933-F07B-664374C3E48C}"/>
              </a:ext>
            </a:extLst>
          </p:cNvPr>
          <p:cNvSpPr txBox="1">
            <a:spLocks noChangeArrowheads="1"/>
          </p:cNvSpPr>
          <p:nvPr/>
        </p:nvSpPr>
        <p:spPr bwMode="auto">
          <a:xfrm>
            <a:off x="822696" y="1896214"/>
            <a:ext cx="10528509" cy="2613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步骤 </a:t>
            </a:r>
            <a:r>
              <a:rPr lang="en-US" altLang="zh-CN" sz="2000" b="1" dirty="0">
                <a:solidFill>
                  <a:srgbClr val="595959"/>
                </a:solidFill>
                <a:latin typeface="微软雅黑" panose="020B0503020204020204" pitchFamily="34" charset="-122"/>
                <a:ea typeface="微软雅黑" panose="020B0503020204020204" pitchFamily="34" charset="-122"/>
              </a:rPr>
              <a:t>5</a:t>
            </a:r>
            <a:r>
              <a:rPr lang="zh-CN" altLang="en-US" sz="2000" b="1" dirty="0">
                <a:solidFill>
                  <a:srgbClr val="595959"/>
                </a:solidFill>
                <a:latin typeface="微软雅黑" panose="020B0503020204020204" pitchFamily="34" charset="-122"/>
                <a:ea typeface="微软雅黑" panose="020B0503020204020204" pitchFamily="34" charset="-122"/>
              </a:rPr>
              <a:t>：绘制节点与边</a:t>
            </a:r>
            <a:endParaRPr lang="en-US" altLang="zh-CN" sz="2000" b="1" dirty="0">
              <a:solidFill>
                <a:srgbClr val="595959"/>
              </a:solidFill>
              <a:latin typeface="微软雅黑" panose="020B0503020204020204" pitchFamily="34" charset="-122"/>
              <a:ea typeface="微软雅黑" panose="020B0503020204020204" pitchFamily="34" charset="-122"/>
            </a:endParaRPr>
          </a:p>
          <a:p>
            <a:pPr marL="720000" indent="-285750" algn="just">
              <a:lnSpc>
                <a:spcPct val="150000"/>
              </a:lnSpc>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节点：每个基本块对应一个或多个矩形节点，内部可标注块内的核心操作（无需列出所有步骤）</a:t>
            </a:r>
            <a:endParaRPr lang="en-US" altLang="zh-CN" sz="1800" dirty="0">
              <a:solidFill>
                <a:srgbClr val="595959"/>
              </a:solidFill>
              <a:latin typeface="微软雅黑" panose="020B0503020204020204" pitchFamily="34" charset="-122"/>
              <a:ea typeface="微软雅黑" panose="020B0503020204020204" pitchFamily="34" charset="-122"/>
            </a:endParaRPr>
          </a:p>
          <a:p>
            <a:pPr marL="720000" indent="-285750" algn="just">
              <a:lnSpc>
                <a:spcPct val="150000"/>
              </a:lnSpc>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有向边：根据流程图的控制流箭头，连接相关基本块：</a:t>
            </a:r>
          </a:p>
          <a:p>
            <a:pPr marL="1080000" indent="-285750" algn="just">
              <a:lnSpc>
                <a:spcPct val="150000"/>
              </a:lnSpc>
              <a:buFont typeface="Wingdings" panose="05000000000000000000" pitchFamily="2" charset="2"/>
              <a:buChar char="Ø"/>
            </a:pPr>
            <a:r>
              <a:rPr lang="zh-CN" altLang="en-US" sz="1800" dirty="0">
                <a:solidFill>
                  <a:srgbClr val="595959"/>
                </a:solidFill>
                <a:latin typeface="微软雅黑" panose="020B0503020204020204" pitchFamily="34" charset="-122"/>
                <a:ea typeface="微软雅黑" panose="020B0503020204020204" pitchFamily="34" charset="-122"/>
              </a:rPr>
              <a:t>分支判断节点（如</a:t>
            </a:r>
            <a:r>
              <a:rPr lang="en-US" altLang="zh-CN" sz="1800" dirty="0">
                <a:solidFill>
                  <a:srgbClr val="595959"/>
                </a:solidFill>
                <a:latin typeface="微软雅黑" panose="020B0503020204020204" pitchFamily="34" charset="-122"/>
                <a:ea typeface="微软雅黑" panose="020B0503020204020204" pitchFamily="34" charset="-122"/>
              </a:rPr>
              <a:t>if</a:t>
            </a:r>
            <a:r>
              <a:rPr lang="zh-CN" altLang="en-US" sz="1800" dirty="0">
                <a:solidFill>
                  <a:srgbClr val="595959"/>
                </a:solidFill>
                <a:latin typeface="微软雅黑" panose="020B0503020204020204" pitchFamily="34" charset="-122"/>
                <a:ea typeface="微软雅黑" panose="020B0503020204020204" pitchFamily="34" charset="-122"/>
              </a:rPr>
              <a:t>）所在的基本块，需引出两条边（对应 “真”“假” 分支）。</a:t>
            </a:r>
          </a:p>
          <a:p>
            <a:pPr marL="1080000" indent="-285750" algn="just">
              <a:lnSpc>
                <a:spcPct val="150000"/>
              </a:lnSpc>
              <a:buFont typeface="Wingdings" panose="05000000000000000000" pitchFamily="2" charset="2"/>
              <a:buChar char="Ø"/>
            </a:pPr>
            <a:r>
              <a:rPr lang="zh-CN" altLang="en-US" sz="1800" dirty="0">
                <a:solidFill>
                  <a:srgbClr val="595959"/>
                </a:solidFill>
                <a:latin typeface="微软雅黑" panose="020B0503020204020204" pitchFamily="34" charset="-122"/>
                <a:ea typeface="微软雅黑" panose="020B0503020204020204" pitchFamily="34" charset="-122"/>
              </a:rPr>
              <a:t>循环结构中，循环条件块需引出两条边（“进入循环体” 和 “退出循环”）。</a:t>
            </a:r>
          </a:p>
          <a:p>
            <a:pPr marL="1080000" indent="-285750" algn="just">
              <a:lnSpc>
                <a:spcPct val="150000"/>
              </a:lnSpc>
              <a:buFont typeface="Wingdings" panose="05000000000000000000" pitchFamily="2" charset="2"/>
              <a:buChar char="Ø"/>
            </a:pPr>
            <a:r>
              <a:rPr lang="zh-CN" altLang="en-US" sz="1800" dirty="0">
                <a:solidFill>
                  <a:srgbClr val="595959"/>
                </a:solidFill>
                <a:latin typeface="微软雅黑" panose="020B0503020204020204" pitchFamily="34" charset="-122"/>
                <a:ea typeface="微软雅黑" panose="020B0503020204020204" pitchFamily="34" charset="-122"/>
              </a:rPr>
              <a:t>顺序执行的基本块之间用单条边连接。</a:t>
            </a:r>
          </a:p>
        </p:txBody>
      </p:sp>
      <p:sp>
        <p:nvSpPr>
          <p:cNvPr id="6" name="TextBox 35">
            <a:extLst>
              <a:ext uri="{FF2B5EF4-FFF2-40B4-BE49-F238E27FC236}">
                <a16:creationId xmlns:a16="http://schemas.microsoft.com/office/drawing/2014/main" id="{5CA70203-0E61-0944-CC60-34BE5E48ADC0}"/>
              </a:ext>
            </a:extLst>
          </p:cNvPr>
          <p:cNvSpPr txBox="1">
            <a:spLocks noChangeArrowheads="1"/>
          </p:cNvSpPr>
          <p:nvPr/>
        </p:nvSpPr>
        <p:spPr bwMode="auto">
          <a:xfrm>
            <a:off x="902082" y="4544627"/>
            <a:ext cx="10441736" cy="1366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步骤 </a:t>
            </a:r>
            <a:r>
              <a:rPr lang="en-US" altLang="zh-CN" sz="2000" b="1" dirty="0">
                <a:solidFill>
                  <a:srgbClr val="595959"/>
                </a:solidFill>
                <a:latin typeface="微软雅黑" panose="020B0503020204020204" pitchFamily="34" charset="-122"/>
                <a:ea typeface="微软雅黑" panose="020B0503020204020204" pitchFamily="34" charset="-122"/>
              </a:rPr>
              <a:t>6</a:t>
            </a:r>
            <a:r>
              <a:rPr lang="zh-CN" altLang="en-US" sz="2000" b="1" dirty="0">
                <a:solidFill>
                  <a:srgbClr val="595959"/>
                </a:solidFill>
                <a:latin typeface="微软雅黑" panose="020B0503020204020204" pitchFamily="34" charset="-122"/>
                <a:ea typeface="微软雅黑" panose="020B0503020204020204" pitchFamily="34" charset="-122"/>
              </a:rPr>
              <a:t>：添加入口和出口节点</a:t>
            </a:r>
            <a:endParaRPr lang="en-US" altLang="zh-CN" sz="2000" b="1" dirty="0">
              <a:solidFill>
                <a:srgbClr val="595959"/>
              </a:solidFill>
              <a:latin typeface="微软雅黑" panose="020B0503020204020204" pitchFamily="34" charset="-122"/>
              <a:ea typeface="微软雅黑" panose="020B0503020204020204" pitchFamily="34" charset="-122"/>
            </a:endParaRPr>
          </a:p>
          <a:p>
            <a:pPr marL="720000" indent="-285750" algn="just">
              <a:lnSpc>
                <a:spcPct val="150000"/>
              </a:lnSpc>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入口节点（</a:t>
            </a:r>
            <a:r>
              <a:rPr lang="en-US" altLang="zh-CN" sz="1800" dirty="0">
                <a:solidFill>
                  <a:srgbClr val="595959"/>
                </a:solidFill>
                <a:latin typeface="微软雅黑" panose="020B0503020204020204" pitchFamily="34" charset="-122"/>
                <a:ea typeface="微软雅黑" panose="020B0503020204020204" pitchFamily="34" charset="-122"/>
              </a:rPr>
              <a:t>Entry</a:t>
            </a:r>
            <a:r>
              <a:rPr lang="zh-CN" altLang="en-US" sz="1800" dirty="0">
                <a:solidFill>
                  <a:srgbClr val="595959"/>
                </a:solidFill>
                <a:latin typeface="微软雅黑" panose="020B0503020204020204" pitchFamily="34" charset="-122"/>
                <a:ea typeface="微软雅黑" panose="020B0503020204020204" pitchFamily="34" charset="-122"/>
              </a:rPr>
              <a:t>）：唯一的起始节点，指向程序的第一个基本块。</a:t>
            </a:r>
          </a:p>
          <a:p>
            <a:pPr marL="720000" indent="-285750" algn="just">
              <a:lnSpc>
                <a:spcPct val="150000"/>
              </a:lnSpc>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出口节点（</a:t>
            </a:r>
            <a:r>
              <a:rPr lang="en-US" altLang="zh-CN" sz="1800" dirty="0">
                <a:solidFill>
                  <a:srgbClr val="595959"/>
                </a:solidFill>
                <a:latin typeface="微软雅黑" panose="020B0503020204020204" pitchFamily="34" charset="-122"/>
                <a:ea typeface="微软雅黑" panose="020B0503020204020204" pitchFamily="34" charset="-122"/>
              </a:rPr>
              <a:t>Exit</a:t>
            </a:r>
            <a:r>
              <a:rPr lang="zh-CN" altLang="en-US" sz="1800" dirty="0">
                <a:solidFill>
                  <a:srgbClr val="595959"/>
                </a:solidFill>
                <a:latin typeface="微软雅黑" panose="020B0503020204020204" pitchFamily="34" charset="-122"/>
                <a:ea typeface="微软雅黑" panose="020B0503020204020204" pitchFamily="34" charset="-122"/>
              </a:rPr>
              <a:t>）：唯一的终止节点，由所有结束程序的基本块（如含</a:t>
            </a:r>
            <a:r>
              <a:rPr lang="en-US" altLang="zh-CN" sz="1800" dirty="0">
                <a:solidFill>
                  <a:srgbClr val="595959"/>
                </a:solidFill>
                <a:latin typeface="微软雅黑" panose="020B0503020204020204" pitchFamily="34" charset="-122"/>
                <a:ea typeface="微软雅黑" panose="020B0503020204020204" pitchFamily="34" charset="-122"/>
              </a:rPr>
              <a:t>return</a:t>
            </a:r>
            <a:r>
              <a:rPr lang="zh-CN" altLang="en-US" sz="1800" dirty="0">
                <a:solidFill>
                  <a:srgbClr val="595959"/>
                </a:solidFill>
                <a:latin typeface="微软雅黑" panose="020B0503020204020204" pitchFamily="34" charset="-122"/>
                <a:ea typeface="微软雅黑" panose="020B0503020204020204" pitchFamily="34" charset="-122"/>
              </a:rPr>
              <a:t>的块）指向。</a:t>
            </a:r>
          </a:p>
        </p:txBody>
      </p:sp>
      <p:sp>
        <p:nvSpPr>
          <p:cNvPr id="2" name="Title 1">
            <a:extLst>
              <a:ext uri="{FF2B5EF4-FFF2-40B4-BE49-F238E27FC236}">
                <a16:creationId xmlns:a16="http://schemas.microsoft.com/office/drawing/2014/main" id="{6C9D0261-9458-4B53-E526-C2BC18AA31CB}"/>
              </a:ext>
            </a:extLst>
          </p:cNvPr>
          <p:cNvSpPr txBox="1"/>
          <p:nvPr/>
        </p:nvSpPr>
        <p:spPr>
          <a:xfrm>
            <a:off x="1143690" y="266995"/>
            <a:ext cx="5038151"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3.1.1	程序流程图转化为控制流图</a:t>
            </a:r>
          </a:p>
        </p:txBody>
      </p:sp>
    </p:spTree>
    <p:extLst>
      <p:ext uri="{BB962C8B-B14F-4D97-AF65-F5344CB8AC3E}">
        <p14:creationId xmlns:p14="http://schemas.microsoft.com/office/powerpoint/2010/main" val="4013454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206" y="1701794"/>
            <a:ext cx="6289675"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在白盒测试中，经常使用基本路径法测试程序的代码。为了让读者更好地掌握基本路径法的使用，下面</a:t>
            </a:r>
            <a:r>
              <a:rPr lang="zh-CN" altLang="en-US" sz="2000" dirty="0">
                <a:solidFill>
                  <a:srgbClr val="0070C0"/>
                </a:solidFill>
                <a:latin typeface="微软雅黑" panose="020B0503020204020204" pitchFamily="34" charset="-122"/>
                <a:ea typeface="微软雅黑" panose="020B0503020204020204" pitchFamily="34" charset="-122"/>
              </a:rPr>
              <a:t>以判断闰年问题的C语言程序代码为例</a:t>
            </a:r>
            <a:r>
              <a:rPr lang="zh-CN" altLang="en-US" sz="2000" dirty="0">
                <a:solidFill>
                  <a:srgbClr val="595959"/>
                </a:solidFill>
                <a:latin typeface="微软雅黑" panose="020B0503020204020204" pitchFamily="34" charset="-122"/>
                <a:ea typeface="微软雅黑" panose="020B0503020204020204" pitchFamily="34" charset="-122"/>
              </a:rPr>
              <a:t>，讲解如何</a:t>
            </a:r>
            <a:r>
              <a:rPr lang="zh-CN" altLang="en-US" sz="2000" dirty="0">
                <a:solidFill>
                  <a:srgbClr val="0070C0"/>
                </a:solidFill>
                <a:latin typeface="微软雅黑" panose="020B0503020204020204" pitchFamily="34" charset="-122"/>
                <a:ea typeface="微软雅黑" panose="020B0503020204020204" pitchFamily="34" charset="-122"/>
              </a:rPr>
              <a:t>通过基本路径法设计测试用例</a:t>
            </a:r>
            <a:r>
              <a:rPr lang="zh-CN" altLang="en-US" sz="20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35" y="266700"/>
            <a:ext cx="529082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3.1.2	实例：判断年份是否为闰年</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5370" y="909955"/>
            <a:ext cx="10312400" cy="999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当年份能够被4但不能被100整除时为闰年，或者年份能够被</a:t>
            </a:r>
            <a:r>
              <a:rPr lang="en-US" altLang="zh-CN" sz="1800" dirty="0">
                <a:solidFill>
                  <a:srgbClr val="595959"/>
                </a:solidFill>
                <a:latin typeface="微软雅黑" panose="020B0503020204020204" pitchFamily="34" charset="-122"/>
                <a:ea typeface="微软雅黑" panose="020B0503020204020204" pitchFamily="34" charset="-122"/>
              </a:rPr>
              <a:t>400</a:t>
            </a:r>
            <a:r>
              <a:rPr lang="zh-CN" altLang="en-US" sz="1800" dirty="0">
                <a:solidFill>
                  <a:srgbClr val="595959"/>
                </a:solidFill>
                <a:latin typeface="微软雅黑" panose="020B0503020204020204" pitchFamily="34" charset="-122"/>
                <a:ea typeface="微软雅黑" panose="020B0503020204020204" pitchFamily="34" charset="-122"/>
              </a:rPr>
              <a:t>整除时为闰年，据此可以设计</a:t>
            </a:r>
            <a:r>
              <a:rPr lang="zh-CN" altLang="en-US" sz="1800" dirty="0">
                <a:solidFill>
                  <a:srgbClr val="0070C0"/>
                </a:solidFill>
                <a:latin typeface="微软雅黑" panose="020B0503020204020204" pitchFamily="34" charset="-122"/>
                <a:ea typeface="微软雅黑" panose="020B0503020204020204" pitchFamily="34" charset="-122"/>
              </a:rPr>
              <a:t>判断输入的年份是否为闰年的C语言程序代码</a:t>
            </a:r>
            <a:r>
              <a:rPr lang="zh-CN" altLang="en-US" sz="1800" dirty="0">
                <a:solidFill>
                  <a:srgbClr val="595959"/>
                </a:solidFill>
                <a:latin typeface="微软雅黑" panose="020B0503020204020204" pitchFamily="34" charset="-122"/>
                <a:ea typeface="微软雅黑" panose="020B0503020204020204" pitchFamily="34" charset="-122"/>
              </a:rPr>
              <a:t>，具体代码和流程图如下。</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35" y="266700"/>
            <a:ext cx="529082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3.1.2	实例：判断年份是否为闰年</a:t>
            </a:r>
          </a:p>
        </p:txBody>
      </p:sp>
      <p:pic>
        <p:nvPicPr>
          <p:cNvPr id="3" name="图片 2" descr="999"/>
          <p:cNvPicPr>
            <a:picLocks noChangeAspect="1"/>
          </p:cNvPicPr>
          <p:nvPr/>
        </p:nvPicPr>
        <p:blipFill>
          <a:blip r:embed="rId3"/>
          <a:stretch>
            <a:fillRect/>
          </a:stretch>
        </p:blipFill>
        <p:spPr>
          <a:xfrm>
            <a:off x="5739698" y="1989794"/>
            <a:ext cx="5492629" cy="4464000"/>
          </a:xfrm>
          <a:prstGeom prst="rect">
            <a:avLst/>
          </a:prstGeom>
        </p:spPr>
      </p:pic>
      <p:sp>
        <p:nvSpPr>
          <p:cNvPr id="9" name="文本框 8">
            <a:extLst>
              <a:ext uri="{FF2B5EF4-FFF2-40B4-BE49-F238E27FC236}">
                <a16:creationId xmlns:a16="http://schemas.microsoft.com/office/drawing/2014/main" id="{3E0595AD-2F76-C3D6-CCEE-339BC7696A46}"/>
              </a:ext>
            </a:extLst>
          </p:cNvPr>
          <p:cNvSpPr txBox="1"/>
          <p:nvPr/>
        </p:nvSpPr>
        <p:spPr>
          <a:xfrm>
            <a:off x="1162095" y="1812052"/>
            <a:ext cx="4069111" cy="5047536"/>
          </a:xfrm>
          <a:prstGeom prst="rect">
            <a:avLst/>
          </a:prstGeom>
          <a:noFill/>
        </p:spPr>
        <p:txBody>
          <a:bodyPr wrap="square">
            <a:spAutoFit/>
          </a:bodyPr>
          <a:lstStyle/>
          <a:p>
            <a:pPr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#include &lt;</a:t>
            </a:r>
            <a:r>
              <a:rPr lang="en-US" altLang="zh-CN" sz="1400" b="0" i="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stdio.h</a:t>
            </a: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&gt;</a:t>
            </a:r>
          </a:p>
          <a:p>
            <a:pPr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#include &lt;</a:t>
            </a:r>
            <a:r>
              <a:rPr lang="en-US" altLang="zh-CN" sz="1400" b="0" i="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stdlib.h</a:t>
            </a: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&gt;</a:t>
            </a:r>
          </a:p>
          <a:p>
            <a:pPr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int main()</a:t>
            </a:r>
          </a:p>
          <a:p>
            <a:pPr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indent="4572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int </a:t>
            </a:r>
            <a:r>
              <a:rPr lang="en-US" altLang="zh-CN" sz="1400" b="0" i="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year,leap</a:t>
            </a: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indent="457200" algn="l">
              <a:buNone/>
            </a:pPr>
            <a:r>
              <a:rPr lang="en-US" altLang="zh-CN" sz="1400" b="0" i="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printf</a:t>
            </a: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("Enter year:");</a:t>
            </a:r>
          </a:p>
          <a:p>
            <a:pPr indent="457200" algn="l">
              <a:buNone/>
            </a:pPr>
            <a:r>
              <a:rPr lang="en-US" altLang="zh-CN" sz="1400" b="0" i="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scanf</a:t>
            </a: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altLang="zh-CN" sz="1400" b="0" i="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d",&amp;year</a:t>
            </a: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indent="4572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if(year%4==0)</a:t>
            </a:r>
          </a:p>
          <a:p>
            <a:pPr indent="4572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indent="9000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if(year%100==0)</a:t>
            </a:r>
          </a:p>
          <a:p>
            <a:pPr indent="9000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indent="13680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if(year%400==0)</a:t>
            </a:r>
          </a:p>
          <a:p>
            <a:pPr indent="18000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leap=1;</a:t>
            </a:r>
          </a:p>
          <a:p>
            <a:pPr indent="13680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else</a:t>
            </a:r>
          </a:p>
          <a:p>
            <a:pPr indent="18000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leap=0;</a:t>
            </a:r>
          </a:p>
          <a:p>
            <a:pPr indent="9000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indent="9000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else</a:t>
            </a:r>
          </a:p>
          <a:p>
            <a:pPr indent="18000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leap=1;</a:t>
            </a:r>
          </a:p>
          <a:p>
            <a:pPr indent="4572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indent="4572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else</a:t>
            </a:r>
          </a:p>
          <a:p>
            <a:pPr indent="9000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leap=0;</a:t>
            </a:r>
          </a:p>
          <a:p>
            <a:pPr indent="457200"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return 0;</a:t>
            </a:r>
          </a:p>
          <a:p>
            <a:pPr algn="l">
              <a:buNone/>
            </a:pPr>
            <a:r>
              <a:rPr lang="en-US" altLang="zh-CN" sz="14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5370" y="909955"/>
            <a:ext cx="5903836" cy="4847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画出</a:t>
            </a:r>
            <a:r>
              <a:rPr lang="zh-CN" altLang="en-US" sz="1800" dirty="0">
                <a:solidFill>
                  <a:srgbClr val="0070C0"/>
                </a:solidFill>
                <a:latin typeface="微软雅黑" panose="020B0503020204020204" pitchFamily="34" charset="-122"/>
                <a:ea typeface="微软雅黑" panose="020B0503020204020204" pitchFamily="34" charset="-122"/>
              </a:rPr>
              <a:t>程序的控制流图</a:t>
            </a:r>
            <a:r>
              <a:rPr lang="zh-CN" altLang="en-US" sz="1800" dirty="0">
                <a:solidFill>
                  <a:srgbClr val="595959"/>
                </a:solidFill>
                <a:latin typeface="微软雅黑" panose="020B0503020204020204" pitchFamily="34" charset="-122"/>
                <a:ea typeface="微软雅黑" panose="020B0503020204020204" pitchFamily="34" charset="-122"/>
              </a:rPr>
              <a:t>，如右图所示。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右图中，一共有10条边，8个节点，4个区域，其中判定节点有3个，分别是1、3、4，程序的圈复杂度为4。</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根据圈复杂度可以得到</a:t>
            </a:r>
            <a:r>
              <a:rPr lang="zh-CN" altLang="en-US" sz="1800" dirty="0">
                <a:solidFill>
                  <a:srgbClr val="0070C0"/>
                </a:solidFill>
                <a:latin typeface="微软雅黑" panose="020B0503020204020204" pitchFamily="34" charset="-122"/>
                <a:ea typeface="微软雅黑" panose="020B0503020204020204" pitchFamily="34" charset="-122"/>
              </a:rPr>
              <a:t>4条独立的路径</a:t>
            </a:r>
            <a:r>
              <a:rPr lang="zh-CN" altLang="en-US" sz="1800" dirty="0">
                <a:solidFill>
                  <a:srgbClr val="595959"/>
                </a:solidFill>
                <a:latin typeface="微软雅黑" panose="020B0503020204020204" pitchFamily="34" charset="-122"/>
                <a:ea typeface="微软雅黑" panose="020B0503020204020204" pitchFamily="34" charset="-122"/>
              </a:rPr>
              <a:t>，具体如下。</a:t>
            </a:r>
          </a:p>
          <a:p>
            <a:pPr marL="285750" indent="45720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路径1：</a:t>
            </a:r>
            <a:r>
              <a:rPr lang="zh-CN" altLang="en-US" sz="1800" dirty="0">
                <a:solidFill>
                  <a:srgbClr val="0070C0"/>
                </a:solidFill>
                <a:latin typeface="微软雅黑" panose="020B0503020204020204" pitchFamily="34" charset="-122"/>
                <a:ea typeface="微软雅黑" panose="020B0503020204020204" pitchFamily="34" charset="-122"/>
              </a:rPr>
              <a:t>1→2→8</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45720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路径2：</a:t>
            </a:r>
            <a:r>
              <a:rPr lang="zh-CN" altLang="en-US" sz="1800" dirty="0">
                <a:solidFill>
                  <a:srgbClr val="0070C0"/>
                </a:solidFill>
                <a:latin typeface="微软雅黑" panose="020B0503020204020204" pitchFamily="34" charset="-122"/>
                <a:ea typeface="微软雅黑" panose="020B0503020204020204" pitchFamily="34" charset="-122"/>
              </a:rPr>
              <a:t>1→3→4→6→8</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45720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路径3：</a:t>
            </a:r>
            <a:r>
              <a:rPr lang="zh-CN" altLang="en-US" sz="1800" dirty="0">
                <a:solidFill>
                  <a:srgbClr val="0070C0"/>
                </a:solidFill>
                <a:latin typeface="微软雅黑" panose="020B0503020204020204" pitchFamily="34" charset="-122"/>
                <a:ea typeface="微软雅黑" panose="020B0503020204020204" pitchFamily="34" charset="-122"/>
              </a:rPr>
              <a:t>1→3→4→7→8</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45720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路径4：</a:t>
            </a:r>
            <a:r>
              <a:rPr lang="zh-CN" altLang="en-US" sz="1800" dirty="0">
                <a:solidFill>
                  <a:srgbClr val="0070C0"/>
                </a:solidFill>
                <a:latin typeface="微软雅黑" panose="020B0503020204020204" pitchFamily="34" charset="-122"/>
                <a:ea typeface="微软雅黑" panose="020B0503020204020204" pitchFamily="34" charset="-122"/>
              </a:rPr>
              <a:t>1→3→5→8</a:t>
            </a:r>
            <a:r>
              <a:rPr lang="zh-CN" altLang="en-US" sz="18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35" y="266700"/>
            <a:ext cx="529082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3.1.2	实例：判断年份是否为闰年</a:t>
            </a:r>
          </a:p>
        </p:txBody>
      </p:sp>
      <p:pic>
        <p:nvPicPr>
          <p:cNvPr id="5" name="图片 4" descr="1010"/>
          <p:cNvPicPr>
            <a:picLocks noChangeAspect="1"/>
          </p:cNvPicPr>
          <p:nvPr/>
        </p:nvPicPr>
        <p:blipFill>
          <a:blip r:embed="rId3"/>
          <a:stretch>
            <a:fillRect/>
          </a:stretch>
        </p:blipFill>
        <p:spPr>
          <a:xfrm>
            <a:off x="7534910" y="1054100"/>
            <a:ext cx="3023870" cy="449199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5370" y="909955"/>
            <a:ext cx="10240010" cy="702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根据上一页中的4条独立路径即可设计测试用例。</a:t>
            </a:r>
            <a:r>
              <a:rPr lang="zh-CN" altLang="en-US" sz="2000" dirty="0">
                <a:solidFill>
                  <a:srgbClr val="0070C0"/>
                </a:solidFill>
                <a:latin typeface="微软雅黑" panose="020B0503020204020204" pitchFamily="34" charset="-122"/>
                <a:ea typeface="微软雅黑" panose="020B0503020204020204" pitchFamily="34" charset="-122"/>
              </a:rPr>
              <a:t>判断闰年问题的测试用例</a:t>
            </a:r>
            <a:r>
              <a:rPr lang="zh-CN" altLang="en-US" sz="2000" dirty="0">
                <a:solidFill>
                  <a:srgbClr val="595959"/>
                </a:solidFill>
                <a:latin typeface="微软雅黑" panose="020B0503020204020204" pitchFamily="34" charset="-122"/>
                <a:ea typeface="微软雅黑" panose="020B0503020204020204" pitchFamily="34" charset="-122"/>
              </a:rPr>
              <a:t>如下表所示。</a:t>
            </a:r>
          </a:p>
        </p:txBody>
      </p:sp>
      <p:sp>
        <p:nvSpPr>
          <p:cNvPr id="2" name="Title 1"/>
          <p:cNvSpPr txBox="1"/>
          <p:nvPr/>
        </p:nvSpPr>
        <p:spPr>
          <a:xfrm>
            <a:off x="1143635" y="266700"/>
            <a:ext cx="529082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3.1.2	实例：判断年份是否为闰年</a:t>
            </a:r>
          </a:p>
        </p:txBody>
      </p:sp>
      <p:graphicFrame>
        <p:nvGraphicFramePr>
          <p:cNvPr id="3" name="表格 2"/>
          <p:cNvGraphicFramePr/>
          <p:nvPr>
            <p:custDataLst>
              <p:tags r:id="rId1"/>
            </p:custDataLst>
          </p:nvPr>
        </p:nvGraphicFramePr>
        <p:xfrm>
          <a:off x="2783205" y="1749425"/>
          <a:ext cx="6221730" cy="2909570"/>
        </p:xfrm>
        <a:graphic>
          <a:graphicData uri="http://schemas.openxmlformats.org/drawingml/2006/table">
            <a:tbl>
              <a:tblPr firstRow="1" bandRow="1">
                <a:tableStyleId>{5C22544A-7EE6-4342-B048-85BDC9FD1C3A}</a:tableStyleId>
              </a:tblPr>
              <a:tblGrid>
                <a:gridCol w="1282886">
                  <a:extLst>
                    <a:ext uri="{9D8B030D-6E8A-4147-A177-3AD203B41FA5}">
                      <a16:colId xmlns:a16="http://schemas.microsoft.com/office/drawing/2014/main" val="20000"/>
                    </a:ext>
                  </a:extLst>
                </a:gridCol>
                <a:gridCol w="1236495">
                  <a:extLst>
                    <a:ext uri="{9D8B030D-6E8A-4147-A177-3AD203B41FA5}">
                      <a16:colId xmlns:a16="http://schemas.microsoft.com/office/drawing/2014/main" val="20001"/>
                    </a:ext>
                  </a:extLst>
                </a:gridCol>
                <a:gridCol w="1851175">
                  <a:extLst>
                    <a:ext uri="{9D8B030D-6E8A-4147-A177-3AD203B41FA5}">
                      <a16:colId xmlns:a16="http://schemas.microsoft.com/office/drawing/2014/main" val="20002"/>
                    </a:ext>
                  </a:extLst>
                </a:gridCol>
                <a:gridCol w="1851174">
                  <a:extLst>
                    <a:ext uri="{9D8B030D-6E8A-4147-A177-3AD203B41FA5}">
                      <a16:colId xmlns:a16="http://schemas.microsoft.com/office/drawing/2014/main" val="20003"/>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执行路径</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输入数据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598805">
                <a:tc>
                  <a:txBody>
                    <a:bodyPr/>
                    <a:lstStyle/>
                    <a:p>
                      <a:pPr algn="ctr">
                        <a:buNone/>
                      </a:pPr>
                      <a:r>
                        <a:rPr lang="zh-CN" altLang="en-US" sz="20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2000" kern="1200">
                          <a:solidFill>
                            <a:srgbClr val="595959"/>
                          </a:solidFill>
                          <a:latin typeface="微软雅黑" panose="020B0503020204020204" pitchFamily="34" charset="-122"/>
                          <a:ea typeface="微软雅黑" panose="020B0503020204020204" pitchFamily="34" charset="-122"/>
                          <a:cs typeface="+mn-cs"/>
                        </a:rPr>
                        <a:t>路径1</a:t>
                      </a:r>
                    </a:p>
                  </a:txBody>
                  <a:tcPr anchor="ctr"/>
                </a:tc>
                <a:tc>
                  <a:txBody>
                    <a:bodyPr/>
                    <a:lstStyle/>
                    <a:p>
                      <a:pPr algn="ctr">
                        <a:buNone/>
                      </a:pPr>
                      <a:r>
                        <a:rPr lang="en-US" altLang="zh-CN" sz="2000" kern="1200">
                          <a:solidFill>
                            <a:srgbClr val="595959"/>
                          </a:solidFill>
                          <a:latin typeface="微软雅黑" panose="020B0503020204020204" pitchFamily="34" charset="-122"/>
                          <a:ea typeface="微软雅黑" panose="020B0503020204020204" pitchFamily="34" charset="-122"/>
                          <a:cs typeface="+mn-cs"/>
                        </a:rPr>
                        <a:t>year=1999</a:t>
                      </a:r>
                    </a:p>
                  </a:txBody>
                  <a:tcPr anchor="ctr"/>
                </a:tc>
                <a:tc>
                  <a:txBody>
                    <a:bodyPr/>
                    <a:lstStyle/>
                    <a:p>
                      <a:pPr algn="ctr">
                        <a:buNone/>
                      </a:pPr>
                      <a:r>
                        <a:rPr lang="en-US" altLang="zh-CN" sz="2000" kern="1200">
                          <a:solidFill>
                            <a:srgbClr val="595959"/>
                          </a:solidFill>
                          <a:latin typeface="微软雅黑" panose="020B0503020204020204" pitchFamily="34" charset="-122"/>
                          <a:ea typeface="微软雅黑" panose="020B0503020204020204" pitchFamily="34" charset="-122"/>
                          <a:cs typeface="+mn-cs"/>
                        </a:rPr>
                        <a:t>leap=0</a:t>
                      </a: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zh-CN" altLang="en-US" sz="2000" kern="1200">
                          <a:solidFill>
                            <a:srgbClr val="595959"/>
                          </a:solidFill>
                          <a:latin typeface="微软雅黑" panose="020B0503020204020204" pitchFamily="34" charset="-122"/>
                          <a:ea typeface="微软雅黑" panose="020B0503020204020204" pitchFamily="34" charset="-122"/>
                          <a:cs typeface="+mn-cs"/>
                        </a:rPr>
                        <a:t>test</a:t>
                      </a:r>
                      <a:r>
                        <a:rPr lang="en-US" altLang="zh-CN" sz="20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zh-CN" altLang="en-US" sz="2000" kern="1200">
                          <a:solidFill>
                            <a:srgbClr val="595959"/>
                          </a:solidFill>
                          <a:latin typeface="微软雅黑" panose="020B0503020204020204" pitchFamily="34" charset="-122"/>
                          <a:ea typeface="微软雅黑" panose="020B0503020204020204" pitchFamily="34" charset="-122"/>
                          <a:cs typeface="+mn-cs"/>
                        </a:rPr>
                        <a:t>路径</a:t>
                      </a:r>
                      <a:r>
                        <a:rPr lang="en-US" altLang="zh-CN" sz="20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2000" kern="1200">
                          <a:solidFill>
                            <a:srgbClr val="595959"/>
                          </a:solidFill>
                          <a:latin typeface="微软雅黑" panose="020B0503020204020204" pitchFamily="34" charset="-122"/>
                          <a:ea typeface="微软雅黑" panose="020B0503020204020204" pitchFamily="34" charset="-122"/>
                          <a:cs typeface="+mn-cs"/>
                        </a:rPr>
                        <a:t>year=2000</a:t>
                      </a:r>
                    </a:p>
                  </a:txBody>
                  <a:tcPr anchor="ctr"/>
                </a:tc>
                <a:tc>
                  <a:txBody>
                    <a:bodyPr/>
                    <a:lstStyle/>
                    <a:p>
                      <a:pPr algn="ctr">
                        <a:buNone/>
                      </a:pPr>
                      <a:r>
                        <a:rPr lang="en-US" altLang="zh-CN" sz="2000" kern="1200">
                          <a:solidFill>
                            <a:srgbClr val="595959"/>
                          </a:solidFill>
                          <a:latin typeface="微软雅黑" panose="020B0503020204020204" pitchFamily="34" charset="-122"/>
                          <a:ea typeface="微软雅黑" panose="020B0503020204020204" pitchFamily="34" charset="-122"/>
                          <a:cs typeface="+mn-cs"/>
                        </a:rPr>
                        <a:t>leap=1</a:t>
                      </a: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zh-CN" altLang="en-US" sz="2000" kern="1200">
                          <a:solidFill>
                            <a:srgbClr val="595959"/>
                          </a:solidFill>
                          <a:latin typeface="微软雅黑" panose="020B0503020204020204" pitchFamily="34" charset="-122"/>
                          <a:ea typeface="微软雅黑" panose="020B0503020204020204" pitchFamily="34" charset="-122"/>
                          <a:cs typeface="+mn-cs"/>
                        </a:rPr>
                        <a:t>test</a:t>
                      </a:r>
                      <a:r>
                        <a:rPr lang="en-US" altLang="zh-CN" sz="20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zh-CN" altLang="en-US" sz="2000" kern="1200">
                          <a:solidFill>
                            <a:srgbClr val="595959"/>
                          </a:solidFill>
                          <a:latin typeface="微软雅黑" panose="020B0503020204020204" pitchFamily="34" charset="-122"/>
                          <a:ea typeface="微软雅黑" panose="020B0503020204020204" pitchFamily="34" charset="-122"/>
                          <a:cs typeface="+mn-cs"/>
                        </a:rPr>
                        <a:t>路径</a:t>
                      </a:r>
                      <a:r>
                        <a:rPr lang="en-US" altLang="zh-CN" sz="20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2000" kern="1200">
                          <a:solidFill>
                            <a:srgbClr val="595959"/>
                          </a:solidFill>
                          <a:latin typeface="微软雅黑" panose="020B0503020204020204" pitchFamily="34" charset="-122"/>
                          <a:ea typeface="微软雅黑" panose="020B0503020204020204" pitchFamily="34" charset="-122"/>
                          <a:cs typeface="+mn-cs"/>
                        </a:rPr>
                        <a:t>year=1900</a:t>
                      </a:r>
                    </a:p>
                  </a:txBody>
                  <a:tcPr anchor="ctr"/>
                </a:tc>
                <a:tc>
                  <a:txBody>
                    <a:bodyPr/>
                    <a:lstStyle/>
                    <a:p>
                      <a:pPr algn="ctr">
                        <a:buNone/>
                      </a:pPr>
                      <a:r>
                        <a:rPr lang="en-US" altLang="zh-CN" sz="2000" kern="1200">
                          <a:solidFill>
                            <a:srgbClr val="595959"/>
                          </a:solidFill>
                          <a:latin typeface="微软雅黑" panose="020B0503020204020204" pitchFamily="34" charset="-122"/>
                          <a:ea typeface="微软雅黑" panose="020B0503020204020204" pitchFamily="34" charset="-122"/>
                          <a:cs typeface="+mn-cs"/>
                        </a:rPr>
                        <a:t>leap=0</a:t>
                      </a: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zh-CN" altLang="en-US" sz="2000" kern="1200">
                          <a:solidFill>
                            <a:srgbClr val="595959"/>
                          </a:solidFill>
                          <a:latin typeface="微软雅黑" panose="020B0503020204020204" pitchFamily="34" charset="-122"/>
                          <a:ea typeface="微软雅黑" panose="020B0503020204020204" pitchFamily="34" charset="-122"/>
                          <a:cs typeface="+mn-cs"/>
                        </a:rPr>
                        <a:t>test</a:t>
                      </a:r>
                      <a:r>
                        <a:rPr lang="en-US" altLang="zh-CN" sz="20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zh-CN" altLang="en-US" sz="2000" kern="1200">
                          <a:solidFill>
                            <a:srgbClr val="595959"/>
                          </a:solidFill>
                          <a:latin typeface="微软雅黑" panose="020B0503020204020204" pitchFamily="34" charset="-122"/>
                          <a:ea typeface="微软雅黑" panose="020B0503020204020204" pitchFamily="34" charset="-122"/>
                          <a:cs typeface="+mn-cs"/>
                        </a:rPr>
                        <a:t>路径</a:t>
                      </a:r>
                      <a:r>
                        <a:rPr lang="en-US" altLang="zh-CN" sz="20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en-US" altLang="zh-CN" sz="2000" kern="1200">
                          <a:solidFill>
                            <a:srgbClr val="595959"/>
                          </a:solidFill>
                          <a:latin typeface="微软雅黑" panose="020B0503020204020204" pitchFamily="34" charset="-122"/>
                          <a:ea typeface="微软雅黑" panose="020B0503020204020204" pitchFamily="34" charset="-122"/>
                          <a:cs typeface="+mn-cs"/>
                        </a:rPr>
                        <a:t>year=2020</a:t>
                      </a:r>
                    </a:p>
                  </a:txBody>
                  <a:tcPr anchor="ctr"/>
                </a:tc>
                <a:tc>
                  <a:txBody>
                    <a:bodyPr/>
                    <a:lstStyle/>
                    <a:p>
                      <a:pPr algn="ctr">
                        <a:buNone/>
                      </a:pPr>
                      <a:r>
                        <a:rPr lang="en-US" altLang="zh-CN" sz="2000" kern="1200">
                          <a:solidFill>
                            <a:srgbClr val="595959"/>
                          </a:solidFill>
                          <a:latin typeface="微软雅黑" panose="020B0503020204020204" pitchFamily="34" charset="-122"/>
                          <a:ea typeface="微软雅黑" panose="020B0503020204020204" pitchFamily="34" charset="-122"/>
                          <a:cs typeface="+mn-cs"/>
                        </a:rPr>
                        <a:t>leap=1</a:t>
                      </a:r>
                    </a:p>
                  </a:txBody>
                  <a:tcPr anchor="ctr"/>
                </a:tc>
                <a:extLst>
                  <a:ext uri="{0D108BD9-81ED-4DB2-BD59-A6C34878D82A}">
                    <a16:rowId xmlns:a16="http://schemas.microsoft.com/office/drawing/2014/main" val="10004"/>
                  </a:ext>
                </a:extLst>
              </a:tr>
            </a:tbl>
          </a:graphicData>
        </a:graphic>
      </p:graphicFrame>
      <p:sp>
        <p:nvSpPr>
          <p:cNvPr id="4" name="文本框 3"/>
          <p:cNvSpPr txBox="1"/>
          <p:nvPr/>
        </p:nvSpPr>
        <p:spPr>
          <a:xfrm>
            <a:off x="2134870" y="5229860"/>
            <a:ext cx="7920336" cy="400110"/>
          </a:xfrm>
          <a:prstGeom prst="rect">
            <a:avLst/>
          </a:prstGeom>
          <a:noFill/>
        </p:spPr>
        <p:txBody>
          <a:bodyPr wrap="square" rtlCol="0" anchor="t">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当预期结果leap</a:t>
            </a:r>
            <a:r>
              <a:rPr lang="zh-CN" altLang="en-US" sz="2000">
                <a:solidFill>
                  <a:srgbClr val="0070C0"/>
                </a:solidFill>
                <a:latin typeface="微软雅黑" panose="020B0503020204020204" pitchFamily="34" charset="-122"/>
                <a:ea typeface="微软雅黑" panose="020B0503020204020204" pitchFamily="34" charset="-122"/>
              </a:rPr>
              <a:t>=0时，</a:t>
            </a:r>
            <a:r>
              <a:rPr lang="zh-CN" altLang="en-US" sz="2000" dirty="0">
                <a:solidFill>
                  <a:srgbClr val="0070C0"/>
                </a:solidFill>
                <a:latin typeface="微软雅黑" panose="020B0503020204020204" pitchFamily="34" charset="-122"/>
                <a:ea typeface="微软雅黑" panose="020B0503020204020204" pitchFamily="34" charset="-122"/>
              </a:rPr>
              <a:t>表示平年；当预期结果leap</a:t>
            </a:r>
            <a:r>
              <a:rPr lang="zh-CN" altLang="en-US" sz="2000">
                <a:solidFill>
                  <a:srgbClr val="0070C0"/>
                </a:solidFill>
                <a:latin typeface="微软雅黑" panose="020B0503020204020204" pitchFamily="34" charset="-122"/>
                <a:ea typeface="微软雅黑" panose="020B0503020204020204" pitchFamily="34" charset="-122"/>
              </a:rPr>
              <a:t>=1时，</a:t>
            </a:r>
            <a:r>
              <a:rPr lang="zh-CN" altLang="en-US" sz="2000" dirty="0">
                <a:solidFill>
                  <a:srgbClr val="0070C0"/>
                </a:solidFill>
                <a:latin typeface="微软雅黑" panose="020B0503020204020204" pitchFamily="34" charset="-122"/>
                <a:ea typeface="微软雅黑" panose="020B0503020204020204" pitchFamily="34" charset="-122"/>
              </a:rPr>
              <a:t>表示闰年。</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逻辑覆盖</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3.2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33550-75C7-2995-ED2E-29FAE76285CC}"/>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34C84878-5275-8D06-BAE3-03895C7FC8B9}"/>
              </a:ext>
            </a:extLst>
          </p:cNvPr>
          <p:cNvSpPr txBox="1">
            <a:spLocks noChangeArrowheads="1"/>
          </p:cNvSpPr>
          <p:nvPr/>
        </p:nvSpPr>
        <p:spPr bwMode="auto">
          <a:xfrm>
            <a:off x="4871206" y="1779600"/>
            <a:ext cx="6289675" cy="330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b="1" dirty="0">
                <a:solidFill>
                  <a:srgbClr val="0070C0"/>
                </a:solidFill>
                <a:latin typeface="微软雅黑" panose="020B0503020204020204" pitchFamily="34" charset="-122"/>
                <a:ea typeface="微软雅黑" panose="020B0503020204020204" pitchFamily="34" charset="-122"/>
              </a:rPr>
              <a:t>测试覆盖率：</a:t>
            </a:r>
            <a:r>
              <a:rPr lang="zh-CN" altLang="en-US" sz="2000" dirty="0">
                <a:solidFill>
                  <a:srgbClr val="595959"/>
                </a:solidFill>
                <a:latin typeface="微软雅黑" panose="020B0503020204020204" pitchFamily="34" charset="-122"/>
                <a:ea typeface="微软雅黑" panose="020B0503020204020204" pitchFamily="34" charset="-122"/>
              </a:rPr>
              <a:t>用于确定测试所执行到的</a:t>
            </a:r>
            <a:r>
              <a:rPr lang="zh-CN" altLang="en-US" sz="2000" dirty="0">
                <a:solidFill>
                  <a:srgbClr val="0070C0"/>
                </a:solidFill>
                <a:latin typeface="微软雅黑" panose="020B0503020204020204" pitchFamily="34" charset="-122"/>
                <a:ea typeface="微软雅黑" panose="020B0503020204020204" pitchFamily="34" charset="-122"/>
              </a:rPr>
              <a:t>覆盖项的百分比</a:t>
            </a:r>
            <a:r>
              <a:rPr lang="zh-CN" altLang="en-US" sz="2000" dirty="0">
                <a:solidFill>
                  <a:srgbClr val="595959"/>
                </a:solidFill>
                <a:latin typeface="微软雅黑" panose="020B0503020204020204" pitchFamily="34" charset="-122"/>
                <a:ea typeface="微软雅黑" panose="020B0503020204020204" pitchFamily="34" charset="-122"/>
              </a:rPr>
              <a:t>，其中覆盖项是指作为测试基础的一个入口或属性，如语句、分支、条件等。</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测试覆盖率是对</a:t>
            </a:r>
            <a:r>
              <a:rPr lang="zh-CN" altLang="en-US" sz="2000" dirty="0">
                <a:solidFill>
                  <a:srgbClr val="0070C0"/>
                </a:solidFill>
                <a:latin typeface="微软雅黑" panose="020B0503020204020204" pitchFamily="34" charset="-122"/>
                <a:ea typeface="微软雅黑" panose="020B0503020204020204" pitchFamily="34" charset="-122"/>
              </a:rPr>
              <a:t>测试充分性的表示</a:t>
            </a:r>
            <a:r>
              <a:rPr lang="zh-CN" altLang="en-US" sz="2000" dirty="0">
                <a:solidFill>
                  <a:srgbClr val="595959"/>
                </a:solidFill>
                <a:latin typeface="微软雅黑" panose="020B0503020204020204" pitchFamily="34" charset="-122"/>
                <a:ea typeface="微软雅黑" panose="020B0503020204020204" pitchFamily="34" charset="-122"/>
              </a:rPr>
              <a:t>，它可以作为在测试分析报告中的一个</a:t>
            </a:r>
            <a:r>
              <a:rPr lang="zh-CN" altLang="en-US" sz="2000" dirty="0">
                <a:solidFill>
                  <a:srgbClr val="0070C0"/>
                </a:solidFill>
                <a:latin typeface="微软雅黑" panose="020B0503020204020204" pitchFamily="34" charset="-122"/>
                <a:ea typeface="微软雅黑" panose="020B0503020204020204" pitchFamily="34" charset="-122"/>
              </a:rPr>
              <a:t>可量化</a:t>
            </a:r>
            <a:r>
              <a:rPr lang="zh-CN" altLang="en-US" sz="2000" dirty="0">
                <a:solidFill>
                  <a:srgbClr val="595959"/>
                </a:solidFill>
                <a:latin typeface="微软雅黑" panose="020B0503020204020204" pitchFamily="34" charset="-122"/>
                <a:ea typeface="微软雅黑" panose="020B0503020204020204" pitchFamily="34" charset="-122"/>
              </a:rPr>
              <a:t>的指标依据，一般认为</a:t>
            </a:r>
            <a:r>
              <a:rPr lang="zh-CN" altLang="en-US" sz="2000" dirty="0">
                <a:solidFill>
                  <a:srgbClr val="0070C0"/>
                </a:solidFill>
                <a:latin typeface="微软雅黑" panose="020B0503020204020204" pitchFamily="34" charset="-122"/>
                <a:ea typeface="微软雅黑" panose="020B0503020204020204" pitchFamily="34" charset="-122"/>
              </a:rPr>
              <a:t>测试覆盖率越高，测试效果越好</a:t>
            </a:r>
            <a:r>
              <a:rPr lang="zh-CN" altLang="en-US" sz="2000" dirty="0">
                <a:solidFill>
                  <a:srgbClr val="595959"/>
                </a:solidFill>
                <a:latin typeface="微软雅黑" panose="020B0503020204020204" pitchFamily="34" charset="-122"/>
                <a:ea typeface="微软雅黑" panose="020B0503020204020204" pitchFamily="34" charset="-122"/>
              </a:rPr>
              <a:t>。但是测试覆盖率并非测试的绝对目标，而只是一种手段。</a:t>
            </a:r>
          </a:p>
        </p:txBody>
      </p:sp>
      <p:pic>
        <p:nvPicPr>
          <p:cNvPr id="33" name="图片 32">
            <a:extLst>
              <a:ext uri="{FF2B5EF4-FFF2-40B4-BE49-F238E27FC236}">
                <a16:creationId xmlns:a16="http://schemas.microsoft.com/office/drawing/2014/main" id="{D5E85650-1A75-8235-3B72-02F1C16776F1}"/>
              </a:ext>
            </a:extLst>
          </p:cNvPr>
          <p:cNvPicPr>
            <a:picLocks noChangeAspect="1"/>
          </p:cNvPicPr>
          <p:nvPr/>
        </p:nvPicPr>
        <p:blipFill>
          <a:blip r:embed="rId3"/>
          <a:stretch>
            <a:fillRect/>
          </a:stretch>
        </p:blipFill>
        <p:spPr>
          <a:xfrm>
            <a:off x="839386" y="1413456"/>
            <a:ext cx="3715858" cy="4006159"/>
          </a:xfrm>
          <a:prstGeom prst="rect">
            <a:avLst/>
          </a:prstGeom>
        </p:spPr>
      </p:pic>
      <p:sp>
        <p:nvSpPr>
          <p:cNvPr id="2" name="Title 1">
            <a:extLst>
              <a:ext uri="{FF2B5EF4-FFF2-40B4-BE49-F238E27FC236}">
                <a16:creationId xmlns:a16="http://schemas.microsoft.com/office/drawing/2014/main" id="{F74CB2E4-5708-F3C4-D2BD-28C4CAC593EE}"/>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测试覆盖率</a:t>
            </a:r>
          </a:p>
        </p:txBody>
      </p:sp>
    </p:spTree>
    <p:extLst>
      <p:ext uri="{BB962C8B-B14F-4D97-AF65-F5344CB8AC3E}">
        <p14:creationId xmlns:p14="http://schemas.microsoft.com/office/powerpoint/2010/main" val="342480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4B23D-A00B-E334-80AE-8A703B2F824A}"/>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C6620CFE-ADC4-F121-CA27-4F522E874696}"/>
              </a:ext>
            </a:extLst>
          </p:cNvPr>
          <p:cNvSpPr txBox="1">
            <a:spLocks noChangeArrowheads="1"/>
          </p:cNvSpPr>
          <p:nvPr/>
        </p:nvSpPr>
        <p:spPr bwMode="auto">
          <a:xfrm>
            <a:off x="1121441" y="2014964"/>
            <a:ext cx="10296000" cy="3762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en-US" altLang="zh-CN" sz="2000" dirty="0">
                <a:solidFill>
                  <a:srgbClr val="595959"/>
                </a:solidFill>
                <a:latin typeface="微软雅黑" panose="020B0503020204020204" pitchFamily="34" charset="-122"/>
                <a:ea typeface="微软雅黑" panose="020B0503020204020204" pitchFamily="34" charset="-122"/>
              </a:rPr>
              <a:t>1. </a:t>
            </a:r>
            <a:r>
              <a:rPr lang="zh-CN" altLang="en-US" sz="2000" dirty="0">
                <a:solidFill>
                  <a:srgbClr val="595959"/>
                </a:solidFill>
                <a:latin typeface="微软雅黑" panose="020B0503020204020204" pitchFamily="34" charset="-122"/>
                <a:ea typeface="微软雅黑" panose="020B0503020204020204" pitchFamily="34" charset="-122"/>
              </a:rPr>
              <a:t>基于</a:t>
            </a:r>
            <a:r>
              <a:rPr lang="zh-CN" altLang="en-US" sz="2000" dirty="0">
                <a:solidFill>
                  <a:srgbClr val="0070C0"/>
                </a:solidFill>
                <a:latin typeface="微软雅黑" panose="020B0503020204020204" pitchFamily="34" charset="-122"/>
                <a:ea typeface="微软雅黑" panose="020B0503020204020204" pitchFamily="34" charset="-122"/>
              </a:rPr>
              <a:t>需求</a:t>
            </a:r>
            <a:r>
              <a:rPr lang="zh-CN" altLang="en-US" sz="2000" dirty="0">
                <a:solidFill>
                  <a:srgbClr val="595959"/>
                </a:solidFill>
                <a:latin typeface="微软雅黑" panose="020B0503020204020204" pitchFamily="34" charset="-122"/>
                <a:ea typeface="微软雅黑" panose="020B0503020204020204" pitchFamily="34" charset="-122"/>
              </a:rPr>
              <a:t>的测试覆盖</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基于需求的测试覆盖在测试生命周期中要评测多次，并在测试生命周期的里程碑处提供测试覆盖的标识（如已计划的、已实施的、已执行的和成功的测试覆盖）。</a:t>
            </a: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buClrTx/>
              <a:buSzTx/>
              <a:buFontTx/>
            </a:pPr>
            <a:endParaRPr lang="zh-CN" altLang="en-US" sz="20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en-US" altLang="zh-CN" sz="2000" dirty="0">
                <a:solidFill>
                  <a:srgbClr val="595959"/>
                </a:solidFill>
                <a:latin typeface="微软雅黑" panose="020B0503020204020204" pitchFamily="34" charset="-122"/>
                <a:ea typeface="微软雅黑" panose="020B0503020204020204" pitchFamily="34" charset="-122"/>
              </a:rPr>
              <a:t>2. </a:t>
            </a:r>
            <a:r>
              <a:rPr lang="zh-CN" altLang="en-US" sz="2000" dirty="0">
                <a:solidFill>
                  <a:srgbClr val="595959"/>
                </a:solidFill>
                <a:latin typeface="微软雅黑" panose="020B0503020204020204" pitchFamily="34" charset="-122"/>
                <a:ea typeface="微软雅黑" panose="020B0503020204020204" pitchFamily="34" charset="-122"/>
              </a:rPr>
              <a:t>基于</a:t>
            </a:r>
            <a:r>
              <a:rPr lang="zh-CN" altLang="en-US" sz="2000" dirty="0">
                <a:solidFill>
                  <a:srgbClr val="0070C0"/>
                </a:solidFill>
                <a:latin typeface="微软雅黑" panose="020B0503020204020204" pitchFamily="34" charset="-122"/>
                <a:ea typeface="微软雅黑" panose="020B0503020204020204" pitchFamily="34" charset="-122"/>
              </a:rPr>
              <a:t>代码</a:t>
            </a:r>
            <a:r>
              <a:rPr lang="zh-CN" altLang="en-US" sz="2000" dirty="0">
                <a:solidFill>
                  <a:srgbClr val="595959"/>
                </a:solidFill>
                <a:latin typeface="微软雅黑" panose="020B0503020204020204" pitchFamily="34" charset="-122"/>
                <a:ea typeface="微软雅黑" panose="020B0503020204020204" pitchFamily="34" charset="-122"/>
              </a:rPr>
              <a:t>的测试覆盖</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基于代码的测试覆盖评测测试过程中</a:t>
            </a:r>
            <a:r>
              <a:rPr lang="zh-CN" altLang="en-US" sz="2000" dirty="0">
                <a:solidFill>
                  <a:srgbClr val="0070C0"/>
                </a:solidFill>
                <a:latin typeface="微软雅黑" panose="020B0503020204020204" pitchFamily="34" charset="-122"/>
                <a:ea typeface="微软雅黑" panose="020B0503020204020204" pitchFamily="34" charset="-122"/>
              </a:rPr>
              <a:t>已经执行的代码的多少</a:t>
            </a:r>
            <a:r>
              <a:rPr lang="zh-CN" altLang="en-US" sz="2000" dirty="0">
                <a:solidFill>
                  <a:srgbClr val="595959"/>
                </a:solidFill>
                <a:latin typeface="微软雅黑" panose="020B0503020204020204" pitchFamily="34" charset="-122"/>
                <a:ea typeface="微软雅黑" panose="020B0503020204020204" pitchFamily="34" charset="-122"/>
              </a:rPr>
              <a:t>，与之相对的是要执行的剩余代码的多少。基于代码的测试覆盖可以建立在</a:t>
            </a:r>
            <a:r>
              <a:rPr lang="zh-CN" altLang="en-US" sz="2000" dirty="0">
                <a:solidFill>
                  <a:srgbClr val="0070C0"/>
                </a:solidFill>
                <a:latin typeface="微软雅黑" panose="020B0503020204020204" pitchFamily="34" charset="-122"/>
                <a:ea typeface="微软雅黑" panose="020B0503020204020204" pitchFamily="34" charset="-122"/>
              </a:rPr>
              <a:t>控制流（语句、分支或路径）或数据流</a:t>
            </a:r>
            <a:r>
              <a:rPr lang="zh-CN" altLang="en-US" sz="2000" dirty="0">
                <a:solidFill>
                  <a:srgbClr val="595959"/>
                </a:solidFill>
                <a:latin typeface="微软雅黑" panose="020B0503020204020204" pitchFamily="34" charset="-122"/>
                <a:ea typeface="微软雅黑" panose="020B0503020204020204" pitchFamily="34" charset="-122"/>
              </a:rPr>
              <a:t>的基础上。</a:t>
            </a:r>
          </a:p>
        </p:txBody>
      </p:sp>
      <p:sp>
        <p:nvSpPr>
          <p:cNvPr id="2" name="Title 1">
            <a:extLst>
              <a:ext uri="{FF2B5EF4-FFF2-40B4-BE49-F238E27FC236}">
                <a16:creationId xmlns:a16="http://schemas.microsoft.com/office/drawing/2014/main" id="{40D203B4-A65A-FDCA-9BCF-8F16027174AE}"/>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测试覆盖率</a:t>
            </a:r>
          </a:p>
        </p:txBody>
      </p:sp>
      <p:sp>
        <p:nvSpPr>
          <p:cNvPr id="3" name="文本框 2">
            <a:extLst>
              <a:ext uri="{FF2B5EF4-FFF2-40B4-BE49-F238E27FC236}">
                <a16:creationId xmlns:a16="http://schemas.microsoft.com/office/drawing/2014/main" id="{2F612565-A2A1-ABBE-4DA2-876AE7B91257}"/>
              </a:ext>
            </a:extLst>
          </p:cNvPr>
          <p:cNvSpPr txBox="1"/>
          <p:nvPr/>
        </p:nvSpPr>
        <p:spPr>
          <a:xfrm>
            <a:off x="1121441" y="1154693"/>
            <a:ext cx="3744000" cy="461665"/>
          </a:xfrm>
          <a:prstGeom prst="rect">
            <a:avLst/>
          </a:prstGeom>
          <a:noFill/>
        </p:spPr>
        <p:txBody>
          <a:bodyPr wrap="square" rtlCol="0">
            <a:spAutoFit/>
          </a:bodyPr>
          <a:lstStyle/>
          <a:p>
            <a:r>
              <a:rPr lang="zh-CN" altLang="en-US" b="1" dirty="0">
                <a:solidFill>
                  <a:srgbClr val="0070C0"/>
                </a:solidFill>
                <a:latin typeface="微软雅黑" panose="020B0503020204020204" pitchFamily="34" charset="-122"/>
                <a:ea typeface="微软雅黑" panose="020B0503020204020204" pitchFamily="34" charset="-122"/>
              </a:rPr>
              <a:t>常用的测试覆盖评测</a:t>
            </a:r>
          </a:p>
        </p:txBody>
      </p:sp>
    </p:spTree>
    <p:extLst>
      <p:ext uri="{BB962C8B-B14F-4D97-AF65-F5344CB8AC3E}">
        <p14:creationId xmlns:p14="http://schemas.microsoft.com/office/powerpoint/2010/main" val="21928211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掌握语句覆盖</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应用语句覆盖</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设计测试用例</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3.2.1	语句覆盖</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701165"/>
            <a:ext cx="6289675" cy="335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0070C0"/>
                </a:solidFill>
                <a:latin typeface="微软雅黑" panose="020B0503020204020204" pitchFamily="34" charset="-122"/>
                <a:ea typeface="微软雅黑" panose="020B0503020204020204" pitchFamily="34" charset="-122"/>
              </a:rPr>
              <a:t>语句覆盖</a:t>
            </a:r>
            <a:r>
              <a:rPr lang="zh-CN" altLang="en-US" sz="2000" dirty="0">
                <a:solidFill>
                  <a:srgbClr val="595959"/>
                </a:solidFill>
                <a:latin typeface="微软雅黑" panose="020B0503020204020204" pitchFamily="34" charset="-122"/>
                <a:ea typeface="微软雅黑" panose="020B0503020204020204" pitchFamily="34" charset="-122"/>
              </a:rPr>
              <a:t>(Statement Coverage)又称行覆盖、段覆盖、基本块覆盖，它是</a:t>
            </a:r>
            <a:r>
              <a:rPr lang="zh-CN" altLang="en-US" sz="2000" dirty="0">
                <a:solidFill>
                  <a:srgbClr val="0070C0"/>
                </a:solidFill>
                <a:latin typeface="微软雅黑" panose="020B0503020204020204" pitchFamily="34" charset="-122"/>
                <a:ea typeface="微软雅黑" panose="020B0503020204020204" pitchFamily="34" charset="-122"/>
              </a:rPr>
              <a:t>最常见的覆盖方式之一</a:t>
            </a:r>
            <a:r>
              <a:rPr lang="zh-CN" altLang="en-US" sz="2000" dirty="0">
                <a:solidFill>
                  <a:srgbClr val="595959"/>
                </a:solidFill>
                <a:latin typeface="微软雅黑" panose="020B0503020204020204" pitchFamily="34" charset="-122"/>
                <a:ea typeface="微软雅黑" panose="020B0503020204020204" pitchFamily="34" charset="-122"/>
              </a:rPr>
              <a:t>。语句覆盖的</a:t>
            </a:r>
            <a:r>
              <a:rPr lang="zh-CN" altLang="en-US" sz="2000" dirty="0">
                <a:solidFill>
                  <a:srgbClr val="0070C0"/>
                </a:solidFill>
                <a:latin typeface="微软雅黑" panose="020B0503020204020204" pitchFamily="34" charset="-122"/>
                <a:ea typeface="微软雅黑" panose="020B0503020204020204" pitchFamily="34" charset="-122"/>
              </a:rPr>
              <a:t>目的是测试程序中的代码是否被执行</a:t>
            </a:r>
            <a:r>
              <a:rPr lang="zh-CN" altLang="en-US" sz="2000" dirty="0">
                <a:solidFill>
                  <a:srgbClr val="595959"/>
                </a:solidFill>
                <a:latin typeface="微软雅黑" panose="020B0503020204020204" pitchFamily="34" charset="-122"/>
                <a:ea typeface="微软雅黑" panose="020B0503020204020204" pitchFamily="34" charset="-122"/>
              </a:rPr>
              <a:t>，它只测试代码中的</a:t>
            </a:r>
            <a:r>
              <a:rPr lang="zh-CN" altLang="en-US" sz="2000" dirty="0">
                <a:solidFill>
                  <a:srgbClr val="0070C0"/>
                </a:solidFill>
                <a:latin typeface="微软雅黑" panose="020B0503020204020204" pitchFamily="34" charset="-122"/>
                <a:ea typeface="微软雅黑" panose="020B0503020204020204" pitchFamily="34" charset="-122"/>
              </a:rPr>
              <a:t>执行语句</a:t>
            </a:r>
            <a:r>
              <a:rPr lang="zh-CN" altLang="en-US" sz="2000" dirty="0">
                <a:solidFill>
                  <a:srgbClr val="595959"/>
                </a:solidFill>
                <a:latin typeface="微软雅黑" panose="020B0503020204020204" pitchFamily="34" charset="-122"/>
                <a:ea typeface="微软雅黑" panose="020B0503020204020204" pitchFamily="34" charset="-122"/>
              </a:rPr>
              <a:t>，这里的执行语句不包括头文件、注释、空行等。语句覆盖在多分支的程序中只能覆盖</a:t>
            </a:r>
            <a:r>
              <a:rPr lang="zh-CN" altLang="en-US" sz="2000" dirty="0">
                <a:solidFill>
                  <a:srgbClr val="0070C0"/>
                </a:solidFill>
                <a:latin typeface="微软雅黑" panose="020B0503020204020204" pitchFamily="34" charset="-122"/>
                <a:ea typeface="微软雅黑" panose="020B0503020204020204" pitchFamily="34" charset="-122"/>
              </a:rPr>
              <a:t>某一条路径</a:t>
            </a:r>
            <a:r>
              <a:rPr lang="zh-CN" altLang="en-US" sz="2000" dirty="0">
                <a:solidFill>
                  <a:srgbClr val="595959"/>
                </a:solidFill>
                <a:latin typeface="微软雅黑" panose="020B0503020204020204" pitchFamily="34" charset="-122"/>
                <a:ea typeface="微软雅黑" panose="020B0503020204020204" pitchFamily="34" charset="-122"/>
              </a:rPr>
              <a:t>，使得该路径中的</a:t>
            </a:r>
            <a:r>
              <a:rPr lang="zh-CN" altLang="en-US" sz="2000" dirty="0">
                <a:solidFill>
                  <a:srgbClr val="0070C0"/>
                </a:solidFill>
                <a:latin typeface="微软雅黑" panose="020B0503020204020204" pitchFamily="34" charset="-122"/>
                <a:ea typeface="微软雅黑" panose="020B0503020204020204" pitchFamily="34" charset="-122"/>
              </a:rPr>
              <a:t>每一个语句至少被执行一次</a:t>
            </a:r>
            <a:r>
              <a:rPr lang="zh-CN" altLang="en-US" sz="2000" dirty="0">
                <a:solidFill>
                  <a:srgbClr val="595959"/>
                </a:solidFill>
                <a:latin typeface="微软雅黑" panose="020B0503020204020204" pitchFamily="34" charset="-122"/>
                <a:ea typeface="微软雅黑" panose="020B0503020204020204" pitchFamily="34" charset="-122"/>
              </a:rPr>
              <a:t>，不会考虑各种分支组合的情况。</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3.2.1	语句覆盖</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837565"/>
            <a:ext cx="982281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下面结合一段小程序介绍语句覆盖中方法的执行，</a:t>
            </a:r>
            <a:r>
              <a:rPr lang="zh-CN" altLang="en-US" sz="2000" dirty="0">
                <a:solidFill>
                  <a:srgbClr val="0070C0"/>
                </a:solidFill>
                <a:latin typeface="微软雅黑" panose="020B0503020204020204" pitchFamily="34" charset="-122"/>
                <a:ea typeface="微软雅黑" panose="020B0503020204020204" pitchFamily="34" charset="-122"/>
              </a:rPr>
              <a:t>程序伪代码</a:t>
            </a:r>
            <a:r>
              <a:rPr lang="zh-CN" altLang="en-US" sz="2000" dirty="0">
                <a:solidFill>
                  <a:srgbClr val="595959"/>
                </a:solidFill>
                <a:latin typeface="微软雅黑" panose="020B0503020204020204" pitchFamily="34" charset="-122"/>
                <a:ea typeface="微软雅黑" panose="020B0503020204020204" pitchFamily="34" charset="-122"/>
              </a:rPr>
              <a:t>如下。</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3.2.1	语句覆盖</a:t>
            </a:r>
          </a:p>
        </p:txBody>
      </p:sp>
      <p:sp>
        <p:nvSpPr>
          <p:cNvPr id="8" name="矩形 7"/>
          <p:cNvSpPr/>
          <p:nvPr/>
        </p:nvSpPr>
        <p:spPr>
          <a:xfrm>
            <a:off x="1414780" y="1556385"/>
            <a:ext cx="8008620" cy="18300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lnSpc>
                <a:spcPct val="150000"/>
              </a:lnSpc>
              <a:buClrTx/>
              <a:buSzTx/>
              <a:buFontTx/>
              <a:defRPr/>
            </a:pPr>
            <a:endPar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矩形 2"/>
          <p:cNvSpPr/>
          <p:nvPr/>
        </p:nvSpPr>
        <p:spPr>
          <a:xfrm>
            <a:off x="1631315" y="1630045"/>
            <a:ext cx="7388225" cy="1568450"/>
          </a:xfrm>
          <a:prstGeom prst="rect">
            <a:avLst/>
          </a:prstGeom>
        </p:spPr>
        <p:txBody>
          <a:bodyPr wrap="square">
            <a:spAutoFit/>
          </a:bodyPr>
          <a:lstStyle/>
          <a:p>
            <a:pPr>
              <a:lnSpc>
                <a:spcPct val="150000"/>
              </a:lnSpc>
              <a:defRPr/>
            </a:pPr>
            <a:r>
              <a:rPr lang="it-IT" altLang="zh-CN"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if x&gt;0 and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y&lt;0    //条件1</a:t>
            </a:r>
          </a:p>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it-IT"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z=z-(x-y)</a:t>
            </a:r>
          </a:p>
          <a:p>
            <a:pPr>
              <a:lnSpc>
                <a:spcPct val="150000"/>
              </a:lnSpc>
              <a:defRPr/>
            </a:pPr>
            <a:r>
              <a:rPr lang="it-IT" altLang="zh-CN"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if x&gt;2 or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z&gt;0     //条件2</a:t>
            </a:r>
          </a:p>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it-IT"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z=z+(x+y)</a:t>
            </a:r>
          </a:p>
        </p:txBody>
      </p:sp>
      <p:sp>
        <p:nvSpPr>
          <p:cNvPr id="4" name="文本框 3"/>
          <p:cNvSpPr txBox="1"/>
          <p:nvPr/>
        </p:nvSpPr>
        <p:spPr>
          <a:xfrm>
            <a:off x="1414780" y="3573780"/>
            <a:ext cx="8058150" cy="1337945"/>
          </a:xfrm>
          <a:prstGeom prst="rect">
            <a:avLst/>
          </a:prstGeom>
          <a:noFill/>
        </p:spPr>
        <p:txBody>
          <a:bodyPr wrap="square" rtlCol="0" anchor="t">
            <a:spAutoFit/>
          </a:body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上述代码中，</a:t>
            </a:r>
            <a:r>
              <a:rPr lang="en-US" altLang="zh-CN" sz="1800" dirty="0">
                <a:solidFill>
                  <a:srgbClr val="0070C0"/>
                </a:solidFill>
                <a:latin typeface="微软雅黑" panose="020B0503020204020204" pitchFamily="34" charset="-122"/>
                <a:ea typeface="微软雅黑" panose="020B0503020204020204" pitchFamily="34" charset="-122"/>
              </a:rPr>
              <a:t>and</a:t>
            </a:r>
            <a:r>
              <a:rPr lang="zh-CN" altLang="en-US" sz="1800" dirty="0">
                <a:solidFill>
                  <a:srgbClr val="595959"/>
                </a:solidFill>
                <a:latin typeface="微软雅黑" panose="020B0503020204020204" pitchFamily="34" charset="-122"/>
                <a:ea typeface="微软雅黑" panose="020B0503020204020204" pitchFamily="34" charset="-122"/>
              </a:rPr>
              <a:t>表示逻辑运算</a:t>
            </a:r>
            <a:r>
              <a:rPr lang="zh-CN" altLang="en-US" sz="1800" dirty="0">
                <a:solidFill>
                  <a:srgbClr val="0070C0"/>
                </a:solidFill>
                <a:latin typeface="微软雅黑" panose="020B0503020204020204" pitchFamily="34" charset="-122"/>
                <a:ea typeface="微软雅黑" panose="020B0503020204020204" pitchFamily="34" charset="-122"/>
              </a:rPr>
              <a:t>&amp;&amp;</a:t>
            </a: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0070C0"/>
                </a:solidFill>
                <a:latin typeface="微软雅黑" panose="020B0503020204020204" pitchFamily="34" charset="-122"/>
                <a:ea typeface="微软雅黑" panose="020B0503020204020204" pitchFamily="34" charset="-122"/>
              </a:rPr>
              <a:t>or</a:t>
            </a:r>
            <a:r>
              <a:rPr lang="zh-CN" altLang="en-US" sz="1800" dirty="0">
                <a:solidFill>
                  <a:srgbClr val="595959"/>
                </a:solidFill>
                <a:latin typeface="微软雅黑" panose="020B0503020204020204" pitchFamily="34" charset="-122"/>
                <a:ea typeface="微软雅黑" panose="020B0503020204020204" pitchFamily="34" charset="-122"/>
              </a:rPr>
              <a:t>表示逻辑运算</a:t>
            </a:r>
            <a:r>
              <a:rPr lang="zh-CN" altLang="en-US" sz="1800" dirty="0">
                <a:solidFill>
                  <a:srgbClr val="0070C0"/>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。第1~2行代码表示如果x&gt;0成立并且y&lt;0成立，则执行z=z-(x-y)语句；第3~4行代码表示如果x&gt;2成立或者z&gt;0成立，则执行z=z+(x+y)语句。</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343025" y="909955"/>
            <a:ext cx="6826250" cy="182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根据程序伪代码可以画出流程图，</a:t>
            </a:r>
            <a:r>
              <a:rPr lang="zh-CN" altLang="en-US" sz="1800" dirty="0">
                <a:solidFill>
                  <a:srgbClr val="0070C0"/>
                </a:solidFill>
                <a:latin typeface="微软雅黑" panose="020B0503020204020204" pitchFamily="34" charset="-122"/>
                <a:ea typeface="微软雅黑" panose="020B0503020204020204" pitchFamily="34" charset="-122"/>
              </a:rPr>
              <a:t>程序执行的流程图</a:t>
            </a:r>
            <a:r>
              <a:rPr lang="zh-CN" altLang="en-US" sz="1800" dirty="0">
                <a:solidFill>
                  <a:srgbClr val="595959"/>
                </a:solidFill>
                <a:latin typeface="微软雅黑" panose="020B0503020204020204" pitchFamily="34" charset="-122"/>
                <a:ea typeface="微软雅黑" panose="020B0503020204020204" pitchFamily="34" charset="-122"/>
              </a:rPr>
              <a:t>如右图所示。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根据程序执行流程图中标示的语句执行路径</a:t>
            </a:r>
            <a:r>
              <a:rPr lang="zh-CN" altLang="en-US" sz="1800" dirty="0">
                <a:solidFill>
                  <a:srgbClr val="0070C0"/>
                </a:solidFill>
                <a:latin typeface="微软雅黑" panose="020B0503020204020204" pitchFamily="34" charset="-122"/>
                <a:ea typeface="微软雅黑" panose="020B0503020204020204" pitchFamily="34" charset="-122"/>
                <a:sym typeface="+mn-ea"/>
              </a:rPr>
              <a:t>设计测试用例</a:t>
            </a:r>
            <a:r>
              <a:rPr lang="zh-CN" altLang="en-US" sz="1800" dirty="0">
                <a:solidFill>
                  <a:srgbClr val="595959"/>
                </a:solidFill>
                <a:latin typeface="微软雅黑" panose="020B0503020204020204" pitchFamily="34" charset="-122"/>
                <a:ea typeface="微软雅黑" panose="020B0503020204020204" pitchFamily="34" charset="-122"/>
                <a:sym typeface="+mn-ea"/>
              </a:rPr>
              <a:t>，具体如下。</a:t>
            </a:r>
            <a:endParaRPr lang="zh-CN" altLang="en-US" sz="18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3.2.1	语句覆盖</a:t>
            </a:r>
          </a:p>
        </p:txBody>
      </p:sp>
      <p:sp>
        <p:nvSpPr>
          <p:cNvPr id="7" name="矩形 6"/>
          <p:cNvSpPr/>
          <p:nvPr/>
        </p:nvSpPr>
        <p:spPr>
          <a:xfrm>
            <a:off x="1467485" y="2853690"/>
            <a:ext cx="6433820" cy="7359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lnSpc>
                <a:spcPct val="150000"/>
              </a:lnSpc>
              <a:buClrTx/>
              <a:buSzTx/>
              <a:buFontTx/>
              <a:defRPr/>
            </a:pPr>
            <a:endPar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9" name="矩形 8"/>
          <p:cNvSpPr/>
          <p:nvPr/>
        </p:nvSpPr>
        <p:spPr>
          <a:xfrm>
            <a:off x="1684020" y="2927350"/>
            <a:ext cx="5935345" cy="460375"/>
          </a:xfrm>
          <a:prstGeom prst="rect">
            <a:avLst/>
          </a:prstGeom>
        </p:spPr>
        <p:txBody>
          <a:bodyPr wrap="square">
            <a:spAutoFit/>
          </a:bodyPr>
          <a:lstStyle/>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test1:x=3   y=-1   z=2</a:t>
            </a:r>
          </a:p>
        </p:txBody>
      </p:sp>
      <p:sp>
        <p:nvSpPr>
          <p:cNvPr id="12" name="TextBox 35"/>
          <p:cNvSpPr txBox="1">
            <a:spLocks noChangeArrowheads="1"/>
          </p:cNvSpPr>
          <p:nvPr/>
        </p:nvSpPr>
        <p:spPr bwMode="auto">
          <a:xfrm>
            <a:off x="1310005" y="3789680"/>
            <a:ext cx="6826250" cy="182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执行上述测试用例，程序的运行路径为</a:t>
            </a:r>
            <a:r>
              <a:rPr lang="zh-CN" altLang="en-US" sz="1800" dirty="0">
                <a:solidFill>
                  <a:srgbClr val="0070C0"/>
                </a:solidFill>
                <a:latin typeface="微软雅黑" panose="020B0503020204020204" pitchFamily="34" charset="-122"/>
                <a:ea typeface="微软雅黑" panose="020B0503020204020204" pitchFamily="34" charset="-122"/>
              </a:rPr>
              <a:t>a→c→e</a:t>
            </a:r>
            <a:r>
              <a:rPr lang="zh-CN" altLang="en-US" sz="1800" dirty="0">
                <a:solidFill>
                  <a:srgbClr val="595959"/>
                </a:solidFill>
                <a:latin typeface="微软雅黑" panose="020B0503020204020204" pitchFamily="34" charset="-122"/>
                <a:ea typeface="微软雅黑" panose="020B0503020204020204" pitchFamily="34" charset="-122"/>
              </a:rPr>
              <a:t>。可以看出程序中a→c→e路径上的每个语句都能被执行，但是语句覆盖无法全面反映多分支的逻辑，仅仅执行一次不能进行全面覆盖。因此，</a:t>
            </a:r>
            <a:r>
              <a:rPr lang="zh-CN" altLang="en-US" sz="1800" dirty="0">
                <a:solidFill>
                  <a:srgbClr val="0070C0"/>
                </a:solidFill>
                <a:latin typeface="微软雅黑" panose="020B0503020204020204" pitchFamily="34" charset="-122"/>
                <a:ea typeface="微软雅黑" panose="020B0503020204020204" pitchFamily="34" charset="-122"/>
              </a:rPr>
              <a:t>语句覆盖是弱覆盖方法</a:t>
            </a:r>
            <a:r>
              <a:rPr lang="zh-CN" altLang="en-US" sz="1800" dirty="0">
                <a:solidFill>
                  <a:srgbClr val="595959"/>
                </a:solidFill>
                <a:latin typeface="微软雅黑" panose="020B0503020204020204" pitchFamily="34" charset="-122"/>
                <a:ea typeface="微软雅黑" panose="020B0503020204020204" pitchFamily="34" charset="-122"/>
                <a:sym typeface="+mn-ea"/>
              </a:rPr>
              <a:t>。</a:t>
            </a:r>
            <a:endParaRPr lang="zh-CN" altLang="en-US" sz="1800" dirty="0">
              <a:solidFill>
                <a:srgbClr val="595959"/>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8169275" y="1287327"/>
            <a:ext cx="3553868" cy="316644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判定</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覆盖</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应用</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判定</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覆盖</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设计测试用例</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3.2.2	判定覆盖</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701165"/>
            <a:ext cx="6289675" cy="289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0070C0"/>
                </a:solidFill>
                <a:latin typeface="微软雅黑" panose="020B0503020204020204" pitchFamily="34" charset="-122"/>
                <a:ea typeface="微软雅黑" panose="020B0503020204020204" pitchFamily="34" charset="-122"/>
              </a:rPr>
              <a:t>判定覆盖</a:t>
            </a:r>
            <a:r>
              <a:rPr lang="zh-CN" altLang="en-US" sz="2000" dirty="0">
                <a:solidFill>
                  <a:srgbClr val="595959"/>
                </a:solidFill>
                <a:latin typeface="微软雅黑" panose="020B0503020204020204" pitchFamily="34" charset="-122"/>
                <a:ea typeface="微软雅黑" panose="020B0503020204020204" pitchFamily="34" charset="-122"/>
              </a:rPr>
              <a:t>(Decision Coverage)又称为分支覆盖，其</a:t>
            </a:r>
            <a:r>
              <a:rPr lang="zh-CN" altLang="en-US" sz="2000" dirty="0">
                <a:solidFill>
                  <a:srgbClr val="0070C0"/>
                </a:solidFill>
                <a:latin typeface="微软雅黑" panose="020B0503020204020204" pitchFamily="34" charset="-122"/>
                <a:ea typeface="微软雅黑" panose="020B0503020204020204" pitchFamily="34" charset="-122"/>
              </a:rPr>
              <a:t>原则是设计足够多的测试用例</a:t>
            </a:r>
            <a:r>
              <a:rPr lang="zh-CN" altLang="en-US" sz="2000" dirty="0">
                <a:solidFill>
                  <a:srgbClr val="595959"/>
                </a:solidFill>
                <a:latin typeface="微软雅黑" panose="020B0503020204020204" pitchFamily="34" charset="-122"/>
                <a:ea typeface="微软雅黑" panose="020B0503020204020204" pitchFamily="34" charset="-122"/>
              </a:rPr>
              <a:t>，在测试过程中</a:t>
            </a:r>
            <a:r>
              <a:rPr lang="zh-CN" altLang="en-US" sz="2000" dirty="0">
                <a:solidFill>
                  <a:srgbClr val="0070C0"/>
                </a:solidFill>
                <a:latin typeface="微软雅黑" panose="020B0503020204020204" pitchFamily="34" charset="-122"/>
                <a:ea typeface="微软雅黑" panose="020B0503020204020204" pitchFamily="34" charset="-122"/>
              </a:rPr>
              <a:t>保证每个判定条件至少有一次为真值</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有一次为假值</a:t>
            </a:r>
            <a:r>
              <a:rPr lang="zh-CN" altLang="en-US" sz="2000" dirty="0">
                <a:solidFill>
                  <a:srgbClr val="595959"/>
                </a:solidFill>
                <a:latin typeface="微软雅黑" panose="020B0503020204020204" pitchFamily="34" charset="-122"/>
                <a:ea typeface="微软雅黑" panose="020B0503020204020204" pitchFamily="34" charset="-122"/>
              </a:rPr>
              <a:t>。判定覆盖的作用是使真假分支均被执行，虽然判定覆盖比语句覆盖测试能力强，但仍然</a:t>
            </a:r>
            <a:r>
              <a:rPr lang="zh-CN" altLang="en-US" sz="2000" dirty="0">
                <a:solidFill>
                  <a:srgbClr val="0070C0"/>
                </a:solidFill>
                <a:latin typeface="微软雅黑" panose="020B0503020204020204" pitchFamily="34" charset="-122"/>
                <a:ea typeface="微软雅黑" panose="020B0503020204020204" pitchFamily="34" charset="-122"/>
              </a:rPr>
              <a:t>具有和语句覆盖一样的单一性</a:t>
            </a:r>
            <a:r>
              <a:rPr lang="zh-CN" altLang="en-US" sz="20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3.2.2	判定覆盖</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3.2.2	判定覆盖</a:t>
            </a:r>
          </a:p>
        </p:txBody>
      </p:sp>
      <p:pic>
        <p:nvPicPr>
          <p:cNvPr id="2" name="图片 1">
            <a:extLst>
              <a:ext uri="{FF2B5EF4-FFF2-40B4-BE49-F238E27FC236}">
                <a16:creationId xmlns:a16="http://schemas.microsoft.com/office/drawing/2014/main" id="{1A875D2E-B165-52D2-6905-CE36239A22C4}"/>
              </a:ext>
            </a:extLst>
          </p:cNvPr>
          <p:cNvPicPr>
            <a:picLocks noChangeAspect="1"/>
          </p:cNvPicPr>
          <p:nvPr/>
        </p:nvPicPr>
        <p:blipFill>
          <a:blip r:embed="rId4"/>
          <a:stretch>
            <a:fillRect/>
          </a:stretch>
        </p:blipFill>
        <p:spPr>
          <a:xfrm>
            <a:off x="839206" y="2523609"/>
            <a:ext cx="3555616" cy="3168000"/>
          </a:xfrm>
          <a:prstGeom prst="rect">
            <a:avLst/>
          </a:prstGeom>
        </p:spPr>
      </p:pic>
      <p:sp>
        <p:nvSpPr>
          <p:cNvPr id="6" name="文本框 5">
            <a:extLst>
              <a:ext uri="{FF2B5EF4-FFF2-40B4-BE49-F238E27FC236}">
                <a16:creationId xmlns:a16="http://schemas.microsoft.com/office/drawing/2014/main" id="{1878EF7F-000D-9956-3C1C-04C9AE3333C4}"/>
              </a:ext>
            </a:extLst>
          </p:cNvPr>
          <p:cNvSpPr txBox="1"/>
          <p:nvPr/>
        </p:nvSpPr>
        <p:spPr>
          <a:xfrm>
            <a:off x="1132539" y="1006806"/>
            <a:ext cx="9843770" cy="874407"/>
          </a:xfrm>
          <a:prstGeom prst="rect">
            <a:avLst/>
          </a:prstGeom>
          <a:noFill/>
        </p:spPr>
        <p:txBody>
          <a:bodyPr wrap="square">
            <a:spAutoFit/>
          </a:bodyPr>
          <a:lstStyle/>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在该程序中，有2个判定语句，每个判定语句有2个逻辑条件，共有4个逻辑条件，使用标识符标记各个逻辑条件取真值与取假值的情况，判定条件如下表所示。</a:t>
            </a:r>
          </a:p>
        </p:txBody>
      </p:sp>
      <p:graphicFrame>
        <p:nvGraphicFramePr>
          <p:cNvPr id="7" name="表格 6">
            <a:extLst>
              <a:ext uri="{FF2B5EF4-FFF2-40B4-BE49-F238E27FC236}">
                <a16:creationId xmlns:a16="http://schemas.microsoft.com/office/drawing/2014/main" id="{17207101-08A3-18BB-9299-5C7A06DC35FF}"/>
              </a:ext>
            </a:extLst>
          </p:cNvPr>
          <p:cNvGraphicFramePr/>
          <p:nvPr>
            <p:custDataLst>
              <p:tags r:id="rId1"/>
            </p:custDataLst>
            <p:extLst>
              <p:ext uri="{D42A27DB-BD31-4B8C-83A1-F6EECF244321}">
                <p14:modId xmlns:p14="http://schemas.microsoft.com/office/powerpoint/2010/main" val="3920484595"/>
              </p:ext>
            </p:extLst>
          </p:nvPr>
        </p:nvGraphicFramePr>
        <p:xfrm>
          <a:off x="4799206" y="2564869"/>
          <a:ext cx="6997700" cy="3126740"/>
        </p:xfrm>
        <a:graphic>
          <a:graphicData uri="http://schemas.openxmlformats.org/drawingml/2006/table">
            <a:tbl>
              <a:tblPr firstRow="1" bandRow="1">
                <a:tableStyleId>{5C22544A-7EE6-4342-B048-85BDC9FD1C3A}</a:tableStyleId>
              </a:tblPr>
              <a:tblGrid>
                <a:gridCol w="2009775">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684020">
                  <a:extLst>
                    <a:ext uri="{9D8B030D-6E8A-4147-A177-3AD203B41FA5}">
                      <a16:colId xmlns:a16="http://schemas.microsoft.com/office/drawing/2014/main" val="20002"/>
                    </a:ext>
                  </a:extLst>
                </a:gridCol>
                <a:gridCol w="1646555">
                  <a:extLst>
                    <a:ext uri="{9D8B030D-6E8A-4147-A177-3AD203B41FA5}">
                      <a16:colId xmlns:a16="http://schemas.microsoft.com/office/drawing/2014/main" val="20003"/>
                    </a:ext>
                  </a:extLst>
                </a:gridCol>
              </a:tblGrid>
              <a:tr h="659130">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判定1</a:t>
                      </a:r>
                    </a:p>
                  </a:txBody>
                  <a:tcPr anchor="ctr"/>
                </a:tc>
                <a:tc>
                  <a:txBody>
                    <a:bodyPr/>
                    <a:lstStyle/>
                    <a:p>
                      <a:pPr algn="ctr">
                        <a:lnSpc>
                          <a:spcPct val="90000"/>
                        </a:lnSpc>
                        <a:buNone/>
                      </a:pPr>
                      <a:r>
                        <a:rPr lang="en-US" altLang="zh-CN" sz="1800" dirty="0" err="1">
                          <a:latin typeface="微软雅黑" panose="020B0503020204020204" pitchFamily="34" charset="-122"/>
                          <a:ea typeface="微软雅黑" panose="020B0503020204020204" pitchFamily="34" charset="-122"/>
                        </a:rPr>
                        <a:t>条件</a:t>
                      </a:r>
                      <a:r>
                        <a:rPr lang="zh-CN" altLang="en-US" sz="1800" dirty="0">
                          <a:latin typeface="微软雅黑" panose="020B0503020204020204" pitchFamily="34" charset="-122"/>
                          <a:ea typeface="微软雅黑" panose="020B0503020204020204" pitchFamily="34" charset="-122"/>
                        </a:rPr>
                        <a:t>标记</a:t>
                      </a:r>
                    </a:p>
                  </a:txBody>
                  <a:tcPr anchor="ctr"/>
                </a:tc>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判定</a:t>
                      </a:r>
                      <a:r>
                        <a:rPr lang="en-US" altLang="zh-CN" sz="1800" b="1" dirty="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dirty="0" err="1">
                          <a:latin typeface="微软雅黑" panose="020B0503020204020204" pitchFamily="34" charset="-122"/>
                          <a:ea typeface="微软雅黑" panose="020B0503020204020204" pitchFamily="34" charset="-122"/>
                        </a:rPr>
                        <a:t>条件</a:t>
                      </a:r>
                      <a:r>
                        <a:rPr lang="zh-CN" altLang="en-US" sz="1800" dirty="0">
                          <a:latin typeface="微软雅黑" panose="020B0503020204020204" pitchFamily="34" charset="-122"/>
                          <a:ea typeface="微软雅黑" panose="020B0503020204020204" pitchFamily="34" charset="-122"/>
                        </a:rPr>
                        <a:t>标记</a:t>
                      </a:r>
                    </a:p>
                  </a:txBody>
                  <a:tcPr anchor="ctr"/>
                </a:tc>
                <a:extLst>
                  <a:ext uri="{0D108BD9-81ED-4DB2-BD59-A6C34878D82A}">
                    <a16:rowId xmlns:a16="http://schemas.microsoft.com/office/drawing/2014/main" val="10000"/>
                  </a:ext>
                </a:extLst>
              </a:tr>
              <a:tr h="643890">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x&gt;0</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S1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x&gt;</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S3</a:t>
                      </a:r>
                    </a:p>
                  </a:txBody>
                  <a:tcPr anchor="ctr"/>
                </a:tc>
                <a:extLst>
                  <a:ext uri="{0D108BD9-81ED-4DB2-BD59-A6C34878D82A}">
                    <a16:rowId xmlns:a16="http://schemas.microsoft.com/office/drawing/2014/main" val="10001"/>
                  </a:ext>
                </a:extLst>
              </a:tr>
              <a:tr h="600075">
                <a:tc>
                  <a:txBody>
                    <a:bodyPr/>
                    <a:lstStyle/>
                    <a:p>
                      <a:pPr algn="ctr">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x&lt;=0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-S1</a:t>
                      </a:r>
                    </a:p>
                  </a:txBody>
                  <a:tcPr anchor="ctr"/>
                </a:tc>
                <a:tc>
                  <a:txBody>
                    <a:bodyPr/>
                    <a:lstStyle/>
                    <a:p>
                      <a:pPr algn="ctr">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x&lt;=</a:t>
                      </a:r>
                      <a:r>
                        <a:rPr lang="en-US"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-S3</a:t>
                      </a:r>
                    </a:p>
                  </a:txBody>
                  <a:tcPr anchor="ctr"/>
                </a:tc>
                <a:extLst>
                  <a:ext uri="{0D108BD9-81ED-4DB2-BD59-A6C34878D82A}">
                    <a16:rowId xmlns:a16="http://schemas.microsoft.com/office/drawing/2014/main" val="10002"/>
                  </a:ext>
                </a:extLst>
              </a:tr>
              <a:tr h="606425">
                <a:tc>
                  <a:txBody>
                    <a:bodyPr/>
                    <a:lstStyle/>
                    <a:p>
                      <a:pPr algn="ctr">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y&lt;0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S2</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rPr>
                        <a:t>z</a:t>
                      </a: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&gt;</a:t>
                      </a:r>
                      <a:r>
                        <a:rPr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S4</a:t>
                      </a:r>
                    </a:p>
                  </a:txBody>
                  <a:tcPr anchor="ctr"/>
                </a:tc>
                <a:extLst>
                  <a:ext uri="{0D108BD9-81ED-4DB2-BD59-A6C34878D82A}">
                    <a16:rowId xmlns:a16="http://schemas.microsoft.com/office/drawing/2014/main" val="10003"/>
                  </a:ext>
                </a:extLst>
              </a:tr>
              <a:tr h="617220">
                <a:tc>
                  <a:txBody>
                    <a:bodyPr/>
                    <a:lstStyle/>
                    <a:p>
                      <a:pPr algn="ctr">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y&gt;=0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-S2</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z</a:t>
                      </a:r>
                      <a:r>
                        <a:rPr sz="1800" kern="1200">
                          <a:solidFill>
                            <a:srgbClr val="595959"/>
                          </a:solidFill>
                          <a:latin typeface="微软雅黑" panose="020B0503020204020204" pitchFamily="34" charset="-122"/>
                          <a:ea typeface="微软雅黑" panose="020B0503020204020204" pitchFamily="34" charset="-122"/>
                          <a:cs typeface="+mn-cs"/>
                          <a:sym typeface="+mn-ea"/>
                        </a:rPr>
                        <a:t>&lt;</a:t>
                      </a:r>
                      <a:r>
                        <a:rPr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-S4</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CA6D8-1D67-F8FF-2668-5177A0A72AC4}"/>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E977D56D-71F0-8164-7A47-B0A89ED42478}"/>
              </a:ext>
            </a:extLst>
          </p:cNvPr>
          <p:cNvSpPr txBox="1">
            <a:spLocks noChangeArrowheads="1"/>
          </p:cNvSpPr>
          <p:nvPr/>
        </p:nvSpPr>
        <p:spPr bwMode="auto">
          <a:xfrm>
            <a:off x="1198880" y="909955"/>
            <a:ext cx="1010412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0070C0"/>
                </a:solidFill>
                <a:latin typeface="微软雅黑" panose="020B0503020204020204" pitchFamily="34" charset="-122"/>
                <a:ea typeface="微软雅黑" panose="020B0503020204020204" pitchFamily="34" charset="-122"/>
              </a:rPr>
              <a:t>判定覆盖测试用例</a:t>
            </a:r>
            <a:r>
              <a:rPr lang="zh-CN" altLang="en-US" sz="20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a:extLst>
              <a:ext uri="{FF2B5EF4-FFF2-40B4-BE49-F238E27FC236}">
                <a16:creationId xmlns:a16="http://schemas.microsoft.com/office/drawing/2014/main" id="{71BF04D3-1052-A88E-EFEA-7AF2612733E2}"/>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3.2.2	判定覆盖</a:t>
            </a:r>
          </a:p>
        </p:txBody>
      </p:sp>
      <p:pic>
        <p:nvPicPr>
          <p:cNvPr id="2" name="图片 1">
            <a:extLst>
              <a:ext uri="{FF2B5EF4-FFF2-40B4-BE49-F238E27FC236}">
                <a16:creationId xmlns:a16="http://schemas.microsoft.com/office/drawing/2014/main" id="{A3B4A94C-F6AE-2CAE-156A-7EBC0C10625A}"/>
              </a:ext>
            </a:extLst>
          </p:cNvPr>
          <p:cNvPicPr>
            <a:picLocks noChangeAspect="1"/>
          </p:cNvPicPr>
          <p:nvPr/>
        </p:nvPicPr>
        <p:blipFill>
          <a:blip r:embed="rId4"/>
          <a:stretch>
            <a:fillRect/>
          </a:stretch>
        </p:blipFill>
        <p:spPr>
          <a:xfrm>
            <a:off x="0" y="1842758"/>
            <a:ext cx="2954840" cy="2632718"/>
          </a:xfrm>
          <a:prstGeom prst="rect">
            <a:avLst/>
          </a:prstGeom>
        </p:spPr>
      </p:pic>
      <p:graphicFrame>
        <p:nvGraphicFramePr>
          <p:cNvPr id="5" name="表格 4">
            <a:extLst>
              <a:ext uri="{FF2B5EF4-FFF2-40B4-BE49-F238E27FC236}">
                <a16:creationId xmlns:a16="http://schemas.microsoft.com/office/drawing/2014/main" id="{847493C5-CABA-210E-D0D2-6E6031899DA9}"/>
              </a:ext>
            </a:extLst>
          </p:cNvPr>
          <p:cNvGraphicFramePr/>
          <p:nvPr>
            <p:custDataLst>
              <p:tags r:id="rId1"/>
            </p:custDataLst>
            <p:extLst>
              <p:ext uri="{D42A27DB-BD31-4B8C-83A1-F6EECF244321}">
                <p14:modId xmlns:p14="http://schemas.microsoft.com/office/powerpoint/2010/main" val="2070833965"/>
              </p:ext>
            </p:extLst>
          </p:nvPr>
        </p:nvGraphicFramePr>
        <p:xfrm>
          <a:off x="3215206" y="1905944"/>
          <a:ext cx="8664794" cy="2506345"/>
        </p:xfrm>
        <a:graphic>
          <a:graphicData uri="http://schemas.openxmlformats.org/drawingml/2006/table">
            <a:tbl>
              <a:tblPr firstRow="1" bandRow="1">
                <a:tableStyleId>{5C22544A-7EE6-4342-B048-85BDC9FD1C3A}</a:tableStyleId>
              </a:tblPr>
              <a:tblGrid>
                <a:gridCol w="1123444">
                  <a:extLst>
                    <a:ext uri="{9D8B030D-6E8A-4147-A177-3AD203B41FA5}">
                      <a16:colId xmlns:a16="http://schemas.microsoft.com/office/drawing/2014/main" val="20000"/>
                    </a:ext>
                  </a:extLst>
                </a:gridCol>
                <a:gridCol w="548968">
                  <a:extLst>
                    <a:ext uri="{9D8B030D-6E8A-4147-A177-3AD203B41FA5}">
                      <a16:colId xmlns:a16="http://schemas.microsoft.com/office/drawing/2014/main" val="20001"/>
                    </a:ext>
                  </a:extLst>
                </a:gridCol>
                <a:gridCol w="696839">
                  <a:extLst>
                    <a:ext uri="{9D8B030D-6E8A-4147-A177-3AD203B41FA5}">
                      <a16:colId xmlns:a16="http://schemas.microsoft.com/office/drawing/2014/main" val="20002"/>
                    </a:ext>
                  </a:extLst>
                </a:gridCol>
                <a:gridCol w="696839">
                  <a:extLst>
                    <a:ext uri="{9D8B030D-6E8A-4147-A177-3AD203B41FA5}">
                      <a16:colId xmlns:a16="http://schemas.microsoft.com/office/drawing/2014/main" val="20003"/>
                    </a:ext>
                  </a:extLst>
                </a:gridCol>
                <a:gridCol w="2393247">
                  <a:extLst>
                    <a:ext uri="{9D8B030D-6E8A-4147-A177-3AD203B41FA5}">
                      <a16:colId xmlns:a16="http://schemas.microsoft.com/office/drawing/2014/main" val="20004"/>
                    </a:ext>
                  </a:extLst>
                </a:gridCol>
                <a:gridCol w="1056639">
                  <a:extLst>
                    <a:ext uri="{9D8B030D-6E8A-4147-A177-3AD203B41FA5}">
                      <a16:colId xmlns:a16="http://schemas.microsoft.com/office/drawing/2014/main" val="20005"/>
                    </a:ext>
                  </a:extLst>
                </a:gridCol>
                <a:gridCol w="824825">
                  <a:extLst>
                    <a:ext uri="{9D8B030D-6E8A-4147-A177-3AD203B41FA5}">
                      <a16:colId xmlns:a16="http://schemas.microsoft.com/office/drawing/2014/main" val="20006"/>
                    </a:ext>
                  </a:extLst>
                </a:gridCol>
                <a:gridCol w="1323993">
                  <a:extLst>
                    <a:ext uri="{9D8B030D-6E8A-4147-A177-3AD203B41FA5}">
                      <a16:colId xmlns:a16="http://schemas.microsoft.com/office/drawing/2014/main" val="20007"/>
                    </a:ext>
                  </a:extLst>
                </a:gridCol>
              </a:tblGrid>
              <a:tr h="868045">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x</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y</a:t>
                      </a:r>
                    </a:p>
                  </a:txBody>
                  <a:tcPr anchor="ctr"/>
                </a:tc>
                <a:tc>
                  <a:txBody>
                    <a:bodyPr/>
                    <a:lstStyle/>
                    <a:p>
                      <a:pPr algn="ctr">
                        <a:lnSpc>
                          <a:spcPct val="90000"/>
                        </a:lnSpc>
                        <a:buNone/>
                      </a:pPr>
                      <a:r>
                        <a:rPr lang="en-US" altLang="zh-CN" sz="1800" dirty="0">
                          <a:latin typeface="微软雅黑" panose="020B0503020204020204" pitchFamily="34" charset="-122"/>
                          <a:ea typeface="微软雅黑" panose="020B0503020204020204" pitchFamily="34" charset="-122"/>
                        </a:rPr>
                        <a:t>z</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条件标记</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判定</a:t>
                      </a:r>
                      <a:r>
                        <a:rPr lang="en-US" altLang="zh-CN" sz="1800" dirty="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判定</a:t>
                      </a:r>
                      <a:r>
                        <a:rPr lang="en-US" altLang="zh-CN" sz="1800" dirty="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执行路径</a:t>
                      </a:r>
                    </a:p>
                  </a:txBody>
                  <a:tcPr anchor="ctr"/>
                </a:tc>
                <a:extLst>
                  <a:ext uri="{0D108BD9-81ED-4DB2-BD59-A6C34878D82A}">
                    <a16:rowId xmlns:a16="http://schemas.microsoft.com/office/drawing/2014/main" val="10000"/>
                  </a:ext>
                </a:extLst>
              </a:tr>
              <a:tr h="848360">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-S1、-S2、-S3、</a:t>
                      </a:r>
                      <a:r>
                        <a:rPr lang="en-US" altLang="zh-CN" sz="1800" kern="1200" dirty="0">
                          <a:solidFill>
                            <a:srgbClr val="FF0000"/>
                          </a:solidFill>
                          <a:latin typeface="微软雅黑" panose="020B0503020204020204" pitchFamily="34" charset="-122"/>
                          <a:ea typeface="微软雅黑" panose="020B0503020204020204" pitchFamily="34" charset="-122"/>
                          <a:cs typeface="+mn-cs"/>
                        </a:rPr>
                        <a:t>-S4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algn="ctr">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a→b→d</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78994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S1、S2、S3、</a:t>
                      </a:r>
                      <a:r>
                        <a:rPr lang="en-US" altLang="zh-CN" sz="1800" kern="1200" dirty="0">
                          <a:solidFill>
                            <a:srgbClr val="FF0000"/>
                          </a:solidFill>
                          <a:latin typeface="微软雅黑" panose="020B0503020204020204" pitchFamily="34" charset="-122"/>
                          <a:ea typeface="微软雅黑" panose="020B0503020204020204" pitchFamily="34" charset="-122"/>
                          <a:cs typeface="+mn-cs"/>
                        </a:rPr>
                        <a:t>-S4</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a→c→e</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60272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条件</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覆盖</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应用</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条件</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覆盖</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设计测试用例</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3.2.3	条件覆盖</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43691" y="1269794"/>
            <a:ext cx="10334625" cy="905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条件覆盖</a:t>
            </a:r>
            <a:r>
              <a:rPr lang="zh-CN" altLang="en-US" sz="1800" dirty="0">
                <a:solidFill>
                  <a:srgbClr val="595959"/>
                </a:solidFill>
                <a:latin typeface="微软雅黑" panose="020B0503020204020204" pitchFamily="34" charset="-122"/>
                <a:ea typeface="微软雅黑" panose="020B0503020204020204" pitchFamily="34" charset="-122"/>
              </a:rPr>
              <a:t>(Condition Coverage)是指</a:t>
            </a:r>
            <a:r>
              <a:rPr lang="zh-CN" altLang="en-US" sz="1800" dirty="0">
                <a:solidFill>
                  <a:srgbClr val="0070C0"/>
                </a:solidFill>
                <a:latin typeface="微软雅黑" panose="020B0503020204020204" pitchFamily="34" charset="-122"/>
                <a:ea typeface="微软雅黑" panose="020B0503020204020204" pitchFamily="34" charset="-122"/>
              </a:rPr>
              <a:t>设计足够多的测试用例</a:t>
            </a:r>
            <a:r>
              <a:rPr lang="zh-CN" altLang="en-US" sz="1800" dirty="0">
                <a:solidFill>
                  <a:srgbClr val="595959"/>
                </a:solidFill>
                <a:latin typeface="微软雅黑" panose="020B0503020204020204" pitchFamily="34" charset="-122"/>
                <a:ea typeface="微软雅黑" panose="020B0503020204020204" pitchFamily="34" charset="-122"/>
              </a:rPr>
              <a:t>，使判定语句中的每个逻辑条件</a:t>
            </a:r>
            <a:r>
              <a:rPr lang="zh-CN" altLang="en-US" sz="1800" dirty="0">
                <a:solidFill>
                  <a:srgbClr val="0070C0"/>
                </a:solidFill>
                <a:latin typeface="微软雅黑" panose="020B0503020204020204" pitchFamily="34" charset="-122"/>
                <a:ea typeface="微软雅黑" panose="020B0503020204020204" pitchFamily="34" charset="-122"/>
              </a:rPr>
              <a:t>取真值与取假值至少出现一次</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3.2.3	条件覆盖</a:t>
            </a:r>
          </a:p>
        </p:txBody>
      </p:sp>
      <p:pic>
        <p:nvPicPr>
          <p:cNvPr id="4" name="图片 3">
            <a:extLst>
              <a:ext uri="{FF2B5EF4-FFF2-40B4-BE49-F238E27FC236}">
                <a16:creationId xmlns:a16="http://schemas.microsoft.com/office/drawing/2014/main" id="{2C528F64-741E-2DAC-C20E-9E4BDFF9600C}"/>
              </a:ext>
            </a:extLst>
          </p:cNvPr>
          <p:cNvPicPr>
            <a:picLocks noChangeAspect="1"/>
          </p:cNvPicPr>
          <p:nvPr/>
        </p:nvPicPr>
        <p:blipFill>
          <a:blip r:embed="rId4"/>
          <a:stretch>
            <a:fillRect/>
          </a:stretch>
        </p:blipFill>
        <p:spPr>
          <a:xfrm>
            <a:off x="0" y="3020263"/>
            <a:ext cx="2954840" cy="2632718"/>
          </a:xfrm>
          <a:prstGeom prst="rect">
            <a:avLst/>
          </a:prstGeom>
        </p:spPr>
      </p:pic>
      <p:graphicFrame>
        <p:nvGraphicFramePr>
          <p:cNvPr id="5" name="表格 4">
            <a:extLst>
              <a:ext uri="{FF2B5EF4-FFF2-40B4-BE49-F238E27FC236}">
                <a16:creationId xmlns:a16="http://schemas.microsoft.com/office/drawing/2014/main" id="{A9E6D6C8-09AD-F593-9C3C-EE51450097EF}"/>
              </a:ext>
            </a:extLst>
          </p:cNvPr>
          <p:cNvGraphicFramePr/>
          <p:nvPr>
            <p:custDataLst>
              <p:tags r:id="rId1"/>
            </p:custDataLst>
            <p:extLst>
              <p:ext uri="{D42A27DB-BD31-4B8C-83A1-F6EECF244321}">
                <p14:modId xmlns:p14="http://schemas.microsoft.com/office/powerpoint/2010/main" val="2536004718"/>
              </p:ext>
            </p:extLst>
          </p:nvPr>
        </p:nvGraphicFramePr>
        <p:xfrm>
          <a:off x="3215206" y="3119401"/>
          <a:ext cx="8664794" cy="2506345"/>
        </p:xfrm>
        <a:graphic>
          <a:graphicData uri="http://schemas.openxmlformats.org/drawingml/2006/table">
            <a:tbl>
              <a:tblPr firstRow="1" bandRow="1">
                <a:tableStyleId>{5C22544A-7EE6-4342-B048-85BDC9FD1C3A}</a:tableStyleId>
              </a:tblPr>
              <a:tblGrid>
                <a:gridCol w="1123444">
                  <a:extLst>
                    <a:ext uri="{9D8B030D-6E8A-4147-A177-3AD203B41FA5}">
                      <a16:colId xmlns:a16="http://schemas.microsoft.com/office/drawing/2014/main" val="20000"/>
                    </a:ext>
                  </a:extLst>
                </a:gridCol>
                <a:gridCol w="548968">
                  <a:extLst>
                    <a:ext uri="{9D8B030D-6E8A-4147-A177-3AD203B41FA5}">
                      <a16:colId xmlns:a16="http://schemas.microsoft.com/office/drawing/2014/main" val="20001"/>
                    </a:ext>
                  </a:extLst>
                </a:gridCol>
                <a:gridCol w="696839">
                  <a:extLst>
                    <a:ext uri="{9D8B030D-6E8A-4147-A177-3AD203B41FA5}">
                      <a16:colId xmlns:a16="http://schemas.microsoft.com/office/drawing/2014/main" val="20002"/>
                    </a:ext>
                  </a:extLst>
                </a:gridCol>
                <a:gridCol w="696839">
                  <a:extLst>
                    <a:ext uri="{9D8B030D-6E8A-4147-A177-3AD203B41FA5}">
                      <a16:colId xmlns:a16="http://schemas.microsoft.com/office/drawing/2014/main" val="20003"/>
                    </a:ext>
                  </a:extLst>
                </a:gridCol>
                <a:gridCol w="2393247">
                  <a:extLst>
                    <a:ext uri="{9D8B030D-6E8A-4147-A177-3AD203B41FA5}">
                      <a16:colId xmlns:a16="http://schemas.microsoft.com/office/drawing/2014/main" val="20004"/>
                    </a:ext>
                  </a:extLst>
                </a:gridCol>
                <a:gridCol w="1056639">
                  <a:extLst>
                    <a:ext uri="{9D8B030D-6E8A-4147-A177-3AD203B41FA5}">
                      <a16:colId xmlns:a16="http://schemas.microsoft.com/office/drawing/2014/main" val="20005"/>
                    </a:ext>
                  </a:extLst>
                </a:gridCol>
                <a:gridCol w="824825">
                  <a:extLst>
                    <a:ext uri="{9D8B030D-6E8A-4147-A177-3AD203B41FA5}">
                      <a16:colId xmlns:a16="http://schemas.microsoft.com/office/drawing/2014/main" val="20006"/>
                    </a:ext>
                  </a:extLst>
                </a:gridCol>
                <a:gridCol w="1323993">
                  <a:extLst>
                    <a:ext uri="{9D8B030D-6E8A-4147-A177-3AD203B41FA5}">
                      <a16:colId xmlns:a16="http://schemas.microsoft.com/office/drawing/2014/main" val="20007"/>
                    </a:ext>
                  </a:extLst>
                </a:gridCol>
              </a:tblGrid>
              <a:tr h="868045">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x</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y</a:t>
                      </a:r>
                    </a:p>
                  </a:txBody>
                  <a:tcPr anchor="ctr"/>
                </a:tc>
                <a:tc>
                  <a:txBody>
                    <a:bodyPr/>
                    <a:lstStyle/>
                    <a:p>
                      <a:pPr algn="ctr">
                        <a:lnSpc>
                          <a:spcPct val="90000"/>
                        </a:lnSpc>
                        <a:buNone/>
                      </a:pPr>
                      <a:r>
                        <a:rPr lang="en-US" altLang="zh-CN" sz="1800" dirty="0">
                          <a:latin typeface="微软雅黑" panose="020B0503020204020204" pitchFamily="34" charset="-122"/>
                          <a:ea typeface="微软雅黑" panose="020B0503020204020204" pitchFamily="34" charset="-122"/>
                        </a:rPr>
                        <a:t>z</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条件标记</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判定</a:t>
                      </a:r>
                      <a:r>
                        <a:rPr lang="en-US" altLang="zh-CN" sz="1800" dirty="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判定</a:t>
                      </a:r>
                      <a:r>
                        <a:rPr lang="en-US" altLang="zh-CN" sz="1800" dirty="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执行路径</a:t>
                      </a:r>
                    </a:p>
                  </a:txBody>
                  <a:tcPr anchor="ctr"/>
                </a:tc>
                <a:extLst>
                  <a:ext uri="{0D108BD9-81ED-4DB2-BD59-A6C34878D82A}">
                    <a16:rowId xmlns:a16="http://schemas.microsoft.com/office/drawing/2014/main" val="10000"/>
                  </a:ext>
                </a:extLst>
              </a:tr>
              <a:tr h="848360">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a→b→e</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78994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a→b→e</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判定-条件</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覆盖</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应用</a:t>
            </a:r>
            <a:r>
              <a:rPr sz="2000">
                <a:solidFill>
                  <a:srgbClr val="0070C0"/>
                </a:solidFill>
                <a:latin typeface="微软雅黑" panose="020B0503020204020204" pitchFamily="34" charset="-122"/>
                <a:ea typeface="微软雅黑" panose="020B0503020204020204" pitchFamily="34" charset="-122"/>
                <a:cs typeface="+mn-ea"/>
                <a:sym typeface="+mn-lt"/>
              </a:rPr>
              <a:t>判定-</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条件</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覆盖</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设计测试用例</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3.2.4	判定-条件覆盖</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701165"/>
            <a:ext cx="6289675" cy="344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判定-条件覆盖</a:t>
            </a:r>
            <a:r>
              <a:rPr lang="zh-CN" altLang="en-US" sz="1800" dirty="0">
                <a:solidFill>
                  <a:srgbClr val="595959"/>
                </a:solidFill>
                <a:latin typeface="微软雅黑" panose="020B0503020204020204" pitchFamily="34" charset="-122"/>
                <a:ea typeface="微软雅黑" panose="020B0503020204020204" pitchFamily="34" charset="-122"/>
              </a:rPr>
              <a:t>(Condition/Decision Coverage)要求设计较多的测试用例，使得判定语句中</a:t>
            </a:r>
            <a:r>
              <a:rPr lang="zh-CN" altLang="en-US" sz="1800" dirty="0">
                <a:solidFill>
                  <a:srgbClr val="0070C0"/>
                </a:solidFill>
                <a:latin typeface="微软雅黑" panose="020B0503020204020204" pitchFamily="34" charset="-122"/>
                <a:ea typeface="微软雅黑" panose="020B0503020204020204" pitchFamily="34" charset="-122"/>
              </a:rPr>
              <a:t>所有条件的可能取值至少出现一次</a:t>
            </a:r>
            <a:r>
              <a:rPr lang="zh-CN" altLang="en-US" sz="1800" dirty="0">
                <a:solidFill>
                  <a:srgbClr val="595959"/>
                </a:solidFill>
                <a:latin typeface="微软雅黑" panose="020B0503020204020204" pitchFamily="34" charset="-122"/>
                <a:ea typeface="微软雅黑" panose="020B0503020204020204" pitchFamily="34" charset="-122"/>
              </a:rPr>
              <a:t>，同时，</a:t>
            </a:r>
            <a:r>
              <a:rPr lang="zh-CN" altLang="en-US" sz="1800" dirty="0">
                <a:solidFill>
                  <a:srgbClr val="0070C0"/>
                </a:solidFill>
                <a:latin typeface="微软雅黑" panose="020B0503020204020204" pitchFamily="34" charset="-122"/>
                <a:ea typeface="微软雅黑" panose="020B0503020204020204" pitchFamily="34" charset="-122"/>
              </a:rPr>
              <a:t>所有判定语句的可能结果也至少出现一次</a:t>
            </a:r>
            <a:r>
              <a:rPr lang="zh-CN" altLang="en-US" sz="1800" dirty="0">
                <a:solidFill>
                  <a:srgbClr val="595959"/>
                </a:solidFill>
                <a:latin typeface="微软雅黑" panose="020B0503020204020204" pitchFamily="34" charset="-122"/>
                <a:ea typeface="微软雅黑" panose="020B0503020204020204" pitchFamily="34" charset="-122"/>
              </a:rPr>
              <a:t>。例如，对于判定语句</a:t>
            </a:r>
            <a:r>
              <a:rPr lang="en-US" altLang="zh-CN" sz="1800" dirty="0">
                <a:solidFill>
                  <a:srgbClr val="595959"/>
                </a:solidFill>
                <a:latin typeface="微软雅黑" panose="020B0503020204020204" pitchFamily="34" charset="-122"/>
                <a:ea typeface="微软雅黑" panose="020B0503020204020204" pitchFamily="34" charset="-122"/>
              </a:rPr>
              <a:t>if</a:t>
            </a: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x</a:t>
            </a:r>
            <a:r>
              <a:rPr lang="zh-CN" altLang="en-US" sz="1800" dirty="0">
                <a:solidFill>
                  <a:srgbClr val="595959"/>
                </a:solidFill>
                <a:latin typeface="微软雅黑" panose="020B0503020204020204" pitchFamily="34" charset="-122"/>
                <a:ea typeface="微软雅黑" panose="020B0503020204020204" pitchFamily="34" charset="-122"/>
              </a:rPr>
              <a:t>&gt;</a:t>
            </a:r>
            <a:r>
              <a:rPr lang="en-US" altLang="zh-CN" sz="1800" dirty="0">
                <a:solidFill>
                  <a:srgbClr val="595959"/>
                </a:solidFill>
                <a:latin typeface="微软雅黑" panose="020B0503020204020204" pitchFamily="34" charset="-122"/>
                <a:ea typeface="微软雅黑" panose="020B0503020204020204" pitchFamily="34" charset="-122"/>
              </a:rPr>
              <a:t>0</a:t>
            </a:r>
            <a:r>
              <a:rPr lang="zh-CN" altLang="en-US" sz="1800" dirty="0">
                <a:solidFill>
                  <a:srgbClr val="595959"/>
                </a:solidFill>
                <a:latin typeface="微软雅黑" panose="020B0503020204020204" pitchFamily="34" charset="-122"/>
                <a:ea typeface="微软雅黑" panose="020B0503020204020204" pitchFamily="34" charset="-122"/>
              </a:rPr>
              <a:t> </a:t>
            </a:r>
            <a:r>
              <a:rPr lang="en-US" altLang="zh-CN" sz="1800" dirty="0">
                <a:solidFill>
                  <a:srgbClr val="595959"/>
                </a:solidFill>
                <a:latin typeface="微软雅黑" panose="020B0503020204020204" pitchFamily="34" charset="-122"/>
                <a:ea typeface="微软雅黑" panose="020B0503020204020204" pitchFamily="34" charset="-122"/>
              </a:rPr>
              <a:t>and</a:t>
            </a:r>
            <a:r>
              <a:rPr lang="zh-CN" altLang="en-US" sz="1800" dirty="0">
                <a:solidFill>
                  <a:srgbClr val="595959"/>
                </a:solidFill>
                <a:latin typeface="微软雅黑" panose="020B0503020204020204" pitchFamily="34" charset="-122"/>
                <a:ea typeface="微软雅黑" panose="020B0503020204020204" pitchFamily="34" charset="-122"/>
              </a:rPr>
              <a:t> </a:t>
            </a:r>
            <a:r>
              <a:rPr lang="en-US" altLang="zh-CN" sz="1800" dirty="0">
                <a:solidFill>
                  <a:srgbClr val="595959"/>
                </a:solidFill>
                <a:latin typeface="微软雅黑" panose="020B0503020204020204" pitchFamily="34" charset="-122"/>
                <a:ea typeface="微软雅黑" panose="020B0503020204020204" pitchFamily="34" charset="-122"/>
              </a:rPr>
              <a:t>y</a:t>
            </a:r>
            <a:r>
              <a:rPr lang="zh-CN" altLang="en-US" sz="1800" dirty="0">
                <a:solidFill>
                  <a:srgbClr val="595959"/>
                </a:solidFill>
                <a:latin typeface="微软雅黑" panose="020B0503020204020204" pitchFamily="34" charset="-122"/>
                <a:ea typeface="微软雅黑" panose="020B0503020204020204" pitchFamily="34" charset="-122"/>
              </a:rPr>
              <a:t>&lt;</a:t>
            </a:r>
            <a:r>
              <a:rPr lang="en-US" altLang="zh-CN" sz="1800" dirty="0">
                <a:solidFill>
                  <a:srgbClr val="595959"/>
                </a:solidFill>
                <a:latin typeface="微软雅黑" panose="020B0503020204020204" pitchFamily="34" charset="-122"/>
                <a:ea typeface="微软雅黑" panose="020B0503020204020204" pitchFamily="34" charset="-122"/>
              </a:rPr>
              <a:t>0</a:t>
            </a:r>
            <a:r>
              <a:rPr lang="zh-CN" altLang="en-US" sz="1800" dirty="0">
                <a:solidFill>
                  <a:srgbClr val="595959"/>
                </a:solidFill>
                <a:latin typeface="微软雅黑" panose="020B0503020204020204" pitchFamily="34" charset="-122"/>
                <a:ea typeface="微软雅黑" panose="020B0503020204020204" pitchFamily="34" charset="-122"/>
              </a:rPr>
              <a:t>)，该判定语句有</a:t>
            </a:r>
            <a:r>
              <a:rPr lang="en-US" altLang="zh-CN" sz="1800" dirty="0">
                <a:solidFill>
                  <a:srgbClr val="595959"/>
                </a:solidFill>
                <a:latin typeface="微软雅黑" panose="020B0503020204020204" pitchFamily="34" charset="-122"/>
                <a:ea typeface="微软雅黑" panose="020B0503020204020204" pitchFamily="34" charset="-122"/>
              </a:rPr>
              <a:t>x</a:t>
            </a:r>
            <a:r>
              <a:rPr lang="zh-CN" altLang="en-US" sz="1800" dirty="0">
                <a:solidFill>
                  <a:srgbClr val="595959"/>
                </a:solidFill>
                <a:latin typeface="微软雅黑" panose="020B0503020204020204" pitchFamily="34" charset="-122"/>
                <a:ea typeface="微软雅黑" panose="020B0503020204020204" pitchFamily="34" charset="-122"/>
              </a:rPr>
              <a:t>&gt;1、</a:t>
            </a:r>
            <a:r>
              <a:rPr lang="en-US" altLang="zh-CN" sz="1800" dirty="0">
                <a:solidFill>
                  <a:srgbClr val="595959"/>
                </a:solidFill>
                <a:latin typeface="微软雅黑" panose="020B0503020204020204" pitchFamily="34" charset="-122"/>
                <a:ea typeface="微软雅黑" panose="020B0503020204020204" pitchFamily="34" charset="-122"/>
              </a:rPr>
              <a:t>y</a:t>
            </a:r>
            <a:r>
              <a:rPr lang="zh-CN" altLang="en-US" sz="1800" dirty="0">
                <a:solidFill>
                  <a:srgbClr val="595959"/>
                </a:solidFill>
                <a:latin typeface="微软雅黑" panose="020B0503020204020204" pitchFamily="34" charset="-122"/>
                <a:ea typeface="微软雅黑" panose="020B0503020204020204" pitchFamily="34" charset="-122"/>
              </a:rPr>
              <a:t>&lt;1这</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个条件，则在设计测试用例时，要保证</a:t>
            </a:r>
            <a:r>
              <a:rPr lang="en-US" altLang="zh-CN" sz="1800" dirty="0">
                <a:solidFill>
                  <a:srgbClr val="595959"/>
                </a:solidFill>
                <a:latin typeface="微软雅黑" panose="020B0503020204020204" pitchFamily="34" charset="-122"/>
                <a:ea typeface="微软雅黑" panose="020B0503020204020204" pitchFamily="34" charset="-122"/>
              </a:rPr>
              <a:t>x</a:t>
            </a:r>
            <a:r>
              <a:rPr lang="zh-CN" altLang="en-US" sz="1800" dirty="0">
                <a:solidFill>
                  <a:srgbClr val="595959"/>
                </a:solidFill>
                <a:latin typeface="微软雅黑" panose="020B0503020204020204" pitchFamily="34" charset="-122"/>
                <a:ea typeface="微软雅黑" panose="020B0503020204020204" pitchFamily="34" charset="-122"/>
              </a:rPr>
              <a:t>&gt;</a:t>
            </a:r>
            <a:r>
              <a:rPr lang="en-US" altLang="zh-CN" sz="1800" dirty="0">
                <a:solidFill>
                  <a:srgbClr val="595959"/>
                </a:solidFill>
                <a:latin typeface="微软雅黑" panose="020B0503020204020204" pitchFamily="34" charset="-122"/>
                <a:ea typeface="微软雅黑" panose="020B0503020204020204" pitchFamily="34" charset="-122"/>
              </a:rPr>
              <a:t>0</a:t>
            </a:r>
            <a:r>
              <a:rPr lang="zh-CN" altLang="en-US" sz="1800" dirty="0">
                <a:solidFill>
                  <a:srgbClr val="595959"/>
                </a:solidFill>
                <a:latin typeface="微软雅黑" panose="020B0503020204020204" pitchFamily="34" charset="-122"/>
                <a:ea typeface="微软雅黑" panose="020B0503020204020204" pitchFamily="34" charset="-122"/>
              </a:rPr>
              <a:t>和</a:t>
            </a:r>
            <a:r>
              <a:rPr lang="en-US" altLang="zh-CN" sz="1800" dirty="0">
                <a:solidFill>
                  <a:srgbClr val="595959"/>
                </a:solidFill>
                <a:latin typeface="微软雅黑" panose="020B0503020204020204" pitchFamily="34" charset="-122"/>
                <a:ea typeface="微软雅黑" panose="020B0503020204020204" pitchFamily="34" charset="-122"/>
              </a:rPr>
              <a:t>y</a:t>
            </a:r>
            <a:r>
              <a:rPr lang="zh-CN" altLang="en-US" sz="1800" dirty="0">
                <a:solidFill>
                  <a:srgbClr val="595959"/>
                </a:solidFill>
                <a:latin typeface="微软雅黑" panose="020B0503020204020204" pitchFamily="34" charset="-122"/>
                <a:ea typeface="微软雅黑" panose="020B0503020204020204" pitchFamily="34" charset="-122"/>
              </a:rPr>
              <a:t>&lt;</a:t>
            </a:r>
            <a:r>
              <a:rPr lang="en-US" altLang="zh-CN" sz="1800" dirty="0">
                <a:solidFill>
                  <a:srgbClr val="595959"/>
                </a:solidFill>
                <a:latin typeface="微软雅黑" panose="020B0503020204020204" pitchFamily="34" charset="-122"/>
                <a:ea typeface="微软雅黑" panose="020B0503020204020204" pitchFamily="34" charset="-122"/>
              </a:rPr>
              <a:t>0</a:t>
            </a:r>
            <a:r>
              <a:rPr lang="zh-CN" altLang="en-US" sz="1800" dirty="0">
                <a:solidFill>
                  <a:srgbClr val="595959"/>
                </a:solidFill>
                <a:latin typeface="微软雅黑" panose="020B0503020204020204" pitchFamily="34" charset="-122"/>
                <a:ea typeface="微软雅黑" panose="020B0503020204020204" pitchFamily="34" charset="-122"/>
              </a:rPr>
              <a:t>这2个条件取真值、假值至少一次，同时，判定语句</a:t>
            </a:r>
            <a:r>
              <a:rPr lang="en-US" altLang="zh-CN" sz="1800" dirty="0">
                <a:solidFill>
                  <a:srgbClr val="595959"/>
                </a:solidFill>
                <a:latin typeface="微软雅黑" panose="020B0503020204020204" pitchFamily="34" charset="-122"/>
                <a:ea typeface="微软雅黑" panose="020B0503020204020204" pitchFamily="34" charset="-122"/>
              </a:rPr>
              <a:t>if</a:t>
            </a: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x</a:t>
            </a:r>
            <a:r>
              <a:rPr lang="zh-CN" altLang="en-US" sz="1800" dirty="0">
                <a:solidFill>
                  <a:srgbClr val="595959"/>
                </a:solidFill>
                <a:latin typeface="微软雅黑" panose="020B0503020204020204" pitchFamily="34" charset="-122"/>
                <a:ea typeface="微软雅黑" panose="020B0503020204020204" pitchFamily="34" charset="-122"/>
              </a:rPr>
              <a:t>&gt;</a:t>
            </a:r>
            <a:r>
              <a:rPr lang="en-US" altLang="zh-CN" sz="1800" dirty="0">
                <a:solidFill>
                  <a:srgbClr val="595959"/>
                </a:solidFill>
                <a:latin typeface="微软雅黑" panose="020B0503020204020204" pitchFamily="34" charset="-122"/>
                <a:ea typeface="微软雅黑" panose="020B0503020204020204" pitchFamily="34" charset="-122"/>
              </a:rPr>
              <a:t>0</a:t>
            </a:r>
            <a:r>
              <a:rPr lang="zh-CN" altLang="en-US" sz="1800" dirty="0">
                <a:solidFill>
                  <a:srgbClr val="595959"/>
                </a:solidFill>
                <a:latin typeface="微软雅黑" panose="020B0503020204020204" pitchFamily="34" charset="-122"/>
                <a:ea typeface="微软雅黑" panose="020B0503020204020204" pitchFamily="34" charset="-122"/>
              </a:rPr>
              <a:t> </a:t>
            </a:r>
            <a:r>
              <a:rPr lang="en-US" altLang="zh-CN" sz="1800" dirty="0">
                <a:solidFill>
                  <a:srgbClr val="595959"/>
                </a:solidFill>
                <a:latin typeface="微软雅黑" panose="020B0503020204020204" pitchFamily="34" charset="-122"/>
                <a:ea typeface="微软雅黑" panose="020B0503020204020204" pitchFamily="34" charset="-122"/>
              </a:rPr>
              <a:t>and</a:t>
            </a:r>
            <a:r>
              <a:rPr lang="zh-CN" altLang="en-US" sz="1800" dirty="0">
                <a:solidFill>
                  <a:srgbClr val="595959"/>
                </a:solidFill>
                <a:latin typeface="微软雅黑" panose="020B0503020204020204" pitchFamily="34" charset="-122"/>
                <a:ea typeface="微软雅黑" panose="020B0503020204020204" pitchFamily="34" charset="-122"/>
              </a:rPr>
              <a:t> </a:t>
            </a:r>
            <a:r>
              <a:rPr lang="en-US" altLang="zh-CN" sz="1800" dirty="0">
                <a:solidFill>
                  <a:srgbClr val="595959"/>
                </a:solidFill>
                <a:latin typeface="微软雅黑" panose="020B0503020204020204" pitchFamily="34" charset="-122"/>
                <a:ea typeface="微软雅黑" panose="020B0503020204020204" pitchFamily="34" charset="-122"/>
              </a:rPr>
              <a:t>y</a:t>
            </a:r>
            <a:r>
              <a:rPr lang="zh-CN" altLang="en-US" sz="1800" dirty="0">
                <a:solidFill>
                  <a:srgbClr val="595959"/>
                </a:solidFill>
                <a:latin typeface="微软雅黑" panose="020B0503020204020204" pitchFamily="34" charset="-122"/>
                <a:ea typeface="微软雅黑" panose="020B0503020204020204" pitchFamily="34" charset="-122"/>
              </a:rPr>
              <a:t>&lt;</a:t>
            </a:r>
            <a:r>
              <a:rPr lang="en-US" altLang="zh-CN" sz="1800" dirty="0">
                <a:solidFill>
                  <a:srgbClr val="595959"/>
                </a:solidFill>
                <a:latin typeface="微软雅黑" panose="020B0503020204020204" pitchFamily="34" charset="-122"/>
                <a:ea typeface="微软雅黑" panose="020B0503020204020204" pitchFamily="34" charset="-122"/>
              </a:rPr>
              <a:t>0</a:t>
            </a:r>
            <a:r>
              <a:rPr lang="zh-CN" altLang="en-US" sz="1800" dirty="0">
                <a:solidFill>
                  <a:srgbClr val="595959"/>
                </a:solidFill>
                <a:latin typeface="微软雅黑" panose="020B0503020204020204" pitchFamily="34" charset="-122"/>
                <a:ea typeface="微软雅黑" panose="020B0503020204020204" pitchFamily="34" charset="-122"/>
              </a:rPr>
              <a:t>)取真值、假值也至少出现一次。判定-条件覆盖弥补了判定覆盖和条件覆盖的不足之处。</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3.2.4	判定-条件覆盖</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27125" y="838200"/>
            <a:ext cx="10334625" cy="489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根据判定-条件覆盖原则，设计判定-条件覆盖测试用例。</a:t>
            </a:r>
            <a:r>
              <a:rPr lang="zh-CN" altLang="en-US" sz="1800" dirty="0">
                <a:solidFill>
                  <a:srgbClr val="0070C0"/>
                </a:solidFill>
                <a:latin typeface="微软雅黑" panose="020B0503020204020204" pitchFamily="34" charset="-122"/>
                <a:ea typeface="微软雅黑" panose="020B0503020204020204" pitchFamily="34" charset="-122"/>
              </a:rPr>
              <a:t>判定-条件覆盖测试用例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3.2.4	判定-条件覆盖</a:t>
            </a:r>
          </a:p>
        </p:txBody>
      </p:sp>
      <p:graphicFrame>
        <p:nvGraphicFramePr>
          <p:cNvPr id="5" name="表格 4"/>
          <p:cNvGraphicFramePr/>
          <p:nvPr>
            <p:custDataLst>
              <p:tags r:id="rId1"/>
            </p:custDataLst>
            <p:extLst>
              <p:ext uri="{D42A27DB-BD31-4B8C-83A1-F6EECF244321}">
                <p14:modId xmlns:p14="http://schemas.microsoft.com/office/powerpoint/2010/main" val="2677540207"/>
              </p:ext>
            </p:extLst>
          </p:nvPr>
        </p:nvGraphicFramePr>
        <p:xfrm>
          <a:off x="3431206" y="1776889"/>
          <a:ext cx="8640325" cy="3305810"/>
        </p:xfrm>
        <a:graphic>
          <a:graphicData uri="http://schemas.openxmlformats.org/drawingml/2006/table">
            <a:tbl>
              <a:tblPr firstRow="1" bandRow="1">
                <a:tableStyleId>{5C22544A-7EE6-4342-B048-85BDC9FD1C3A}</a:tableStyleId>
              </a:tblPr>
              <a:tblGrid>
                <a:gridCol w="1088277">
                  <a:extLst>
                    <a:ext uri="{9D8B030D-6E8A-4147-A177-3AD203B41FA5}">
                      <a16:colId xmlns:a16="http://schemas.microsoft.com/office/drawing/2014/main" val="20000"/>
                    </a:ext>
                  </a:extLst>
                </a:gridCol>
                <a:gridCol w="588439">
                  <a:extLst>
                    <a:ext uri="{9D8B030D-6E8A-4147-A177-3AD203B41FA5}">
                      <a16:colId xmlns:a16="http://schemas.microsoft.com/office/drawing/2014/main" val="20001"/>
                    </a:ext>
                  </a:extLst>
                </a:gridCol>
                <a:gridCol w="515823">
                  <a:extLst>
                    <a:ext uri="{9D8B030D-6E8A-4147-A177-3AD203B41FA5}">
                      <a16:colId xmlns:a16="http://schemas.microsoft.com/office/drawing/2014/main" val="20002"/>
                    </a:ext>
                  </a:extLst>
                </a:gridCol>
                <a:gridCol w="644778">
                  <a:extLst>
                    <a:ext uri="{9D8B030D-6E8A-4147-A177-3AD203B41FA5}">
                      <a16:colId xmlns:a16="http://schemas.microsoft.com/office/drawing/2014/main" val="20003"/>
                    </a:ext>
                  </a:extLst>
                </a:gridCol>
                <a:gridCol w="2551678">
                  <a:extLst>
                    <a:ext uri="{9D8B030D-6E8A-4147-A177-3AD203B41FA5}">
                      <a16:colId xmlns:a16="http://schemas.microsoft.com/office/drawing/2014/main" val="20004"/>
                    </a:ext>
                  </a:extLst>
                </a:gridCol>
                <a:gridCol w="923010">
                  <a:extLst>
                    <a:ext uri="{9D8B030D-6E8A-4147-A177-3AD203B41FA5}">
                      <a16:colId xmlns:a16="http://schemas.microsoft.com/office/drawing/2014/main" val="20005"/>
                    </a:ext>
                  </a:extLst>
                </a:gridCol>
                <a:gridCol w="891146">
                  <a:extLst>
                    <a:ext uri="{9D8B030D-6E8A-4147-A177-3AD203B41FA5}">
                      <a16:colId xmlns:a16="http://schemas.microsoft.com/office/drawing/2014/main" val="20006"/>
                    </a:ext>
                  </a:extLst>
                </a:gridCol>
                <a:gridCol w="1437174">
                  <a:extLst>
                    <a:ext uri="{9D8B030D-6E8A-4147-A177-3AD203B41FA5}">
                      <a16:colId xmlns:a16="http://schemas.microsoft.com/office/drawing/2014/main" val="20007"/>
                    </a:ext>
                  </a:extLst>
                </a:gridCol>
              </a:tblGrid>
              <a:tr h="868045">
                <a:tc>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x</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y</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z</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条件标记</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条件1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条件2</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执行路径</a:t>
                      </a:r>
                    </a:p>
                  </a:txBody>
                  <a:tcPr anchor="ctr"/>
                </a:tc>
                <a:extLst>
                  <a:ext uri="{0D108BD9-81ED-4DB2-BD59-A6C34878D82A}">
                    <a16:rowId xmlns:a16="http://schemas.microsoft.com/office/drawing/2014/main" val="10000"/>
                  </a:ext>
                </a:extLst>
              </a:tr>
              <a:tr h="848360">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a→b→e</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78994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a→b→d</a:t>
                      </a:r>
                    </a:p>
                  </a:txBody>
                  <a:tcPr anchor="ctr"/>
                </a:tc>
                <a:extLst>
                  <a:ext uri="{0D108BD9-81ED-4DB2-BD59-A6C34878D82A}">
                    <a16:rowId xmlns:a16="http://schemas.microsoft.com/office/drawing/2014/main" val="10002"/>
                  </a:ext>
                </a:extLst>
              </a:tr>
              <a:tr h="79946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a→c→e</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bl>
          </a:graphicData>
        </a:graphic>
      </p:graphicFrame>
      <p:sp>
        <p:nvSpPr>
          <p:cNvPr id="6" name="文本框 5"/>
          <p:cNvSpPr txBox="1"/>
          <p:nvPr/>
        </p:nvSpPr>
        <p:spPr>
          <a:xfrm>
            <a:off x="1198880" y="5351780"/>
            <a:ext cx="10111105" cy="1198880"/>
          </a:xfrm>
          <a:prstGeom prst="rect">
            <a:avLst/>
          </a:prstGeom>
          <a:noFill/>
        </p:spPr>
        <p:txBody>
          <a:bodyPr wrap="square" rtlCol="0" anchor="t">
            <a:spAutoFit/>
          </a:bodyPr>
          <a:lstStyle/>
          <a:p>
            <a:pPr indent="457200">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相比条件覆盖、判定覆盖，</a:t>
            </a:r>
            <a:r>
              <a:rPr lang="zh-CN" altLang="en-US" sz="1600" dirty="0">
                <a:solidFill>
                  <a:srgbClr val="0070C0"/>
                </a:solidFill>
                <a:latin typeface="微软雅黑" panose="020B0503020204020204" pitchFamily="34" charset="-122"/>
                <a:ea typeface="微软雅黑" panose="020B0503020204020204" pitchFamily="34" charset="-122"/>
              </a:rPr>
              <a:t>判定-条件覆盖弥补</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了前两者的</a:t>
            </a:r>
            <a:r>
              <a:rPr lang="zh-CN" altLang="en-US" sz="1600" dirty="0">
                <a:solidFill>
                  <a:srgbClr val="0070C0"/>
                </a:solidFill>
                <a:latin typeface="微软雅黑" panose="020B0503020204020204" pitchFamily="34" charset="-122"/>
                <a:ea typeface="微软雅黑" panose="020B0503020204020204" pitchFamily="34" charset="-122"/>
              </a:rPr>
              <a:t>不足</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，但是由于判定-条件覆盖没有考虑判定语句与条件判断的组合情况，其覆盖范围并没有比条件覆盖更全面，判定-条件覆盖也没有覆盖a→c→d路径，因此</a:t>
            </a:r>
            <a:r>
              <a:rPr lang="zh-CN" altLang="en-US" sz="1600" dirty="0">
                <a:solidFill>
                  <a:srgbClr val="0070C0"/>
                </a:solidFill>
                <a:latin typeface="微软雅黑" panose="020B0503020204020204" pitchFamily="34" charset="-122"/>
                <a:ea typeface="微软雅黑" panose="020B0503020204020204" pitchFamily="34" charset="-122"/>
              </a:rPr>
              <a:t>判定-条件覆盖也存在遗漏测试的情况</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p>
        </p:txBody>
      </p:sp>
      <p:pic>
        <p:nvPicPr>
          <p:cNvPr id="7" name="图片 6">
            <a:extLst>
              <a:ext uri="{FF2B5EF4-FFF2-40B4-BE49-F238E27FC236}">
                <a16:creationId xmlns:a16="http://schemas.microsoft.com/office/drawing/2014/main" id="{E54C3A19-953D-B852-4350-A33FA9706002}"/>
              </a:ext>
            </a:extLst>
          </p:cNvPr>
          <p:cNvPicPr>
            <a:picLocks noChangeAspect="1"/>
          </p:cNvPicPr>
          <p:nvPr/>
        </p:nvPicPr>
        <p:blipFill>
          <a:blip r:embed="rId4"/>
          <a:stretch>
            <a:fillRect/>
          </a:stretch>
        </p:blipFill>
        <p:spPr>
          <a:xfrm>
            <a:off x="84777" y="1870914"/>
            <a:ext cx="3232378" cy="288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条件组合</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覆盖</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的使用，能够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应用</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条件组合</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覆盖</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设计测试用例</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3.2.5	条件组合覆盖</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701165"/>
            <a:ext cx="6289675" cy="261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条件组合覆盖</a:t>
            </a:r>
            <a:r>
              <a:rPr lang="zh-CN" altLang="en-US" sz="1800" dirty="0">
                <a:solidFill>
                  <a:srgbClr val="595959"/>
                </a:solidFill>
                <a:latin typeface="微软雅黑" panose="020B0503020204020204" pitchFamily="34" charset="-122"/>
                <a:ea typeface="微软雅黑" panose="020B0503020204020204" pitchFamily="34" charset="-122"/>
              </a:rPr>
              <a:t>(Multiple Condition Coverage)是指</a:t>
            </a:r>
            <a:r>
              <a:rPr lang="zh-CN" altLang="en-US" sz="1800" dirty="0">
                <a:solidFill>
                  <a:srgbClr val="0070C0"/>
                </a:solidFill>
                <a:latin typeface="微软雅黑" panose="020B0503020204020204" pitchFamily="34" charset="-122"/>
                <a:ea typeface="微软雅黑" panose="020B0503020204020204" pitchFamily="34" charset="-122"/>
              </a:rPr>
              <a:t>设计足够多的测试用例</a:t>
            </a:r>
            <a:r>
              <a:rPr lang="zh-CN" altLang="en-US" sz="1800" dirty="0">
                <a:solidFill>
                  <a:srgbClr val="595959"/>
                </a:solidFill>
                <a:latin typeface="微软雅黑" panose="020B0503020204020204" pitchFamily="34" charset="-122"/>
                <a:ea typeface="微软雅黑" panose="020B0503020204020204" pitchFamily="34" charset="-122"/>
              </a:rPr>
              <a:t>，使判定语句中每个条件的</a:t>
            </a:r>
            <a:r>
              <a:rPr lang="zh-CN" altLang="en-US" sz="1800" dirty="0">
                <a:solidFill>
                  <a:srgbClr val="0070C0"/>
                </a:solidFill>
                <a:latin typeface="微软雅黑" panose="020B0503020204020204" pitchFamily="34" charset="-122"/>
                <a:ea typeface="微软雅黑" panose="020B0503020204020204" pitchFamily="34" charset="-122"/>
              </a:rPr>
              <a:t>所有可能情况至少出现一次</a:t>
            </a:r>
            <a:r>
              <a:rPr lang="zh-CN" altLang="en-US" sz="1800" dirty="0">
                <a:solidFill>
                  <a:srgbClr val="595959"/>
                </a:solidFill>
                <a:latin typeface="微软雅黑" panose="020B0503020204020204" pitchFamily="34" charset="-122"/>
                <a:ea typeface="微软雅黑" panose="020B0503020204020204" pitchFamily="34" charset="-122"/>
              </a:rPr>
              <a:t>，并且每个判定语句本身的判定结果也至少出现一次。它与判定-条件覆盖的区别是，它不是简单地要求每个条件都出现真与假</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种结果，而是</a:t>
            </a:r>
            <a:r>
              <a:rPr lang="zh-CN" altLang="en-US" sz="1800" dirty="0">
                <a:solidFill>
                  <a:srgbClr val="0070C0"/>
                </a:solidFill>
                <a:latin typeface="微软雅黑" panose="020B0503020204020204" pitchFamily="34" charset="-122"/>
                <a:ea typeface="微软雅黑" panose="020B0503020204020204" pitchFamily="34" charset="-122"/>
              </a:rPr>
              <a:t>要求让</a:t>
            </a:r>
            <a:r>
              <a:rPr lang="zh-CN" altLang="en-US" sz="1800" dirty="0">
                <a:solidFill>
                  <a:srgbClr val="595959"/>
                </a:solidFill>
                <a:latin typeface="微软雅黑" panose="020B0503020204020204" pitchFamily="34" charset="-122"/>
                <a:ea typeface="微软雅黑" panose="020B0503020204020204" pitchFamily="34" charset="-122"/>
              </a:rPr>
              <a:t>这些</a:t>
            </a:r>
            <a:r>
              <a:rPr lang="zh-CN" altLang="en-US" sz="1800" dirty="0">
                <a:solidFill>
                  <a:srgbClr val="0070C0"/>
                </a:solidFill>
                <a:latin typeface="微软雅黑" panose="020B0503020204020204" pitchFamily="34" charset="-122"/>
                <a:ea typeface="微软雅黑" panose="020B0503020204020204" pitchFamily="34" charset="-122"/>
              </a:rPr>
              <a:t>结果的所有可能组合都至少出现一次</a:t>
            </a:r>
            <a:r>
              <a:rPr lang="zh-CN" altLang="en-US" sz="18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3.2.5	条件组合覆盖</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43635" y="909955"/>
            <a:ext cx="10247630" cy="427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程序中共</a:t>
            </a:r>
            <a:r>
              <a:rPr lang="zh-CN" altLang="en-US" sz="1800" dirty="0">
                <a:solidFill>
                  <a:srgbClr val="0070C0"/>
                </a:solidFill>
                <a:latin typeface="微软雅黑" panose="020B0503020204020204" pitchFamily="34" charset="-122"/>
                <a:ea typeface="微软雅黑" panose="020B0503020204020204" pitchFamily="34" charset="-122"/>
                <a:sym typeface="+mn-ea"/>
              </a:rPr>
              <a:t>有4个条件</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x&gt;0、y&lt;0、x&gt;2、z&gt;0</a:t>
            </a:r>
            <a:r>
              <a:rPr lang="zh-CN" altLang="en-US" sz="1800" dirty="0">
                <a:solidFill>
                  <a:srgbClr val="595959"/>
                </a:solidFill>
                <a:latin typeface="微软雅黑" panose="020B0503020204020204" pitchFamily="34" charset="-122"/>
                <a:ea typeface="微软雅黑" panose="020B0503020204020204" pitchFamily="34" charset="-122"/>
                <a:sym typeface="+mn-ea"/>
              </a:rPr>
              <a:t>。下面继续使用</a:t>
            </a:r>
            <a:r>
              <a:rPr lang="zh-CN" altLang="en-US" sz="1800" dirty="0">
                <a:solidFill>
                  <a:srgbClr val="0070C0"/>
                </a:solidFill>
                <a:latin typeface="微软雅黑" panose="020B0503020204020204" pitchFamily="34" charset="-122"/>
                <a:ea typeface="微软雅黑" panose="020B0503020204020204" pitchFamily="34" charset="-122"/>
                <a:sym typeface="+mn-ea"/>
              </a:rPr>
              <a:t>S1、S2、S3、S4标记</a:t>
            </a:r>
            <a:r>
              <a:rPr lang="zh-CN" altLang="en-US" sz="1800" dirty="0">
                <a:solidFill>
                  <a:srgbClr val="595959"/>
                </a:solidFill>
                <a:latin typeface="微软雅黑" panose="020B0503020204020204" pitchFamily="34" charset="-122"/>
                <a:ea typeface="微软雅黑" panose="020B0503020204020204" pitchFamily="34" charset="-122"/>
                <a:sym typeface="+mn-ea"/>
              </a:rPr>
              <a:t>这4个条件</a:t>
            </a:r>
            <a:r>
              <a:rPr lang="zh-CN" altLang="en-US" sz="1800" dirty="0">
                <a:solidFill>
                  <a:srgbClr val="0070C0"/>
                </a:solidFill>
                <a:latin typeface="微软雅黑" panose="020B0503020204020204" pitchFamily="34" charset="-122"/>
                <a:ea typeface="微软雅黑" panose="020B0503020204020204" pitchFamily="34" charset="-122"/>
                <a:sym typeface="+mn-ea"/>
              </a:rPr>
              <a:t>成立</a:t>
            </a:r>
            <a:r>
              <a:rPr lang="zh-CN" altLang="en-US" sz="1800" dirty="0">
                <a:solidFill>
                  <a:srgbClr val="595959"/>
                </a:solidFill>
                <a:latin typeface="微软雅黑" panose="020B0503020204020204" pitchFamily="34" charset="-122"/>
                <a:ea typeface="微软雅黑" panose="020B0503020204020204" pitchFamily="34" charset="-122"/>
                <a:sym typeface="+mn-ea"/>
              </a:rPr>
              <a:t>，用</a:t>
            </a:r>
            <a:r>
              <a:rPr lang="zh-CN" altLang="en-US" sz="1800" dirty="0">
                <a:solidFill>
                  <a:srgbClr val="0070C0"/>
                </a:solidFill>
                <a:latin typeface="微软雅黑" panose="020B0503020204020204" pitchFamily="34" charset="-122"/>
                <a:ea typeface="微软雅黑" panose="020B0503020204020204" pitchFamily="34" charset="-122"/>
                <a:sym typeface="+mn-ea"/>
              </a:rPr>
              <a:t>-S1、-S2、-S3、-S4标记</a:t>
            </a:r>
            <a:r>
              <a:rPr lang="zh-CN" altLang="en-US" sz="1800" dirty="0">
                <a:solidFill>
                  <a:srgbClr val="595959"/>
                </a:solidFill>
                <a:latin typeface="微软雅黑" panose="020B0503020204020204" pitchFamily="34" charset="-122"/>
                <a:ea typeface="微软雅黑" panose="020B0503020204020204" pitchFamily="34" charset="-122"/>
                <a:sym typeface="+mn-ea"/>
              </a:rPr>
              <a:t>这</a:t>
            </a:r>
            <a:r>
              <a:rPr lang="en-US" altLang="zh-CN" sz="1800" dirty="0">
                <a:solidFill>
                  <a:srgbClr val="595959"/>
                </a:solidFill>
                <a:latin typeface="微软雅黑" panose="020B0503020204020204" pitchFamily="34" charset="-122"/>
                <a:ea typeface="微软雅黑" panose="020B0503020204020204" pitchFamily="34" charset="-122"/>
                <a:sym typeface="+mn-ea"/>
              </a:rPr>
              <a:t>4</a:t>
            </a:r>
            <a:r>
              <a:rPr lang="zh-CN" altLang="en-US" sz="1800" dirty="0">
                <a:solidFill>
                  <a:srgbClr val="595959"/>
                </a:solidFill>
                <a:latin typeface="微软雅黑" panose="020B0503020204020204" pitchFamily="34" charset="-122"/>
                <a:ea typeface="微软雅黑" panose="020B0503020204020204" pitchFamily="34" charset="-122"/>
                <a:sym typeface="+mn-ea"/>
              </a:rPr>
              <a:t>个条件</a:t>
            </a:r>
            <a:r>
              <a:rPr lang="zh-CN" altLang="en-US" sz="1800" dirty="0">
                <a:solidFill>
                  <a:srgbClr val="0070C0"/>
                </a:solidFill>
                <a:latin typeface="微软雅黑" panose="020B0503020204020204" pitchFamily="34" charset="-122"/>
                <a:ea typeface="微软雅黑" panose="020B0503020204020204" pitchFamily="34" charset="-122"/>
                <a:sym typeface="+mn-ea"/>
              </a:rPr>
              <a:t>不成立</a:t>
            </a:r>
            <a:r>
              <a:rPr lang="zh-CN" altLang="en-US" sz="1800" dirty="0">
                <a:solidFill>
                  <a:srgbClr val="595959"/>
                </a:solidFill>
                <a:latin typeface="微软雅黑" panose="020B0503020204020204" pitchFamily="34" charset="-122"/>
                <a:ea typeface="微软雅黑" panose="020B0503020204020204" pitchFamily="34" charset="-122"/>
                <a:sym typeface="+mn-ea"/>
              </a:rPr>
              <a:t>。S1与S2属于一个判定语句，两两组合有4种情况，如下所示。</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S1，S2</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S1，-S2</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-S1，S2</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-S1，-S2。</a:t>
            </a:r>
          </a:p>
          <a:p>
            <a:pPr indent="457200" algn="just">
              <a:lnSpc>
                <a:spcPct val="150000"/>
              </a:lnSpc>
              <a:buClrTx/>
              <a:buSzTx/>
              <a:buFont typeface="Wingdings" panose="05000000000000000000" charset="0"/>
              <a:buNone/>
            </a:pPr>
            <a:r>
              <a:rPr lang="zh-CN" altLang="en-US" sz="1800" dirty="0">
                <a:solidFill>
                  <a:srgbClr val="595959"/>
                </a:solidFill>
                <a:latin typeface="微软雅黑" panose="020B0503020204020204" pitchFamily="34" charset="-122"/>
                <a:ea typeface="微软雅黑" panose="020B0503020204020204" pitchFamily="34" charset="-122"/>
              </a:rPr>
              <a:t>同样，S3与S4属于一个判定语句，两两组合也有4种情况。</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个判定语句的组合情况各有4种。在执行程序时，只要能分别覆盖</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个判定语句的组合情况即可，因此，</a:t>
            </a:r>
            <a:r>
              <a:rPr lang="zh-CN" altLang="en-US" sz="1800" dirty="0">
                <a:solidFill>
                  <a:srgbClr val="0070C0"/>
                </a:solidFill>
                <a:latin typeface="微软雅黑" panose="020B0503020204020204" pitchFamily="34" charset="-122"/>
                <a:ea typeface="微软雅黑" panose="020B0503020204020204" pitchFamily="34" charset="-122"/>
              </a:rPr>
              <a:t>条件组合覆盖至少要设计4个测试用例</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3.2.5	条件组合覆盖</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43635" y="1054100"/>
            <a:ext cx="10247630"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sym typeface="+mn-ea"/>
              </a:rPr>
              <a:t>条件组合覆盖的4种情况</a:t>
            </a:r>
            <a:r>
              <a:rPr lang="zh-CN" altLang="en-US" sz="1800" dirty="0">
                <a:solidFill>
                  <a:srgbClr val="595959"/>
                </a:solidFill>
                <a:latin typeface="微软雅黑" panose="020B0503020204020204" pitchFamily="34" charset="-122"/>
                <a:ea typeface="微软雅黑" panose="020B0503020204020204" pitchFamily="34" charset="-122"/>
                <a:sym typeface="+mn-ea"/>
              </a:rPr>
              <a:t>如下表所示</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3.2.5	条件组合覆盖</a:t>
            </a:r>
          </a:p>
        </p:txBody>
      </p:sp>
      <p:graphicFrame>
        <p:nvGraphicFramePr>
          <p:cNvPr id="4" name="表格 3"/>
          <p:cNvGraphicFramePr/>
          <p:nvPr>
            <p:custDataLst>
              <p:tags r:id="rId1"/>
            </p:custDataLst>
          </p:nvPr>
        </p:nvGraphicFramePr>
        <p:xfrm>
          <a:off x="1779270" y="1990090"/>
          <a:ext cx="9067936" cy="3056255"/>
        </p:xfrm>
        <a:graphic>
          <a:graphicData uri="http://schemas.openxmlformats.org/drawingml/2006/table">
            <a:tbl>
              <a:tblPr firstRow="1" bandRow="1">
                <a:tableStyleId>{5C22544A-7EE6-4342-B048-85BDC9FD1C3A}</a:tableStyleId>
              </a:tblPr>
              <a:tblGrid>
                <a:gridCol w="1219936">
                  <a:extLst>
                    <a:ext uri="{9D8B030D-6E8A-4147-A177-3AD203B41FA5}">
                      <a16:colId xmlns:a16="http://schemas.microsoft.com/office/drawing/2014/main" val="20000"/>
                    </a:ext>
                  </a:extLst>
                </a:gridCol>
                <a:gridCol w="2552599">
                  <a:extLst>
                    <a:ext uri="{9D8B030D-6E8A-4147-A177-3AD203B41FA5}">
                      <a16:colId xmlns:a16="http://schemas.microsoft.com/office/drawing/2014/main" val="20001"/>
                    </a:ext>
                  </a:extLst>
                </a:gridCol>
                <a:gridCol w="5295401">
                  <a:extLst>
                    <a:ext uri="{9D8B030D-6E8A-4147-A177-3AD203B41FA5}">
                      <a16:colId xmlns:a16="http://schemas.microsoft.com/office/drawing/2014/main" val="20002"/>
                    </a:ext>
                  </a:extLst>
                </a:gridCol>
              </a:tblGrid>
              <a:tr h="60896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序号</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组合</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含义</a:t>
                      </a:r>
                    </a:p>
                  </a:txBody>
                  <a:tcPr anchor="ctr"/>
                </a:tc>
                <a:extLst>
                  <a:ext uri="{0D108BD9-81ED-4DB2-BD59-A6C34878D82A}">
                    <a16:rowId xmlns:a16="http://schemas.microsoft.com/office/drawing/2014/main" val="10000"/>
                  </a:ext>
                </a:extLst>
              </a:tr>
              <a:tr h="641350">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x&gt;0成立，y&lt;0成立，x&gt;2成立，z&gt;0成立</a:t>
                      </a:r>
                    </a:p>
                  </a:txBody>
                  <a:tcPr anchor="ctr"/>
                </a:tc>
                <a:extLst>
                  <a:ext uri="{0D108BD9-81ED-4DB2-BD59-A6C34878D82A}">
                    <a16:rowId xmlns:a16="http://schemas.microsoft.com/office/drawing/2014/main" val="10001"/>
                  </a:ext>
                </a:extLst>
              </a:tr>
              <a:tr h="596900">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x&gt;0成立，y&lt;0不成立，x&gt;2成立，z&gt;0不成立</a:t>
                      </a:r>
                    </a:p>
                  </a:txBody>
                  <a:tcPr anchor="ctr"/>
                </a:tc>
                <a:extLst>
                  <a:ext uri="{0D108BD9-81ED-4DB2-BD59-A6C34878D82A}">
                    <a16:rowId xmlns:a16="http://schemas.microsoft.com/office/drawing/2014/main" val="10002"/>
                  </a:ext>
                </a:extLst>
              </a:tr>
              <a:tr h="604520">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x&gt;0不成立，y&lt;0成立，x&gt;2不成立，z&gt;0成立</a:t>
                      </a:r>
                    </a:p>
                  </a:txBody>
                  <a:tcPr anchor="ctr"/>
                </a:tc>
                <a:extLst>
                  <a:ext uri="{0D108BD9-81ED-4DB2-BD59-A6C34878D82A}">
                    <a16:rowId xmlns:a16="http://schemas.microsoft.com/office/drawing/2014/main" val="10003"/>
                  </a:ext>
                </a:extLst>
              </a:tr>
              <a:tr h="604520">
                <a:tc>
                  <a:txBody>
                    <a:bodyPr/>
                    <a:lstStyle/>
                    <a:p>
                      <a:pPr algn="ctr">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x&gt;0不成立，y&lt;0不成立，x&gt;2不成立，z&gt;0不成立</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511040" y="1054100"/>
            <a:ext cx="2535555"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sym typeface="+mn-ea"/>
              </a:rPr>
              <a:t>条件组合覆盖测试用例</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3.2.5	条件组合覆盖</a:t>
            </a:r>
          </a:p>
        </p:txBody>
      </p:sp>
      <p:graphicFrame>
        <p:nvGraphicFramePr>
          <p:cNvPr id="2" name="表格 1"/>
          <p:cNvGraphicFramePr/>
          <p:nvPr>
            <p:custDataLst>
              <p:tags r:id="rId1"/>
            </p:custDataLst>
            <p:extLst>
              <p:ext uri="{D42A27DB-BD31-4B8C-83A1-F6EECF244321}">
                <p14:modId xmlns:p14="http://schemas.microsoft.com/office/powerpoint/2010/main" val="2187665639"/>
              </p:ext>
            </p:extLst>
          </p:nvPr>
        </p:nvGraphicFramePr>
        <p:xfrm>
          <a:off x="1492885" y="1701800"/>
          <a:ext cx="9084310" cy="4308475"/>
        </p:xfrm>
        <a:graphic>
          <a:graphicData uri="http://schemas.openxmlformats.org/drawingml/2006/table">
            <a:tbl>
              <a:tblPr firstRow="1" bandRow="1">
                <a:tableStyleId>{5C22544A-7EE6-4342-B048-85BDC9FD1C3A}</a:tableStyleId>
              </a:tblPr>
              <a:tblGrid>
                <a:gridCol w="930321">
                  <a:extLst>
                    <a:ext uri="{9D8B030D-6E8A-4147-A177-3AD203B41FA5}">
                      <a16:colId xmlns:a16="http://schemas.microsoft.com/office/drawing/2014/main" val="20000"/>
                    </a:ext>
                  </a:extLst>
                </a:gridCol>
                <a:gridCol w="2440259">
                  <a:extLst>
                    <a:ext uri="{9D8B030D-6E8A-4147-A177-3AD203B41FA5}">
                      <a16:colId xmlns:a16="http://schemas.microsoft.com/office/drawing/2014/main" val="20001"/>
                    </a:ext>
                  </a:extLst>
                </a:gridCol>
                <a:gridCol w="763270">
                  <a:extLst>
                    <a:ext uri="{9D8B030D-6E8A-4147-A177-3AD203B41FA5}">
                      <a16:colId xmlns:a16="http://schemas.microsoft.com/office/drawing/2014/main" val="20002"/>
                    </a:ext>
                  </a:extLst>
                </a:gridCol>
                <a:gridCol w="780415">
                  <a:extLst>
                    <a:ext uri="{9D8B030D-6E8A-4147-A177-3AD203B41FA5}">
                      <a16:colId xmlns:a16="http://schemas.microsoft.com/office/drawing/2014/main" val="20003"/>
                    </a:ext>
                  </a:extLst>
                </a:gridCol>
                <a:gridCol w="743585">
                  <a:extLst>
                    <a:ext uri="{9D8B030D-6E8A-4147-A177-3AD203B41FA5}">
                      <a16:colId xmlns:a16="http://schemas.microsoft.com/office/drawing/2014/main" val="20004"/>
                    </a:ext>
                  </a:extLst>
                </a:gridCol>
                <a:gridCol w="1106170">
                  <a:extLst>
                    <a:ext uri="{9D8B030D-6E8A-4147-A177-3AD203B41FA5}">
                      <a16:colId xmlns:a16="http://schemas.microsoft.com/office/drawing/2014/main" val="20005"/>
                    </a:ext>
                  </a:extLst>
                </a:gridCol>
                <a:gridCol w="1012190">
                  <a:extLst>
                    <a:ext uri="{9D8B030D-6E8A-4147-A177-3AD203B41FA5}">
                      <a16:colId xmlns:a16="http://schemas.microsoft.com/office/drawing/2014/main" val="20006"/>
                    </a:ext>
                  </a:extLst>
                </a:gridCol>
                <a:gridCol w="1308100">
                  <a:extLst>
                    <a:ext uri="{9D8B030D-6E8A-4147-A177-3AD203B41FA5}">
                      <a16:colId xmlns:a16="http://schemas.microsoft.com/office/drawing/2014/main" val="20007"/>
                    </a:ext>
                  </a:extLst>
                </a:gridCol>
              </a:tblGrid>
              <a:tr h="464820">
                <a:tc row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序号</a:t>
                      </a:r>
                    </a:p>
                  </a:txBody>
                  <a:tcPr anchor="ctr"/>
                </a:tc>
                <a:tc rowSpan="2">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组合</a:t>
                      </a:r>
                    </a:p>
                  </a:txBody>
                  <a:tcPr anchor="ctr"/>
                </a:tc>
                <a:tc gridSpan="3">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sym typeface="+mn-ea"/>
                        </a:rPr>
                        <a:t>测试用例</a:t>
                      </a:r>
                      <a:endParaRPr lang="en-US" altLang="zh-CN"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hMerge="1">
                  <a:txBody>
                    <a:bodyPr/>
                    <a:lstStyle/>
                    <a:p>
                      <a:endParaRPr lang="zh-CN"/>
                    </a:p>
                  </a:txBody>
                  <a:tcPr anchor="ctr"/>
                </a:tc>
                <a:tc rowSpan="2">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条件1</a:t>
                      </a:r>
                    </a:p>
                  </a:txBody>
                  <a:tcPr anchor="ctr"/>
                </a:tc>
                <a:tc rowSpan="2">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条件2</a:t>
                      </a:r>
                    </a:p>
                  </a:txBody>
                  <a:tcPr anchor="ctr"/>
                </a:tc>
                <a:tc rowSpan="2">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覆盖路径</a:t>
                      </a:r>
                    </a:p>
                  </a:txBody>
                  <a:tcPr anchor="ctr"/>
                </a:tc>
                <a:extLst>
                  <a:ext uri="{0D108BD9-81ED-4DB2-BD59-A6C34878D82A}">
                    <a16:rowId xmlns:a16="http://schemas.microsoft.com/office/drawing/2014/main" val="10000"/>
                  </a:ext>
                </a:extLst>
              </a:tr>
              <a:tr h="464820">
                <a:tc vMerge="1">
                  <a:txBody>
                    <a:bodyPr/>
                    <a:lstStyle/>
                    <a:p>
                      <a:endParaRPr lang="zh-CN"/>
                    </a:p>
                  </a:txBody>
                  <a:tcPr anchor="ctr"/>
                </a:tc>
                <a:tc vMerge="1">
                  <a:txBody>
                    <a:bodyPr/>
                    <a:lstStyle/>
                    <a:p>
                      <a:endParaRPr lang="zh-CN"/>
                    </a:p>
                  </a:txBody>
                  <a:tcPr anchor="ctr"/>
                </a:tc>
                <a:tc>
                  <a:txBody>
                    <a:bodyPr/>
                    <a:lstStyle/>
                    <a:p>
                      <a:pPr algn="ctr">
                        <a:buNone/>
                      </a:pPr>
                      <a:r>
                        <a:rPr lang="en-US" altLang="zh-CN" sz="1600">
                          <a:solidFill>
                            <a:schemeClr val="bg1"/>
                          </a:solidFill>
                          <a:latin typeface="微软雅黑" panose="020B0503020204020204" pitchFamily="34" charset="-122"/>
                          <a:ea typeface="微软雅黑" panose="020B0503020204020204" pitchFamily="34" charset="-122"/>
                        </a:rPr>
                        <a:t>x</a:t>
                      </a:r>
                    </a:p>
                  </a:txBody>
                  <a:tcPr anchor="ctr">
                    <a:solidFill>
                      <a:schemeClr val="accent1"/>
                    </a:solidFill>
                  </a:tcPr>
                </a:tc>
                <a:tc>
                  <a:txBody>
                    <a:bodyPr/>
                    <a:lstStyle/>
                    <a:p>
                      <a:pPr algn="ctr">
                        <a:buNone/>
                      </a:pPr>
                      <a:r>
                        <a:rPr lang="en-US" altLang="zh-CN" sz="1600">
                          <a:solidFill>
                            <a:schemeClr val="bg1"/>
                          </a:solidFill>
                          <a:latin typeface="微软雅黑" panose="020B0503020204020204" pitchFamily="34" charset="-122"/>
                          <a:ea typeface="微软雅黑" panose="020B0503020204020204" pitchFamily="34" charset="-122"/>
                        </a:rPr>
                        <a:t>y</a:t>
                      </a:r>
                    </a:p>
                  </a:txBody>
                  <a:tcPr anchor="ctr">
                    <a:solidFill>
                      <a:schemeClr val="accent1"/>
                    </a:solidFill>
                  </a:tcPr>
                </a:tc>
                <a:tc>
                  <a:txBody>
                    <a:bodyPr/>
                    <a:lstStyle/>
                    <a:p>
                      <a:pPr algn="ctr">
                        <a:buNone/>
                      </a:pPr>
                      <a:r>
                        <a:rPr lang="en-US" altLang="zh-CN" sz="1600">
                          <a:solidFill>
                            <a:schemeClr val="bg1"/>
                          </a:solidFill>
                          <a:latin typeface="微软雅黑" panose="020B0503020204020204" pitchFamily="34" charset="-122"/>
                          <a:ea typeface="微软雅黑" panose="020B0503020204020204" pitchFamily="34" charset="-122"/>
                        </a:rPr>
                        <a:t>z</a:t>
                      </a:r>
                    </a:p>
                  </a:txBody>
                  <a:tcPr anchor="ctr">
                    <a:solidFill>
                      <a:schemeClr val="accent1"/>
                    </a:solidFill>
                  </a:tcPr>
                </a:tc>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extLst>
                  <a:ext uri="{0D108BD9-81ED-4DB2-BD59-A6C34878D82A}">
                    <a16:rowId xmlns:a16="http://schemas.microsoft.com/office/drawing/2014/main" val="10001"/>
                  </a:ext>
                </a:extLst>
              </a:tr>
              <a:tr h="882650">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a→c→e</a:t>
                      </a:r>
                    </a:p>
                  </a:txBody>
                  <a:tcPr anchor="ctr"/>
                </a:tc>
                <a:extLst>
                  <a:ext uri="{0D108BD9-81ED-4DB2-BD59-A6C34878D82A}">
                    <a16:rowId xmlns:a16="http://schemas.microsoft.com/office/drawing/2014/main" val="10002"/>
                  </a:ext>
                </a:extLst>
              </a:tr>
              <a:tr h="832485">
                <a:tc>
                  <a:txBody>
                    <a:bodyPr/>
                    <a:lstStyle/>
                    <a:p>
                      <a:pPr marL="0" algn="ctr" defTabSz="1219200" rtl="0" eaLnBrk="1" latinLnBrk="0" hangingPunct="1">
                        <a:buClrTx/>
                        <a:buSzTx/>
                        <a:buFontTx/>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sym typeface="+mn-ea"/>
                        </a:rPr>
                        <a:t>Test2</a:t>
                      </a:r>
                      <a:endParaRPr 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marL="0" algn="ctr" defTabSz="1219200" rtl="0" eaLnBrk="1" latinLnBrk="0" hangingPunct="1">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cs"/>
                          <a:sym typeface="+mn-ea"/>
                        </a:rPr>
                        <a:t>a</a:t>
                      </a: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a:t>
                      </a:r>
                      <a:r>
                        <a:rPr lang="en-US" altLang="zh-CN" sz="1800" kern="1200" dirty="0" err="1">
                          <a:solidFill>
                            <a:srgbClr val="595959"/>
                          </a:solidFill>
                          <a:latin typeface="微软雅黑" panose="020B0503020204020204" pitchFamily="34" charset="-122"/>
                          <a:ea typeface="微软雅黑" panose="020B0503020204020204" pitchFamily="34" charset="-122"/>
                          <a:cs typeface="+mn-cs"/>
                          <a:sym typeface="+mn-ea"/>
                        </a:rPr>
                        <a:t>b</a:t>
                      </a: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a:t>
                      </a:r>
                      <a:r>
                        <a:rPr lang="en-US" altLang="zh-CN" sz="1800" kern="1200" dirty="0" err="1">
                          <a:solidFill>
                            <a:srgbClr val="595959"/>
                          </a:solidFill>
                          <a:latin typeface="微软雅黑" panose="020B0503020204020204" pitchFamily="34" charset="-122"/>
                          <a:ea typeface="微软雅黑" panose="020B0503020204020204" pitchFamily="34" charset="-122"/>
                          <a:cs typeface="+mn-cs"/>
                          <a:sym typeface="+mn-ea"/>
                        </a:rPr>
                        <a:t>e</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832485">
                <a:tc>
                  <a:txBody>
                    <a:bodyPr/>
                    <a:lstStyle/>
                    <a:p>
                      <a:pPr marL="0" algn="ctr" defTabSz="1219200" rtl="0" eaLnBrk="1" latinLnBrk="0" hangingPunct="1">
                        <a:buClrTx/>
                        <a:buSzTx/>
                        <a:buFontTx/>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sym typeface="+mn-ea"/>
                        </a:rPr>
                        <a:t>test3</a:t>
                      </a:r>
                      <a:endParaRPr lang="en-US"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marL="0" algn="ctr" defTabSz="1219200" rtl="0" eaLnBrk="1" latinLnBrk="0" hangingPunct="1">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marL="0" algn="ctr" defTabSz="1219200" rtl="0" eaLnBrk="1" latinLnBrk="0" hangingPunct="1">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a→b→e</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726952844"/>
                  </a:ext>
                </a:extLst>
              </a:tr>
              <a:tr h="83121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en-US"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-S1、-S2、-S3、-S4</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marL="0" algn="ctr" defTabSz="1219200" rtl="0" eaLnBrk="1" latinLnBrk="0" hangingPunct="1">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cs"/>
                          <a:sym typeface="+mn-ea"/>
                        </a:rPr>
                        <a:t>a</a:t>
                      </a: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a:t>
                      </a:r>
                      <a:r>
                        <a:rPr lang="en-US" altLang="zh-CN" sz="1800" kern="1200" dirty="0" err="1">
                          <a:solidFill>
                            <a:srgbClr val="595959"/>
                          </a:solidFill>
                          <a:latin typeface="微软雅黑" panose="020B0503020204020204" pitchFamily="34" charset="-122"/>
                          <a:ea typeface="微软雅黑" panose="020B0503020204020204" pitchFamily="34" charset="-122"/>
                          <a:cs typeface="+mn-cs"/>
                          <a:sym typeface="+mn-ea"/>
                        </a:rPr>
                        <a:t>b</a:t>
                      </a:r>
                      <a:r>
                        <a:rPr lang="en-US" altLang="zh-CN" sz="1800" kern="1200" dirty="0" err="1">
                          <a:solidFill>
                            <a:srgbClr val="595959"/>
                          </a:solidFill>
                          <a:latin typeface="微软雅黑" panose="020B0503020204020204" pitchFamily="34" charset="-122"/>
                          <a:ea typeface="微软雅黑" panose="020B0503020204020204" pitchFamily="34" charset="-122"/>
                          <a:cs typeface="+mn-cs"/>
                        </a:rPr>
                        <a:t>→</a:t>
                      </a:r>
                      <a:r>
                        <a:rPr lang="en-US" altLang="zh-CN" sz="1800" kern="1200" dirty="0" err="1">
                          <a:solidFill>
                            <a:srgbClr val="595959"/>
                          </a:solidFill>
                          <a:latin typeface="微软雅黑" panose="020B0503020204020204" pitchFamily="34" charset="-122"/>
                          <a:ea typeface="微软雅黑" panose="020B0503020204020204" pitchFamily="34" charset="-122"/>
                          <a:cs typeface="+mn-cs"/>
                          <a:sym typeface="+mn-ea"/>
                        </a:rPr>
                        <a:t>d</a:t>
                      </a:r>
                      <a:endParaRPr lang="en-US" altLang="zh-CN" sz="1800" kern="1200" dirty="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bl>
          </a:graphicData>
        </a:graphic>
      </p:graphicFrame>
      <p:sp>
        <p:nvSpPr>
          <p:cNvPr id="3" name="文本框 2">
            <a:extLst>
              <a:ext uri="{FF2B5EF4-FFF2-40B4-BE49-F238E27FC236}">
                <a16:creationId xmlns:a16="http://schemas.microsoft.com/office/drawing/2014/main" id="{3A1F2998-F483-D50D-657E-D2149870D063}"/>
              </a:ext>
            </a:extLst>
          </p:cNvPr>
          <p:cNvSpPr txBox="1"/>
          <p:nvPr/>
        </p:nvSpPr>
        <p:spPr>
          <a:xfrm>
            <a:off x="9407206" y="6309794"/>
            <a:ext cx="1296000" cy="369332"/>
          </a:xfrm>
          <a:prstGeom prst="rect">
            <a:avLst/>
          </a:prstGeom>
          <a:noFill/>
        </p:spPr>
        <p:txBody>
          <a:bodyPr wrap="square" rtlCol="0">
            <a:spAutoFit/>
          </a:bodyPr>
          <a:lstStyle/>
          <a:p>
            <a:r>
              <a:rPr lang="en-US" altLang="zh-CN" sz="1800" dirty="0" err="1">
                <a:solidFill>
                  <a:srgbClr val="FF0000"/>
                </a:solidFill>
                <a:latin typeface="微软雅黑" panose="020B0503020204020204" pitchFamily="34" charset="-122"/>
                <a:ea typeface="微软雅黑" panose="020B0503020204020204" pitchFamily="34" charset="-122"/>
              </a:rPr>
              <a:t>a→c→d</a:t>
            </a:r>
            <a:r>
              <a:rPr lang="en-US" altLang="zh-CN" sz="1800" dirty="0">
                <a:solidFill>
                  <a:srgbClr val="FF0000"/>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dirty="0">
                <a:solidFill>
                  <a:srgbClr val="595959"/>
                </a:solidFill>
                <a:latin typeface="微软雅黑" panose="020B0503020204020204" pitchFamily="34" charset="-122"/>
                <a:ea typeface="微软雅黑" panose="020B0503020204020204" pitchFamily="34" charset="-122"/>
                <a:cs typeface="+mn-ea"/>
                <a:sym typeface="+mn-lt"/>
              </a:rPr>
              <a:t>三角形的逻辑覆盖</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设计三角形程序判定覆盖测试用例</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571373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3.2.6	实例：三角形的逻辑覆盖</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5370" y="838200"/>
            <a:ext cx="10267315" cy="136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在第</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章的黑盒测试中使用了决策表法判断三角形的类型，根据三角形三边关系可知可能出现4种情况：</a:t>
            </a:r>
            <a:r>
              <a:rPr lang="zh-CN" altLang="en-US" sz="1800" dirty="0">
                <a:solidFill>
                  <a:srgbClr val="0070C0"/>
                </a:solidFill>
                <a:latin typeface="微软雅黑" panose="020B0503020204020204" pitchFamily="34" charset="-122"/>
                <a:ea typeface="微软雅黑" panose="020B0503020204020204" pitchFamily="34" charset="-122"/>
              </a:rPr>
              <a:t>不构成三角形、一般三角形、等腰三角形、等边三角形</a:t>
            </a:r>
            <a:r>
              <a:rPr lang="zh-CN" altLang="en-US" sz="1800" dirty="0">
                <a:solidFill>
                  <a:srgbClr val="595959"/>
                </a:solidFill>
                <a:latin typeface="微软雅黑" panose="020B0503020204020204" pitchFamily="34" charset="-122"/>
                <a:ea typeface="微软雅黑" panose="020B0503020204020204" pitchFamily="34" charset="-122"/>
              </a:rPr>
              <a:t>。据此实现一个判断三角形的程序，伪代码如下。</a:t>
            </a:r>
          </a:p>
        </p:txBody>
      </p:sp>
      <p:sp>
        <p:nvSpPr>
          <p:cNvPr id="2" name="Title 1"/>
          <p:cNvSpPr txBox="1"/>
          <p:nvPr/>
        </p:nvSpPr>
        <p:spPr>
          <a:xfrm>
            <a:off x="1143635" y="266700"/>
            <a:ext cx="571373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3.2.6	实例：三角形的逻辑覆盖</a:t>
            </a:r>
          </a:p>
        </p:txBody>
      </p:sp>
      <p:sp>
        <p:nvSpPr>
          <p:cNvPr id="8" name="矩形 7"/>
          <p:cNvSpPr/>
          <p:nvPr/>
        </p:nvSpPr>
        <p:spPr>
          <a:xfrm>
            <a:off x="1270635" y="2204085"/>
            <a:ext cx="9911080" cy="43186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a:lnSpc>
                <a:spcPct val="150000"/>
              </a:lnSpc>
              <a:buClrTx/>
              <a:buSzTx/>
              <a:buFontTx/>
              <a:defRPr/>
            </a:pPr>
            <a:endPar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矩形 2"/>
          <p:cNvSpPr/>
          <p:nvPr/>
        </p:nvSpPr>
        <p:spPr>
          <a:xfrm>
            <a:off x="1270635" y="2204085"/>
            <a:ext cx="9911079" cy="4303593"/>
          </a:xfrm>
          <a:prstGeom prst="rect">
            <a:avLst/>
          </a:prstGeom>
        </p:spPr>
        <p:txBody>
          <a:bodyPr wrap="square">
            <a:noAutofit/>
          </a:bodyPr>
          <a:lstStyle/>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int  A B C	</a:t>
            </a:r>
            <a:r>
              <a:rPr lang="en-US" altLang="it-IT"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//三角形的三个边					</a:t>
            </a:r>
          </a:p>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if((A+B&gt;C)&amp;&amp;(A+C&gt;B)&amp;&amp;(B+C)&gt;A)	//是否满足三角形</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构</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成条件</a:t>
            </a:r>
          </a:p>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it-IT"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if</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((A==B)&amp;&amp;(B==C))	//等边三角形</a:t>
            </a:r>
          </a:p>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it-IT"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等边三角形</a:t>
            </a:r>
          </a:p>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else if((A==B)||(B==C)||(A==C))	//等腰三角形</a:t>
            </a:r>
          </a:p>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it-IT"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等腰三角形</a:t>
            </a:r>
          </a:p>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it-IT"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it-IT"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else</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it-IT"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//一般三角形				</a:t>
            </a:r>
          </a:p>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en-US" altLang="it-IT"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一般三角形</a:t>
            </a:r>
          </a:p>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else</a:t>
            </a:r>
          </a:p>
          <a:p>
            <a:pPr>
              <a:lnSpc>
                <a:spcPct val="150000"/>
              </a:lnSpc>
              <a:defRPr/>
            </a:pPr>
            <a:r>
              <a:rPr lang="en-US" altLang="it-IT"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不是三角形 </a:t>
            </a:r>
          </a:p>
          <a:p>
            <a:pPr>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end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5370" y="838200"/>
            <a:ext cx="10267315" cy="489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根据上述代码可以画出流程图和控制流图</a:t>
            </a:r>
          </a:p>
        </p:txBody>
      </p:sp>
      <p:sp>
        <p:nvSpPr>
          <p:cNvPr id="2" name="Title 1"/>
          <p:cNvSpPr txBox="1"/>
          <p:nvPr/>
        </p:nvSpPr>
        <p:spPr>
          <a:xfrm>
            <a:off x="1143635" y="266700"/>
            <a:ext cx="571373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3.2.6	实例：三角形的逻辑覆盖</a:t>
            </a:r>
          </a:p>
        </p:txBody>
      </p:sp>
      <p:pic>
        <p:nvPicPr>
          <p:cNvPr id="4" name="图片 3">
            <a:extLst>
              <a:ext uri="{FF2B5EF4-FFF2-40B4-BE49-F238E27FC236}">
                <a16:creationId xmlns:a16="http://schemas.microsoft.com/office/drawing/2014/main" id="{51494909-ECDF-AED5-6BA0-ED36B2B5FC17}"/>
              </a:ext>
            </a:extLst>
          </p:cNvPr>
          <p:cNvPicPr>
            <a:picLocks noChangeAspect="1"/>
          </p:cNvPicPr>
          <p:nvPr/>
        </p:nvPicPr>
        <p:blipFill>
          <a:blip r:embed="rId3"/>
          <a:stretch>
            <a:fillRect/>
          </a:stretch>
        </p:blipFill>
        <p:spPr>
          <a:xfrm>
            <a:off x="767206" y="1557794"/>
            <a:ext cx="4553403" cy="4608000"/>
          </a:xfrm>
          <a:prstGeom prst="rect">
            <a:avLst/>
          </a:prstGeom>
        </p:spPr>
      </p:pic>
      <p:pic>
        <p:nvPicPr>
          <p:cNvPr id="6" name="图片 5">
            <a:extLst>
              <a:ext uri="{FF2B5EF4-FFF2-40B4-BE49-F238E27FC236}">
                <a16:creationId xmlns:a16="http://schemas.microsoft.com/office/drawing/2014/main" id="{B331A852-8CE4-F13D-C215-F4F6FD90546F}"/>
              </a:ext>
            </a:extLst>
          </p:cNvPr>
          <p:cNvPicPr>
            <a:picLocks noChangeAspect="1"/>
          </p:cNvPicPr>
          <p:nvPr/>
        </p:nvPicPr>
        <p:blipFill>
          <a:blip r:embed="rId4"/>
          <a:stretch>
            <a:fillRect/>
          </a:stretch>
        </p:blipFill>
        <p:spPr>
          <a:xfrm>
            <a:off x="6743206" y="1845794"/>
            <a:ext cx="3529767" cy="38270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571373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3.2.6	实例：三角形的逻辑覆盖</a:t>
            </a:r>
          </a:p>
        </p:txBody>
      </p:sp>
      <p:graphicFrame>
        <p:nvGraphicFramePr>
          <p:cNvPr id="4" name="表格 3"/>
          <p:cNvGraphicFramePr/>
          <p:nvPr>
            <p:custDataLst>
              <p:tags r:id="rId1"/>
            </p:custDataLst>
            <p:extLst>
              <p:ext uri="{D42A27DB-BD31-4B8C-83A1-F6EECF244321}">
                <p14:modId xmlns:p14="http://schemas.microsoft.com/office/powerpoint/2010/main" val="1060427836"/>
              </p:ext>
            </p:extLst>
          </p:nvPr>
        </p:nvGraphicFramePr>
        <p:xfrm>
          <a:off x="3791206" y="1871345"/>
          <a:ext cx="7920000" cy="432562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000"/>
                    </a:ext>
                  </a:extLst>
                </a:gridCol>
                <a:gridCol w="864000">
                  <a:extLst>
                    <a:ext uri="{9D8B030D-6E8A-4147-A177-3AD203B41FA5}">
                      <a16:colId xmlns:a16="http://schemas.microsoft.com/office/drawing/2014/main" val="20001"/>
                    </a:ext>
                  </a:extLst>
                </a:gridCol>
                <a:gridCol w="792000">
                  <a:extLst>
                    <a:ext uri="{9D8B030D-6E8A-4147-A177-3AD203B41FA5}">
                      <a16:colId xmlns:a16="http://schemas.microsoft.com/office/drawing/2014/main" val="20002"/>
                    </a:ext>
                  </a:extLst>
                </a:gridCol>
                <a:gridCol w="744000">
                  <a:extLst>
                    <a:ext uri="{9D8B030D-6E8A-4147-A177-3AD203B41FA5}">
                      <a16:colId xmlns:a16="http://schemas.microsoft.com/office/drawing/2014/main" val="20003"/>
                    </a:ext>
                  </a:extLst>
                </a:gridCol>
                <a:gridCol w="2424000">
                  <a:extLst>
                    <a:ext uri="{9D8B030D-6E8A-4147-A177-3AD203B41FA5}">
                      <a16:colId xmlns:a16="http://schemas.microsoft.com/office/drawing/2014/main" val="20004"/>
                    </a:ext>
                  </a:extLst>
                </a:gridCol>
                <a:gridCol w="2016000">
                  <a:extLst>
                    <a:ext uri="{9D8B030D-6E8A-4147-A177-3AD203B41FA5}">
                      <a16:colId xmlns:a16="http://schemas.microsoft.com/office/drawing/2014/main" val="20005"/>
                    </a:ext>
                  </a:extLst>
                </a:gridCol>
              </a:tblGrid>
              <a:tr h="382905">
                <a:tc rowSpan="2">
                  <a:txBody>
                    <a:bodyPr/>
                    <a:lstStyle/>
                    <a:p>
                      <a:pPr algn="ctr">
                        <a:lnSpc>
                          <a:spcPct val="90000"/>
                        </a:lnSpc>
                        <a:buNone/>
                      </a:pPr>
                      <a:r>
                        <a:rPr lang="zh-CN" altLang="en-US" sz="1800" b="1" dirty="0">
                          <a:latin typeface="微软雅黑" panose="020B0503020204020204" pitchFamily="34" charset="-122"/>
                          <a:ea typeface="微软雅黑" panose="020B0503020204020204" pitchFamily="34" charset="-122"/>
                        </a:rPr>
                        <a:t>编号</a:t>
                      </a:r>
                    </a:p>
                  </a:txBody>
                  <a:tcPr anchor="ctr"/>
                </a:tc>
                <a:tc gridSpan="3">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sym typeface="+mn-ea"/>
                        </a:rPr>
                        <a:t>测试用例</a:t>
                      </a:r>
                      <a:endParaRPr lang="en-US" altLang="zh-CN" sz="1800" dirty="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hMerge="1">
                  <a:txBody>
                    <a:bodyPr/>
                    <a:lstStyle/>
                    <a:p>
                      <a:endParaRPr lang="zh-CN"/>
                    </a:p>
                  </a:txBody>
                  <a:tcPr anchor="ctr"/>
                </a:tc>
                <a:tc rowSpan="2">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路径</a:t>
                      </a:r>
                    </a:p>
                  </a:txBody>
                  <a:tcPr anchor="ctr"/>
                </a:tc>
                <a:tc rowSpan="2">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预期</a:t>
                      </a:r>
                      <a:r>
                        <a:rPr lang="zh-CN" altLang="en-US" sz="1800">
                          <a:latin typeface="微软雅黑" panose="020B0503020204020204" pitchFamily="34" charset="-122"/>
                          <a:ea typeface="微软雅黑" panose="020B0503020204020204" pitchFamily="34" charset="-122"/>
                        </a:rPr>
                        <a:t>结果</a:t>
                      </a:r>
                      <a:endParaRPr lang="en-US" altLang="zh-CN" sz="18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0"/>
                  </a:ext>
                </a:extLst>
              </a:tr>
              <a:tr h="220345">
                <a:tc vMerge="1">
                  <a:txBody>
                    <a:bodyPr/>
                    <a:lstStyle/>
                    <a:p>
                      <a:endParaRPr lang="zh-CN"/>
                    </a:p>
                  </a:txBody>
                  <a:tcPr anchor="ctr"/>
                </a:tc>
                <a:tc>
                  <a:txBody>
                    <a:bodyPr/>
                    <a:lstStyle/>
                    <a:p>
                      <a:pPr algn="ctr">
                        <a:buNone/>
                      </a:pPr>
                      <a:r>
                        <a:rPr lang="en-US" altLang="zh-CN" sz="1600" b="1">
                          <a:solidFill>
                            <a:schemeClr val="bg1"/>
                          </a:solidFill>
                          <a:latin typeface="微软雅黑" panose="020B0503020204020204" pitchFamily="34" charset="-122"/>
                          <a:ea typeface="微软雅黑" panose="020B0503020204020204" pitchFamily="34" charset="-122"/>
                        </a:rPr>
                        <a:t>A</a:t>
                      </a:r>
                    </a:p>
                  </a:txBody>
                  <a:tcPr anchor="ctr">
                    <a:solidFill>
                      <a:schemeClr val="accent1"/>
                    </a:solidFill>
                  </a:tcPr>
                </a:tc>
                <a:tc>
                  <a:txBody>
                    <a:bodyPr/>
                    <a:lstStyle/>
                    <a:p>
                      <a:pPr algn="ctr">
                        <a:buNone/>
                      </a:pPr>
                      <a:r>
                        <a:rPr lang="en-US" altLang="zh-CN" sz="1600" b="1">
                          <a:solidFill>
                            <a:schemeClr val="bg1"/>
                          </a:solidFill>
                          <a:latin typeface="微软雅黑" panose="020B0503020204020204" pitchFamily="34" charset="-122"/>
                          <a:ea typeface="微软雅黑" panose="020B0503020204020204" pitchFamily="34" charset="-122"/>
                        </a:rPr>
                        <a:t>B</a:t>
                      </a:r>
                    </a:p>
                  </a:txBody>
                  <a:tcPr anchor="ctr">
                    <a:solidFill>
                      <a:schemeClr val="accent1"/>
                    </a:solidFill>
                  </a:tcPr>
                </a:tc>
                <a:tc>
                  <a:txBody>
                    <a:bodyPr/>
                    <a:lstStyle/>
                    <a:p>
                      <a:pPr algn="ctr">
                        <a:buNone/>
                      </a:pPr>
                      <a:r>
                        <a:rPr lang="en-US" altLang="zh-CN" sz="1600" b="1">
                          <a:solidFill>
                            <a:schemeClr val="bg1"/>
                          </a:solidFill>
                          <a:latin typeface="微软雅黑" panose="020B0503020204020204" pitchFamily="34" charset="-122"/>
                          <a:ea typeface="微软雅黑" panose="020B0503020204020204" pitchFamily="34" charset="-122"/>
                        </a:rPr>
                        <a:t>C</a:t>
                      </a:r>
                    </a:p>
                  </a:txBody>
                  <a:tcPr anchor="ctr">
                    <a:solidFill>
                      <a:schemeClr val="accent1"/>
                    </a:solidFill>
                  </a:tcPr>
                </a:tc>
                <a:tc vMerge="1">
                  <a:txBody>
                    <a:bodyPr/>
                    <a:lstStyle/>
                    <a:p>
                      <a:endParaRPr lang="zh-CN"/>
                    </a:p>
                  </a:txBody>
                  <a:tcPr anchor="ctr"/>
                </a:tc>
                <a:tc vMerge="1">
                  <a:txBody>
                    <a:bodyPr/>
                    <a:lstStyle/>
                    <a:p>
                      <a:endParaRPr lang="zh-CN"/>
                    </a:p>
                  </a:txBody>
                  <a:tcPr anchor="ctr"/>
                </a:tc>
                <a:extLst>
                  <a:ext uri="{0D108BD9-81ED-4DB2-BD59-A6C34878D82A}">
                    <a16:rowId xmlns:a16="http://schemas.microsoft.com/office/drawing/2014/main" val="10001"/>
                  </a:ext>
                </a:extLst>
              </a:tr>
              <a:tr h="944880">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1→2→3→4→13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等边三角形</a:t>
                      </a:r>
                    </a:p>
                  </a:txBody>
                  <a:tcPr anchor="ctr"/>
                </a:tc>
                <a:extLst>
                  <a:ext uri="{0D108BD9-81ED-4DB2-BD59-A6C34878D82A}">
                    <a16:rowId xmlns:a16="http://schemas.microsoft.com/office/drawing/2014/main" val="10002"/>
                  </a:ext>
                </a:extLst>
              </a:tr>
              <a:tr h="88011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1→2→5→6→7→13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anchor="ctr"/>
                </a:tc>
                <a:extLst>
                  <a:ext uri="{0D108BD9-81ED-4DB2-BD59-A6C34878D82A}">
                    <a16:rowId xmlns:a16="http://schemas.microsoft.com/office/drawing/2014/main" val="10003"/>
                  </a:ext>
                </a:extLst>
              </a:tr>
              <a:tr h="8915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1→2→8→9→10→13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一般三角形</a:t>
                      </a:r>
                    </a:p>
                  </a:txBody>
                  <a:tcPr anchor="ctr"/>
                </a:tc>
                <a:extLst>
                  <a:ext uri="{0D108BD9-81ED-4DB2-BD59-A6C34878D82A}">
                    <a16:rowId xmlns:a16="http://schemas.microsoft.com/office/drawing/2014/main" val="10004"/>
                  </a:ext>
                </a:extLst>
              </a:tr>
              <a:tr h="89090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en-US"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buNone/>
                      </a:pPr>
                      <a:r>
                        <a:rPr lang="en-US" altLang="zh-CN" sz="1800" kern="1200" dirty="0">
                          <a:solidFill>
                            <a:srgbClr val="595959"/>
                          </a:solidFill>
                          <a:latin typeface="微软雅黑" panose="020B0503020204020204" pitchFamily="34" charset="-122"/>
                          <a:ea typeface="微软雅黑" panose="020B0503020204020204" pitchFamily="34" charset="-122"/>
                          <a:cs typeface="+mn-cs"/>
                        </a:rPr>
                        <a:t>1→11→12→13</a:t>
                      </a:r>
                    </a:p>
                  </a:txBody>
                  <a:tcPr anchor="ctr"/>
                </a:tc>
                <a:tc>
                  <a:txBody>
                    <a:bodyPr/>
                    <a:lstStyle/>
                    <a:p>
                      <a:pPr algn="ctr">
                        <a:buNone/>
                      </a:pPr>
                      <a:r>
                        <a:rPr lang="en-US" altLang="zh-CN" sz="1800" kern="1200" dirty="0" err="1">
                          <a:solidFill>
                            <a:srgbClr val="595959"/>
                          </a:solidFill>
                          <a:latin typeface="微软雅黑" panose="020B0503020204020204" pitchFamily="34" charset="-122"/>
                          <a:ea typeface="微软雅黑" panose="020B0503020204020204" pitchFamily="34" charset="-122"/>
                          <a:cs typeface="+mn-cs"/>
                          <a:sym typeface="+mn-ea"/>
                        </a:rPr>
                        <a:t>不构成三角形</a:t>
                      </a:r>
                      <a:endParaRPr lang="en-US" altLang="zh-CN" sz="1800" kern="1200" dirty="0">
                        <a:solidFill>
                          <a:srgbClr val="595959"/>
                        </a:solidFill>
                        <a:latin typeface="微软雅黑" panose="020B0503020204020204" pitchFamily="34" charset="-122"/>
                        <a:ea typeface="微软雅黑" panose="020B0503020204020204" pitchFamily="34" charset="-122"/>
                        <a:cs typeface="+mn-cs"/>
                        <a:sym typeface="+mn-ea"/>
                      </a:endParaRPr>
                    </a:p>
                  </a:txBody>
                  <a:tcPr anchor="ctr"/>
                </a:tc>
                <a:extLst>
                  <a:ext uri="{0D108BD9-81ED-4DB2-BD59-A6C34878D82A}">
                    <a16:rowId xmlns:a16="http://schemas.microsoft.com/office/drawing/2014/main" val="10005"/>
                  </a:ext>
                </a:extLst>
              </a:tr>
            </a:tbl>
          </a:graphicData>
        </a:graphic>
      </p:graphicFrame>
      <p:sp>
        <p:nvSpPr>
          <p:cNvPr id="5" name="TextBox 35"/>
          <p:cNvSpPr txBox="1">
            <a:spLocks noChangeArrowheads="1"/>
          </p:cNvSpPr>
          <p:nvPr/>
        </p:nvSpPr>
        <p:spPr bwMode="auto">
          <a:xfrm>
            <a:off x="4460519" y="1054100"/>
            <a:ext cx="3261995" cy="489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sym typeface="+mn-ea"/>
              </a:rPr>
              <a:t>三角形程序测试用例</a:t>
            </a:r>
          </a:p>
        </p:txBody>
      </p:sp>
      <p:pic>
        <p:nvPicPr>
          <p:cNvPr id="3" name="图片 2">
            <a:extLst>
              <a:ext uri="{FF2B5EF4-FFF2-40B4-BE49-F238E27FC236}">
                <a16:creationId xmlns:a16="http://schemas.microsoft.com/office/drawing/2014/main" id="{47651F79-8C2F-539B-5252-2DCEECCA13A3}"/>
              </a:ext>
            </a:extLst>
          </p:cNvPr>
          <p:cNvPicPr>
            <a:picLocks noChangeAspect="1"/>
          </p:cNvPicPr>
          <p:nvPr/>
        </p:nvPicPr>
        <p:blipFill>
          <a:blip r:embed="rId4"/>
          <a:stretch>
            <a:fillRect/>
          </a:stretch>
        </p:blipFill>
        <p:spPr>
          <a:xfrm>
            <a:off x="191206" y="2120650"/>
            <a:ext cx="3529767" cy="38270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C86E8-F201-7C76-6691-5929B7F58A3E}"/>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05B7E05E-3CAE-4FB8-90A3-BD68043BB612}"/>
              </a:ext>
            </a:extLst>
          </p:cNvPr>
          <p:cNvSpPr txBox="1">
            <a:spLocks noChangeArrowheads="1"/>
          </p:cNvSpPr>
          <p:nvPr/>
        </p:nvSpPr>
        <p:spPr bwMode="auto">
          <a:xfrm>
            <a:off x="767206" y="4365794"/>
            <a:ext cx="10247630" cy="215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覆盖程度从低到高：</a:t>
            </a:r>
            <a:r>
              <a:rPr lang="zh-CN" altLang="en-US" sz="1800" b="1" dirty="0">
                <a:solidFill>
                  <a:srgbClr val="0070C0"/>
                </a:solidFill>
                <a:latin typeface="微软雅黑" panose="020B0503020204020204" pitchFamily="34" charset="-122"/>
                <a:ea typeface="微软雅黑" panose="020B0503020204020204" pitchFamily="34" charset="-122"/>
              </a:rPr>
              <a:t>语句覆盖 </a:t>
            </a:r>
            <a:r>
              <a:rPr lang="en-US" altLang="zh-CN" sz="1800" b="1" dirty="0">
                <a:solidFill>
                  <a:srgbClr val="0070C0"/>
                </a:solidFill>
                <a:latin typeface="微软雅黑" panose="020B0503020204020204" pitchFamily="34" charset="-122"/>
                <a:ea typeface="微软雅黑" panose="020B0503020204020204" pitchFamily="34" charset="-122"/>
              </a:rPr>
              <a:t>&lt; </a:t>
            </a:r>
            <a:r>
              <a:rPr lang="zh-CN" altLang="en-US" sz="1800" b="1" dirty="0">
                <a:solidFill>
                  <a:srgbClr val="0070C0"/>
                </a:solidFill>
                <a:latin typeface="微软雅黑" panose="020B0503020204020204" pitchFamily="34" charset="-122"/>
                <a:ea typeface="微软雅黑" panose="020B0503020204020204" pitchFamily="34" charset="-122"/>
              </a:rPr>
              <a:t>判定覆盖 </a:t>
            </a:r>
            <a:r>
              <a:rPr lang="en-US" altLang="zh-CN" sz="1800" b="1" dirty="0">
                <a:solidFill>
                  <a:srgbClr val="0070C0"/>
                </a:solidFill>
                <a:latin typeface="微软雅黑" panose="020B0503020204020204" pitchFamily="34" charset="-122"/>
                <a:ea typeface="微软雅黑" panose="020B0503020204020204" pitchFamily="34" charset="-122"/>
              </a:rPr>
              <a:t>&lt; </a:t>
            </a:r>
            <a:r>
              <a:rPr lang="zh-CN" altLang="en-US" sz="1800" b="1" dirty="0">
                <a:solidFill>
                  <a:srgbClr val="0070C0"/>
                </a:solidFill>
                <a:latin typeface="微软雅黑" panose="020B0503020204020204" pitchFamily="34" charset="-122"/>
                <a:ea typeface="微软雅黑" panose="020B0503020204020204" pitchFamily="34" charset="-122"/>
              </a:rPr>
              <a:t>判定 </a:t>
            </a:r>
            <a:r>
              <a:rPr lang="en-US" altLang="zh-CN" sz="1800" b="1" dirty="0">
                <a:solidFill>
                  <a:srgbClr val="0070C0"/>
                </a:solidFill>
                <a:latin typeface="微软雅黑" panose="020B0503020204020204" pitchFamily="34" charset="-122"/>
                <a:ea typeface="微软雅黑" panose="020B0503020204020204" pitchFamily="34" charset="-122"/>
              </a:rPr>
              <a:t>- </a:t>
            </a:r>
            <a:r>
              <a:rPr lang="zh-CN" altLang="en-US" sz="1800" b="1" dirty="0">
                <a:solidFill>
                  <a:srgbClr val="0070C0"/>
                </a:solidFill>
                <a:latin typeface="微软雅黑" panose="020B0503020204020204" pitchFamily="34" charset="-122"/>
                <a:ea typeface="微软雅黑" panose="020B0503020204020204" pitchFamily="34" charset="-122"/>
              </a:rPr>
              <a:t>条件覆盖 </a:t>
            </a:r>
            <a:r>
              <a:rPr lang="en-US" altLang="zh-CN" sz="1800" b="1" dirty="0">
                <a:solidFill>
                  <a:srgbClr val="0070C0"/>
                </a:solidFill>
                <a:latin typeface="微软雅黑" panose="020B0503020204020204" pitchFamily="34" charset="-122"/>
                <a:ea typeface="微软雅黑" panose="020B0503020204020204" pitchFamily="34" charset="-122"/>
              </a:rPr>
              <a:t>&lt; </a:t>
            </a:r>
            <a:r>
              <a:rPr lang="zh-CN" altLang="en-US" sz="1800" b="1" dirty="0">
                <a:solidFill>
                  <a:srgbClr val="0070C0"/>
                </a:solidFill>
                <a:latin typeface="微软雅黑" panose="020B0503020204020204" pitchFamily="34" charset="-122"/>
                <a:ea typeface="微软雅黑" panose="020B0503020204020204" pitchFamily="34" charset="-122"/>
              </a:rPr>
              <a:t>条件组合覆盖</a:t>
            </a:r>
            <a:r>
              <a:rPr lang="zh-CN" altLang="en-US" sz="1800" dirty="0">
                <a:solidFill>
                  <a:srgbClr val="595959"/>
                </a:solidFill>
                <a:latin typeface="微软雅黑" panose="020B0503020204020204" pitchFamily="34" charset="-122"/>
                <a:ea typeface="微软雅黑" panose="020B0503020204020204" pitchFamily="34" charset="-122"/>
              </a:rPr>
              <a:t>（条件覆盖与判定覆盖无绝对高低，需</a:t>
            </a:r>
            <a:r>
              <a:rPr lang="zh-CN" altLang="en-US" sz="1800" dirty="0">
                <a:solidFill>
                  <a:srgbClr val="0070C0"/>
                </a:solidFill>
                <a:latin typeface="微软雅黑" panose="020B0503020204020204" pitchFamily="34" charset="-122"/>
                <a:ea typeface="微软雅黑" panose="020B0503020204020204" pitchFamily="34" charset="-122"/>
              </a:rPr>
              <a:t>看场景</a:t>
            </a:r>
            <a:r>
              <a:rPr lang="zh-CN" altLang="en-US" sz="1800" dirty="0">
                <a:solidFill>
                  <a:srgbClr val="595959"/>
                </a:solidFill>
                <a:latin typeface="微软雅黑" panose="020B0503020204020204" pitchFamily="34" charset="-122"/>
                <a:ea typeface="微软雅黑" panose="020B0503020204020204" pitchFamily="34" charset="-122"/>
              </a:rPr>
              <a:t>）；</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测试成本从低到高：</a:t>
            </a:r>
            <a:r>
              <a:rPr lang="zh-CN" altLang="en-US" sz="1800" dirty="0">
                <a:solidFill>
                  <a:srgbClr val="0070C0"/>
                </a:solidFill>
                <a:latin typeface="微软雅黑" panose="020B0503020204020204" pitchFamily="34" charset="-122"/>
                <a:ea typeface="微软雅黑" panose="020B0503020204020204" pitchFamily="34" charset="-122"/>
              </a:rPr>
              <a:t>与覆盖程度正相关</a:t>
            </a:r>
            <a:r>
              <a:rPr lang="zh-CN" altLang="en-US" sz="1800" dirty="0">
                <a:solidFill>
                  <a:srgbClr val="595959"/>
                </a:solidFill>
                <a:latin typeface="微软雅黑" panose="020B0503020204020204" pitchFamily="34" charset="-122"/>
                <a:ea typeface="微软雅黑" panose="020B0503020204020204" pitchFamily="34" charset="-122"/>
              </a:rPr>
              <a:t>（条件组合覆盖成本最高）；</a:t>
            </a:r>
          </a:p>
          <a:p>
            <a:pPr marL="54000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实际测试中需平衡 “覆盖程度” 和 “成本”，并非越全面越好（如简单逻辑用判定 </a:t>
            </a:r>
            <a:r>
              <a:rPr lang="en-US" altLang="zh-CN" sz="1800" dirty="0">
                <a:solidFill>
                  <a:srgbClr val="595959"/>
                </a:solidFill>
                <a:latin typeface="微软雅黑" panose="020B0503020204020204" pitchFamily="34" charset="-122"/>
                <a:ea typeface="微软雅黑" panose="020B0503020204020204" pitchFamily="34" charset="-122"/>
              </a:rPr>
              <a:t>- </a:t>
            </a:r>
            <a:r>
              <a:rPr lang="zh-CN" altLang="en-US" sz="1800" dirty="0">
                <a:solidFill>
                  <a:srgbClr val="595959"/>
                </a:solidFill>
                <a:latin typeface="微软雅黑" panose="020B0503020204020204" pitchFamily="34" charset="-122"/>
                <a:ea typeface="微软雅黑" panose="020B0503020204020204" pitchFamily="34" charset="-122"/>
              </a:rPr>
              <a:t>条件覆盖即可，复杂逻辑需考虑条件组合覆盖）。</a:t>
            </a:r>
          </a:p>
        </p:txBody>
      </p:sp>
      <p:sp>
        <p:nvSpPr>
          <p:cNvPr id="31" name="Title 1">
            <a:extLst>
              <a:ext uri="{FF2B5EF4-FFF2-40B4-BE49-F238E27FC236}">
                <a16:creationId xmlns:a16="http://schemas.microsoft.com/office/drawing/2014/main" id="{150B7C7C-39D4-9373-1BFB-B2B73F460580}"/>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总结对比</a:t>
            </a:r>
          </a:p>
        </p:txBody>
      </p:sp>
      <p:graphicFrame>
        <p:nvGraphicFramePr>
          <p:cNvPr id="3" name="表格 2">
            <a:extLst>
              <a:ext uri="{FF2B5EF4-FFF2-40B4-BE49-F238E27FC236}">
                <a16:creationId xmlns:a16="http://schemas.microsoft.com/office/drawing/2014/main" id="{DDC45E52-99E4-5EE8-DD28-127A28C47FF3}"/>
              </a:ext>
            </a:extLst>
          </p:cNvPr>
          <p:cNvGraphicFramePr>
            <a:graphicFrameLocks noGrp="1"/>
          </p:cNvGraphicFramePr>
          <p:nvPr>
            <p:extLst>
              <p:ext uri="{D42A27DB-BD31-4B8C-83A1-F6EECF244321}">
                <p14:modId xmlns:p14="http://schemas.microsoft.com/office/powerpoint/2010/main" val="2993580661"/>
              </p:ext>
            </p:extLst>
          </p:nvPr>
        </p:nvGraphicFramePr>
        <p:xfrm>
          <a:off x="623206" y="1053795"/>
          <a:ext cx="11259180" cy="3172937"/>
        </p:xfrm>
        <a:graphic>
          <a:graphicData uri="http://schemas.openxmlformats.org/drawingml/2006/table">
            <a:tbl>
              <a:tblPr/>
              <a:tblGrid>
                <a:gridCol w="2259178">
                  <a:extLst>
                    <a:ext uri="{9D8B030D-6E8A-4147-A177-3AD203B41FA5}">
                      <a16:colId xmlns:a16="http://schemas.microsoft.com/office/drawing/2014/main" val="2340208387"/>
                    </a:ext>
                  </a:extLst>
                </a:gridCol>
                <a:gridCol w="3528000">
                  <a:extLst>
                    <a:ext uri="{9D8B030D-6E8A-4147-A177-3AD203B41FA5}">
                      <a16:colId xmlns:a16="http://schemas.microsoft.com/office/drawing/2014/main" val="3447284580"/>
                    </a:ext>
                  </a:extLst>
                </a:gridCol>
                <a:gridCol w="2385147">
                  <a:extLst>
                    <a:ext uri="{9D8B030D-6E8A-4147-A177-3AD203B41FA5}">
                      <a16:colId xmlns:a16="http://schemas.microsoft.com/office/drawing/2014/main" val="3468300975"/>
                    </a:ext>
                  </a:extLst>
                </a:gridCol>
                <a:gridCol w="3086855">
                  <a:extLst>
                    <a:ext uri="{9D8B030D-6E8A-4147-A177-3AD203B41FA5}">
                      <a16:colId xmlns:a16="http://schemas.microsoft.com/office/drawing/2014/main" val="3550765456"/>
                    </a:ext>
                  </a:extLst>
                </a:gridCol>
              </a:tblGrid>
              <a:tr h="379559">
                <a:tc>
                  <a:txBody>
                    <a:bodyPr/>
                    <a:lstStyle/>
                    <a:p>
                      <a:pPr algn="ctr">
                        <a:lnSpc>
                          <a:spcPts val="2100"/>
                        </a:lnSpc>
                        <a:buNone/>
                      </a:pPr>
                      <a:r>
                        <a:rPr lang="zh-CN" altLang="en-US" sz="1600" b="1" kern="1200" dirty="0">
                          <a:solidFill>
                            <a:srgbClr val="595959"/>
                          </a:solidFill>
                          <a:latin typeface="微软雅黑" panose="020B0503020204020204" pitchFamily="34" charset="-122"/>
                          <a:ea typeface="微软雅黑" panose="020B0503020204020204" pitchFamily="34" charset="-122"/>
                          <a:cs typeface="+mn-cs"/>
                        </a:rPr>
                        <a:t>覆盖准则</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lnSpc>
                          <a:spcPts val="2100"/>
                        </a:lnSpc>
                        <a:buNone/>
                      </a:pPr>
                      <a:r>
                        <a:rPr lang="zh-CN" altLang="en-US" sz="1600" b="1" kern="1200">
                          <a:solidFill>
                            <a:srgbClr val="595959"/>
                          </a:solidFill>
                          <a:latin typeface="微软雅黑" panose="020B0503020204020204" pitchFamily="34" charset="-122"/>
                          <a:ea typeface="微软雅黑" panose="020B0503020204020204" pitchFamily="34" charset="-122"/>
                          <a:cs typeface="+mn-cs"/>
                        </a:rPr>
                        <a:t>覆盖目标（核心）</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lnSpc>
                          <a:spcPts val="2100"/>
                        </a:lnSpc>
                        <a:buNone/>
                      </a:pPr>
                      <a:r>
                        <a:rPr lang="zh-CN" altLang="en-US" sz="1600" b="1" kern="1200">
                          <a:solidFill>
                            <a:srgbClr val="595959"/>
                          </a:solidFill>
                          <a:latin typeface="微软雅黑" panose="020B0503020204020204" pitchFamily="34" charset="-122"/>
                          <a:ea typeface="微软雅黑" panose="020B0503020204020204" pitchFamily="34" charset="-122"/>
                          <a:cs typeface="+mn-cs"/>
                        </a:rPr>
                        <a:t>优点</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lnSpc>
                          <a:spcPts val="2100"/>
                        </a:lnSpc>
                        <a:buNone/>
                      </a:pPr>
                      <a:r>
                        <a:rPr lang="zh-CN" altLang="en-US" sz="1600" b="1" kern="1200" dirty="0">
                          <a:solidFill>
                            <a:srgbClr val="595959"/>
                          </a:solidFill>
                          <a:latin typeface="微软雅黑" panose="020B0503020204020204" pitchFamily="34" charset="-122"/>
                          <a:ea typeface="微软雅黑" panose="020B0503020204020204" pitchFamily="34" charset="-122"/>
                          <a:cs typeface="+mn-cs"/>
                        </a:rPr>
                        <a:t>缺点</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156681233"/>
                  </a:ext>
                </a:extLst>
              </a:tr>
              <a:tr h="515397">
                <a:tc>
                  <a:txBody>
                    <a:bodyPr/>
                    <a:lstStyle/>
                    <a:p>
                      <a:pPr algn="ct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语句覆盖</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所有语句至少执行 </a:t>
                      </a:r>
                      <a:r>
                        <a:rPr lang="en-US" altLang="zh-CN" sz="1600" kern="1200" dirty="0">
                          <a:solidFill>
                            <a:srgbClr val="595959"/>
                          </a:solidFill>
                          <a:latin typeface="微软雅黑" panose="020B0503020204020204" pitchFamily="34" charset="-122"/>
                          <a:ea typeface="微软雅黑" panose="020B0503020204020204" pitchFamily="34" charset="-122"/>
                          <a:cs typeface="+mn-cs"/>
                        </a:rPr>
                        <a:t>1 </a:t>
                      </a:r>
                      <a:r>
                        <a:rPr lang="zh-CN" altLang="en-US" sz="1600" kern="1200" dirty="0">
                          <a:solidFill>
                            <a:srgbClr val="595959"/>
                          </a:solidFill>
                          <a:latin typeface="微软雅黑" panose="020B0503020204020204" pitchFamily="34" charset="-122"/>
                          <a:ea typeface="微软雅黑" panose="020B0503020204020204" pitchFamily="34" charset="-122"/>
                          <a:cs typeface="+mn-cs"/>
                        </a:rPr>
                        <a:t>次</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简单易实现</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不关心判定 </a:t>
                      </a:r>
                      <a:r>
                        <a:rPr lang="en-US" altLang="zh-CN" sz="1600" kern="1200" dirty="0">
                          <a:solidFill>
                            <a:srgbClr val="595959"/>
                          </a:solidFill>
                          <a:latin typeface="微软雅黑" panose="020B0503020204020204" pitchFamily="34" charset="-122"/>
                          <a:ea typeface="微软雅黑" panose="020B0503020204020204" pitchFamily="34" charset="-122"/>
                          <a:cs typeface="+mn-cs"/>
                        </a:rPr>
                        <a:t>/ </a:t>
                      </a:r>
                      <a:r>
                        <a:rPr lang="zh-CN" altLang="en-US" sz="1600" kern="1200" dirty="0">
                          <a:solidFill>
                            <a:srgbClr val="595959"/>
                          </a:solidFill>
                          <a:latin typeface="微软雅黑" panose="020B0503020204020204" pitchFamily="34" charset="-122"/>
                          <a:ea typeface="微软雅黑" panose="020B0503020204020204" pitchFamily="34" charset="-122"/>
                          <a:cs typeface="+mn-cs"/>
                        </a:rPr>
                        <a:t>条件，漏洞多</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76064955"/>
                  </a:ext>
                </a:extLst>
              </a:tr>
              <a:tr h="576037">
                <a:tc>
                  <a:txBody>
                    <a:bodyPr/>
                    <a:lstStyle/>
                    <a:p>
                      <a:pPr algn="ct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判定覆盖</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每个判定的 </a:t>
                      </a:r>
                      <a:r>
                        <a:rPr lang="en-US" sz="1600" kern="1200" dirty="0">
                          <a:solidFill>
                            <a:srgbClr val="595959"/>
                          </a:solidFill>
                          <a:latin typeface="微软雅黑" panose="020B0503020204020204" pitchFamily="34" charset="-122"/>
                          <a:ea typeface="微软雅黑" panose="020B0503020204020204" pitchFamily="34" charset="-122"/>
                          <a:cs typeface="+mn-cs"/>
                        </a:rPr>
                        <a:t>T/F </a:t>
                      </a:r>
                      <a:r>
                        <a:rPr lang="zh-CN" altLang="en-US" sz="1600" kern="1200" dirty="0">
                          <a:solidFill>
                            <a:srgbClr val="595959"/>
                          </a:solidFill>
                          <a:latin typeface="微软雅黑" panose="020B0503020204020204" pitchFamily="34" charset="-122"/>
                          <a:ea typeface="微软雅黑" panose="020B0503020204020204" pitchFamily="34" charset="-122"/>
                          <a:cs typeface="+mn-cs"/>
                        </a:rPr>
                        <a:t>至少执行 </a:t>
                      </a:r>
                      <a:r>
                        <a:rPr lang="en-US" altLang="zh-CN" sz="1600" kern="1200" dirty="0">
                          <a:solidFill>
                            <a:srgbClr val="595959"/>
                          </a:solidFill>
                          <a:latin typeface="微软雅黑" panose="020B0503020204020204" pitchFamily="34" charset="-122"/>
                          <a:ea typeface="微软雅黑" panose="020B0503020204020204" pitchFamily="34" charset="-122"/>
                          <a:cs typeface="+mn-cs"/>
                        </a:rPr>
                        <a:t>1 </a:t>
                      </a:r>
                      <a:r>
                        <a:rPr lang="zh-CN" altLang="en-US" sz="1600" kern="1200" dirty="0">
                          <a:solidFill>
                            <a:srgbClr val="595959"/>
                          </a:solidFill>
                          <a:latin typeface="微软雅黑" panose="020B0503020204020204" pitchFamily="34" charset="-122"/>
                          <a:ea typeface="微软雅黑" panose="020B0503020204020204" pitchFamily="34" charset="-122"/>
                          <a:cs typeface="+mn-cs"/>
                        </a:rPr>
                        <a:t>次</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覆盖判定结果</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不关心条件的真假状态</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46365139"/>
                  </a:ext>
                </a:extLst>
              </a:tr>
              <a:tr h="627327">
                <a:tc>
                  <a:txBody>
                    <a:bodyPr/>
                    <a:lstStyle/>
                    <a:p>
                      <a:pPr algn="ct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条件覆盖</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每个条件的 </a:t>
                      </a:r>
                      <a:r>
                        <a:rPr lang="en-US" sz="1600" kern="1200" dirty="0">
                          <a:solidFill>
                            <a:srgbClr val="595959"/>
                          </a:solidFill>
                          <a:latin typeface="微软雅黑" panose="020B0503020204020204" pitchFamily="34" charset="-122"/>
                          <a:ea typeface="微软雅黑" panose="020B0503020204020204" pitchFamily="34" charset="-122"/>
                          <a:cs typeface="+mn-cs"/>
                        </a:rPr>
                        <a:t>T/F </a:t>
                      </a:r>
                      <a:r>
                        <a:rPr lang="zh-CN" altLang="en-US" sz="1600" kern="1200" dirty="0">
                          <a:solidFill>
                            <a:srgbClr val="595959"/>
                          </a:solidFill>
                          <a:latin typeface="微软雅黑" panose="020B0503020204020204" pitchFamily="34" charset="-122"/>
                          <a:ea typeface="微软雅黑" panose="020B0503020204020204" pitchFamily="34" charset="-122"/>
                          <a:cs typeface="+mn-cs"/>
                        </a:rPr>
                        <a:t>至少执行 </a:t>
                      </a:r>
                      <a:r>
                        <a:rPr lang="en-US" altLang="zh-CN" sz="1600" kern="1200" dirty="0">
                          <a:solidFill>
                            <a:srgbClr val="595959"/>
                          </a:solidFill>
                          <a:latin typeface="微软雅黑" panose="020B0503020204020204" pitchFamily="34" charset="-122"/>
                          <a:ea typeface="微软雅黑" panose="020B0503020204020204" pitchFamily="34" charset="-122"/>
                          <a:cs typeface="+mn-cs"/>
                        </a:rPr>
                        <a:t>1 </a:t>
                      </a:r>
                      <a:r>
                        <a:rPr lang="zh-CN" altLang="en-US" sz="1600" kern="1200" dirty="0">
                          <a:solidFill>
                            <a:srgbClr val="595959"/>
                          </a:solidFill>
                          <a:latin typeface="微软雅黑" panose="020B0503020204020204" pitchFamily="34" charset="-122"/>
                          <a:ea typeface="微软雅黑" panose="020B0503020204020204" pitchFamily="34" charset="-122"/>
                          <a:cs typeface="+mn-cs"/>
                        </a:rPr>
                        <a:t>次</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覆盖条件状态</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可能遗漏判定结果（如本例未覆盖 </a:t>
                      </a:r>
                      <a:r>
                        <a:rPr lang="en-US" altLang="zh-CN" sz="1600" kern="1200" dirty="0">
                          <a:solidFill>
                            <a:srgbClr val="595959"/>
                          </a:solidFill>
                          <a:latin typeface="微软雅黑" panose="020B0503020204020204" pitchFamily="34" charset="-122"/>
                          <a:ea typeface="微软雅黑" panose="020B0503020204020204" pitchFamily="34" charset="-122"/>
                          <a:cs typeface="+mn-cs"/>
                        </a:rPr>
                        <a:t>T</a:t>
                      </a:r>
                      <a:r>
                        <a:rPr lang="zh-CN" altLang="en-US" sz="1600" kern="1200" dirty="0">
                          <a:solidFill>
                            <a:srgbClr val="595959"/>
                          </a:solidFill>
                          <a:latin typeface="微软雅黑" panose="020B0503020204020204" pitchFamily="34" charset="-122"/>
                          <a:ea typeface="微软雅黑" panose="020B0503020204020204" pitchFamily="34" charset="-122"/>
                          <a:cs typeface="+mn-cs"/>
                        </a:rPr>
                        <a:t>）</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95882243"/>
                  </a:ext>
                </a:extLst>
              </a:tr>
              <a:tr h="421642">
                <a:tc>
                  <a:txBody>
                    <a:bodyPr/>
                    <a:lstStyle/>
                    <a:p>
                      <a:pPr algn="ct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判定 </a:t>
                      </a:r>
                      <a:r>
                        <a:rPr lang="en-US" altLang="zh-CN" sz="1600" kern="1200" dirty="0">
                          <a:solidFill>
                            <a:srgbClr val="595959"/>
                          </a:solidFill>
                          <a:latin typeface="微软雅黑" panose="020B0503020204020204" pitchFamily="34" charset="-122"/>
                          <a:ea typeface="微软雅黑" panose="020B0503020204020204" pitchFamily="34" charset="-122"/>
                          <a:cs typeface="+mn-cs"/>
                        </a:rPr>
                        <a:t>- </a:t>
                      </a:r>
                      <a:r>
                        <a:rPr lang="zh-CN" altLang="en-US" sz="1600" kern="1200" dirty="0">
                          <a:solidFill>
                            <a:srgbClr val="595959"/>
                          </a:solidFill>
                          <a:latin typeface="微软雅黑" panose="020B0503020204020204" pitchFamily="34" charset="-122"/>
                          <a:ea typeface="微软雅黑" panose="020B0503020204020204" pitchFamily="34" charset="-122"/>
                          <a:cs typeface="+mn-cs"/>
                        </a:rPr>
                        <a:t>条件覆盖</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同时覆盖判定 </a:t>
                      </a:r>
                      <a:r>
                        <a:rPr lang="en-US" sz="1600" kern="1200">
                          <a:solidFill>
                            <a:srgbClr val="595959"/>
                          </a:solidFill>
                          <a:latin typeface="微软雅黑" panose="020B0503020204020204" pitchFamily="34" charset="-122"/>
                          <a:ea typeface="微软雅黑" panose="020B0503020204020204" pitchFamily="34" charset="-122"/>
                          <a:cs typeface="+mn-cs"/>
                        </a:rPr>
                        <a:t>T/F </a:t>
                      </a:r>
                      <a:r>
                        <a:rPr lang="zh-CN" altLang="en-US" sz="1600" kern="1200">
                          <a:solidFill>
                            <a:srgbClr val="595959"/>
                          </a:solidFill>
                          <a:latin typeface="微软雅黑" panose="020B0503020204020204" pitchFamily="34" charset="-122"/>
                          <a:ea typeface="微软雅黑" panose="020B0503020204020204" pitchFamily="34" charset="-122"/>
                          <a:cs typeface="+mn-cs"/>
                        </a:rPr>
                        <a:t>和条件 </a:t>
                      </a:r>
                      <a:r>
                        <a:rPr lang="en-US" sz="1600" kern="1200">
                          <a:solidFill>
                            <a:srgbClr val="595959"/>
                          </a:solidFill>
                          <a:latin typeface="微软雅黑" panose="020B0503020204020204" pitchFamily="34" charset="-122"/>
                          <a:ea typeface="微软雅黑" panose="020B0503020204020204" pitchFamily="34" charset="-122"/>
                          <a:cs typeface="+mn-cs"/>
                        </a:rPr>
                        <a:t>T/F</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兼顾判定和条件</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未覆盖条件的所有组合</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14150326"/>
                  </a:ext>
                </a:extLst>
              </a:tr>
              <a:tr h="576037">
                <a:tc>
                  <a:txBody>
                    <a:bodyPr/>
                    <a:lstStyle/>
                    <a:p>
                      <a:pPr algn="ct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条件组合覆盖</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所有条件的真假组合至少执行 </a:t>
                      </a:r>
                      <a:r>
                        <a:rPr lang="en-US" altLang="zh-CN" sz="1600" kern="1200" dirty="0">
                          <a:solidFill>
                            <a:srgbClr val="595959"/>
                          </a:solidFill>
                          <a:latin typeface="微软雅黑" panose="020B0503020204020204" pitchFamily="34" charset="-122"/>
                          <a:ea typeface="微软雅黑" panose="020B0503020204020204" pitchFamily="34" charset="-122"/>
                          <a:cs typeface="+mn-cs"/>
                        </a:rPr>
                        <a:t>1 </a:t>
                      </a:r>
                      <a:r>
                        <a:rPr lang="zh-CN" altLang="en-US" sz="1600" kern="1200" dirty="0">
                          <a:solidFill>
                            <a:srgbClr val="595959"/>
                          </a:solidFill>
                          <a:latin typeface="微软雅黑" panose="020B0503020204020204" pitchFamily="34" charset="-122"/>
                          <a:ea typeface="微软雅黑" panose="020B0503020204020204" pitchFamily="34" charset="-122"/>
                          <a:cs typeface="+mn-cs"/>
                        </a:rPr>
                        <a:t>次</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覆盖最全面，漏洞最少</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ts val="2100"/>
                        </a:lnSpc>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用例数多（</a:t>
                      </a:r>
                      <a:r>
                        <a:rPr lang="en-US" altLang="zh-CN" sz="1600" kern="1200" dirty="0">
                          <a:solidFill>
                            <a:srgbClr val="595959"/>
                          </a:solidFill>
                          <a:latin typeface="微软雅黑" panose="020B0503020204020204" pitchFamily="34" charset="-122"/>
                          <a:ea typeface="微软雅黑" panose="020B0503020204020204" pitchFamily="34" charset="-122"/>
                          <a:cs typeface="+mn-cs"/>
                        </a:rPr>
                        <a:t>2ⁿ</a:t>
                      </a:r>
                      <a:r>
                        <a:rPr lang="zh-CN" altLang="en-US" sz="1600" kern="1200" dirty="0">
                          <a:solidFill>
                            <a:srgbClr val="595959"/>
                          </a:solidFill>
                          <a:latin typeface="微软雅黑" panose="020B0503020204020204" pitchFamily="34" charset="-122"/>
                          <a:ea typeface="微软雅黑" panose="020B0503020204020204" pitchFamily="34" charset="-122"/>
                          <a:cs typeface="+mn-cs"/>
                        </a:rPr>
                        <a:t>），测试成本高</a:t>
                      </a:r>
                    </a:p>
                  </a:txBody>
                  <a:tcPr marL="120112" marR="120112" marT="80075" marB="800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11264018"/>
                  </a:ext>
                </a:extLst>
              </a:tr>
            </a:tbl>
          </a:graphicData>
        </a:graphic>
      </p:graphicFrame>
    </p:spTree>
    <p:extLst>
      <p:ext uri="{BB962C8B-B14F-4D97-AF65-F5344CB8AC3E}">
        <p14:creationId xmlns:p14="http://schemas.microsoft.com/office/powerpoint/2010/main" val="13563907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程序插桩</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3.3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了解目标代码插桩法的原理，能够描述</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目标代码插桩法的3种执行模式</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3.3.1	目标代码插桩</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559560"/>
            <a:ext cx="6289675" cy="3860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目标代码插桩</a:t>
            </a:r>
            <a:r>
              <a:rPr lang="zh-CN" altLang="en-US" sz="1800" dirty="0">
                <a:solidFill>
                  <a:srgbClr val="595959"/>
                </a:solidFill>
                <a:latin typeface="微软雅黑" panose="020B0503020204020204" pitchFamily="34" charset="-122"/>
                <a:ea typeface="微软雅黑" panose="020B0503020204020204" pitchFamily="34" charset="-122"/>
              </a:rPr>
              <a:t>是指</a:t>
            </a:r>
            <a:r>
              <a:rPr lang="zh-CN" altLang="en-US" sz="1800" dirty="0">
                <a:solidFill>
                  <a:srgbClr val="0070C0"/>
                </a:solidFill>
                <a:latin typeface="微软雅黑" panose="020B0503020204020204" pitchFamily="34" charset="-122"/>
                <a:ea typeface="微软雅黑" panose="020B0503020204020204" pitchFamily="34" charset="-122"/>
              </a:rPr>
              <a:t>向目标代码（即二进制代码）插入测试代码</a:t>
            </a:r>
            <a:r>
              <a:rPr lang="zh-CN" altLang="en-US" sz="1800" dirty="0">
                <a:solidFill>
                  <a:srgbClr val="595959"/>
                </a:solidFill>
                <a:latin typeface="微软雅黑" panose="020B0503020204020204" pitchFamily="34" charset="-122"/>
                <a:ea typeface="微软雅黑" panose="020B0503020204020204" pitchFamily="34" charset="-122"/>
              </a:rPr>
              <a:t>，以</a:t>
            </a:r>
            <a:r>
              <a:rPr lang="zh-CN" altLang="en-US" sz="1800" dirty="0">
                <a:solidFill>
                  <a:srgbClr val="0070C0"/>
                </a:solidFill>
                <a:latin typeface="微软雅黑" panose="020B0503020204020204" pitchFamily="34" charset="-122"/>
                <a:ea typeface="微软雅黑" panose="020B0503020204020204" pitchFamily="34" charset="-122"/>
              </a:rPr>
              <a:t>获取</a:t>
            </a:r>
            <a:r>
              <a:rPr lang="zh-CN" altLang="en-US" sz="1800" dirty="0">
                <a:solidFill>
                  <a:srgbClr val="595959"/>
                </a:solidFill>
                <a:latin typeface="微软雅黑" panose="020B0503020204020204" pitchFamily="34" charset="-122"/>
                <a:ea typeface="微软雅黑" panose="020B0503020204020204" pitchFamily="34" charset="-122"/>
              </a:rPr>
              <a:t>程序</a:t>
            </a:r>
            <a:r>
              <a:rPr lang="zh-CN" altLang="en-US" sz="1800" dirty="0">
                <a:solidFill>
                  <a:srgbClr val="0070C0"/>
                </a:solidFill>
                <a:latin typeface="微软雅黑" panose="020B0503020204020204" pitchFamily="34" charset="-122"/>
                <a:ea typeface="微软雅黑" panose="020B0503020204020204" pitchFamily="34" charset="-122"/>
              </a:rPr>
              <a:t>运行信息</a:t>
            </a:r>
            <a:r>
              <a:rPr lang="zh-CN" altLang="en-US" sz="1800" dirty="0">
                <a:solidFill>
                  <a:srgbClr val="595959"/>
                </a:solidFill>
                <a:latin typeface="微软雅黑" panose="020B0503020204020204" pitchFamily="34" charset="-122"/>
                <a:ea typeface="微软雅黑" panose="020B0503020204020204" pitchFamily="34" charset="-122"/>
              </a:rPr>
              <a:t>的测试方法，也称为</a:t>
            </a:r>
            <a:r>
              <a:rPr lang="zh-CN" altLang="en-US" sz="1800" dirty="0">
                <a:solidFill>
                  <a:srgbClr val="0070C0"/>
                </a:solidFill>
                <a:latin typeface="微软雅黑" panose="020B0503020204020204" pitchFamily="34" charset="-122"/>
                <a:ea typeface="微软雅黑" panose="020B0503020204020204" pitchFamily="34" charset="-122"/>
              </a:rPr>
              <a:t>动态程序分析方法</a:t>
            </a:r>
            <a:r>
              <a:rPr lang="zh-CN" altLang="en-US" sz="1800" dirty="0">
                <a:solidFill>
                  <a:srgbClr val="595959"/>
                </a:solidFill>
                <a:latin typeface="微软雅黑" panose="020B0503020204020204" pitchFamily="34" charset="-122"/>
                <a:ea typeface="微软雅黑" panose="020B0503020204020204" pitchFamily="34" charset="-122"/>
              </a:rPr>
              <a:t>。在进行目标代码插桩之前，测试人员要对目标代码的逻辑结构进行分析，从而确认需要插桩的位置。</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目标代码插桩对程序运行时的</a:t>
            </a:r>
            <a:r>
              <a:rPr lang="zh-CN" altLang="en-US" sz="1800" dirty="0">
                <a:solidFill>
                  <a:srgbClr val="0070C0"/>
                </a:solidFill>
                <a:latin typeface="微软雅黑" panose="020B0503020204020204" pitchFamily="34" charset="-122"/>
                <a:ea typeface="微软雅黑" panose="020B0503020204020204" pitchFamily="34" charset="-122"/>
              </a:rPr>
              <a:t>内存监控</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指令跟踪</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错误检测等有着重要意义</a:t>
            </a:r>
            <a:r>
              <a:rPr lang="zh-CN" altLang="en-US" sz="1800" dirty="0">
                <a:solidFill>
                  <a:srgbClr val="595959"/>
                </a:solidFill>
                <a:latin typeface="微软雅黑" panose="020B0503020204020204" pitchFamily="34" charset="-122"/>
                <a:ea typeface="微软雅黑" panose="020B0503020204020204" pitchFamily="34" charset="-122"/>
              </a:rPr>
              <a:t>。相比于逻辑覆盖法，目标代码插桩在测试过程中</a:t>
            </a:r>
            <a:r>
              <a:rPr lang="zh-CN" altLang="en-US" sz="1800" dirty="0">
                <a:solidFill>
                  <a:srgbClr val="0070C0"/>
                </a:solidFill>
                <a:latin typeface="微软雅黑" panose="020B0503020204020204" pitchFamily="34" charset="-122"/>
                <a:ea typeface="微软雅黑" panose="020B0503020204020204" pitchFamily="34" charset="-122"/>
              </a:rPr>
              <a:t>不需要重新编译代码或链接程序</a:t>
            </a:r>
            <a:r>
              <a:rPr lang="zh-CN" altLang="en-US" sz="1800" dirty="0">
                <a:solidFill>
                  <a:srgbClr val="595959"/>
                </a:solidFill>
                <a:latin typeface="微软雅黑" panose="020B0503020204020204" pitchFamily="34" charset="-122"/>
                <a:ea typeface="微软雅黑" panose="020B0503020204020204" pitchFamily="34" charset="-122"/>
              </a:rPr>
              <a:t>，并且目标</a:t>
            </a:r>
            <a:r>
              <a:rPr lang="zh-CN" altLang="en-US" sz="1800" dirty="0">
                <a:solidFill>
                  <a:srgbClr val="0070C0"/>
                </a:solidFill>
                <a:latin typeface="微软雅黑" panose="020B0503020204020204" pitchFamily="34" charset="-122"/>
                <a:ea typeface="微软雅黑" panose="020B0503020204020204" pitchFamily="34" charset="-122"/>
              </a:rPr>
              <a:t>代码的格式与具体的编程语言无关</a:t>
            </a:r>
            <a:r>
              <a:rPr lang="zh-CN" altLang="en-US" sz="1800" dirty="0">
                <a:solidFill>
                  <a:srgbClr val="595959"/>
                </a:solidFill>
                <a:latin typeface="微软雅黑" panose="020B0503020204020204" pitchFamily="34" charset="-122"/>
                <a:ea typeface="微软雅黑" panose="020B0503020204020204" pitchFamily="34" charset="-122"/>
              </a:rPr>
              <a:t>，主要与操作系统相关，因此目标代码插桩被广泛使用。</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3.3.1	目标代码插桩</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3.3.1	目标代码插桩原理</a:t>
            </a:r>
          </a:p>
        </p:txBody>
      </p:sp>
      <p:sp>
        <p:nvSpPr>
          <p:cNvPr id="2" name="TextBox 35"/>
          <p:cNvSpPr txBox="1">
            <a:spLocks noChangeArrowheads="1"/>
          </p:cNvSpPr>
          <p:nvPr/>
        </p:nvSpPr>
        <p:spPr bwMode="auto">
          <a:xfrm>
            <a:off x="1134845" y="981794"/>
            <a:ext cx="9055515" cy="510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457200" indent="-457200" algn="just">
              <a:lnSpc>
                <a:spcPct val="150000"/>
              </a:lnSpc>
              <a:buClrTx/>
              <a:buSzTx/>
              <a:buFontTx/>
              <a:buAutoNum type="arabicPeriod"/>
            </a:pPr>
            <a:r>
              <a:rPr lang="zh-CN" altLang="en-US" sz="2000" b="1" dirty="0">
                <a:solidFill>
                  <a:srgbClr val="595959"/>
                </a:solidFill>
                <a:latin typeface="微软雅黑" panose="020B0503020204020204" pitchFamily="34" charset="-122"/>
                <a:ea typeface="微软雅黑" panose="020B0503020204020204" pitchFamily="34" charset="-122"/>
              </a:rPr>
              <a:t>目标代码插桩的原理</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目标代码插桩法的原理是在不改变目标程序</a:t>
            </a:r>
            <a:r>
              <a:rPr lang="zh-CN" altLang="en-US" sz="1800" dirty="0">
                <a:solidFill>
                  <a:srgbClr val="0070C0"/>
                </a:solidFill>
                <a:latin typeface="微软雅黑" panose="020B0503020204020204" pitchFamily="34" charset="-122"/>
                <a:ea typeface="微软雅黑" panose="020B0503020204020204" pitchFamily="34" charset="-122"/>
              </a:rPr>
              <a:t>原有逻辑功能</a:t>
            </a:r>
            <a:r>
              <a:rPr lang="zh-CN" altLang="en-US" sz="1800" dirty="0">
                <a:solidFill>
                  <a:srgbClr val="595959"/>
                </a:solidFill>
                <a:latin typeface="微软雅黑" panose="020B0503020204020204" pitchFamily="34" charset="-122"/>
                <a:ea typeface="微软雅黑" panose="020B0503020204020204" pitchFamily="34" charset="-122"/>
              </a:rPr>
              <a:t>的基础上，通过向目标代码（二进制代码）中插入特定的</a:t>
            </a:r>
            <a:r>
              <a:rPr lang="zh-CN" altLang="en-US" sz="1800" dirty="0">
                <a:solidFill>
                  <a:srgbClr val="0070C0"/>
                </a:solidFill>
                <a:latin typeface="微软雅黑" panose="020B0503020204020204" pitchFamily="34" charset="-122"/>
                <a:ea typeface="微软雅黑" panose="020B0503020204020204" pitchFamily="34" charset="-122"/>
              </a:rPr>
              <a:t>测试代码</a:t>
            </a:r>
            <a:r>
              <a:rPr lang="zh-CN" altLang="en-US" sz="1800" dirty="0">
                <a:solidFill>
                  <a:srgbClr val="595959"/>
                </a:solidFill>
                <a:latin typeface="微软雅黑" panose="020B0503020204020204" pitchFamily="34" charset="-122"/>
                <a:ea typeface="微软雅黑" panose="020B0503020204020204" pitchFamily="34" charset="-122"/>
              </a:rPr>
              <a:t>（桩代码），获取</a:t>
            </a:r>
            <a:r>
              <a:rPr lang="zh-CN" altLang="en-US" sz="1800" dirty="0">
                <a:solidFill>
                  <a:srgbClr val="0070C0"/>
                </a:solidFill>
                <a:latin typeface="微软雅黑" panose="020B0503020204020204" pitchFamily="34" charset="-122"/>
                <a:ea typeface="微软雅黑" panose="020B0503020204020204" pitchFamily="34" charset="-122"/>
              </a:rPr>
              <a:t>程序运行时的各种信息</a:t>
            </a:r>
            <a:r>
              <a:rPr lang="zh-CN" altLang="en-US" sz="1800" dirty="0">
                <a:solidFill>
                  <a:srgbClr val="595959"/>
                </a:solidFill>
                <a:latin typeface="微软雅黑" panose="020B0503020204020204" pitchFamily="34" charset="-122"/>
                <a:ea typeface="微软雅黑" panose="020B0503020204020204" pitchFamily="34" charset="-122"/>
              </a:rPr>
              <a:t>，从而实现对程序的</a:t>
            </a:r>
            <a:r>
              <a:rPr lang="zh-CN" altLang="en-US" sz="1800" dirty="0">
                <a:solidFill>
                  <a:srgbClr val="0070C0"/>
                </a:solidFill>
                <a:latin typeface="微软雅黑" panose="020B0503020204020204" pitchFamily="34" charset="-122"/>
                <a:ea typeface="微软雅黑" panose="020B0503020204020204" pitchFamily="34" charset="-122"/>
              </a:rPr>
              <a:t>分析与测试。具体如下：</a:t>
            </a:r>
            <a:endParaRPr lang="en-US" altLang="zh-CN" sz="1800" dirty="0">
              <a:solidFill>
                <a:srgbClr val="0070C0"/>
              </a:solidFill>
              <a:latin typeface="微软雅黑" panose="020B0503020204020204" pitchFamily="34" charset="-122"/>
              <a:ea typeface="微软雅黑" panose="020B0503020204020204" pitchFamily="34" charset="-122"/>
            </a:endParaRPr>
          </a:p>
          <a:p>
            <a:pPr indent="457200" algn="just">
              <a:lnSpc>
                <a:spcPct val="150000"/>
              </a:lnSpc>
              <a:buClrTx/>
              <a:buSzTx/>
              <a:buFontTx/>
            </a:pPr>
            <a:endParaRPr lang="en-US" altLang="zh-CN" sz="1800" dirty="0">
              <a:solidFill>
                <a:srgbClr val="0070C0"/>
              </a:solidFill>
              <a:latin typeface="微软雅黑" panose="020B0503020204020204" pitchFamily="34" charset="-122"/>
              <a:ea typeface="微软雅黑" panose="020B0503020204020204" pitchFamily="34" charset="-122"/>
            </a:endParaRP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1</a:t>
            </a:r>
            <a:r>
              <a:rPr lang="zh-CN" altLang="en-US" sz="1800" dirty="0">
                <a:solidFill>
                  <a:srgbClr val="595959"/>
                </a:solidFill>
                <a:latin typeface="微软雅黑" panose="020B0503020204020204" pitchFamily="34" charset="-122"/>
                <a:ea typeface="微软雅黑" panose="020B0503020204020204" pitchFamily="34" charset="-122"/>
              </a:rPr>
              <a:t>）插桩位置确定</a:t>
            </a:r>
            <a:endParaRPr lang="en-US" altLang="zh-CN" sz="18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在插桩之前，测试人员或分析工具会对目标代码进行</a:t>
            </a:r>
            <a:r>
              <a:rPr lang="zh-CN" altLang="en-US" sz="1800" dirty="0">
                <a:solidFill>
                  <a:srgbClr val="0070C0"/>
                </a:solidFill>
                <a:latin typeface="微软雅黑" panose="020B0503020204020204" pitchFamily="34" charset="-122"/>
                <a:ea typeface="微软雅黑" panose="020B0503020204020204" pitchFamily="34" charset="-122"/>
              </a:rPr>
              <a:t>静态分析</a:t>
            </a:r>
            <a:r>
              <a:rPr lang="zh-CN" altLang="en-US" sz="1800" dirty="0">
                <a:solidFill>
                  <a:srgbClr val="595959"/>
                </a:solidFill>
                <a:latin typeface="微软雅黑" panose="020B0503020204020204" pitchFamily="34" charset="-122"/>
                <a:ea typeface="微软雅黑" panose="020B0503020204020204" pitchFamily="34" charset="-122"/>
              </a:rPr>
              <a:t>。包括解析目标代码的结构，比如函数调用关系、控制流（如循环、分支语句）和数据流（变量的赋值、传递等）。通过这些分析，确定哪些位置插入桩代码能够获取到有价值的信息。根据</a:t>
            </a:r>
            <a:r>
              <a:rPr lang="zh-CN" altLang="en-US" sz="1800" dirty="0">
                <a:solidFill>
                  <a:srgbClr val="0070C0"/>
                </a:solidFill>
                <a:latin typeface="微软雅黑" panose="020B0503020204020204" pitchFamily="34" charset="-122"/>
                <a:ea typeface="微软雅黑" panose="020B0503020204020204" pitchFamily="34" charset="-122"/>
              </a:rPr>
              <a:t>不同的测试目的，选择不同的插桩位置</a:t>
            </a:r>
            <a:r>
              <a:rPr lang="zh-CN" altLang="en-US" sz="1800" dirty="0">
                <a:solidFill>
                  <a:srgbClr val="595959"/>
                </a:solidFill>
                <a:latin typeface="微软雅黑" panose="020B0503020204020204" pitchFamily="34" charset="-122"/>
                <a:ea typeface="微软雅黑" panose="020B0503020204020204" pitchFamily="34" charset="-122"/>
              </a:rPr>
              <a:t>。如果要进行性能测试，可能会在关键函数、循环体等性能瓶颈可能出现的地方插桩；若要进行逻辑正确性测试，则会在条件判断语句、分支跳转语句处插桩，以检查程序是否按照预期的逻辑执行。</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1D25D-EE86-88FA-03BA-3C28B9A419AE}"/>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AD52196C-F190-1B85-B9E1-CCF3E6F8B60C}"/>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3.3.1	目标代码插桩原理</a:t>
            </a:r>
          </a:p>
        </p:txBody>
      </p:sp>
      <p:sp>
        <p:nvSpPr>
          <p:cNvPr id="2" name="TextBox 35">
            <a:extLst>
              <a:ext uri="{FF2B5EF4-FFF2-40B4-BE49-F238E27FC236}">
                <a16:creationId xmlns:a16="http://schemas.microsoft.com/office/drawing/2014/main" id="{C5598572-22FF-A06A-6375-A762CDC9B9C2}"/>
              </a:ext>
            </a:extLst>
          </p:cNvPr>
          <p:cNvSpPr txBox="1">
            <a:spLocks noChangeArrowheads="1"/>
          </p:cNvSpPr>
          <p:nvPr/>
        </p:nvSpPr>
        <p:spPr bwMode="auto">
          <a:xfrm>
            <a:off x="1134845" y="981794"/>
            <a:ext cx="9055515" cy="215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）桩代码插入</a:t>
            </a:r>
            <a:endParaRPr lang="en-US" altLang="zh-CN" sz="18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对于</a:t>
            </a:r>
            <a:r>
              <a:rPr lang="zh-CN" altLang="en-US" sz="1800" dirty="0">
                <a:solidFill>
                  <a:srgbClr val="0070C0"/>
                </a:solidFill>
                <a:latin typeface="微软雅黑" panose="020B0503020204020204" pitchFamily="34" charset="-122"/>
                <a:ea typeface="微软雅黑" panose="020B0503020204020204" pitchFamily="34" charset="-122"/>
              </a:rPr>
              <a:t>二进制形式</a:t>
            </a:r>
            <a:r>
              <a:rPr lang="zh-CN" altLang="en-US" sz="1800" dirty="0">
                <a:solidFill>
                  <a:srgbClr val="595959"/>
                </a:solidFill>
                <a:latin typeface="微软雅黑" panose="020B0503020204020204" pitchFamily="34" charset="-122"/>
                <a:ea typeface="微软雅黑" panose="020B0503020204020204" pitchFamily="34" charset="-122"/>
              </a:rPr>
              <a:t>的目标代码，需要借助</a:t>
            </a:r>
            <a:r>
              <a:rPr lang="zh-CN" altLang="en-US" sz="1800" dirty="0">
                <a:solidFill>
                  <a:srgbClr val="0070C0"/>
                </a:solidFill>
                <a:latin typeface="微软雅黑" panose="020B0503020204020204" pitchFamily="34" charset="-122"/>
                <a:ea typeface="微软雅黑" panose="020B0503020204020204" pitchFamily="34" charset="-122"/>
              </a:rPr>
              <a:t>专门的二进制编辑工具或插桩工具</a:t>
            </a:r>
            <a:r>
              <a:rPr lang="zh-CN" altLang="en-US" sz="1800" dirty="0">
                <a:solidFill>
                  <a:srgbClr val="595959"/>
                </a:solidFill>
                <a:latin typeface="微软雅黑" panose="020B0503020204020204" pitchFamily="34" charset="-122"/>
                <a:ea typeface="微软雅黑" panose="020B0503020204020204" pitchFamily="34" charset="-122"/>
              </a:rPr>
              <a:t>，在确定的插桩位置直接修改目标代码，将桩代码插入进去。如果是</a:t>
            </a:r>
            <a:r>
              <a:rPr lang="zh-CN" altLang="en-US" sz="1800" dirty="0">
                <a:solidFill>
                  <a:srgbClr val="0070C0"/>
                </a:solidFill>
                <a:latin typeface="微软雅黑" panose="020B0503020204020204" pitchFamily="34" charset="-122"/>
                <a:ea typeface="微软雅黑" panose="020B0503020204020204" pitchFamily="34" charset="-122"/>
              </a:rPr>
              <a:t>高级语言编写的源程序</a:t>
            </a:r>
            <a:r>
              <a:rPr lang="zh-CN" altLang="en-US" sz="1800" dirty="0">
                <a:solidFill>
                  <a:srgbClr val="595959"/>
                </a:solidFill>
                <a:latin typeface="微软雅黑" panose="020B0503020204020204" pitchFamily="34" charset="-122"/>
                <a:ea typeface="微软雅黑" panose="020B0503020204020204" pitchFamily="34" charset="-122"/>
              </a:rPr>
              <a:t>，一些插桩工具可以</a:t>
            </a:r>
            <a:r>
              <a:rPr lang="zh-CN" altLang="en-US" sz="1800" dirty="0">
                <a:solidFill>
                  <a:srgbClr val="0070C0"/>
                </a:solidFill>
                <a:latin typeface="微软雅黑" panose="020B0503020204020204" pitchFamily="34" charset="-122"/>
                <a:ea typeface="微软雅黑" panose="020B0503020204020204" pitchFamily="34" charset="-122"/>
              </a:rPr>
              <a:t>在编译阶段介入</a:t>
            </a:r>
            <a:r>
              <a:rPr lang="zh-CN" altLang="en-US" sz="1800" dirty="0">
                <a:solidFill>
                  <a:srgbClr val="595959"/>
                </a:solidFill>
                <a:latin typeface="微软雅黑" panose="020B0503020204020204" pitchFamily="34" charset="-122"/>
                <a:ea typeface="微软雅黑" panose="020B0503020204020204" pitchFamily="34" charset="-122"/>
              </a:rPr>
              <a:t>，在源程序被编译成目标代码的过程中，按照插桩规则将桩代码插入到合适的位置。</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3" name="TextBox 35">
            <a:extLst>
              <a:ext uri="{FF2B5EF4-FFF2-40B4-BE49-F238E27FC236}">
                <a16:creationId xmlns:a16="http://schemas.microsoft.com/office/drawing/2014/main" id="{553E9ED0-0C5B-4E2D-E92A-5F73D9D93BBD}"/>
              </a:ext>
            </a:extLst>
          </p:cNvPr>
          <p:cNvSpPr txBox="1">
            <a:spLocks noChangeArrowheads="1"/>
          </p:cNvSpPr>
          <p:nvPr/>
        </p:nvSpPr>
        <p:spPr bwMode="auto">
          <a:xfrm>
            <a:off x="1143691" y="3645794"/>
            <a:ext cx="9055515" cy="256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3</a:t>
            </a:r>
            <a:r>
              <a:rPr lang="zh-CN" altLang="en-US" sz="1800" dirty="0">
                <a:solidFill>
                  <a:srgbClr val="595959"/>
                </a:solidFill>
                <a:latin typeface="微软雅黑" panose="020B0503020204020204" pitchFamily="34" charset="-122"/>
                <a:ea typeface="微软雅黑" panose="020B0503020204020204" pitchFamily="34" charset="-122"/>
              </a:rPr>
              <a:t>）桩代码执行与信息获取</a:t>
            </a:r>
            <a:endParaRPr lang="en-US" altLang="zh-CN" sz="18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当插入桩代码的目标程序运行时，一旦执行到插桩位置，桩代码就会被</a:t>
            </a:r>
            <a:r>
              <a:rPr lang="zh-CN" altLang="en-US" sz="1800" dirty="0">
                <a:solidFill>
                  <a:srgbClr val="0070C0"/>
                </a:solidFill>
                <a:latin typeface="微软雅黑" panose="020B0503020204020204" pitchFamily="34" charset="-122"/>
                <a:ea typeface="微软雅黑" panose="020B0503020204020204" pitchFamily="34" charset="-122"/>
              </a:rPr>
              <a:t>触发执行</a:t>
            </a:r>
            <a:r>
              <a:rPr lang="zh-CN" altLang="en-US" sz="1800" dirty="0">
                <a:solidFill>
                  <a:srgbClr val="595959"/>
                </a:solidFill>
                <a:latin typeface="微软雅黑" panose="020B0503020204020204" pitchFamily="34" charset="-122"/>
                <a:ea typeface="微软雅黑" panose="020B0503020204020204" pitchFamily="34" charset="-122"/>
              </a:rPr>
              <a:t>。桩代码可以</a:t>
            </a:r>
            <a:r>
              <a:rPr lang="zh-CN" altLang="en-US" sz="1800" dirty="0">
                <a:solidFill>
                  <a:srgbClr val="0070C0"/>
                </a:solidFill>
                <a:latin typeface="微软雅黑" panose="020B0503020204020204" pitchFamily="34" charset="-122"/>
                <a:ea typeface="微软雅黑" panose="020B0503020204020204" pitchFamily="34" charset="-122"/>
              </a:rPr>
              <a:t>实现各种功能</a:t>
            </a:r>
            <a:r>
              <a:rPr lang="zh-CN" altLang="en-US" sz="1800" dirty="0">
                <a:solidFill>
                  <a:srgbClr val="595959"/>
                </a:solidFill>
                <a:latin typeface="微软雅黑" panose="020B0503020204020204" pitchFamily="34" charset="-122"/>
                <a:ea typeface="微软雅黑" panose="020B0503020204020204" pitchFamily="34" charset="-122"/>
              </a:rPr>
              <a:t>，比如记录当前程序的执行状态（如变量的值、程序计数器的值等）。桩代码执行后获取到的信息，会按照预先设定的方式进行处理。有些桩代码会</a:t>
            </a:r>
            <a:r>
              <a:rPr lang="zh-CN" altLang="en-US" sz="1800" dirty="0">
                <a:solidFill>
                  <a:srgbClr val="0070C0"/>
                </a:solidFill>
                <a:latin typeface="微软雅黑" panose="020B0503020204020204" pitchFamily="34" charset="-122"/>
                <a:ea typeface="微软雅黑" panose="020B0503020204020204" pitchFamily="34" charset="-122"/>
              </a:rPr>
              <a:t>将信息直接打印输出</a:t>
            </a:r>
            <a:r>
              <a:rPr lang="zh-CN" altLang="en-US" sz="1800" dirty="0">
                <a:solidFill>
                  <a:srgbClr val="595959"/>
                </a:solidFill>
                <a:latin typeface="微软雅黑" panose="020B0503020204020204" pitchFamily="34" charset="-122"/>
                <a:ea typeface="微软雅黑" panose="020B0503020204020204" pitchFamily="34" charset="-122"/>
              </a:rPr>
              <a:t>，方便开发人员或测试人员查看；有些则会将信息</a:t>
            </a:r>
            <a:r>
              <a:rPr lang="zh-CN" altLang="en-US" sz="1800" dirty="0">
                <a:solidFill>
                  <a:srgbClr val="0070C0"/>
                </a:solidFill>
                <a:latin typeface="微软雅黑" panose="020B0503020204020204" pitchFamily="34" charset="-122"/>
                <a:ea typeface="微软雅黑" panose="020B0503020204020204" pitchFamily="34" charset="-122"/>
              </a:rPr>
              <a:t>存储到特定的数据结构</a:t>
            </a:r>
            <a:r>
              <a:rPr lang="zh-CN" altLang="en-US" sz="1800" dirty="0">
                <a:solidFill>
                  <a:srgbClr val="595959"/>
                </a:solidFill>
                <a:latin typeface="微软雅黑" panose="020B0503020204020204" pitchFamily="34" charset="-122"/>
                <a:ea typeface="微软雅黑" panose="020B0503020204020204" pitchFamily="34" charset="-122"/>
              </a:rPr>
              <a:t>（如日志文件、内存缓冲区等）中，供后续进一步分析。</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97325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3.3.1	目标代码插桩</a:t>
            </a:r>
          </a:p>
        </p:txBody>
      </p:sp>
      <p:sp>
        <p:nvSpPr>
          <p:cNvPr id="2" name="TextBox 35"/>
          <p:cNvSpPr txBox="1">
            <a:spLocks noChangeArrowheads="1"/>
          </p:cNvSpPr>
          <p:nvPr/>
        </p:nvSpPr>
        <p:spPr bwMode="auto">
          <a:xfrm>
            <a:off x="1191895" y="981075"/>
            <a:ext cx="9805670" cy="1000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2.</a:t>
            </a:r>
            <a:r>
              <a:rPr lang="en-US" altLang="zh-CN" sz="2000" b="1" dirty="0">
                <a:solidFill>
                  <a:srgbClr val="595959"/>
                </a:solidFill>
                <a:latin typeface="微软雅黑" panose="020B0503020204020204" pitchFamily="34" charset="-122"/>
                <a:ea typeface="微软雅黑" panose="020B0503020204020204" pitchFamily="34" charset="-122"/>
              </a:rPr>
              <a:t> </a:t>
            </a:r>
            <a:r>
              <a:rPr lang="zh-CN" altLang="en-US" sz="2000" b="1" dirty="0">
                <a:solidFill>
                  <a:srgbClr val="595959"/>
                </a:solidFill>
                <a:latin typeface="微软雅黑" panose="020B0503020204020204" pitchFamily="34" charset="-122"/>
                <a:ea typeface="微软雅黑" panose="020B0503020204020204" pitchFamily="34" charset="-122"/>
              </a:rPr>
              <a:t>目标代码插桩的两种方式</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由于目标代码是可执行的二进制代码，所以目标代码的插桩可分为</a:t>
            </a:r>
            <a:r>
              <a:rPr lang="zh-CN" altLang="en-US" sz="1800" dirty="0">
                <a:solidFill>
                  <a:srgbClr val="0070C0"/>
                </a:solidFill>
                <a:latin typeface="微软雅黑" panose="020B0503020204020204" pitchFamily="34" charset="-122"/>
                <a:ea typeface="微软雅黑" panose="020B0503020204020204" pitchFamily="34" charset="-122"/>
              </a:rPr>
              <a:t>两种方式</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10" name="TextBox 13"/>
          <p:cNvSpPr txBox="1">
            <a:spLocks noChangeArrowheads="1"/>
          </p:cNvSpPr>
          <p:nvPr/>
        </p:nvSpPr>
        <p:spPr bwMode="auto">
          <a:xfrm>
            <a:off x="1445895" y="1942888"/>
            <a:ext cx="2077085" cy="2206906"/>
          </a:xfrm>
          <a:prstGeom prst="rect">
            <a:avLst/>
          </a:prstGeom>
          <a:gradFill rotWithShape="0">
            <a:gsLst>
              <a:gs pos="0">
                <a:srgbClr val="00B0F0"/>
              </a:gs>
              <a:gs pos="50000">
                <a:srgbClr val="00B0F0"/>
              </a:gs>
              <a:gs pos="100000">
                <a:srgbClr val="9FD8FF"/>
              </a:gs>
            </a:gsLst>
            <a:lin ang="540000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nchorCtr="0">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b="1" dirty="0">
                <a:solidFill>
                  <a:schemeClr val="bg1"/>
                </a:solidFill>
                <a:latin typeface="微软雅黑" panose="020B0503020204020204" pitchFamily="34" charset="-122"/>
                <a:ea typeface="微软雅黑" panose="020B0503020204020204" pitchFamily="34" charset="-122"/>
              </a:rPr>
              <a:t>静态插桩</a:t>
            </a:r>
            <a:endParaRPr lang="zh-CN" altLang="en-US" sz="2400" b="1" dirty="0">
              <a:solidFill>
                <a:schemeClr val="bg1"/>
              </a:solidFill>
              <a:latin typeface="微软雅黑" panose="020B0503020204020204" pitchFamily="34" charset="-122"/>
              <a:ea typeface="微软雅黑" panose="020B0503020204020204" pitchFamily="34" charset="-122"/>
            </a:endParaRPr>
          </a:p>
          <a:p>
            <a:pPr algn="ct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1" name="折角形 10"/>
          <p:cNvSpPr/>
          <p:nvPr/>
        </p:nvSpPr>
        <p:spPr bwMode="auto">
          <a:xfrm>
            <a:off x="3523994" y="1942888"/>
            <a:ext cx="7368540" cy="2206906"/>
          </a:xfrm>
          <a:prstGeom prst="foldedCorner">
            <a:avLst/>
          </a:prstGeom>
          <a:solidFill>
            <a:schemeClr val="accent1">
              <a:lumMod val="40000"/>
              <a:lumOff val="6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0"/>
          <a:lstStyle/>
          <a:p>
            <a:pPr>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在目标代码尚未运行之前，借助特定的工具或技术，对目标代码（可执行的二进制代码 ）进行分析，确定需要插入测试代码（桩代码）的位置，然后将桩代码按照从头到尾的顺序插入到目标代码中，完成插桩后再去执行程序。这种方式适用于需要实现</a:t>
            </a:r>
            <a:r>
              <a:rPr lang="zh-CN" altLang="en-US" sz="1800" dirty="0">
                <a:solidFill>
                  <a:srgbClr val="0070C0"/>
                </a:solidFill>
                <a:latin typeface="微软雅黑" panose="020B0503020204020204" pitchFamily="34" charset="-122"/>
                <a:ea typeface="微软雅黑" panose="020B0503020204020204" pitchFamily="34" charset="-122"/>
              </a:rPr>
              <a:t>完整系统或仿真</a:t>
            </a:r>
            <a:r>
              <a:rPr lang="zh-CN" altLang="en-US" sz="1800" dirty="0">
                <a:solidFill>
                  <a:srgbClr val="595959"/>
                </a:solidFill>
                <a:latin typeface="微软雅黑" panose="020B0503020204020204" pitchFamily="34" charset="-122"/>
                <a:ea typeface="微软雅黑" panose="020B0503020204020204" pitchFamily="34" charset="-122"/>
              </a:rPr>
              <a:t>（模拟真实系统）进行的</a:t>
            </a:r>
            <a:r>
              <a:rPr lang="zh-CN" altLang="en-US" sz="1800" dirty="0">
                <a:solidFill>
                  <a:srgbClr val="0070C0"/>
                </a:solidFill>
                <a:latin typeface="微软雅黑" panose="020B0503020204020204" pitchFamily="34" charset="-122"/>
                <a:ea typeface="微软雅黑" panose="020B0503020204020204" pitchFamily="34" charset="-122"/>
              </a:rPr>
              <a:t>代码覆盖测试，更容易系统和全面的规划</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12" name="折角形 11"/>
          <p:cNvSpPr/>
          <p:nvPr/>
        </p:nvSpPr>
        <p:spPr bwMode="auto">
          <a:xfrm>
            <a:off x="3541917" y="4581794"/>
            <a:ext cx="7343775" cy="1728000"/>
          </a:xfrm>
          <a:prstGeom prst="foldedCorner">
            <a:avLst/>
          </a:prstGeom>
          <a:solidFill>
            <a:srgbClr val="D1C7FD">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0"/>
          <a:lstStyle/>
          <a:p>
            <a:pPr algn="l">
              <a:lnSpc>
                <a:spcPct val="150000"/>
              </a:lnSpc>
              <a:buClrTx/>
              <a:buSzTx/>
              <a:buFontTx/>
              <a:defRPr/>
            </a:pPr>
            <a:r>
              <a:rPr lang="zh-CN" altLang="en-US" sz="1800" dirty="0">
                <a:solidFill>
                  <a:srgbClr val="595959"/>
                </a:solidFill>
                <a:latin typeface="微软雅黑" panose="020B0503020204020204" pitchFamily="34" charset="-122"/>
                <a:ea typeface="微软雅黑" panose="020B0503020204020204" pitchFamily="34" charset="-122"/>
              </a:rPr>
              <a:t>在程序已经处于运行状态时，利用专门的动态插桩工具，在不中断程序正常运行或者尽可能减少对程序运行影响的前提下，将测试代码插入到正在运行的程序中。通过这种方式，可以实时获取程序在特定时间点或时间段内的运行状态信息。</a:t>
            </a:r>
          </a:p>
        </p:txBody>
      </p:sp>
      <p:sp>
        <p:nvSpPr>
          <p:cNvPr id="13" name="TextBox 8"/>
          <p:cNvSpPr txBox="1">
            <a:spLocks noChangeArrowheads="1"/>
          </p:cNvSpPr>
          <p:nvPr/>
        </p:nvSpPr>
        <p:spPr bwMode="auto">
          <a:xfrm>
            <a:off x="1464197" y="4581794"/>
            <a:ext cx="2077085" cy="1728000"/>
          </a:xfrm>
          <a:prstGeom prst="rect">
            <a:avLst/>
          </a:prstGeom>
          <a:gradFill rotWithShape="0">
            <a:gsLst>
              <a:gs pos="0">
                <a:srgbClr val="008DF6"/>
              </a:gs>
              <a:gs pos="50000">
                <a:srgbClr val="00B0F0"/>
              </a:gs>
              <a:gs pos="100000">
                <a:srgbClr val="9FD8FF"/>
              </a:gs>
            </a:gsLst>
            <a:lin ang="540000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nchorCtr="0">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b="1" dirty="0">
              <a:solidFill>
                <a:schemeClr val="bg1"/>
              </a:solidFill>
              <a:latin typeface="微软雅黑" panose="020B0503020204020204" pitchFamily="34" charset="-122"/>
              <a:ea typeface="微软雅黑" panose="020B0503020204020204" pitchFamily="34" charset="-122"/>
            </a:endParaRPr>
          </a:p>
          <a:p>
            <a:pPr algn="ctr">
              <a:lnSpc>
                <a:spcPct val="10000"/>
              </a:lnSpc>
            </a:pPr>
            <a:r>
              <a:rPr lang="zh-CN" altLang="en-US" b="1" dirty="0">
                <a:solidFill>
                  <a:schemeClr val="bg1"/>
                </a:solidFill>
                <a:latin typeface="微软雅黑" panose="020B0503020204020204" pitchFamily="34" charset="-122"/>
                <a:ea typeface="微软雅黑" panose="020B0503020204020204" pitchFamily="34" charset="-122"/>
                <a:sym typeface="+mn-ea"/>
              </a:rPr>
              <a:t>动态插桩</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3.3.1	目标代码插桩</a:t>
            </a:r>
          </a:p>
        </p:txBody>
      </p:sp>
      <p:sp>
        <p:nvSpPr>
          <p:cNvPr id="2" name="TextBox 35"/>
          <p:cNvSpPr txBox="1">
            <a:spLocks noChangeArrowheads="1"/>
          </p:cNvSpPr>
          <p:nvPr/>
        </p:nvSpPr>
        <p:spPr bwMode="auto">
          <a:xfrm>
            <a:off x="1191895" y="981075"/>
            <a:ext cx="9805670" cy="1000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b="1" dirty="0">
                <a:solidFill>
                  <a:srgbClr val="595959"/>
                </a:solidFill>
                <a:latin typeface="微软雅黑" panose="020B0503020204020204" pitchFamily="34" charset="-122"/>
                <a:ea typeface="微软雅黑" panose="020B0503020204020204" pitchFamily="34" charset="-122"/>
              </a:rPr>
              <a:t>3.</a:t>
            </a:r>
            <a:r>
              <a:rPr lang="en-US" altLang="zh-CN" sz="2000" b="1" dirty="0">
                <a:solidFill>
                  <a:srgbClr val="595959"/>
                </a:solidFill>
                <a:latin typeface="微软雅黑" panose="020B0503020204020204" pitchFamily="34" charset="-122"/>
                <a:ea typeface="微软雅黑" panose="020B0503020204020204" pitchFamily="34" charset="-122"/>
              </a:rPr>
              <a:t> </a:t>
            </a:r>
            <a:r>
              <a:rPr lang="zh-CN" altLang="en-US" sz="2000" b="1" dirty="0">
                <a:solidFill>
                  <a:srgbClr val="595959"/>
                </a:solidFill>
                <a:latin typeface="微软雅黑" panose="020B0503020204020204" pitchFamily="34" charset="-122"/>
                <a:ea typeface="微软雅黑" panose="020B0503020204020204" pitchFamily="34" charset="-122"/>
              </a:rPr>
              <a:t>目标代码插桩的执行模式</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目标代码插桩具有以下</a:t>
            </a:r>
            <a:r>
              <a:rPr lang="zh-CN" altLang="en-US" sz="1800" dirty="0">
                <a:solidFill>
                  <a:srgbClr val="0070C0"/>
                </a:solidFill>
                <a:latin typeface="微软雅黑" panose="020B0503020204020204" pitchFamily="34" charset="-122"/>
                <a:ea typeface="微软雅黑" panose="020B0503020204020204" pitchFamily="34" charset="-122"/>
              </a:rPr>
              <a:t>3种执行模式</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24" name="MH_SubTitle_1"/>
          <p:cNvSpPr/>
          <p:nvPr>
            <p:custDataLst>
              <p:tags r:id="rId1"/>
            </p:custDataLst>
          </p:nvPr>
        </p:nvSpPr>
        <p:spPr>
          <a:xfrm>
            <a:off x="2347857" y="2422207"/>
            <a:ext cx="2599919" cy="51109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即时模式</a:t>
            </a:r>
          </a:p>
        </p:txBody>
      </p:sp>
      <p:sp>
        <p:nvSpPr>
          <p:cNvPr id="25" name="MH_Other_1"/>
          <p:cNvSpPr/>
          <p:nvPr>
            <p:custDataLst>
              <p:tags r:id="rId2"/>
            </p:custDataLst>
          </p:nvPr>
        </p:nvSpPr>
        <p:spPr>
          <a:xfrm>
            <a:off x="4466837" y="2462523"/>
            <a:ext cx="431733" cy="431733"/>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6" name="MH_Text_1"/>
          <p:cNvSpPr>
            <a:spLocks noChangeArrowheads="1"/>
          </p:cNvSpPr>
          <p:nvPr>
            <p:custDataLst>
              <p:tags r:id="rId3"/>
            </p:custDataLst>
          </p:nvPr>
        </p:nvSpPr>
        <p:spPr bwMode="auto">
          <a:xfrm>
            <a:off x="5039360" y="2247265"/>
            <a:ext cx="2975610" cy="887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将修改部分的二进制代码以副本的形式在新的内存区域中，在测试时</a:t>
            </a:r>
            <a:r>
              <a:rPr lang="zh-CN" altLang="en-US" sz="1600" dirty="0">
                <a:solidFill>
                  <a:srgbClr val="0070C0"/>
                </a:solidFill>
                <a:latin typeface="微软雅黑" panose="020B0503020204020204" pitchFamily="34" charset="-122"/>
                <a:ea typeface="微软雅黑" panose="020B0503020204020204" pitchFamily="34" charset="-122"/>
                <a:sym typeface="+mn-ea"/>
              </a:rPr>
              <a:t>仅执行修改部分的目标代码</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p:txBody>
      </p:sp>
      <p:sp>
        <p:nvSpPr>
          <p:cNvPr id="27" name="MH_SubTitle_2"/>
          <p:cNvSpPr/>
          <p:nvPr>
            <p:custDataLst>
              <p:tags r:id="rId4"/>
            </p:custDataLst>
          </p:nvPr>
        </p:nvSpPr>
        <p:spPr>
          <a:xfrm>
            <a:off x="2347857" y="3627565"/>
            <a:ext cx="2599919" cy="51109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解释模式</a:t>
            </a:r>
          </a:p>
        </p:txBody>
      </p:sp>
      <p:sp>
        <p:nvSpPr>
          <p:cNvPr id="28" name="MH_Other_2"/>
          <p:cNvSpPr/>
          <p:nvPr>
            <p:custDataLst>
              <p:tags r:id="rId5"/>
            </p:custDataLst>
          </p:nvPr>
        </p:nvSpPr>
        <p:spPr>
          <a:xfrm>
            <a:off x="4466837" y="3667245"/>
            <a:ext cx="431733" cy="431733"/>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9" name="MH_Text_2"/>
          <p:cNvSpPr>
            <a:spLocks noChangeArrowheads="1"/>
          </p:cNvSpPr>
          <p:nvPr>
            <p:custDataLst>
              <p:tags r:id="rId6"/>
            </p:custDataLst>
          </p:nvPr>
        </p:nvSpPr>
        <p:spPr bwMode="auto">
          <a:xfrm>
            <a:off x="5039272" y="3535964"/>
            <a:ext cx="2904524" cy="728018"/>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ts val="18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测试人员插入的</a:t>
            </a:r>
            <a:r>
              <a:rPr lang="zh-CN" altLang="en-US" sz="1600" dirty="0">
                <a:solidFill>
                  <a:srgbClr val="0070C0"/>
                </a:solidFill>
                <a:latin typeface="微软雅黑" panose="020B0503020204020204" pitchFamily="34" charset="-122"/>
                <a:ea typeface="微软雅黑" panose="020B0503020204020204" pitchFamily="34" charset="-122"/>
                <a:sym typeface="+mn-ea"/>
              </a:rPr>
              <a:t>测试代码</a:t>
            </a:r>
            <a:r>
              <a:rPr lang="zh-CN" altLang="en-US" sz="1600" dirty="0">
                <a:solidFill>
                  <a:srgbClr val="595959"/>
                </a:solidFill>
                <a:latin typeface="微软雅黑" panose="020B0503020204020204" pitchFamily="34" charset="-122"/>
                <a:ea typeface="微软雅黑" panose="020B0503020204020204" pitchFamily="34" charset="-122"/>
                <a:sym typeface="+mn-ea"/>
              </a:rPr>
              <a:t>作为</a:t>
            </a:r>
            <a:r>
              <a:rPr lang="zh-CN" altLang="en-US" sz="1600" dirty="0">
                <a:solidFill>
                  <a:srgbClr val="0070C0"/>
                </a:solidFill>
                <a:latin typeface="微软雅黑" panose="020B0503020204020204" pitchFamily="34" charset="-122"/>
                <a:ea typeface="微软雅黑" panose="020B0503020204020204" pitchFamily="34" charset="-122"/>
                <a:sym typeface="+mn-ea"/>
              </a:rPr>
              <a:t>目标代码指令</a:t>
            </a:r>
            <a:r>
              <a:rPr lang="zh-CN" altLang="en-US" sz="1600">
                <a:solidFill>
                  <a:srgbClr val="0070C0"/>
                </a:solidFill>
                <a:latin typeface="微软雅黑" panose="020B0503020204020204" pitchFamily="34" charset="-122"/>
                <a:ea typeface="微软雅黑" panose="020B0503020204020204" pitchFamily="34" charset="-122"/>
                <a:sym typeface="+mn-ea"/>
              </a:rPr>
              <a:t>的解释语言</a:t>
            </a:r>
            <a:r>
              <a:rPr lang="zh-CN" altLang="en-US" sz="1600" dirty="0">
                <a:solidFill>
                  <a:srgbClr val="595959"/>
                </a:solidFill>
                <a:latin typeface="微软雅黑" panose="020B0503020204020204" pitchFamily="34" charset="-122"/>
                <a:ea typeface="微软雅黑" panose="020B0503020204020204" pitchFamily="34" charset="-122"/>
                <a:sym typeface="+mn-ea"/>
              </a:rPr>
              <a:t>。</a:t>
            </a:r>
            <a:r>
              <a:rPr lang="zh-CN" altLang="en-US" sz="1600">
                <a:solidFill>
                  <a:srgbClr val="595959"/>
                </a:solidFill>
                <a:latin typeface="微软雅黑" panose="020B0503020204020204" pitchFamily="34" charset="-122"/>
                <a:ea typeface="微软雅黑" panose="020B0503020204020204" pitchFamily="34" charset="-122"/>
                <a:sym typeface="+mn-ea"/>
              </a:rPr>
              <a:t>每当</a:t>
            </a:r>
            <a:r>
              <a:rPr lang="zh-CN" altLang="en-US" sz="1600" dirty="0">
                <a:solidFill>
                  <a:srgbClr val="595959"/>
                </a:solidFill>
                <a:latin typeface="微软雅黑" panose="020B0503020204020204" pitchFamily="34" charset="-122"/>
                <a:ea typeface="微软雅黑" panose="020B0503020204020204" pitchFamily="34" charset="-122"/>
                <a:sym typeface="+mn-ea"/>
              </a:rPr>
              <a:t>执行一条</a:t>
            </a:r>
            <a:r>
              <a:rPr lang="zh-CN" altLang="en-US" sz="1600">
                <a:solidFill>
                  <a:srgbClr val="595959"/>
                </a:solidFill>
                <a:latin typeface="微软雅黑" panose="020B0503020204020204" pitchFamily="34" charset="-122"/>
                <a:ea typeface="微软雅黑" panose="020B0503020204020204" pitchFamily="34" charset="-122"/>
                <a:sym typeface="+mn-ea"/>
              </a:rPr>
              <a:t>目标代码指令时，</a:t>
            </a:r>
            <a:r>
              <a:rPr lang="zh-CN" altLang="en-US" sz="1600" dirty="0">
                <a:solidFill>
                  <a:srgbClr val="595959"/>
                </a:solidFill>
                <a:latin typeface="微软雅黑" panose="020B0503020204020204" pitchFamily="34" charset="-122"/>
                <a:ea typeface="微软雅黑" panose="020B0503020204020204" pitchFamily="34" charset="-122"/>
                <a:sym typeface="+mn-ea"/>
              </a:rPr>
              <a:t>程序就会在测试代码中查找并执行相应的替代指令。</a:t>
            </a:r>
          </a:p>
        </p:txBody>
      </p:sp>
      <p:sp>
        <p:nvSpPr>
          <p:cNvPr id="30" name="MH_SubTitle_3"/>
          <p:cNvSpPr/>
          <p:nvPr>
            <p:custDataLst>
              <p:tags r:id="rId7"/>
            </p:custDataLst>
          </p:nvPr>
        </p:nvSpPr>
        <p:spPr>
          <a:xfrm>
            <a:off x="2347857" y="4847630"/>
            <a:ext cx="2599919" cy="51109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探测模式</a:t>
            </a:r>
          </a:p>
        </p:txBody>
      </p:sp>
      <p:sp>
        <p:nvSpPr>
          <p:cNvPr id="32" name="MH_Other_3"/>
          <p:cNvSpPr/>
          <p:nvPr>
            <p:custDataLst>
              <p:tags r:id="rId8"/>
            </p:custDataLst>
          </p:nvPr>
        </p:nvSpPr>
        <p:spPr>
          <a:xfrm>
            <a:off x="4466837" y="4887310"/>
            <a:ext cx="431733" cy="431733"/>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33" name="MH_Text_3"/>
          <p:cNvSpPr>
            <a:spLocks noChangeArrowheads="1"/>
          </p:cNvSpPr>
          <p:nvPr>
            <p:custDataLst>
              <p:tags r:id="rId9"/>
            </p:custDataLst>
          </p:nvPr>
        </p:nvSpPr>
        <p:spPr bwMode="auto">
          <a:xfrm>
            <a:off x="5039360" y="4641214"/>
            <a:ext cx="2904490" cy="1177379"/>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ts val="18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探测模式使用</a:t>
            </a:r>
            <a:r>
              <a:rPr lang="zh-CN" altLang="en-US" sz="1600" dirty="0">
                <a:solidFill>
                  <a:srgbClr val="0070C0"/>
                </a:solidFill>
                <a:latin typeface="微软雅黑" panose="020B0503020204020204" pitchFamily="34" charset="-122"/>
                <a:ea typeface="微软雅黑" panose="020B0503020204020204" pitchFamily="34" charset="-122"/>
                <a:sym typeface="+mn-ea"/>
              </a:rPr>
              <a:t>新指令覆盖旧指令进行测试</a:t>
            </a:r>
            <a:r>
              <a:rPr lang="zh-CN" altLang="en-US" sz="1600" dirty="0">
                <a:solidFill>
                  <a:srgbClr val="595959"/>
                </a:solidFill>
                <a:latin typeface="微软雅黑" panose="020B0503020204020204" pitchFamily="34" charset="-122"/>
                <a:ea typeface="微软雅黑" panose="020B0503020204020204" pitchFamily="34" charset="-122"/>
                <a:sym typeface="+mn-ea"/>
              </a:rPr>
              <a:t>，这种模式在某些体系结构（如x86体系结构，指令丰富且兼容性强）中比较适用。</a:t>
            </a:r>
          </a:p>
        </p:txBody>
      </p:sp>
      <p:sp>
        <p:nvSpPr>
          <p:cNvPr id="34" name="MH_Title_1"/>
          <p:cNvSpPr/>
          <p:nvPr>
            <p:custDataLst>
              <p:tags r:id="rId10"/>
            </p:custDataLst>
          </p:nvPr>
        </p:nvSpPr>
        <p:spPr>
          <a:xfrm>
            <a:off x="1580953" y="2766018"/>
            <a:ext cx="498182" cy="241737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3</a:t>
            </a:r>
            <a:r>
              <a:rPr kumimoji="0" lang="zh-CN" altLang="en-US" sz="20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种执行模式</a:t>
            </a:r>
          </a:p>
        </p:txBody>
      </p:sp>
      <p:cxnSp>
        <p:nvCxnSpPr>
          <p:cNvPr id="35" name="PA_直接连接符 2"/>
          <p:cNvCxnSpPr/>
          <p:nvPr>
            <p:custDataLst>
              <p:tags r:id="rId11"/>
            </p:custDataLst>
          </p:nvPr>
        </p:nvCxnSpPr>
        <p:spPr>
          <a:xfrm>
            <a:off x="1560210" y="2452265"/>
            <a:ext cx="0" cy="3044887"/>
          </a:xfrm>
          <a:prstGeom prst="line">
            <a:avLst/>
          </a:prstGeom>
          <a:ln>
            <a:solidFill>
              <a:srgbClr val="6BAFE1"/>
            </a:solidFill>
          </a:ln>
        </p:spPr>
        <p:style>
          <a:lnRef idx="1">
            <a:schemeClr val="accent1"/>
          </a:lnRef>
          <a:fillRef idx="0">
            <a:schemeClr val="accent1"/>
          </a:fillRef>
          <a:effectRef idx="0">
            <a:schemeClr val="accent1"/>
          </a:effectRef>
          <a:fontRef idx="minor">
            <a:schemeClr val="tx1"/>
          </a:fontRef>
        </p:style>
      </p:cxnSp>
      <p:cxnSp>
        <p:nvCxnSpPr>
          <p:cNvPr id="36" name="PA_直接连接符 2"/>
          <p:cNvCxnSpPr/>
          <p:nvPr>
            <p:custDataLst>
              <p:tags r:id="rId12"/>
            </p:custDataLst>
          </p:nvPr>
        </p:nvCxnSpPr>
        <p:spPr>
          <a:xfrm>
            <a:off x="2079135" y="2452263"/>
            <a:ext cx="0" cy="3044887"/>
          </a:xfrm>
          <a:prstGeom prst="line">
            <a:avLst/>
          </a:prstGeom>
          <a:ln>
            <a:solidFill>
              <a:srgbClr val="6BAFE1"/>
            </a:solidFill>
            <a:prstDash val="dash"/>
          </a:ln>
        </p:spPr>
        <p:style>
          <a:lnRef idx="1">
            <a:schemeClr val="accent1"/>
          </a:lnRef>
          <a:fillRef idx="0">
            <a:schemeClr val="accent1"/>
          </a:fillRef>
          <a:effectRef idx="0">
            <a:schemeClr val="accent1"/>
          </a:effectRef>
          <a:fontRef idx="minor">
            <a:schemeClr val="tx1"/>
          </a:fontRef>
        </p:style>
      </p:cxnSp>
      <p:cxnSp>
        <p:nvCxnSpPr>
          <p:cNvPr id="37" name="PA_StraightArrowConnector 4"/>
          <p:cNvCxnSpPr/>
          <p:nvPr>
            <p:custDataLst>
              <p:tags r:id="rId13"/>
            </p:custDataLst>
          </p:nvPr>
        </p:nvCxnSpPr>
        <p:spPr>
          <a:xfrm>
            <a:off x="7943798" y="2677754"/>
            <a:ext cx="979506"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8" name="PA_StraightArrowConnector 4"/>
          <p:cNvCxnSpPr/>
          <p:nvPr>
            <p:custDataLst>
              <p:tags r:id="rId14"/>
            </p:custDataLst>
          </p:nvPr>
        </p:nvCxnSpPr>
        <p:spPr>
          <a:xfrm>
            <a:off x="7943797" y="3927355"/>
            <a:ext cx="979506"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9" name="PA_StraightArrowConnector 4"/>
          <p:cNvCxnSpPr/>
          <p:nvPr>
            <p:custDataLst>
              <p:tags r:id="rId15"/>
            </p:custDataLst>
          </p:nvPr>
        </p:nvCxnSpPr>
        <p:spPr>
          <a:xfrm>
            <a:off x="7943794" y="5183398"/>
            <a:ext cx="979506"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0" name="arrow-on-target_68291"/>
          <p:cNvSpPr>
            <a:spLocks noChangeAspect="1"/>
          </p:cNvSpPr>
          <p:nvPr/>
        </p:nvSpPr>
        <p:spPr bwMode="auto">
          <a:xfrm>
            <a:off x="9267194" y="4887561"/>
            <a:ext cx="609590" cy="609590"/>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
        <p:nvSpPr>
          <p:cNvPr id="41" name="computer-service_78951"/>
          <p:cNvSpPr>
            <a:spLocks noChangeAspect="1"/>
          </p:cNvSpPr>
          <p:nvPr/>
        </p:nvSpPr>
        <p:spPr bwMode="auto">
          <a:xfrm>
            <a:off x="9267194" y="2328486"/>
            <a:ext cx="609590" cy="565770"/>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rgbClr val="0070C0"/>
          </a:solidFill>
          <a:ln>
            <a:noFill/>
          </a:ln>
        </p:spPr>
        <p:txBody>
          <a:bodyPr/>
          <a:lstStyle/>
          <a:p>
            <a:endParaRPr lang="zh-CN" altLang="en-US"/>
          </a:p>
        </p:txBody>
      </p:sp>
      <p:sp>
        <p:nvSpPr>
          <p:cNvPr id="42" name="graph_134483"/>
          <p:cNvSpPr>
            <a:spLocks noChangeAspect="1"/>
          </p:cNvSpPr>
          <p:nvPr/>
        </p:nvSpPr>
        <p:spPr bwMode="auto">
          <a:xfrm>
            <a:off x="9267194" y="3535964"/>
            <a:ext cx="609590" cy="555345"/>
          </a:xfrm>
          <a:custGeom>
            <a:avLst/>
            <a:gdLst>
              <a:gd name="connsiteX0" fmla="*/ 260506 w 331788"/>
              <a:gd name="connsiteY0" fmla="*/ 76839 h 302264"/>
              <a:gd name="connsiteX1" fmla="*/ 326604 w 331788"/>
              <a:gd name="connsiteY1" fmla="*/ 76839 h 302264"/>
              <a:gd name="connsiteX2" fmla="*/ 326604 w 331788"/>
              <a:gd name="connsiteY2" fmla="*/ 291959 h 302264"/>
              <a:gd name="connsiteX3" fmla="*/ 331788 w 331788"/>
              <a:gd name="connsiteY3" fmla="*/ 297111 h 302264"/>
              <a:gd name="connsiteX4" fmla="*/ 326604 w 331788"/>
              <a:gd name="connsiteY4" fmla="*/ 302264 h 302264"/>
              <a:gd name="connsiteX5" fmla="*/ 5184 w 331788"/>
              <a:gd name="connsiteY5" fmla="*/ 302264 h 302264"/>
              <a:gd name="connsiteX6" fmla="*/ 0 w 331788"/>
              <a:gd name="connsiteY6" fmla="*/ 297111 h 302264"/>
              <a:gd name="connsiteX7" fmla="*/ 5184 w 331788"/>
              <a:gd name="connsiteY7" fmla="*/ 291959 h 302264"/>
              <a:gd name="connsiteX8" fmla="*/ 11664 w 331788"/>
              <a:gd name="connsiteY8" fmla="*/ 291959 h 302264"/>
              <a:gd name="connsiteX9" fmla="*/ 11664 w 331788"/>
              <a:gd name="connsiteY9" fmla="*/ 214670 h 302264"/>
              <a:gd name="connsiteX10" fmla="*/ 77763 w 331788"/>
              <a:gd name="connsiteY10" fmla="*/ 214670 h 302264"/>
              <a:gd name="connsiteX11" fmla="*/ 77763 w 331788"/>
              <a:gd name="connsiteY11" fmla="*/ 291959 h 302264"/>
              <a:gd name="connsiteX12" fmla="*/ 94612 w 331788"/>
              <a:gd name="connsiteY12" fmla="*/ 291959 h 302264"/>
              <a:gd name="connsiteX13" fmla="*/ 94612 w 331788"/>
              <a:gd name="connsiteY13" fmla="*/ 165721 h 302264"/>
              <a:gd name="connsiteX14" fmla="*/ 160710 w 331788"/>
              <a:gd name="connsiteY14" fmla="*/ 165721 h 302264"/>
              <a:gd name="connsiteX15" fmla="*/ 160710 w 331788"/>
              <a:gd name="connsiteY15" fmla="*/ 291959 h 302264"/>
              <a:gd name="connsiteX16" fmla="*/ 177559 w 331788"/>
              <a:gd name="connsiteY16" fmla="*/ 291959 h 302264"/>
              <a:gd name="connsiteX17" fmla="*/ 177559 w 331788"/>
              <a:gd name="connsiteY17" fmla="*/ 121924 h 302264"/>
              <a:gd name="connsiteX18" fmla="*/ 243657 w 331788"/>
              <a:gd name="connsiteY18" fmla="*/ 121924 h 302264"/>
              <a:gd name="connsiteX19" fmla="*/ 243657 w 331788"/>
              <a:gd name="connsiteY19" fmla="*/ 291959 h 302264"/>
              <a:gd name="connsiteX20" fmla="*/ 260506 w 331788"/>
              <a:gd name="connsiteY20" fmla="*/ 291959 h 302264"/>
              <a:gd name="connsiteX21" fmla="*/ 260506 w 331788"/>
              <a:gd name="connsiteY21" fmla="*/ 76839 h 302264"/>
              <a:gd name="connsiteX22" fmla="*/ 212230 w 331788"/>
              <a:gd name="connsiteY22" fmla="*/ 334 h 302264"/>
              <a:gd name="connsiteX23" fmla="*/ 259954 w 331788"/>
              <a:gd name="connsiteY23" fmla="*/ 4179 h 302264"/>
              <a:gd name="connsiteX24" fmla="*/ 261244 w 331788"/>
              <a:gd name="connsiteY24" fmla="*/ 5460 h 302264"/>
              <a:gd name="connsiteX25" fmla="*/ 262534 w 331788"/>
              <a:gd name="connsiteY25" fmla="*/ 5460 h 302264"/>
              <a:gd name="connsiteX26" fmla="*/ 263823 w 331788"/>
              <a:gd name="connsiteY26" fmla="*/ 6742 h 302264"/>
              <a:gd name="connsiteX27" fmla="*/ 263823 w 331788"/>
              <a:gd name="connsiteY27" fmla="*/ 8024 h 302264"/>
              <a:gd name="connsiteX28" fmla="*/ 265113 w 331788"/>
              <a:gd name="connsiteY28" fmla="*/ 8024 h 302264"/>
              <a:gd name="connsiteX29" fmla="*/ 265113 w 331788"/>
              <a:gd name="connsiteY29" fmla="*/ 9305 h 302264"/>
              <a:gd name="connsiteX30" fmla="*/ 265113 w 331788"/>
              <a:gd name="connsiteY30" fmla="*/ 10587 h 302264"/>
              <a:gd name="connsiteX31" fmla="*/ 265113 w 331788"/>
              <a:gd name="connsiteY31" fmla="*/ 11869 h 302264"/>
              <a:gd name="connsiteX32" fmla="*/ 263823 w 331788"/>
              <a:gd name="connsiteY32" fmla="*/ 11869 h 302264"/>
              <a:gd name="connsiteX33" fmla="*/ 244476 w 331788"/>
              <a:gd name="connsiteY33" fmla="*/ 55445 h 302264"/>
              <a:gd name="connsiteX34" fmla="*/ 239316 w 331788"/>
              <a:gd name="connsiteY34" fmla="*/ 58008 h 302264"/>
              <a:gd name="connsiteX35" fmla="*/ 238026 w 331788"/>
              <a:gd name="connsiteY35" fmla="*/ 58008 h 302264"/>
              <a:gd name="connsiteX36" fmla="*/ 234157 w 331788"/>
              <a:gd name="connsiteY36" fmla="*/ 50318 h 302264"/>
              <a:gd name="connsiteX37" fmla="*/ 247055 w 331788"/>
              <a:gd name="connsiteY37" fmla="*/ 23403 h 302264"/>
              <a:gd name="connsiteX38" fmla="*/ 47129 w 331788"/>
              <a:gd name="connsiteY38" fmla="*/ 137470 h 302264"/>
              <a:gd name="connsiteX39" fmla="*/ 44549 w 331788"/>
              <a:gd name="connsiteY39" fmla="*/ 138752 h 302264"/>
              <a:gd name="connsiteX40" fmla="*/ 40680 w 331788"/>
              <a:gd name="connsiteY40" fmla="*/ 136189 h 302264"/>
              <a:gd name="connsiteX41" fmla="*/ 41970 w 331788"/>
              <a:gd name="connsiteY41" fmla="*/ 128499 h 302264"/>
              <a:gd name="connsiteX42" fmla="*/ 241896 w 331788"/>
              <a:gd name="connsiteY42" fmla="*/ 13150 h 302264"/>
              <a:gd name="connsiteX43" fmla="*/ 212230 w 331788"/>
              <a:gd name="connsiteY43" fmla="*/ 10587 h 302264"/>
              <a:gd name="connsiteX44" fmla="*/ 207070 w 331788"/>
              <a:gd name="connsiteY44" fmla="*/ 5460 h 302264"/>
              <a:gd name="connsiteX45" fmla="*/ 212230 w 331788"/>
              <a:gd name="connsiteY45" fmla="*/ 334 h 30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31788" h="302264">
                <a:moveTo>
                  <a:pt x="260506" y="76839"/>
                </a:moveTo>
                <a:cubicBezTo>
                  <a:pt x="260506" y="76839"/>
                  <a:pt x="260506" y="76839"/>
                  <a:pt x="326604" y="76839"/>
                </a:cubicBezTo>
                <a:cubicBezTo>
                  <a:pt x="326604" y="76839"/>
                  <a:pt x="326604" y="76839"/>
                  <a:pt x="326604" y="291959"/>
                </a:cubicBezTo>
                <a:cubicBezTo>
                  <a:pt x="329196" y="291959"/>
                  <a:pt x="331788" y="294535"/>
                  <a:pt x="331788" y="297111"/>
                </a:cubicBezTo>
                <a:cubicBezTo>
                  <a:pt x="331788" y="299688"/>
                  <a:pt x="329196" y="302264"/>
                  <a:pt x="326604" y="302264"/>
                </a:cubicBezTo>
                <a:cubicBezTo>
                  <a:pt x="326604" y="302264"/>
                  <a:pt x="326604" y="302264"/>
                  <a:pt x="5184" y="302264"/>
                </a:cubicBezTo>
                <a:cubicBezTo>
                  <a:pt x="2592" y="302264"/>
                  <a:pt x="0" y="299688"/>
                  <a:pt x="0" y="297111"/>
                </a:cubicBezTo>
                <a:cubicBezTo>
                  <a:pt x="0" y="294535"/>
                  <a:pt x="2592" y="291959"/>
                  <a:pt x="5184" y="291959"/>
                </a:cubicBezTo>
                <a:cubicBezTo>
                  <a:pt x="5184" y="291959"/>
                  <a:pt x="5184" y="291959"/>
                  <a:pt x="11664" y="291959"/>
                </a:cubicBezTo>
                <a:cubicBezTo>
                  <a:pt x="11664" y="291959"/>
                  <a:pt x="11664" y="291959"/>
                  <a:pt x="11664" y="214670"/>
                </a:cubicBezTo>
                <a:cubicBezTo>
                  <a:pt x="11664" y="214670"/>
                  <a:pt x="11664" y="214670"/>
                  <a:pt x="77763" y="214670"/>
                </a:cubicBezTo>
                <a:cubicBezTo>
                  <a:pt x="77763" y="214670"/>
                  <a:pt x="77763" y="214670"/>
                  <a:pt x="77763" y="291959"/>
                </a:cubicBezTo>
                <a:cubicBezTo>
                  <a:pt x="77763" y="291959"/>
                  <a:pt x="77763" y="291959"/>
                  <a:pt x="94612" y="291959"/>
                </a:cubicBezTo>
                <a:cubicBezTo>
                  <a:pt x="94612" y="291959"/>
                  <a:pt x="94612" y="291959"/>
                  <a:pt x="94612" y="165721"/>
                </a:cubicBezTo>
                <a:cubicBezTo>
                  <a:pt x="94612" y="165721"/>
                  <a:pt x="94612" y="165721"/>
                  <a:pt x="160710" y="165721"/>
                </a:cubicBezTo>
                <a:cubicBezTo>
                  <a:pt x="160710" y="165721"/>
                  <a:pt x="160710" y="165721"/>
                  <a:pt x="160710" y="291959"/>
                </a:cubicBezTo>
                <a:cubicBezTo>
                  <a:pt x="160710" y="291959"/>
                  <a:pt x="160710" y="291959"/>
                  <a:pt x="177559" y="291959"/>
                </a:cubicBezTo>
                <a:cubicBezTo>
                  <a:pt x="177559" y="291959"/>
                  <a:pt x="177559" y="291959"/>
                  <a:pt x="177559" y="121924"/>
                </a:cubicBezTo>
                <a:cubicBezTo>
                  <a:pt x="177559" y="121924"/>
                  <a:pt x="177559" y="121924"/>
                  <a:pt x="243657" y="121924"/>
                </a:cubicBezTo>
                <a:cubicBezTo>
                  <a:pt x="243657" y="121924"/>
                  <a:pt x="243657" y="121924"/>
                  <a:pt x="243657" y="291959"/>
                </a:cubicBezTo>
                <a:cubicBezTo>
                  <a:pt x="243657" y="291959"/>
                  <a:pt x="243657" y="291959"/>
                  <a:pt x="260506" y="291959"/>
                </a:cubicBezTo>
                <a:cubicBezTo>
                  <a:pt x="260506" y="291959"/>
                  <a:pt x="260506" y="291959"/>
                  <a:pt x="260506" y="76839"/>
                </a:cubicBezTo>
                <a:close/>
                <a:moveTo>
                  <a:pt x="212230" y="334"/>
                </a:moveTo>
                <a:cubicBezTo>
                  <a:pt x="212230" y="334"/>
                  <a:pt x="212230" y="334"/>
                  <a:pt x="259954" y="4179"/>
                </a:cubicBezTo>
                <a:cubicBezTo>
                  <a:pt x="259954" y="4179"/>
                  <a:pt x="261244" y="4179"/>
                  <a:pt x="261244" y="5460"/>
                </a:cubicBezTo>
                <a:cubicBezTo>
                  <a:pt x="262534" y="5460"/>
                  <a:pt x="262534" y="5460"/>
                  <a:pt x="262534" y="5460"/>
                </a:cubicBezTo>
                <a:cubicBezTo>
                  <a:pt x="262534" y="5460"/>
                  <a:pt x="263823" y="6742"/>
                  <a:pt x="263823" y="6742"/>
                </a:cubicBezTo>
                <a:cubicBezTo>
                  <a:pt x="263823" y="6742"/>
                  <a:pt x="263823" y="8024"/>
                  <a:pt x="263823" y="8024"/>
                </a:cubicBezTo>
                <a:cubicBezTo>
                  <a:pt x="263823" y="8024"/>
                  <a:pt x="265113" y="8024"/>
                  <a:pt x="265113" y="8024"/>
                </a:cubicBezTo>
                <a:cubicBezTo>
                  <a:pt x="265113" y="8024"/>
                  <a:pt x="265113" y="8024"/>
                  <a:pt x="265113" y="9305"/>
                </a:cubicBezTo>
                <a:cubicBezTo>
                  <a:pt x="265113" y="9305"/>
                  <a:pt x="265113" y="10587"/>
                  <a:pt x="265113" y="10587"/>
                </a:cubicBezTo>
                <a:cubicBezTo>
                  <a:pt x="265113" y="10587"/>
                  <a:pt x="265113" y="11869"/>
                  <a:pt x="265113" y="11869"/>
                </a:cubicBezTo>
                <a:cubicBezTo>
                  <a:pt x="263823" y="11869"/>
                  <a:pt x="263823" y="11869"/>
                  <a:pt x="263823" y="11869"/>
                </a:cubicBezTo>
                <a:cubicBezTo>
                  <a:pt x="263823" y="11869"/>
                  <a:pt x="263823" y="11869"/>
                  <a:pt x="244476" y="55445"/>
                </a:cubicBezTo>
                <a:cubicBezTo>
                  <a:pt x="244476" y="56726"/>
                  <a:pt x="241896" y="58008"/>
                  <a:pt x="239316" y="58008"/>
                </a:cubicBezTo>
                <a:cubicBezTo>
                  <a:pt x="239316" y="58008"/>
                  <a:pt x="238026" y="58008"/>
                  <a:pt x="238026" y="58008"/>
                </a:cubicBezTo>
                <a:cubicBezTo>
                  <a:pt x="234157" y="56726"/>
                  <a:pt x="232867" y="52881"/>
                  <a:pt x="234157" y="50318"/>
                </a:cubicBezTo>
                <a:cubicBezTo>
                  <a:pt x="234157" y="50318"/>
                  <a:pt x="234157" y="50318"/>
                  <a:pt x="247055" y="23403"/>
                </a:cubicBezTo>
                <a:cubicBezTo>
                  <a:pt x="247055" y="23403"/>
                  <a:pt x="247055" y="23403"/>
                  <a:pt x="47129" y="137470"/>
                </a:cubicBezTo>
                <a:cubicBezTo>
                  <a:pt x="47129" y="138752"/>
                  <a:pt x="45839" y="138752"/>
                  <a:pt x="44549" y="138752"/>
                </a:cubicBezTo>
                <a:cubicBezTo>
                  <a:pt x="43260" y="138752"/>
                  <a:pt x="40680" y="137470"/>
                  <a:pt x="40680" y="136189"/>
                </a:cubicBezTo>
                <a:cubicBezTo>
                  <a:pt x="38100" y="133625"/>
                  <a:pt x="39390" y="129780"/>
                  <a:pt x="41970" y="128499"/>
                </a:cubicBezTo>
                <a:cubicBezTo>
                  <a:pt x="41970" y="128499"/>
                  <a:pt x="41970" y="128499"/>
                  <a:pt x="241896" y="13150"/>
                </a:cubicBezTo>
                <a:cubicBezTo>
                  <a:pt x="241896" y="13150"/>
                  <a:pt x="241896" y="13150"/>
                  <a:pt x="212230" y="10587"/>
                </a:cubicBezTo>
                <a:cubicBezTo>
                  <a:pt x="208360" y="10587"/>
                  <a:pt x="207070" y="8024"/>
                  <a:pt x="207070" y="5460"/>
                </a:cubicBezTo>
                <a:cubicBezTo>
                  <a:pt x="207070" y="1615"/>
                  <a:pt x="209650" y="-948"/>
                  <a:pt x="212230" y="334"/>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
        <p:nvSpPr>
          <p:cNvPr id="43" name="文本框 42"/>
          <p:cNvSpPr txBox="1"/>
          <p:nvPr/>
        </p:nvSpPr>
        <p:spPr>
          <a:xfrm>
            <a:off x="2486868" y="2039565"/>
            <a:ext cx="2218202" cy="338554"/>
          </a:xfrm>
          <a:prstGeom prst="rect">
            <a:avLst/>
          </a:prstGeom>
          <a:noFill/>
        </p:spPr>
        <p:txBody>
          <a:bodyPr wrap="square" rtlCol="0" anchor="t">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Just-In</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rPr>
              <a:t>-Time </a:t>
            </a:r>
            <a:r>
              <a:rPr lang="en-US" altLang="zh-CN" sz="1600">
                <a:solidFill>
                  <a:schemeClr val="tx1">
                    <a:lumMod val="75000"/>
                    <a:lumOff val="25000"/>
                  </a:schemeClr>
                </a:solidFill>
                <a:latin typeface="微软雅黑" panose="020B0503020204020204" pitchFamily="34" charset="-122"/>
                <a:ea typeface="微软雅黑" panose="020B0503020204020204" pitchFamily="34" charset="-122"/>
              </a:rPr>
              <a:t>Mode</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2515870" y="3261360"/>
            <a:ext cx="2279650" cy="337185"/>
          </a:xfrm>
          <a:prstGeom prst="rect">
            <a:avLst/>
          </a:prstGeom>
          <a:noFill/>
        </p:spPr>
        <p:txBody>
          <a:bodyPr wrap="square" rtlCol="0" anchor="t">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Interpretation Mode</a:t>
            </a:r>
          </a:p>
        </p:txBody>
      </p:sp>
      <p:sp>
        <p:nvSpPr>
          <p:cNvPr id="45" name="文本框 44"/>
          <p:cNvSpPr txBox="1"/>
          <p:nvPr/>
        </p:nvSpPr>
        <p:spPr>
          <a:xfrm>
            <a:off x="2830830" y="4499610"/>
            <a:ext cx="1457325" cy="337185"/>
          </a:xfrm>
          <a:prstGeom prst="rect">
            <a:avLst/>
          </a:prstGeom>
          <a:noFill/>
        </p:spPr>
        <p:txBody>
          <a:bodyPr wrap="square" rtlCol="0" anchor="t">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Probe Mode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3.3.1	目标代码插桩</a:t>
            </a:r>
          </a:p>
        </p:txBody>
      </p:sp>
      <p:sp>
        <p:nvSpPr>
          <p:cNvPr id="2" name="TextBox 35"/>
          <p:cNvSpPr txBox="1">
            <a:spLocks noChangeArrowheads="1"/>
          </p:cNvSpPr>
          <p:nvPr/>
        </p:nvSpPr>
        <p:spPr bwMode="auto">
          <a:xfrm>
            <a:off x="1191895" y="837565"/>
            <a:ext cx="9805670" cy="5155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b="1" dirty="0">
                <a:solidFill>
                  <a:srgbClr val="595959"/>
                </a:solidFill>
                <a:latin typeface="微软雅黑" panose="020B0503020204020204" pitchFamily="34" charset="-122"/>
                <a:ea typeface="微软雅黑" panose="020B0503020204020204" pitchFamily="34" charset="-122"/>
              </a:rPr>
              <a:t>4.</a:t>
            </a:r>
            <a:r>
              <a:rPr lang="en-US" altLang="zh-CN" sz="2000" b="1" dirty="0">
                <a:solidFill>
                  <a:srgbClr val="595959"/>
                </a:solidFill>
                <a:latin typeface="微软雅黑" panose="020B0503020204020204" pitchFamily="34" charset="-122"/>
                <a:ea typeface="微软雅黑" panose="020B0503020204020204" pitchFamily="34" charset="-122"/>
              </a:rPr>
              <a:t> </a:t>
            </a:r>
            <a:r>
              <a:rPr lang="zh-CN" altLang="en-US" sz="2000" b="1" dirty="0">
                <a:solidFill>
                  <a:srgbClr val="595959"/>
                </a:solidFill>
                <a:latin typeface="微软雅黑" panose="020B0503020204020204" pitchFamily="34" charset="-122"/>
                <a:ea typeface="微软雅黑" panose="020B0503020204020204" pitchFamily="34" charset="-122"/>
              </a:rPr>
              <a:t>目标代码插桩工具</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常见的目标代码插桩工具主要有以下2种。</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1</a:t>
            </a:r>
            <a:r>
              <a:rPr lang="zh-CN" altLang="en-US" sz="1800" dirty="0">
                <a:solidFill>
                  <a:srgbClr val="595959"/>
                </a:solidFill>
                <a:latin typeface="微软雅黑" panose="020B0503020204020204" pitchFamily="34" charset="-122"/>
                <a:ea typeface="微软雅黑" panose="020B0503020204020204" pitchFamily="34" charset="-122"/>
              </a:rPr>
              <a:t>）Pin-</a:t>
            </a:r>
            <a:r>
              <a:rPr lang="en-US" altLang="zh-CN" sz="1800" dirty="0">
                <a:solidFill>
                  <a:srgbClr val="595959"/>
                </a:solidFill>
                <a:latin typeface="微软雅黑" panose="020B0503020204020204" pitchFamily="34" charset="-122"/>
                <a:ea typeface="微软雅黑" panose="020B0503020204020204" pitchFamily="34" charset="-122"/>
              </a:rPr>
              <a:t>A </a:t>
            </a:r>
            <a:r>
              <a:rPr lang="zh-CN" altLang="en-US" sz="1800" dirty="0">
                <a:solidFill>
                  <a:srgbClr val="595959"/>
                </a:solidFill>
                <a:latin typeface="微软雅黑" panose="020B0503020204020204" pitchFamily="34" charset="-122"/>
                <a:ea typeface="微软雅黑" panose="020B0503020204020204" pitchFamily="34" charset="-122"/>
              </a:rPr>
              <a:t>Dynamic Binary Instrumentation Tool（Pin）</a:t>
            </a:r>
          </a:p>
          <a:p>
            <a:pPr indent="457200" algn="just">
              <a:lnSpc>
                <a:spcPct val="150000"/>
              </a:lnSpc>
              <a:buClrTx/>
              <a:buSzTx/>
              <a:buFontTx/>
            </a:pPr>
            <a:r>
              <a:rPr lang="zh-CN" altLang="en-US" sz="1600" dirty="0">
                <a:solidFill>
                  <a:srgbClr val="0070C0"/>
                </a:solidFill>
                <a:latin typeface="微软雅黑" panose="020B0503020204020204" pitchFamily="34" charset="-122"/>
                <a:ea typeface="微软雅黑" panose="020B0503020204020204" pitchFamily="34" charset="-122"/>
              </a:rPr>
              <a:t>Pin</a:t>
            </a:r>
            <a:r>
              <a:rPr lang="zh-CN" altLang="en-US" sz="1600" dirty="0">
                <a:solidFill>
                  <a:srgbClr val="595959"/>
                </a:solidFill>
                <a:latin typeface="微软雅黑" panose="020B0503020204020204" pitchFamily="34" charset="-122"/>
                <a:ea typeface="微软雅黑" panose="020B0503020204020204" pitchFamily="34" charset="-122"/>
              </a:rPr>
              <a:t>是由Intel公司开发的免费框架，它可以</a:t>
            </a:r>
            <a:r>
              <a:rPr lang="zh-CN" altLang="en-US" sz="1600" dirty="0">
                <a:solidFill>
                  <a:srgbClr val="0070C0"/>
                </a:solidFill>
                <a:latin typeface="微软雅黑" panose="020B0503020204020204" pitchFamily="34" charset="-122"/>
                <a:ea typeface="微软雅黑" panose="020B0503020204020204" pitchFamily="34" charset="-122"/>
              </a:rPr>
              <a:t>用于二进制代码检测与源代码检测</a:t>
            </a:r>
            <a:r>
              <a:rPr lang="zh-CN" altLang="en-US" sz="1600" dirty="0">
                <a:solidFill>
                  <a:srgbClr val="595959"/>
                </a:solidFill>
                <a:latin typeface="微软雅黑" panose="020B0503020204020204" pitchFamily="34" charset="-122"/>
                <a:ea typeface="微软雅黑" panose="020B0503020204020204" pitchFamily="34" charset="-122"/>
              </a:rPr>
              <a:t>。Pin支持IA-32、x86-64、MIC（</a:t>
            </a:r>
            <a:r>
              <a:rPr lang="en-US" altLang="zh-CN" sz="1600" dirty="0">
                <a:solidFill>
                  <a:srgbClr val="595959"/>
                </a:solidFill>
                <a:latin typeface="微软雅黑" panose="020B0503020204020204" pitchFamily="34" charset="-122"/>
                <a:ea typeface="微软雅黑" panose="020B0503020204020204" pitchFamily="34" charset="-122"/>
              </a:rPr>
              <a:t>Many Integrated Core</a:t>
            </a:r>
            <a:r>
              <a:rPr lang="zh-CN" altLang="en-US" sz="1600" dirty="0">
                <a:solidFill>
                  <a:srgbClr val="595959"/>
                </a:solidFill>
                <a:latin typeface="微软雅黑" panose="020B0503020204020204" pitchFamily="34" charset="-122"/>
                <a:ea typeface="微软雅黑" panose="020B0503020204020204" pitchFamily="34" charset="-122"/>
              </a:rPr>
              <a:t>，众核架构）体系，可以运行在Linux平台、Windows平台和Android平台上。Pin具有</a:t>
            </a:r>
            <a:r>
              <a:rPr lang="zh-CN" altLang="en-US" sz="1600" dirty="0">
                <a:solidFill>
                  <a:srgbClr val="0070C0"/>
                </a:solidFill>
                <a:latin typeface="微软雅黑" panose="020B0503020204020204" pitchFamily="34" charset="-122"/>
                <a:ea typeface="微软雅黑" panose="020B0503020204020204" pitchFamily="34" charset="-122"/>
              </a:rPr>
              <a:t>基本块分析器</a:t>
            </a:r>
            <a:r>
              <a:rPr lang="zh-CN" altLang="en-US"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缓存模拟器</a:t>
            </a:r>
            <a:r>
              <a:rPr lang="zh-CN" altLang="en-US"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指令跟踪生成器等模块</a:t>
            </a:r>
            <a:r>
              <a:rPr lang="zh-CN" altLang="en-US" sz="1600" dirty="0">
                <a:solidFill>
                  <a:srgbClr val="595959"/>
                </a:solidFill>
                <a:latin typeface="微软雅黑" panose="020B0503020204020204" pitchFamily="34" charset="-122"/>
                <a:ea typeface="微软雅黑" panose="020B0503020204020204" pitchFamily="34" charset="-122"/>
              </a:rPr>
              <a:t>，使用该工具</a:t>
            </a:r>
            <a:r>
              <a:rPr lang="zh-CN" altLang="en-US" sz="1600" dirty="0">
                <a:solidFill>
                  <a:srgbClr val="0070C0"/>
                </a:solidFill>
                <a:latin typeface="微软雅黑" panose="020B0503020204020204" pitchFamily="34" charset="-122"/>
                <a:ea typeface="微软雅黑" panose="020B0503020204020204" pitchFamily="34" charset="-122"/>
              </a:rPr>
              <a:t>可以创建程序分析工具</a:t>
            </a:r>
            <a:r>
              <a:rPr lang="zh-CN" altLang="en-US"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监视程序运行的状态信息</a:t>
            </a:r>
            <a:r>
              <a:rPr lang="zh-CN" altLang="en-US" sz="1600" dirty="0">
                <a:solidFill>
                  <a:srgbClr val="595959"/>
                </a:solidFill>
                <a:latin typeface="微软雅黑" panose="020B0503020204020204" pitchFamily="34" charset="-122"/>
                <a:ea typeface="微软雅黑" panose="020B0503020204020204" pitchFamily="34" charset="-122"/>
              </a:rPr>
              <a:t>等。Pin非常稳定可靠，</a:t>
            </a:r>
            <a:r>
              <a:rPr lang="zh-CN" altLang="en-US" sz="1600" dirty="0">
                <a:solidFill>
                  <a:srgbClr val="0070C0"/>
                </a:solidFill>
                <a:latin typeface="微软雅黑" panose="020B0503020204020204" pitchFamily="34" charset="-122"/>
                <a:ea typeface="微软雅黑" panose="020B0503020204020204" pitchFamily="34" charset="-122"/>
              </a:rPr>
              <a:t>常用于大型程序测试</a:t>
            </a:r>
            <a:r>
              <a:rPr lang="zh-CN" altLang="en-US" sz="1600" dirty="0">
                <a:solidFill>
                  <a:srgbClr val="595959"/>
                </a:solidFill>
                <a:latin typeface="微软雅黑" panose="020B0503020204020204" pitchFamily="34" charset="-122"/>
                <a:ea typeface="微软雅黑" panose="020B0503020204020204" pitchFamily="34" charset="-122"/>
              </a:rPr>
              <a:t>，（如Office办公软件、虚拟现实引擎等）测试。</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en-US" altLang="zh-CN" sz="1800" dirty="0">
                <a:solidFill>
                  <a:srgbClr val="595959"/>
                </a:solidFill>
                <a:latin typeface="微软雅黑" panose="020B0503020204020204" pitchFamily="34" charset="-122"/>
                <a:ea typeface="微软雅黑" panose="020B0503020204020204" pitchFamily="34" charset="-122"/>
                <a:sym typeface="+mn-ea"/>
              </a:rPr>
              <a:t>2</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595959"/>
                </a:solidFill>
                <a:latin typeface="微软雅黑" panose="020B0503020204020204" pitchFamily="34" charset="-122"/>
                <a:ea typeface="微软雅黑" panose="020B0503020204020204" pitchFamily="34" charset="-122"/>
              </a:rPr>
              <a:t>DynamoRIO</a:t>
            </a:r>
          </a:p>
          <a:p>
            <a:pPr indent="457200"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DynamoRIO是一个受许可的动态</a:t>
            </a:r>
            <a:r>
              <a:rPr lang="zh-CN" altLang="en-US" sz="1600" dirty="0">
                <a:solidFill>
                  <a:srgbClr val="0070C0"/>
                </a:solidFill>
                <a:latin typeface="微软雅黑" panose="020B0503020204020204" pitchFamily="34" charset="-122"/>
                <a:ea typeface="微软雅黑" panose="020B0503020204020204" pitchFamily="34" charset="-122"/>
              </a:rPr>
              <a:t>二进制代码检测框架</a:t>
            </a:r>
            <a:r>
              <a:rPr lang="zh-CN" altLang="en-US" sz="1600" dirty="0">
                <a:solidFill>
                  <a:srgbClr val="595959"/>
                </a:solidFill>
                <a:latin typeface="微软雅黑" panose="020B0503020204020204" pitchFamily="34" charset="-122"/>
                <a:ea typeface="微软雅黑" panose="020B0503020204020204" pitchFamily="34" charset="-122"/>
              </a:rPr>
              <a:t>，作为应用程序和操作系统的中间平台，它可以在程序执行时</a:t>
            </a:r>
            <a:r>
              <a:rPr lang="zh-CN" altLang="en-US" sz="1600" dirty="0">
                <a:solidFill>
                  <a:srgbClr val="0070C0"/>
                </a:solidFill>
                <a:latin typeface="微软雅黑" panose="020B0503020204020204" pitchFamily="34" charset="-122"/>
                <a:ea typeface="微软雅黑" panose="020B0503020204020204" pitchFamily="34" charset="-122"/>
              </a:rPr>
              <a:t>实现程序任何部分的代码转换</a:t>
            </a:r>
            <a:r>
              <a:rPr lang="zh-CN" altLang="en-US" sz="1600" dirty="0">
                <a:solidFill>
                  <a:srgbClr val="595959"/>
                </a:solidFill>
                <a:latin typeface="微软雅黑" panose="020B0503020204020204" pitchFamily="34" charset="-122"/>
                <a:ea typeface="微软雅黑" panose="020B0503020204020204" pitchFamily="34" charset="-122"/>
              </a:rPr>
              <a:t>。DynamoRIO支持IA-32、</a:t>
            </a:r>
            <a:r>
              <a:rPr lang="en-US" altLang="zh-CN" sz="1600" dirty="0">
                <a:solidFill>
                  <a:srgbClr val="595959"/>
                </a:solidFill>
                <a:latin typeface="微软雅黑" panose="020B0503020204020204" pitchFamily="34" charset="-122"/>
                <a:ea typeface="微软雅黑" panose="020B0503020204020204" pitchFamily="34" charset="-122"/>
              </a:rPr>
              <a:t>x86-64</a:t>
            </a:r>
            <a:r>
              <a:rPr lang="zh-CN" altLang="en-US" sz="1600" dirty="0">
                <a:solidFill>
                  <a:srgbClr val="595959"/>
                </a:solidFill>
                <a:latin typeface="微软雅黑" panose="020B0503020204020204" pitchFamily="34" charset="-122"/>
                <a:ea typeface="微软雅黑" panose="020B0503020204020204" pitchFamily="34" charset="-122"/>
              </a:rPr>
              <a:t>、AArch64体系，可以运行在Linux平台、Windows平台和Android平台上。DynamoRIO包含内存调试工具、内存跟踪工具、指令跟踪工具等。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掌握源代码插桩法的使用，能够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应用探针代码测试程序</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3.3.2	源代码插桩</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52023" y="1197794"/>
            <a:ext cx="10286365" cy="256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源代码插桩是在软件开发过程中，对</a:t>
            </a:r>
            <a:r>
              <a:rPr lang="zh-CN" altLang="en-US" sz="1800" dirty="0">
                <a:solidFill>
                  <a:srgbClr val="0070C0"/>
                </a:solidFill>
                <a:latin typeface="微软雅黑" panose="020B0503020204020204" pitchFamily="34" charset="-122"/>
                <a:ea typeface="微软雅黑" panose="020B0503020204020204" pitchFamily="34" charset="-122"/>
              </a:rPr>
              <a:t>高级语言</a:t>
            </a:r>
            <a:r>
              <a:rPr lang="zh-CN" altLang="en-US" sz="1800" dirty="0">
                <a:solidFill>
                  <a:srgbClr val="595959"/>
                </a:solidFill>
                <a:latin typeface="微软雅黑" panose="020B0503020204020204" pitchFamily="34" charset="-122"/>
                <a:ea typeface="微软雅黑" panose="020B0503020204020204" pitchFamily="34" charset="-122"/>
              </a:rPr>
              <a:t>编写的源代码进行插桩处理，以此获取</a:t>
            </a:r>
            <a:r>
              <a:rPr lang="zh-CN" altLang="en-US" sz="1800" dirty="0">
                <a:solidFill>
                  <a:srgbClr val="0070C0"/>
                </a:solidFill>
                <a:latin typeface="微软雅黑" panose="020B0503020204020204" pitchFamily="34" charset="-122"/>
                <a:ea typeface="微软雅黑" panose="020B0503020204020204" pitchFamily="34" charset="-122"/>
              </a:rPr>
              <a:t>程序运行信息、辅助程序调试与测试</a:t>
            </a:r>
            <a:r>
              <a:rPr lang="zh-CN" altLang="en-US" sz="1800" dirty="0">
                <a:solidFill>
                  <a:srgbClr val="595959"/>
                </a:solidFill>
                <a:latin typeface="微软雅黑" panose="020B0503020204020204" pitchFamily="34" charset="-122"/>
                <a:ea typeface="微软雅黑" panose="020B0503020204020204" pitchFamily="34" charset="-122"/>
              </a:rPr>
              <a:t>的一种技术手段。</a:t>
            </a:r>
            <a:endParaRPr lang="en-US" altLang="zh-CN" sz="18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在程序的源代码层面，依据测试、调试或分析的需求，在合适的位置插入特定的代码片段（桩代码）。当对插入桩代码后的源程序进行编译、链接并运行时，这些桩代码会随着程序的执行而被触发，进而实现对</a:t>
            </a:r>
            <a:r>
              <a:rPr lang="zh-CN" altLang="en-US" sz="1800" dirty="0">
                <a:solidFill>
                  <a:srgbClr val="0070C0"/>
                </a:solidFill>
                <a:latin typeface="微软雅黑" panose="020B0503020204020204" pitchFamily="34" charset="-122"/>
                <a:ea typeface="微软雅黑" panose="020B0503020204020204" pitchFamily="34" charset="-122"/>
              </a:rPr>
              <a:t>程序运行状态和行为的监控</a:t>
            </a:r>
            <a:r>
              <a:rPr lang="zh-CN" altLang="en-US" sz="1800" dirty="0">
                <a:solidFill>
                  <a:srgbClr val="595959"/>
                </a:solidFill>
                <a:latin typeface="微软雅黑" panose="020B0503020204020204" pitchFamily="34" charset="-122"/>
                <a:ea typeface="微软雅黑" panose="020B0503020204020204" pitchFamily="34" charset="-122"/>
              </a:rPr>
              <a:t>。 比如，在一个用 </a:t>
            </a:r>
            <a:r>
              <a:rPr lang="en-US" altLang="zh-CN" sz="1800" dirty="0">
                <a:solidFill>
                  <a:srgbClr val="595959"/>
                </a:solidFill>
                <a:latin typeface="微软雅黑" panose="020B0503020204020204" pitchFamily="34" charset="-122"/>
                <a:ea typeface="微软雅黑" panose="020B0503020204020204" pitchFamily="34" charset="-122"/>
              </a:rPr>
              <a:t>C </a:t>
            </a:r>
            <a:r>
              <a:rPr lang="zh-CN" altLang="en-US" sz="1800" dirty="0">
                <a:solidFill>
                  <a:srgbClr val="595959"/>
                </a:solidFill>
                <a:latin typeface="微软雅黑" panose="020B0503020204020204" pitchFamily="34" charset="-122"/>
                <a:ea typeface="微软雅黑" panose="020B0503020204020204" pitchFamily="34" charset="-122"/>
              </a:rPr>
              <a:t>语言编写的计算函数中，为了获取函数中某个变量在每次循环时的值，可在循环体中插入打印该变量值的桩代码。</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3.3.2	源代码插桩</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5A11E-9C04-79E8-45E0-4579C7F3C8AC}"/>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D8237DB9-ADC3-D72B-A94D-C9A4D8FC79BF}"/>
              </a:ext>
            </a:extLst>
          </p:cNvPr>
          <p:cNvSpPr txBox="1">
            <a:spLocks noChangeArrowheads="1"/>
          </p:cNvSpPr>
          <p:nvPr/>
        </p:nvSpPr>
        <p:spPr bwMode="auto">
          <a:xfrm>
            <a:off x="839206" y="909794"/>
            <a:ext cx="5400225" cy="589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一、插桩过程</a:t>
            </a:r>
          </a:p>
          <a:p>
            <a:pPr marL="285750" indent="-285750" algn="just">
              <a:lnSpc>
                <a:spcPct val="150000"/>
              </a:lnSpc>
              <a:buClrTx/>
              <a:buSzTx/>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源文件：待测试的程序源代码。</a:t>
            </a:r>
          </a:p>
          <a:p>
            <a:pPr marL="285750" indent="-285750" algn="just">
              <a:lnSpc>
                <a:spcPct val="150000"/>
              </a:lnSpc>
              <a:buClrTx/>
              <a:buSzTx/>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预处理：对源文件进行预处理操作。</a:t>
            </a:r>
          </a:p>
          <a:p>
            <a:pPr marL="285750" indent="-285750" algn="just">
              <a:lnSpc>
                <a:spcPct val="150000"/>
              </a:lnSpc>
              <a:buClrTx/>
              <a:buSzTx/>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词法 </a:t>
            </a:r>
            <a:r>
              <a:rPr lang="en-US" altLang="zh-CN" sz="1800" dirty="0">
                <a:solidFill>
                  <a:srgbClr val="595959"/>
                </a:solidFill>
                <a:latin typeface="微软雅黑" panose="020B0503020204020204" pitchFamily="34" charset="-122"/>
                <a:ea typeface="微软雅黑" panose="020B0503020204020204" pitchFamily="34" charset="-122"/>
              </a:rPr>
              <a:t>/ </a:t>
            </a:r>
            <a:r>
              <a:rPr lang="zh-CN" altLang="en-US" sz="1800" dirty="0">
                <a:solidFill>
                  <a:srgbClr val="595959"/>
                </a:solidFill>
                <a:latin typeface="微软雅黑" panose="020B0503020204020204" pitchFamily="34" charset="-122"/>
                <a:ea typeface="微软雅黑" panose="020B0503020204020204" pitchFamily="34" charset="-122"/>
              </a:rPr>
              <a:t>语法分析：对预处理后的代码进行 “拆解”</a:t>
            </a:r>
            <a:r>
              <a:rPr lang="en-US" altLang="zh-CN" sz="1800" dirty="0">
                <a:solidFill>
                  <a:srgbClr val="595959"/>
                </a:solidFill>
                <a:latin typeface="微软雅黑" panose="020B0503020204020204" pitchFamily="34" charset="-122"/>
                <a:ea typeface="微软雅黑" panose="020B0503020204020204" pitchFamily="34" charset="-122"/>
              </a:rPr>
              <a:t>—— </a:t>
            </a:r>
            <a:r>
              <a:rPr lang="zh-CN" altLang="en-US" sz="1800" dirty="0">
                <a:solidFill>
                  <a:srgbClr val="595959"/>
                </a:solidFill>
                <a:latin typeface="微软雅黑" panose="020B0503020204020204" pitchFamily="34" charset="-122"/>
                <a:ea typeface="微软雅黑" panose="020B0503020204020204" pitchFamily="34" charset="-122"/>
              </a:rPr>
              <a:t>词法分析将代码拆分为一个个</a:t>
            </a:r>
            <a:r>
              <a:rPr lang="zh-CN" altLang="en-US" sz="1800" dirty="0">
                <a:solidFill>
                  <a:srgbClr val="0070C0"/>
                </a:solidFill>
                <a:latin typeface="微软雅黑" panose="020B0503020204020204" pitchFamily="34" charset="-122"/>
                <a:ea typeface="微软雅黑" panose="020B0503020204020204" pitchFamily="34" charset="-122"/>
              </a:rPr>
              <a:t>标记</a:t>
            </a:r>
            <a:r>
              <a:rPr lang="zh-CN" altLang="en-US" sz="1800" dirty="0">
                <a:solidFill>
                  <a:srgbClr val="595959"/>
                </a:solidFill>
                <a:latin typeface="微软雅黑" panose="020B0503020204020204" pitchFamily="34" charset="-122"/>
                <a:ea typeface="微软雅黑" panose="020B0503020204020204" pitchFamily="34" charset="-122"/>
              </a:rPr>
              <a:t>（如关键字、变量名、运算符）；语法分析则基于标记</a:t>
            </a:r>
            <a:r>
              <a:rPr lang="zh-CN" altLang="en-US" sz="1800" dirty="0">
                <a:solidFill>
                  <a:srgbClr val="0070C0"/>
                </a:solidFill>
                <a:latin typeface="微软雅黑" panose="020B0503020204020204" pitchFamily="34" charset="-122"/>
                <a:ea typeface="微软雅黑" panose="020B0503020204020204" pitchFamily="34" charset="-122"/>
              </a:rPr>
              <a:t>构建语法树，明确代码的逻辑结构</a:t>
            </a:r>
            <a:r>
              <a:rPr lang="zh-CN" altLang="en-US" sz="1800" dirty="0">
                <a:solidFill>
                  <a:srgbClr val="595959"/>
                </a:solidFill>
                <a:latin typeface="微软雅黑" panose="020B0503020204020204" pitchFamily="34" charset="-122"/>
                <a:ea typeface="微软雅黑" panose="020B0503020204020204" pitchFamily="34" charset="-122"/>
              </a:rPr>
              <a:t>（如函数、分支、循环的层次关系）。</a:t>
            </a:r>
          </a:p>
          <a:p>
            <a:pPr marL="285750" indent="-285750" algn="just">
              <a:lnSpc>
                <a:spcPct val="150000"/>
              </a:lnSpc>
              <a:buClrTx/>
              <a:buSzTx/>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插入探针代码：根据测试需求，在代码的关键位置（如函数入口 </a:t>
            </a:r>
            <a:r>
              <a:rPr lang="en-US" altLang="zh-CN" sz="1800" dirty="0">
                <a:solidFill>
                  <a:srgbClr val="595959"/>
                </a:solidFill>
                <a:latin typeface="微软雅黑" panose="020B0503020204020204" pitchFamily="34" charset="-122"/>
                <a:ea typeface="微软雅黑" panose="020B0503020204020204" pitchFamily="34" charset="-122"/>
              </a:rPr>
              <a:t>/ </a:t>
            </a:r>
            <a:r>
              <a:rPr lang="zh-CN" altLang="en-US" sz="1800" dirty="0">
                <a:solidFill>
                  <a:srgbClr val="595959"/>
                </a:solidFill>
                <a:latin typeface="微软雅黑" panose="020B0503020204020204" pitchFamily="34" charset="-122"/>
                <a:ea typeface="微软雅黑" panose="020B0503020204020204" pitchFamily="34" charset="-122"/>
              </a:rPr>
              <a:t>出口、分支判断处等）插入 “</a:t>
            </a:r>
            <a:r>
              <a:rPr lang="zh-CN" altLang="en-US" sz="1800" dirty="0">
                <a:solidFill>
                  <a:srgbClr val="0070C0"/>
                </a:solidFill>
                <a:latin typeface="微软雅黑" panose="020B0503020204020204" pitchFamily="34" charset="-122"/>
                <a:ea typeface="微软雅黑" panose="020B0503020204020204" pitchFamily="34" charset="-122"/>
              </a:rPr>
              <a:t>探针代码</a:t>
            </a:r>
            <a:r>
              <a:rPr lang="zh-CN" altLang="en-US" sz="1800" dirty="0">
                <a:solidFill>
                  <a:srgbClr val="595959"/>
                </a:solidFill>
                <a:latin typeface="微软雅黑" panose="020B0503020204020204" pitchFamily="34" charset="-122"/>
                <a:ea typeface="微软雅黑" panose="020B0503020204020204" pitchFamily="34" charset="-122"/>
              </a:rPr>
              <a:t>”（即</a:t>
            </a:r>
            <a:r>
              <a:rPr lang="zh-CN" altLang="en-US" sz="1800" dirty="0">
                <a:solidFill>
                  <a:srgbClr val="0070C0"/>
                </a:solidFill>
                <a:latin typeface="微软雅黑" panose="020B0503020204020204" pitchFamily="34" charset="-122"/>
                <a:ea typeface="微软雅黑" panose="020B0503020204020204" pitchFamily="34" charset="-122"/>
              </a:rPr>
              <a:t>用于收集测试信息的代码片段</a:t>
            </a:r>
            <a:r>
              <a:rPr lang="zh-CN" altLang="en-US" sz="1800" dirty="0">
                <a:solidFill>
                  <a:srgbClr val="595959"/>
                </a:solidFill>
                <a:latin typeface="微软雅黑" panose="020B0503020204020204" pitchFamily="34" charset="-122"/>
                <a:ea typeface="微软雅黑" panose="020B0503020204020204" pitchFamily="34" charset="-122"/>
              </a:rPr>
              <a:t>，比如记录代码执行次数、变量值变化等）。</a:t>
            </a:r>
          </a:p>
          <a:p>
            <a:pPr marL="285750" indent="-285750" algn="just">
              <a:lnSpc>
                <a:spcPct val="150000"/>
              </a:lnSpc>
              <a:buClrTx/>
              <a:buSzTx/>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编译器：将插入探针代码后的源代码编译成</a:t>
            </a:r>
            <a:r>
              <a:rPr lang="zh-CN" altLang="en-US" sz="1800" dirty="0">
                <a:solidFill>
                  <a:srgbClr val="0070C0"/>
                </a:solidFill>
                <a:latin typeface="微软雅黑" panose="020B0503020204020204" pitchFamily="34" charset="-122"/>
                <a:ea typeface="微软雅黑" panose="020B0503020204020204" pitchFamily="34" charset="-122"/>
              </a:rPr>
              <a:t>含有测试代码的可执行程序</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2" name="Title 1">
            <a:extLst>
              <a:ext uri="{FF2B5EF4-FFF2-40B4-BE49-F238E27FC236}">
                <a16:creationId xmlns:a16="http://schemas.microsoft.com/office/drawing/2014/main" id="{BAB37AF3-EB4D-8AB5-709A-FA58328D9D22}"/>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3.3.2	源代码插桩</a:t>
            </a:r>
          </a:p>
        </p:txBody>
      </p:sp>
      <p:pic>
        <p:nvPicPr>
          <p:cNvPr id="4" name="图片 3">
            <a:extLst>
              <a:ext uri="{FF2B5EF4-FFF2-40B4-BE49-F238E27FC236}">
                <a16:creationId xmlns:a16="http://schemas.microsoft.com/office/drawing/2014/main" id="{D4A6DC52-84A8-F1D8-AE36-FCB3C1BB7E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27206" y="1314858"/>
            <a:ext cx="5328000" cy="4634775"/>
          </a:xfrm>
          <a:prstGeom prst="rect">
            <a:avLst/>
          </a:prstGeom>
        </p:spPr>
      </p:pic>
    </p:spTree>
    <p:extLst>
      <p:ext uri="{BB962C8B-B14F-4D97-AF65-F5344CB8AC3E}">
        <p14:creationId xmlns:p14="http://schemas.microsoft.com/office/powerpoint/2010/main" val="755797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2BA70-E889-F693-215D-AB75926F410D}"/>
            </a:ext>
          </a:extLst>
        </p:cNvPr>
        <p:cNvGrpSpPr/>
        <p:nvPr/>
      </p:nvGrpSpPr>
      <p:grpSpPr>
        <a:xfrm>
          <a:off x="0" y="0"/>
          <a:ext cx="0" cy="0"/>
          <a:chOff x="0" y="0"/>
          <a:chExt cx="0" cy="0"/>
        </a:xfrm>
      </p:grpSpPr>
      <p:sp>
        <p:nvSpPr>
          <p:cNvPr id="47" name="TextBox 35">
            <a:extLst>
              <a:ext uri="{FF2B5EF4-FFF2-40B4-BE49-F238E27FC236}">
                <a16:creationId xmlns:a16="http://schemas.microsoft.com/office/drawing/2014/main" id="{EE5F7631-1EA2-9129-F013-F453A1B05577}"/>
              </a:ext>
            </a:extLst>
          </p:cNvPr>
          <p:cNvSpPr txBox="1">
            <a:spLocks noChangeArrowheads="1"/>
          </p:cNvSpPr>
          <p:nvPr/>
        </p:nvSpPr>
        <p:spPr bwMode="auto">
          <a:xfrm>
            <a:off x="839206" y="909794"/>
            <a:ext cx="5400225" cy="547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二、测试运行过程</a:t>
            </a:r>
            <a:endParaRPr lang="en-US" altLang="zh-CN"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含有测试代码的可执行程序：运行插桩后的程序，此时程序不仅执行原有功能，还会通过探针代码收集测试信息。</a:t>
            </a:r>
          </a:p>
          <a:p>
            <a:pPr marL="285750" indent="-285750" algn="just">
              <a:lnSpc>
                <a:spcPct val="150000"/>
              </a:lnSpc>
              <a:buClrTx/>
              <a:buSzTx/>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测试信息分析：程序运行过程中，探针代码会持续收集数据；运行结束后，对这些数据进行分析。</a:t>
            </a:r>
          </a:p>
          <a:p>
            <a:pPr marL="285750" indent="-285750" algn="just">
              <a:lnSpc>
                <a:spcPct val="150000"/>
              </a:lnSpc>
              <a:buClrTx/>
              <a:buSzTx/>
              <a:buFont typeface="Wingdings" panose="05000000000000000000" pitchFamily="2" charset="2"/>
              <a:buChar char="l"/>
            </a:pPr>
            <a:r>
              <a:rPr lang="zh-CN" altLang="en-US" sz="1800" dirty="0">
                <a:solidFill>
                  <a:srgbClr val="595959"/>
                </a:solidFill>
                <a:latin typeface="微软雅黑" panose="020B0503020204020204" pitchFamily="34" charset="-122"/>
                <a:ea typeface="微软雅黑" panose="020B0503020204020204" pitchFamily="34" charset="-122"/>
              </a:rPr>
              <a:t>测试覆盖分析：通过分析收集到的测试信息，评估程序的测试覆盖程度，常见的覆盖类型包括：</a:t>
            </a:r>
          </a:p>
          <a:p>
            <a:pPr marL="540000" indent="-285750" algn="just">
              <a:lnSpc>
                <a:spcPct val="150000"/>
              </a:lnSpc>
              <a:buClrTx/>
              <a:buSzTx/>
              <a:buFont typeface="Wingdings" panose="05000000000000000000" pitchFamily="2" charset="2"/>
              <a:buChar char="Ø"/>
            </a:pPr>
            <a:r>
              <a:rPr lang="zh-CN" altLang="en-US" sz="1800" dirty="0">
                <a:solidFill>
                  <a:srgbClr val="595959"/>
                </a:solidFill>
                <a:latin typeface="微软雅黑" panose="020B0503020204020204" pitchFamily="34" charset="-122"/>
                <a:ea typeface="微软雅黑" panose="020B0503020204020204" pitchFamily="34" charset="-122"/>
              </a:rPr>
              <a:t>语句覆盖。</a:t>
            </a:r>
          </a:p>
          <a:p>
            <a:pPr marL="540000" indent="-285750" algn="just">
              <a:lnSpc>
                <a:spcPct val="150000"/>
              </a:lnSpc>
              <a:buClrTx/>
              <a:buSzTx/>
              <a:buFont typeface="Wingdings" panose="05000000000000000000" pitchFamily="2" charset="2"/>
              <a:buChar char="Ø"/>
            </a:pPr>
            <a:r>
              <a:rPr lang="zh-CN" altLang="en-US" sz="1800" dirty="0">
                <a:solidFill>
                  <a:srgbClr val="595959"/>
                </a:solidFill>
                <a:latin typeface="微软雅黑" panose="020B0503020204020204" pitchFamily="34" charset="-122"/>
                <a:ea typeface="微软雅黑" panose="020B0503020204020204" pitchFamily="34" charset="-122"/>
              </a:rPr>
              <a:t>判定覆盖。</a:t>
            </a:r>
          </a:p>
          <a:p>
            <a:pPr marL="540000" indent="-285750" algn="just">
              <a:lnSpc>
                <a:spcPct val="150000"/>
              </a:lnSpc>
              <a:buClrTx/>
              <a:buSzTx/>
              <a:buFont typeface="Wingdings" panose="05000000000000000000" pitchFamily="2" charset="2"/>
              <a:buChar char="Ø"/>
            </a:pPr>
            <a:r>
              <a:rPr lang="zh-CN" altLang="en-US" sz="1800" dirty="0">
                <a:solidFill>
                  <a:srgbClr val="595959"/>
                </a:solidFill>
                <a:latin typeface="微软雅黑" panose="020B0503020204020204" pitchFamily="34" charset="-122"/>
                <a:ea typeface="微软雅黑" panose="020B0503020204020204" pitchFamily="34" charset="-122"/>
              </a:rPr>
              <a:t>条件覆盖。</a:t>
            </a:r>
          </a:p>
          <a:p>
            <a:pPr marL="540000" indent="-285750" algn="just">
              <a:lnSpc>
                <a:spcPct val="150000"/>
              </a:lnSpc>
              <a:buClrTx/>
              <a:buSzTx/>
              <a:buFont typeface="Wingdings" panose="05000000000000000000" pitchFamily="2" charset="2"/>
              <a:buChar char="Ø"/>
            </a:pPr>
            <a:r>
              <a:rPr lang="zh-CN" altLang="en-US" sz="1800" dirty="0">
                <a:solidFill>
                  <a:srgbClr val="595959"/>
                </a:solidFill>
                <a:latin typeface="微软雅黑" panose="020B0503020204020204" pitchFamily="34" charset="-122"/>
                <a:ea typeface="微软雅黑" panose="020B0503020204020204" pitchFamily="34" charset="-122"/>
              </a:rPr>
              <a:t>判定 </a:t>
            </a:r>
            <a:r>
              <a:rPr lang="en-US" altLang="zh-CN" sz="1800" dirty="0">
                <a:solidFill>
                  <a:srgbClr val="595959"/>
                </a:solidFill>
                <a:latin typeface="微软雅黑" panose="020B0503020204020204" pitchFamily="34" charset="-122"/>
                <a:ea typeface="微软雅黑" panose="020B0503020204020204" pitchFamily="34" charset="-122"/>
              </a:rPr>
              <a:t>- </a:t>
            </a:r>
            <a:r>
              <a:rPr lang="zh-CN" altLang="en-US" sz="1800" dirty="0">
                <a:solidFill>
                  <a:srgbClr val="595959"/>
                </a:solidFill>
                <a:latin typeface="微软雅黑" panose="020B0503020204020204" pitchFamily="34" charset="-122"/>
                <a:ea typeface="微软雅黑" panose="020B0503020204020204" pitchFamily="34" charset="-122"/>
              </a:rPr>
              <a:t>条件覆盖。</a:t>
            </a:r>
          </a:p>
          <a:p>
            <a:pPr marL="540000" indent="-285750" algn="just">
              <a:lnSpc>
                <a:spcPct val="150000"/>
              </a:lnSpc>
              <a:buClrTx/>
              <a:buSzTx/>
              <a:buFont typeface="Wingdings" panose="05000000000000000000" pitchFamily="2" charset="2"/>
              <a:buChar char="Ø"/>
            </a:pPr>
            <a:r>
              <a:rPr lang="zh-CN" altLang="en-US" sz="1800" dirty="0">
                <a:solidFill>
                  <a:srgbClr val="595959"/>
                </a:solidFill>
                <a:latin typeface="微软雅黑" panose="020B0503020204020204" pitchFamily="34" charset="-122"/>
                <a:ea typeface="微软雅黑" panose="020B0503020204020204" pitchFamily="34" charset="-122"/>
              </a:rPr>
              <a:t>条件组合覆盖。</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2" name="Title 1">
            <a:extLst>
              <a:ext uri="{FF2B5EF4-FFF2-40B4-BE49-F238E27FC236}">
                <a16:creationId xmlns:a16="http://schemas.microsoft.com/office/drawing/2014/main" id="{8E8738BC-D1BA-90E2-61BA-9ED600AF2EB6}"/>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3.3.2	源代码插桩</a:t>
            </a:r>
          </a:p>
        </p:txBody>
      </p:sp>
      <p:pic>
        <p:nvPicPr>
          <p:cNvPr id="4" name="图片 3">
            <a:extLst>
              <a:ext uri="{FF2B5EF4-FFF2-40B4-BE49-F238E27FC236}">
                <a16:creationId xmlns:a16="http://schemas.microsoft.com/office/drawing/2014/main" id="{FC376799-7C64-EF5D-B892-A535101875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27206" y="1314858"/>
            <a:ext cx="5328000" cy="4634775"/>
          </a:xfrm>
          <a:prstGeom prst="rect">
            <a:avLst/>
          </a:prstGeom>
        </p:spPr>
      </p:pic>
    </p:spTree>
    <p:extLst>
      <p:ext uri="{BB962C8B-B14F-4D97-AF65-F5344CB8AC3E}">
        <p14:creationId xmlns:p14="http://schemas.microsoft.com/office/powerpoint/2010/main" val="40066825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353613" y="1496615"/>
            <a:ext cx="4886139" cy="2982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通过一个小案例来讲解</a:t>
            </a:r>
            <a:r>
              <a:rPr lang="zh-CN" altLang="en-US" sz="1800" dirty="0">
                <a:solidFill>
                  <a:srgbClr val="0070C0"/>
                </a:solidFill>
                <a:latin typeface="微软雅黑" panose="020B0503020204020204" pitchFamily="34" charset="-122"/>
                <a:ea typeface="微软雅黑" panose="020B0503020204020204" pitchFamily="34" charset="-122"/>
              </a:rPr>
              <a:t>源代码插桩</a:t>
            </a:r>
            <a:r>
              <a:rPr lang="zh-CN" altLang="en-US" sz="1800" dirty="0">
                <a:solidFill>
                  <a:srgbClr val="595959"/>
                </a:solidFill>
                <a:latin typeface="微软雅黑" panose="020B0503020204020204" pitchFamily="34" charset="-122"/>
                <a:ea typeface="微软雅黑" panose="020B0503020204020204" pitchFamily="34" charset="-122"/>
              </a:rPr>
              <a:t>，该案例是一个</a:t>
            </a:r>
            <a:r>
              <a:rPr lang="zh-CN" altLang="en-US" sz="1800" dirty="0">
                <a:solidFill>
                  <a:srgbClr val="0070C0"/>
                </a:solidFill>
                <a:latin typeface="微软雅黑" panose="020B0503020204020204" pitchFamily="34" charset="-122"/>
                <a:ea typeface="微软雅黑" panose="020B0503020204020204" pitchFamily="34" charset="-122"/>
              </a:rPr>
              <a:t>除法运算</a:t>
            </a:r>
            <a:r>
              <a:rPr lang="zh-CN" altLang="en-US" sz="1800" dirty="0">
                <a:solidFill>
                  <a:srgbClr val="595959"/>
                </a:solidFill>
                <a:latin typeface="微软雅黑" panose="020B0503020204020204" pitchFamily="34" charset="-122"/>
                <a:ea typeface="微软雅黑" panose="020B0503020204020204" pitchFamily="34" charset="-122"/>
              </a:rPr>
              <a:t>，具体代码如图所示。</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程序运行后，提示输入被除数和除数，在输入除数后，程序宏函数ASSERT(y)判断除数是否为0，若</a:t>
            </a:r>
            <a:r>
              <a:rPr lang="zh-CN" altLang="en-US" sz="1800" dirty="0">
                <a:solidFill>
                  <a:srgbClr val="0070C0"/>
                </a:solidFill>
                <a:latin typeface="微软雅黑" panose="020B0503020204020204" pitchFamily="34" charset="-122"/>
                <a:ea typeface="微软雅黑" panose="020B0503020204020204" pitchFamily="34" charset="-122"/>
              </a:rPr>
              <a:t>除数为0</a:t>
            </a:r>
            <a:r>
              <a:rPr lang="zh-CN" altLang="en-US" sz="1800" dirty="0">
                <a:solidFill>
                  <a:srgbClr val="595959"/>
                </a:solidFill>
                <a:latin typeface="微软雅黑" panose="020B0503020204020204" pitchFamily="34" charset="-122"/>
                <a:ea typeface="微软雅黑" panose="020B0503020204020204" pitchFamily="34" charset="-122"/>
              </a:rPr>
              <a:t>则</a:t>
            </a:r>
            <a:r>
              <a:rPr lang="zh-CN" altLang="en-US" sz="1800" dirty="0">
                <a:solidFill>
                  <a:srgbClr val="0070C0"/>
                </a:solidFill>
                <a:latin typeface="微软雅黑" panose="020B0503020204020204" pitchFamily="34" charset="-122"/>
                <a:ea typeface="微软雅黑" panose="020B0503020204020204" pitchFamily="34" charset="-122"/>
              </a:rPr>
              <a:t>输出错误信息</a:t>
            </a:r>
            <a:r>
              <a:rPr lang="zh-CN" altLang="en-US" sz="1800" dirty="0">
                <a:solidFill>
                  <a:srgbClr val="595959"/>
                </a:solidFill>
                <a:latin typeface="微软雅黑" panose="020B0503020204020204" pitchFamily="34" charset="-122"/>
                <a:ea typeface="微软雅黑" panose="020B0503020204020204" pitchFamily="34" charset="-122"/>
              </a:rPr>
              <a:t>，程序运行结束；若</a:t>
            </a:r>
            <a:r>
              <a:rPr lang="zh-CN" altLang="en-US" sz="1800" dirty="0">
                <a:solidFill>
                  <a:srgbClr val="0070C0"/>
                </a:solidFill>
                <a:latin typeface="微软雅黑" panose="020B0503020204020204" pitchFamily="34" charset="-122"/>
                <a:ea typeface="微软雅黑" panose="020B0503020204020204" pitchFamily="34" charset="-122"/>
              </a:rPr>
              <a:t>除数不为0</a:t>
            </a:r>
            <a:r>
              <a:rPr lang="zh-CN" altLang="en-US" sz="1800" dirty="0">
                <a:solidFill>
                  <a:srgbClr val="595959"/>
                </a:solidFill>
                <a:latin typeface="微软雅黑" panose="020B0503020204020204" pitchFamily="34" charset="-122"/>
                <a:ea typeface="微软雅黑" panose="020B0503020204020204" pitchFamily="34" charset="-122"/>
              </a:rPr>
              <a:t>，则</a:t>
            </a:r>
            <a:r>
              <a:rPr lang="zh-CN" altLang="en-US" sz="1800" dirty="0">
                <a:solidFill>
                  <a:srgbClr val="0070C0"/>
                </a:solidFill>
                <a:latin typeface="微软雅黑" panose="020B0503020204020204" pitchFamily="34" charset="-122"/>
                <a:ea typeface="微软雅黑" panose="020B0503020204020204" pitchFamily="34" charset="-122"/>
              </a:rPr>
              <a:t>进行除法运算</a:t>
            </a:r>
            <a:r>
              <a:rPr lang="zh-CN" altLang="en-US" sz="1800" dirty="0">
                <a:solidFill>
                  <a:srgbClr val="595959"/>
                </a:solidFill>
                <a:latin typeface="微软雅黑" panose="020B0503020204020204" pitchFamily="34" charset="-122"/>
                <a:ea typeface="微软雅黑" panose="020B0503020204020204" pitchFamily="34" charset="-122"/>
              </a:rPr>
              <a:t>并</a:t>
            </a:r>
            <a:r>
              <a:rPr lang="zh-CN" altLang="en-US" sz="1800" dirty="0">
                <a:solidFill>
                  <a:srgbClr val="0070C0"/>
                </a:solidFill>
                <a:latin typeface="微软雅黑" panose="020B0503020204020204" pitchFamily="34" charset="-122"/>
                <a:ea typeface="微软雅黑" panose="020B0503020204020204" pitchFamily="34" charset="-122"/>
              </a:rPr>
              <a:t>输出</a:t>
            </a:r>
            <a:r>
              <a:rPr lang="zh-CN" altLang="en-US" sz="1800" dirty="0">
                <a:solidFill>
                  <a:srgbClr val="595959"/>
                </a:solidFill>
                <a:latin typeface="微软雅黑" panose="020B0503020204020204" pitchFamily="34" charset="-122"/>
                <a:ea typeface="微软雅黑" panose="020B0503020204020204" pitchFamily="34" charset="-122"/>
              </a:rPr>
              <a:t>计算</a:t>
            </a:r>
            <a:r>
              <a:rPr lang="zh-CN" altLang="en-US" sz="1800" dirty="0">
                <a:solidFill>
                  <a:srgbClr val="0070C0"/>
                </a:solidFill>
                <a:latin typeface="微软雅黑" panose="020B0503020204020204" pitchFamily="34" charset="-122"/>
                <a:ea typeface="微软雅黑" panose="020B0503020204020204" pitchFamily="34" charset="-122"/>
              </a:rPr>
              <a:t>结果</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3.3.2	源代码插桩</a:t>
            </a:r>
          </a:p>
        </p:txBody>
      </p:sp>
      <p:sp>
        <p:nvSpPr>
          <p:cNvPr id="4" name="文本框 3">
            <a:extLst>
              <a:ext uri="{FF2B5EF4-FFF2-40B4-BE49-F238E27FC236}">
                <a16:creationId xmlns:a16="http://schemas.microsoft.com/office/drawing/2014/main" id="{EFA10105-8A50-35E0-90FE-16A55C397597}"/>
              </a:ext>
            </a:extLst>
          </p:cNvPr>
          <p:cNvSpPr txBox="1"/>
          <p:nvPr/>
        </p:nvSpPr>
        <p:spPr>
          <a:xfrm>
            <a:off x="5591206" y="1053794"/>
            <a:ext cx="6264000" cy="4278094"/>
          </a:xfrm>
          <a:prstGeom prst="rect">
            <a:avLst/>
          </a:prstGeom>
          <a:noFill/>
        </p:spPr>
        <p:txBody>
          <a:bodyPr wrap="square">
            <a:spAutoFit/>
          </a:bodyPr>
          <a:lstStyle/>
          <a:p>
            <a:pPr algn="l">
              <a:buNone/>
            </a:pPr>
            <a:r>
              <a:rPr lang="en-US" altLang="zh-CN" sz="1600" dirty="0">
                <a:solidFill>
                  <a:srgbClr val="595959"/>
                </a:solidFill>
                <a:latin typeface="微软雅黑" panose="020B0503020204020204" pitchFamily="34" charset="-122"/>
                <a:ea typeface="微软雅黑" panose="020B0503020204020204" pitchFamily="34" charset="-122"/>
              </a:rPr>
              <a:t>#include &lt;</a:t>
            </a:r>
            <a:r>
              <a:rPr lang="en-US" altLang="zh-CN" sz="1600" dirty="0" err="1">
                <a:solidFill>
                  <a:srgbClr val="595959"/>
                </a:solidFill>
                <a:latin typeface="微软雅黑" panose="020B0503020204020204" pitchFamily="34" charset="-122"/>
                <a:ea typeface="微软雅黑" panose="020B0503020204020204" pitchFamily="34" charset="-122"/>
              </a:rPr>
              <a:t>stdio.h</a:t>
            </a:r>
            <a:r>
              <a:rPr lang="en-US" altLang="zh-CN" sz="1600" dirty="0">
                <a:solidFill>
                  <a:srgbClr val="595959"/>
                </a:solidFill>
                <a:latin typeface="微软雅黑" panose="020B0503020204020204" pitchFamily="34" charset="-122"/>
                <a:ea typeface="微软雅黑" panose="020B0503020204020204" pitchFamily="34" charset="-122"/>
              </a:rPr>
              <a:t>&gt;</a:t>
            </a:r>
          </a:p>
          <a:p>
            <a:pPr algn="l">
              <a:buNone/>
            </a:pPr>
            <a:r>
              <a:rPr lang="en-US" altLang="zh-CN"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rPr>
              <a:t>定义</a:t>
            </a:r>
            <a:r>
              <a:rPr lang="en-US" altLang="zh-CN" sz="1600" dirty="0">
                <a:solidFill>
                  <a:srgbClr val="595959"/>
                </a:solidFill>
                <a:latin typeface="微软雅黑" panose="020B0503020204020204" pitchFamily="34" charset="-122"/>
                <a:ea typeface="微软雅黑" panose="020B0503020204020204" pitchFamily="34" charset="-122"/>
              </a:rPr>
              <a:t>ASSERT(y)</a:t>
            </a:r>
          </a:p>
          <a:p>
            <a:pPr algn="l">
              <a:buNone/>
            </a:pPr>
            <a:r>
              <a:rPr lang="en-US" altLang="zh-CN" sz="1600" dirty="0">
                <a:solidFill>
                  <a:srgbClr val="595959"/>
                </a:solidFill>
                <a:latin typeface="微软雅黑" panose="020B0503020204020204" pitchFamily="34" charset="-122"/>
                <a:ea typeface="微软雅黑" panose="020B0503020204020204" pitchFamily="34" charset="-122"/>
              </a:rPr>
              <a:t>#define ASSERT(y) if(y){   </a:t>
            </a:r>
            <a:r>
              <a:rPr lang="en-US" altLang="zh-CN" sz="1600" dirty="0" err="1">
                <a:solidFill>
                  <a:srgbClr val="595959"/>
                </a:solidFill>
                <a:latin typeface="微软雅黑" panose="020B0503020204020204" pitchFamily="34" charset="-122"/>
                <a:ea typeface="微软雅黑" panose="020B0503020204020204" pitchFamily="34" charset="-122"/>
              </a:rPr>
              <a:t>printf</a:t>
            </a:r>
            <a:r>
              <a:rPr lang="en-US" altLang="zh-CN"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rPr>
              <a:t>出错文件：</a:t>
            </a:r>
            <a:r>
              <a:rPr lang="en-US" altLang="zh-CN" sz="1600" dirty="0">
                <a:solidFill>
                  <a:srgbClr val="595959"/>
                </a:solidFill>
                <a:latin typeface="微软雅黑" panose="020B0503020204020204" pitchFamily="34" charset="-122"/>
                <a:ea typeface="微软雅黑" panose="020B0503020204020204" pitchFamily="34" charset="-122"/>
              </a:rPr>
              <a:t>%s\</a:t>
            </a:r>
            <a:r>
              <a:rPr lang="en-US" altLang="zh-CN" sz="1600" dirty="0" err="1">
                <a:solidFill>
                  <a:srgbClr val="595959"/>
                </a:solidFill>
                <a:latin typeface="微软雅黑" panose="020B0503020204020204" pitchFamily="34" charset="-122"/>
                <a:ea typeface="微软雅黑" panose="020B0503020204020204" pitchFamily="34" charset="-122"/>
              </a:rPr>
              <a:t>n",__FILE</a:t>
            </a:r>
            <a:r>
              <a:rPr lang="en-US" altLang="zh-CN" sz="1600" dirty="0">
                <a:solidFill>
                  <a:srgbClr val="595959"/>
                </a:solidFill>
                <a:latin typeface="微软雅黑" panose="020B0503020204020204" pitchFamily="34" charset="-122"/>
                <a:ea typeface="微软雅黑" panose="020B0503020204020204" pitchFamily="34" charset="-122"/>
              </a:rPr>
              <a:t>__);\</a:t>
            </a:r>
          </a:p>
          <a:p>
            <a:pPr algn="l">
              <a:buNone/>
            </a:pPr>
            <a:r>
              <a:rPr lang="en-US" altLang="zh-CN" sz="1600" dirty="0">
                <a:solidFill>
                  <a:srgbClr val="595959"/>
                </a:solidFill>
                <a:latin typeface="微软雅黑" panose="020B0503020204020204" pitchFamily="34" charset="-122"/>
                <a:ea typeface="微软雅黑" panose="020B0503020204020204" pitchFamily="34" charset="-122"/>
              </a:rPr>
              <a:t>		</a:t>
            </a:r>
            <a:r>
              <a:rPr lang="en-US" altLang="zh-CN" sz="1600" dirty="0" err="1">
                <a:solidFill>
                  <a:srgbClr val="595959"/>
                </a:solidFill>
                <a:latin typeface="微软雅黑" panose="020B0503020204020204" pitchFamily="34" charset="-122"/>
                <a:ea typeface="微软雅黑" panose="020B0503020204020204" pitchFamily="34" charset="-122"/>
              </a:rPr>
              <a:t>printf</a:t>
            </a:r>
            <a:r>
              <a:rPr lang="en-US" altLang="zh-CN"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rPr>
              <a:t>在</a:t>
            </a:r>
            <a:r>
              <a:rPr lang="en-US" altLang="zh-CN" sz="1600" dirty="0">
                <a:solidFill>
                  <a:srgbClr val="595959"/>
                </a:solidFill>
                <a:latin typeface="微软雅黑" panose="020B0503020204020204" pitchFamily="34" charset="-122"/>
                <a:ea typeface="微软雅黑" panose="020B0503020204020204" pitchFamily="34" charset="-122"/>
              </a:rPr>
              <a:t>%d</a:t>
            </a:r>
            <a:r>
              <a:rPr lang="zh-CN" altLang="en-US" sz="1600" dirty="0">
                <a:solidFill>
                  <a:srgbClr val="595959"/>
                </a:solidFill>
                <a:latin typeface="微软雅黑" panose="020B0503020204020204" pitchFamily="34" charset="-122"/>
                <a:ea typeface="微软雅黑" panose="020B0503020204020204" pitchFamily="34" charset="-122"/>
              </a:rPr>
              <a:t>行：</a:t>
            </a:r>
            <a:r>
              <a:rPr lang="en-US" altLang="zh-CN" sz="1600" dirty="0">
                <a:solidFill>
                  <a:srgbClr val="595959"/>
                </a:solidFill>
                <a:latin typeface="微软雅黑" panose="020B0503020204020204" pitchFamily="34" charset="-122"/>
                <a:ea typeface="微软雅黑" panose="020B0503020204020204" pitchFamily="34" charset="-122"/>
              </a:rPr>
              <a:t>\</a:t>
            </a:r>
            <a:r>
              <a:rPr lang="en-US" altLang="zh-CN" sz="1600" dirty="0" err="1">
                <a:solidFill>
                  <a:srgbClr val="595959"/>
                </a:solidFill>
                <a:latin typeface="微软雅黑" panose="020B0503020204020204" pitchFamily="34" charset="-122"/>
                <a:ea typeface="微软雅黑" panose="020B0503020204020204" pitchFamily="34" charset="-122"/>
              </a:rPr>
              <a:t>n",__LINE</a:t>
            </a:r>
            <a:r>
              <a:rPr lang="en-US" altLang="zh-CN" sz="1600" dirty="0">
                <a:solidFill>
                  <a:srgbClr val="595959"/>
                </a:solidFill>
                <a:latin typeface="微软雅黑" panose="020B0503020204020204" pitchFamily="34" charset="-122"/>
                <a:ea typeface="微软雅黑" panose="020B0503020204020204" pitchFamily="34" charset="-122"/>
              </a:rPr>
              <a:t>__\);</a:t>
            </a:r>
          </a:p>
          <a:p>
            <a:pPr algn="l">
              <a:buNone/>
            </a:pPr>
            <a:r>
              <a:rPr lang="en-US" altLang="zh-CN" sz="1600" dirty="0">
                <a:solidFill>
                  <a:srgbClr val="595959"/>
                </a:solidFill>
                <a:latin typeface="微软雅黑" panose="020B0503020204020204" pitchFamily="34" charset="-122"/>
                <a:ea typeface="微软雅黑" panose="020B0503020204020204" pitchFamily="34" charset="-122"/>
              </a:rPr>
              <a:t>		</a:t>
            </a:r>
            <a:r>
              <a:rPr lang="en-US" altLang="zh-CN" sz="1600" dirty="0" err="1">
                <a:solidFill>
                  <a:srgbClr val="595959"/>
                </a:solidFill>
                <a:latin typeface="微软雅黑" panose="020B0503020204020204" pitchFamily="34" charset="-122"/>
                <a:ea typeface="微软雅黑" panose="020B0503020204020204" pitchFamily="34" charset="-122"/>
              </a:rPr>
              <a:t>printf</a:t>
            </a:r>
            <a:r>
              <a:rPr lang="en-US" altLang="zh-CN"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rPr>
              <a:t>提示：除数不能为</a:t>
            </a:r>
            <a:r>
              <a:rPr lang="en-US" altLang="zh-CN" sz="1600" dirty="0">
                <a:solidFill>
                  <a:srgbClr val="595959"/>
                </a:solidFill>
                <a:latin typeface="微软雅黑" panose="020B0503020204020204" pitchFamily="34" charset="-122"/>
                <a:ea typeface="微软雅黑" panose="020B0503020204020204" pitchFamily="34" charset="-122"/>
              </a:rPr>
              <a:t>0</a:t>
            </a:r>
            <a:r>
              <a:rPr lang="zh-CN" altLang="en-US" sz="1600" dirty="0">
                <a:solidFill>
                  <a:srgbClr val="595959"/>
                </a:solidFill>
                <a:latin typeface="微软雅黑" panose="020B0503020204020204" pitchFamily="34" charset="-122"/>
                <a:ea typeface="微软雅黑" panose="020B0503020204020204" pitchFamily="34" charset="-122"/>
              </a:rPr>
              <a:t>！</a:t>
            </a:r>
            <a:r>
              <a:rPr lang="en-US" altLang="zh-CN" sz="1600" dirty="0">
                <a:solidFill>
                  <a:srgbClr val="595959"/>
                </a:solidFill>
                <a:latin typeface="微软雅黑" panose="020B0503020204020204" pitchFamily="34" charset="-122"/>
                <a:ea typeface="微软雅黑" panose="020B0503020204020204" pitchFamily="34" charset="-122"/>
              </a:rPr>
              <a:t>\n");\</a:t>
            </a:r>
          </a:p>
          <a:p>
            <a:pPr algn="l">
              <a:buNone/>
            </a:pPr>
            <a:r>
              <a:rPr lang="en-US" altLang="zh-CN" sz="1600" dirty="0">
                <a:solidFill>
                  <a:srgbClr val="595959"/>
                </a:solidFill>
                <a:latin typeface="微软雅黑" panose="020B0503020204020204" pitchFamily="34" charset="-122"/>
                <a:ea typeface="微软雅黑" panose="020B0503020204020204" pitchFamily="34" charset="-122"/>
              </a:rPr>
              <a:t>}</a:t>
            </a:r>
          </a:p>
          <a:p>
            <a:pPr algn="l">
              <a:buNone/>
            </a:pPr>
            <a:r>
              <a:rPr lang="en-US" altLang="zh-CN" sz="1600" dirty="0">
                <a:solidFill>
                  <a:srgbClr val="595959"/>
                </a:solidFill>
                <a:latin typeface="微软雅黑" panose="020B0503020204020204" pitchFamily="34" charset="-122"/>
                <a:ea typeface="微软雅黑" panose="020B0503020204020204" pitchFamily="34" charset="-122"/>
              </a:rPr>
              <a:t>int main()</a:t>
            </a:r>
          </a:p>
          <a:p>
            <a:pPr algn="l">
              <a:buNone/>
            </a:pPr>
            <a:r>
              <a:rPr lang="en-US" altLang="zh-CN" sz="1600" dirty="0">
                <a:solidFill>
                  <a:srgbClr val="595959"/>
                </a:solidFill>
                <a:latin typeface="微软雅黑" panose="020B0503020204020204" pitchFamily="34" charset="-122"/>
                <a:ea typeface="微软雅黑" panose="020B0503020204020204" pitchFamily="34" charset="-122"/>
              </a:rPr>
              <a:t>{</a:t>
            </a:r>
          </a:p>
          <a:p>
            <a:pPr indent="457200" algn="l">
              <a:buNone/>
            </a:pPr>
            <a:r>
              <a:rPr lang="en-US" altLang="zh-CN" sz="1600" dirty="0">
                <a:solidFill>
                  <a:srgbClr val="595959"/>
                </a:solidFill>
                <a:latin typeface="微软雅黑" panose="020B0503020204020204" pitchFamily="34" charset="-122"/>
                <a:ea typeface="微软雅黑" panose="020B0503020204020204" pitchFamily="34" charset="-122"/>
              </a:rPr>
              <a:t>int </a:t>
            </a:r>
            <a:r>
              <a:rPr lang="en-US" altLang="zh-CN" sz="1600" dirty="0" err="1">
                <a:solidFill>
                  <a:srgbClr val="595959"/>
                </a:solidFill>
                <a:latin typeface="微软雅黑" panose="020B0503020204020204" pitchFamily="34" charset="-122"/>
                <a:ea typeface="微软雅黑" panose="020B0503020204020204" pitchFamily="34" charset="-122"/>
              </a:rPr>
              <a:t>x,y</a:t>
            </a:r>
            <a:r>
              <a:rPr lang="en-US" altLang="zh-CN" sz="1600" dirty="0">
                <a:solidFill>
                  <a:srgbClr val="595959"/>
                </a:solidFill>
                <a:latin typeface="微软雅黑" panose="020B0503020204020204" pitchFamily="34" charset="-122"/>
                <a:ea typeface="微软雅黑" panose="020B0503020204020204" pitchFamily="34" charset="-122"/>
              </a:rPr>
              <a:t>;</a:t>
            </a:r>
          </a:p>
          <a:p>
            <a:pPr indent="457200" algn="l">
              <a:buNone/>
            </a:pPr>
            <a:r>
              <a:rPr lang="en-US" altLang="zh-CN" sz="1600" dirty="0" err="1">
                <a:solidFill>
                  <a:srgbClr val="595959"/>
                </a:solidFill>
                <a:latin typeface="微软雅黑" panose="020B0503020204020204" pitchFamily="34" charset="-122"/>
                <a:ea typeface="微软雅黑" panose="020B0503020204020204" pitchFamily="34" charset="-122"/>
              </a:rPr>
              <a:t>printf</a:t>
            </a:r>
            <a:r>
              <a:rPr lang="en-US" altLang="zh-CN"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rPr>
              <a:t>请输入被除数：</a:t>
            </a:r>
            <a:r>
              <a:rPr lang="en-US" altLang="zh-CN" sz="1600" dirty="0">
                <a:solidFill>
                  <a:srgbClr val="595959"/>
                </a:solidFill>
                <a:latin typeface="微软雅黑" panose="020B0503020204020204" pitchFamily="34" charset="-122"/>
                <a:ea typeface="微软雅黑" panose="020B0503020204020204" pitchFamily="34" charset="-122"/>
              </a:rPr>
              <a:t>");</a:t>
            </a:r>
          </a:p>
          <a:p>
            <a:pPr indent="457200" algn="l">
              <a:buNone/>
            </a:pPr>
            <a:r>
              <a:rPr lang="en-US" altLang="zh-CN" sz="1600" dirty="0" err="1">
                <a:solidFill>
                  <a:srgbClr val="595959"/>
                </a:solidFill>
                <a:latin typeface="微软雅黑" panose="020B0503020204020204" pitchFamily="34" charset="-122"/>
                <a:ea typeface="微软雅黑" panose="020B0503020204020204" pitchFamily="34" charset="-122"/>
              </a:rPr>
              <a:t>scanf</a:t>
            </a:r>
            <a:r>
              <a:rPr lang="en-US" altLang="zh-CN" sz="1600" dirty="0">
                <a:solidFill>
                  <a:srgbClr val="595959"/>
                </a:solidFill>
                <a:latin typeface="微软雅黑" panose="020B0503020204020204" pitchFamily="34" charset="-122"/>
                <a:ea typeface="微软雅黑" panose="020B0503020204020204" pitchFamily="34" charset="-122"/>
              </a:rPr>
              <a:t>("%</a:t>
            </a:r>
            <a:r>
              <a:rPr lang="en-US" altLang="zh-CN" sz="1600" dirty="0" err="1">
                <a:solidFill>
                  <a:srgbClr val="595959"/>
                </a:solidFill>
                <a:latin typeface="微软雅黑" panose="020B0503020204020204" pitchFamily="34" charset="-122"/>
                <a:ea typeface="微软雅黑" panose="020B0503020204020204" pitchFamily="34" charset="-122"/>
              </a:rPr>
              <a:t>d",&amp;x</a:t>
            </a:r>
            <a:r>
              <a:rPr lang="en-US" altLang="zh-CN" sz="1600" dirty="0">
                <a:solidFill>
                  <a:srgbClr val="595959"/>
                </a:solidFill>
                <a:latin typeface="微软雅黑" panose="020B0503020204020204" pitchFamily="34" charset="-122"/>
                <a:ea typeface="微软雅黑" panose="020B0503020204020204" pitchFamily="34" charset="-122"/>
              </a:rPr>
              <a:t>);</a:t>
            </a:r>
          </a:p>
          <a:p>
            <a:pPr indent="457200" algn="l">
              <a:buNone/>
            </a:pPr>
            <a:r>
              <a:rPr lang="en-US" altLang="zh-CN" sz="1600" dirty="0" err="1">
                <a:solidFill>
                  <a:srgbClr val="595959"/>
                </a:solidFill>
                <a:latin typeface="微软雅黑" panose="020B0503020204020204" pitchFamily="34" charset="-122"/>
                <a:ea typeface="微软雅黑" panose="020B0503020204020204" pitchFamily="34" charset="-122"/>
              </a:rPr>
              <a:t>printf</a:t>
            </a:r>
            <a:r>
              <a:rPr lang="en-US" altLang="zh-CN"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rPr>
              <a:t>请输入除数：</a:t>
            </a:r>
            <a:r>
              <a:rPr lang="en-US" altLang="zh-CN" sz="1600" dirty="0">
                <a:solidFill>
                  <a:srgbClr val="595959"/>
                </a:solidFill>
                <a:latin typeface="微软雅黑" panose="020B0503020204020204" pitchFamily="34" charset="-122"/>
                <a:ea typeface="微软雅黑" panose="020B0503020204020204" pitchFamily="34" charset="-122"/>
              </a:rPr>
              <a:t>");</a:t>
            </a:r>
          </a:p>
          <a:p>
            <a:pPr indent="457200" algn="l">
              <a:buNone/>
            </a:pPr>
            <a:r>
              <a:rPr lang="en-US" altLang="zh-CN" sz="1600" dirty="0" err="1">
                <a:solidFill>
                  <a:srgbClr val="595959"/>
                </a:solidFill>
                <a:latin typeface="微软雅黑" panose="020B0503020204020204" pitchFamily="34" charset="-122"/>
                <a:ea typeface="微软雅黑" panose="020B0503020204020204" pitchFamily="34" charset="-122"/>
              </a:rPr>
              <a:t>scanf</a:t>
            </a:r>
            <a:r>
              <a:rPr lang="en-US" altLang="zh-CN" sz="1600" dirty="0">
                <a:solidFill>
                  <a:srgbClr val="595959"/>
                </a:solidFill>
                <a:latin typeface="微软雅黑" panose="020B0503020204020204" pitchFamily="34" charset="-122"/>
                <a:ea typeface="微软雅黑" panose="020B0503020204020204" pitchFamily="34" charset="-122"/>
              </a:rPr>
              <a:t>("%</a:t>
            </a:r>
            <a:r>
              <a:rPr lang="en-US" altLang="zh-CN" sz="1600" dirty="0" err="1">
                <a:solidFill>
                  <a:srgbClr val="595959"/>
                </a:solidFill>
                <a:latin typeface="微软雅黑" panose="020B0503020204020204" pitchFamily="34" charset="-122"/>
                <a:ea typeface="微软雅黑" panose="020B0503020204020204" pitchFamily="34" charset="-122"/>
              </a:rPr>
              <a:t>d",&amp;y</a:t>
            </a:r>
            <a:r>
              <a:rPr lang="en-US" altLang="zh-CN" sz="1600" dirty="0">
                <a:solidFill>
                  <a:srgbClr val="595959"/>
                </a:solidFill>
                <a:latin typeface="微软雅黑" panose="020B0503020204020204" pitchFamily="34" charset="-122"/>
                <a:ea typeface="微软雅黑" panose="020B0503020204020204" pitchFamily="34" charset="-122"/>
              </a:rPr>
              <a:t>);</a:t>
            </a:r>
          </a:p>
          <a:p>
            <a:pPr indent="457200" algn="l">
              <a:buNone/>
            </a:pPr>
            <a:r>
              <a:rPr lang="en-US" altLang="zh-CN" sz="1600" dirty="0">
                <a:solidFill>
                  <a:srgbClr val="595959"/>
                </a:solidFill>
                <a:latin typeface="微软雅黑" panose="020B0503020204020204" pitchFamily="34" charset="-122"/>
                <a:ea typeface="微软雅黑" panose="020B0503020204020204" pitchFamily="34" charset="-122"/>
              </a:rPr>
              <a:t>ASSERT(y==0); //</a:t>
            </a:r>
            <a:r>
              <a:rPr lang="zh-CN" altLang="en-US" sz="1600" dirty="0">
                <a:solidFill>
                  <a:srgbClr val="595959"/>
                </a:solidFill>
                <a:latin typeface="微软雅黑" panose="020B0503020204020204" pitchFamily="34" charset="-122"/>
                <a:ea typeface="微软雅黑" panose="020B0503020204020204" pitchFamily="34" charset="-122"/>
              </a:rPr>
              <a:t>插入的桩（即探针代码）</a:t>
            </a:r>
          </a:p>
          <a:p>
            <a:pPr indent="457200" algn="l">
              <a:buNone/>
            </a:pPr>
            <a:r>
              <a:rPr lang="en-US" altLang="zh-CN" sz="1600" dirty="0" err="1">
                <a:solidFill>
                  <a:srgbClr val="595959"/>
                </a:solidFill>
                <a:latin typeface="微软雅黑" panose="020B0503020204020204" pitchFamily="34" charset="-122"/>
                <a:ea typeface="微软雅黑" panose="020B0503020204020204" pitchFamily="34" charset="-122"/>
              </a:rPr>
              <a:t>printf</a:t>
            </a:r>
            <a:r>
              <a:rPr lang="en-US" altLang="zh-CN" sz="1600" dirty="0">
                <a:solidFill>
                  <a:srgbClr val="595959"/>
                </a:solidFill>
                <a:latin typeface="微软雅黑" panose="020B0503020204020204" pitchFamily="34" charset="-122"/>
                <a:ea typeface="微软雅黑" panose="020B0503020204020204" pitchFamily="34" charset="-122"/>
              </a:rPr>
              <a:t>("%</a:t>
            </a:r>
            <a:r>
              <a:rPr lang="en-US" altLang="zh-CN" sz="1600" dirty="0" err="1">
                <a:solidFill>
                  <a:srgbClr val="595959"/>
                </a:solidFill>
                <a:latin typeface="微软雅黑" panose="020B0503020204020204" pitchFamily="34" charset="-122"/>
                <a:ea typeface="微软雅黑" panose="020B0503020204020204" pitchFamily="34" charset="-122"/>
              </a:rPr>
              <a:t>d",x</a:t>
            </a:r>
            <a:r>
              <a:rPr lang="en-US" altLang="zh-CN" sz="1600" dirty="0">
                <a:solidFill>
                  <a:srgbClr val="595959"/>
                </a:solidFill>
                <a:latin typeface="微软雅黑" panose="020B0503020204020204" pitchFamily="34" charset="-122"/>
                <a:ea typeface="微软雅黑" panose="020B0503020204020204" pitchFamily="34" charset="-122"/>
              </a:rPr>
              <a:t>/y);</a:t>
            </a:r>
          </a:p>
          <a:p>
            <a:pPr indent="457200" algn="l">
              <a:buNone/>
            </a:pPr>
            <a:r>
              <a:rPr lang="en-US" altLang="zh-CN" sz="1600" dirty="0">
                <a:solidFill>
                  <a:srgbClr val="595959"/>
                </a:solidFill>
                <a:latin typeface="微软雅黑" panose="020B0503020204020204" pitchFamily="34" charset="-122"/>
                <a:ea typeface="微软雅黑" panose="020B0503020204020204" pitchFamily="34" charset="-122"/>
              </a:rPr>
              <a:t>return 0;</a:t>
            </a:r>
          </a:p>
          <a:p>
            <a:pPr algn="l">
              <a:buNone/>
            </a:pPr>
            <a:r>
              <a:rPr lang="en-US" altLang="zh-CN" sz="16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51865" y="837565"/>
            <a:ext cx="10286365"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根据除法运算程序设计测试用例，</a:t>
            </a:r>
            <a:r>
              <a:rPr lang="zh-CN" altLang="en-US" sz="1800" dirty="0">
                <a:solidFill>
                  <a:srgbClr val="0070C0"/>
                </a:solidFill>
                <a:latin typeface="微软雅黑" panose="020B0503020204020204" pitchFamily="34" charset="-122"/>
                <a:ea typeface="微软雅黑" panose="020B0503020204020204" pitchFamily="34" charset="-122"/>
              </a:rPr>
              <a:t>除法运算测试用例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3.3.2	源代码插桩</a:t>
            </a:r>
          </a:p>
        </p:txBody>
      </p:sp>
      <p:graphicFrame>
        <p:nvGraphicFramePr>
          <p:cNvPr id="4" name="表格 3"/>
          <p:cNvGraphicFramePr/>
          <p:nvPr>
            <p:custDataLst>
              <p:tags r:id="rId1"/>
            </p:custDataLst>
          </p:nvPr>
        </p:nvGraphicFramePr>
        <p:xfrm>
          <a:off x="3070860" y="1510030"/>
          <a:ext cx="5429250" cy="4935220"/>
        </p:xfrm>
        <a:graphic>
          <a:graphicData uri="http://schemas.openxmlformats.org/drawingml/2006/table">
            <a:tbl>
              <a:tblPr firstRow="1" bandRow="1">
                <a:tableStyleId>{5C22544A-7EE6-4342-B048-85BDC9FD1C3A}</a:tableStyleId>
              </a:tblPr>
              <a:tblGrid>
                <a:gridCol w="1722120">
                  <a:extLst>
                    <a:ext uri="{9D8B030D-6E8A-4147-A177-3AD203B41FA5}">
                      <a16:colId xmlns:a16="http://schemas.microsoft.com/office/drawing/2014/main" val="20000"/>
                    </a:ext>
                  </a:extLst>
                </a:gridCol>
                <a:gridCol w="1842135">
                  <a:extLst>
                    <a:ext uri="{9D8B030D-6E8A-4147-A177-3AD203B41FA5}">
                      <a16:colId xmlns:a16="http://schemas.microsoft.com/office/drawing/2014/main" val="20001"/>
                    </a:ext>
                  </a:extLst>
                </a:gridCol>
                <a:gridCol w="1864995">
                  <a:extLst>
                    <a:ext uri="{9D8B030D-6E8A-4147-A177-3AD203B41FA5}">
                      <a16:colId xmlns:a16="http://schemas.microsoft.com/office/drawing/2014/main" val="20002"/>
                    </a:ext>
                  </a:extLst>
                </a:gridCol>
              </a:tblGrid>
              <a:tr h="61150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488315">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extLst>
                  <a:ext uri="{0D108BD9-81ED-4DB2-BD59-A6C34878D82A}">
                    <a16:rowId xmlns:a16="http://schemas.microsoft.com/office/drawing/2014/main" val="10001"/>
                  </a:ext>
                </a:extLst>
              </a:tr>
              <a:tr h="47117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extLst>
                  <a:ext uri="{0D108BD9-81ED-4DB2-BD59-A6C34878D82A}">
                    <a16:rowId xmlns:a16="http://schemas.microsoft.com/office/drawing/2014/main" val="10002"/>
                  </a:ext>
                </a:extLst>
              </a:tr>
              <a:tr h="4724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1</a:t>
                      </a:r>
                    </a:p>
                  </a:txBody>
                  <a:tcPr anchor="ctr"/>
                </a:tc>
                <a:extLst>
                  <a:ext uri="{0D108BD9-81ED-4DB2-BD59-A6C34878D82A}">
                    <a16:rowId xmlns:a16="http://schemas.microsoft.com/office/drawing/2014/main" val="10003"/>
                  </a:ext>
                </a:extLst>
              </a:tr>
              <a:tr h="48196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en-US"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-1</a:t>
                      </a:r>
                    </a:p>
                  </a:txBody>
                  <a:tcPr anchor="ctr"/>
                </a:tc>
                <a:extLst>
                  <a:ext uri="{0D108BD9-81ED-4DB2-BD59-A6C34878D82A}">
                    <a16:rowId xmlns:a16="http://schemas.microsoft.com/office/drawing/2014/main" val="10004"/>
                  </a:ext>
                </a:extLst>
              </a:tr>
              <a:tr h="481965">
                <a:tc>
                  <a:txBody>
                    <a:bodyPr/>
                    <a:lstStyle/>
                    <a:p>
                      <a:pPr algn="ctr">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错误</a:t>
                      </a:r>
                    </a:p>
                  </a:txBody>
                  <a:tcPr anchor="ctr"/>
                </a:tc>
                <a:extLst>
                  <a:ext uri="{0D108BD9-81ED-4DB2-BD59-A6C34878D82A}">
                    <a16:rowId xmlns:a16="http://schemas.microsoft.com/office/drawing/2014/main" val="10005"/>
                  </a:ext>
                </a:extLst>
              </a:tr>
              <a:tr h="481965">
                <a:tc>
                  <a:txBody>
                    <a:bodyPr/>
                    <a:lstStyle/>
                    <a:p>
                      <a:pPr algn="ctr">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test6</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错误</a:t>
                      </a:r>
                    </a:p>
                  </a:txBody>
                  <a:tcPr anchor="ctr"/>
                </a:tc>
                <a:extLst>
                  <a:ext uri="{0D108BD9-81ED-4DB2-BD59-A6C34878D82A}">
                    <a16:rowId xmlns:a16="http://schemas.microsoft.com/office/drawing/2014/main" val="10006"/>
                  </a:ext>
                </a:extLst>
              </a:tr>
              <a:tr h="481965">
                <a:tc>
                  <a:txBody>
                    <a:bodyPr/>
                    <a:lstStyle/>
                    <a:p>
                      <a:pPr algn="ctr">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test7</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错误</a:t>
                      </a:r>
                    </a:p>
                  </a:txBody>
                  <a:tcPr anchor="ctr"/>
                </a:tc>
                <a:extLst>
                  <a:ext uri="{0D108BD9-81ED-4DB2-BD59-A6C34878D82A}">
                    <a16:rowId xmlns:a16="http://schemas.microsoft.com/office/drawing/2014/main" val="10007"/>
                  </a:ext>
                </a:extLst>
              </a:tr>
              <a:tr h="481965">
                <a:tc>
                  <a:txBody>
                    <a:bodyPr/>
                    <a:lstStyle/>
                    <a:p>
                      <a:pPr algn="ctr">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test8</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0</a:t>
                      </a:r>
                    </a:p>
                  </a:txBody>
                  <a:tcPr anchor="ctr"/>
                </a:tc>
                <a:extLst>
                  <a:ext uri="{0D108BD9-81ED-4DB2-BD59-A6C34878D82A}">
                    <a16:rowId xmlns:a16="http://schemas.microsoft.com/office/drawing/2014/main" val="10008"/>
                  </a:ext>
                </a:extLst>
              </a:tr>
              <a:tr h="481965">
                <a:tc>
                  <a:txBody>
                    <a:bodyPr/>
                    <a:lstStyle/>
                    <a:p>
                      <a:pPr marL="0" algn="ctr" defTabSz="1219200" rtl="0" eaLnBrk="1" latinLnBrk="0" hangingPunct="1">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test9</a:t>
                      </a:r>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0,-1</a:t>
                      </a:r>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0</a:t>
                      </a:r>
                    </a:p>
                  </a:txBody>
                  <a:tcPr anchor="ct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51865" y="837565"/>
            <a:ext cx="10286365" cy="136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程序的</a:t>
            </a:r>
            <a:r>
              <a:rPr lang="zh-CN" altLang="en-US" sz="1800" dirty="0">
                <a:solidFill>
                  <a:srgbClr val="0070C0"/>
                </a:solidFill>
                <a:latin typeface="微软雅黑" panose="020B0503020204020204" pitchFamily="34" charset="-122"/>
                <a:ea typeface="微软雅黑" panose="020B0503020204020204" pitchFamily="34" charset="-122"/>
                <a:sym typeface="+mn-ea"/>
              </a:rPr>
              <a:t>目标代码插桩与源代码插桩</a:t>
            </a:r>
            <a:r>
              <a:rPr lang="zh-CN" altLang="en-US" sz="1800" dirty="0">
                <a:solidFill>
                  <a:srgbClr val="595959"/>
                </a:solidFill>
                <a:latin typeface="微软雅黑" panose="020B0503020204020204" pitchFamily="34" charset="-122"/>
                <a:ea typeface="微软雅黑" panose="020B0503020204020204" pitchFamily="34" charset="-122"/>
                <a:sym typeface="+mn-ea"/>
              </a:rPr>
              <a:t>测试方法有效</a:t>
            </a:r>
            <a:r>
              <a:rPr lang="zh-CN" altLang="en-US" sz="1800" dirty="0">
                <a:solidFill>
                  <a:srgbClr val="0070C0"/>
                </a:solidFill>
                <a:latin typeface="微软雅黑" panose="020B0503020204020204" pitchFamily="34" charset="-122"/>
                <a:ea typeface="微软雅黑" panose="020B0503020204020204" pitchFamily="34" charset="-122"/>
                <a:sym typeface="+mn-ea"/>
              </a:rPr>
              <a:t>提高</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mn-ea"/>
              </a:rPr>
              <a:t>了</a:t>
            </a:r>
            <a:r>
              <a:rPr lang="zh-CN" altLang="en-US" sz="1800" dirty="0">
                <a:solidFill>
                  <a:srgbClr val="0070C0"/>
                </a:solidFill>
                <a:latin typeface="微软雅黑" panose="020B0503020204020204" pitchFamily="34" charset="-122"/>
                <a:ea typeface="微软雅黑" panose="020B0503020204020204" pitchFamily="34" charset="-122"/>
                <a:sym typeface="+mn-ea"/>
              </a:rPr>
              <a:t>代码测试覆盖率</a:t>
            </a:r>
            <a:r>
              <a:rPr lang="zh-CN" altLang="en-US" sz="1800" dirty="0">
                <a:solidFill>
                  <a:srgbClr val="595959"/>
                </a:solidFill>
                <a:latin typeface="微软雅黑" panose="020B0503020204020204" pitchFamily="34" charset="-122"/>
                <a:ea typeface="微软雅黑" panose="020B0503020204020204" pitchFamily="34" charset="-122"/>
                <a:sym typeface="+mn-ea"/>
              </a:rPr>
              <a:t>，但是使用插桩测试方法会出现代码膨胀、执行效率低下、HeisenBugs等问题。在一般情况下，插桩后的</a:t>
            </a:r>
            <a:r>
              <a:rPr lang="zh-CN" altLang="en-US" sz="1800" dirty="0">
                <a:solidFill>
                  <a:srgbClr val="0070C0"/>
                </a:solidFill>
                <a:latin typeface="微软雅黑" panose="020B0503020204020204" pitchFamily="34" charset="-122"/>
                <a:ea typeface="微软雅黑" panose="020B0503020204020204" pitchFamily="34" charset="-122"/>
                <a:sym typeface="+mn-ea"/>
              </a:rPr>
              <a:t>代码膨胀率在20%~40%</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甚至能达到100%</a:t>
            </a:r>
            <a:r>
              <a:rPr lang="zh-CN" altLang="en-US" sz="1800" dirty="0">
                <a:solidFill>
                  <a:srgbClr val="595959"/>
                </a:solidFill>
                <a:latin typeface="微软雅黑" panose="020B0503020204020204" pitchFamily="34" charset="-122"/>
                <a:ea typeface="微软雅黑" panose="020B0503020204020204" pitchFamily="34" charset="-122"/>
                <a:sym typeface="+mn-ea"/>
              </a:rPr>
              <a:t>，导致</a:t>
            </a:r>
            <a:r>
              <a:rPr lang="zh-CN" altLang="en-US" sz="1800" dirty="0">
                <a:solidFill>
                  <a:srgbClr val="0070C0"/>
                </a:solidFill>
                <a:latin typeface="微软雅黑" panose="020B0503020204020204" pitchFamily="34" charset="-122"/>
                <a:ea typeface="微软雅黑" panose="020B0503020204020204" pitchFamily="34" charset="-122"/>
                <a:sym typeface="+mn-ea"/>
              </a:rPr>
              <a:t>插桩测试失败</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3.3.2	源代码插桩</a:t>
            </a:r>
          </a:p>
        </p:txBody>
      </p:sp>
      <p:sp>
        <p:nvSpPr>
          <p:cNvPr id="3" name="文本框 2"/>
          <p:cNvSpPr txBox="1"/>
          <p:nvPr/>
        </p:nvSpPr>
        <p:spPr>
          <a:xfrm>
            <a:off x="6022975" y="3573780"/>
            <a:ext cx="5350510" cy="2517775"/>
          </a:xfrm>
          <a:prstGeom prst="rect">
            <a:avLst/>
          </a:prstGeom>
          <a:noFill/>
        </p:spPr>
        <p:txBody>
          <a:bodyPr wrap="square" rtlCol="0" anchor="t">
            <a:noAutofit/>
          </a:bodyPr>
          <a:lstStyle/>
          <a:p>
            <a:pPr>
              <a:lnSpc>
                <a:spcPct val="150000"/>
              </a:lnSpc>
            </a:pPr>
            <a:r>
              <a:rPr lang="zh-CN" altLang="en-US" sz="1600" dirty="0">
                <a:solidFill>
                  <a:srgbClr val="0070C0"/>
                </a:solidFill>
                <a:latin typeface="微软雅黑" panose="020B0503020204020204" pitchFamily="34" charset="-122"/>
                <a:ea typeface="微软雅黑" panose="020B0503020204020204" pitchFamily="34" charset="-122"/>
              </a:rPr>
              <a:t>HeisenBugs</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即</a:t>
            </a:r>
            <a:r>
              <a:rPr lang="zh-CN" altLang="en-US" sz="1600" dirty="0">
                <a:solidFill>
                  <a:srgbClr val="0070C0"/>
                </a:solidFill>
                <a:latin typeface="微软雅黑" panose="020B0503020204020204" pitchFamily="34" charset="-122"/>
                <a:ea typeface="微软雅黑" panose="020B0503020204020204" pitchFamily="34" charset="-122"/>
              </a:rPr>
              <a:t>海森堡Bug</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，它是一种</a:t>
            </a:r>
            <a:r>
              <a:rPr lang="zh-CN" altLang="en-US" sz="1600" dirty="0">
                <a:solidFill>
                  <a:srgbClr val="0070C0"/>
                </a:solidFill>
                <a:latin typeface="微软雅黑" panose="020B0503020204020204" pitchFamily="34" charset="-122"/>
                <a:ea typeface="微软雅黑" panose="020B0503020204020204" pitchFamily="34" charset="-122"/>
              </a:rPr>
              <a:t>软件缺陷</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，这种缺陷的</a:t>
            </a:r>
            <a:r>
              <a:rPr lang="zh-CN" altLang="en-US" sz="1600" dirty="0">
                <a:solidFill>
                  <a:srgbClr val="0070C0"/>
                </a:solidFill>
                <a:latin typeface="微软雅黑" panose="020B0503020204020204" pitchFamily="34" charset="-122"/>
                <a:ea typeface="微软雅黑" panose="020B0503020204020204" pitchFamily="34" charset="-122"/>
              </a:rPr>
              <a:t>重现率很低</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，当开发人员试图研究时，它会消失或改变。实际软件测试中，这种缺陷也比较常见，例如，测试人员测试到一个缺陷并提交给开发人员后，开发人员按照测试人员提交的缺陷报告中的步骤执行时，却</a:t>
            </a:r>
            <a:r>
              <a:rPr lang="zh-CN" altLang="en-US" sz="1600" dirty="0">
                <a:solidFill>
                  <a:srgbClr val="0070C0"/>
                </a:solidFill>
                <a:latin typeface="微软雅黑" panose="020B0503020204020204" pitchFamily="34" charset="-122"/>
                <a:ea typeface="微软雅黑" panose="020B0503020204020204" pitchFamily="34" charset="-122"/>
              </a:rPr>
              <a:t>无法重现缺陷</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，其原因是缺陷</a:t>
            </a:r>
            <a:r>
              <a:rPr lang="zh-CN" altLang="en-US" sz="1600" dirty="0">
                <a:solidFill>
                  <a:srgbClr val="0070C0"/>
                </a:solidFill>
                <a:latin typeface="微软雅黑" panose="020B0503020204020204" pitchFamily="34" charset="-122"/>
                <a:ea typeface="微软雅黑" panose="020B0503020204020204" pitchFamily="34" charset="-122"/>
              </a:rPr>
              <a:t>已经消失或者出现了其他缺陷</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37" name="原创设计师QQ598969553          _3"/>
          <p:cNvSpPr/>
          <p:nvPr/>
        </p:nvSpPr>
        <p:spPr>
          <a:xfrm>
            <a:off x="5807075" y="3213735"/>
            <a:ext cx="5854065" cy="2972435"/>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5" name="原创设计师QQ598969553          _6"/>
          <p:cNvSpPr/>
          <p:nvPr/>
        </p:nvSpPr>
        <p:spPr>
          <a:xfrm>
            <a:off x="6125845" y="2943860"/>
            <a:ext cx="2984500" cy="462280"/>
          </a:xfrm>
          <a:prstGeom prst="roundRect">
            <a:avLst/>
          </a:prstGeom>
          <a:solidFill>
            <a:srgbClr val="C0000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36" name="原创设计师QQ598969553          _7"/>
          <p:cNvSpPr txBox="1"/>
          <p:nvPr/>
        </p:nvSpPr>
        <p:spPr>
          <a:xfrm>
            <a:off x="6125845" y="2975610"/>
            <a:ext cx="2931795" cy="398780"/>
          </a:xfrm>
          <a:prstGeom prst="rect">
            <a:avLst/>
          </a:prstGeom>
          <a:noFill/>
        </p:spPr>
        <p:txBody>
          <a:bodyPr wrap="square" rtlCol="0">
            <a:spAutoFit/>
          </a:bodyPr>
          <a:lstStyle/>
          <a:p>
            <a:pPr lvl="0"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小提示：HeisenBugs</a:t>
            </a:r>
          </a:p>
        </p:txBody>
      </p:sp>
      <p:pic>
        <p:nvPicPr>
          <p:cNvPr id="6" name="Picture 2" descr="C:\Users\Administrator\Desktop\ppt展示模板-8.png"/>
          <p:cNvPicPr>
            <a:picLocks noChangeAspect="1" noChangeArrowheads="1"/>
          </p:cNvPicPr>
          <p:nvPr/>
        </p:nvPicPr>
        <p:blipFill>
          <a:blip r:embed="rId3"/>
          <a:srcRect/>
          <a:stretch>
            <a:fillRect/>
          </a:stretch>
        </p:blipFill>
        <p:spPr bwMode="auto">
          <a:xfrm>
            <a:off x="550649" y="3070077"/>
            <a:ext cx="5059808" cy="3044254"/>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1243643" y="3446217"/>
            <a:ext cx="3665189" cy="2112881"/>
          </a:xfrm>
          <a:prstGeom prst="rect">
            <a:avLst/>
          </a:prstGeom>
          <a:blipFill>
            <a:blip r:embed="rId4"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latin typeface="Arial" panose="020B0604020202020204" pitchFamily="34" charset="0"/>
              <a:ea typeface="思源黑体 CN Regular" panose="020B0500000000000000" pitchFamily="34" charset="-122"/>
              <a:cs typeface="+mn-ea"/>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7AA2C-13C8-C226-9092-BEC247E779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CFFEA-D69D-5B6A-AE94-66B626A59640}"/>
              </a:ext>
            </a:extLst>
          </p:cNvPr>
          <p:cNvSpPr txBox="1"/>
          <p:nvPr/>
        </p:nvSpPr>
        <p:spPr>
          <a:xfrm>
            <a:off x="1143690" y="266995"/>
            <a:ext cx="559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3.3.2	源代码插桩与目标代码插桩对比</a:t>
            </a:r>
          </a:p>
        </p:txBody>
      </p:sp>
      <p:graphicFrame>
        <p:nvGraphicFramePr>
          <p:cNvPr id="3" name="表格 2">
            <a:extLst>
              <a:ext uri="{FF2B5EF4-FFF2-40B4-BE49-F238E27FC236}">
                <a16:creationId xmlns:a16="http://schemas.microsoft.com/office/drawing/2014/main" id="{8E7AB5E3-9D87-7A8D-23D0-05867DABBBB8}"/>
              </a:ext>
            </a:extLst>
          </p:cNvPr>
          <p:cNvGraphicFramePr>
            <a:graphicFrameLocks noGrp="1"/>
          </p:cNvGraphicFramePr>
          <p:nvPr>
            <p:extLst>
              <p:ext uri="{D42A27DB-BD31-4B8C-83A1-F6EECF244321}">
                <p14:modId xmlns:p14="http://schemas.microsoft.com/office/powerpoint/2010/main" val="3325963353"/>
              </p:ext>
            </p:extLst>
          </p:nvPr>
        </p:nvGraphicFramePr>
        <p:xfrm>
          <a:off x="1163047" y="1446520"/>
          <a:ext cx="10044159" cy="4877848"/>
        </p:xfrm>
        <a:graphic>
          <a:graphicData uri="http://schemas.openxmlformats.org/drawingml/2006/table">
            <a:tbl>
              <a:tblPr/>
              <a:tblGrid>
                <a:gridCol w="1728000">
                  <a:extLst>
                    <a:ext uri="{9D8B030D-6E8A-4147-A177-3AD203B41FA5}">
                      <a16:colId xmlns:a16="http://schemas.microsoft.com/office/drawing/2014/main" val="4139732019"/>
                    </a:ext>
                  </a:extLst>
                </a:gridCol>
                <a:gridCol w="4464000">
                  <a:extLst>
                    <a:ext uri="{9D8B030D-6E8A-4147-A177-3AD203B41FA5}">
                      <a16:colId xmlns:a16="http://schemas.microsoft.com/office/drawing/2014/main" val="2408022051"/>
                    </a:ext>
                  </a:extLst>
                </a:gridCol>
                <a:gridCol w="3852159">
                  <a:extLst>
                    <a:ext uri="{9D8B030D-6E8A-4147-A177-3AD203B41FA5}">
                      <a16:colId xmlns:a16="http://schemas.microsoft.com/office/drawing/2014/main" val="2574532084"/>
                    </a:ext>
                  </a:extLst>
                </a:gridCol>
              </a:tblGrid>
              <a:tr h="478362">
                <a:tc>
                  <a:txBody>
                    <a:bodyPr/>
                    <a:lstStyle/>
                    <a:p>
                      <a:pPr algn="ctr">
                        <a:lnSpc>
                          <a:spcPts val="2100"/>
                        </a:lnSpc>
                        <a:buNone/>
                      </a:pPr>
                      <a:r>
                        <a:rPr lang="zh-CN" altLang="en-US" sz="1800" b="1" kern="1200" dirty="0">
                          <a:solidFill>
                            <a:srgbClr val="595959"/>
                          </a:solidFill>
                          <a:latin typeface="微软雅黑" panose="020B0503020204020204" pitchFamily="34" charset="-122"/>
                          <a:ea typeface="微软雅黑" panose="020B0503020204020204" pitchFamily="34" charset="-122"/>
                          <a:cs typeface="+mn-cs"/>
                        </a:rPr>
                        <a:t>对比维度</a:t>
                      </a:r>
                    </a:p>
                  </a:txBody>
                  <a:tcPr marL="90084" marR="90084" marT="60056" marB="60056" anchor="ctr">
                    <a:lnL w="6096" cap="flat" cmpd="sng" algn="ctr">
                      <a:solidFill>
                        <a:srgbClr val="A09452"/>
                      </a:solidFill>
                      <a:prstDash val="solid"/>
                      <a:round/>
                      <a:headEnd type="none" w="med" len="med"/>
                      <a:tailEnd type="none" w="med" len="med"/>
                    </a:lnL>
                    <a:lnR w="6096" cap="flat" cmpd="sng" algn="ctr">
                      <a:solidFill>
                        <a:srgbClr val="009352"/>
                      </a:solidFill>
                      <a:prstDash val="solid"/>
                      <a:round/>
                      <a:headEnd type="none" w="med" len="med"/>
                      <a:tailEnd type="none" w="med" len="med"/>
                    </a:lnR>
                    <a:lnT w="6096" cap="flat" cmpd="sng" algn="ctr">
                      <a:solidFill>
                        <a:srgbClr val="609452"/>
                      </a:solidFill>
                      <a:prstDash val="solid"/>
                      <a:round/>
                      <a:headEnd type="none" w="med" len="med"/>
                      <a:tailEnd type="none" w="med" len="med"/>
                    </a:lnT>
                    <a:lnB w="6096" cap="flat" cmpd="sng" algn="ctr">
                      <a:solidFill>
                        <a:srgbClr val="E09F52"/>
                      </a:solidFill>
                      <a:prstDash val="solid"/>
                      <a:round/>
                      <a:headEnd type="none" w="med" len="med"/>
                      <a:tailEnd type="none" w="med" len="med"/>
                    </a:lnB>
                    <a:solidFill>
                      <a:srgbClr val="F2F2F2"/>
                    </a:solidFill>
                  </a:tcPr>
                </a:tc>
                <a:tc>
                  <a:txBody>
                    <a:bodyPr/>
                    <a:lstStyle/>
                    <a:p>
                      <a:pPr algn="ctr">
                        <a:lnSpc>
                          <a:spcPts val="2100"/>
                        </a:lnSpc>
                        <a:buNone/>
                      </a:pPr>
                      <a:r>
                        <a:rPr lang="zh-CN" altLang="en-US" sz="1800" b="1" kern="1200" dirty="0">
                          <a:solidFill>
                            <a:srgbClr val="595959"/>
                          </a:solidFill>
                          <a:latin typeface="微软雅黑" panose="020B0503020204020204" pitchFamily="34" charset="-122"/>
                          <a:ea typeface="微软雅黑" panose="020B0503020204020204" pitchFamily="34" charset="-122"/>
                          <a:cs typeface="+mn-cs"/>
                        </a:rPr>
                        <a:t>源代码插桩</a:t>
                      </a:r>
                      <a:endParaRPr lang="en-US" sz="1800" b="1" kern="1200" dirty="0">
                        <a:solidFill>
                          <a:srgbClr val="595959"/>
                        </a:solidFill>
                        <a:latin typeface="微软雅黑" panose="020B0503020204020204" pitchFamily="34" charset="-122"/>
                        <a:ea typeface="微软雅黑" panose="020B0503020204020204" pitchFamily="34" charset="-122"/>
                        <a:cs typeface="+mn-cs"/>
                      </a:endParaRPr>
                    </a:p>
                  </a:txBody>
                  <a:tcPr marL="90084" marR="90084" marT="60056" marB="60056" anchor="ctr">
                    <a:lnL w="6096" cap="flat" cmpd="sng" algn="ctr">
                      <a:solidFill>
                        <a:srgbClr val="009352"/>
                      </a:solidFill>
                      <a:prstDash val="solid"/>
                      <a:round/>
                      <a:headEnd type="none" w="med" len="med"/>
                      <a:tailEnd type="none" w="med" len="med"/>
                    </a:lnL>
                    <a:lnR w="6096" cap="flat" cmpd="sng" algn="ctr">
                      <a:solidFill>
                        <a:srgbClr val="609252"/>
                      </a:solidFill>
                      <a:prstDash val="solid"/>
                      <a:round/>
                      <a:headEnd type="none" w="med" len="med"/>
                      <a:tailEnd type="none" w="med" len="med"/>
                    </a:lnR>
                    <a:lnT w="6096" cap="flat" cmpd="sng" algn="ctr">
                      <a:solidFill>
                        <a:srgbClr val="809552"/>
                      </a:solidFill>
                      <a:prstDash val="solid"/>
                      <a:round/>
                      <a:headEnd type="none" w="med" len="med"/>
                      <a:tailEnd type="none" w="med" len="med"/>
                    </a:lnT>
                    <a:lnB w="6096" cap="flat" cmpd="sng" algn="ctr">
                      <a:solidFill>
                        <a:srgbClr val="409C52"/>
                      </a:solidFill>
                      <a:prstDash val="solid"/>
                      <a:round/>
                      <a:headEnd type="none" w="med" len="med"/>
                      <a:tailEnd type="none" w="med" len="med"/>
                    </a:lnB>
                    <a:solidFill>
                      <a:srgbClr val="F2F2F2"/>
                    </a:solidFill>
                  </a:tcPr>
                </a:tc>
                <a:tc>
                  <a:txBody>
                    <a:bodyPr/>
                    <a:lstStyle/>
                    <a:p>
                      <a:pPr algn="ctr">
                        <a:lnSpc>
                          <a:spcPts val="2100"/>
                        </a:lnSpc>
                        <a:buNone/>
                      </a:pPr>
                      <a:r>
                        <a:rPr lang="zh-CN" altLang="en-US" sz="1800" b="1" kern="1200" dirty="0">
                          <a:solidFill>
                            <a:srgbClr val="595959"/>
                          </a:solidFill>
                          <a:latin typeface="微软雅黑" panose="020B0503020204020204" pitchFamily="34" charset="-122"/>
                          <a:ea typeface="微软雅黑" panose="020B0503020204020204" pitchFamily="34" charset="-122"/>
                          <a:cs typeface="+mn-cs"/>
                        </a:rPr>
                        <a:t>目标代码插桩</a:t>
                      </a:r>
                      <a:endParaRPr lang="en-US" sz="1800" b="1" kern="1200" dirty="0">
                        <a:solidFill>
                          <a:srgbClr val="595959"/>
                        </a:solidFill>
                        <a:latin typeface="微软雅黑" panose="020B0503020204020204" pitchFamily="34" charset="-122"/>
                        <a:ea typeface="微软雅黑" panose="020B0503020204020204" pitchFamily="34" charset="-122"/>
                        <a:cs typeface="+mn-cs"/>
                      </a:endParaRPr>
                    </a:p>
                  </a:txBody>
                  <a:tcPr marL="90084" marR="90084" marT="60056" marB="60056" anchor="ctr">
                    <a:lnL w="6096" cap="flat" cmpd="sng" algn="ctr">
                      <a:solidFill>
                        <a:srgbClr val="609252"/>
                      </a:solidFill>
                      <a:prstDash val="solid"/>
                      <a:round/>
                      <a:headEnd type="none" w="med" len="med"/>
                      <a:tailEnd type="none" w="med" len="med"/>
                    </a:lnL>
                    <a:lnR w="6096" cap="flat" cmpd="sng" algn="ctr">
                      <a:solidFill>
                        <a:srgbClr val="609252"/>
                      </a:solidFill>
                      <a:prstDash val="solid"/>
                      <a:round/>
                      <a:headEnd type="none" w="med" len="med"/>
                      <a:tailEnd type="none" w="med" len="med"/>
                    </a:lnR>
                    <a:lnT w="6096" cap="flat" cmpd="sng" algn="ctr">
                      <a:solidFill>
                        <a:srgbClr val="609252"/>
                      </a:solidFill>
                      <a:prstDash val="solid"/>
                      <a:round/>
                      <a:headEnd type="none" w="med" len="med"/>
                      <a:tailEnd type="none" w="med" len="med"/>
                    </a:lnT>
                    <a:lnB w="6096" cap="flat" cmpd="sng" algn="ctr">
                      <a:solidFill>
                        <a:srgbClr val="908273"/>
                      </a:solidFill>
                      <a:prstDash val="solid"/>
                      <a:round/>
                      <a:headEnd type="none" w="med" len="med"/>
                      <a:tailEnd type="none" w="med" len="med"/>
                    </a:lnB>
                    <a:solidFill>
                      <a:srgbClr val="F2F2F2"/>
                    </a:solidFill>
                  </a:tcPr>
                </a:tc>
                <a:extLst>
                  <a:ext uri="{0D108BD9-81ED-4DB2-BD59-A6C34878D82A}">
                    <a16:rowId xmlns:a16="http://schemas.microsoft.com/office/drawing/2014/main" val="4044259068"/>
                  </a:ext>
                </a:extLst>
              </a:tr>
              <a:tr h="653525">
                <a:tc>
                  <a:txBody>
                    <a:bodyPr/>
                    <a:lstStyle/>
                    <a:p>
                      <a:pPr algn="ctr">
                        <a:lnSpc>
                          <a:spcPts val="2100"/>
                        </a:lnSpc>
                        <a:buNone/>
                      </a:pPr>
                      <a:r>
                        <a:rPr lang="zh-CN" altLang="en-US" sz="1800" b="1" kern="1200" dirty="0">
                          <a:solidFill>
                            <a:srgbClr val="595959"/>
                          </a:solidFill>
                          <a:latin typeface="微软雅黑" panose="020B0503020204020204" pitchFamily="34" charset="-122"/>
                          <a:ea typeface="微软雅黑" panose="020B0503020204020204" pitchFamily="34" charset="-122"/>
                          <a:cs typeface="+mn-cs"/>
                        </a:rPr>
                        <a:t>操作对象</a:t>
                      </a:r>
                    </a:p>
                  </a:txBody>
                  <a:tcPr marL="90084" marR="90084" marT="60056" marB="60056" anchor="ctr">
                    <a:lnL w="6096" cap="flat" cmpd="sng" algn="ctr">
                      <a:solidFill>
                        <a:srgbClr val="209E52"/>
                      </a:solidFill>
                      <a:prstDash val="solid"/>
                      <a:round/>
                      <a:headEnd type="none" w="med" len="med"/>
                      <a:tailEnd type="none" w="med" len="med"/>
                    </a:lnL>
                    <a:lnR w="6096" cap="flat" cmpd="sng" algn="ctr">
                      <a:solidFill>
                        <a:srgbClr val="209E52"/>
                      </a:solidFill>
                      <a:prstDash val="solid"/>
                      <a:round/>
                      <a:headEnd type="none" w="med" len="med"/>
                      <a:tailEnd type="none" w="med" len="med"/>
                    </a:lnR>
                    <a:lnT w="6096" cap="flat" cmpd="sng" algn="ctr">
                      <a:solidFill>
                        <a:srgbClr val="E09F52"/>
                      </a:solidFill>
                      <a:prstDash val="solid"/>
                      <a:round/>
                      <a:headEnd type="none" w="med" len="med"/>
                      <a:tailEnd type="none" w="med" len="med"/>
                    </a:lnT>
                    <a:lnB w="6096" cap="flat" cmpd="sng" algn="ctr">
                      <a:solidFill>
                        <a:srgbClr val="60A4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高级语言源代码（如 </a:t>
                      </a:r>
                      <a:r>
                        <a:rPr lang="en-US" altLang="zh-CN" sz="1800" kern="1200" dirty="0">
                          <a:solidFill>
                            <a:srgbClr val="595959"/>
                          </a:solidFill>
                          <a:latin typeface="微软雅黑" panose="020B0503020204020204" pitchFamily="34" charset="-122"/>
                          <a:ea typeface="微软雅黑" panose="020B0503020204020204" pitchFamily="34" charset="-122"/>
                          <a:cs typeface="+mn-cs"/>
                        </a:rPr>
                        <a:t>C/C++</a:t>
                      </a:r>
                      <a:r>
                        <a:rPr lang="zh-CN" altLang="en-US" sz="1800" kern="1200" dirty="0">
                          <a:solidFill>
                            <a:srgbClr val="595959"/>
                          </a:solidFill>
                          <a:latin typeface="微软雅黑" panose="020B0503020204020204" pitchFamily="34" charset="-122"/>
                          <a:ea typeface="微软雅黑" panose="020B0503020204020204" pitchFamily="34" charset="-122"/>
                          <a:cs typeface="+mn-cs"/>
                        </a:rPr>
                        <a:t>、</a:t>
                      </a:r>
                      <a:r>
                        <a:rPr lang="en-US" altLang="zh-CN" sz="1800" kern="1200" dirty="0">
                          <a:solidFill>
                            <a:srgbClr val="595959"/>
                          </a:solidFill>
                          <a:latin typeface="微软雅黑" panose="020B0503020204020204" pitchFamily="34" charset="-122"/>
                          <a:ea typeface="微软雅黑" panose="020B0503020204020204" pitchFamily="34" charset="-122"/>
                          <a:cs typeface="+mn-cs"/>
                        </a:rPr>
                        <a:t>Java</a:t>
                      </a:r>
                      <a:r>
                        <a:rPr lang="zh-CN" altLang="en-US" sz="1800" kern="1200" dirty="0">
                          <a:solidFill>
                            <a:srgbClr val="595959"/>
                          </a:solidFill>
                          <a:latin typeface="微软雅黑" panose="020B0503020204020204" pitchFamily="34" charset="-122"/>
                          <a:ea typeface="微软雅黑" panose="020B0503020204020204" pitchFamily="34" charset="-122"/>
                          <a:cs typeface="+mn-cs"/>
                        </a:rPr>
                        <a:t>、</a:t>
                      </a:r>
                      <a:r>
                        <a:rPr lang="en-US" altLang="zh-CN" sz="1800" kern="1200" dirty="0">
                          <a:solidFill>
                            <a:srgbClr val="595959"/>
                          </a:solidFill>
                          <a:latin typeface="微软雅黑" panose="020B0503020204020204" pitchFamily="34" charset="-122"/>
                          <a:ea typeface="微软雅黑" panose="020B0503020204020204" pitchFamily="34" charset="-122"/>
                          <a:cs typeface="+mn-cs"/>
                        </a:rPr>
                        <a:t>Python </a:t>
                      </a:r>
                      <a:r>
                        <a:rPr lang="zh-CN" altLang="en-US" sz="1800" kern="1200" dirty="0">
                          <a:solidFill>
                            <a:srgbClr val="595959"/>
                          </a:solidFill>
                          <a:latin typeface="微软雅黑" panose="020B0503020204020204" pitchFamily="34" charset="-122"/>
                          <a:ea typeface="微软雅黑" panose="020B0503020204020204" pitchFamily="34" charset="-122"/>
                          <a:cs typeface="+mn-cs"/>
                        </a:rPr>
                        <a:t>代码）</a:t>
                      </a:r>
                    </a:p>
                  </a:txBody>
                  <a:tcPr marL="90084" marR="90084" marT="60056" marB="60056" anchor="ctr">
                    <a:lnL w="6096" cap="flat" cmpd="sng" algn="ctr">
                      <a:solidFill>
                        <a:srgbClr val="209E52"/>
                      </a:solidFill>
                      <a:prstDash val="solid"/>
                      <a:round/>
                      <a:headEnd type="none" w="med" len="med"/>
                      <a:tailEnd type="none" w="med" len="med"/>
                    </a:lnL>
                    <a:lnR w="6096" cap="flat" cmpd="sng" algn="ctr">
                      <a:solidFill>
                        <a:srgbClr val="009252"/>
                      </a:solidFill>
                      <a:prstDash val="solid"/>
                      <a:round/>
                      <a:headEnd type="none" w="med" len="med"/>
                      <a:tailEnd type="none" w="med" len="med"/>
                    </a:lnR>
                    <a:lnT w="6096" cap="flat" cmpd="sng" algn="ctr">
                      <a:solidFill>
                        <a:srgbClr val="409C52"/>
                      </a:solidFill>
                      <a:prstDash val="solid"/>
                      <a:round/>
                      <a:headEnd type="none" w="med" len="med"/>
                      <a:tailEnd type="none" w="med" len="med"/>
                    </a:lnT>
                    <a:lnB w="6096" cap="flat" cmpd="sng" algn="ctr">
                      <a:solidFill>
                        <a:srgbClr val="80A4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二进制目标代码（可执行文件、库文件等）</a:t>
                      </a:r>
                    </a:p>
                  </a:txBody>
                  <a:tcPr marL="90084" marR="90084" marT="60056" marB="60056" anchor="ctr">
                    <a:lnL w="6096" cap="flat" cmpd="sng" algn="ctr">
                      <a:solidFill>
                        <a:srgbClr val="009252"/>
                      </a:solidFill>
                      <a:prstDash val="solid"/>
                      <a:round/>
                      <a:headEnd type="none" w="med" len="med"/>
                      <a:tailEnd type="none" w="med" len="med"/>
                    </a:lnL>
                    <a:lnR w="6096" cap="flat" cmpd="sng" algn="ctr">
                      <a:solidFill>
                        <a:srgbClr val="409852"/>
                      </a:solidFill>
                      <a:prstDash val="solid"/>
                      <a:round/>
                      <a:headEnd type="none" w="med" len="med"/>
                      <a:tailEnd type="none" w="med" len="med"/>
                    </a:lnR>
                    <a:lnT w="6096" cap="flat" cmpd="sng" algn="ctr">
                      <a:solidFill>
                        <a:srgbClr val="908273"/>
                      </a:solidFill>
                      <a:prstDash val="solid"/>
                      <a:round/>
                      <a:headEnd type="none" w="med" len="med"/>
                      <a:tailEnd type="none" w="med" len="med"/>
                    </a:lnT>
                    <a:lnB w="6096" cap="flat" cmpd="sng" algn="ctr">
                      <a:solidFill>
                        <a:srgbClr val="208C73"/>
                      </a:solidFill>
                      <a:prstDash val="solid"/>
                      <a:round/>
                      <a:headEnd type="none" w="med" len="med"/>
                      <a:tailEnd type="none" w="med" len="med"/>
                    </a:lnB>
                    <a:solidFill>
                      <a:srgbClr val="FFFFFF"/>
                    </a:solidFill>
                  </a:tcPr>
                </a:tc>
                <a:extLst>
                  <a:ext uri="{0D108BD9-81ED-4DB2-BD59-A6C34878D82A}">
                    <a16:rowId xmlns:a16="http://schemas.microsoft.com/office/drawing/2014/main" val="2431912260"/>
                  </a:ext>
                </a:extLst>
              </a:tr>
              <a:tr h="478362">
                <a:tc>
                  <a:txBody>
                    <a:bodyPr/>
                    <a:lstStyle/>
                    <a:p>
                      <a:pPr algn="ctr">
                        <a:lnSpc>
                          <a:spcPts val="2100"/>
                        </a:lnSpc>
                        <a:buNone/>
                      </a:pPr>
                      <a:r>
                        <a:rPr lang="zh-CN" altLang="en-US" sz="1800" b="1" kern="1200" dirty="0">
                          <a:solidFill>
                            <a:srgbClr val="595959"/>
                          </a:solidFill>
                          <a:latin typeface="微软雅黑" panose="020B0503020204020204" pitchFamily="34" charset="-122"/>
                          <a:ea typeface="微软雅黑" panose="020B0503020204020204" pitchFamily="34" charset="-122"/>
                          <a:cs typeface="+mn-cs"/>
                        </a:rPr>
                        <a:t>是否需要源码</a:t>
                      </a:r>
                    </a:p>
                  </a:txBody>
                  <a:tcPr marL="90084" marR="90084" marT="60056" marB="60056" anchor="ctr">
                    <a:lnL w="6096" cap="flat" cmpd="sng" algn="ctr">
                      <a:solidFill>
                        <a:srgbClr val="A0A352"/>
                      </a:solidFill>
                      <a:prstDash val="solid"/>
                      <a:round/>
                      <a:headEnd type="none" w="med" len="med"/>
                      <a:tailEnd type="none" w="med" len="med"/>
                    </a:lnL>
                    <a:lnR w="6096" cap="flat" cmpd="sng" algn="ctr">
                      <a:solidFill>
                        <a:srgbClr val="A0A452"/>
                      </a:solidFill>
                      <a:prstDash val="solid"/>
                      <a:round/>
                      <a:headEnd type="none" w="med" len="med"/>
                      <a:tailEnd type="none" w="med" len="med"/>
                    </a:lnR>
                    <a:lnT w="6096" cap="flat" cmpd="sng" algn="ctr">
                      <a:solidFill>
                        <a:srgbClr val="60A452"/>
                      </a:solidFill>
                      <a:prstDash val="solid"/>
                      <a:round/>
                      <a:headEnd type="none" w="med" len="med"/>
                      <a:tailEnd type="none" w="med" len="med"/>
                    </a:lnT>
                    <a:lnB w="6096" cap="flat" cmpd="sng" algn="ctr">
                      <a:solidFill>
                        <a:srgbClr val="A0A9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必须需要，无源码则无法操作</a:t>
                      </a:r>
                    </a:p>
                  </a:txBody>
                  <a:tcPr marL="90084" marR="90084" marT="60056" marB="60056" anchor="ctr">
                    <a:lnL w="6096" cap="flat" cmpd="sng" algn="ctr">
                      <a:solidFill>
                        <a:srgbClr val="A0A452"/>
                      </a:solidFill>
                      <a:prstDash val="solid"/>
                      <a:round/>
                      <a:headEnd type="none" w="med" len="med"/>
                      <a:tailEnd type="none" w="med" len="med"/>
                    </a:lnL>
                    <a:lnR w="6096" cap="flat" cmpd="sng" algn="ctr">
                      <a:solidFill>
                        <a:srgbClr val="209E52"/>
                      </a:solidFill>
                      <a:prstDash val="solid"/>
                      <a:round/>
                      <a:headEnd type="none" w="med" len="med"/>
                      <a:tailEnd type="none" w="med" len="med"/>
                    </a:lnR>
                    <a:lnT w="6096" cap="flat" cmpd="sng" algn="ctr">
                      <a:solidFill>
                        <a:srgbClr val="80A452"/>
                      </a:solidFill>
                      <a:prstDash val="solid"/>
                      <a:round/>
                      <a:headEnd type="none" w="med" len="med"/>
                      <a:tailEnd type="none" w="med" len="med"/>
                    </a:lnT>
                    <a:lnB w="6096" cap="flat" cmpd="sng" algn="ctr">
                      <a:solidFill>
                        <a:srgbClr val="00AC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无需源码，直接处理二进制文件</a:t>
                      </a:r>
                    </a:p>
                  </a:txBody>
                  <a:tcPr marL="90084" marR="90084" marT="60056" marB="60056" anchor="ctr">
                    <a:lnL w="6096" cap="flat" cmpd="sng" algn="ctr">
                      <a:solidFill>
                        <a:srgbClr val="209E52"/>
                      </a:solidFill>
                      <a:prstDash val="solid"/>
                      <a:round/>
                      <a:headEnd type="none" w="med" len="med"/>
                      <a:tailEnd type="none" w="med" len="med"/>
                    </a:lnL>
                    <a:lnR w="6096" cap="flat" cmpd="sng" algn="ctr">
                      <a:solidFill>
                        <a:srgbClr val="409852"/>
                      </a:solidFill>
                      <a:prstDash val="solid"/>
                      <a:round/>
                      <a:headEnd type="none" w="med" len="med"/>
                      <a:tailEnd type="none" w="med" len="med"/>
                    </a:lnR>
                    <a:lnT w="6096" cap="flat" cmpd="sng" algn="ctr">
                      <a:solidFill>
                        <a:srgbClr val="208C73"/>
                      </a:solidFill>
                      <a:prstDash val="solid"/>
                      <a:round/>
                      <a:headEnd type="none" w="med" len="med"/>
                      <a:tailEnd type="none" w="med" len="med"/>
                    </a:lnT>
                    <a:lnB w="6096" cap="flat" cmpd="sng" algn="ctr">
                      <a:solidFill>
                        <a:srgbClr val="609173"/>
                      </a:solidFill>
                      <a:prstDash val="solid"/>
                      <a:round/>
                      <a:headEnd type="none" w="med" len="med"/>
                      <a:tailEnd type="none" w="med" len="med"/>
                    </a:lnB>
                    <a:solidFill>
                      <a:srgbClr val="FFFFFF"/>
                    </a:solidFill>
                  </a:tcPr>
                </a:tc>
                <a:extLst>
                  <a:ext uri="{0D108BD9-81ED-4DB2-BD59-A6C34878D82A}">
                    <a16:rowId xmlns:a16="http://schemas.microsoft.com/office/drawing/2014/main" val="1657773910"/>
                  </a:ext>
                </a:extLst>
              </a:tr>
              <a:tr h="653525">
                <a:tc>
                  <a:txBody>
                    <a:bodyPr/>
                    <a:lstStyle/>
                    <a:p>
                      <a:pPr algn="ctr">
                        <a:lnSpc>
                          <a:spcPts val="2100"/>
                        </a:lnSpc>
                        <a:buNone/>
                      </a:pPr>
                      <a:r>
                        <a:rPr lang="zh-CN" altLang="en-US" sz="1800" b="1" kern="1200" dirty="0">
                          <a:solidFill>
                            <a:srgbClr val="595959"/>
                          </a:solidFill>
                          <a:latin typeface="微软雅黑" panose="020B0503020204020204" pitchFamily="34" charset="-122"/>
                          <a:ea typeface="微软雅黑" panose="020B0503020204020204" pitchFamily="34" charset="-122"/>
                          <a:cs typeface="+mn-cs"/>
                        </a:rPr>
                        <a:t>编程语言依赖</a:t>
                      </a:r>
                    </a:p>
                  </a:txBody>
                  <a:tcPr marL="90084" marR="90084" marT="60056" marB="60056" anchor="ctr">
                    <a:lnL w="6096" cap="flat" cmpd="sng" algn="ctr">
                      <a:solidFill>
                        <a:srgbClr val="80AB52"/>
                      </a:solidFill>
                      <a:prstDash val="solid"/>
                      <a:round/>
                      <a:headEnd type="none" w="med" len="med"/>
                      <a:tailEnd type="none" w="med" len="med"/>
                    </a:lnL>
                    <a:lnR w="6096" cap="flat" cmpd="sng" algn="ctr">
                      <a:solidFill>
                        <a:srgbClr val="80AF52"/>
                      </a:solidFill>
                      <a:prstDash val="solid"/>
                      <a:round/>
                      <a:headEnd type="none" w="med" len="med"/>
                      <a:tailEnd type="none" w="med" len="med"/>
                    </a:lnR>
                    <a:lnT w="6096" cap="flat" cmpd="sng" algn="ctr">
                      <a:solidFill>
                        <a:srgbClr val="A0A952"/>
                      </a:solidFill>
                      <a:prstDash val="solid"/>
                      <a:round/>
                      <a:headEnd type="none" w="med" len="med"/>
                      <a:tailEnd type="none" w="med" len="med"/>
                    </a:lnT>
                    <a:lnB w="6096" cap="flat" cmpd="sng" algn="ctr">
                      <a:solidFill>
                        <a:srgbClr val="A0C1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强依赖：需适配不同语言的语法（如 </a:t>
                      </a:r>
                      <a:r>
                        <a:rPr lang="en-US" altLang="zh-CN" sz="1800" kern="1200" dirty="0">
                          <a:solidFill>
                            <a:srgbClr val="595959"/>
                          </a:solidFill>
                          <a:latin typeface="微软雅黑" panose="020B0503020204020204" pitchFamily="34" charset="-122"/>
                          <a:ea typeface="微软雅黑" panose="020B0503020204020204" pitchFamily="34" charset="-122"/>
                          <a:cs typeface="+mn-cs"/>
                        </a:rPr>
                        <a:t>Java </a:t>
                      </a:r>
                      <a:r>
                        <a:rPr lang="zh-CN" altLang="en-US" sz="1800" kern="1200" dirty="0">
                          <a:solidFill>
                            <a:srgbClr val="595959"/>
                          </a:solidFill>
                          <a:latin typeface="微软雅黑" panose="020B0503020204020204" pitchFamily="34" charset="-122"/>
                          <a:ea typeface="微软雅黑" panose="020B0503020204020204" pitchFamily="34" charset="-122"/>
                          <a:cs typeface="+mn-cs"/>
                        </a:rPr>
                        <a:t>用 </a:t>
                      </a:r>
                      <a:r>
                        <a:rPr lang="en-US" altLang="zh-CN" sz="1800" kern="1200" dirty="0">
                          <a:solidFill>
                            <a:srgbClr val="595959"/>
                          </a:solidFill>
                          <a:latin typeface="微软雅黑" panose="020B0503020204020204" pitchFamily="34" charset="-122"/>
                          <a:ea typeface="微软雅黑" panose="020B0503020204020204" pitchFamily="34" charset="-122"/>
                          <a:cs typeface="+mn-cs"/>
                        </a:rPr>
                        <a:t>AspectJ</a:t>
                      </a:r>
                      <a:r>
                        <a:rPr lang="zh-CN" altLang="en-US" sz="1800" kern="1200" dirty="0">
                          <a:solidFill>
                            <a:srgbClr val="595959"/>
                          </a:solidFill>
                          <a:latin typeface="微软雅黑" panose="020B0503020204020204" pitchFamily="34" charset="-122"/>
                          <a:ea typeface="微软雅黑" panose="020B0503020204020204" pitchFamily="34" charset="-122"/>
                          <a:cs typeface="+mn-cs"/>
                        </a:rPr>
                        <a:t>，</a:t>
                      </a:r>
                      <a:r>
                        <a:rPr lang="en-US" altLang="zh-CN" sz="1800" kern="1200" dirty="0">
                          <a:solidFill>
                            <a:srgbClr val="595959"/>
                          </a:solidFill>
                          <a:latin typeface="微软雅黑" panose="020B0503020204020204" pitchFamily="34" charset="-122"/>
                          <a:ea typeface="微软雅黑" panose="020B0503020204020204" pitchFamily="34" charset="-122"/>
                          <a:cs typeface="+mn-cs"/>
                        </a:rPr>
                        <a:t>C </a:t>
                      </a:r>
                      <a:r>
                        <a:rPr lang="zh-CN" altLang="en-US" sz="1800" kern="1200" dirty="0">
                          <a:solidFill>
                            <a:srgbClr val="595959"/>
                          </a:solidFill>
                          <a:latin typeface="微软雅黑" panose="020B0503020204020204" pitchFamily="34" charset="-122"/>
                          <a:ea typeface="微软雅黑" panose="020B0503020204020204" pitchFamily="34" charset="-122"/>
                          <a:cs typeface="+mn-cs"/>
                        </a:rPr>
                        <a:t>用宏定义）</a:t>
                      </a:r>
                    </a:p>
                  </a:txBody>
                  <a:tcPr marL="90084" marR="90084" marT="60056" marB="60056" anchor="ctr">
                    <a:lnL w="6096" cap="flat" cmpd="sng" algn="ctr">
                      <a:solidFill>
                        <a:srgbClr val="80AF52"/>
                      </a:solidFill>
                      <a:prstDash val="solid"/>
                      <a:round/>
                      <a:headEnd type="none" w="med" len="med"/>
                      <a:tailEnd type="none" w="med" len="med"/>
                    </a:lnL>
                    <a:lnR w="6096" cap="flat" cmpd="sng" algn="ctr">
                      <a:solidFill>
                        <a:srgbClr val="409C52"/>
                      </a:solidFill>
                      <a:prstDash val="solid"/>
                      <a:round/>
                      <a:headEnd type="none" w="med" len="med"/>
                      <a:tailEnd type="none" w="med" len="med"/>
                    </a:lnR>
                    <a:lnT w="6096" cap="flat" cmpd="sng" algn="ctr">
                      <a:solidFill>
                        <a:srgbClr val="00AC52"/>
                      </a:solidFill>
                      <a:prstDash val="solid"/>
                      <a:round/>
                      <a:headEnd type="none" w="med" len="med"/>
                      <a:tailEnd type="none" w="med" len="med"/>
                    </a:lnT>
                    <a:lnB w="6096" cap="flat" cmpd="sng" algn="ctr">
                      <a:solidFill>
                        <a:srgbClr val="20F2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弱依赖：与源码语言无关，仅依赖操作系统 </a:t>
                      </a:r>
                      <a:r>
                        <a:rPr lang="en-US" altLang="zh-CN" sz="1800" kern="1200">
                          <a:solidFill>
                            <a:srgbClr val="595959"/>
                          </a:solidFill>
                          <a:latin typeface="微软雅黑" panose="020B0503020204020204" pitchFamily="34" charset="-122"/>
                          <a:ea typeface="微软雅黑" panose="020B0503020204020204" pitchFamily="34" charset="-122"/>
                          <a:cs typeface="+mn-cs"/>
                        </a:rPr>
                        <a:t>/ </a:t>
                      </a:r>
                      <a:r>
                        <a:rPr lang="zh-CN" altLang="en-US" sz="1800" kern="1200">
                          <a:solidFill>
                            <a:srgbClr val="595959"/>
                          </a:solidFill>
                          <a:latin typeface="微软雅黑" panose="020B0503020204020204" pitchFamily="34" charset="-122"/>
                          <a:ea typeface="微软雅黑" panose="020B0503020204020204" pitchFamily="34" charset="-122"/>
                          <a:cs typeface="+mn-cs"/>
                        </a:rPr>
                        <a:t>指令集（如 </a:t>
                      </a:r>
                      <a:r>
                        <a:rPr lang="en-US" altLang="zh-CN" sz="1800" kern="1200">
                          <a:solidFill>
                            <a:srgbClr val="595959"/>
                          </a:solidFill>
                          <a:latin typeface="微软雅黑" panose="020B0503020204020204" pitchFamily="34" charset="-122"/>
                          <a:ea typeface="微软雅黑" panose="020B0503020204020204" pitchFamily="34" charset="-122"/>
                          <a:cs typeface="+mn-cs"/>
                        </a:rPr>
                        <a:t>x86</a:t>
                      </a:r>
                      <a:r>
                        <a:rPr lang="zh-CN" altLang="en-US" sz="1800" kern="1200">
                          <a:solidFill>
                            <a:srgbClr val="595959"/>
                          </a:solidFill>
                          <a:latin typeface="微软雅黑" panose="020B0503020204020204" pitchFamily="34" charset="-122"/>
                          <a:ea typeface="微软雅黑" panose="020B0503020204020204" pitchFamily="34" charset="-122"/>
                          <a:cs typeface="+mn-cs"/>
                        </a:rPr>
                        <a:t>、</a:t>
                      </a:r>
                      <a:r>
                        <a:rPr lang="en-US" altLang="zh-CN" sz="1800" kern="1200">
                          <a:solidFill>
                            <a:srgbClr val="595959"/>
                          </a:solidFill>
                          <a:latin typeface="微软雅黑" panose="020B0503020204020204" pitchFamily="34" charset="-122"/>
                          <a:ea typeface="微软雅黑" panose="020B0503020204020204" pitchFamily="34" charset="-122"/>
                          <a:cs typeface="+mn-cs"/>
                        </a:rPr>
                        <a:t>ARM</a:t>
                      </a:r>
                      <a:r>
                        <a:rPr lang="zh-CN" altLang="en-US" sz="1800" kern="1200">
                          <a:solidFill>
                            <a:srgbClr val="595959"/>
                          </a:solidFill>
                          <a:latin typeface="微软雅黑" panose="020B0503020204020204" pitchFamily="34" charset="-122"/>
                          <a:ea typeface="微软雅黑" panose="020B0503020204020204" pitchFamily="34" charset="-122"/>
                          <a:cs typeface="+mn-cs"/>
                        </a:rPr>
                        <a:t>）</a:t>
                      </a:r>
                    </a:p>
                  </a:txBody>
                  <a:tcPr marL="90084" marR="90084" marT="60056" marB="60056" anchor="ctr">
                    <a:lnL w="6096" cap="flat" cmpd="sng" algn="ctr">
                      <a:solidFill>
                        <a:srgbClr val="409C52"/>
                      </a:solidFill>
                      <a:prstDash val="solid"/>
                      <a:round/>
                      <a:headEnd type="none" w="med" len="med"/>
                      <a:tailEnd type="none" w="med" len="med"/>
                    </a:lnL>
                    <a:lnR w="6096" cap="flat" cmpd="sng" algn="ctr">
                      <a:solidFill>
                        <a:srgbClr val="409852"/>
                      </a:solidFill>
                      <a:prstDash val="solid"/>
                      <a:round/>
                      <a:headEnd type="none" w="med" len="med"/>
                      <a:tailEnd type="none" w="med" len="med"/>
                    </a:lnR>
                    <a:lnT w="6096" cap="flat" cmpd="sng" algn="ctr">
                      <a:solidFill>
                        <a:srgbClr val="609173"/>
                      </a:solidFill>
                      <a:prstDash val="solid"/>
                      <a:round/>
                      <a:headEnd type="none" w="med" len="med"/>
                      <a:tailEnd type="none" w="med" len="med"/>
                    </a:lnT>
                    <a:lnB w="6096" cap="flat" cmpd="sng" algn="ctr">
                      <a:solidFill>
                        <a:srgbClr val="90A373"/>
                      </a:solidFill>
                      <a:prstDash val="solid"/>
                      <a:round/>
                      <a:headEnd type="none" w="med" len="med"/>
                      <a:tailEnd type="none" w="med" len="med"/>
                    </a:lnB>
                    <a:solidFill>
                      <a:srgbClr val="FFFFFF"/>
                    </a:solidFill>
                  </a:tcPr>
                </a:tc>
                <a:extLst>
                  <a:ext uri="{0D108BD9-81ED-4DB2-BD59-A6C34878D82A}">
                    <a16:rowId xmlns:a16="http://schemas.microsoft.com/office/drawing/2014/main" val="2015265066"/>
                  </a:ext>
                </a:extLst>
              </a:tr>
              <a:tr h="653525">
                <a:tc>
                  <a:txBody>
                    <a:bodyPr/>
                    <a:lstStyle/>
                    <a:p>
                      <a:pPr algn="ctr">
                        <a:lnSpc>
                          <a:spcPts val="2100"/>
                        </a:lnSpc>
                        <a:buNone/>
                      </a:pPr>
                      <a:r>
                        <a:rPr lang="zh-CN" altLang="en-US" sz="1800" b="1" kern="1200" dirty="0">
                          <a:solidFill>
                            <a:srgbClr val="595959"/>
                          </a:solidFill>
                          <a:latin typeface="微软雅黑" panose="020B0503020204020204" pitchFamily="34" charset="-122"/>
                          <a:ea typeface="微软雅黑" panose="020B0503020204020204" pitchFamily="34" charset="-122"/>
                          <a:cs typeface="+mn-cs"/>
                        </a:rPr>
                        <a:t>插桩时机</a:t>
                      </a:r>
                    </a:p>
                  </a:txBody>
                  <a:tcPr marL="90084" marR="90084" marT="60056" marB="60056" anchor="ctr">
                    <a:lnL w="6096" cap="flat" cmpd="sng" algn="ctr">
                      <a:solidFill>
                        <a:srgbClr val="20C552"/>
                      </a:solidFill>
                      <a:prstDash val="solid"/>
                      <a:round/>
                      <a:headEnd type="none" w="med" len="med"/>
                      <a:tailEnd type="none" w="med" len="med"/>
                    </a:lnL>
                    <a:lnR w="6096" cap="flat" cmpd="sng" algn="ctr">
                      <a:solidFill>
                        <a:srgbClr val="00F652"/>
                      </a:solidFill>
                      <a:prstDash val="solid"/>
                      <a:round/>
                      <a:headEnd type="none" w="med" len="med"/>
                      <a:tailEnd type="none" w="med" len="med"/>
                    </a:lnR>
                    <a:lnT w="6096" cap="flat" cmpd="sng" algn="ctr">
                      <a:solidFill>
                        <a:srgbClr val="A0C152"/>
                      </a:solidFill>
                      <a:prstDash val="solid"/>
                      <a:round/>
                      <a:headEnd type="none" w="med" len="med"/>
                      <a:tailEnd type="none" w="med" len="med"/>
                    </a:lnT>
                    <a:lnB w="6096" cap="flat" cmpd="sng" algn="ctr">
                      <a:solidFill>
                        <a:srgbClr val="607E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程序编译前（源码阶段）</a:t>
                      </a:r>
                    </a:p>
                  </a:txBody>
                  <a:tcPr marL="90084" marR="90084" marT="60056" marB="60056" anchor="ctr">
                    <a:lnL w="6096" cap="flat" cmpd="sng" algn="ctr">
                      <a:solidFill>
                        <a:srgbClr val="00F652"/>
                      </a:solidFill>
                      <a:prstDash val="solid"/>
                      <a:round/>
                      <a:headEnd type="none" w="med" len="med"/>
                      <a:tailEnd type="none" w="med" len="med"/>
                    </a:lnL>
                    <a:lnR w="6096" cap="flat" cmpd="sng" algn="ctr">
                      <a:solidFill>
                        <a:srgbClr val="209E52"/>
                      </a:solidFill>
                      <a:prstDash val="solid"/>
                      <a:round/>
                      <a:headEnd type="none" w="med" len="med"/>
                      <a:tailEnd type="none" w="med" len="med"/>
                    </a:lnR>
                    <a:lnT w="6096" cap="flat" cmpd="sng" algn="ctr">
                      <a:solidFill>
                        <a:srgbClr val="20F252"/>
                      </a:solidFill>
                      <a:prstDash val="solid"/>
                      <a:round/>
                      <a:headEnd type="none" w="med" len="med"/>
                      <a:tailEnd type="none" w="med" len="med"/>
                    </a:lnT>
                    <a:lnB w="6096" cap="flat" cmpd="sng" algn="ctr">
                      <a:solidFill>
                        <a:srgbClr val="207F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程序编译后（二进制阶段），可分静态（运行前）、动态（运行中）</a:t>
                      </a:r>
                    </a:p>
                  </a:txBody>
                  <a:tcPr marL="90084" marR="90084" marT="60056" marB="60056" anchor="ctr">
                    <a:lnL w="6096" cap="flat" cmpd="sng" algn="ctr">
                      <a:solidFill>
                        <a:srgbClr val="209E52"/>
                      </a:solidFill>
                      <a:prstDash val="solid"/>
                      <a:round/>
                      <a:headEnd type="none" w="med" len="med"/>
                      <a:tailEnd type="none" w="med" len="med"/>
                    </a:lnL>
                    <a:lnR w="6096" cap="flat" cmpd="sng" algn="ctr">
                      <a:solidFill>
                        <a:srgbClr val="409852"/>
                      </a:solidFill>
                      <a:prstDash val="solid"/>
                      <a:round/>
                      <a:headEnd type="none" w="med" len="med"/>
                      <a:tailEnd type="none" w="med" len="med"/>
                    </a:lnR>
                    <a:lnT w="6096" cap="flat" cmpd="sng" algn="ctr">
                      <a:solidFill>
                        <a:srgbClr val="90A373"/>
                      </a:solidFill>
                      <a:prstDash val="solid"/>
                      <a:round/>
                      <a:headEnd type="none" w="med" len="med"/>
                      <a:tailEnd type="none" w="med" len="med"/>
                    </a:lnT>
                    <a:lnB w="6096" cap="flat" cmpd="sng" algn="ctr">
                      <a:solidFill>
                        <a:srgbClr val="B0AD73"/>
                      </a:solidFill>
                      <a:prstDash val="solid"/>
                      <a:round/>
                      <a:headEnd type="none" w="med" len="med"/>
                      <a:tailEnd type="none" w="med" len="med"/>
                    </a:lnB>
                    <a:solidFill>
                      <a:srgbClr val="FFFFFF"/>
                    </a:solidFill>
                  </a:tcPr>
                </a:tc>
                <a:extLst>
                  <a:ext uri="{0D108BD9-81ED-4DB2-BD59-A6C34878D82A}">
                    <a16:rowId xmlns:a16="http://schemas.microsoft.com/office/drawing/2014/main" val="1850359297"/>
                  </a:ext>
                </a:extLst>
              </a:tr>
              <a:tr h="478362">
                <a:tc>
                  <a:txBody>
                    <a:bodyPr/>
                    <a:lstStyle/>
                    <a:p>
                      <a:pPr algn="ctr">
                        <a:lnSpc>
                          <a:spcPts val="2100"/>
                        </a:lnSpc>
                        <a:buNone/>
                      </a:pPr>
                      <a:r>
                        <a:rPr lang="zh-CN" altLang="en-US" sz="1800" b="1" kern="1200" dirty="0">
                          <a:solidFill>
                            <a:srgbClr val="595959"/>
                          </a:solidFill>
                          <a:latin typeface="微软雅黑" panose="020B0503020204020204" pitchFamily="34" charset="-122"/>
                          <a:ea typeface="微软雅黑" panose="020B0503020204020204" pitchFamily="34" charset="-122"/>
                          <a:cs typeface="+mn-cs"/>
                        </a:rPr>
                        <a:t>编译依赖</a:t>
                      </a:r>
                    </a:p>
                  </a:txBody>
                  <a:tcPr marL="90084" marR="90084" marT="60056" marB="60056" anchor="ctr">
                    <a:lnL w="6096" cap="flat" cmpd="sng" algn="ctr">
                      <a:solidFill>
                        <a:srgbClr val="807E52"/>
                      </a:solidFill>
                      <a:prstDash val="solid"/>
                      <a:round/>
                      <a:headEnd type="none" w="med" len="med"/>
                      <a:tailEnd type="none" w="med" len="med"/>
                    </a:lnL>
                    <a:lnR w="6096" cap="flat" cmpd="sng" algn="ctr">
                      <a:solidFill>
                        <a:srgbClr val="400A53"/>
                      </a:solidFill>
                      <a:prstDash val="solid"/>
                      <a:round/>
                      <a:headEnd type="none" w="med" len="med"/>
                      <a:tailEnd type="none" w="med" len="med"/>
                    </a:lnR>
                    <a:lnT w="6096" cap="flat" cmpd="sng" algn="ctr">
                      <a:solidFill>
                        <a:srgbClr val="607E52"/>
                      </a:solidFill>
                      <a:prstDash val="solid"/>
                      <a:round/>
                      <a:headEnd type="none" w="med" len="med"/>
                      <a:tailEnd type="none" w="med" len="med"/>
                    </a:lnT>
                    <a:lnB w="6096" cap="flat" cmpd="sng" algn="ctr">
                      <a:solidFill>
                        <a:srgbClr val="4073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插桩后需重新编译、链接生成新程序</a:t>
                      </a:r>
                    </a:p>
                  </a:txBody>
                  <a:tcPr marL="90084" marR="90084" marT="60056" marB="60056" anchor="ctr">
                    <a:lnL w="6096" cap="flat" cmpd="sng" algn="ctr">
                      <a:solidFill>
                        <a:srgbClr val="400A53"/>
                      </a:solidFill>
                      <a:prstDash val="solid"/>
                      <a:round/>
                      <a:headEnd type="none" w="med" len="med"/>
                      <a:tailEnd type="none" w="med" len="med"/>
                    </a:lnL>
                    <a:lnR w="6096" cap="flat" cmpd="sng" algn="ctr">
                      <a:solidFill>
                        <a:srgbClr val="207F52"/>
                      </a:solidFill>
                      <a:prstDash val="solid"/>
                      <a:round/>
                      <a:headEnd type="none" w="med" len="med"/>
                      <a:tailEnd type="none" w="med" len="med"/>
                    </a:lnR>
                    <a:lnT w="6096" cap="flat" cmpd="sng" algn="ctr">
                      <a:solidFill>
                        <a:srgbClr val="207F52"/>
                      </a:solidFill>
                      <a:prstDash val="solid"/>
                      <a:round/>
                      <a:headEnd type="none" w="med" len="med"/>
                      <a:tailEnd type="none" w="med" len="med"/>
                    </a:lnT>
                    <a:lnB w="6096" cap="flat" cmpd="sng" algn="ctr">
                      <a:solidFill>
                        <a:srgbClr val="0072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无需重新编译，直接修改二进制或运行时插入</a:t>
                      </a:r>
                    </a:p>
                  </a:txBody>
                  <a:tcPr marL="90084" marR="90084" marT="60056" marB="60056" anchor="ctr">
                    <a:lnL w="6096" cap="flat" cmpd="sng" algn="ctr">
                      <a:solidFill>
                        <a:srgbClr val="207F52"/>
                      </a:solidFill>
                      <a:prstDash val="solid"/>
                      <a:round/>
                      <a:headEnd type="none" w="med" len="med"/>
                      <a:tailEnd type="none" w="med" len="med"/>
                    </a:lnL>
                    <a:lnR w="6096" cap="flat" cmpd="sng" algn="ctr">
                      <a:solidFill>
                        <a:srgbClr val="807A52"/>
                      </a:solidFill>
                      <a:prstDash val="solid"/>
                      <a:round/>
                      <a:headEnd type="none" w="med" len="med"/>
                      <a:tailEnd type="none" w="med" len="med"/>
                    </a:lnR>
                    <a:lnT w="6096" cap="flat" cmpd="sng" algn="ctr">
                      <a:solidFill>
                        <a:srgbClr val="B0AD73"/>
                      </a:solidFill>
                      <a:prstDash val="solid"/>
                      <a:round/>
                      <a:headEnd type="none" w="med" len="med"/>
                      <a:tailEnd type="none" w="med" len="med"/>
                    </a:lnT>
                    <a:lnB w="6096" cap="flat" cmpd="sng" algn="ctr">
                      <a:solidFill>
                        <a:srgbClr val="409073"/>
                      </a:solidFill>
                      <a:prstDash val="solid"/>
                      <a:round/>
                      <a:headEnd type="none" w="med" len="med"/>
                      <a:tailEnd type="none" w="med" len="med"/>
                    </a:lnB>
                    <a:solidFill>
                      <a:srgbClr val="FFFFFF"/>
                    </a:solidFill>
                  </a:tcPr>
                </a:tc>
                <a:extLst>
                  <a:ext uri="{0D108BD9-81ED-4DB2-BD59-A6C34878D82A}">
                    <a16:rowId xmlns:a16="http://schemas.microsoft.com/office/drawing/2014/main" val="1022277403"/>
                  </a:ext>
                </a:extLst>
              </a:tr>
              <a:tr h="653525">
                <a:tc>
                  <a:txBody>
                    <a:bodyPr/>
                    <a:lstStyle/>
                    <a:p>
                      <a:pPr algn="ctr">
                        <a:lnSpc>
                          <a:spcPts val="2100"/>
                        </a:lnSpc>
                        <a:buNone/>
                      </a:pPr>
                      <a:r>
                        <a:rPr lang="zh-CN" altLang="en-US" sz="1800" b="1" kern="1200" dirty="0">
                          <a:solidFill>
                            <a:srgbClr val="595959"/>
                          </a:solidFill>
                          <a:latin typeface="微软雅黑" panose="020B0503020204020204" pitchFamily="34" charset="-122"/>
                          <a:ea typeface="微软雅黑" panose="020B0503020204020204" pitchFamily="34" charset="-122"/>
                          <a:cs typeface="+mn-cs"/>
                        </a:rPr>
                        <a:t>适用场景</a:t>
                      </a:r>
                    </a:p>
                  </a:txBody>
                  <a:tcPr marL="90084" marR="90084" marT="60056" marB="60056" anchor="ctr">
                    <a:lnL w="6096" cap="flat" cmpd="sng" algn="ctr">
                      <a:solidFill>
                        <a:srgbClr val="807D52"/>
                      </a:solidFill>
                      <a:prstDash val="solid"/>
                      <a:round/>
                      <a:headEnd type="none" w="med" len="med"/>
                      <a:tailEnd type="none" w="med" len="med"/>
                    </a:lnL>
                    <a:lnR w="6096" cap="flat" cmpd="sng" algn="ctr">
                      <a:solidFill>
                        <a:srgbClr val="807D52"/>
                      </a:solidFill>
                      <a:prstDash val="solid"/>
                      <a:round/>
                      <a:headEnd type="none" w="med" len="med"/>
                      <a:tailEnd type="none" w="med" len="med"/>
                    </a:lnR>
                    <a:lnT w="6096" cap="flat" cmpd="sng" algn="ctr">
                      <a:solidFill>
                        <a:srgbClr val="407352"/>
                      </a:solidFill>
                      <a:prstDash val="solid"/>
                      <a:round/>
                      <a:headEnd type="none" w="med" len="med"/>
                      <a:tailEnd type="none" w="med" len="med"/>
                    </a:lnT>
                    <a:lnB w="6096" cap="flat" cmpd="sng" algn="ctr">
                      <a:solidFill>
                        <a:srgbClr val="A01B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开发阶段调试、单元测试、源码级性能分析</a:t>
                      </a:r>
                    </a:p>
                  </a:txBody>
                  <a:tcPr marL="90084" marR="90084" marT="60056" marB="60056" anchor="ctr">
                    <a:lnL w="6096" cap="flat" cmpd="sng" algn="ctr">
                      <a:solidFill>
                        <a:srgbClr val="807D52"/>
                      </a:solidFill>
                      <a:prstDash val="solid"/>
                      <a:round/>
                      <a:headEnd type="none" w="med" len="med"/>
                      <a:tailEnd type="none" w="med" len="med"/>
                    </a:lnL>
                    <a:lnR w="6096" cap="flat" cmpd="sng" algn="ctr">
                      <a:solidFill>
                        <a:srgbClr val="007552"/>
                      </a:solidFill>
                      <a:prstDash val="solid"/>
                      <a:round/>
                      <a:headEnd type="none" w="med" len="med"/>
                      <a:tailEnd type="none" w="med" len="med"/>
                    </a:lnR>
                    <a:lnT w="6096" cap="flat" cmpd="sng" algn="ctr">
                      <a:solidFill>
                        <a:srgbClr val="007252"/>
                      </a:solidFill>
                      <a:prstDash val="solid"/>
                      <a:round/>
                      <a:headEnd type="none" w="med" len="med"/>
                      <a:tailEnd type="none" w="med" len="med"/>
                    </a:lnT>
                    <a:lnB w="6096" cap="flat" cmpd="sng" algn="ctr">
                      <a:solidFill>
                        <a:srgbClr val="00CDF9"/>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闭源软件测试、运行时监控、漏洞检测、跨语言程序分析</a:t>
                      </a:r>
                    </a:p>
                  </a:txBody>
                  <a:tcPr marL="90084" marR="90084" marT="60056" marB="60056" anchor="ctr">
                    <a:lnL w="6096" cap="flat" cmpd="sng" algn="ctr">
                      <a:solidFill>
                        <a:srgbClr val="007552"/>
                      </a:solidFill>
                      <a:prstDash val="solid"/>
                      <a:round/>
                      <a:headEnd type="none" w="med" len="med"/>
                      <a:tailEnd type="none" w="med" len="med"/>
                    </a:lnL>
                    <a:lnR w="6096" cap="flat" cmpd="sng" algn="ctr">
                      <a:solidFill>
                        <a:srgbClr val="C07852"/>
                      </a:solidFill>
                      <a:prstDash val="solid"/>
                      <a:round/>
                      <a:headEnd type="none" w="med" len="med"/>
                      <a:tailEnd type="none" w="med" len="med"/>
                    </a:lnR>
                    <a:lnT w="6096" cap="flat" cmpd="sng" algn="ctr">
                      <a:solidFill>
                        <a:srgbClr val="409073"/>
                      </a:solidFill>
                      <a:prstDash val="solid"/>
                      <a:round/>
                      <a:headEnd type="none" w="med" len="med"/>
                      <a:tailEnd type="none" w="med" len="med"/>
                    </a:lnT>
                    <a:lnB w="6096" cap="flat" cmpd="sng" algn="ctr">
                      <a:solidFill>
                        <a:srgbClr val="706F73"/>
                      </a:solidFill>
                      <a:prstDash val="solid"/>
                      <a:round/>
                      <a:headEnd type="none" w="med" len="med"/>
                      <a:tailEnd type="none" w="med" len="med"/>
                    </a:lnB>
                    <a:solidFill>
                      <a:srgbClr val="FFFFFF"/>
                    </a:solidFill>
                  </a:tcPr>
                </a:tc>
                <a:extLst>
                  <a:ext uri="{0D108BD9-81ED-4DB2-BD59-A6C34878D82A}">
                    <a16:rowId xmlns:a16="http://schemas.microsoft.com/office/drawing/2014/main" val="1217814212"/>
                  </a:ext>
                </a:extLst>
              </a:tr>
              <a:tr h="478362">
                <a:tc>
                  <a:txBody>
                    <a:bodyPr/>
                    <a:lstStyle/>
                    <a:p>
                      <a:pPr algn="ctr">
                        <a:lnSpc>
                          <a:spcPts val="2100"/>
                        </a:lnSpc>
                        <a:buNone/>
                      </a:pPr>
                      <a:r>
                        <a:rPr lang="zh-CN" altLang="en-US" sz="1800" b="1" kern="1200" dirty="0">
                          <a:solidFill>
                            <a:srgbClr val="595959"/>
                          </a:solidFill>
                          <a:latin typeface="微软雅黑" panose="020B0503020204020204" pitchFamily="34" charset="-122"/>
                          <a:ea typeface="微软雅黑" panose="020B0503020204020204" pitchFamily="34" charset="-122"/>
                          <a:cs typeface="+mn-cs"/>
                        </a:rPr>
                        <a:t>对程序影响</a:t>
                      </a:r>
                    </a:p>
                  </a:txBody>
                  <a:tcPr marL="90084" marR="90084" marT="60056" marB="60056" anchor="ctr">
                    <a:lnL w="6096" cap="flat" cmpd="sng" algn="ctr">
                      <a:solidFill>
                        <a:srgbClr val="A02052"/>
                      </a:solidFill>
                      <a:prstDash val="solid"/>
                      <a:round/>
                      <a:headEnd type="none" w="med" len="med"/>
                      <a:tailEnd type="none" w="med" len="med"/>
                    </a:lnL>
                    <a:lnR w="6096" cap="flat" cmpd="sng" algn="ctr">
                      <a:solidFill>
                        <a:srgbClr val="00CBF9"/>
                      </a:solidFill>
                      <a:prstDash val="solid"/>
                      <a:round/>
                      <a:headEnd type="none" w="med" len="med"/>
                      <a:tailEnd type="none" w="med" len="med"/>
                    </a:lnR>
                    <a:lnT w="6096" cap="flat" cmpd="sng" algn="ctr">
                      <a:solidFill>
                        <a:srgbClr val="A01B52"/>
                      </a:solidFill>
                      <a:prstDash val="solid"/>
                      <a:round/>
                      <a:headEnd type="none" w="med" len="med"/>
                      <a:tailEnd type="none" w="med" len="med"/>
                    </a:lnT>
                    <a:lnB w="6096" cap="flat" cmpd="sng" algn="ctr">
                      <a:solidFill>
                        <a:srgbClr val="001F52"/>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可能增加源码体积，编译后才能验证插桩效果</a:t>
                      </a:r>
                    </a:p>
                  </a:txBody>
                  <a:tcPr marL="90084" marR="90084" marT="60056" marB="60056" anchor="ctr">
                    <a:lnL w="6096" cap="flat" cmpd="sng" algn="ctr">
                      <a:solidFill>
                        <a:srgbClr val="00CBF9"/>
                      </a:solidFill>
                      <a:prstDash val="solid"/>
                      <a:round/>
                      <a:headEnd type="none" w="med" len="med"/>
                      <a:tailEnd type="none" w="med" len="med"/>
                    </a:lnL>
                    <a:lnR w="6096" cap="flat" cmpd="sng" algn="ctr">
                      <a:solidFill>
                        <a:srgbClr val="A01552"/>
                      </a:solidFill>
                      <a:prstDash val="solid"/>
                      <a:round/>
                      <a:headEnd type="none" w="med" len="med"/>
                      <a:tailEnd type="none" w="med" len="med"/>
                    </a:lnR>
                    <a:lnT w="6096" cap="flat" cmpd="sng" algn="ctr">
                      <a:solidFill>
                        <a:srgbClr val="00CDF9"/>
                      </a:solidFill>
                      <a:prstDash val="solid"/>
                      <a:round/>
                      <a:headEnd type="none" w="med" len="med"/>
                      <a:tailEnd type="none" w="med" len="med"/>
                    </a:lnT>
                    <a:lnB w="6096" cap="flat" cmpd="sng" algn="ctr">
                      <a:solidFill>
                        <a:srgbClr val="E0CCF9"/>
                      </a:solidFill>
                      <a:prstDash val="solid"/>
                      <a:round/>
                      <a:headEnd type="none" w="med" len="med"/>
                      <a:tailEnd type="none" w="med" len="med"/>
                    </a:lnB>
                    <a:solidFill>
                      <a:srgbClr val="FFFFFF"/>
                    </a:solidFill>
                  </a:tcPr>
                </a:tc>
                <a:tc>
                  <a:txBody>
                    <a:bodyPr/>
                    <a:lstStyle/>
                    <a:p>
                      <a:pPr algn="ctr">
                        <a:lnSpc>
                          <a:spcPts val="2100"/>
                        </a:lnSpc>
                        <a:buNone/>
                      </a:pPr>
                      <a:r>
                        <a:rPr lang="zh-CN" altLang="en-US" sz="1800" kern="1200" dirty="0">
                          <a:solidFill>
                            <a:srgbClr val="595959"/>
                          </a:solidFill>
                          <a:latin typeface="微软雅黑" panose="020B0503020204020204" pitchFamily="34" charset="-122"/>
                          <a:ea typeface="微软雅黑" panose="020B0503020204020204" pitchFamily="34" charset="-122"/>
                          <a:cs typeface="+mn-cs"/>
                        </a:rPr>
                        <a:t>不改变原始源码，动态插桩可实时启停，影响较小</a:t>
                      </a:r>
                    </a:p>
                  </a:txBody>
                  <a:tcPr marL="90084" marR="90084" marT="60056" marB="60056" anchor="ctr">
                    <a:lnL w="6096" cap="flat" cmpd="sng" algn="ctr">
                      <a:solidFill>
                        <a:srgbClr val="A01552"/>
                      </a:solidFill>
                      <a:prstDash val="solid"/>
                      <a:round/>
                      <a:headEnd type="none" w="med" len="med"/>
                      <a:tailEnd type="none" w="med" len="med"/>
                    </a:lnL>
                    <a:lnR w="6096" cap="flat" cmpd="sng" algn="ctr">
                      <a:solidFill>
                        <a:srgbClr val="E01452"/>
                      </a:solidFill>
                      <a:prstDash val="solid"/>
                      <a:round/>
                      <a:headEnd type="none" w="med" len="med"/>
                      <a:tailEnd type="none" w="med" len="med"/>
                    </a:lnR>
                    <a:lnT w="6096" cap="flat" cmpd="sng" algn="ctr">
                      <a:solidFill>
                        <a:srgbClr val="706F73"/>
                      </a:solidFill>
                      <a:prstDash val="solid"/>
                      <a:round/>
                      <a:headEnd type="none" w="med" len="med"/>
                      <a:tailEnd type="none" w="med" len="med"/>
                    </a:lnT>
                    <a:lnB w="6096" cap="flat" cmpd="sng" algn="ctr">
                      <a:solidFill>
                        <a:srgbClr val="001552"/>
                      </a:solidFill>
                      <a:prstDash val="solid"/>
                      <a:round/>
                      <a:headEnd type="none" w="med" len="med"/>
                      <a:tailEnd type="none" w="med" len="med"/>
                    </a:lnB>
                    <a:solidFill>
                      <a:srgbClr val="FFFFFF"/>
                    </a:solidFill>
                  </a:tcPr>
                </a:tc>
                <a:extLst>
                  <a:ext uri="{0D108BD9-81ED-4DB2-BD59-A6C34878D82A}">
                    <a16:rowId xmlns:a16="http://schemas.microsoft.com/office/drawing/2014/main" val="1917702426"/>
                  </a:ext>
                </a:extLst>
              </a:tr>
            </a:tbl>
          </a:graphicData>
        </a:graphic>
      </p:graphicFrame>
    </p:spTree>
    <p:extLst>
      <p:ext uri="{BB962C8B-B14F-4D97-AF65-F5344CB8AC3E}">
        <p14:creationId xmlns:p14="http://schemas.microsoft.com/office/powerpoint/2010/main" val="35498670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求</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3</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个数的中间值的案例</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使用源代码插桩</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求</a:t>
            </a:r>
            <a:r>
              <a:rPr lang="en-US" alt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3</a:t>
            </a:r>
            <a:r>
              <a:rPr lang="zh-CN" altLang="en-US"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个数的中间值</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47155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3.3.3	实例：求3个数的中间值</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82980" y="838200"/>
            <a:ext cx="9792226" cy="1320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下面通过一个案例对源代码插桩进行讲解，以加深读者对源代码插桩的理解。该案例要求</a:t>
            </a:r>
            <a:r>
              <a:rPr lang="zh-CN" altLang="en-US" sz="1800" dirty="0">
                <a:solidFill>
                  <a:srgbClr val="0070C0"/>
                </a:solidFill>
                <a:latin typeface="微软雅黑" panose="020B0503020204020204" pitchFamily="34" charset="-122"/>
                <a:ea typeface="微软雅黑" panose="020B0503020204020204" pitchFamily="34" charset="-122"/>
              </a:rPr>
              <a:t>用键盘输入3个数并求中间值</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源程序代码</a:t>
            </a:r>
            <a:r>
              <a:rPr lang="zh-CN" altLang="en-US" sz="1800" dirty="0">
                <a:solidFill>
                  <a:srgbClr val="595959"/>
                </a:solidFill>
                <a:latin typeface="微软雅黑" panose="020B0503020204020204" pitchFamily="34" charset="-122"/>
                <a:ea typeface="微软雅黑" panose="020B0503020204020204" pitchFamily="34" charset="-122"/>
              </a:rPr>
              <a:t>如下。测试人员通过写入的文件可以查看源程序执行的过程，</a:t>
            </a:r>
            <a:r>
              <a:rPr lang="zh-CN" altLang="en-US" sz="1800" dirty="0">
                <a:solidFill>
                  <a:srgbClr val="0070C0"/>
                </a:solidFill>
                <a:latin typeface="微软雅黑" panose="020B0503020204020204" pitchFamily="34" charset="-122"/>
                <a:ea typeface="微软雅黑" panose="020B0503020204020204" pitchFamily="34" charset="-122"/>
              </a:rPr>
              <a:t>插桩后的代码如下</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31" name="Title 1"/>
          <p:cNvSpPr txBox="1"/>
          <p:nvPr/>
        </p:nvSpPr>
        <p:spPr>
          <a:xfrm>
            <a:off x="1143635" y="266700"/>
            <a:ext cx="47155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3.3.3	实例：求3个数的中间值</a:t>
            </a:r>
          </a:p>
        </p:txBody>
      </p:sp>
      <p:pic>
        <p:nvPicPr>
          <p:cNvPr id="11" name="图片 10">
            <a:extLst>
              <a:ext uri="{FF2B5EF4-FFF2-40B4-BE49-F238E27FC236}">
                <a16:creationId xmlns:a16="http://schemas.microsoft.com/office/drawing/2014/main" id="{11F3199B-EB0B-56CF-6C00-335C7976B42C}"/>
              </a:ext>
            </a:extLst>
          </p:cNvPr>
          <p:cNvPicPr>
            <a:picLocks noChangeAspect="1"/>
          </p:cNvPicPr>
          <p:nvPr/>
        </p:nvPicPr>
        <p:blipFill>
          <a:blip r:embed="rId3"/>
          <a:stretch>
            <a:fillRect/>
          </a:stretch>
        </p:blipFill>
        <p:spPr>
          <a:xfrm>
            <a:off x="686180" y="2167000"/>
            <a:ext cx="4464000" cy="4236424"/>
          </a:xfrm>
          <a:prstGeom prst="rect">
            <a:avLst/>
          </a:prstGeom>
        </p:spPr>
      </p:pic>
      <p:pic>
        <p:nvPicPr>
          <p:cNvPr id="15" name="图片 14">
            <a:extLst>
              <a:ext uri="{FF2B5EF4-FFF2-40B4-BE49-F238E27FC236}">
                <a16:creationId xmlns:a16="http://schemas.microsoft.com/office/drawing/2014/main" id="{8A8B0E1E-4F83-9687-8FFA-8FDB9D9F3F16}"/>
              </a:ext>
            </a:extLst>
          </p:cNvPr>
          <p:cNvPicPr>
            <a:picLocks noChangeAspect="1"/>
          </p:cNvPicPr>
          <p:nvPr/>
        </p:nvPicPr>
        <p:blipFill>
          <a:blip r:embed="rId4"/>
          <a:stretch>
            <a:fillRect/>
          </a:stretch>
        </p:blipFill>
        <p:spPr>
          <a:xfrm>
            <a:off x="6545685" y="2217321"/>
            <a:ext cx="4661748" cy="449966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51865" y="837565"/>
            <a:ext cx="10286365"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源代码插桩完成之后，根据3个数的不同组合方式设计测试用例，具体</a:t>
            </a:r>
            <a:r>
              <a:rPr lang="zh-CN" altLang="en-US" sz="1800" dirty="0">
                <a:solidFill>
                  <a:srgbClr val="0070C0"/>
                </a:solidFill>
                <a:latin typeface="微软雅黑" panose="020B0503020204020204" pitchFamily="34" charset="-122"/>
                <a:ea typeface="微软雅黑" panose="020B0503020204020204" pitchFamily="34" charset="-122"/>
              </a:rPr>
              <a:t>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p:cNvSpPr txBox="1"/>
          <p:nvPr/>
        </p:nvSpPr>
        <p:spPr>
          <a:xfrm>
            <a:off x="1143635" y="266700"/>
            <a:ext cx="47155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3.3.3	实例：求3个数的中间值</a:t>
            </a:r>
          </a:p>
        </p:txBody>
      </p:sp>
      <p:graphicFrame>
        <p:nvGraphicFramePr>
          <p:cNvPr id="2" name="表格 1"/>
          <p:cNvGraphicFramePr/>
          <p:nvPr>
            <p:custDataLst>
              <p:tags r:id="rId1"/>
            </p:custDataLst>
          </p:nvPr>
        </p:nvGraphicFramePr>
        <p:xfrm>
          <a:off x="3070860" y="1630045"/>
          <a:ext cx="5429250" cy="3971290"/>
        </p:xfrm>
        <a:graphic>
          <a:graphicData uri="http://schemas.openxmlformats.org/drawingml/2006/table">
            <a:tbl>
              <a:tblPr firstRow="1" bandRow="1">
                <a:tableStyleId>{5C22544A-7EE6-4342-B048-85BDC9FD1C3A}</a:tableStyleId>
              </a:tblPr>
              <a:tblGrid>
                <a:gridCol w="1722120">
                  <a:extLst>
                    <a:ext uri="{9D8B030D-6E8A-4147-A177-3AD203B41FA5}">
                      <a16:colId xmlns:a16="http://schemas.microsoft.com/office/drawing/2014/main" val="20000"/>
                    </a:ext>
                  </a:extLst>
                </a:gridCol>
                <a:gridCol w="1842135">
                  <a:extLst>
                    <a:ext uri="{9D8B030D-6E8A-4147-A177-3AD203B41FA5}">
                      <a16:colId xmlns:a16="http://schemas.microsoft.com/office/drawing/2014/main" val="20001"/>
                    </a:ext>
                  </a:extLst>
                </a:gridCol>
                <a:gridCol w="1864995">
                  <a:extLst>
                    <a:ext uri="{9D8B030D-6E8A-4147-A177-3AD203B41FA5}">
                      <a16:colId xmlns:a16="http://schemas.microsoft.com/office/drawing/2014/main" val="20002"/>
                    </a:ext>
                  </a:extLst>
                </a:gridCol>
              </a:tblGrid>
              <a:tr h="61150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488315">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1,1,2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extLst>
                  <a:ext uri="{0D108BD9-81ED-4DB2-BD59-A6C34878D82A}">
                    <a16:rowId xmlns:a16="http://schemas.microsoft.com/office/drawing/2014/main" val="10001"/>
                  </a:ext>
                </a:extLst>
              </a:tr>
              <a:tr h="47117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1,2,3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2"/>
                  </a:ext>
                </a:extLst>
              </a:tr>
              <a:tr h="4724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3,2,1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2</a:t>
                      </a:r>
                    </a:p>
                  </a:txBody>
                  <a:tcPr anchor="ctr"/>
                </a:tc>
                <a:extLst>
                  <a:ext uri="{0D108BD9-81ED-4DB2-BD59-A6C34878D82A}">
                    <a16:rowId xmlns:a16="http://schemas.microsoft.com/office/drawing/2014/main" val="10003"/>
                  </a:ext>
                </a:extLst>
              </a:tr>
              <a:tr h="48196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en-US"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3,3,3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3</a:t>
                      </a:r>
                    </a:p>
                  </a:txBody>
                  <a:tcPr anchor="ctr"/>
                </a:tc>
                <a:extLst>
                  <a:ext uri="{0D108BD9-81ED-4DB2-BD59-A6C34878D82A}">
                    <a16:rowId xmlns:a16="http://schemas.microsoft.com/office/drawing/2014/main" val="10004"/>
                  </a:ext>
                </a:extLst>
              </a:tr>
              <a:tr h="481965">
                <a:tc>
                  <a:txBody>
                    <a:bodyPr/>
                    <a:lstStyle/>
                    <a:p>
                      <a:pPr algn="ctr">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6,4,5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5</a:t>
                      </a:r>
                    </a:p>
                  </a:txBody>
                  <a:tcPr anchor="ctr"/>
                </a:tc>
                <a:extLst>
                  <a:ext uri="{0D108BD9-81ED-4DB2-BD59-A6C34878D82A}">
                    <a16:rowId xmlns:a16="http://schemas.microsoft.com/office/drawing/2014/main" val="10005"/>
                  </a:ext>
                </a:extLst>
              </a:tr>
              <a:tr h="481965">
                <a:tc>
                  <a:txBody>
                    <a:bodyPr/>
                    <a:lstStyle/>
                    <a:p>
                      <a:pPr algn="ctr">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test6</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6,8,4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6</a:t>
                      </a:r>
                    </a:p>
                  </a:txBody>
                  <a:tcPr anchor="ctr"/>
                </a:tc>
                <a:extLst>
                  <a:ext uri="{0D108BD9-81ED-4DB2-BD59-A6C34878D82A}">
                    <a16:rowId xmlns:a16="http://schemas.microsoft.com/office/drawing/2014/main" val="10006"/>
                  </a:ext>
                </a:extLst>
              </a:tr>
              <a:tr h="481965">
                <a:tc>
                  <a:txBody>
                    <a:bodyPr/>
                    <a:lstStyle/>
                    <a:p>
                      <a:pPr algn="ctr">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test7</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8,4,9</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8</a:t>
                      </a:r>
                    </a:p>
                  </a:txBody>
                  <a:tcPr anchor="ct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51865" y="837565"/>
            <a:ext cx="10286365"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程序运行后得到的</a:t>
            </a:r>
            <a:r>
              <a:rPr lang="zh-CN" altLang="en-US" sz="1800" dirty="0">
                <a:solidFill>
                  <a:srgbClr val="0070C0"/>
                </a:solidFill>
                <a:latin typeface="微软雅黑" panose="020B0503020204020204" pitchFamily="34" charset="-122"/>
                <a:ea typeface="微软雅黑" panose="020B0503020204020204" pitchFamily="34" charset="-122"/>
              </a:rPr>
              <a:t>输出结果与程序执行路径</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p:cNvSpPr txBox="1"/>
          <p:nvPr/>
        </p:nvSpPr>
        <p:spPr>
          <a:xfrm>
            <a:off x="1143635" y="266700"/>
            <a:ext cx="47155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3.3.3	实例：求3个数的中间值</a:t>
            </a:r>
          </a:p>
        </p:txBody>
      </p:sp>
      <p:graphicFrame>
        <p:nvGraphicFramePr>
          <p:cNvPr id="2" name="表格 1"/>
          <p:cNvGraphicFramePr/>
          <p:nvPr>
            <p:custDataLst>
              <p:tags r:id="rId1"/>
            </p:custDataLst>
          </p:nvPr>
        </p:nvGraphicFramePr>
        <p:xfrm>
          <a:off x="1559206" y="1629794"/>
          <a:ext cx="9287846" cy="3971290"/>
        </p:xfrm>
        <a:graphic>
          <a:graphicData uri="http://schemas.openxmlformats.org/drawingml/2006/table">
            <a:tbl>
              <a:tblPr firstRow="1" bandRow="1">
                <a:tableStyleId>{5C22544A-7EE6-4342-B048-85BDC9FD1C3A}</a:tableStyleId>
              </a:tblPr>
              <a:tblGrid>
                <a:gridCol w="142494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6567506">
                  <a:extLst>
                    <a:ext uri="{9D8B030D-6E8A-4147-A177-3AD203B41FA5}">
                      <a16:colId xmlns:a16="http://schemas.microsoft.com/office/drawing/2014/main" val="20002"/>
                    </a:ext>
                  </a:extLst>
                </a:gridCol>
              </a:tblGrid>
              <a:tr h="61150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输出结果</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源程序执行路径</a:t>
                      </a:r>
                    </a:p>
                  </a:txBody>
                  <a:tcPr anchor="ctr"/>
                </a:tc>
                <a:extLst>
                  <a:ext uri="{0D108BD9-81ED-4DB2-BD59-A6C34878D82A}">
                    <a16:rowId xmlns:a16="http://schemas.microsoft.com/office/drawing/2014/main" val="10000"/>
                  </a:ext>
                </a:extLst>
              </a:tr>
              <a:tr h="488315">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9→10→9→10→9→10→9→11→12→14→16→17→26→27</a:t>
                      </a:r>
                    </a:p>
                  </a:txBody>
                  <a:tcPr anchor="ctr"/>
                </a:tc>
                <a:extLst>
                  <a:ext uri="{0D108BD9-81ED-4DB2-BD59-A6C34878D82A}">
                    <a16:rowId xmlns:a16="http://schemas.microsoft.com/office/drawing/2014/main" val="10001"/>
                  </a:ext>
                </a:extLst>
              </a:tr>
              <a:tr h="47117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9→10→9→10→9→10→9→11→12→14→15→26→27</a:t>
                      </a:r>
                    </a:p>
                  </a:txBody>
                  <a:tcPr anchor="ctr"/>
                </a:tc>
                <a:extLst>
                  <a:ext uri="{0D108BD9-81ED-4DB2-BD59-A6C34878D82A}">
                    <a16:rowId xmlns:a16="http://schemas.microsoft.com/office/drawing/2014/main" val="10002"/>
                  </a:ext>
                </a:extLst>
              </a:tr>
              <a:tr h="4724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9→10→9→10→9→10→9→11→12→21→22→26→27</a:t>
                      </a:r>
                    </a:p>
                  </a:txBody>
                  <a:tcPr anchor="ctr"/>
                </a:tc>
                <a:extLst>
                  <a:ext uri="{0D108BD9-81ED-4DB2-BD59-A6C34878D82A}">
                    <a16:rowId xmlns:a16="http://schemas.microsoft.com/office/drawing/2014/main" val="10003"/>
                  </a:ext>
                </a:extLst>
              </a:tr>
              <a:tr h="48196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en-US"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9→10→9→10→9→10→9→11→12→21→23→26→27</a:t>
                      </a:r>
                    </a:p>
                  </a:txBody>
                  <a:tcPr anchor="ctr"/>
                </a:tc>
                <a:extLst>
                  <a:ext uri="{0D108BD9-81ED-4DB2-BD59-A6C34878D82A}">
                    <a16:rowId xmlns:a16="http://schemas.microsoft.com/office/drawing/2014/main" val="10004"/>
                  </a:ext>
                </a:extLst>
              </a:tr>
              <a:tr h="481965">
                <a:tc>
                  <a:txBody>
                    <a:bodyPr/>
                    <a:lstStyle/>
                    <a:p>
                      <a:pPr algn="ctr">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9→10→9→10→9→10→9→11→12→14→16→26→27</a:t>
                      </a:r>
                    </a:p>
                  </a:txBody>
                  <a:tcPr anchor="ctr"/>
                </a:tc>
                <a:extLst>
                  <a:ext uri="{0D108BD9-81ED-4DB2-BD59-A6C34878D82A}">
                    <a16:rowId xmlns:a16="http://schemas.microsoft.com/office/drawing/2014/main" val="10005"/>
                  </a:ext>
                </a:extLst>
              </a:tr>
              <a:tr h="481965">
                <a:tc>
                  <a:txBody>
                    <a:bodyPr/>
                    <a:lstStyle/>
                    <a:p>
                      <a:pPr algn="ctr">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test6</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9→10→9→10→9→10→9→11→12→21→23→24→26→27</a:t>
                      </a:r>
                    </a:p>
                  </a:txBody>
                  <a:tcPr anchor="ctr"/>
                </a:tc>
                <a:extLst>
                  <a:ext uri="{0D108BD9-81ED-4DB2-BD59-A6C34878D82A}">
                    <a16:rowId xmlns:a16="http://schemas.microsoft.com/office/drawing/2014/main" val="10006"/>
                  </a:ext>
                </a:extLst>
              </a:tr>
              <a:tr h="481965">
                <a:tc>
                  <a:txBody>
                    <a:bodyPr/>
                    <a:lstStyle/>
                    <a:p>
                      <a:pPr algn="ctr">
                        <a:buClrTx/>
                        <a:buSzTx/>
                        <a:buFontTx/>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test7</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9→10→9→10→9→10→9→11→12→14→16→17→26→27</a:t>
                      </a:r>
                    </a:p>
                  </a:txBody>
                  <a:tcPr anchor="ct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51865" y="837565"/>
            <a:ext cx="10286365" cy="1320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分析</a:t>
            </a:r>
            <a:r>
              <a:rPr lang="zh-CN" altLang="en-US" sz="1800" dirty="0">
                <a:solidFill>
                  <a:srgbClr val="0070C0"/>
                </a:solidFill>
                <a:latin typeface="微软雅黑" panose="020B0503020204020204" pitchFamily="34" charset="-122"/>
                <a:ea typeface="微软雅黑" panose="020B0503020204020204" pitchFamily="34" charset="-122"/>
                <a:sym typeface="+mn-ea"/>
              </a:rPr>
              <a:t>输出结果与程序执行路径</a:t>
            </a:r>
            <a:r>
              <a:rPr lang="zh-CN" altLang="en-US" sz="1800" dirty="0">
                <a:solidFill>
                  <a:srgbClr val="0070C0"/>
                </a:solidFill>
                <a:latin typeface="微软雅黑" panose="020B0503020204020204" pitchFamily="34" charset="-122"/>
                <a:ea typeface="微软雅黑" panose="020B0503020204020204" pitchFamily="34" charset="-122"/>
              </a:rPr>
              <a:t>表</a:t>
            </a:r>
            <a:r>
              <a:rPr lang="zh-CN" altLang="en-US" sz="1800" dirty="0">
                <a:solidFill>
                  <a:srgbClr val="595959"/>
                </a:solidFill>
                <a:latin typeface="微软雅黑" panose="020B0503020204020204" pitchFamily="34" charset="-122"/>
                <a:ea typeface="微软雅黑" panose="020B0503020204020204" pitchFamily="34" charset="-122"/>
              </a:rPr>
              <a:t>中测试用例输出结果会发现，</a:t>
            </a:r>
            <a:r>
              <a:rPr lang="zh-CN" altLang="en-US" sz="1800" dirty="0">
                <a:solidFill>
                  <a:srgbClr val="0070C0"/>
                </a:solidFill>
                <a:latin typeface="微软雅黑" panose="020B0503020204020204" pitchFamily="34" charset="-122"/>
                <a:ea typeface="微软雅黑" panose="020B0503020204020204" pitchFamily="34" charset="-122"/>
              </a:rPr>
              <a:t>输出结果与</a:t>
            </a:r>
            <a:r>
              <a:rPr lang="zh-CN" altLang="en-US" sz="1800" dirty="0">
                <a:solidFill>
                  <a:srgbClr val="595959"/>
                </a:solidFill>
                <a:latin typeface="微软雅黑" panose="020B0503020204020204" pitchFamily="34" charset="-122"/>
                <a:ea typeface="微软雅黑" panose="020B0503020204020204" pitchFamily="34" charset="-122"/>
              </a:rPr>
              <a:t>测试用例表中的测试用例</a:t>
            </a:r>
            <a:r>
              <a:rPr lang="zh-CN" altLang="en-US" sz="1800" dirty="0">
                <a:solidFill>
                  <a:srgbClr val="0070C0"/>
                </a:solidFill>
                <a:latin typeface="微软雅黑" panose="020B0503020204020204" pitchFamily="34" charset="-122"/>
                <a:ea typeface="微软雅黑" panose="020B0503020204020204" pitchFamily="34" charset="-122"/>
              </a:rPr>
              <a:t>test7的期望结果不相符</a:t>
            </a:r>
            <a:r>
              <a:rPr lang="zh-CN" altLang="en-US" sz="1800" dirty="0">
                <a:solidFill>
                  <a:srgbClr val="595959"/>
                </a:solidFill>
                <a:latin typeface="微软雅黑" panose="020B0503020204020204" pitchFamily="34" charset="-122"/>
                <a:ea typeface="微软雅黑" panose="020B0503020204020204" pitchFamily="34" charset="-122"/>
              </a:rPr>
              <a:t>。对test7数据及执行过程进行分析，test7的数据为8、4、9，其执行路径为9→10→9→10→9→10→9→11→12→14→16→17→26→27。</a:t>
            </a:r>
          </a:p>
        </p:txBody>
      </p:sp>
      <p:sp>
        <p:nvSpPr>
          <p:cNvPr id="31" name="Title 1"/>
          <p:cNvSpPr txBox="1"/>
          <p:nvPr/>
        </p:nvSpPr>
        <p:spPr>
          <a:xfrm>
            <a:off x="1143635" y="266700"/>
            <a:ext cx="47155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3.3.3	实例：求3个数的中间值</a:t>
            </a:r>
          </a:p>
        </p:txBody>
      </p:sp>
      <p:pic>
        <p:nvPicPr>
          <p:cNvPr id="4" name="图片 3" descr="444"/>
          <p:cNvPicPr>
            <a:picLocks noChangeAspect="1"/>
          </p:cNvPicPr>
          <p:nvPr/>
        </p:nvPicPr>
        <p:blipFill>
          <a:blip r:embed="rId3"/>
          <a:stretch>
            <a:fillRect/>
          </a:stretch>
        </p:blipFill>
        <p:spPr>
          <a:xfrm>
            <a:off x="5951206" y="2925794"/>
            <a:ext cx="5381625" cy="2305050"/>
          </a:xfrm>
          <a:prstGeom prst="rect">
            <a:avLst/>
          </a:prstGeom>
        </p:spPr>
      </p:pic>
      <p:pic>
        <p:nvPicPr>
          <p:cNvPr id="2" name="图片 1">
            <a:extLst>
              <a:ext uri="{FF2B5EF4-FFF2-40B4-BE49-F238E27FC236}">
                <a16:creationId xmlns:a16="http://schemas.microsoft.com/office/drawing/2014/main" id="{CB1C0119-E59D-7D8A-D3E1-BDE75CC7AF04}"/>
              </a:ext>
            </a:extLst>
          </p:cNvPr>
          <p:cNvPicPr>
            <a:picLocks noChangeAspect="1"/>
          </p:cNvPicPr>
          <p:nvPr/>
        </p:nvPicPr>
        <p:blipFill>
          <a:blip r:embed="rId4"/>
          <a:stretch>
            <a:fillRect/>
          </a:stretch>
        </p:blipFill>
        <p:spPr>
          <a:xfrm>
            <a:off x="551206" y="2167341"/>
            <a:ext cx="4661748" cy="449966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82980" y="909955"/>
            <a:ext cx="10286365" cy="136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除了逻辑错误，源程序还会将程序执行的路径写入test.txt文件中，此时会覆盖test.txt文件中原有的数据，这样在查看test.txt文件时只能看到最近一次的执行过程，这违背了测试可溯源的原则。在修改代码逻辑错误时，同时</a:t>
            </a:r>
            <a:r>
              <a:rPr lang="zh-CN" altLang="en-US" sz="1800" dirty="0">
                <a:solidFill>
                  <a:srgbClr val="0070C0"/>
                </a:solidFill>
                <a:latin typeface="微软雅黑" panose="020B0503020204020204" pitchFamily="34" charset="-122"/>
                <a:ea typeface="微软雅黑" panose="020B0503020204020204" pitchFamily="34" charset="-122"/>
              </a:rPr>
              <a:t>修改test.txt的写入方式为追加写入</a:t>
            </a:r>
            <a:r>
              <a:rPr lang="zh-CN" altLang="en-US" sz="1800" dirty="0">
                <a:solidFill>
                  <a:srgbClr val="595959"/>
                </a:solidFill>
                <a:latin typeface="微软雅黑" panose="020B0503020204020204" pitchFamily="34" charset="-122"/>
                <a:ea typeface="微软雅黑" panose="020B0503020204020204" pitchFamily="34" charset="-122"/>
              </a:rPr>
              <a:t>，修改后的代码如下。</a:t>
            </a:r>
          </a:p>
        </p:txBody>
      </p:sp>
      <p:sp>
        <p:nvSpPr>
          <p:cNvPr id="31" name="Title 1"/>
          <p:cNvSpPr txBox="1"/>
          <p:nvPr/>
        </p:nvSpPr>
        <p:spPr>
          <a:xfrm>
            <a:off x="1143635" y="266700"/>
            <a:ext cx="47155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3.3.3	实例：求3个数的中间值</a:t>
            </a:r>
          </a:p>
        </p:txBody>
      </p:sp>
      <p:pic>
        <p:nvPicPr>
          <p:cNvPr id="3" name="图片 2">
            <a:extLst>
              <a:ext uri="{FF2B5EF4-FFF2-40B4-BE49-F238E27FC236}">
                <a16:creationId xmlns:a16="http://schemas.microsoft.com/office/drawing/2014/main" id="{4CE5AC0C-2DB6-48DE-70C5-CC5B3B37B568}"/>
              </a:ext>
            </a:extLst>
          </p:cNvPr>
          <p:cNvPicPr>
            <a:picLocks noChangeAspect="1"/>
          </p:cNvPicPr>
          <p:nvPr/>
        </p:nvPicPr>
        <p:blipFill>
          <a:blip r:embed="rId3"/>
          <a:stretch>
            <a:fillRect/>
          </a:stretch>
        </p:blipFill>
        <p:spPr>
          <a:xfrm>
            <a:off x="3661430" y="2288729"/>
            <a:ext cx="4449776" cy="44096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p>
        </p:txBody>
      </p:sp>
      <p:sp>
        <p:nvSpPr>
          <p:cNvPr id="4" name="圆角矩形 3"/>
          <p:cNvSpPr/>
          <p:nvPr/>
        </p:nvSpPr>
        <p:spPr>
          <a:xfrm>
            <a:off x="1527810" y="1990090"/>
            <a:ext cx="8909050" cy="347154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5" name="TextBox 38"/>
          <p:cNvSpPr txBox="1"/>
          <p:nvPr/>
        </p:nvSpPr>
        <p:spPr>
          <a:xfrm>
            <a:off x="1913890" y="2493645"/>
            <a:ext cx="8136890" cy="2492990"/>
          </a:xfrm>
          <a:prstGeom prst="rect">
            <a:avLst/>
          </a:prstGeom>
          <a:noFill/>
        </p:spPr>
        <p:txBody>
          <a:bodyPr wrap="square" lIns="0" tIns="0" rIns="0" bIns="0" rtlCol="0">
            <a:spAutoFit/>
          </a:bodyPr>
          <a:lstStyle/>
          <a:p>
            <a:pPr algn="just">
              <a:lnSpc>
                <a:spcPct val="150000"/>
              </a:lnSpc>
              <a:buClrTx/>
              <a:buSzTx/>
              <a:buFontTx/>
            </a:pP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本章讲解了白盒测试方法中的</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基本路径法</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逻辑覆盖法</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和</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程序插桩法</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。对于基本路径法，需要掌握</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绘制控制流图</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和</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计算圈复杂度</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的方法。逻辑覆盖法包含</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语句覆盖</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判定覆盖</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条件覆盖</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判定-条件覆盖</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条件组合覆盖</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，读者需要掌握这些方法以及它们之间的差别，在实际测试中选择合适的方法进行测试。程序插桩法包含</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目标代码插桩</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和</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源代码插桩</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，使用源代码插桩并设置合理的探针有助于在程序开发中查找逻辑错误。通过本章的学习，读者应能够掌握白盒测试的方法。</a:t>
            </a:r>
          </a:p>
        </p:txBody>
      </p:sp>
      <p:sp>
        <p:nvSpPr>
          <p:cNvPr id="6" name="椭圆 5"/>
          <p:cNvSpPr/>
          <p:nvPr/>
        </p:nvSpPr>
        <p:spPr>
          <a:xfrm>
            <a:off x="451358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latin typeface="微软雅黑" panose="020B0503020204020204" pitchFamily="34" charset="-122"/>
                <a:ea typeface="微软雅黑" panose="020B0503020204020204" pitchFamily="34" charset="-122"/>
              </a:rPr>
              <a:t>本</a:t>
            </a:r>
          </a:p>
        </p:txBody>
      </p:sp>
      <p:sp>
        <p:nvSpPr>
          <p:cNvPr id="7" name="椭圆 6"/>
          <p:cNvSpPr/>
          <p:nvPr/>
        </p:nvSpPr>
        <p:spPr>
          <a:xfrm>
            <a:off x="523240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dirty="0">
                <a:latin typeface="微软雅黑" panose="020B0503020204020204" pitchFamily="34" charset="-122"/>
                <a:ea typeface="微软雅黑" panose="020B0503020204020204" pitchFamily="34" charset="-122"/>
                <a:sym typeface="+mn-ea"/>
              </a:rPr>
              <a:t>章</a:t>
            </a:r>
          </a:p>
        </p:txBody>
      </p:sp>
      <p:sp>
        <p:nvSpPr>
          <p:cNvPr id="8" name="椭圆 7"/>
          <p:cNvSpPr/>
          <p:nvPr/>
        </p:nvSpPr>
        <p:spPr>
          <a:xfrm>
            <a:off x="595122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a:latin typeface="微软雅黑" panose="020B0503020204020204" pitchFamily="34" charset="-122"/>
                <a:ea typeface="微软雅黑" panose="020B0503020204020204" pitchFamily="34" charset="-122"/>
                <a:sym typeface="+mn-ea"/>
              </a:rPr>
              <a:t>小</a:t>
            </a:r>
          </a:p>
        </p:txBody>
      </p:sp>
      <p:sp>
        <p:nvSpPr>
          <p:cNvPr id="9" name="椭圆 8"/>
          <p:cNvSpPr/>
          <p:nvPr/>
        </p:nvSpPr>
        <p:spPr>
          <a:xfrm>
            <a:off x="667004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a:latin typeface="微软雅黑" panose="020B0503020204020204" pitchFamily="34" charset="-122"/>
                <a:ea typeface="微软雅黑" panose="020B0503020204020204" pitchFamily="34" charset="-122"/>
                <a:sym typeface="+mn-ea"/>
              </a:rPr>
              <a:t>结</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黑盒测试和白盒测试的对比</a:t>
            </a:r>
          </a:p>
        </p:txBody>
      </p:sp>
      <p:graphicFrame>
        <p:nvGraphicFramePr>
          <p:cNvPr id="5" name="表格 4">
            <a:extLst>
              <a:ext uri="{FF2B5EF4-FFF2-40B4-BE49-F238E27FC236}">
                <a16:creationId xmlns:a16="http://schemas.microsoft.com/office/drawing/2014/main" id="{454E3F95-0CA6-7EA5-FF04-6E0648E086D4}"/>
              </a:ext>
            </a:extLst>
          </p:cNvPr>
          <p:cNvGraphicFramePr>
            <a:graphicFrameLocks noGrp="1"/>
          </p:cNvGraphicFramePr>
          <p:nvPr>
            <p:extLst>
              <p:ext uri="{D42A27DB-BD31-4B8C-83A1-F6EECF244321}">
                <p14:modId xmlns:p14="http://schemas.microsoft.com/office/powerpoint/2010/main" val="2339040870"/>
              </p:ext>
            </p:extLst>
          </p:nvPr>
        </p:nvGraphicFramePr>
        <p:xfrm>
          <a:off x="1271206" y="1197794"/>
          <a:ext cx="10151999" cy="4770683"/>
        </p:xfrm>
        <a:graphic>
          <a:graphicData uri="http://schemas.openxmlformats.org/drawingml/2006/table">
            <a:tbl>
              <a:tblPr/>
              <a:tblGrid>
                <a:gridCol w="1440000">
                  <a:extLst>
                    <a:ext uri="{9D8B030D-6E8A-4147-A177-3AD203B41FA5}">
                      <a16:colId xmlns:a16="http://schemas.microsoft.com/office/drawing/2014/main" val="3123418191"/>
                    </a:ext>
                  </a:extLst>
                </a:gridCol>
                <a:gridCol w="4104000">
                  <a:extLst>
                    <a:ext uri="{9D8B030D-6E8A-4147-A177-3AD203B41FA5}">
                      <a16:colId xmlns:a16="http://schemas.microsoft.com/office/drawing/2014/main" val="1384636647"/>
                    </a:ext>
                  </a:extLst>
                </a:gridCol>
                <a:gridCol w="4607999">
                  <a:extLst>
                    <a:ext uri="{9D8B030D-6E8A-4147-A177-3AD203B41FA5}">
                      <a16:colId xmlns:a16="http://schemas.microsoft.com/office/drawing/2014/main" val="3050166960"/>
                    </a:ext>
                  </a:extLst>
                </a:gridCol>
              </a:tblGrid>
              <a:tr h="357578">
                <a:tc>
                  <a:txBody>
                    <a:bodyPr/>
                    <a:lstStyle/>
                    <a:p>
                      <a:pPr algn="ctr">
                        <a:lnSpc>
                          <a:spcPts val="2100"/>
                        </a:lnSpc>
                        <a:buNone/>
                      </a:pPr>
                      <a:r>
                        <a:rPr lang="zh-CN" altLang="en-US" sz="1200" b="1">
                          <a:solidFill>
                            <a:srgbClr val="000000"/>
                          </a:solidFill>
                          <a:effectLst/>
                        </a:rPr>
                        <a:t>对比维度</a:t>
                      </a:r>
                    </a:p>
                  </a:txBody>
                  <a:tcPr marL="67338" marR="67338" marT="44892" marB="44892" anchor="ctr">
                    <a:lnL w="6096" cap="flat" cmpd="sng" algn="ctr">
                      <a:solidFill>
                        <a:srgbClr val="40B815"/>
                      </a:solidFill>
                      <a:prstDash val="solid"/>
                      <a:round/>
                      <a:headEnd type="none" w="med" len="med"/>
                      <a:tailEnd type="none" w="med" len="med"/>
                    </a:lnL>
                    <a:lnR w="6096" cap="flat" cmpd="sng" algn="ctr">
                      <a:solidFill>
                        <a:srgbClr val="20B715"/>
                      </a:solidFill>
                      <a:prstDash val="solid"/>
                      <a:round/>
                      <a:headEnd type="none" w="med" len="med"/>
                      <a:tailEnd type="none" w="med" len="med"/>
                    </a:lnR>
                    <a:lnT w="6096" cap="flat" cmpd="sng" algn="ctr">
                      <a:solidFill>
                        <a:srgbClr val="20B815"/>
                      </a:solidFill>
                      <a:prstDash val="solid"/>
                      <a:round/>
                      <a:headEnd type="none" w="med" len="med"/>
                      <a:tailEnd type="none" w="med" len="med"/>
                    </a:lnT>
                    <a:lnB w="6096" cap="flat" cmpd="sng" algn="ctr">
                      <a:solidFill>
                        <a:srgbClr val="A0BA15"/>
                      </a:solidFill>
                      <a:prstDash val="solid"/>
                      <a:round/>
                      <a:headEnd type="none" w="med" len="med"/>
                      <a:tailEnd type="none" w="med" len="med"/>
                    </a:lnB>
                    <a:solidFill>
                      <a:srgbClr val="F2F2F2"/>
                    </a:solidFill>
                  </a:tcPr>
                </a:tc>
                <a:tc>
                  <a:txBody>
                    <a:bodyPr/>
                    <a:lstStyle/>
                    <a:p>
                      <a:pPr algn="ctr">
                        <a:lnSpc>
                          <a:spcPts val="2100"/>
                        </a:lnSpc>
                        <a:buNone/>
                      </a:pPr>
                      <a:r>
                        <a:rPr lang="zh-CN" altLang="en-US" sz="1200" b="1" dirty="0">
                          <a:solidFill>
                            <a:srgbClr val="000000"/>
                          </a:solidFill>
                          <a:effectLst/>
                        </a:rPr>
                        <a:t>黑盒测试（</a:t>
                      </a:r>
                      <a:r>
                        <a:rPr lang="en-US" sz="1200" b="1" dirty="0">
                          <a:solidFill>
                            <a:srgbClr val="000000"/>
                          </a:solidFill>
                          <a:effectLst/>
                        </a:rPr>
                        <a:t>Black-Box Testing）</a:t>
                      </a:r>
                    </a:p>
                  </a:txBody>
                  <a:tcPr marL="67338" marR="67338" marT="44892" marB="44892" anchor="ctr">
                    <a:lnL w="6096" cap="flat" cmpd="sng" algn="ctr">
                      <a:solidFill>
                        <a:srgbClr val="20B715"/>
                      </a:solidFill>
                      <a:prstDash val="solid"/>
                      <a:round/>
                      <a:headEnd type="none" w="med" len="med"/>
                      <a:tailEnd type="none" w="med" len="med"/>
                    </a:lnL>
                    <a:lnR w="6096" cap="flat" cmpd="sng" algn="ctr">
                      <a:solidFill>
                        <a:srgbClr val="80B815"/>
                      </a:solidFill>
                      <a:prstDash val="solid"/>
                      <a:round/>
                      <a:headEnd type="none" w="med" len="med"/>
                      <a:tailEnd type="none" w="med" len="med"/>
                    </a:lnR>
                    <a:lnT w="6096" cap="flat" cmpd="sng" algn="ctr">
                      <a:solidFill>
                        <a:srgbClr val="00B715"/>
                      </a:solidFill>
                      <a:prstDash val="solid"/>
                      <a:round/>
                      <a:headEnd type="none" w="med" len="med"/>
                      <a:tailEnd type="none" w="med" len="med"/>
                    </a:lnT>
                    <a:lnB w="6096" cap="flat" cmpd="sng" algn="ctr">
                      <a:solidFill>
                        <a:srgbClr val="80BD15"/>
                      </a:solidFill>
                      <a:prstDash val="solid"/>
                      <a:round/>
                      <a:headEnd type="none" w="med" len="med"/>
                      <a:tailEnd type="none" w="med" len="med"/>
                    </a:lnB>
                    <a:solidFill>
                      <a:srgbClr val="F2F2F2"/>
                    </a:solidFill>
                  </a:tcPr>
                </a:tc>
                <a:tc>
                  <a:txBody>
                    <a:bodyPr/>
                    <a:lstStyle/>
                    <a:p>
                      <a:pPr algn="ctr">
                        <a:lnSpc>
                          <a:spcPts val="2100"/>
                        </a:lnSpc>
                        <a:buNone/>
                      </a:pPr>
                      <a:r>
                        <a:rPr lang="zh-CN" altLang="en-US" sz="1200" b="1" dirty="0">
                          <a:solidFill>
                            <a:srgbClr val="000000"/>
                          </a:solidFill>
                          <a:effectLst/>
                        </a:rPr>
                        <a:t>白盒测试（</a:t>
                      </a:r>
                      <a:r>
                        <a:rPr lang="en-US" sz="1200" b="1" dirty="0">
                          <a:solidFill>
                            <a:srgbClr val="000000"/>
                          </a:solidFill>
                          <a:effectLst/>
                        </a:rPr>
                        <a:t>White-Box Testing）</a:t>
                      </a:r>
                    </a:p>
                  </a:txBody>
                  <a:tcPr marL="67338" marR="67338" marT="44892" marB="44892" anchor="ctr">
                    <a:lnL w="6096" cap="flat" cmpd="sng" algn="ctr">
                      <a:solidFill>
                        <a:srgbClr val="80B815"/>
                      </a:solidFill>
                      <a:prstDash val="solid"/>
                      <a:round/>
                      <a:headEnd type="none" w="med" len="med"/>
                      <a:tailEnd type="none" w="med" len="med"/>
                    </a:lnL>
                    <a:lnR w="6096" cap="flat" cmpd="sng" algn="ctr">
                      <a:solidFill>
                        <a:srgbClr val="80B815"/>
                      </a:solidFill>
                      <a:prstDash val="solid"/>
                      <a:round/>
                      <a:headEnd type="none" w="med" len="med"/>
                      <a:tailEnd type="none" w="med" len="med"/>
                    </a:lnR>
                    <a:lnT w="6096" cap="flat" cmpd="sng" algn="ctr">
                      <a:solidFill>
                        <a:srgbClr val="80B815"/>
                      </a:solidFill>
                      <a:prstDash val="solid"/>
                      <a:round/>
                      <a:headEnd type="none" w="med" len="med"/>
                      <a:tailEnd type="none" w="med" len="med"/>
                    </a:lnT>
                    <a:lnB w="6096" cap="flat" cmpd="sng" algn="ctr">
                      <a:solidFill>
                        <a:srgbClr val="20E56D"/>
                      </a:solidFill>
                      <a:prstDash val="solid"/>
                      <a:round/>
                      <a:headEnd type="none" w="med" len="med"/>
                      <a:tailEnd type="none" w="med" len="med"/>
                    </a:lnB>
                    <a:solidFill>
                      <a:srgbClr val="F2F2F2"/>
                    </a:solidFill>
                  </a:tcPr>
                </a:tc>
                <a:extLst>
                  <a:ext uri="{0D108BD9-81ED-4DB2-BD59-A6C34878D82A}">
                    <a16:rowId xmlns:a16="http://schemas.microsoft.com/office/drawing/2014/main" val="720962725"/>
                  </a:ext>
                </a:extLst>
              </a:tr>
              <a:tr h="488513">
                <a:tc>
                  <a:txBody>
                    <a:bodyPr/>
                    <a:lstStyle/>
                    <a:p>
                      <a:pPr algn="ctr">
                        <a:lnSpc>
                          <a:spcPts val="2100"/>
                        </a:lnSpc>
                        <a:buNone/>
                      </a:pPr>
                      <a:r>
                        <a:rPr lang="zh-CN" altLang="en-US" sz="1200" b="1">
                          <a:solidFill>
                            <a:srgbClr val="000000"/>
                          </a:solidFill>
                          <a:effectLst/>
                        </a:rPr>
                        <a:t>测试核心依据</a:t>
                      </a:r>
                      <a:endParaRPr lang="zh-CN" altLang="en-US" sz="1200" b="0">
                        <a:effectLst/>
                      </a:endParaRPr>
                    </a:p>
                  </a:txBody>
                  <a:tcPr marL="67338" marR="67338" marT="44892" marB="44892" anchor="ctr">
                    <a:lnL w="6096" cap="flat" cmpd="sng" algn="ctr">
                      <a:solidFill>
                        <a:srgbClr val="C0BA15"/>
                      </a:solidFill>
                      <a:prstDash val="solid"/>
                      <a:round/>
                      <a:headEnd type="none" w="med" len="med"/>
                      <a:tailEnd type="none" w="med" len="med"/>
                    </a:lnL>
                    <a:lnR w="6096" cap="flat" cmpd="sng" algn="ctr">
                      <a:solidFill>
                        <a:srgbClr val="00C115"/>
                      </a:solidFill>
                      <a:prstDash val="solid"/>
                      <a:round/>
                      <a:headEnd type="none" w="med" len="med"/>
                      <a:tailEnd type="none" w="med" len="med"/>
                    </a:lnR>
                    <a:lnT w="6096" cap="flat" cmpd="sng" algn="ctr">
                      <a:solidFill>
                        <a:srgbClr val="A0BA15"/>
                      </a:solidFill>
                      <a:prstDash val="solid"/>
                      <a:round/>
                      <a:headEnd type="none" w="med" len="med"/>
                      <a:tailEnd type="none" w="med" len="med"/>
                    </a:lnT>
                    <a:lnB w="6096" cap="flat" cmpd="sng" algn="ctr">
                      <a:solidFill>
                        <a:srgbClr val="80C715"/>
                      </a:solidFill>
                      <a:prstDash val="solid"/>
                      <a:round/>
                      <a:headEnd type="none" w="med" len="med"/>
                      <a:tailEnd type="none" w="med" len="med"/>
                    </a:lnB>
                    <a:solidFill>
                      <a:srgbClr val="FFFFFF"/>
                    </a:solidFill>
                  </a:tcPr>
                </a:tc>
                <a:tc>
                  <a:txBody>
                    <a:bodyPr/>
                    <a:lstStyle/>
                    <a:p>
                      <a:pPr>
                        <a:lnSpc>
                          <a:spcPts val="2100"/>
                        </a:lnSpc>
                        <a:buNone/>
                      </a:pPr>
                      <a:r>
                        <a:rPr lang="zh-CN" altLang="en-US" sz="1200" b="0">
                          <a:effectLst/>
                        </a:rPr>
                        <a:t>仅依赖软件的</a:t>
                      </a:r>
                      <a:r>
                        <a:rPr lang="zh-CN" altLang="en-US" sz="1200" b="1">
                          <a:solidFill>
                            <a:srgbClr val="000000"/>
                          </a:solidFill>
                          <a:effectLst/>
                        </a:rPr>
                        <a:t>需求规格说明书 </a:t>
                      </a:r>
                      <a:r>
                        <a:rPr lang="en-US" altLang="zh-CN" sz="1200" b="1">
                          <a:solidFill>
                            <a:srgbClr val="000000"/>
                          </a:solidFill>
                          <a:effectLst/>
                        </a:rPr>
                        <a:t>/ </a:t>
                      </a:r>
                      <a:r>
                        <a:rPr lang="zh-CN" altLang="en-US" sz="1200" b="1">
                          <a:solidFill>
                            <a:srgbClr val="000000"/>
                          </a:solidFill>
                          <a:effectLst/>
                        </a:rPr>
                        <a:t>用户手册</a:t>
                      </a:r>
                      <a:r>
                        <a:rPr lang="zh-CN" altLang="en-US" sz="1200" b="0">
                          <a:effectLst/>
                        </a:rPr>
                        <a:t>，不关注内部逻辑</a:t>
                      </a:r>
                    </a:p>
                  </a:txBody>
                  <a:tcPr marL="67338" marR="67338" marT="44892" marB="44892" anchor="ctr">
                    <a:lnL w="6096" cap="flat" cmpd="sng" algn="ctr">
                      <a:solidFill>
                        <a:srgbClr val="00C115"/>
                      </a:solidFill>
                      <a:prstDash val="solid"/>
                      <a:round/>
                      <a:headEnd type="none" w="med" len="med"/>
                      <a:tailEnd type="none" w="med" len="med"/>
                    </a:lnL>
                    <a:lnR w="6096" cap="flat" cmpd="sng" algn="ctr">
                      <a:solidFill>
                        <a:srgbClr val="60B815"/>
                      </a:solidFill>
                      <a:prstDash val="solid"/>
                      <a:round/>
                      <a:headEnd type="none" w="med" len="med"/>
                      <a:tailEnd type="none" w="med" len="med"/>
                    </a:lnR>
                    <a:lnT w="6096" cap="flat" cmpd="sng" algn="ctr">
                      <a:solidFill>
                        <a:srgbClr val="80BD15"/>
                      </a:solidFill>
                      <a:prstDash val="solid"/>
                      <a:round/>
                      <a:headEnd type="none" w="med" len="med"/>
                      <a:tailEnd type="none" w="med" len="med"/>
                    </a:lnT>
                    <a:lnB w="6096" cap="flat" cmpd="sng" algn="ctr">
                      <a:solidFill>
                        <a:srgbClr val="20CF15"/>
                      </a:solidFill>
                      <a:prstDash val="solid"/>
                      <a:round/>
                      <a:headEnd type="none" w="med" len="med"/>
                      <a:tailEnd type="none" w="med" len="med"/>
                    </a:lnB>
                    <a:solidFill>
                      <a:srgbClr val="FFFFFF"/>
                    </a:solidFill>
                  </a:tcPr>
                </a:tc>
                <a:tc>
                  <a:txBody>
                    <a:bodyPr/>
                    <a:lstStyle/>
                    <a:p>
                      <a:pPr>
                        <a:lnSpc>
                          <a:spcPts val="2100"/>
                        </a:lnSpc>
                        <a:buNone/>
                      </a:pPr>
                      <a:r>
                        <a:rPr lang="zh-CN" altLang="en-US" sz="1200" b="0">
                          <a:effectLst/>
                        </a:rPr>
                        <a:t>依赖软件的</a:t>
                      </a:r>
                      <a:r>
                        <a:rPr lang="zh-CN" altLang="en-US" sz="1200" b="1">
                          <a:solidFill>
                            <a:srgbClr val="000000"/>
                          </a:solidFill>
                          <a:effectLst/>
                        </a:rPr>
                        <a:t>源代码、数据结构、算法、控制流程</a:t>
                      </a:r>
                      <a:r>
                        <a:rPr lang="zh-CN" altLang="en-US" sz="1200" b="0">
                          <a:effectLst/>
                        </a:rPr>
                        <a:t>等内部信息</a:t>
                      </a:r>
                    </a:p>
                  </a:txBody>
                  <a:tcPr marL="67338" marR="67338" marT="44892" marB="44892" anchor="ctr">
                    <a:lnL w="6096" cap="flat" cmpd="sng" algn="ctr">
                      <a:solidFill>
                        <a:srgbClr val="60B815"/>
                      </a:solidFill>
                      <a:prstDash val="solid"/>
                      <a:round/>
                      <a:headEnd type="none" w="med" len="med"/>
                      <a:tailEnd type="none" w="med" len="med"/>
                    </a:lnL>
                    <a:lnR w="6096" cap="flat" cmpd="sng" algn="ctr">
                      <a:solidFill>
                        <a:srgbClr val="00B715"/>
                      </a:solidFill>
                      <a:prstDash val="solid"/>
                      <a:round/>
                      <a:headEnd type="none" w="med" len="med"/>
                      <a:tailEnd type="none" w="med" len="med"/>
                    </a:lnR>
                    <a:lnT w="6096" cap="flat" cmpd="sng" algn="ctr">
                      <a:solidFill>
                        <a:srgbClr val="20E56D"/>
                      </a:solidFill>
                      <a:prstDash val="solid"/>
                      <a:round/>
                      <a:headEnd type="none" w="med" len="med"/>
                      <a:tailEnd type="none" w="med" len="med"/>
                    </a:lnT>
                    <a:lnB w="6096" cap="flat" cmpd="sng" algn="ctr">
                      <a:solidFill>
                        <a:srgbClr val="20E56D"/>
                      </a:solidFill>
                      <a:prstDash val="solid"/>
                      <a:round/>
                      <a:headEnd type="none" w="med" len="med"/>
                      <a:tailEnd type="none" w="med" len="med"/>
                    </a:lnB>
                    <a:solidFill>
                      <a:srgbClr val="FFFFFF"/>
                    </a:solidFill>
                  </a:tcPr>
                </a:tc>
                <a:extLst>
                  <a:ext uri="{0D108BD9-81ED-4DB2-BD59-A6C34878D82A}">
                    <a16:rowId xmlns:a16="http://schemas.microsoft.com/office/drawing/2014/main" val="61767658"/>
                  </a:ext>
                </a:extLst>
              </a:tr>
              <a:tr h="488513">
                <a:tc>
                  <a:txBody>
                    <a:bodyPr/>
                    <a:lstStyle/>
                    <a:p>
                      <a:pPr algn="ctr">
                        <a:lnSpc>
                          <a:spcPts val="2100"/>
                        </a:lnSpc>
                        <a:buNone/>
                      </a:pPr>
                      <a:r>
                        <a:rPr lang="zh-CN" altLang="en-US" sz="1200" b="1">
                          <a:solidFill>
                            <a:srgbClr val="000000"/>
                          </a:solidFill>
                          <a:effectLst/>
                        </a:rPr>
                        <a:t>测试视角</a:t>
                      </a:r>
                      <a:endParaRPr lang="zh-CN" altLang="en-US" sz="1200" b="0">
                        <a:effectLst/>
                      </a:endParaRPr>
                    </a:p>
                  </a:txBody>
                  <a:tcPr marL="67338" marR="67338" marT="44892" marB="44892" anchor="ctr">
                    <a:lnL w="6096" cap="flat" cmpd="sng" algn="ctr">
                      <a:solidFill>
                        <a:srgbClr val="80C415"/>
                      </a:solidFill>
                      <a:prstDash val="solid"/>
                      <a:round/>
                      <a:headEnd type="none" w="med" len="med"/>
                      <a:tailEnd type="none" w="med" len="med"/>
                    </a:lnL>
                    <a:lnR w="6096" cap="flat" cmpd="sng" algn="ctr">
                      <a:solidFill>
                        <a:srgbClr val="C0CC15"/>
                      </a:solidFill>
                      <a:prstDash val="solid"/>
                      <a:round/>
                      <a:headEnd type="none" w="med" len="med"/>
                      <a:tailEnd type="none" w="med" len="med"/>
                    </a:lnR>
                    <a:lnT w="6096" cap="flat" cmpd="sng" algn="ctr">
                      <a:solidFill>
                        <a:srgbClr val="80C715"/>
                      </a:solidFill>
                      <a:prstDash val="solid"/>
                      <a:round/>
                      <a:headEnd type="none" w="med" len="med"/>
                      <a:tailEnd type="none" w="med" len="med"/>
                    </a:lnT>
                    <a:lnB w="6096" cap="flat" cmpd="sng" algn="ctr">
                      <a:solidFill>
                        <a:srgbClr val="80CD15"/>
                      </a:solidFill>
                      <a:prstDash val="solid"/>
                      <a:round/>
                      <a:headEnd type="none" w="med" len="med"/>
                      <a:tailEnd type="none" w="med" len="med"/>
                    </a:lnB>
                    <a:solidFill>
                      <a:srgbClr val="FFFFFF"/>
                    </a:solidFill>
                  </a:tcPr>
                </a:tc>
                <a:tc>
                  <a:txBody>
                    <a:bodyPr/>
                    <a:lstStyle/>
                    <a:p>
                      <a:pPr>
                        <a:lnSpc>
                          <a:spcPts val="2100"/>
                        </a:lnSpc>
                        <a:buNone/>
                      </a:pPr>
                      <a:r>
                        <a:rPr lang="zh-CN" altLang="en-US" sz="1200" b="0">
                          <a:effectLst/>
                        </a:rPr>
                        <a:t>站在</a:t>
                      </a:r>
                      <a:r>
                        <a:rPr lang="zh-CN" altLang="en-US" sz="1200" b="1">
                          <a:solidFill>
                            <a:srgbClr val="000000"/>
                          </a:solidFill>
                          <a:effectLst/>
                        </a:rPr>
                        <a:t>用户角度</a:t>
                      </a:r>
                      <a:r>
                        <a:rPr lang="zh-CN" altLang="en-US" sz="1200" b="0">
                          <a:effectLst/>
                        </a:rPr>
                        <a:t>，验证软件 “输入→输出” 是否符合预期</a:t>
                      </a:r>
                    </a:p>
                  </a:txBody>
                  <a:tcPr marL="67338" marR="67338" marT="44892" marB="44892" anchor="ctr">
                    <a:lnL w="6096" cap="flat" cmpd="sng" algn="ctr">
                      <a:solidFill>
                        <a:srgbClr val="C0CC15"/>
                      </a:solidFill>
                      <a:prstDash val="solid"/>
                      <a:round/>
                      <a:headEnd type="none" w="med" len="med"/>
                      <a:tailEnd type="none" w="med" len="med"/>
                    </a:lnL>
                    <a:lnR w="6096" cap="flat" cmpd="sng" algn="ctr">
                      <a:solidFill>
                        <a:srgbClr val="60BE15"/>
                      </a:solidFill>
                      <a:prstDash val="solid"/>
                      <a:round/>
                      <a:headEnd type="none" w="med" len="med"/>
                      <a:tailEnd type="none" w="med" len="med"/>
                    </a:lnR>
                    <a:lnT w="6096" cap="flat" cmpd="sng" algn="ctr">
                      <a:solidFill>
                        <a:srgbClr val="20CF15"/>
                      </a:solidFill>
                      <a:prstDash val="solid"/>
                      <a:round/>
                      <a:headEnd type="none" w="med" len="med"/>
                      <a:tailEnd type="none" w="med" len="med"/>
                    </a:lnT>
                    <a:lnB w="6096" cap="flat" cmpd="sng" algn="ctr">
                      <a:solidFill>
                        <a:srgbClr val="60CB15"/>
                      </a:solidFill>
                      <a:prstDash val="solid"/>
                      <a:round/>
                      <a:headEnd type="none" w="med" len="med"/>
                      <a:tailEnd type="none" w="med" len="med"/>
                    </a:lnB>
                    <a:solidFill>
                      <a:srgbClr val="FFFFFF"/>
                    </a:solidFill>
                  </a:tcPr>
                </a:tc>
                <a:tc>
                  <a:txBody>
                    <a:bodyPr/>
                    <a:lstStyle/>
                    <a:p>
                      <a:pPr>
                        <a:lnSpc>
                          <a:spcPts val="2100"/>
                        </a:lnSpc>
                        <a:buNone/>
                      </a:pPr>
                      <a:r>
                        <a:rPr lang="zh-CN" altLang="en-US" sz="1200" b="0">
                          <a:effectLst/>
                        </a:rPr>
                        <a:t>站在</a:t>
                      </a:r>
                      <a:r>
                        <a:rPr lang="zh-CN" altLang="en-US" sz="1200" b="1">
                          <a:solidFill>
                            <a:srgbClr val="000000"/>
                          </a:solidFill>
                          <a:effectLst/>
                        </a:rPr>
                        <a:t>开发 </a:t>
                      </a:r>
                      <a:r>
                        <a:rPr lang="en-US" altLang="zh-CN" sz="1200" b="1">
                          <a:solidFill>
                            <a:srgbClr val="000000"/>
                          </a:solidFill>
                          <a:effectLst/>
                        </a:rPr>
                        <a:t>/ </a:t>
                      </a:r>
                      <a:r>
                        <a:rPr lang="zh-CN" altLang="en-US" sz="1200" b="1">
                          <a:solidFill>
                            <a:srgbClr val="000000"/>
                          </a:solidFill>
                          <a:effectLst/>
                        </a:rPr>
                        <a:t>测试角度</a:t>
                      </a:r>
                      <a:r>
                        <a:rPr lang="zh-CN" altLang="en-US" sz="1200" b="0">
                          <a:effectLst/>
                        </a:rPr>
                        <a:t>，验证代码逻辑执行是否正确</a:t>
                      </a:r>
                    </a:p>
                  </a:txBody>
                  <a:tcPr marL="67338" marR="67338" marT="44892" marB="44892" anchor="ctr">
                    <a:lnL w="6096" cap="flat" cmpd="sng" algn="ctr">
                      <a:solidFill>
                        <a:srgbClr val="60BE15"/>
                      </a:solidFill>
                      <a:prstDash val="solid"/>
                      <a:round/>
                      <a:headEnd type="none" w="med" len="med"/>
                      <a:tailEnd type="none" w="med" len="med"/>
                    </a:lnL>
                    <a:lnR w="6096" cap="flat" cmpd="sng" algn="ctr">
                      <a:solidFill>
                        <a:srgbClr val="00B715"/>
                      </a:solidFill>
                      <a:prstDash val="solid"/>
                      <a:round/>
                      <a:headEnd type="none" w="med" len="med"/>
                      <a:tailEnd type="none" w="med" len="med"/>
                    </a:lnR>
                    <a:lnT w="6096" cap="flat" cmpd="sng" algn="ctr">
                      <a:solidFill>
                        <a:srgbClr val="20E56D"/>
                      </a:solidFill>
                      <a:prstDash val="solid"/>
                      <a:round/>
                      <a:headEnd type="none" w="med" len="med"/>
                      <a:tailEnd type="none" w="med" len="med"/>
                    </a:lnT>
                    <a:lnB w="6096" cap="flat" cmpd="sng" algn="ctr">
                      <a:solidFill>
                        <a:srgbClr val="40FE6D"/>
                      </a:solidFill>
                      <a:prstDash val="solid"/>
                      <a:round/>
                      <a:headEnd type="none" w="med" len="med"/>
                      <a:tailEnd type="none" w="med" len="med"/>
                    </a:lnB>
                    <a:solidFill>
                      <a:srgbClr val="FFFFFF"/>
                    </a:solidFill>
                  </a:tcPr>
                </a:tc>
                <a:extLst>
                  <a:ext uri="{0D108BD9-81ED-4DB2-BD59-A6C34878D82A}">
                    <a16:rowId xmlns:a16="http://schemas.microsoft.com/office/drawing/2014/main" val="3039500400"/>
                  </a:ext>
                </a:extLst>
              </a:tr>
              <a:tr h="488513">
                <a:tc>
                  <a:txBody>
                    <a:bodyPr/>
                    <a:lstStyle/>
                    <a:p>
                      <a:pPr algn="ctr">
                        <a:lnSpc>
                          <a:spcPts val="2100"/>
                        </a:lnSpc>
                        <a:buNone/>
                      </a:pPr>
                      <a:r>
                        <a:rPr lang="zh-CN" altLang="en-US" sz="1200" b="1">
                          <a:solidFill>
                            <a:srgbClr val="000000"/>
                          </a:solidFill>
                          <a:effectLst/>
                        </a:rPr>
                        <a:t>常用测试方法</a:t>
                      </a:r>
                      <a:endParaRPr lang="zh-CN" altLang="en-US" sz="1200" b="0">
                        <a:effectLst/>
                      </a:endParaRPr>
                    </a:p>
                  </a:txBody>
                  <a:tcPr marL="67338" marR="67338" marT="44892" marB="44892" anchor="ctr">
                    <a:lnL w="6096" cap="flat" cmpd="sng" algn="ctr">
                      <a:solidFill>
                        <a:srgbClr val="00D715"/>
                      </a:solidFill>
                      <a:prstDash val="solid"/>
                      <a:round/>
                      <a:headEnd type="none" w="med" len="med"/>
                      <a:tailEnd type="none" w="med" len="med"/>
                    </a:lnL>
                    <a:lnR w="6096" cap="flat" cmpd="sng" algn="ctr">
                      <a:solidFill>
                        <a:srgbClr val="20D215"/>
                      </a:solidFill>
                      <a:prstDash val="solid"/>
                      <a:round/>
                      <a:headEnd type="none" w="med" len="med"/>
                      <a:tailEnd type="none" w="med" len="med"/>
                    </a:lnR>
                    <a:lnT w="6096" cap="flat" cmpd="sng" algn="ctr">
                      <a:solidFill>
                        <a:srgbClr val="80CD15"/>
                      </a:solidFill>
                      <a:prstDash val="solid"/>
                      <a:round/>
                      <a:headEnd type="none" w="med" len="med"/>
                      <a:tailEnd type="none" w="med" len="med"/>
                    </a:lnT>
                    <a:lnB w="6096" cap="flat" cmpd="sng" algn="ctr">
                      <a:solidFill>
                        <a:srgbClr val="60E815"/>
                      </a:solidFill>
                      <a:prstDash val="solid"/>
                      <a:round/>
                      <a:headEnd type="none" w="med" len="med"/>
                      <a:tailEnd type="none" w="med" len="med"/>
                    </a:lnB>
                    <a:solidFill>
                      <a:srgbClr val="FFFFFF"/>
                    </a:solidFill>
                  </a:tcPr>
                </a:tc>
                <a:tc>
                  <a:txBody>
                    <a:bodyPr/>
                    <a:lstStyle/>
                    <a:p>
                      <a:pPr>
                        <a:lnSpc>
                          <a:spcPts val="2100"/>
                        </a:lnSpc>
                        <a:buNone/>
                      </a:pPr>
                      <a:r>
                        <a:rPr lang="zh-CN" altLang="en-US" sz="1200" b="0">
                          <a:effectLst/>
                        </a:rPr>
                        <a:t>等价类划分法、边界值分析法、因果图法、错误推测法</a:t>
                      </a:r>
                    </a:p>
                  </a:txBody>
                  <a:tcPr marL="67338" marR="67338" marT="44892" marB="44892" anchor="ctr">
                    <a:lnL w="6096" cap="flat" cmpd="sng" algn="ctr">
                      <a:solidFill>
                        <a:srgbClr val="20D215"/>
                      </a:solidFill>
                      <a:prstDash val="solid"/>
                      <a:round/>
                      <a:headEnd type="none" w="med" len="med"/>
                      <a:tailEnd type="none" w="med" len="med"/>
                    </a:lnL>
                    <a:lnR w="6096" cap="flat" cmpd="sng" algn="ctr">
                      <a:solidFill>
                        <a:srgbClr val="60BE15"/>
                      </a:solidFill>
                      <a:prstDash val="solid"/>
                      <a:round/>
                      <a:headEnd type="none" w="med" len="med"/>
                      <a:tailEnd type="none" w="med" len="med"/>
                    </a:lnR>
                    <a:lnT w="6096" cap="flat" cmpd="sng" algn="ctr">
                      <a:solidFill>
                        <a:srgbClr val="60CB15"/>
                      </a:solidFill>
                      <a:prstDash val="solid"/>
                      <a:round/>
                      <a:headEnd type="none" w="med" len="med"/>
                      <a:tailEnd type="none" w="med" len="med"/>
                    </a:lnT>
                    <a:lnB w="6096" cap="flat" cmpd="sng" algn="ctr">
                      <a:solidFill>
                        <a:srgbClr val="60E215"/>
                      </a:solidFill>
                      <a:prstDash val="solid"/>
                      <a:round/>
                      <a:headEnd type="none" w="med" len="med"/>
                      <a:tailEnd type="none" w="med" len="med"/>
                    </a:lnB>
                    <a:solidFill>
                      <a:srgbClr val="FFFFFF"/>
                    </a:solidFill>
                  </a:tcPr>
                </a:tc>
                <a:tc>
                  <a:txBody>
                    <a:bodyPr/>
                    <a:lstStyle/>
                    <a:p>
                      <a:pPr>
                        <a:lnSpc>
                          <a:spcPts val="2100"/>
                        </a:lnSpc>
                        <a:buNone/>
                      </a:pPr>
                      <a:r>
                        <a:rPr lang="zh-CN" altLang="en-US" sz="1200" b="0">
                          <a:effectLst/>
                        </a:rPr>
                        <a:t>逻辑覆盖法（语句 </a:t>
                      </a:r>
                      <a:r>
                        <a:rPr lang="en-US" altLang="zh-CN" sz="1200" b="0">
                          <a:effectLst/>
                        </a:rPr>
                        <a:t>/ </a:t>
                      </a:r>
                      <a:r>
                        <a:rPr lang="zh-CN" altLang="en-US" sz="1200" b="0">
                          <a:effectLst/>
                        </a:rPr>
                        <a:t>判定 </a:t>
                      </a:r>
                      <a:r>
                        <a:rPr lang="en-US" altLang="zh-CN" sz="1200" b="0">
                          <a:effectLst/>
                        </a:rPr>
                        <a:t>/ </a:t>
                      </a:r>
                      <a:r>
                        <a:rPr lang="zh-CN" altLang="en-US" sz="1200" b="0">
                          <a:effectLst/>
                        </a:rPr>
                        <a:t>条件覆盖等）、基本路径测试法</a:t>
                      </a:r>
                    </a:p>
                  </a:txBody>
                  <a:tcPr marL="67338" marR="67338" marT="44892" marB="44892" anchor="ctr">
                    <a:lnL w="6096" cap="flat" cmpd="sng" algn="ctr">
                      <a:solidFill>
                        <a:srgbClr val="60BE15"/>
                      </a:solidFill>
                      <a:prstDash val="solid"/>
                      <a:round/>
                      <a:headEnd type="none" w="med" len="med"/>
                      <a:tailEnd type="none" w="med" len="med"/>
                    </a:lnL>
                    <a:lnR w="6096" cap="flat" cmpd="sng" algn="ctr">
                      <a:solidFill>
                        <a:srgbClr val="E0B515"/>
                      </a:solidFill>
                      <a:prstDash val="solid"/>
                      <a:round/>
                      <a:headEnd type="none" w="med" len="med"/>
                      <a:tailEnd type="none" w="med" len="med"/>
                    </a:lnR>
                    <a:lnT w="6096" cap="flat" cmpd="sng" algn="ctr">
                      <a:solidFill>
                        <a:srgbClr val="40FE6D"/>
                      </a:solidFill>
                      <a:prstDash val="solid"/>
                      <a:round/>
                      <a:headEnd type="none" w="med" len="med"/>
                      <a:tailEnd type="none" w="med" len="med"/>
                    </a:lnT>
                    <a:lnB w="6096" cap="flat" cmpd="sng" algn="ctr">
                      <a:solidFill>
                        <a:srgbClr val="106963"/>
                      </a:solidFill>
                      <a:prstDash val="solid"/>
                      <a:round/>
                      <a:headEnd type="none" w="med" len="med"/>
                      <a:tailEnd type="none" w="med" len="med"/>
                    </a:lnB>
                    <a:solidFill>
                      <a:srgbClr val="FFFFFF"/>
                    </a:solidFill>
                  </a:tcPr>
                </a:tc>
                <a:extLst>
                  <a:ext uri="{0D108BD9-81ED-4DB2-BD59-A6C34878D82A}">
                    <a16:rowId xmlns:a16="http://schemas.microsoft.com/office/drawing/2014/main" val="2324282430"/>
                  </a:ext>
                </a:extLst>
              </a:tr>
              <a:tr h="357578">
                <a:tc>
                  <a:txBody>
                    <a:bodyPr/>
                    <a:lstStyle/>
                    <a:p>
                      <a:pPr algn="ctr">
                        <a:lnSpc>
                          <a:spcPts val="2100"/>
                        </a:lnSpc>
                        <a:buNone/>
                      </a:pPr>
                      <a:r>
                        <a:rPr lang="zh-CN" altLang="en-US" sz="1200" b="1">
                          <a:solidFill>
                            <a:srgbClr val="000000"/>
                          </a:solidFill>
                          <a:effectLst/>
                        </a:rPr>
                        <a:t>人员能力要求</a:t>
                      </a:r>
                      <a:endParaRPr lang="zh-CN" altLang="en-US" sz="1200" b="0">
                        <a:effectLst/>
                      </a:endParaRPr>
                    </a:p>
                  </a:txBody>
                  <a:tcPr marL="67338" marR="67338" marT="44892" marB="44892" anchor="ctr">
                    <a:lnL w="6096" cap="flat" cmpd="sng" algn="ctr">
                      <a:solidFill>
                        <a:srgbClr val="E0E815"/>
                      </a:solidFill>
                      <a:prstDash val="solid"/>
                      <a:round/>
                      <a:headEnd type="none" w="med" len="med"/>
                      <a:tailEnd type="none" w="med" len="med"/>
                    </a:lnL>
                    <a:lnR w="6096" cap="flat" cmpd="sng" algn="ctr">
                      <a:solidFill>
                        <a:srgbClr val="A02416"/>
                      </a:solidFill>
                      <a:prstDash val="solid"/>
                      <a:round/>
                      <a:headEnd type="none" w="med" len="med"/>
                      <a:tailEnd type="none" w="med" len="med"/>
                    </a:lnR>
                    <a:lnT w="6096" cap="flat" cmpd="sng" algn="ctr">
                      <a:solidFill>
                        <a:srgbClr val="60E815"/>
                      </a:solidFill>
                      <a:prstDash val="solid"/>
                      <a:round/>
                      <a:headEnd type="none" w="med" len="med"/>
                      <a:tailEnd type="none" w="med" len="med"/>
                    </a:lnT>
                    <a:lnB w="6096" cap="flat" cmpd="sng" algn="ctr">
                      <a:solidFill>
                        <a:srgbClr val="C02B16"/>
                      </a:solidFill>
                      <a:prstDash val="solid"/>
                      <a:round/>
                      <a:headEnd type="none" w="med" len="med"/>
                      <a:tailEnd type="none" w="med" len="med"/>
                    </a:lnB>
                    <a:solidFill>
                      <a:srgbClr val="FFFFFF"/>
                    </a:solidFill>
                  </a:tcPr>
                </a:tc>
                <a:tc>
                  <a:txBody>
                    <a:bodyPr/>
                    <a:lstStyle/>
                    <a:p>
                      <a:pPr>
                        <a:lnSpc>
                          <a:spcPts val="2100"/>
                        </a:lnSpc>
                        <a:buNone/>
                      </a:pPr>
                      <a:r>
                        <a:rPr lang="zh-CN" altLang="en-US" sz="1200" b="0" dirty="0">
                          <a:effectLst/>
                        </a:rPr>
                        <a:t>无需懂编程，需熟悉需求和用户场景</a:t>
                      </a:r>
                    </a:p>
                  </a:txBody>
                  <a:tcPr marL="67338" marR="67338" marT="44892" marB="44892" anchor="ctr">
                    <a:lnL w="6096" cap="flat" cmpd="sng" algn="ctr">
                      <a:solidFill>
                        <a:srgbClr val="A02416"/>
                      </a:solidFill>
                      <a:prstDash val="solid"/>
                      <a:round/>
                      <a:headEnd type="none" w="med" len="med"/>
                      <a:tailEnd type="none" w="med" len="med"/>
                    </a:lnL>
                    <a:lnR w="6096" cap="flat" cmpd="sng" algn="ctr">
                      <a:solidFill>
                        <a:srgbClr val="60BE15"/>
                      </a:solidFill>
                      <a:prstDash val="solid"/>
                      <a:round/>
                      <a:headEnd type="none" w="med" len="med"/>
                      <a:tailEnd type="none" w="med" len="med"/>
                    </a:lnR>
                    <a:lnT w="6096" cap="flat" cmpd="sng" algn="ctr">
                      <a:solidFill>
                        <a:srgbClr val="60E215"/>
                      </a:solidFill>
                      <a:prstDash val="solid"/>
                      <a:round/>
                      <a:headEnd type="none" w="med" len="med"/>
                      <a:tailEnd type="none" w="med" len="med"/>
                    </a:lnT>
                    <a:lnB w="6096" cap="flat" cmpd="sng" algn="ctr">
                      <a:solidFill>
                        <a:srgbClr val="C03ABE"/>
                      </a:solidFill>
                      <a:prstDash val="solid"/>
                      <a:round/>
                      <a:headEnd type="none" w="med" len="med"/>
                      <a:tailEnd type="none" w="med" len="med"/>
                    </a:lnB>
                    <a:solidFill>
                      <a:srgbClr val="FFFFFF"/>
                    </a:solidFill>
                  </a:tcPr>
                </a:tc>
                <a:tc>
                  <a:txBody>
                    <a:bodyPr/>
                    <a:lstStyle/>
                    <a:p>
                      <a:pPr>
                        <a:lnSpc>
                          <a:spcPts val="2100"/>
                        </a:lnSpc>
                        <a:buNone/>
                      </a:pPr>
                      <a:r>
                        <a:rPr lang="zh-CN" altLang="en-US" sz="1200" b="0">
                          <a:effectLst/>
                        </a:rPr>
                        <a:t>需具备编程能力，能读懂代码、分析逻辑结构</a:t>
                      </a:r>
                    </a:p>
                  </a:txBody>
                  <a:tcPr marL="67338" marR="67338" marT="44892" marB="44892" anchor="ctr">
                    <a:lnL w="6096" cap="flat" cmpd="sng" algn="ctr">
                      <a:solidFill>
                        <a:srgbClr val="60BE15"/>
                      </a:solidFill>
                      <a:prstDash val="solid"/>
                      <a:round/>
                      <a:headEnd type="none" w="med" len="med"/>
                      <a:tailEnd type="none" w="med" len="med"/>
                    </a:lnL>
                    <a:lnR w="6096" cap="flat" cmpd="sng" algn="ctr">
                      <a:solidFill>
                        <a:srgbClr val="E0B515"/>
                      </a:solidFill>
                      <a:prstDash val="solid"/>
                      <a:round/>
                      <a:headEnd type="none" w="med" len="med"/>
                      <a:tailEnd type="none" w="med" len="med"/>
                    </a:lnR>
                    <a:lnT w="6096" cap="flat" cmpd="sng" algn="ctr">
                      <a:solidFill>
                        <a:srgbClr val="106963"/>
                      </a:solidFill>
                      <a:prstDash val="solid"/>
                      <a:round/>
                      <a:headEnd type="none" w="med" len="med"/>
                      <a:tailEnd type="none" w="med" len="med"/>
                    </a:lnT>
                    <a:lnB w="6096" cap="flat" cmpd="sng" algn="ctr">
                      <a:solidFill>
                        <a:srgbClr val="409363"/>
                      </a:solidFill>
                      <a:prstDash val="solid"/>
                      <a:round/>
                      <a:headEnd type="none" w="med" len="med"/>
                      <a:tailEnd type="none" w="med" len="med"/>
                    </a:lnB>
                    <a:solidFill>
                      <a:srgbClr val="FFFFFF"/>
                    </a:solidFill>
                  </a:tcPr>
                </a:tc>
                <a:extLst>
                  <a:ext uri="{0D108BD9-81ED-4DB2-BD59-A6C34878D82A}">
                    <a16:rowId xmlns:a16="http://schemas.microsoft.com/office/drawing/2014/main" val="1779405330"/>
                  </a:ext>
                </a:extLst>
              </a:tr>
              <a:tr h="488513">
                <a:tc>
                  <a:txBody>
                    <a:bodyPr/>
                    <a:lstStyle/>
                    <a:p>
                      <a:pPr algn="ctr">
                        <a:lnSpc>
                          <a:spcPts val="2100"/>
                        </a:lnSpc>
                        <a:buNone/>
                      </a:pPr>
                      <a:r>
                        <a:rPr lang="zh-CN" altLang="en-US" sz="1200" b="1">
                          <a:solidFill>
                            <a:srgbClr val="000000"/>
                          </a:solidFill>
                          <a:effectLst/>
                        </a:rPr>
                        <a:t>可发现的问题</a:t>
                      </a:r>
                      <a:endParaRPr lang="zh-CN" altLang="en-US" sz="1200" b="0">
                        <a:effectLst/>
                      </a:endParaRPr>
                    </a:p>
                  </a:txBody>
                  <a:tcPr marL="67338" marR="67338" marT="44892" marB="44892" anchor="ctr">
                    <a:lnL w="6096" cap="flat" cmpd="sng" algn="ctr">
                      <a:solidFill>
                        <a:srgbClr val="202C16"/>
                      </a:solidFill>
                      <a:prstDash val="solid"/>
                      <a:round/>
                      <a:headEnd type="none" w="med" len="med"/>
                      <a:tailEnd type="none" w="med" len="med"/>
                    </a:lnL>
                    <a:lnR w="6096" cap="flat" cmpd="sng" algn="ctr">
                      <a:solidFill>
                        <a:srgbClr val="403BBE"/>
                      </a:solidFill>
                      <a:prstDash val="solid"/>
                      <a:round/>
                      <a:headEnd type="none" w="med" len="med"/>
                      <a:tailEnd type="none" w="med" len="med"/>
                    </a:lnR>
                    <a:lnT w="6096" cap="flat" cmpd="sng" algn="ctr">
                      <a:solidFill>
                        <a:srgbClr val="C02B16"/>
                      </a:solidFill>
                      <a:prstDash val="solid"/>
                      <a:round/>
                      <a:headEnd type="none" w="med" len="med"/>
                      <a:tailEnd type="none" w="med" len="med"/>
                    </a:lnT>
                    <a:lnB w="6096" cap="flat" cmpd="sng" algn="ctr">
                      <a:solidFill>
                        <a:srgbClr val="A045BE"/>
                      </a:solidFill>
                      <a:prstDash val="solid"/>
                      <a:round/>
                      <a:headEnd type="none" w="med" len="med"/>
                      <a:tailEnd type="none" w="med" len="med"/>
                    </a:lnB>
                    <a:solidFill>
                      <a:srgbClr val="FFFFFF"/>
                    </a:solidFill>
                  </a:tcPr>
                </a:tc>
                <a:tc>
                  <a:txBody>
                    <a:bodyPr/>
                    <a:lstStyle/>
                    <a:p>
                      <a:pPr>
                        <a:lnSpc>
                          <a:spcPts val="2100"/>
                        </a:lnSpc>
                        <a:buNone/>
                      </a:pPr>
                      <a:r>
                        <a:rPr lang="zh-CN" altLang="en-US" sz="1200" b="0">
                          <a:effectLst/>
                        </a:rPr>
                        <a:t>功能缺失、输入输出异常、</a:t>
                      </a:r>
                      <a:r>
                        <a:rPr lang="en-US" altLang="zh-CN" sz="1200" b="0">
                          <a:effectLst/>
                        </a:rPr>
                        <a:t>UI </a:t>
                      </a:r>
                      <a:r>
                        <a:rPr lang="zh-CN" altLang="en-US" sz="1200" b="0">
                          <a:effectLst/>
                        </a:rPr>
                        <a:t>交互问题、兼容性问题</a:t>
                      </a:r>
                    </a:p>
                  </a:txBody>
                  <a:tcPr marL="67338" marR="67338" marT="44892" marB="44892" anchor="ctr">
                    <a:lnL w="6096" cap="flat" cmpd="sng" algn="ctr">
                      <a:solidFill>
                        <a:srgbClr val="403BBE"/>
                      </a:solidFill>
                      <a:prstDash val="solid"/>
                      <a:round/>
                      <a:headEnd type="none" w="med" len="med"/>
                      <a:tailEnd type="none" w="med" len="med"/>
                    </a:lnL>
                    <a:lnR w="6096" cap="flat" cmpd="sng" algn="ctr">
                      <a:solidFill>
                        <a:srgbClr val="60BE15"/>
                      </a:solidFill>
                      <a:prstDash val="solid"/>
                      <a:round/>
                      <a:headEnd type="none" w="med" len="med"/>
                      <a:tailEnd type="none" w="med" len="med"/>
                    </a:lnR>
                    <a:lnT w="6096" cap="flat" cmpd="sng" algn="ctr">
                      <a:solidFill>
                        <a:srgbClr val="C03ABE"/>
                      </a:solidFill>
                      <a:prstDash val="solid"/>
                      <a:round/>
                      <a:headEnd type="none" w="med" len="med"/>
                      <a:tailEnd type="none" w="med" len="med"/>
                    </a:lnT>
                    <a:lnB w="6096" cap="flat" cmpd="sng" algn="ctr">
                      <a:solidFill>
                        <a:srgbClr val="0042BE"/>
                      </a:solidFill>
                      <a:prstDash val="solid"/>
                      <a:round/>
                      <a:headEnd type="none" w="med" len="med"/>
                      <a:tailEnd type="none" w="med" len="med"/>
                    </a:lnB>
                    <a:solidFill>
                      <a:srgbClr val="FFFFFF"/>
                    </a:solidFill>
                  </a:tcPr>
                </a:tc>
                <a:tc>
                  <a:txBody>
                    <a:bodyPr/>
                    <a:lstStyle/>
                    <a:p>
                      <a:pPr>
                        <a:lnSpc>
                          <a:spcPts val="2100"/>
                        </a:lnSpc>
                        <a:buNone/>
                      </a:pPr>
                      <a:r>
                        <a:rPr lang="zh-CN" altLang="en-US" sz="1200" b="0">
                          <a:effectLst/>
                        </a:rPr>
                        <a:t>代码逻辑错误（如死循环）、变量未初始化、内存泄漏、安全漏洞</a:t>
                      </a:r>
                    </a:p>
                  </a:txBody>
                  <a:tcPr marL="67338" marR="67338" marT="44892" marB="44892" anchor="ctr">
                    <a:lnL w="6096" cap="flat" cmpd="sng" algn="ctr">
                      <a:solidFill>
                        <a:srgbClr val="60BE15"/>
                      </a:solidFill>
                      <a:prstDash val="solid"/>
                      <a:round/>
                      <a:headEnd type="none" w="med" len="med"/>
                      <a:tailEnd type="none" w="med" len="med"/>
                    </a:lnL>
                    <a:lnR w="6096" cap="flat" cmpd="sng" algn="ctr">
                      <a:solidFill>
                        <a:srgbClr val="80B715"/>
                      </a:solidFill>
                      <a:prstDash val="solid"/>
                      <a:round/>
                      <a:headEnd type="none" w="med" len="med"/>
                      <a:tailEnd type="none" w="med" len="med"/>
                    </a:lnR>
                    <a:lnT w="6096" cap="flat" cmpd="sng" algn="ctr">
                      <a:solidFill>
                        <a:srgbClr val="409363"/>
                      </a:solidFill>
                      <a:prstDash val="solid"/>
                      <a:round/>
                      <a:headEnd type="none" w="med" len="med"/>
                      <a:tailEnd type="none" w="med" len="med"/>
                    </a:lnT>
                    <a:lnB w="6096" cap="flat" cmpd="sng" algn="ctr">
                      <a:solidFill>
                        <a:srgbClr val="608B63"/>
                      </a:solidFill>
                      <a:prstDash val="solid"/>
                      <a:round/>
                      <a:headEnd type="none" w="med" len="med"/>
                      <a:tailEnd type="none" w="med" len="med"/>
                    </a:lnB>
                    <a:solidFill>
                      <a:srgbClr val="FFFFFF"/>
                    </a:solidFill>
                  </a:tcPr>
                </a:tc>
                <a:extLst>
                  <a:ext uri="{0D108BD9-81ED-4DB2-BD59-A6C34878D82A}">
                    <a16:rowId xmlns:a16="http://schemas.microsoft.com/office/drawing/2014/main" val="4082428177"/>
                  </a:ext>
                </a:extLst>
              </a:tr>
              <a:tr h="357578">
                <a:tc>
                  <a:txBody>
                    <a:bodyPr/>
                    <a:lstStyle/>
                    <a:p>
                      <a:pPr algn="ctr">
                        <a:lnSpc>
                          <a:spcPts val="2100"/>
                        </a:lnSpc>
                        <a:buNone/>
                      </a:pPr>
                      <a:r>
                        <a:rPr lang="zh-CN" altLang="en-US" sz="1200" b="1">
                          <a:solidFill>
                            <a:srgbClr val="000000"/>
                          </a:solidFill>
                          <a:effectLst/>
                        </a:rPr>
                        <a:t>适用测试阶段</a:t>
                      </a:r>
                      <a:endParaRPr lang="zh-CN" altLang="en-US" sz="1200" b="0">
                        <a:effectLst/>
                      </a:endParaRPr>
                    </a:p>
                  </a:txBody>
                  <a:tcPr marL="67338" marR="67338" marT="44892" marB="44892" anchor="ctr">
                    <a:lnL w="6096" cap="flat" cmpd="sng" algn="ctr">
                      <a:solidFill>
                        <a:srgbClr val="4042BE"/>
                      </a:solidFill>
                      <a:prstDash val="solid"/>
                      <a:round/>
                      <a:headEnd type="none" w="med" len="med"/>
                      <a:tailEnd type="none" w="med" len="med"/>
                    </a:lnL>
                    <a:lnR w="6096" cap="flat" cmpd="sng" algn="ctr">
                      <a:solidFill>
                        <a:srgbClr val="4042BE"/>
                      </a:solidFill>
                      <a:prstDash val="solid"/>
                      <a:round/>
                      <a:headEnd type="none" w="med" len="med"/>
                      <a:tailEnd type="none" w="med" len="med"/>
                    </a:lnR>
                    <a:lnT w="6096" cap="flat" cmpd="sng" algn="ctr">
                      <a:solidFill>
                        <a:srgbClr val="A045BE"/>
                      </a:solidFill>
                      <a:prstDash val="solid"/>
                      <a:round/>
                      <a:headEnd type="none" w="med" len="med"/>
                      <a:tailEnd type="none" w="med" len="med"/>
                    </a:lnT>
                    <a:lnB w="6096" cap="flat" cmpd="sng" algn="ctr">
                      <a:solidFill>
                        <a:srgbClr val="4048BE"/>
                      </a:solidFill>
                      <a:prstDash val="solid"/>
                      <a:round/>
                      <a:headEnd type="none" w="med" len="med"/>
                      <a:tailEnd type="none" w="med" len="med"/>
                    </a:lnB>
                    <a:solidFill>
                      <a:srgbClr val="FFFFFF"/>
                    </a:solidFill>
                  </a:tcPr>
                </a:tc>
                <a:tc>
                  <a:txBody>
                    <a:bodyPr/>
                    <a:lstStyle/>
                    <a:p>
                      <a:pPr>
                        <a:lnSpc>
                          <a:spcPts val="2100"/>
                        </a:lnSpc>
                        <a:buNone/>
                      </a:pPr>
                      <a:r>
                        <a:rPr lang="zh-CN" altLang="en-US" sz="1200" b="0" dirty="0">
                          <a:effectLst/>
                        </a:rPr>
                        <a:t>集成测试、系统测试、验收测试（后期阶段）</a:t>
                      </a:r>
                    </a:p>
                  </a:txBody>
                  <a:tcPr marL="67338" marR="67338" marT="44892" marB="44892" anchor="ctr">
                    <a:lnL w="6096" cap="flat" cmpd="sng" algn="ctr">
                      <a:solidFill>
                        <a:srgbClr val="4042BE"/>
                      </a:solidFill>
                      <a:prstDash val="solid"/>
                      <a:round/>
                      <a:headEnd type="none" w="med" len="med"/>
                      <a:tailEnd type="none" w="med" len="med"/>
                    </a:lnL>
                    <a:lnR w="6096" cap="flat" cmpd="sng" algn="ctr">
                      <a:solidFill>
                        <a:srgbClr val="E03CBE"/>
                      </a:solidFill>
                      <a:prstDash val="solid"/>
                      <a:round/>
                      <a:headEnd type="none" w="med" len="med"/>
                      <a:tailEnd type="none" w="med" len="med"/>
                    </a:lnR>
                    <a:lnT w="6096" cap="flat" cmpd="sng" algn="ctr">
                      <a:solidFill>
                        <a:srgbClr val="0042BE"/>
                      </a:solidFill>
                      <a:prstDash val="solid"/>
                      <a:round/>
                      <a:headEnd type="none" w="med" len="med"/>
                      <a:tailEnd type="none" w="med" len="med"/>
                    </a:lnT>
                    <a:lnB w="6096" cap="flat" cmpd="sng" algn="ctr">
                      <a:solidFill>
                        <a:srgbClr val="A048BE"/>
                      </a:solidFill>
                      <a:prstDash val="solid"/>
                      <a:round/>
                      <a:headEnd type="none" w="med" len="med"/>
                      <a:tailEnd type="none" w="med" len="med"/>
                    </a:lnB>
                    <a:solidFill>
                      <a:srgbClr val="FFFFFF"/>
                    </a:solidFill>
                  </a:tcPr>
                </a:tc>
                <a:tc>
                  <a:txBody>
                    <a:bodyPr/>
                    <a:lstStyle/>
                    <a:p>
                      <a:pPr>
                        <a:lnSpc>
                          <a:spcPts val="2100"/>
                        </a:lnSpc>
                        <a:buNone/>
                      </a:pPr>
                      <a:r>
                        <a:rPr lang="zh-CN" altLang="en-US" sz="1200" b="0">
                          <a:effectLst/>
                        </a:rPr>
                        <a:t>单元测试、代码审查（前期阶段）</a:t>
                      </a:r>
                    </a:p>
                  </a:txBody>
                  <a:tcPr marL="67338" marR="67338" marT="44892" marB="44892" anchor="ctr">
                    <a:lnL w="6096" cap="flat" cmpd="sng" algn="ctr">
                      <a:solidFill>
                        <a:srgbClr val="E03CBE"/>
                      </a:solidFill>
                      <a:prstDash val="solid"/>
                      <a:round/>
                      <a:headEnd type="none" w="med" len="med"/>
                      <a:tailEnd type="none" w="med" len="med"/>
                    </a:lnL>
                    <a:lnR w="6096" cap="flat" cmpd="sng" algn="ctr">
                      <a:solidFill>
                        <a:srgbClr val="003CBE"/>
                      </a:solidFill>
                      <a:prstDash val="solid"/>
                      <a:round/>
                      <a:headEnd type="none" w="med" len="med"/>
                      <a:tailEnd type="none" w="med" len="med"/>
                    </a:lnR>
                    <a:lnT w="6096" cap="flat" cmpd="sng" algn="ctr">
                      <a:solidFill>
                        <a:srgbClr val="608B63"/>
                      </a:solidFill>
                      <a:prstDash val="solid"/>
                      <a:round/>
                      <a:headEnd type="none" w="med" len="med"/>
                      <a:tailEnd type="none" w="med" len="med"/>
                    </a:lnT>
                    <a:lnB w="6096" cap="flat" cmpd="sng" algn="ctr">
                      <a:solidFill>
                        <a:srgbClr val="709663"/>
                      </a:solidFill>
                      <a:prstDash val="solid"/>
                      <a:round/>
                      <a:headEnd type="none" w="med" len="med"/>
                      <a:tailEnd type="none" w="med" len="med"/>
                    </a:lnB>
                    <a:solidFill>
                      <a:srgbClr val="FFFFFF"/>
                    </a:solidFill>
                  </a:tcPr>
                </a:tc>
                <a:extLst>
                  <a:ext uri="{0D108BD9-81ED-4DB2-BD59-A6C34878D82A}">
                    <a16:rowId xmlns:a16="http://schemas.microsoft.com/office/drawing/2014/main" val="506499705"/>
                  </a:ext>
                </a:extLst>
              </a:tr>
              <a:tr h="619448">
                <a:tc>
                  <a:txBody>
                    <a:bodyPr/>
                    <a:lstStyle/>
                    <a:p>
                      <a:pPr algn="ctr">
                        <a:lnSpc>
                          <a:spcPts val="2100"/>
                        </a:lnSpc>
                        <a:buNone/>
                      </a:pPr>
                      <a:r>
                        <a:rPr lang="zh-CN" altLang="en-US" sz="1200" b="1">
                          <a:solidFill>
                            <a:srgbClr val="000000"/>
                          </a:solidFill>
                          <a:effectLst/>
                        </a:rPr>
                        <a:t>优点</a:t>
                      </a:r>
                      <a:endParaRPr lang="zh-CN" altLang="en-US" sz="1200" b="0">
                        <a:effectLst/>
                      </a:endParaRPr>
                    </a:p>
                  </a:txBody>
                  <a:tcPr marL="67338" marR="67338" marT="44892" marB="44892" anchor="ctr">
                    <a:lnL w="6096" cap="flat" cmpd="sng" algn="ctr">
                      <a:solidFill>
                        <a:srgbClr val="0049BE"/>
                      </a:solidFill>
                      <a:prstDash val="solid"/>
                      <a:round/>
                      <a:headEnd type="none" w="med" len="med"/>
                      <a:tailEnd type="none" w="med" len="med"/>
                    </a:lnL>
                    <a:lnR w="6096" cap="flat" cmpd="sng" algn="ctr">
                      <a:solidFill>
                        <a:srgbClr val="0050BE"/>
                      </a:solidFill>
                      <a:prstDash val="solid"/>
                      <a:round/>
                      <a:headEnd type="none" w="med" len="med"/>
                      <a:tailEnd type="none" w="med" len="med"/>
                    </a:lnR>
                    <a:lnT w="6096" cap="flat" cmpd="sng" algn="ctr">
                      <a:solidFill>
                        <a:srgbClr val="4048BE"/>
                      </a:solidFill>
                      <a:prstDash val="solid"/>
                      <a:round/>
                      <a:headEnd type="none" w="med" len="med"/>
                      <a:tailEnd type="none" w="med" len="med"/>
                    </a:lnT>
                    <a:lnB w="6096" cap="flat" cmpd="sng" algn="ctr">
                      <a:solidFill>
                        <a:srgbClr val="6051BE"/>
                      </a:solidFill>
                      <a:prstDash val="solid"/>
                      <a:round/>
                      <a:headEnd type="none" w="med" len="med"/>
                      <a:tailEnd type="none" w="med" len="med"/>
                    </a:lnB>
                    <a:solidFill>
                      <a:srgbClr val="FFFFFF"/>
                    </a:solidFill>
                  </a:tcPr>
                </a:tc>
                <a:tc>
                  <a:txBody>
                    <a:bodyPr/>
                    <a:lstStyle/>
                    <a:p>
                      <a:pPr>
                        <a:lnSpc>
                          <a:spcPts val="2100"/>
                        </a:lnSpc>
                        <a:buNone/>
                      </a:pPr>
                      <a:r>
                        <a:rPr lang="en-US" altLang="zh-CN" sz="1200" b="0">
                          <a:effectLst/>
                        </a:rPr>
                        <a:t>1. </a:t>
                      </a:r>
                      <a:r>
                        <a:rPr lang="zh-CN" altLang="en-US" sz="1200" b="0">
                          <a:effectLst/>
                        </a:rPr>
                        <a:t>不依赖源码，适合闭源软件；</a:t>
                      </a:r>
                    </a:p>
                    <a:p>
                      <a:pPr>
                        <a:lnSpc>
                          <a:spcPts val="2100"/>
                        </a:lnSpc>
                        <a:buNone/>
                      </a:pPr>
                      <a:r>
                        <a:rPr lang="en-US" altLang="zh-CN" sz="1200" b="0">
                          <a:effectLst/>
                        </a:rPr>
                        <a:t>2. </a:t>
                      </a:r>
                      <a:r>
                        <a:rPr lang="zh-CN" altLang="en-US" sz="1200" b="0">
                          <a:effectLst/>
                        </a:rPr>
                        <a:t>贴近用户实际使用场景；</a:t>
                      </a:r>
                    </a:p>
                    <a:p>
                      <a:pPr>
                        <a:lnSpc>
                          <a:spcPts val="2100"/>
                        </a:lnSpc>
                        <a:buNone/>
                      </a:pPr>
                      <a:r>
                        <a:rPr lang="en-US" altLang="zh-CN" sz="1200" b="0">
                          <a:effectLst/>
                        </a:rPr>
                        <a:t>3. </a:t>
                      </a:r>
                      <a:r>
                        <a:rPr lang="zh-CN" altLang="en-US" sz="1200" b="0">
                          <a:effectLst/>
                        </a:rPr>
                        <a:t>测试用例设计简单</a:t>
                      </a:r>
                    </a:p>
                  </a:txBody>
                  <a:tcPr marL="67338" marR="67338" marT="44892" marB="44892" anchor="ctr">
                    <a:lnL w="6096" cap="flat" cmpd="sng" algn="ctr">
                      <a:solidFill>
                        <a:srgbClr val="0050BE"/>
                      </a:solidFill>
                      <a:prstDash val="solid"/>
                      <a:round/>
                      <a:headEnd type="none" w="med" len="med"/>
                      <a:tailEnd type="none" w="med" len="med"/>
                    </a:lnL>
                    <a:lnR w="6096" cap="flat" cmpd="sng" algn="ctr">
                      <a:solidFill>
                        <a:srgbClr val="6046BE"/>
                      </a:solidFill>
                      <a:prstDash val="solid"/>
                      <a:round/>
                      <a:headEnd type="none" w="med" len="med"/>
                      <a:tailEnd type="none" w="med" len="med"/>
                    </a:lnR>
                    <a:lnT w="6096" cap="flat" cmpd="sng" algn="ctr">
                      <a:solidFill>
                        <a:srgbClr val="A048BE"/>
                      </a:solidFill>
                      <a:prstDash val="solid"/>
                      <a:round/>
                      <a:headEnd type="none" w="med" len="med"/>
                      <a:tailEnd type="none" w="med" len="med"/>
                    </a:lnT>
                    <a:lnB w="6096" cap="flat" cmpd="sng" algn="ctr">
                      <a:solidFill>
                        <a:srgbClr val="605DBE"/>
                      </a:solidFill>
                      <a:prstDash val="solid"/>
                      <a:round/>
                      <a:headEnd type="none" w="med" len="med"/>
                      <a:tailEnd type="none" w="med" len="med"/>
                    </a:lnB>
                    <a:solidFill>
                      <a:srgbClr val="FFFFFF"/>
                    </a:solidFill>
                  </a:tcPr>
                </a:tc>
                <a:tc>
                  <a:txBody>
                    <a:bodyPr/>
                    <a:lstStyle/>
                    <a:p>
                      <a:pPr>
                        <a:lnSpc>
                          <a:spcPts val="2100"/>
                        </a:lnSpc>
                        <a:buNone/>
                      </a:pPr>
                      <a:r>
                        <a:rPr lang="en-US" altLang="zh-CN" sz="1200" b="0">
                          <a:effectLst/>
                        </a:rPr>
                        <a:t>1. </a:t>
                      </a:r>
                      <a:r>
                        <a:rPr lang="zh-CN" altLang="en-US" sz="1200" b="0">
                          <a:effectLst/>
                        </a:rPr>
                        <a:t>能深入定位代码级问题；</a:t>
                      </a:r>
                    </a:p>
                    <a:p>
                      <a:pPr>
                        <a:lnSpc>
                          <a:spcPts val="2100"/>
                        </a:lnSpc>
                        <a:buNone/>
                      </a:pPr>
                      <a:r>
                        <a:rPr lang="en-US" altLang="zh-CN" sz="1200" b="0">
                          <a:effectLst/>
                        </a:rPr>
                        <a:t>2. </a:t>
                      </a:r>
                      <a:r>
                        <a:rPr lang="zh-CN" altLang="en-US" sz="1200" b="0">
                          <a:effectLst/>
                        </a:rPr>
                        <a:t>测试覆盖更全面（如分支、路径）；</a:t>
                      </a:r>
                    </a:p>
                    <a:p>
                      <a:pPr>
                        <a:lnSpc>
                          <a:spcPts val="2100"/>
                        </a:lnSpc>
                        <a:buNone/>
                      </a:pPr>
                      <a:r>
                        <a:rPr lang="en-US" altLang="zh-CN" sz="1200" b="0">
                          <a:effectLst/>
                        </a:rPr>
                        <a:t>3. </a:t>
                      </a:r>
                      <a:r>
                        <a:rPr lang="zh-CN" altLang="en-US" sz="1200" b="0">
                          <a:effectLst/>
                        </a:rPr>
                        <a:t>提前发现底层风险</a:t>
                      </a:r>
                    </a:p>
                  </a:txBody>
                  <a:tcPr marL="67338" marR="67338" marT="44892" marB="44892" anchor="ctr">
                    <a:lnL w="6096" cap="flat" cmpd="sng" algn="ctr">
                      <a:solidFill>
                        <a:srgbClr val="6046BE"/>
                      </a:solidFill>
                      <a:prstDash val="solid"/>
                      <a:round/>
                      <a:headEnd type="none" w="med" len="med"/>
                      <a:tailEnd type="none" w="med" len="med"/>
                    </a:lnL>
                    <a:lnR w="6096" cap="flat" cmpd="sng" algn="ctr">
                      <a:solidFill>
                        <a:srgbClr val="003CBE"/>
                      </a:solidFill>
                      <a:prstDash val="solid"/>
                      <a:round/>
                      <a:headEnd type="none" w="med" len="med"/>
                      <a:tailEnd type="none" w="med" len="med"/>
                    </a:lnR>
                    <a:lnT w="6096" cap="flat" cmpd="sng" algn="ctr">
                      <a:solidFill>
                        <a:srgbClr val="709663"/>
                      </a:solidFill>
                      <a:prstDash val="solid"/>
                      <a:round/>
                      <a:headEnd type="none" w="med" len="med"/>
                      <a:tailEnd type="none" w="med" len="med"/>
                    </a:lnT>
                    <a:lnB w="6096" cap="flat" cmpd="sng" algn="ctr">
                      <a:solidFill>
                        <a:srgbClr val="60A363"/>
                      </a:solidFill>
                      <a:prstDash val="solid"/>
                      <a:round/>
                      <a:headEnd type="none" w="med" len="med"/>
                      <a:tailEnd type="none" w="med" len="med"/>
                    </a:lnB>
                    <a:solidFill>
                      <a:srgbClr val="FFFFFF"/>
                    </a:solidFill>
                  </a:tcPr>
                </a:tc>
                <a:extLst>
                  <a:ext uri="{0D108BD9-81ED-4DB2-BD59-A6C34878D82A}">
                    <a16:rowId xmlns:a16="http://schemas.microsoft.com/office/drawing/2014/main" val="2324364882"/>
                  </a:ext>
                </a:extLst>
              </a:tr>
              <a:tr h="881318">
                <a:tc>
                  <a:txBody>
                    <a:bodyPr/>
                    <a:lstStyle/>
                    <a:p>
                      <a:pPr algn="ctr">
                        <a:lnSpc>
                          <a:spcPts val="2100"/>
                        </a:lnSpc>
                        <a:buNone/>
                      </a:pPr>
                      <a:r>
                        <a:rPr lang="zh-CN" altLang="en-US" sz="1200" b="1" dirty="0">
                          <a:solidFill>
                            <a:srgbClr val="000000"/>
                          </a:solidFill>
                          <a:effectLst/>
                        </a:rPr>
                        <a:t>缺点</a:t>
                      </a:r>
                      <a:endParaRPr lang="zh-CN" altLang="en-US" sz="1200" b="0" dirty="0">
                        <a:effectLst/>
                      </a:endParaRPr>
                    </a:p>
                  </a:txBody>
                  <a:tcPr marL="67338" marR="67338" marT="44892" marB="44892" anchor="ctr">
                    <a:lnL w="6096" cap="flat" cmpd="sng" algn="ctr">
                      <a:solidFill>
                        <a:srgbClr val="A051BE"/>
                      </a:solidFill>
                      <a:prstDash val="solid"/>
                      <a:round/>
                      <a:headEnd type="none" w="med" len="med"/>
                      <a:tailEnd type="none" w="med" len="med"/>
                    </a:lnL>
                    <a:lnR w="6096" cap="flat" cmpd="sng" algn="ctr">
                      <a:solidFill>
                        <a:srgbClr val="C05EBE"/>
                      </a:solidFill>
                      <a:prstDash val="solid"/>
                      <a:round/>
                      <a:headEnd type="none" w="med" len="med"/>
                      <a:tailEnd type="none" w="med" len="med"/>
                    </a:lnR>
                    <a:lnT w="6096" cap="flat" cmpd="sng" algn="ctr">
                      <a:solidFill>
                        <a:srgbClr val="6051BE"/>
                      </a:solidFill>
                      <a:prstDash val="solid"/>
                      <a:round/>
                      <a:headEnd type="none" w="med" len="med"/>
                      <a:tailEnd type="none" w="med" len="med"/>
                    </a:lnT>
                    <a:lnB w="6096" cap="flat" cmpd="sng" algn="ctr">
                      <a:solidFill>
                        <a:srgbClr val="2054BE"/>
                      </a:solidFill>
                      <a:prstDash val="solid"/>
                      <a:round/>
                      <a:headEnd type="none" w="med" len="med"/>
                      <a:tailEnd type="none" w="med" len="med"/>
                    </a:lnB>
                    <a:solidFill>
                      <a:srgbClr val="FFFFFF"/>
                    </a:solidFill>
                  </a:tcPr>
                </a:tc>
                <a:tc>
                  <a:txBody>
                    <a:bodyPr/>
                    <a:lstStyle/>
                    <a:p>
                      <a:pPr>
                        <a:lnSpc>
                          <a:spcPts val="2100"/>
                        </a:lnSpc>
                        <a:buNone/>
                      </a:pPr>
                      <a:r>
                        <a:rPr lang="en-US" altLang="zh-CN" sz="1200" b="0" dirty="0">
                          <a:effectLst/>
                        </a:rPr>
                        <a:t>1. </a:t>
                      </a:r>
                      <a:r>
                        <a:rPr lang="zh-CN" altLang="en-US" sz="1200" b="0" dirty="0">
                          <a:effectLst/>
                        </a:rPr>
                        <a:t>无法检测内部逻辑错误；</a:t>
                      </a:r>
                    </a:p>
                    <a:p>
                      <a:pPr>
                        <a:lnSpc>
                          <a:spcPts val="2100"/>
                        </a:lnSpc>
                        <a:buNone/>
                      </a:pPr>
                      <a:r>
                        <a:rPr lang="en-US" altLang="zh-CN" sz="1200" b="0" dirty="0">
                          <a:effectLst/>
                        </a:rPr>
                        <a:t>2. </a:t>
                      </a:r>
                      <a:r>
                        <a:rPr lang="zh-CN" altLang="en-US" sz="1200" b="0" dirty="0">
                          <a:effectLst/>
                        </a:rPr>
                        <a:t>需求不完整时测试不全面；</a:t>
                      </a:r>
                    </a:p>
                    <a:p>
                      <a:pPr>
                        <a:lnSpc>
                          <a:spcPts val="2100"/>
                        </a:lnSpc>
                        <a:buNone/>
                      </a:pPr>
                      <a:r>
                        <a:rPr lang="en-US" altLang="zh-CN" sz="1200" b="0" dirty="0">
                          <a:effectLst/>
                        </a:rPr>
                        <a:t>3. </a:t>
                      </a:r>
                      <a:r>
                        <a:rPr lang="zh-CN" altLang="en-US" sz="1200" b="0" dirty="0">
                          <a:effectLst/>
                        </a:rPr>
                        <a:t>可能遗漏复杂逻辑组合问题</a:t>
                      </a:r>
                    </a:p>
                  </a:txBody>
                  <a:tcPr marL="67338" marR="67338" marT="44892" marB="44892" anchor="ctr">
                    <a:lnL w="6096" cap="flat" cmpd="sng" algn="ctr">
                      <a:solidFill>
                        <a:srgbClr val="C05EBE"/>
                      </a:solidFill>
                      <a:prstDash val="solid"/>
                      <a:round/>
                      <a:headEnd type="none" w="med" len="med"/>
                      <a:tailEnd type="none" w="med" len="med"/>
                    </a:lnL>
                    <a:lnR w="6096" cap="flat" cmpd="sng" algn="ctr">
                      <a:solidFill>
                        <a:srgbClr val="4042BE"/>
                      </a:solidFill>
                      <a:prstDash val="solid"/>
                      <a:round/>
                      <a:headEnd type="none" w="med" len="med"/>
                      <a:tailEnd type="none" w="med" len="med"/>
                    </a:lnR>
                    <a:lnT w="6096" cap="flat" cmpd="sng" algn="ctr">
                      <a:solidFill>
                        <a:srgbClr val="605DBE"/>
                      </a:solidFill>
                      <a:prstDash val="solid"/>
                      <a:round/>
                      <a:headEnd type="none" w="med" len="med"/>
                      <a:tailEnd type="none" w="med" len="med"/>
                    </a:lnT>
                    <a:lnB w="6096" cap="flat" cmpd="sng" algn="ctr">
                      <a:solidFill>
                        <a:srgbClr val="605BBE"/>
                      </a:solidFill>
                      <a:prstDash val="solid"/>
                      <a:round/>
                      <a:headEnd type="none" w="med" len="med"/>
                      <a:tailEnd type="none" w="med" len="med"/>
                    </a:lnB>
                    <a:solidFill>
                      <a:srgbClr val="FFFFFF"/>
                    </a:solidFill>
                  </a:tcPr>
                </a:tc>
                <a:tc>
                  <a:txBody>
                    <a:bodyPr/>
                    <a:lstStyle/>
                    <a:p>
                      <a:pPr>
                        <a:lnSpc>
                          <a:spcPts val="2100"/>
                        </a:lnSpc>
                        <a:buNone/>
                      </a:pPr>
                      <a:r>
                        <a:rPr lang="en-US" altLang="zh-CN" sz="1200" b="0" dirty="0">
                          <a:effectLst/>
                        </a:rPr>
                        <a:t>1. </a:t>
                      </a:r>
                      <a:r>
                        <a:rPr lang="zh-CN" altLang="en-US" sz="1200" b="0" dirty="0">
                          <a:effectLst/>
                        </a:rPr>
                        <a:t>依赖源码，闭源软件无法使用；</a:t>
                      </a:r>
                    </a:p>
                    <a:p>
                      <a:pPr>
                        <a:lnSpc>
                          <a:spcPts val="2100"/>
                        </a:lnSpc>
                        <a:buNone/>
                      </a:pPr>
                      <a:r>
                        <a:rPr lang="en-US" altLang="zh-CN" sz="1200" b="0" dirty="0">
                          <a:effectLst/>
                        </a:rPr>
                        <a:t>2. </a:t>
                      </a:r>
                      <a:r>
                        <a:rPr lang="zh-CN" altLang="en-US" sz="1200" b="0" dirty="0">
                          <a:effectLst/>
                        </a:rPr>
                        <a:t>测试成本高（需懂代码）；</a:t>
                      </a:r>
                    </a:p>
                    <a:p>
                      <a:pPr>
                        <a:lnSpc>
                          <a:spcPts val="2100"/>
                        </a:lnSpc>
                        <a:buNone/>
                      </a:pPr>
                      <a:r>
                        <a:rPr lang="en-US" altLang="zh-CN" sz="1200" b="0" dirty="0">
                          <a:effectLst/>
                        </a:rPr>
                        <a:t>3. </a:t>
                      </a:r>
                      <a:r>
                        <a:rPr lang="zh-CN" altLang="en-US" sz="1200" b="0" dirty="0">
                          <a:effectLst/>
                        </a:rPr>
                        <a:t>代码变更后测试用例需频繁更新</a:t>
                      </a:r>
                    </a:p>
                  </a:txBody>
                  <a:tcPr marL="67338" marR="67338" marT="44892" marB="44892" anchor="ctr">
                    <a:lnL w="6096" cap="flat" cmpd="sng" algn="ctr">
                      <a:solidFill>
                        <a:srgbClr val="4042BE"/>
                      </a:solidFill>
                      <a:prstDash val="solid"/>
                      <a:round/>
                      <a:headEnd type="none" w="med" len="med"/>
                      <a:tailEnd type="none" w="med" len="med"/>
                    </a:lnL>
                    <a:lnR w="6096" cap="flat" cmpd="sng" algn="ctr">
                      <a:solidFill>
                        <a:srgbClr val="003CBE"/>
                      </a:solidFill>
                      <a:prstDash val="solid"/>
                      <a:round/>
                      <a:headEnd type="none" w="med" len="med"/>
                      <a:tailEnd type="none" w="med" len="med"/>
                    </a:lnR>
                    <a:lnT w="6096" cap="flat" cmpd="sng" algn="ctr">
                      <a:solidFill>
                        <a:srgbClr val="60A363"/>
                      </a:solidFill>
                      <a:prstDash val="solid"/>
                      <a:round/>
                      <a:headEnd type="none" w="med" len="med"/>
                      <a:tailEnd type="none" w="med" len="med"/>
                    </a:lnT>
                    <a:lnB w="6096" cap="flat" cmpd="sng" algn="ctr">
                      <a:solidFill>
                        <a:srgbClr val="A03CBE"/>
                      </a:solidFill>
                      <a:prstDash val="solid"/>
                      <a:round/>
                      <a:headEnd type="none" w="med" len="med"/>
                      <a:tailEnd type="none" w="med" len="med"/>
                    </a:lnB>
                    <a:solidFill>
                      <a:srgbClr val="FFFFFF"/>
                    </a:solidFill>
                  </a:tcPr>
                </a:tc>
                <a:extLst>
                  <a:ext uri="{0D108BD9-81ED-4DB2-BD59-A6C34878D82A}">
                    <a16:rowId xmlns:a16="http://schemas.microsoft.com/office/drawing/2014/main" val="3943299572"/>
                  </a:ext>
                </a:extLst>
              </a:tr>
            </a:tbl>
          </a:graphicData>
        </a:graphic>
      </p:graphicFrame>
    </p:spTree>
    <p:extLst>
      <p:ext uri="{BB962C8B-B14F-4D97-AF65-F5344CB8AC3E}">
        <p14:creationId xmlns:p14="http://schemas.microsoft.com/office/powerpoint/2010/main" val="2264834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17f8e4a56fc57c2e92e6fdc581ab83ee55365e"/>
  <p:tag name="KSO_WPP_MARK_KEY" val="f71d5144-0573-45f9-bb21-9102466a32de"/>
  <p:tag name="COMMONDATA" val="eyJoZGlkIjoiNDY0OTc4MTEzM2QwNzhhZWVhYWUxYmE3MGYxNjJlMjcifQ=="/>
</p:tagLst>
</file>

<file path=ppt/tags/tag2.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3.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4.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5.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6.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50*246"/>
  <p:tag name="TABLE_ENDDRAG_RECT" val="207*270*551*246"/>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799*260"/>
  <p:tag name="TABLE_ENDDRAG_RECT" val="94*151*799*260"/>
</p:tagLst>
</file>

<file path=ppt/tags/tag1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799*260"/>
  <p:tag name="TABLE_ENDDRAG_RECT" val="94*151*799*260"/>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799*260"/>
  <p:tag name="TABLE_ENDDRAG_RECT" val="94*151*799*260"/>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50*230"/>
  <p:tag name="TABLE_ENDDRAG_RECT" val="162*122*650*230"/>
</p:tagLst>
</file>

<file path=ppt/tags/tag13.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715*338"/>
  <p:tag name="TABLE_ENDDRAG_RECT" val="140*139*715*338"/>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8*362"/>
  <p:tag name="TABLE_ENDDRAG_RECT" val="117*134*648*362"/>
</p:tagLst>
</file>

<file path=ppt/tags/tag15.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1"/>
</p:tagLst>
</file>

<file path=ppt/tags/tag17.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1"/>
</p:tagLst>
</file>

<file path=ppt/tags/tag18.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2"/>
</p:tagLst>
</file>

<file path=ppt/tags/tag19.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2"/>
</p:tagLst>
</file>

<file path=ppt/tags/tag20.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2"/>
</p:tagLst>
</file>

<file path=ppt/tags/tag21.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3"/>
</p:tagLst>
</file>

<file path=ppt/tags/tag22.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3"/>
</p:tagLst>
</file>

<file path=ppt/tags/tag23.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3"/>
</p:tagLst>
</file>

<file path=ppt/tags/tag24.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itle"/>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PA" val="v3.2.0"/>
</p:tagLst>
</file>

<file path=ppt/tags/tag26.xml><?xml version="1.0" encoding="utf-8"?>
<p:tagLst xmlns:a="http://schemas.openxmlformats.org/drawingml/2006/main" xmlns:r="http://schemas.openxmlformats.org/officeDocument/2006/relationships" xmlns:p="http://schemas.openxmlformats.org/presentationml/2006/main">
  <p:tag name="PA" val="v3.2.0"/>
</p:tagLst>
</file>

<file path=ppt/tags/tag27.xml><?xml version="1.0" encoding="utf-8"?>
<p:tagLst xmlns:a="http://schemas.openxmlformats.org/drawingml/2006/main" xmlns:r="http://schemas.openxmlformats.org/officeDocument/2006/relationships" xmlns:p="http://schemas.openxmlformats.org/presentationml/2006/main">
  <p:tag name="PA" val="v3.2.0"/>
</p:tagLst>
</file>

<file path=ppt/tags/tag28.xml><?xml version="1.0" encoding="utf-8"?>
<p:tagLst xmlns:a="http://schemas.openxmlformats.org/drawingml/2006/main" xmlns:r="http://schemas.openxmlformats.org/officeDocument/2006/relationships" xmlns:p="http://schemas.openxmlformats.org/presentationml/2006/main">
  <p:tag name="PA" val="v3.2.0"/>
</p:tagLst>
</file>

<file path=ppt/tags/tag29.xml><?xml version="1.0" encoding="utf-8"?>
<p:tagLst xmlns:a="http://schemas.openxmlformats.org/drawingml/2006/main" xmlns:r="http://schemas.openxmlformats.org/officeDocument/2006/relationships" xmlns:p="http://schemas.openxmlformats.org/presentationml/2006/main">
  <p:tag name="PA" val="v3.2.0"/>
</p:tagLst>
</file>

<file path=ppt/tags/tag3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9*336"/>
  <p:tag name="TABLE_ENDDRAG_RECT" val="117*145*669*336"/>
</p:tagLst>
</file>

<file path=ppt/tags/tag31.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9*336"/>
  <p:tag name="TABLE_ENDDRAG_RECT" val="117*145*669*336"/>
</p:tagLst>
</file>

<file path=ppt/tags/tag32.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9*336"/>
  <p:tag name="TABLE_ENDDRAG_RECT" val="117*145*669*336"/>
</p:tagLst>
</file>

<file path=ppt/theme/theme1.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2304</TotalTime>
  <Words>9428</Words>
  <Application>Microsoft Office PowerPoint</Application>
  <PresentationFormat>自定义</PresentationFormat>
  <Paragraphs>944</Paragraphs>
  <Slides>83</Slides>
  <Notes>83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83</vt:i4>
      </vt:variant>
    </vt:vector>
  </HeadingPairs>
  <TitlesOfParts>
    <vt:vector size="89" baseType="lpstr">
      <vt:lpstr>微软雅黑</vt:lpstr>
      <vt:lpstr>字魂105号-简雅黑</vt:lpstr>
      <vt:lpstr>Arial</vt:lpstr>
      <vt:lpstr>Calibri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磊 饶</cp:lastModifiedBy>
  <cp:revision>15</cp:revision>
  <dcterms:created xsi:type="dcterms:W3CDTF">2020-09-03T07:01:00Z</dcterms:created>
  <dcterms:modified xsi:type="dcterms:W3CDTF">2025-12-14T07:37:05Z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2052-12.1.0.15120</vt:lpwstr>
  </property>
  <property fmtid="{D5CDD505-2E9C-101B-9397-08002B2CF9AE}" pid="3" name="ICV">
    <vt:lpwstr>73267FFA9B5E4B43A6BD5025191E9EAE_13</vt:lpwstr>
  </property>
</Properties>
</file>