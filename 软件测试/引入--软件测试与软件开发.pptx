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25" r:id="rId2"/>
    <p:sldId id="326" r:id="rId3"/>
    <p:sldId id="328" r:id="rId4"/>
    <p:sldId id="330" r:id="rId5"/>
    <p:sldId id="331" r:id="rId6"/>
    <p:sldId id="333" r:id="rId7"/>
    <p:sldId id="33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74167A-1ACA-4260-B6FC-ECC7E9419A74}" type="datetimeFigureOut">
              <a:rPr lang="zh-CN" altLang="en-US" smtClean="0"/>
              <a:t>2025/8/30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CAB388-F010-4D88-B652-AC1384F234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24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D1702D-71A8-B76B-3613-3B29BC05AE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90FBAE5-E7E5-C727-73D6-FEC4F093EA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1DD266-1883-464E-BEAD-6A2B64471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AFA93-8C8E-4A27-9933-2AE0D370CB37}" type="datetimeFigureOut">
              <a:rPr lang="zh-CN" altLang="en-US" smtClean="0"/>
              <a:t>2025/8/30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90B493-0414-5D8E-964E-9A2CF24D7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CB96CD-1186-4EB0-3FFD-D3E9B8E65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D0A6-00E9-4160-8D1E-A6435832A6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9621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EAFB96-6B92-B767-17CA-E964DCDCE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35F6C5-9003-9894-B2A4-DC5EE9107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A98732-43C2-6ED8-4267-5A408C8B7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AFA93-8C8E-4A27-9933-2AE0D370CB37}" type="datetimeFigureOut">
              <a:rPr lang="zh-CN" altLang="en-US" smtClean="0"/>
              <a:t>2025/8/30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7D760F-40A0-E634-75E7-F27097816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50AF31-388D-081F-4438-4F2864BAE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D0A6-00E9-4160-8D1E-A6435832A6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9745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FD63BC-84B5-EF1E-3045-C15FFEF34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76EFDC-5AB1-07B7-FCC3-7037B136A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7ECA41-5D4B-2908-8722-12388E6AA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AFA93-8C8E-4A27-9933-2AE0D370CB37}" type="datetimeFigureOut">
              <a:rPr lang="zh-CN" altLang="en-US" smtClean="0"/>
              <a:t>2025/8/30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0717B5-97AD-46F6-7394-20D94D66C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C0AF85-522F-4F5A-1CBC-CB81CF718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D0A6-00E9-4160-8D1E-A6435832A6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659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EF041B-1D93-8FB7-7AC4-ED13C9BC3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A82EF4-5F1D-7080-FF48-AA45EEE932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F653F38-22EF-CC3E-6B64-4C412EBCE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2836D0-F058-C7D5-1D26-51B541690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AFA93-8C8E-4A27-9933-2AE0D370CB37}" type="datetimeFigureOut">
              <a:rPr lang="zh-CN" altLang="en-US" smtClean="0"/>
              <a:t>2025/8/30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291B23-6A0A-1529-D141-DD9518029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712E97-DA2D-9FD6-DC32-B7F2DF5F7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D0A6-00E9-4160-8D1E-A6435832A6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1268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42C346-6407-6C48-C109-D1F6F0555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E3D355-3A9D-0D1B-E389-73E4CA538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8054D8-9559-F5A9-A94A-10FB4211E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4C58EFF-D104-FC06-A574-5AA86E3973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7BA8319-4ABF-0A19-F489-89D9F8B3BE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3562417-BD87-F8FF-4250-B5637C555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AFA93-8C8E-4A27-9933-2AE0D370CB37}" type="datetimeFigureOut">
              <a:rPr lang="zh-CN" altLang="en-US" smtClean="0"/>
              <a:t>2025/8/30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3DADE8F-091A-5E87-62C4-CE0B32338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37DA05E-5C51-DE41-8181-30112E159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D0A6-00E9-4160-8D1E-A6435832A6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4089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1F6B38-9F5D-4F90-85F9-B0ED9A330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411FFF0-EC1E-0AB9-E03F-C68F87A1E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AFA93-8C8E-4A27-9933-2AE0D370CB37}" type="datetimeFigureOut">
              <a:rPr lang="zh-CN" altLang="en-US" smtClean="0"/>
              <a:t>2025/8/30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4764FD8-63D0-A8A3-4BF6-1793A68CA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2275A52-794C-BF1F-275A-FFC513BCB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D0A6-00E9-4160-8D1E-A6435832A6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331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F5F4F2C-7B70-DED9-1F43-992EAA6E1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AFA93-8C8E-4A27-9933-2AE0D370CB37}" type="datetimeFigureOut">
              <a:rPr lang="zh-CN" altLang="en-US" smtClean="0"/>
              <a:t>2025/8/30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CCF81E8-F6C1-B188-8C42-8D5ECE4B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4EA9B3-898D-4401-58A3-CB8F5588D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D0A6-00E9-4160-8D1E-A6435832A6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3085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CF9C93-7658-2B0E-B536-E6C400C7F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B3998C-B386-9224-CDCD-17F4791BE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577D3B-9CEE-42E9-CEFC-E8A39D23F9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816BAC-CD1B-0626-5F77-1A0653136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AFA93-8C8E-4A27-9933-2AE0D370CB37}" type="datetimeFigureOut">
              <a:rPr lang="zh-CN" altLang="en-US" smtClean="0"/>
              <a:t>2025/8/30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4A896F-59BB-38E5-67ED-081BA81B1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11E174-AE11-CE5A-C85A-F131D1B75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D0A6-00E9-4160-8D1E-A6435832A6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7567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F259A5-0D79-21C5-701E-C76E01528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013BE66-00E1-5C42-1133-561EB0E75E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5284D7-3B52-0D10-8ED7-B796F3CBEF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442AE5-1C2C-2AFC-6ED3-63054187B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AFA93-8C8E-4A27-9933-2AE0D370CB37}" type="datetimeFigureOut">
              <a:rPr lang="zh-CN" altLang="en-US" smtClean="0"/>
              <a:t>2025/8/30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32DEB4-1094-BD2C-F918-C6921DAE2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487A0B-E0AC-0109-798F-1870EB99E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D0A6-00E9-4160-8D1E-A6435832A6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98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545422-F872-ABAA-8076-2E8F01CC3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F68DF5B-2442-87BF-82E3-B6DF4436B2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AA874C-6AC1-BE74-3A62-3720EAB58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AFA93-8C8E-4A27-9933-2AE0D370CB37}" type="datetimeFigureOut">
              <a:rPr lang="zh-CN" altLang="en-US" smtClean="0"/>
              <a:t>2025/8/30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21C322-03D8-766B-9A19-E55F61457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42CBB9-9464-667A-8F3B-B7914A504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D0A6-00E9-4160-8D1E-A6435832A6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9199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AD7E353-9534-919A-D87E-3BACAB377A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EA446F8-2554-7AC8-41F2-9481D9122D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7E970F-09C9-D2A6-A0CF-349CDD4D9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AFA93-8C8E-4A27-9933-2AE0D370CB37}" type="datetimeFigureOut">
              <a:rPr lang="zh-CN" altLang="en-US" smtClean="0"/>
              <a:t>2025/8/30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385CB2-4A9B-8FE3-96A9-A40F3527F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8FEFDB-DEBB-D123-547F-B9A6D98C5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D0A6-00E9-4160-8D1E-A6435832A6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1922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129" y="-29119"/>
            <a:ext cx="3826346" cy="1804024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723" y="0"/>
            <a:ext cx="3826346" cy="1804024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0" name="等腰三角形 9"/>
          <p:cNvSpPr/>
          <p:nvPr userDrawn="1"/>
        </p:nvSpPr>
        <p:spPr>
          <a:xfrm>
            <a:off x="6086230" y="4297499"/>
            <a:ext cx="5427472" cy="2558914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2551" y="3608890"/>
            <a:ext cx="6888016" cy="3247523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9074" y="3692815"/>
            <a:ext cx="7552021" cy="105473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9925" y="3692815"/>
            <a:ext cx="105511" cy="105473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162571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C521887-5AAE-A693-B05C-3BCD18654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8DDFC7-47FB-D546-5B3F-DD635A154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8BB6E3-4121-C2A6-9A03-FBE50EA68F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3AFA93-8C8E-4A27-9933-2AE0D370CB37}" type="datetimeFigureOut">
              <a:rPr lang="zh-CN" altLang="en-US" smtClean="0"/>
              <a:t>2025/8/30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49CDBC-4A00-46F8-305F-076139A879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6E8C61-E93E-C97D-5E57-F7CCC0A87F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6D0A6-00E9-4160-8D1E-A6435832A6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042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3332293" y="2829888"/>
            <a:ext cx="5527414" cy="78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4499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软件测试</a:t>
            </a:r>
            <a:r>
              <a:rPr lang="zh-CN" altLang="en-US" sz="4499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与软件开发</a:t>
            </a:r>
            <a:endParaRPr sz="4499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C67628C-CF4F-E16D-069A-3A1FD5020D73}"/>
              </a:ext>
            </a:extLst>
          </p:cNvPr>
          <p:cNvSpPr txBox="1"/>
          <p:nvPr/>
        </p:nvSpPr>
        <p:spPr>
          <a:xfrm>
            <a:off x="1176803" y="1944682"/>
            <a:ext cx="4269492" cy="224337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/>
              <a:t>	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</a:rPr>
              <a:t>软件开发</a:t>
            </a:r>
            <a:endParaRPr lang="en-US" altLang="zh-CN" b="1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zh-CN" altLang="en-US" b="1" dirty="0"/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侧重于通过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编码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设计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实现软件功能，从无到有构建产品。开发人员负责编写代码、设计架构、实现功能，并确保软件满足需求。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FC6D9FA-17B1-84D5-B051-27C466855512}"/>
              </a:ext>
            </a:extLst>
          </p:cNvPr>
          <p:cNvSpPr txBox="1"/>
          <p:nvPr/>
        </p:nvSpPr>
        <p:spPr>
          <a:xfrm>
            <a:off x="7136445" y="1878646"/>
            <a:ext cx="4269492" cy="224337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	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</a:rPr>
              <a:t>软件测试</a:t>
            </a:r>
            <a:endParaRPr lang="en-US" altLang="zh-CN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zh-CN" altLang="en-US" b="1" dirty="0"/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侧重于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验证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软件质量，通过测试发现缺陷、验证功能是否符合需求，确保软件可靠性。测试人员关注软件的性能、稳定性、安全性等。</a:t>
            </a:r>
          </a:p>
        </p:txBody>
      </p:sp>
      <p:pic>
        <p:nvPicPr>
          <p:cNvPr id="7" name="图形 6" descr="便携式计算机 纯色填充">
            <a:extLst>
              <a:ext uri="{FF2B5EF4-FFF2-40B4-BE49-F238E27FC236}">
                <a16:creationId xmlns:a16="http://schemas.microsoft.com/office/drawing/2014/main" id="{3FDB2E27-7B2E-56E0-1AC0-CB49CA561D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3681" y="1878646"/>
            <a:ext cx="596422" cy="596422"/>
          </a:xfrm>
          <a:prstGeom prst="rect">
            <a:avLst/>
          </a:prstGeom>
        </p:spPr>
      </p:pic>
      <p:pic>
        <p:nvPicPr>
          <p:cNvPr id="9" name="图形 8" descr="列表 纯色填充">
            <a:extLst>
              <a:ext uri="{FF2B5EF4-FFF2-40B4-BE49-F238E27FC236}">
                <a16:creationId xmlns:a16="http://schemas.microsoft.com/office/drawing/2014/main" id="{52F39D0E-61C6-18C3-4FF9-63113229E0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88273" y="1863899"/>
            <a:ext cx="520795" cy="52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226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C4836-C33E-234E-6F66-F3B536A5B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BD96B90-58A4-C413-C25E-8AFCA1B43B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678024"/>
              </p:ext>
            </p:extLst>
          </p:nvPr>
        </p:nvGraphicFramePr>
        <p:xfrm>
          <a:off x="1559234" y="1102533"/>
          <a:ext cx="9241687" cy="4652933"/>
        </p:xfrm>
        <a:graphic>
          <a:graphicData uri="http://schemas.openxmlformats.org/drawingml/2006/table">
            <a:tbl>
              <a:tblPr/>
              <a:tblGrid>
                <a:gridCol w="2310422">
                  <a:extLst>
                    <a:ext uri="{9D8B030D-6E8A-4147-A177-3AD203B41FA5}">
                      <a16:colId xmlns:a16="http://schemas.microsoft.com/office/drawing/2014/main" val="3142487573"/>
                    </a:ext>
                  </a:extLst>
                </a:gridCol>
                <a:gridCol w="3834764">
                  <a:extLst>
                    <a:ext uri="{9D8B030D-6E8A-4147-A177-3AD203B41FA5}">
                      <a16:colId xmlns:a16="http://schemas.microsoft.com/office/drawing/2014/main" val="3912980269"/>
                    </a:ext>
                  </a:extLst>
                </a:gridCol>
                <a:gridCol w="3096501">
                  <a:extLst>
                    <a:ext uri="{9D8B030D-6E8A-4147-A177-3AD203B41FA5}">
                      <a16:colId xmlns:a16="http://schemas.microsoft.com/office/drawing/2014/main" val="1322058184"/>
                    </a:ext>
                  </a:extLst>
                </a:gridCol>
              </a:tblGrid>
              <a:tr h="3566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技能类别</a:t>
                      </a:r>
                    </a:p>
                  </a:txBody>
                  <a:tcPr marL="71333" marR="71333" marT="71333" marB="71333" anchor="ctr">
                    <a:lnL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6A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软件开发</a:t>
                      </a:r>
                    </a:p>
                  </a:txBody>
                  <a:tcPr marL="71333" marR="71333" marT="71333" marB="71333" anchor="ctr">
                    <a:lnL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软件测试</a:t>
                      </a:r>
                    </a:p>
                  </a:txBody>
                  <a:tcPr marL="71333" marR="71333" marT="71333" marB="71333" anchor="ctr">
                    <a:lnL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531570"/>
                  </a:ext>
                </a:extLst>
              </a:tr>
              <a:tr h="5706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b="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编程语言</a:t>
                      </a:r>
                    </a:p>
                  </a:txBody>
                  <a:tcPr marL="71333" marR="71333" marT="71333" marB="71333" anchor="ctr">
                    <a:lnL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Java、Python、C++、JavaScript</a:t>
                      </a:r>
                      <a:r>
                        <a:rPr lang="zh-CN" altLang="en-US" sz="180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等</a:t>
                      </a:r>
                    </a:p>
                  </a:txBody>
                  <a:tcPr marL="71333" marR="71333" marT="71333" marB="71333" anchor="ctr">
                    <a:lnL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Python</a:t>
                      </a:r>
                      <a:r>
                        <a:rPr lang="zh-CN" altLang="en-US" sz="18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（自动化测试）、</a:t>
                      </a:r>
                      <a:r>
                        <a:rPr lang="en-US" altLang="zh-CN" sz="18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SQL</a:t>
                      </a:r>
                    </a:p>
                  </a:txBody>
                  <a:tcPr marL="71333" marR="71333" marT="71333" marB="71333" anchor="ctr">
                    <a:lnL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330151"/>
                  </a:ext>
                </a:extLst>
              </a:tr>
              <a:tr h="5706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b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算法与数据结构</a:t>
                      </a:r>
                    </a:p>
                  </a:txBody>
                  <a:tcPr marL="71333" marR="71333" marT="71333" marB="71333" anchor="ctr">
                    <a:lnL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复杂算法设计与优化</a:t>
                      </a:r>
                    </a:p>
                  </a:txBody>
                  <a:tcPr marL="71333" marR="71333" marT="71333" marB="71333" anchor="ctr">
                    <a:lnL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基本算法理解（性能分析）</a:t>
                      </a:r>
                    </a:p>
                  </a:txBody>
                  <a:tcPr marL="71333" marR="71333" marT="71333" marB="71333" anchor="ctr">
                    <a:lnL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837377"/>
                  </a:ext>
                </a:extLst>
              </a:tr>
              <a:tr h="5706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b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系统设计</a:t>
                      </a:r>
                    </a:p>
                  </a:txBody>
                  <a:tcPr marL="71333" marR="71333" marT="71333" marB="71333" anchor="ctr">
                    <a:lnL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微服务架构、分布式系统</a:t>
                      </a:r>
                    </a:p>
                  </a:txBody>
                  <a:tcPr marL="71333" marR="71333" marT="71333" marB="71333" anchor="ctr">
                    <a:lnL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测试框架设计、集成方案</a:t>
                      </a:r>
                    </a:p>
                  </a:txBody>
                  <a:tcPr marL="71333" marR="71333" marT="71333" marB="71333" anchor="ctr">
                    <a:lnL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140147"/>
                  </a:ext>
                </a:extLst>
              </a:tr>
              <a:tr h="5706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b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工具使用</a:t>
                      </a:r>
                    </a:p>
                  </a:txBody>
                  <a:tcPr marL="71333" marR="71333" marT="71333" marB="71333" anchor="ctr">
                    <a:lnL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IDE、</a:t>
                      </a:r>
                      <a:r>
                        <a:rPr lang="zh-CN" altLang="en-US" sz="180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版本控制、</a:t>
                      </a: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CI/CD</a:t>
                      </a:r>
                    </a:p>
                  </a:txBody>
                  <a:tcPr marL="71333" marR="71333" marT="71333" marB="71333" anchor="ctr">
                    <a:lnL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Selenium、JMeter、Postman</a:t>
                      </a:r>
                    </a:p>
                  </a:txBody>
                  <a:tcPr marL="71333" marR="71333" marT="71333" marB="71333" anchor="ctr">
                    <a:lnL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087204"/>
                  </a:ext>
                </a:extLst>
              </a:tr>
              <a:tr h="5706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b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文档能力</a:t>
                      </a:r>
                    </a:p>
                  </a:txBody>
                  <a:tcPr marL="71333" marR="71333" marT="71333" marB="71333" anchor="ctr">
                    <a:lnL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API</a:t>
                      </a:r>
                      <a:r>
                        <a:rPr lang="zh-CN" altLang="en-US" sz="180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文档、技术文档</a:t>
                      </a:r>
                    </a:p>
                  </a:txBody>
                  <a:tcPr marL="71333" marR="71333" marT="71333" marB="71333" anchor="ctr">
                    <a:lnL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测试报告、用例文档</a:t>
                      </a:r>
                    </a:p>
                  </a:txBody>
                  <a:tcPr marL="71333" marR="71333" marT="71333" marB="71333" anchor="ctr">
                    <a:lnL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81126"/>
                  </a:ext>
                </a:extLst>
              </a:tr>
              <a:tr h="5706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b="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核心能力</a:t>
                      </a:r>
                    </a:p>
                  </a:txBody>
                  <a:tcPr marL="71333" marR="71333" marT="71333" marB="71333" anchor="ctr">
                    <a:lnL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逻辑思维与问题解决能力</a:t>
                      </a:r>
                    </a:p>
                  </a:txBody>
                  <a:tcPr marL="71333" marR="71333" marT="71333" marB="71333" anchor="ctr">
                    <a:lnL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跨领域知识（心理学、统计学等）</a:t>
                      </a:r>
                    </a:p>
                  </a:txBody>
                  <a:tcPr marL="71333" marR="71333" marT="71333" marB="71333" anchor="ctr">
                    <a:lnL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701403"/>
                  </a:ext>
                </a:extLst>
              </a:tr>
              <a:tr h="5706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b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学习曲线</a:t>
                      </a:r>
                    </a:p>
                  </a:txBody>
                  <a:tcPr marL="71333" marR="71333" marT="71333" marB="71333" anchor="ctr">
                    <a:lnL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陡峭，需持续深入学习</a:t>
                      </a:r>
                    </a:p>
                  </a:txBody>
                  <a:tcPr marL="71333" marR="71333" marT="71333" marB="71333" anchor="ctr">
                    <a:lnL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平缓，但需不断更新测试方法</a:t>
                      </a:r>
                    </a:p>
                  </a:txBody>
                  <a:tcPr marL="71333" marR="71333" marT="71333" marB="71333" anchor="ctr">
                    <a:lnL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410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5601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0DF33-B95E-19BA-2CD2-C53871371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04DB5880-A117-7D4D-C003-2775EB86416C}"/>
              </a:ext>
            </a:extLst>
          </p:cNvPr>
          <p:cNvSpPr txBox="1"/>
          <p:nvPr/>
        </p:nvSpPr>
        <p:spPr>
          <a:xfrm>
            <a:off x="1369878" y="2186631"/>
            <a:ext cx="388964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0" i="0" dirty="0">
                <a:solidFill>
                  <a:srgbClr val="1D1D1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需求分析</a:t>
            </a:r>
          </a:p>
          <a:p>
            <a:pPr algn="l">
              <a:buNone/>
            </a:pPr>
            <a:r>
              <a:rPr lang="zh-CN" altLang="en-US" b="0" i="0" dirty="0">
                <a:solidFill>
                  <a:srgbClr val="4B5563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理解用户需求，确定功能规格</a:t>
            </a:r>
          </a:p>
          <a:p>
            <a:pPr algn="l">
              <a:buNone/>
            </a:pPr>
            <a:r>
              <a:rPr lang="en-US" altLang="zh-CN" b="0" i="0" dirty="0">
                <a:solidFill>
                  <a:srgbClr val="FFFFF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</a:p>
          <a:p>
            <a:pPr algn="l">
              <a:buNone/>
            </a:pPr>
            <a:r>
              <a:rPr lang="zh-CN" altLang="en-US" b="0" i="0" dirty="0">
                <a:solidFill>
                  <a:srgbClr val="1D1D1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设计与编码</a:t>
            </a:r>
          </a:p>
          <a:p>
            <a:pPr algn="l">
              <a:buNone/>
            </a:pPr>
            <a:r>
              <a:rPr lang="zh-CN" altLang="en-US" b="0" i="0" dirty="0">
                <a:solidFill>
                  <a:srgbClr val="4B5563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创建系统架构，编写代码实现功能</a:t>
            </a:r>
          </a:p>
          <a:p>
            <a:pPr algn="l">
              <a:buNone/>
            </a:pPr>
            <a:r>
              <a:rPr lang="en-US" altLang="zh-CN" b="0" i="0" dirty="0">
                <a:solidFill>
                  <a:srgbClr val="FFFFF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</a:p>
          <a:p>
            <a:pPr algn="l">
              <a:buNone/>
            </a:pPr>
            <a:r>
              <a:rPr lang="zh-CN" altLang="en-US" b="0" i="0" dirty="0">
                <a:solidFill>
                  <a:srgbClr val="1D1D1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调试与测试</a:t>
            </a:r>
          </a:p>
          <a:p>
            <a:pPr algn="l">
              <a:buNone/>
            </a:pPr>
            <a:r>
              <a:rPr lang="zh-CN" altLang="en-US" b="0" i="0" dirty="0">
                <a:solidFill>
                  <a:srgbClr val="4B5563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修复错误，确保代码质量</a:t>
            </a:r>
          </a:p>
          <a:p>
            <a:pPr algn="l">
              <a:buNone/>
            </a:pPr>
            <a:r>
              <a:rPr lang="en-US" altLang="zh-CN" b="0" i="0" dirty="0">
                <a:solidFill>
                  <a:srgbClr val="FFFFF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</a:p>
          <a:p>
            <a:pPr algn="l">
              <a:buNone/>
            </a:pPr>
            <a:r>
              <a:rPr lang="zh-CN" altLang="en-US" b="0" i="0" dirty="0">
                <a:solidFill>
                  <a:srgbClr val="1D1D1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维护与更新</a:t>
            </a:r>
          </a:p>
          <a:p>
            <a:pPr algn="l">
              <a:buNone/>
            </a:pPr>
            <a:r>
              <a:rPr lang="zh-CN" altLang="en-US" b="0" i="0" dirty="0">
                <a:solidFill>
                  <a:srgbClr val="4B5563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持续改进，适应新需求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89ACADE-C6BF-E42C-DD9A-9E68EFBEC782}"/>
              </a:ext>
            </a:extLst>
          </p:cNvPr>
          <p:cNvSpPr txBox="1"/>
          <p:nvPr/>
        </p:nvSpPr>
        <p:spPr>
          <a:xfrm>
            <a:off x="7322931" y="2186630"/>
            <a:ext cx="371088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0" i="0" dirty="0">
                <a:solidFill>
                  <a:srgbClr val="1D1D1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测试计划制定</a:t>
            </a:r>
          </a:p>
          <a:p>
            <a:pPr algn="l">
              <a:buNone/>
            </a:pPr>
            <a:r>
              <a:rPr lang="zh-CN" altLang="en-US" b="0" i="0" dirty="0">
                <a:solidFill>
                  <a:srgbClr val="4B5563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确定测试范围、资源和时间表</a:t>
            </a:r>
          </a:p>
          <a:p>
            <a:pPr algn="l">
              <a:buNone/>
            </a:pPr>
            <a:r>
              <a:rPr lang="en-US" altLang="zh-CN" b="0" i="0" dirty="0">
                <a:solidFill>
                  <a:srgbClr val="FFFFF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</a:p>
          <a:p>
            <a:pPr algn="l">
              <a:buNone/>
            </a:pPr>
            <a:r>
              <a:rPr lang="zh-CN" altLang="en-US" b="0" i="0" dirty="0">
                <a:solidFill>
                  <a:srgbClr val="1D1D1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测试用例设计</a:t>
            </a:r>
          </a:p>
          <a:p>
            <a:pPr algn="l">
              <a:buNone/>
            </a:pPr>
            <a:r>
              <a:rPr lang="zh-CN" altLang="en-US" b="0" i="0" dirty="0">
                <a:solidFill>
                  <a:srgbClr val="4B5563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创建详细的测试场景和步骤</a:t>
            </a:r>
          </a:p>
          <a:p>
            <a:pPr algn="l">
              <a:buNone/>
            </a:pPr>
            <a:r>
              <a:rPr lang="en-US" altLang="zh-CN" b="0" i="0" dirty="0">
                <a:solidFill>
                  <a:srgbClr val="FFFFF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</a:p>
          <a:p>
            <a:pPr algn="l">
              <a:buNone/>
            </a:pPr>
            <a:r>
              <a:rPr lang="zh-CN" altLang="en-US" b="0" i="0" dirty="0">
                <a:solidFill>
                  <a:srgbClr val="1D1D1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测试执行与缺陷跟踪</a:t>
            </a:r>
          </a:p>
          <a:p>
            <a:pPr algn="l">
              <a:buNone/>
            </a:pPr>
            <a:r>
              <a:rPr lang="zh-CN" altLang="en-US" b="0" i="0" dirty="0">
                <a:solidFill>
                  <a:srgbClr val="4B5563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执行测试，记录并跟踪缺陷</a:t>
            </a:r>
          </a:p>
          <a:p>
            <a:pPr algn="l">
              <a:buNone/>
            </a:pPr>
            <a:r>
              <a:rPr lang="en-US" altLang="zh-CN" b="0" i="0" dirty="0">
                <a:solidFill>
                  <a:srgbClr val="FFFFF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</a:p>
          <a:p>
            <a:pPr algn="l">
              <a:buNone/>
            </a:pPr>
            <a:r>
              <a:rPr lang="zh-CN" altLang="en-US" b="0" i="0" dirty="0">
                <a:solidFill>
                  <a:srgbClr val="1D1D1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测试报告与反馈</a:t>
            </a:r>
          </a:p>
          <a:p>
            <a:pPr algn="l">
              <a:buNone/>
            </a:pPr>
            <a:r>
              <a:rPr lang="zh-CN" altLang="en-US" b="0" i="0" dirty="0">
                <a:solidFill>
                  <a:srgbClr val="4B5563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总结测试结果，提供改进建议</a:t>
            </a:r>
          </a:p>
        </p:txBody>
      </p:sp>
      <p:sp>
        <p:nvSpPr>
          <p:cNvPr id="10" name="流程图: 接点 9">
            <a:extLst>
              <a:ext uri="{FF2B5EF4-FFF2-40B4-BE49-F238E27FC236}">
                <a16:creationId xmlns:a16="http://schemas.microsoft.com/office/drawing/2014/main" id="{EE4A4514-DA12-9C03-0157-9A3E151B8B5D}"/>
              </a:ext>
            </a:extLst>
          </p:cNvPr>
          <p:cNvSpPr/>
          <p:nvPr/>
        </p:nvSpPr>
        <p:spPr>
          <a:xfrm>
            <a:off x="1039870" y="2292205"/>
            <a:ext cx="281883" cy="295633"/>
          </a:xfrm>
          <a:prstGeom prst="flowChartConnector">
            <a:avLst/>
          </a:prstGeom>
          <a:solidFill>
            <a:srgbClr val="0070C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流程图: 接点 10">
            <a:extLst>
              <a:ext uri="{FF2B5EF4-FFF2-40B4-BE49-F238E27FC236}">
                <a16:creationId xmlns:a16="http://schemas.microsoft.com/office/drawing/2014/main" id="{A2DCF730-76E2-9CEB-467F-E97E277A2646}"/>
              </a:ext>
            </a:extLst>
          </p:cNvPr>
          <p:cNvSpPr/>
          <p:nvPr/>
        </p:nvSpPr>
        <p:spPr>
          <a:xfrm>
            <a:off x="1039869" y="3133367"/>
            <a:ext cx="281883" cy="295633"/>
          </a:xfrm>
          <a:prstGeom prst="flowChartConnector">
            <a:avLst/>
          </a:prstGeom>
          <a:solidFill>
            <a:srgbClr val="0070C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流程图: 接点 11">
            <a:extLst>
              <a:ext uri="{FF2B5EF4-FFF2-40B4-BE49-F238E27FC236}">
                <a16:creationId xmlns:a16="http://schemas.microsoft.com/office/drawing/2014/main" id="{4B95FDD9-29F9-520C-F19D-2659382C3A24}"/>
              </a:ext>
            </a:extLst>
          </p:cNvPr>
          <p:cNvSpPr/>
          <p:nvPr/>
        </p:nvSpPr>
        <p:spPr>
          <a:xfrm>
            <a:off x="1039868" y="3974529"/>
            <a:ext cx="281883" cy="295633"/>
          </a:xfrm>
          <a:prstGeom prst="flowChartConnector">
            <a:avLst/>
          </a:prstGeom>
          <a:solidFill>
            <a:srgbClr val="0070C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流程图: 接点 12">
            <a:extLst>
              <a:ext uri="{FF2B5EF4-FFF2-40B4-BE49-F238E27FC236}">
                <a16:creationId xmlns:a16="http://schemas.microsoft.com/office/drawing/2014/main" id="{DC9036C4-36F8-0F55-2593-0E6E85A1F2D1}"/>
              </a:ext>
            </a:extLst>
          </p:cNvPr>
          <p:cNvSpPr/>
          <p:nvPr/>
        </p:nvSpPr>
        <p:spPr>
          <a:xfrm>
            <a:off x="1039868" y="4815691"/>
            <a:ext cx="281883" cy="295633"/>
          </a:xfrm>
          <a:prstGeom prst="flowChartConnector">
            <a:avLst/>
          </a:prstGeom>
          <a:solidFill>
            <a:srgbClr val="0070C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E477102-D7F5-6001-B88B-D6F6E3921FE1}"/>
              </a:ext>
            </a:extLst>
          </p:cNvPr>
          <p:cNvCxnSpPr>
            <a:cxnSpLocks/>
          </p:cNvCxnSpPr>
          <p:nvPr/>
        </p:nvCxnSpPr>
        <p:spPr>
          <a:xfrm flipH="1">
            <a:off x="1180808" y="3429000"/>
            <a:ext cx="1" cy="545529"/>
          </a:xfrm>
          <a:prstGeom prst="line">
            <a:avLst/>
          </a:prstGeom>
          <a:ln w="127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D5E5A60-480B-4692-0452-89236E6CECE8}"/>
              </a:ext>
            </a:extLst>
          </p:cNvPr>
          <p:cNvCxnSpPr>
            <a:cxnSpLocks/>
          </p:cNvCxnSpPr>
          <p:nvPr/>
        </p:nvCxnSpPr>
        <p:spPr>
          <a:xfrm flipH="1">
            <a:off x="1180807" y="4270162"/>
            <a:ext cx="1" cy="545529"/>
          </a:xfrm>
          <a:prstGeom prst="line">
            <a:avLst/>
          </a:prstGeom>
          <a:ln w="127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A123F5B-9F62-7470-AE53-AA5ED8050EAA}"/>
              </a:ext>
            </a:extLst>
          </p:cNvPr>
          <p:cNvCxnSpPr>
            <a:cxnSpLocks/>
          </p:cNvCxnSpPr>
          <p:nvPr/>
        </p:nvCxnSpPr>
        <p:spPr>
          <a:xfrm flipH="1">
            <a:off x="1180807" y="2587838"/>
            <a:ext cx="1" cy="545529"/>
          </a:xfrm>
          <a:prstGeom prst="line">
            <a:avLst/>
          </a:prstGeom>
          <a:ln w="127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流程图: 接点 24">
            <a:extLst>
              <a:ext uri="{FF2B5EF4-FFF2-40B4-BE49-F238E27FC236}">
                <a16:creationId xmlns:a16="http://schemas.microsoft.com/office/drawing/2014/main" id="{D01E8491-2BFC-5CA6-7948-1C2CEEFF2F9E}"/>
              </a:ext>
            </a:extLst>
          </p:cNvPr>
          <p:cNvSpPr/>
          <p:nvPr/>
        </p:nvSpPr>
        <p:spPr>
          <a:xfrm>
            <a:off x="7007537" y="2292205"/>
            <a:ext cx="281883" cy="295633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流程图: 接点 25">
            <a:extLst>
              <a:ext uri="{FF2B5EF4-FFF2-40B4-BE49-F238E27FC236}">
                <a16:creationId xmlns:a16="http://schemas.microsoft.com/office/drawing/2014/main" id="{A6F3FA83-1CDC-337C-C64B-F028BC92706F}"/>
              </a:ext>
            </a:extLst>
          </p:cNvPr>
          <p:cNvSpPr/>
          <p:nvPr/>
        </p:nvSpPr>
        <p:spPr>
          <a:xfrm>
            <a:off x="7007536" y="3133367"/>
            <a:ext cx="281883" cy="295633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流程图: 接点 26">
            <a:extLst>
              <a:ext uri="{FF2B5EF4-FFF2-40B4-BE49-F238E27FC236}">
                <a16:creationId xmlns:a16="http://schemas.microsoft.com/office/drawing/2014/main" id="{590989B8-BFB1-0793-B118-F6F892372BA5}"/>
              </a:ext>
            </a:extLst>
          </p:cNvPr>
          <p:cNvSpPr/>
          <p:nvPr/>
        </p:nvSpPr>
        <p:spPr>
          <a:xfrm>
            <a:off x="7007535" y="3974529"/>
            <a:ext cx="281883" cy="295633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流程图: 接点 27">
            <a:extLst>
              <a:ext uri="{FF2B5EF4-FFF2-40B4-BE49-F238E27FC236}">
                <a16:creationId xmlns:a16="http://schemas.microsoft.com/office/drawing/2014/main" id="{EFDC364D-EFA4-F9A0-D048-001D4F686E8E}"/>
              </a:ext>
            </a:extLst>
          </p:cNvPr>
          <p:cNvSpPr/>
          <p:nvPr/>
        </p:nvSpPr>
        <p:spPr>
          <a:xfrm>
            <a:off x="7007535" y="4815691"/>
            <a:ext cx="281883" cy="295633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BBD37CF7-91A2-B316-D9D7-F4200399F0F3}"/>
              </a:ext>
            </a:extLst>
          </p:cNvPr>
          <p:cNvCxnSpPr>
            <a:cxnSpLocks/>
          </p:cNvCxnSpPr>
          <p:nvPr/>
        </p:nvCxnSpPr>
        <p:spPr>
          <a:xfrm flipH="1">
            <a:off x="7148475" y="3429000"/>
            <a:ext cx="1" cy="545529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304BF347-0F49-120D-940A-1F07E05EB730}"/>
              </a:ext>
            </a:extLst>
          </p:cNvPr>
          <p:cNvCxnSpPr>
            <a:cxnSpLocks/>
          </p:cNvCxnSpPr>
          <p:nvPr/>
        </p:nvCxnSpPr>
        <p:spPr>
          <a:xfrm flipH="1">
            <a:off x="7148474" y="4270162"/>
            <a:ext cx="1" cy="545529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5204336A-D7FA-F6AC-C60B-44B1B1789D5E}"/>
              </a:ext>
            </a:extLst>
          </p:cNvPr>
          <p:cNvCxnSpPr>
            <a:cxnSpLocks/>
          </p:cNvCxnSpPr>
          <p:nvPr/>
        </p:nvCxnSpPr>
        <p:spPr>
          <a:xfrm flipH="1">
            <a:off x="7148474" y="2587838"/>
            <a:ext cx="1" cy="545529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4D136452-A438-CC58-1648-774E6F3CEAB3}"/>
              </a:ext>
            </a:extLst>
          </p:cNvPr>
          <p:cNvSpPr txBox="1"/>
          <p:nvPr/>
        </p:nvSpPr>
        <p:spPr>
          <a:xfrm>
            <a:off x="1039868" y="1758539"/>
            <a:ext cx="26452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2000" b="1" i="0" dirty="0">
                <a:solidFill>
                  <a:srgbClr val="2563EB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软件开发</a:t>
            </a:r>
            <a:r>
              <a:rPr lang="zh-CN" altLang="en-US" sz="2000" b="1" dirty="0">
                <a:solidFill>
                  <a:srgbClr val="2563E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工作流程</a:t>
            </a:r>
            <a:endParaRPr lang="zh-CN" altLang="en-US" sz="2000" b="1" i="0" dirty="0">
              <a:solidFill>
                <a:srgbClr val="2563EB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DCAB8DD-2975-B732-E77A-BDFCF7E6C439}"/>
              </a:ext>
            </a:extLst>
          </p:cNvPr>
          <p:cNvSpPr txBox="1"/>
          <p:nvPr/>
        </p:nvSpPr>
        <p:spPr>
          <a:xfrm>
            <a:off x="7148474" y="1758538"/>
            <a:ext cx="24355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2000" b="1" i="0" dirty="0">
                <a:solidFill>
                  <a:srgbClr val="16A34A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软件测试工作流程</a:t>
            </a:r>
          </a:p>
        </p:txBody>
      </p:sp>
    </p:spTree>
    <p:extLst>
      <p:ext uri="{BB962C8B-B14F-4D97-AF65-F5344CB8AC3E}">
        <p14:creationId xmlns:p14="http://schemas.microsoft.com/office/powerpoint/2010/main" val="856132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4C390-FEF7-D4D8-72AC-90CF1D41F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流程图: 接点 9">
            <a:extLst>
              <a:ext uri="{FF2B5EF4-FFF2-40B4-BE49-F238E27FC236}">
                <a16:creationId xmlns:a16="http://schemas.microsoft.com/office/drawing/2014/main" id="{635B544E-CDA8-E189-9612-2EB0EA3A28D1}"/>
              </a:ext>
            </a:extLst>
          </p:cNvPr>
          <p:cNvSpPr/>
          <p:nvPr/>
        </p:nvSpPr>
        <p:spPr>
          <a:xfrm>
            <a:off x="1039870" y="2292205"/>
            <a:ext cx="281883" cy="295633"/>
          </a:xfrm>
          <a:prstGeom prst="flowChartConnector">
            <a:avLst/>
          </a:prstGeom>
          <a:solidFill>
            <a:srgbClr val="0070C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流程图: 接点 10">
            <a:extLst>
              <a:ext uri="{FF2B5EF4-FFF2-40B4-BE49-F238E27FC236}">
                <a16:creationId xmlns:a16="http://schemas.microsoft.com/office/drawing/2014/main" id="{E28B268B-3B41-2C5C-1BC1-578B300515D0}"/>
              </a:ext>
            </a:extLst>
          </p:cNvPr>
          <p:cNvSpPr/>
          <p:nvPr/>
        </p:nvSpPr>
        <p:spPr>
          <a:xfrm>
            <a:off x="1039869" y="3133367"/>
            <a:ext cx="281883" cy="295633"/>
          </a:xfrm>
          <a:prstGeom prst="flowChartConnector">
            <a:avLst/>
          </a:prstGeom>
          <a:solidFill>
            <a:srgbClr val="0070C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流程图: 接点 11">
            <a:extLst>
              <a:ext uri="{FF2B5EF4-FFF2-40B4-BE49-F238E27FC236}">
                <a16:creationId xmlns:a16="http://schemas.microsoft.com/office/drawing/2014/main" id="{C66A7A1F-827E-8F9F-A275-C94CD474E3DF}"/>
              </a:ext>
            </a:extLst>
          </p:cNvPr>
          <p:cNvSpPr/>
          <p:nvPr/>
        </p:nvSpPr>
        <p:spPr>
          <a:xfrm>
            <a:off x="1039868" y="3974529"/>
            <a:ext cx="281883" cy="295633"/>
          </a:xfrm>
          <a:prstGeom prst="flowChartConnector">
            <a:avLst/>
          </a:prstGeom>
          <a:solidFill>
            <a:srgbClr val="0070C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流程图: 接点 12">
            <a:extLst>
              <a:ext uri="{FF2B5EF4-FFF2-40B4-BE49-F238E27FC236}">
                <a16:creationId xmlns:a16="http://schemas.microsoft.com/office/drawing/2014/main" id="{28453206-1198-C6F5-A2E8-771B20DADCF2}"/>
              </a:ext>
            </a:extLst>
          </p:cNvPr>
          <p:cNvSpPr/>
          <p:nvPr/>
        </p:nvSpPr>
        <p:spPr>
          <a:xfrm>
            <a:off x="1039868" y="4815691"/>
            <a:ext cx="281883" cy="295633"/>
          </a:xfrm>
          <a:prstGeom prst="flowChartConnector">
            <a:avLst/>
          </a:prstGeom>
          <a:solidFill>
            <a:srgbClr val="0070C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27332DD-3587-BD58-8671-CB615644CEB9}"/>
              </a:ext>
            </a:extLst>
          </p:cNvPr>
          <p:cNvCxnSpPr>
            <a:cxnSpLocks/>
          </p:cNvCxnSpPr>
          <p:nvPr/>
        </p:nvCxnSpPr>
        <p:spPr>
          <a:xfrm flipH="1">
            <a:off x="1180808" y="3429000"/>
            <a:ext cx="1" cy="545529"/>
          </a:xfrm>
          <a:prstGeom prst="line">
            <a:avLst/>
          </a:prstGeom>
          <a:ln w="127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CD9CB7A-E6DC-1474-22A6-69A01E9256DA}"/>
              </a:ext>
            </a:extLst>
          </p:cNvPr>
          <p:cNvCxnSpPr>
            <a:cxnSpLocks/>
          </p:cNvCxnSpPr>
          <p:nvPr/>
        </p:nvCxnSpPr>
        <p:spPr>
          <a:xfrm flipH="1">
            <a:off x="1180807" y="4270162"/>
            <a:ext cx="1" cy="545529"/>
          </a:xfrm>
          <a:prstGeom prst="line">
            <a:avLst/>
          </a:prstGeom>
          <a:ln w="127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9EC8273-ACE6-CB54-A2E1-9A6E20F7BDA8}"/>
              </a:ext>
            </a:extLst>
          </p:cNvPr>
          <p:cNvCxnSpPr>
            <a:cxnSpLocks/>
          </p:cNvCxnSpPr>
          <p:nvPr/>
        </p:nvCxnSpPr>
        <p:spPr>
          <a:xfrm flipH="1">
            <a:off x="1180807" y="2587838"/>
            <a:ext cx="1" cy="545529"/>
          </a:xfrm>
          <a:prstGeom prst="line">
            <a:avLst/>
          </a:prstGeom>
          <a:ln w="127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流程图: 接点 24">
            <a:extLst>
              <a:ext uri="{FF2B5EF4-FFF2-40B4-BE49-F238E27FC236}">
                <a16:creationId xmlns:a16="http://schemas.microsoft.com/office/drawing/2014/main" id="{C8B82FC8-F876-7D11-8EC9-D6CE2261EB1A}"/>
              </a:ext>
            </a:extLst>
          </p:cNvPr>
          <p:cNvSpPr/>
          <p:nvPr/>
        </p:nvSpPr>
        <p:spPr>
          <a:xfrm>
            <a:off x="7007537" y="2292205"/>
            <a:ext cx="281883" cy="295633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流程图: 接点 25">
            <a:extLst>
              <a:ext uri="{FF2B5EF4-FFF2-40B4-BE49-F238E27FC236}">
                <a16:creationId xmlns:a16="http://schemas.microsoft.com/office/drawing/2014/main" id="{E95CB0F1-EACF-1451-02B7-222C12B4570D}"/>
              </a:ext>
            </a:extLst>
          </p:cNvPr>
          <p:cNvSpPr/>
          <p:nvPr/>
        </p:nvSpPr>
        <p:spPr>
          <a:xfrm>
            <a:off x="7007536" y="3133367"/>
            <a:ext cx="281883" cy="295633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流程图: 接点 26">
            <a:extLst>
              <a:ext uri="{FF2B5EF4-FFF2-40B4-BE49-F238E27FC236}">
                <a16:creationId xmlns:a16="http://schemas.microsoft.com/office/drawing/2014/main" id="{4AC326A5-18B4-7070-DA05-7F4C38B64EBC}"/>
              </a:ext>
            </a:extLst>
          </p:cNvPr>
          <p:cNvSpPr/>
          <p:nvPr/>
        </p:nvSpPr>
        <p:spPr>
          <a:xfrm>
            <a:off x="7007535" y="3974529"/>
            <a:ext cx="281883" cy="295633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流程图: 接点 27">
            <a:extLst>
              <a:ext uri="{FF2B5EF4-FFF2-40B4-BE49-F238E27FC236}">
                <a16:creationId xmlns:a16="http://schemas.microsoft.com/office/drawing/2014/main" id="{C2D10BD7-829B-458C-585A-81B233C66737}"/>
              </a:ext>
            </a:extLst>
          </p:cNvPr>
          <p:cNvSpPr/>
          <p:nvPr/>
        </p:nvSpPr>
        <p:spPr>
          <a:xfrm>
            <a:off x="7007535" y="4815691"/>
            <a:ext cx="281883" cy="295633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1E6F92BD-CC58-7853-9AE2-FBA4BCC926C1}"/>
              </a:ext>
            </a:extLst>
          </p:cNvPr>
          <p:cNvCxnSpPr>
            <a:cxnSpLocks/>
          </p:cNvCxnSpPr>
          <p:nvPr/>
        </p:nvCxnSpPr>
        <p:spPr>
          <a:xfrm flipH="1">
            <a:off x="7148475" y="3429000"/>
            <a:ext cx="1" cy="545529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54BE8D5C-3D53-5F2D-6EAA-4F14B75623AF}"/>
              </a:ext>
            </a:extLst>
          </p:cNvPr>
          <p:cNvCxnSpPr>
            <a:cxnSpLocks/>
          </p:cNvCxnSpPr>
          <p:nvPr/>
        </p:nvCxnSpPr>
        <p:spPr>
          <a:xfrm flipH="1">
            <a:off x="7148474" y="4270162"/>
            <a:ext cx="1" cy="545529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0E5BEA23-9AC2-264F-33B2-596E1649E27D}"/>
              </a:ext>
            </a:extLst>
          </p:cNvPr>
          <p:cNvCxnSpPr>
            <a:cxnSpLocks/>
          </p:cNvCxnSpPr>
          <p:nvPr/>
        </p:nvCxnSpPr>
        <p:spPr>
          <a:xfrm flipH="1">
            <a:off x="7148474" y="2587838"/>
            <a:ext cx="1" cy="545529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2835BD6-DE17-D906-D773-CAA922DAFB7B}"/>
              </a:ext>
            </a:extLst>
          </p:cNvPr>
          <p:cNvSpPr txBox="1"/>
          <p:nvPr/>
        </p:nvSpPr>
        <p:spPr>
          <a:xfrm>
            <a:off x="1462688" y="2186630"/>
            <a:ext cx="404261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0" i="0" dirty="0">
                <a:solidFill>
                  <a:srgbClr val="1A1A1A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初级开发工程师</a:t>
            </a:r>
          </a:p>
          <a:p>
            <a:pPr algn="l">
              <a:buNone/>
            </a:pPr>
            <a:r>
              <a:rPr lang="zh-CN" altLang="en-US" b="0" i="0" dirty="0">
                <a:solidFill>
                  <a:srgbClr val="4B5563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掌握基础编程技能，完成模块开发</a:t>
            </a:r>
            <a:endParaRPr lang="en-US" altLang="zh-CN" b="0" i="0" dirty="0">
              <a:solidFill>
                <a:srgbClr val="4B5563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>
              <a:buNone/>
            </a:pPr>
            <a:endParaRPr lang="zh-CN" altLang="en-US" b="0" i="0" dirty="0">
              <a:solidFill>
                <a:srgbClr val="4B5563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>
              <a:buNone/>
            </a:pPr>
            <a:r>
              <a:rPr lang="zh-CN" altLang="en-US" b="0" i="0" dirty="0">
                <a:solidFill>
                  <a:srgbClr val="1A1A1A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中级开发工程师</a:t>
            </a:r>
          </a:p>
          <a:p>
            <a:pPr algn="l">
              <a:buNone/>
            </a:pPr>
            <a:r>
              <a:rPr lang="zh-CN" altLang="en-US" b="0" i="0" dirty="0">
                <a:solidFill>
                  <a:srgbClr val="4B5563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具备系统设计能力，主导功能开发</a:t>
            </a:r>
            <a:endParaRPr lang="en-US" altLang="zh-CN" b="0" i="0" dirty="0">
              <a:solidFill>
                <a:srgbClr val="4B5563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>
              <a:buNone/>
            </a:pPr>
            <a:endParaRPr lang="zh-CN" altLang="en-US" b="0" i="0" dirty="0">
              <a:solidFill>
                <a:srgbClr val="4B5563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>
              <a:buNone/>
            </a:pPr>
            <a:r>
              <a:rPr lang="zh-CN" altLang="en-US" b="0" i="0" dirty="0">
                <a:solidFill>
                  <a:srgbClr val="1A1A1A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高级开发工程师</a:t>
            </a:r>
            <a:r>
              <a:rPr lang="en-US" altLang="zh-CN" b="0" i="0" dirty="0">
                <a:solidFill>
                  <a:srgbClr val="1A1A1A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b="0" i="0" dirty="0">
                <a:solidFill>
                  <a:srgbClr val="1A1A1A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架构师</a:t>
            </a:r>
          </a:p>
          <a:p>
            <a:pPr algn="l">
              <a:buNone/>
            </a:pPr>
            <a:r>
              <a:rPr lang="zh-CN" altLang="en-US" b="0" i="0" dirty="0">
                <a:solidFill>
                  <a:srgbClr val="4B5563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负责系统架构设计和技术选型</a:t>
            </a:r>
            <a:endParaRPr lang="en-US" altLang="zh-CN" b="0" i="0" dirty="0">
              <a:solidFill>
                <a:srgbClr val="4B5563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>
              <a:buNone/>
            </a:pPr>
            <a:endParaRPr lang="zh-CN" altLang="en-US" b="0" i="0" dirty="0">
              <a:solidFill>
                <a:srgbClr val="4B5563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>
              <a:buNone/>
            </a:pPr>
            <a:r>
              <a:rPr lang="zh-CN" altLang="en-US" b="0" i="0" dirty="0">
                <a:solidFill>
                  <a:srgbClr val="1A1A1A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技术总监</a:t>
            </a:r>
            <a:r>
              <a:rPr lang="en-US" altLang="zh-CN" b="0" i="0" dirty="0">
                <a:solidFill>
                  <a:srgbClr val="1A1A1A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/CTO</a:t>
            </a:r>
          </a:p>
          <a:p>
            <a:pPr algn="l">
              <a:buNone/>
            </a:pPr>
            <a:r>
              <a:rPr lang="zh-CN" altLang="en-US" b="0" i="0" dirty="0">
                <a:solidFill>
                  <a:srgbClr val="4B5563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全面负责技术战略和团队管理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3244E8C-A87A-5961-C466-37648EE1F645}"/>
              </a:ext>
            </a:extLst>
          </p:cNvPr>
          <p:cNvSpPr txBox="1"/>
          <p:nvPr/>
        </p:nvSpPr>
        <p:spPr>
          <a:xfrm>
            <a:off x="1039868" y="1758539"/>
            <a:ext cx="60948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2000" b="1" i="0" dirty="0">
                <a:solidFill>
                  <a:srgbClr val="2563EB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软件开发职业路径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A85B89F-0CE9-602B-EA2D-7F3014538B7D}"/>
              </a:ext>
            </a:extLst>
          </p:cNvPr>
          <p:cNvSpPr txBox="1"/>
          <p:nvPr/>
        </p:nvSpPr>
        <p:spPr>
          <a:xfrm>
            <a:off x="7148474" y="1758538"/>
            <a:ext cx="24355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2000" b="1" i="0" dirty="0">
                <a:solidFill>
                  <a:srgbClr val="16A34A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软件测试</a:t>
            </a:r>
            <a:r>
              <a:rPr lang="zh-CN" altLang="en-US" sz="2000" b="1" dirty="0">
                <a:solidFill>
                  <a:srgbClr val="16A34A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职业路径</a:t>
            </a:r>
            <a:endParaRPr lang="zh-CN" altLang="en-US" sz="2000" b="1" i="0" dirty="0">
              <a:solidFill>
                <a:srgbClr val="16A34A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F90F0DA-C88E-249D-FEE0-10612E74374E}"/>
              </a:ext>
            </a:extLst>
          </p:cNvPr>
          <p:cNvSpPr txBox="1"/>
          <p:nvPr/>
        </p:nvSpPr>
        <p:spPr>
          <a:xfrm>
            <a:off x="7430355" y="2186630"/>
            <a:ext cx="427121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0" i="0" dirty="0">
                <a:solidFill>
                  <a:srgbClr val="1A1A1A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测试工程师</a:t>
            </a:r>
          </a:p>
          <a:p>
            <a:pPr algn="l">
              <a:buNone/>
            </a:pPr>
            <a:r>
              <a:rPr lang="zh-CN" altLang="en-US" b="0" i="0" dirty="0">
                <a:solidFill>
                  <a:srgbClr val="4B5563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执行测试用例，发现和记录缺陷</a:t>
            </a:r>
            <a:endParaRPr lang="en-US" altLang="zh-CN" dirty="0">
              <a:solidFill>
                <a:srgbClr val="4B5563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>
              <a:buNone/>
            </a:pPr>
            <a:endParaRPr lang="zh-CN" altLang="en-US" b="0" i="0" dirty="0">
              <a:solidFill>
                <a:srgbClr val="4B5563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>
              <a:buNone/>
            </a:pPr>
            <a:r>
              <a:rPr lang="zh-CN" altLang="en-US" b="0" i="0" dirty="0">
                <a:solidFill>
                  <a:srgbClr val="1A1A1A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测试开发工程师</a:t>
            </a:r>
          </a:p>
          <a:p>
            <a:pPr algn="l">
              <a:buNone/>
            </a:pPr>
            <a:r>
              <a:rPr lang="zh-CN" altLang="en-US" b="0" i="0" dirty="0">
                <a:solidFill>
                  <a:srgbClr val="4B5563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编写自动化测试脚本，提升测试效率</a:t>
            </a:r>
            <a:endParaRPr lang="en-US" altLang="zh-CN" b="0" i="0" dirty="0">
              <a:solidFill>
                <a:srgbClr val="4B5563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>
              <a:buNone/>
            </a:pPr>
            <a:endParaRPr lang="zh-CN" altLang="en-US" b="0" i="0" dirty="0">
              <a:solidFill>
                <a:srgbClr val="4B5563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>
              <a:buNone/>
            </a:pPr>
            <a:r>
              <a:rPr lang="zh-CN" altLang="en-US" b="0" i="0" dirty="0">
                <a:solidFill>
                  <a:srgbClr val="1A1A1A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测试架构师</a:t>
            </a:r>
          </a:p>
          <a:p>
            <a:pPr algn="l">
              <a:buNone/>
            </a:pPr>
            <a:r>
              <a:rPr lang="zh-CN" altLang="en-US" b="0" i="0" dirty="0">
                <a:solidFill>
                  <a:srgbClr val="4B5563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设计测试框架，制定测试策略</a:t>
            </a:r>
            <a:endParaRPr lang="en-US" altLang="zh-CN" b="0" i="0" dirty="0">
              <a:solidFill>
                <a:srgbClr val="4B5563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>
              <a:buNone/>
            </a:pPr>
            <a:endParaRPr lang="zh-CN" altLang="en-US" b="0" i="0" dirty="0">
              <a:solidFill>
                <a:srgbClr val="4B5563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>
              <a:buNone/>
            </a:pPr>
            <a:r>
              <a:rPr lang="zh-CN" altLang="en-US" b="0" i="0" dirty="0">
                <a:solidFill>
                  <a:srgbClr val="1A1A1A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测试经理</a:t>
            </a:r>
            <a:r>
              <a:rPr lang="en-US" altLang="zh-CN" b="0" i="0" dirty="0">
                <a:solidFill>
                  <a:srgbClr val="1A1A1A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b="0" i="0" dirty="0">
                <a:solidFill>
                  <a:srgbClr val="1A1A1A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质量保障负责人</a:t>
            </a:r>
          </a:p>
          <a:p>
            <a:pPr algn="l">
              <a:buNone/>
            </a:pPr>
            <a:r>
              <a:rPr lang="zh-CN" altLang="en-US" b="0" i="0" dirty="0">
                <a:solidFill>
                  <a:srgbClr val="4B5563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管理测试团队，确保产品质量</a:t>
            </a:r>
          </a:p>
        </p:txBody>
      </p:sp>
    </p:spTree>
    <p:extLst>
      <p:ext uri="{BB962C8B-B14F-4D97-AF65-F5344CB8AC3E}">
        <p14:creationId xmlns:p14="http://schemas.microsoft.com/office/powerpoint/2010/main" val="3731202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7F6068B-006D-989D-4439-9EEB30262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0" y="1309950"/>
            <a:ext cx="6476190" cy="423809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3096C6B-6952-8F42-50BF-4C2A8BCBC919}"/>
              </a:ext>
            </a:extLst>
          </p:cNvPr>
          <p:cNvSpPr txBox="1"/>
          <p:nvPr/>
        </p:nvSpPr>
        <p:spPr>
          <a:xfrm>
            <a:off x="7315201" y="1890114"/>
            <a:ext cx="4819506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1" i="0" dirty="0">
                <a:solidFill>
                  <a:schemeClr val="accent5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技术栈深度</a:t>
            </a:r>
          </a:p>
          <a:p>
            <a:pPr algn="l">
              <a:spcBef>
                <a:spcPts val="1200"/>
              </a:spcBef>
              <a:buNone/>
            </a:pPr>
            <a:r>
              <a:rPr lang="zh-CN" altLang="en-US" b="0" i="0" dirty="0">
                <a:solidFill>
                  <a:schemeClr val="accent5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   开发岗位薪资随技术深度增加而显著提高</a:t>
            </a:r>
            <a:endParaRPr lang="en-US" altLang="zh-CN" b="0" i="0" dirty="0">
              <a:solidFill>
                <a:schemeClr val="accent5">
                  <a:lumMod val="75000"/>
                </a:schemeClr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>
              <a:buNone/>
            </a:pPr>
            <a:endParaRPr lang="zh-CN" altLang="en-US" b="0" i="0" dirty="0">
              <a:solidFill>
                <a:srgbClr val="4B5563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>
              <a:spcBef>
                <a:spcPts val="1200"/>
              </a:spcBef>
              <a:buNone/>
            </a:pPr>
            <a:r>
              <a:rPr lang="zh-CN" altLang="en-US" b="1" i="0" dirty="0">
                <a:solidFill>
                  <a:schemeClr val="accent6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自动化测试能力</a:t>
            </a:r>
          </a:p>
          <a:p>
            <a:pPr algn="l">
              <a:spcBef>
                <a:spcPts val="1200"/>
              </a:spcBef>
              <a:buNone/>
            </a:pPr>
            <a:r>
              <a:rPr lang="zh-CN" altLang="en-US" b="0" i="0" dirty="0">
                <a:solidFill>
                  <a:schemeClr val="accent6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   测试岗位向测试开发转型后薪资大幅提升</a:t>
            </a:r>
          </a:p>
          <a:p>
            <a:pPr algn="l">
              <a:spcBef>
                <a:spcPts val="1200"/>
              </a:spcBef>
              <a:buNone/>
            </a:pPr>
            <a:endParaRPr lang="en-US" altLang="zh-CN" b="0" i="0" dirty="0">
              <a:solidFill>
                <a:srgbClr val="1A1A1A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>
              <a:spcBef>
                <a:spcPts val="1200"/>
              </a:spcBef>
              <a:buNone/>
            </a:pPr>
            <a:r>
              <a:rPr lang="zh-CN" altLang="en-US" b="1" i="0" dirty="0">
                <a:solidFill>
                  <a:srgbClr val="7030A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项目经验</a:t>
            </a:r>
          </a:p>
          <a:p>
            <a:pPr algn="l">
              <a:spcBef>
                <a:spcPts val="1200"/>
              </a:spcBef>
              <a:buNone/>
            </a:pPr>
            <a:r>
              <a:rPr lang="zh-CN" altLang="en-US" b="0" i="0" dirty="0">
                <a:solidFill>
                  <a:srgbClr val="4B5563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b="0" i="0" dirty="0">
                <a:solidFill>
                  <a:srgbClr val="7030A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实际项目经验对两个岗位都有显著价值</a:t>
            </a:r>
          </a:p>
        </p:txBody>
      </p:sp>
    </p:spTree>
    <p:extLst>
      <p:ext uri="{BB962C8B-B14F-4D97-AF65-F5344CB8AC3E}">
        <p14:creationId xmlns:p14="http://schemas.microsoft.com/office/powerpoint/2010/main" val="1989507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B16B-FE91-6178-6A34-A03B5E44F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5685B0C-E78D-8A17-DFE5-D672DC802FDB}"/>
              </a:ext>
            </a:extLst>
          </p:cNvPr>
          <p:cNvSpPr txBox="1"/>
          <p:nvPr/>
        </p:nvSpPr>
        <p:spPr>
          <a:xfrm>
            <a:off x="1424882" y="1868733"/>
            <a:ext cx="4494654" cy="2735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2000" b="1" i="0" dirty="0">
                <a:solidFill>
                  <a:srgbClr val="2563EB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适合选择软件开发的情况</a:t>
            </a:r>
            <a:endParaRPr lang="en-US" altLang="zh-CN" sz="2000" b="1" i="0" dirty="0">
              <a:solidFill>
                <a:srgbClr val="2563EB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>
              <a:buNone/>
            </a:pPr>
            <a:endParaRPr lang="zh-CN" altLang="en-US" b="1" i="0" dirty="0">
              <a:solidFill>
                <a:srgbClr val="2563EB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>
              <a:lnSpc>
                <a:spcPct val="15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D1D1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追求技术深度和高薪</a:t>
            </a:r>
          </a:p>
          <a:p>
            <a:pPr algn="l">
              <a:lnSpc>
                <a:spcPct val="15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D1D1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有编程基础和兴趣</a:t>
            </a:r>
          </a:p>
          <a:p>
            <a:pPr algn="l">
              <a:lnSpc>
                <a:spcPct val="15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D1D1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愿意长期投入学习新技术</a:t>
            </a:r>
          </a:p>
          <a:p>
            <a:pPr algn="l">
              <a:lnSpc>
                <a:spcPct val="15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D1D1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适合技术驱动型人才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00AA1C6-BF55-CDAD-02BB-00DC23611BE4}"/>
              </a:ext>
            </a:extLst>
          </p:cNvPr>
          <p:cNvSpPr txBox="1"/>
          <p:nvPr/>
        </p:nvSpPr>
        <p:spPr>
          <a:xfrm>
            <a:off x="7255042" y="1776400"/>
            <a:ext cx="3889637" cy="2889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zh-CN" altLang="en-US" sz="2000" b="1" i="0" dirty="0">
                <a:solidFill>
                  <a:srgbClr val="16A34A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适合选择软件测试的情况</a:t>
            </a:r>
            <a:endParaRPr lang="en-US" altLang="zh-CN" sz="2000" b="1" i="0" dirty="0">
              <a:solidFill>
                <a:srgbClr val="16A34A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>
              <a:buNone/>
            </a:pPr>
            <a:endParaRPr lang="zh-CN" altLang="en-US" b="1" i="0" dirty="0">
              <a:solidFill>
                <a:srgbClr val="16A34A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>
              <a:lnSpc>
                <a:spcPct val="15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D1D1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希望快速就业，降低入门门槛</a:t>
            </a:r>
          </a:p>
          <a:p>
            <a:pPr algn="l">
              <a:lnSpc>
                <a:spcPct val="15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D1D1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想跨领域发展，积累经验</a:t>
            </a:r>
          </a:p>
          <a:p>
            <a:pPr algn="l">
              <a:lnSpc>
                <a:spcPct val="15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D1D1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对编程要求相对较低</a:t>
            </a:r>
          </a:p>
          <a:p>
            <a:pPr algn="l">
              <a:lnSpc>
                <a:spcPct val="15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D1D1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适合技术</a:t>
            </a:r>
            <a:r>
              <a:rPr lang="en-US" altLang="zh-CN" b="0" i="0" dirty="0">
                <a:solidFill>
                  <a:srgbClr val="1D1D1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b="0" i="0" dirty="0">
                <a:solidFill>
                  <a:srgbClr val="1D1D1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测试复合型人才</a:t>
            </a:r>
          </a:p>
        </p:txBody>
      </p:sp>
    </p:spTree>
    <p:extLst>
      <p:ext uri="{BB962C8B-B14F-4D97-AF65-F5344CB8AC3E}">
        <p14:creationId xmlns:p14="http://schemas.microsoft.com/office/powerpoint/2010/main" val="1280590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464</Words>
  <Application>Microsoft Office PowerPoint</Application>
  <PresentationFormat>宽屏</PresentationFormat>
  <Paragraphs>116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楷体</vt:lpstr>
      <vt:lpstr>Arial</vt:lpstr>
      <vt:lpstr>Times New Roman</vt:lpstr>
      <vt:lpstr>等线</vt:lpstr>
      <vt:lpstr>等线 Light</vt:lpstr>
      <vt:lpstr>微软雅黑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磊 饶</dc:creator>
  <cp:lastModifiedBy>磊 饶</cp:lastModifiedBy>
  <cp:revision>1</cp:revision>
  <dcterms:created xsi:type="dcterms:W3CDTF">2025-08-30T14:40:10Z</dcterms:created>
  <dcterms:modified xsi:type="dcterms:W3CDTF">2025-08-30T16:49:12Z</dcterms:modified>
</cp:coreProperties>
</file>