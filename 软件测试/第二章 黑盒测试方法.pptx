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vsd" ContentType="application/vnd.visi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tags/tag8.xml" ContentType="application/vnd.openxmlformats-officedocument.presentationml.tags+xml"/>
  <Override PartName="/ppt/notesSlides/notesSlide14.xml" ContentType="application/vnd.openxmlformats-officedocument.presentationml.notesSlide+xml"/>
  <Override PartName="/ppt/tags/tag9.xml" ContentType="application/vnd.openxmlformats-officedocument.presentationml.tags+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tags/tag10.xml" ContentType="application/vnd.openxmlformats-officedocument.presentationml.tags+xml"/>
  <Override PartName="/ppt/notesSlides/notesSlide20.xml" ContentType="application/vnd.openxmlformats-officedocument.presentationml.notesSlide+xml"/>
  <Override PartName="/ppt/tags/tag11.xml" ContentType="application/vnd.openxmlformats-officedocument.presentationml.tags+xml"/>
  <Override PartName="/ppt/notesSlides/notesSlide21.xml" ContentType="application/vnd.openxmlformats-officedocument.presentationml.notesSlide+xml"/>
  <Override PartName="/ppt/tags/tag12.xml" ContentType="application/vnd.openxmlformats-officedocument.presentationml.tags+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tags/tag13.xml" ContentType="application/vnd.openxmlformats-officedocument.presentationml.tags+xml"/>
  <Override PartName="/ppt/notesSlides/notesSlide26.xml" ContentType="application/vnd.openxmlformats-officedocument.presentationml.notesSlide+xml"/>
  <Override PartName="/ppt/tags/tag14.xml" ContentType="application/vnd.openxmlformats-officedocument.presentationml.tags+xml"/>
  <Override PartName="/ppt/notesSlides/notesSlide27.xml" ContentType="application/vnd.openxmlformats-officedocument.presentationml.notesSlide+xml"/>
  <Override PartName="/ppt/tags/tag15.xml" ContentType="application/vnd.openxmlformats-officedocument.presentationml.tags+xml"/>
  <Override PartName="/ppt/notesSlides/notesSlide28.xml" ContentType="application/vnd.openxmlformats-officedocument.presentationml.notesSlide+xml"/>
  <Override PartName="/ppt/tags/tag16.xml" ContentType="application/vnd.openxmlformats-officedocument.presentationml.tags+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tags/tag17.xml" ContentType="application/vnd.openxmlformats-officedocument.presentationml.tags+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tags/tag18.xml" ContentType="application/vnd.openxmlformats-officedocument.presentationml.tags+xml"/>
  <Override PartName="/ppt/notesSlides/notesSlide38.xml" ContentType="application/vnd.openxmlformats-officedocument.presentationml.notesSlide+xml"/>
  <Override PartName="/ppt/tags/tag19.xml" ContentType="application/vnd.openxmlformats-officedocument.presentationml.tags+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tags/tag20.xml" ContentType="application/vnd.openxmlformats-officedocument.presentationml.tags+xml"/>
  <Override PartName="/ppt/notesSlides/notesSlide41.xml" ContentType="application/vnd.openxmlformats-officedocument.presentationml.notesSlide+xml"/>
  <Override PartName="/ppt/tags/tag21.xml" ContentType="application/vnd.openxmlformats-officedocument.presentationml.tags+xml"/>
  <Override PartName="/ppt/notesSlides/notesSlide42.xml" ContentType="application/vnd.openxmlformats-officedocument.presentationml.notesSlide+xml"/>
  <Override PartName="/ppt/tags/tag22.xml" ContentType="application/vnd.openxmlformats-officedocument.presentationml.tags+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tags/tag23.xml" ContentType="application/vnd.openxmlformats-officedocument.presentationml.tags+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tags/tag24.xml" ContentType="application/vnd.openxmlformats-officedocument.presentationml.tags+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tags/tag25.xml" ContentType="application/vnd.openxmlformats-officedocument.presentationml.tags+xml"/>
  <Override PartName="/ppt/notesSlides/notesSlide63.xml" ContentType="application/vnd.openxmlformats-officedocument.presentationml.notesSlide+xml"/>
  <Override PartName="/ppt/tags/tag26.xml" ContentType="application/vnd.openxmlformats-officedocument.presentationml.tags+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tags/tag27.xml" ContentType="application/vnd.openxmlformats-officedocument.presentationml.tags+xml"/>
  <Override PartName="/ppt/notesSlides/notesSlide67.xml" ContentType="application/vnd.openxmlformats-officedocument.presentationml.notesSlide+xml"/>
  <Override PartName="/ppt/tags/tag28.xml" ContentType="application/vnd.openxmlformats-officedocument.presentationml.tags+xml"/>
  <Override PartName="/ppt/notesSlides/notesSlide68.xml" ContentType="application/vnd.openxmlformats-officedocument.presentationml.notesSlide+xml"/>
  <Override PartName="/ppt/tags/tag29.xml" ContentType="application/vnd.openxmlformats-officedocument.presentationml.tags+xml"/>
  <Override PartName="/ppt/notesSlides/notesSlide69.xml" ContentType="application/vnd.openxmlformats-officedocument.presentationml.notesSlide+xml"/>
  <Override PartName="/ppt/tags/tag30.xml" ContentType="application/vnd.openxmlformats-officedocument.presentationml.tags+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tags/tag31.xml" ContentType="application/vnd.openxmlformats-officedocument.presentationml.tags+xml"/>
  <Override PartName="/ppt/notesSlides/notesSlide72.xml" ContentType="application/vnd.openxmlformats-officedocument.presentationml.notesSlide+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tags/tag35.xml" ContentType="application/vnd.openxmlformats-officedocument.presentationml.tags+xml"/>
  <Override PartName="/ppt/notesSlides/notesSlide75.xml" ContentType="application/vnd.openxmlformats-officedocument.presentationml.notesSlide+xml"/>
  <Override PartName="/ppt/tags/tag36.xml" ContentType="application/vnd.openxmlformats-officedocument.presentationml.tags+xml"/>
  <Override PartName="/ppt/tags/tag37.xml" ContentType="application/vnd.openxmlformats-officedocument.presentationml.tags+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notesSlides/notesSlide81.xml" ContentType="application/vnd.openxmlformats-officedocument.presentationml.notesSlide+xml"/>
  <Override PartName="/ppt/tags/tag53.xml" ContentType="application/vnd.openxmlformats-officedocument.presentationml.tags+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tags/tag54.xml" ContentType="application/vnd.openxmlformats-officedocument.presentationml.tags+xml"/>
  <Override PartName="/ppt/tags/tag55.xml" ContentType="application/vnd.openxmlformats-officedocument.presentationml.tags+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tags/tag56.xml" ContentType="application/vnd.openxmlformats-officedocument.presentationml.tags+xml"/>
  <Override PartName="/ppt/notesSlides/notesSlide87.xml" ContentType="application/vnd.openxmlformats-officedocument.presentationml.notesSlide+xml"/>
  <Override PartName="/ppt/tags/tag57.xml" ContentType="application/vnd.openxmlformats-officedocument.presentationml.tags+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tags/tag58.xml" ContentType="application/vnd.openxmlformats-officedocument.presentationml.tags+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tags/tag59.xml" ContentType="application/vnd.openxmlformats-officedocument.presentationml.tags+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tags/tag60.xml" ContentType="application/vnd.openxmlformats-officedocument.presentationml.tags+xml"/>
  <Override PartName="/ppt/notesSlides/notesSlide109.xml" ContentType="application/vnd.openxmlformats-officedocument.presentationml.notesSlide+xml"/>
  <Override PartName="/ppt/tags/tag61.xml" ContentType="application/vnd.openxmlformats-officedocument.presentationml.tags+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tags/tag62.xml" ContentType="application/vnd.openxmlformats-officedocument.presentationml.tags+xml"/>
  <Override PartName="/ppt/notesSlides/notesSlide119.xml" ContentType="application/vnd.openxmlformats-officedocument.presentationml.notesSlide+xml"/>
  <Override PartName="/ppt/tags/tag63.xml" ContentType="application/vnd.openxmlformats-officedocument.presentationml.tags+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tags/tag64.xml" ContentType="application/vnd.openxmlformats-officedocument.presentationml.tags+xml"/>
  <Override PartName="/ppt/notesSlides/notesSlide122.xml" ContentType="application/vnd.openxmlformats-officedocument.presentationml.notesSlide+xml"/>
  <Override PartName="/ppt/tags/tag65.xml" ContentType="application/vnd.openxmlformats-officedocument.presentationml.tags+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tags/tag66.xml" ContentType="application/vnd.openxmlformats-officedocument.presentationml.tags+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tags/tag67.xml" ContentType="application/vnd.openxmlformats-officedocument.presentationml.tags+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51"/>
  </p:notesMasterIdLst>
  <p:handoutMasterIdLst>
    <p:handoutMasterId r:id="rId152"/>
  </p:handoutMasterIdLst>
  <p:sldIdLst>
    <p:sldId id="1171" r:id="rId2"/>
    <p:sldId id="1174" r:id="rId3"/>
    <p:sldId id="1313" r:id="rId4"/>
    <p:sldId id="1314" r:id="rId5"/>
    <p:sldId id="1315" r:id="rId6"/>
    <p:sldId id="1316" r:id="rId7"/>
    <p:sldId id="1317" r:id="rId8"/>
    <p:sldId id="1177" r:id="rId9"/>
    <p:sldId id="1178" r:id="rId10"/>
    <p:sldId id="1179" r:id="rId11"/>
    <p:sldId id="1318" r:id="rId12"/>
    <p:sldId id="1309" r:id="rId13"/>
    <p:sldId id="1310" r:id="rId14"/>
    <p:sldId id="1319" r:id="rId15"/>
    <p:sldId id="1320" r:id="rId16"/>
    <p:sldId id="1321" r:id="rId17"/>
    <p:sldId id="1311" r:id="rId18"/>
    <p:sldId id="1312" r:id="rId19"/>
    <p:sldId id="1184" r:id="rId20"/>
    <p:sldId id="1185" r:id="rId21"/>
    <p:sldId id="1186" r:id="rId22"/>
    <p:sldId id="1187" r:id="rId23"/>
    <p:sldId id="1188" r:id="rId24"/>
    <p:sldId id="1189" r:id="rId25"/>
    <p:sldId id="1190" r:id="rId26"/>
    <p:sldId id="1191" r:id="rId27"/>
    <p:sldId id="1192" r:id="rId28"/>
    <p:sldId id="1193" r:id="rId29"/>
    <p:sldId id="1194" r:id="rId30"/>
    <p:sldId id="1195" r:id="rId31"/>
    <p:sldId id="1196" r:id="rId32"/>
    <p:sldId id="1197" r:id="rId33"/>
    <p:sldId id="1198" r:id="rId34"/>
    <p:sldId id="1199" r:id="rId35"/>
    <p:sldId id="1200" r:id="rId36"/>
    <p:sldId id="1201" r:id="rId37"/>
    <p:sldId id="1202" r:id="rId38"/>
    <p:sldId id="1203" r:id="rId39"/>
    <p:sldId id="1204" r:id="rId40"/>
    <p:sldId id="1205" r:id="rId41"/>
    <p:sldId id="1206" r:id="rId42"/>
    <p:sldId id="1322" r:id="rId43"/>
    <p:sldId id="1207" r:id="rId44"/>
    <p:sldId id="1323" r:id="rId45"/>
    <p:sldId id="1209" r:id="rId46"/>
    <p:sldId id="1210" r:id="rId47"/>
    <p:sldId id="1212" r:id="rId48"/>
    <p:sldId id="1214" r:id="rId49"/>
    <p:sldId id="1215" r:id="rId50"/>
    <p:sldId id="1216" r:id="rId51"/>
    <p:sldId id="1217" r:id="rId52"/>
    <p:sldId id="1218" r:id="rId53"/>
    <p:sldId id="1219" r:id="rId54"/>
    <p:sldId id="1220" r:id="rId55"/>
    <p:sldId id="1221" r:id="rId56"/>
    <p:sldId id="1222" r:id="rId57"/>
    <p:sldId id="1223" r:id="rId58"/>
    <p:sldId id="1224" r:id="rId59"/>
    <p:sldId id="1225" r:id="rId60"/>
    <p:sldId id="1226" r:id="rId61"/>
    <p:sldId id="1227" r:id="rId62"/>
    <p:sldId id="1228" r:id="rId63"/>
    <p:sldId id="1229" r:id="rId64"/>
    <p:sldId id="1230" r:id="rId65"/>
    <p:sldId id="1231" r:id="rId66"/>
    <p:sldId id="1232" r:id="rId67"/>
    <p:sldId id="1233" r:id="rId68"/>
    <p:sldId id="1324" r:id="rId69"/>
    <p:sldId id="1325" r:id="rId70"/>
    <p:sldId id="1326" r:id="rId71"/>
    <p:sldId id="1327" r:id="rId72"/>
    <p:sldId id="1328" r:id="rId73"/>
    <p:sldId id="1234" r:id="rId74"/>
    <p:sldId id="1235" r:id="rId75"/>
    <p:sldId id="1236" r:id="rId76"/>
    <p:sldId id="1237" r:id="rId77"/>
    <p:sldId id="1238" r:id="rId78"/>
    <p:sldId id="1239" r:id="rId79"/>
    <p:sldId id="1240" r:id="rId80"/>
    <p:sldId id="1241" r:id="rId81"/>
    <p:sldId id="1242" r:id="rId82"/>
    <p:sldId id="1243" r:id="rId83"/>
    <p:sldId id="1244" r:id="rId84"/>
    <p:sldId id="1245" r:id="rId85"/>
    <p:sldId id="1246" r:id="rId86"/>
    <p:sldId id="1247" r:id="rId87"/>
    <p:sldId id="1248" r:id="rId88"/>
    <p:sldId id="1249" r:id="rId89"/>
    <p:sldId id="1329" r:id="rId90"/>
    <p:sldId id="1330" r:id="rId91"/>
    <p:sldId id="1250" r:id="rId92"/>
    <p:sldId id="1251" r:id="rId93"/>
    <p:sldId id="1252" r:id="rId94"/>
    <p:sldId id="1253" r:id="rId95"/>
    <p:sldId id="1254" r:id="rId96"/>
    <p:sldId id="1255" r:id="rId97"/>
    <p:sldId id="1256" r:id="rId98"/>
    <p:sldId id="1257" r:id="rId99"/>
    <p:sldId id="1258" r:id="rId100"/>
    <p:sldId id="1259" r:id="rId101"/>
    <p:sldId id="1260" r:id="rId102"/>
    <p:sldId id="1261" r:id="rId103"/>
    <p:sldId id="1262" r:id="rId104"/>
    <p:sldId id="1263" r:id="rId105"/>
    <p:sldId id="1264" r:id="rId106"/>
    <p:sldId id="1265" r:id="rId107"/>
    <p:sldId id="1266" r:id="rId108"/>
    <p:sldId id="1267" r:id="rId109"/>
    <p:sldId id="1268" r:id="rId110"/>
    <p:sldId id="1269" r:id="rId111"/>
    <p:sldId id="1270" r:id="rId112"/>
    <p:sldId id="1271" r:id="rId113"/>
    <p:sldId id="1272" r:id="rId114"/>
    <p:sldId id="1273" r:id="rId115"/>
    <p:sldId id="1274" r:id="rId116"/>
    <p:sldId id="1275" r:id="rId117"/>
    <p:sldId id="1276" r:id="rId118"/>
    <p:sldId id="1277" r:id="rId119"/>
    <p:sldId id="1278" r:id="rId120"/>
    <p:sldId id="1279" r:id="rId121"/>
    <p:sldId id="1280" r:id="rId122"/>
    <p:sldId id="1281" r:id="rId123"/>
    <p:sldId id="1282" r:id="rId124"/>
    <p:sldId id="1283" r:id="rId125"/>
    <p:sldId id="1284" r:id="rId126"/>
    <p:sldId id="1285" r:id="rId127"/>
    <p:sldId id="1286" r:id="rId128"/>
    <p:sldId id="1287" r:id="rId129"/>
    <p:sldId id="1288" r:id="rId130"/>
    <p:sldId id="1289" r:id="rId131"/>
    <p:sldId id="1290" r:id="rId132"/>
    <p:sldId id="1291" r:id="rId133"/>
    <p:sldId id="1292" r:id="rId134"/>
    <p:sldId id="1293" r:id="rId135"/>
    <p:sldId id="1294" r:id="rId136"/>
    <p:sldId id="1295" r:id="rId137"/>
    <p:sldId id="1296" r:id="rId138"/>
    <p:sldId id="1297" r:id="rId139"/>
    <p:sldId id="1298" r:id="rId140"/>
    <p:sldId id="1299" r:id="rId141"/>
    <p:sldId id="1300" r:id="rId142"/>
    <p:sldId id="1301" r:id="rId143"/>
    <p:sldId id="1302" r:id="rId144"/>
    <p:sldId id="1303" r:id="rId145"/>
    <p:sldId id="1304" r:id="rId146"/>
    <p:sldId id="1305" r:id="rId147"/>
    <p:sldId id="1306" r:id="rId148"/>
    <p:sldId id="1307" r:id="rId149"/>
    <p:sldId id="1308" r:id="rId150"/>
  </p:sldIdLst>
  <p:sldSz cx="12190413" cy="6859588"/>
  <p:notesSz cx="6858000" cy="9144000"/>
  <p:custDataLst>
    <p:tags r:id="rId153"/>
  </p:custDataLst>
  <p:defaultTex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74" userDrawn="1">
          <p15:clr>
            <a:srgbClr val="A4A3A4"/>
          </p15:clr>
        </p15:guide>
        <p15:guide id="2" pos="619" userDrawn="1">
          <p15:clr>
            <a:srgbClr val="A4A3A4"/>
          </p15:clr>
        </p15:guide>
        <p15:guide id="3" pos="7252" userDrawn="1">
          <p15:clr>
            <a:srgbClr val="A4A3A4"/>
          </p15:clr>
        </p15:guide>
      </p15:sldGuideLst>
    </p:ext>
    <p:ext uri="{2D200454-40CA-4A62-9FC3-DE9A4176ACB9}">
      <p15:notesGuideLst xmlns:p15="http://schemas.microsoft.com/office/powerpoint/2012/main">
        <p15:guide id="1" orient="horz" pos="3031">
          <p15:clr>
            <a:srgbClr val="A4A3A4"/>
          </p15:clr>
        </p15:guide>
        <p15:guide id="2" pos="2216">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孟方思" initials="mfs" lastIdx="1" clrIdx="0"/>
  <p:cmAuthor id="2" name="LD" initials="L" lastIdx="2" clrIdx="1"/>
  <p:cmAuthor id="3" name="Lv0593" initials="L" lastIdx="15" clrIdx="2"/>
  <p:cmAuthor id="4" name="Administrator" initials="A" lastIdx="1"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5CC"/>
    <a:srgbClr val="005DA2"/>
    <a:srgbClr val="008DF6"/>
    <a:srgbClr val="595959"/>
    <a:srgbClr val="1369B2"/>
    <a:srgbClr val="FF0000"/>
    <a:srgbClr val="FAFAFA"/>
    <a:srgbClr val="F2F2F2"/>
    <a:srgbClr val="006BBC"/>
    <a:srgbClr val="F5F5F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42" autoAdjust="0"/>
    <p:restoredTop sz="95026" autoAdjust="0"/>
  </p:normalViewPr>
  <p:slideViewPr>
    <p:cSldViewPr showGuides="1">
      <p:cViewPr varScale="1">
        <p:scale>
          <a:sx n="82" d="100"/>
          <a:sy n="82" d="100"/>
        </p:scale>
        <p:origin x="691" y="72"/>
      </p:cViewPr>
      <p:guideLst>
        <p:guide orient="horz" pos="2274"/>
        <p:guide pos="619"/>
        <p:guide pos="7252"/>
      </p:guideLst>
    </p:cSldViewPr>
  </p:slideViewPr>
  <p:outlineViewPr>
    <p:cViewPr>
      <p:scale>
        <a:sx n="33" d="100"/>
        <a:sy n="33" d="100"/>
      </p:scale>
      <p:origin x="0" y="0"/>
    </p:cViewPr>
  </p:outlineViewPr>
  <p:notesTextViewPr>
    <p:cViewPr>
      <p:scale>
        <a:sx n="100" d="100"/>
        <a:sy n="100" d="100"/>
      </p:scale>
      <p:origin x="0" y="0"/>
    </p:cViewPr>
  </p:notesTextViewPr>
  <p:notesViewPr>
    <p:cSldViewPr>
      <p:cViewPr varScale="1">
        <p:scale>
          <a:sx n="87" d="100"/>
          <a:sy n="87" d="100"/>
        </p:scale>
        <p:origin x="3840" y="96"/>
      </p:cViewPr>
      <p:guideLst>
        <p:guide orient="horz" pos="3031"/>
        <p:guide pos="2216"/>
      </p:guideLst>
    </p:cSldViewPr>
  </p:notesViewPr>
  <p:gridSpacing cx="72000" cy="720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38" Type="http://schemas.openxmlformats.org/officeDocument/2006/relationships/slide" Target="slides/slide137.xml"/><Relationship Id="rId154" Type="http://schemas.openxmlformats.org/officeDocument/2006/relationships/commentAuthors" Target="commentAuthors.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144" Type="http://schemas.openxmlformats.org/officeDocument/2006/relationships/slide" Target="slides/slide143.xml"/><Relationship Id="rId149" Type="http://schemas.openxmlformats.org/officeDocument/2006/relationships/slide" Target="slides/slide14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slide" Target="slides/slide149.xml"/><Relationship Id="rId155" Type="http://schemas.openxmlformats.org/officeDocument/2006/relationships/presProps" Target="presProps.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32" Type="http://schemas.openxmlformats.org/officeDocument/2006/relationships/slide" Target="slides/slide131.xml"/><Relationship Id="rId140" Type="http://schemas.openxmlformats.org/officeDocument/2006/relationships/slide" Target="slides/slide139.xml"/><Relationship Id="rId145" Type="http://schemas.openxmlformats.org/officeDocument/2006/relationships/slide" Target="slides/slide144.xml"/><Relationship Id="rId153"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30" Type="http://schemas.openxmlformats.org/officeDocument/2006/relationships/slide" Target="slides/slide129.xml"/><Relationship Id="rId135" Type="http://schemas.openxmlformats.org/officeDocument/2006/relationships/slide" Target="slides/slide134.xml"/><Relationship Id="rId143" Type="http://schemas.openxmlformats.org/officeDocument/2006/relationships/slide" Target="slides/slide142.xml"/><Relationship Id="rId148" Type="http://schemas.openxmlformats.org/officeDocument/2006/relationships/slide" Target="slides/slide147.xml"/><Relationship Id="rId151" Type="http://schemas.openxmlformats.org/officeDocument/2006/relationships/notesMaster" Target="notesMasters/notesMaster1.xml"/><Relationship Id="rId156"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theme" Target="theme/theme1.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handoutMaster" Target="handoutMasters/handoutMaster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353A075-29DF-4CAE-8BA7-CDA0ED456C88}" type="datetimeFigureOut">
              <a:rPr lang="zh-CN" altLang="en-US" smtClean="0"/>
              <a:t>2025/12/12</a:t>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3E3924EE-29F1-4E68-A53A-86CBCBDF827A}"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A2B73EA-EE91-4E33-A9C1-8BF5DD7139A2}" type="datetimeFigureOut">
              <a:rPr lang="zh-CN" altLang="en-US" smtClean="0"/>
              <a:t>2025/12/12</a:t>
            </a:fld>
            <a:endParaRPr lang="zh-CN" altLang="en-US"/>
          </a:p>
        </p:txBody>
      </p:sp>
      <p:sp>
        <p:nvSpPr>
          <p:cNvPr id="4" name="幻灯片图像占位符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392B679-AE23-4750-8FB0-6513430B8953}"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1219200" rtl="0" eaLnBrk="1" latinLnBrk="0" hangingPunct="1">
      <a:defRPr sz="1600" kern="1200">
        <a:solidFill>
          <a:schemeClr val="tx1"/>
        </a:solidFill>
        <a:latin typeface="+mn-lt"/>
        <a:ea typeface="+mn-ea"/>
        <a:cs typeface="+mn-cs"/>
      </a:defRPr>
    </a:lvl1pPr>
    <a:lvl2pPr marL="609600" algn="l" defTabSz="1219200" rtl="0" eaLnBrk="1" latinLnBrk="0" hangingPunct="1">
      <a:defRPr sz="1600" kern="1200">
        <a:solidFill>
          <a:schemeClr val="tx1"/>
        </a:solidFill>
        <a:latin typeface="+mn-lt"/>
        <a:ea typeface="+mn-ea"/>
        <a:cs typeface="+mn-cs"/>
      </a:defRPr>
    </a:lvl2pPr>
    <a:lvl3pPr marL="1219200" algn="l" defTabSz="1219200" rtl="0" eaLnBrk="1" latinLnBrk="0" hangingPunct="1">
      <a:defRPr sz="1600" kern="1200">
        <a:solidFill>
          <a:schemeClr val="tx1"/>
        </a:solidFill>
        <a:latin typeface="+mn-lt"/>
        <a:ea typeface="+mn-ea"/>
        <a:cs typeface="+mn-cs"/>
      </a:defRPr>
    </a:lvl3pPr>
    <a:lvl4pPr marL="1828800" algn="l" defTabSz="1219200" rtl="0" eaLnBrk="1" latinLnBrk="0" hangingPunct="1">
      <a:defRPr sz="1600" kern="1200">
        <a:solidFill>
          <a:schemeClr val="tx1"/>
        </a:solidFill>
        <a:latin typeface="+mn-lt"/>
        <a:ea typeface="+mn-ea"/>
        <a:cs typeface="+mn-cs"/>
      </a:defRPr>
    </a:lvl4pPr>
    <a:lvl5pPr marL="2438400" algn="l" defTabSz="1219200" rtl="0" eaLnBrk="1" latinLnBrk="0" hangingPunct="1">
      <a:defRPr sz="1600" kern="1200">
        <a:solidFill>
          <a:schemeClr val="tx1"/>
        </a:solidFill>
        <a:latin typeface="+mn-lt"/>
        <a:ea typeface="+mn-ea"/>
        <a:cs typeface="+mn-cs"/>
      </a:defRPr>
    </a:lvl5pPr>
    <a:lvl6pPr marL="3048000" algn="l" defTabSz="1219200" rtl="0" eaLnBrk="1" latinLnBrk="0" hangingPunct="1">
      <a:defRPr sz="1600" kern="1200">
        <a:solidFill>
          <a:schemeClr val="tx1"/>
        </a:solidFill>
        <a:latin typeface="+mn-lt"/>
        <a:ea typeface="+mn-ea"/>
        <a:cs typeface="+mn-cs"/>
      </a:defRPr>
    </a:lvl6pPr>
    <a:lvl7pPr marL="3657600" algn="l" defTabSz="1219200" rtl="0" eaLnBrk="1" latinLnBrk="0" hangingPunct="1">
      <a:defRPr sz="1600" kern="1200">
        <a:solidFill>
          <a:schemeClr val="tx1"/>
        </a:solidFill>
        <a:latin typeface="+mn-lt"/>
        <a:ea typeface="+mn-ea"/>
        <a:cs typeface="+mn-cs"/>
      </a:defRPr>
    </a:lvl7pPr>
    <a:lvl8pPr marL="4267200" algn="l" defTabSz="1219200" rtl="0" eaLnBrk="1" latinLnBrk="0" hangingPunct="1">
      <a:defRPr sz="1600" kern="1200">
        <a:solidFill>
          <a:schemeClr val="tx1"/>
        </a:solidFill>
        <a:latin typeface="+mn-lt"/>
        <a:ea typeface="+mn-ea"/>
        <a:cs typeface="+mn-cs"/>
      </a:defRPr>
    </a:lvl8pPr>
    <a:lvl9pPr marL="4876800" algn="l" defTabSz="121920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392B679-AE23-4750-8FB0-6513430B8953}"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ACAD61-6A3C-1558-11DC-691FE50B369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B484F84-61CA-77A4-10E9-D48EA5CDA8EA}"/>
              </a:ext>
            </a:extLst>
          </p:cNvPr>
          <p:cNvSpPr>
            <a:spLocks noGrp="1" noRot="1" noChangeAspect="1"/>
          </p:cNvSpPr>
          <p:nvPr>
            <p:ph type="sldImg"/>
          </p:nvPr>
        </p:nvSpPr>
        <p:spPr>
          <a:xfrm>
            <a:off x="382588" y="685800"/>
            <a:ext cx="6092825" cy="3429000"/>
          </a:xfrm>
        </p:spPr>
      </p:sp>
      <p:sp>
        <p:nvSpPr>
          <p:cNvPr id="3" name="备注占位符 2">
            <a:extLst>
              <a:ext uri="{FF2B5EF4-FFF2-40B4-BE49-F238E27FC236}">
                <a16:creationId xmlns:a16="http://schemas.microsoft.com/office/drawing/2014/main" id="{6656F240-AC8E-B82A-C9B1-51D5C8A20994}"/>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6EC54962-92DC-9E1E-6DB6-F27C41951824}"/>
              </a:ext>
            </a:extLst>
          </p:cNvPr>
          <p:cNvSpPr>
            <a:spLocks noGrp="1"/>
          </p:cNvSpPr>
          <p:nvPr>
            <p:ph type="sldNum" sz="quarter" idx="10"/>
          </p:nvPr>
        </p:nvSpPr>
        <p:spPr/>
        <p:txBody>
          <a:bodyPr/>
          <a:lstStyle/>
          <a:p>
            <a:fld id="{7392B679-AE23-4750-8FB0-6513430B8953}" type="slidenum">
              <a:rPr lang="zh-CN" altLang="en-US" smtClean="0"/>
              <a:t>3</a:t>
            </a:fld>
            <a:endParaRPr lang="zh-CN" altLang="en-US"/>
          </a:p>
        </p:txBody>
      </p:sp>
    </p:spTree>
    <p:extLst>
      <p:ext uri="{BB962C8B-B14F-4D97-AF65-F5344CB8AC3E}">
        <p14:creationId xmlns:p14="http://schemas.microsoft.com/office/powerpoint/2010/main" val="40272541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405FEA-62BC-FE59-F56D-E2A3AC3BCC2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512112D-2C70-B364-154F-6F1217DD6048}"/>
              </a:ext>
            </a:extLst>
          </p:cNvPr>
          <p:cNvSpPr>
            <a:spLocks noGrp="1" noRot="1" noChangeAspect="1"/>
          </p:cNvSpPr>
          <p:nvPr>
            <p:ph type="sldImg"/>
          </p:nvPr>
        </p:nvSpPr>
        <p:spPr>
          <a:xfrm>
            <a:off x="382588" y="685800"/>
            <a:ext cx="6092825" cy="3429000"/>
          </a:xfrm>
        </p:spPr>
      </p:sp>
      <p:sp>
        <p:nvSpPr>
          <p:cNvPr id="3" name="备注占位符 2">
            <a:extLst>
              <a:ext uri="{FF2B5EF4-FFF2-40B4-BE49-F238E27FC236}">
                <a16:creationId xmlns:a16="http://schemas.microsoft.com/office/drawing/2014/main" id="{A44A47D7-A2AB-6D6D-C73F-10144EC53424}"/>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64C6C126-D2B5-ED4A-699C-A79AC4DDDF17}"/>
              </a:ext>
            </a:extLst>
          </p:cNvPr>
          <p:cNvSpPr>
            <a:spLocks noGrp="1"/>
          </p:cNvSpPr>
          <p:nvPr>
            <p:ph type="sldNum" sz="quarter" idx="10"/>
          </p:nvPr>
        </p:nvSpPr>
        <p:spPr/>
        <p:txBody>
          <a:bodyPr/>
          <a:lstStyle/>
          <a:p>
            <a:fld id="{7392B679-AE23-4750-8FB0-6513430B8953}" type="slidenum">
              <a:rPr lang="zh-CN" altLang="en-US" smtClean="0"/>
              <a:t>4</a:t>
            </a:fld>
            <a:endParaRPr lang="zh-CN" altLang="en-US"/>
          </a:p>
        </p:txBody>
      </p:sp>
    </p:spTree>
    <p:extLst>
      <p:ext uri="{BB962C8B-B14F-4D97-AF65-F5344CB8AC3E}">
        <p14:creationId xmlns:p14="http://schemas.microsoft.com/office/powerpoint/2010/main" val="5219890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BE29CB-3825-8F37-8F85-FB50184088A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7CE76A8-A85E-CE3E-5DB8-F7E03477C790}"/>
              </a:ext>
            </a:extLst>
          </p:cNvPr>
          <p:cNvSpPr>
            <a:spLocks noGrp="1" noRot="1" noChangeAspect="1"/>
          </p:cNvSpPr>
          <p:nvPr>
            <p:ph type="sldImg"/>
          </p:nvPr>
        </p:nvSpPr>
        <p:spPr>
          <a:xfrm>
            <a:off x="382588" y="685800"/>
            <a:ext cx="6092825" cy="3429000"/>
          </a:xfrm>
        </p:spPr>
      </p:sp>
      <p:sp>
        <p:nvSpPr>
          <p:cNvPr id="3" name="备注占位符 2">
            <a:extLst>
              <a:ext uri="{FF2B5EF4-FFF2-40B4-BE49-F238E27FC236}">
                <a16:creationId xmlns:a16="http://schemas.microsoft.com/office/drawing/2014/main" id="{022599AD-0E38-A5E0-06F0-098ED3E8A742}"/>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63C50397-CE43-20D7-F70C-272AFA48F98D}"/>
              </a:ext>
            </a:extLst>
          </p:cNvPr>
          <p:cNvSpPr>
            <a:spLocks noGrp="1"/>
          </p:cNvSpPr>
          <p:nvPr>
            <p:ph type="sldNum" sz="quarter" idx="10"/>
          </p:nvPr>
        </p:nvSpPr>
        <p:spPr/>
        <p:txBody>
          <a:bodyPr/>
          <a:lstStyle/>
          <a:p>
            <a:fld id="{7392B679-AE23-4750-8FB0-6513430B8953}" type="slidenum">
              <a:rPr lang="zh-CN" altLang="en-US" smtClean="0"/>
              <a:t>5</a:t>
            </a:fld>
            <a:endParaRPr lang="zh-CN" altLang="en-US"/>
          </a:p>
        </p:txBody>
      </p:sp>
    </p:spTree>
    <p:extLst>
      <p:ext uri="{BB962C8B-B14F-4D97-AF65-F5344CB8AC3E}">
        <p14:creationId xmlns:p14="http://schemas.microsoft.com/office/powerpoint/2010/main" val="12868929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069858-1EB0-F0DC-91D8-6E10B365D17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E302822-8AB6-E50B-D0BE-463813761390}"/>
              </a:ext>
            </a:extLst>
          </p:cNvPr>
          <p:cNvSpPr>
            <a:spLocks noGrp="1" noRot="1" noChangeAspect="1"/>
          </p:cNvSpPr>
          <p:nvPr>
            <p:ph type="sldImg"/>
          </p:nvPr>
        </p:nvSpPr>
        <p:spPr>
          <a:xfrm>
            <a:off x="382588" y="685800"/>
            <a:ext cx="6092825" cy="3429000"/>
          </a:xfrm>
        </p:spPr>
      </p:sp>
      <p:sp>
        <p:nvSpPr>
          <p:cNvPr id="3" name="备注占位符 2">
            <a:extLst>
              <a:ext uri="{FF2B5EF4-FFF2-40B4-BE49-F238E27FC236}">
                <a16:creationId xmlns:a16="http://schemas.microsoft.com/office/drawing/2014/main" id="{D0C89862-CA47-77DD-E1A4-1BD49E6C0FE9}"/>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FDACE6A2-45AB-E422-194D-0F7ACA93563E}"/>
              </a:ext>
            </a:extLst>
          </p:cNvPr>
          <p:cNvSpPr>
            <a:spLocks noGrp="1"/>
          </p:cNvSpPr>
          <p:nvPr>
            <p:ph type="sldNum" sz="quarter" idx="10"/>
          </p:nvPr>
        </p:nvSpPr>
        <p:spPr/>
        <p:txBody>
          <a:bodyPr/>
          <a:lstStyle/>
          <a:p>
            <a:fld id="{7392B679-AE23-4750-8FB0-6513430B8953}" type="slidenum">
              <a:rPr lang="zh-CN" altLang="en-US" smtClean="0"/>
              <a:t>6</a:t>
            </a:fld>
            <a:endParaRPr lang="zh-CN" altLang="en-US"/>
          </a:p>
        </p:txBody>
      </p:sp>
    </p:spTree>
    <p:extLst>
      <p:ext uri="{BB962C8B-B14F-4D97-AF65-F5344CB8AC3E}">
        <p14:creationId xmlns:p14="http://schemas.microsoft.com/office/powerpoint/2010/main" val="12634662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3D770E-0AE4-CC35-3100-57042F73E64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6901A65-7F48-5C2A-E56F-B33163788B5B}"/>
              </a:ext>
            </a:extLst>
          </p:cNvPr>
          <p:cNvSpPr>
            <a:spLocks noGrp="1" noRot="1" noChangeAspect="1"/>
          </p:cNvSpPr>
          <p:nvPr>
            <p:ph type="sldImg"/>
          </p:nvPr>
        </p:nvSpPr>
        <p:spPr>
          <a:xfrm>
            <a:off x="382588" y="685800"/>
            <a:ext cx="6092825" cy="3429000"/>
          </a:xfrm>
        </p:spPr>
      </p:sp>
      <p:sp>
        <p:nvSpPr>
          <p:cNvPr id="3" name="备注占位符 2">
            <a:extLst>
              <a:ext uri="{FF2B5EF4-FFF2-40B4-BE49-F238E27FC236}">
                <a16:creationId xmlns:a16="http://schemas.microsoft.com/office/drawing/2014/main" id="{705DAEB5-8BEE-BB8A-FAF3-EE0A53A70270}"/>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9819363C-859E-509F-6B1E-314BF3CAC64F}"/>
              </a:ext>
            </a:extLst>
          </p:cNvPr>
          <p:cNvSpPr>
            <a:spLocks noGrp="1"/>
          </p:cNvSpPr>
          <p:nvPr>
            <p:ph type="sldNum" sz="quarter" idx="10"/>
          </p:nvPr>
        </p:nvSpPr>
        <p:spPr/>
        <p:txBody>
          <a:bodyPr/>
          <a:lstStyle/>
          <a:p>
            <a:fld id="{7392B679-AE23-4750-8FB0-6513430B8953}" type="slidenum">
              <a:rPr lang="zh-CN" altLang="en-US" smtClean="0"/>
              <a:t>7</a:t>
            </a:fld>
            <a:endParaRPr lang="zh-CN" altLang="en-US"/>
          </a:p>
        </p:txBody>
      </p:sp>
    </p:spTree>
    <p:extLst>
      <p:ext uri="{BB962C8B-B14F-4D97-AF65-F5344CB8AC3E}">
        <p14:creationId xmlns:p14="http://schemas.microsoft.com/office/powerpoint/2010/main" val="1029812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8</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9</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10</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471EE6-16FB-AC88-1BD8-B6C9F46FEC7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7127E65-CEEA-CBB3-4EC2-5A18E817F14B}"/>
              </a:ext>
            </a:extLst>
          </p:cNvPr>
          <p:cNvSpPr>
            <a:spLocks noGrp="1" noRot="1" noChangeAspect="1"/>
          </p:cNvSpPr>
          <p:nvPr>
            <p:ph type="sldImg"/>
          </p:nvPr>
        </p:nvSpPr>
        <p:spPr>
          <a:xfrm>
            <a:off x="382588" y="685800"/>
            <a:ext cx="6092825" cy="3429000"/>
          </a:xfrm>
        </p:spPr>
      </p:sp>
      <p:sp>
        <p:nvSpPr>
          <p:cNvPr id="3" name="备注占位符 2">
            <a:extLst>
              <a:ext uri="{FF2B5EF4-FFF2-40B4-BE49-F238E27FC236}">
                <a16:creationId xmlns:a16="http://schemas.microsoft.com/office/drawing/2014/main" id="{80234BCE-3A9C-A30C-9651-613F9C0AB312}"/>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1F4CDB9C-CBC7-11E7-313C-04905DFCBBCE}"/>
              </a:ext>
            </a:extLst>
          </p:cNvPr>
          <p:cNvSpPr>
            <a:spLocks noGrp="1"/>
          </p:cNvSpPr>
          <p:nvPr>
            <p:ph type="sldNum" sz="quarter" idx="10"/>
          </p:nvPr>
        </p:nvSpPr>
        <p:spPr/>
        <p:txBody>
          <a:bodyPr/>
          <a:lstStyle/>
          <a:p>
            <a:fld id="{7392B679-AE23-4750-8FB0-6513430B8953}" type="slidenum">
              <a:rPr lang="zh-CN" altLang="en-US" smtClean="0"/>
              <a:t>11</a:t>
            </a:fld>
            <a:endParaRPr lang="zh-CN" altLang="en-US"/>
          </a:p>
        </p:txBody>
      </p:sp>
    </p:spTree>
    <p:extLst>
      <p:ext uri="{BB962C8B-B14F-4D97-AF65-F5344CB8AC3E}">
        <p14:creationId xmlns:p14="http://schemas.microsoft.com/office/powerpoint/2010/main" val="6959729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19</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20</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21</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23</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24</a:t>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25</a:t>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26</a:t>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27</a:t>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28</a:t>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29</a:t>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30</a:t>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31</a:t>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32</a:t>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33</a:t>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34</a:t>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35</a:t>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36</a:t>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37</a:t>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38</a:t>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39</a:t>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40</a:t>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41</a:t>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E3F916-295E-1B01-C717-F898D667487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7E34180-6D9B-9003-A609-1313C67E0EFB}"/>
              </a:ext>
            </a:extLst>
          </p:cNvPr>
          <p:cNvSpPr>
            <a:spLocks noGrp="1" noRot="1" noChangeAspect="1"/>
          </p:cNvSpPr>
          <p:nvPr>
            <p:ph type="sldImg"/>
          </p:nvPr>
        </p:nvSpPr>
        <p:spPr>
          <a:xfrm>
            <a:off x="382588" y="685800"/>
            <a:ext cx="6092825" cy="3429000"/>
          </a:xfrm>
        </p:spPr>
      </p:sp>
      <p:sp>
        <p:nvSpPr>
          <p:cNvPr id="3" name="备注占位符 2">
            <a:extLst>
              <a:ext uri="{FF2B5EF4-FFF2-40B4-BE49-F238E27FC236}">
                <a16:creationId xmlns:a16="http://schemas.microsoft.com/office/drawing/2014/main" id="{E4CC22DA-0F98-E877-C6E9-CCBF7C1DDCCC}"/>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FE28E6C3-4087-21DE-40B4-50F39335206B}"/>
              </a:ext>
            </a:extLst>
          </p:cNvPr>
          <p:cNvSpPr>
            <a:spLocks noGrp="1"/>
          </p:cNvSpPr>
          <p:nvPr>
            <p:ph type="sldNum" sz="quarter" idx="10"/>
          </p:nvPr>
        </p:nvSpPr>
        <p:spPr/>
        <p:txBody>
          <a:bodyPr/>
          <a:lstStyle/>
          <a:p>
            <a:fld id="{7392B679-AE23-4750-8FB0-6513430B8953}" type="slidenum">
              <a:rPr lang="zh-CN" altLang="en-US" smtClean="0"/>
              <a:t>42</a:t>
            </a:fld>
            <a:endParaRPr lang="zh-CN" altLang="en-US"/>
          </a:p>
        </p:txBody>
      </p:sp>
    </p:spTree>
    <p:extLst>
      <p:ext uri="{BB962C8B-B14F-4D97-AF65-F5344CB8AC3E}">
        <p14:creationId xmlns:p14="http://schemas.microsoft.com/office/powerpoint/2010/main" val="400797093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43</a:t>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DAE396-8E68-333F-EA53-EFC298EA0B7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9D2B609-FFBD-E82F-66FB-30C5EB68FEA3}"/>
              </a:ext>
            </a:extLst>
          </p:cNvPr>
          <p:cNvSpPr>
            <a:spLocks noGrp="1" noRot="1" noChangeAspect="1"/>
          </p:cNvSpPr>
          <p:nvPr>
            <p:ph type="sldImg"/>
          </p:nvPr>
        </p:nvSpPr>
        <p:spPr>
          <a:xfrm>
            <a:off x="382588" y="685800"/>
            <a:ext cx="6092825" cy="3429000"/>
          </a:xfrm>
        </p:spPr>
      </p:sp>
      <p:sp>
        <p:nvSpPr>
          <p:cNvPr id="3" name="备注占位符 2">
            <a:extLst>
              <a:ext uri="{FF2B5EF4-FFF2-40B4-BE49-F238E27FC236}">
                <a16:creationId xmlns:a16="http://schemas.microsoft.com/office/drawing/2014/main" id="{90F55B2B-9856-7454-A1A1-6F092366EBF9}"/>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F003D181-2213-BD39-70E5-FE9D419D68E5}"/>
              </a:ext>
            </a:extLst>
          </p:cNvPr>
          <p:cNvSpPr>
            <a:spLocks noGrp="1"/>
          </p:cNvSpPr>
          <p:nvPr>
            <p:ph type="sldNum" sz="quarter" idx="10"/>
          </p:nvPr>
        </p:nvSpPr>
        <p:spPr/>
        <p:txBody>
          <a:bodyPr/>
          <a:lstStyle/>
          <a:p>
            <a:fld id="{7392B679-AE23-4750-8FB0-6513430B8953}" type="slidenum">
              <a:rPr lang="zh-CN" altLang="en-US" smtClean="0"/>
              <a:t>44</a:t>
            </a:fld>
            <a:endParaRPr lang="zh-CN" altLang="en-US"/>
          </a:p>
        </p:txBody>
      </p:sp>
    </p:spTree>
    <p:extLst>
      <p:ext uri="{BB962C8B-B14F-4D97-AF65-F5344CB8AC3E}">
        <p14:creationId xmlns:p14="http://schemas.microsoft.com/office/powerpoint/2010/main" val="200599256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45</a:t>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46</a:t>
            </a:fld>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47</a:t>
            </a:fld>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48</a:t>
            </a:fld>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49</a:t>
            </a:fld>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50</a:t>
            </a:fld>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51</a:t>
            </a:fld>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52</a:t>
            </a:fld>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53</a:t>
            </a:fld>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54</a:t>
            </a:fld>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55</a:t>
            </a:fld>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56</a:t>
            </a:fld>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57</a:t>
            </a:fld>
            <a:endParaRPr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58</a:t>
            </a:fld>
            <a:endParaRPr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59</a:t>
            </a:fld>
            <a:endParaRPr lang="zh-CN"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60</a:t>
            </a:fld>
            <a:endParaRPr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61</a:t>
            </a:fld>
            <a:endParaRPr lang="zh-CN"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62</a:t>
            </a:fld>
            <a:endParaRPr lang="zh-CN"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63</a:t>
            </a:fld>
            <a:endParaRPr lang="zh-CN"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64</a:t>
            </a:fld>
            <a:endParaRPr lang="zh-CN" alt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65</a:t>
            </a:fld>
            <a:endParaRPr lang="zh-CN" alt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66</a:t>
            </a:fld>
            <a:endParaRPr lang="zh-CN" alt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67</a:t>
            </a:fld>
            <a:endParaRPr lang="zh-CN" alt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3D6A43-1069-33DE-B104-8F7E1A8FBE1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F4077A0-55EA-01EC-4CE2-0F88582D004D}"/>
              </a:ext>
            </a:extLst>
          </p:cNvPr>
          <p:cNvSpPr>
            <a:spLocks noGrp="1" noRot="1" noChangeAspect="1"/>
          </p:cNvSpPr>
          <p:nvPr>
            <p:ph type="sldImg"/>
          </p:nvPr>
        </p:nvSpPr>
        <p:spPr>
          <a:xfrm>
            <a:off x="382588" y="685800"/>
            <a:ext cx="6092825" cy="3429000"/>
          </a:xfrm>
        </p:spPr>
      </p:sp>
      <p:sp>
        <p:nvSpPr>
          <p:cNvPr id="3" name="备注占位符 2">
            <a:extLst>
              <a:ext uri="{FF2B5EF4-FFF2-40B4-BE49-F238E27FC236}">
                <a16:creationId xmlns:a16="http://schemas.microsoft.com/office/drawing/2014/main" id="{853E6BDB-C100-F5FD-D2AA-84A5DB6D1CE0}"/>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2C8AA19C-5D87-ED45-EF12-D4024555F485}"/>
              </a:ext>
            </a:extLst>
          </p:cNvPr>
          <p:cNvSpPr>
            <a:spLocks noGrp="1"/>
          </p:cNvSpPr>
          <p:nvPr>
            <p:ph type="sldNum" sz="quarter" idx="10"/>
          </p:nvPr>
        </p:nvSpPr>
        <p:spPr/>
        <p:txBody>
          <a:bodyPr/>
          <a:lstStyle/>
          <a:p>
            <a:fld id="{7392B679-AE23-4750-8FB0-6513430B8953}" type="slidenum">
              <a:rPr lang="zh-CN" altLang="en-US" smtClean="0"/>
              <a:t>68</a:t>
            </a:fld>
            <a:endParaRPr lang="zh-CN" altLang="en-US"/>
          </a:p>
        </p:txBody>
      </p:sp>
    </p:spTree>
    <p:extLst>
      <p:ext uri="{BB962C8B-B14F-4D97-AF65-F5344CB8AC3E}">
        <p14:creationId xmlns:p14="http://schemas.microsoft.com/office/powerpoint/2010/main" val="3146323636"/>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8B33B0-073A-9EA5-A6C9-50F37FFE8C4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B9ADD7F-CCB1-B785-8B9A-2BA17D5E3FAB}"/>
              </a:ext>
            </a:extLst>
          </p:cNvPr>
          <p:cNvSpPr>
            <a:spLocks noGrp="1" noRot="1" noChangeAspect="1"/>
          </p:cNvSpPr>
          <p:nvPr>
            <p:ph type="sldImg"/>
          </p:nvPr>
        </p:nvSpPr>
        <p:spPr>
          <a:xfrm>
            <a:off x="382588" y="685800"/>
            <a:ext cx="6092825" cy="3429000"/>
          </a:xfrm>
        </p:spPr>
      </p:sp>
      <p:sp>
        <p:nvSpPr>
          <p:cNvPr id="3" name="备注占位符 2">
            <a:extLst>
              <a:ext uri="{FF2B5EF4-FFF2-40B4-BE49-F238E27FC236}">
                <a16:creationId xmlns:a16="http://schemas.microsoft.com/office/drawing/2014/main" id="{A1E60989-2FE4-0D39-DF52-408CCF7F9E3D}"/>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1EEB7348-F5E0-99F7-717A-C159FC167AB0}"/>
              </a:ext>
            </a:extLst>
          </p:cNvPr>
          <p:cNvSpPr>
            <a:spLocks noGrp="1"/>
          </p:cNvSpPr>
          <p:nvPr>
            <p:ph type="sldNum" sz="quarter" idx="10"/>
          </p:nvPr>
        </p:nvSpPr>
        <p:spPr/>
        <p:txBody>
          <a:bodyPr/>
          <a:lstStyle/>
          <a:p>
            <a:fld id="{7392B679-AE23-4750-8FB0-6513430B8953}" type="slidenum">
              <a:rPr lang="zh-CN" altLang="en-US" smtClean="0"/>
              <a:t>69</a:t>
            </a:fld>
            <a:endParaRPr lang="zh-CN" altLang="en-US"/>
          </a:p>
        </p:txBody>
      </p:sp>
    </p:spTree>
    <p:extLst>
      <p:ext uri="{BB962C8B-B14F-4D97-AF65-F5344CB8AC3E}">
        <p14:creationId xmlns:p14="http://schemas.microsoft.com/office/powerpoint/2010/main" val="95201002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FF2047-51BE-71F8-33EA-E8AED1F4C69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FE86706-11C8-2F90-6698-D7D33551410B}"/>
              </a:ext>
            </a:extLst>
          </p:cNvPr>
          <p:cNvSpPr>
            <a:spLocks noGrp="1" noRot="1" noChangeAspect="1"/>
          </p:cNvSpPr>
          <p:nvPr>
            <p:ph type="sldImg"/>
          </p:nvPr>
        </p:nvSpPr>
        <p:spPr>
          <a:xfrm>
            <a:off x="382588" y="685800"/>
            <a:ext cx="6092825" cy="3429000"/>
          </a:xfrm>
        </p:spPr>
      </p:sp>
      <p:sp>
        <p:nvSpPr>
          <p:cNvPr id="3" name="备注占位符 2">
            <a:extLst>
              <a:ext uri="{FF2B5EF4-FFF2-40B4-BE49-F238E27FC236}">
                <a16:creationId xmlns:a16="http://schemas.microsoft.com/office/drawing/2014/main" id="{91695384-9580-4138-D7E2-0BFBFB679C0F}"/>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A1B51648-656C-7DB8-F38E-47170A8814B3}"/>
              </a:ext>
            </a:extLst>
          </p:cNvPr>
          <p:cNvSpPr>
            <a:spLocks noGrp="1"/>
          </p:cNvSpPr>
          <p:nvPr>
            <p:ph type="sldNum" sz="quarter" idx="10"/>
          </p:nvPr>
        </p:nvSpPr>
        <p:spPr/>
        <p:txBody>
          <a:bodyPr/>
          <a:lstStyle/>
          <a:p>
            <a:fld id="{7392B679-AE23-4750-8FB0-6513430B8953}" type="slidenum">
              <a:rPr lang="zh-CN" altLang="en-US" smtClean="0"/>
              <a:t>70</a:t>
            </a:fld>
            <a:endParaRPr lang="zh-CN" altLang="en-US"/>
          </a:p>
        </p:txBody>
      </p:sp>
    </p:spTree>
    <p:extLst>
      <p:ext uri="{BB962C8B-B14F-4D97-AF65-F5344CB8AC3E}">
        <p14:creationId xmlns:p14="http://schemas.microsoft.com/office/powerpoint/2010/main" val="2703081917"/>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A275CC-FE0F-7AF5-7B40-F892DF2C488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56F2563-6E29-A2A9-60C7-63F87032E2D3}"/>
              </a:ext>
            </a:extLst>
          </p:cNvPr>
          <p:cNvSpPr>
            <a:spLocks noGrp="1" noRot="1" noChangeAspect="1"/>
          </p:cNvSpPr>
          <p:nvPr>
            <p:ph type="sldImg"/>
          </p:nvPr>
        </p:nvSpPr>
        <p:spPr>
          <a:xfrm>
            <a:off x="382588" y="685800"/>
            <a:ext cx="6092825" cy="3429000"/>
          </a:xfrm>
        </p:spPr>
      </p:sp>
      <p:sp>
        <p:nvSpPr>
          <p:cNvPr id="3" name="备注占位符 2">
            <a:extLst>
              <a:ext uri="{FF2B5EF4-FFF2-40B4-BE49-F238E27FC236}">
                <a16:creationId xmlns:a16="http://schemas.microsoft.com/office/drawing/2014/main" id="{6E3F9012-6813-A591-D30B-A95AB262B20C}"/>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90BC9953-CA37-E494-E619-E6B8AA7CDDA1}"/>
              </a:ext>
            </a:extLst>
          </p:cNvPr>
          <p:cNvSpPr>
            <a:spLocks noGrp="1"/>
          </p:cNvSpPr>
          <p:nvPr>
            <p:ph type="sldNum" sz="quarter" idx="10"/>
          </p:nvPr>
        </p:nvSpPr>
        <p:spPr/>
        <p:txBody>
          <a:bodyPr/>
          <a:lstStyle/>
          <a:p>
            <a:fld id="{7392B679-AE23-4750-8FB0-6513430B8953}" type="slidenum">
              <a:rPr lang="zh-CN" altLang="en-US" smtClean="0"/>
              <a:t>71</a:t>
            </a:fld>
            <a:endParaRPr lang="zh-CN" altLang="en-US"/>
          </a:p>
        </p:txBody>
      </p:sp>
    </p:spTree>
    <p:extLst>
      <p:ext uri="{BB962C8B-B14F-4D97-AF65-F5344CB8AC3E}">
        <p14:creationId xmlns:p14="http://schemas.microsoft.com/office/powerpoint/2010/main" val="1543620358"/>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91E35D-EF9C-53A1-BB48-F997B1668B4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F04215D-9B1B-3B4F-C04F-CA605C168598}"/>
              </a:ext>
            </a:extLst>
          </p:cNvPr>
          <p:cNvSpPr>
            <a:spLocks noGrp="1" noRot="1" noChangeAspect="1"/>
          </p:cNvSpPr>
          <p:nvPr>
            <p:ph type="sldImg"/>
          </p:nvPr>
        </p:nvSpPr>
        <p:spPr>
          <a:xfrm>
            <a:off x="382588" y="685800"/>
            <a:ext cx="6092825" cy="3429000"/>
          </a:xfrm>
        </p:spPr>
      </p:sp>
      <p:sp>
        <p:nvSpPr>
          <p:cNvPr id="3" name="备注占位符 2">
            <a:extLst>
              <a:ext uri="{FF2B5EF4-FFF2-40B4-BE49-F238E27FC236}">
                <a16:creationId xmlns:a16="http://schemas.microsoft.com/office/drawing/2014/main" id="{6E11671C-82AF-2E71-BCDF-3AABE232F92A}"/>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9C5A4DE5-C112-CD3C-E7BE-14BBFBEFF57A}"/>
              </a:ext>
            </a:extLst>
          </p:cNvPr>
          <p:cNvSpPr>
            <a:spLocks noGrp="1"/>
          </p:cNvSpPr>
          <p:nvPr>
            <p:ph type="sldNum" sz="quarter" idx="10"/>
          </p:nvPr>
        </p:nvSpPr>
        <p:spPr/>
        <p:txBody>
          <a:bodyPr/>
          <a:lstStyle/>
          <a:p>
            <a:fld id="{7392B679-AE23-4750-8FB0-6513430B8953}" type="slidenum">
              <a:rPr lang="zh-CN" altLang="en-US" smtClean="0"/>
              <a:t>72</a:t>
            </a:fld>
            <a:endParaRPr lang="zh-CN" altLang="en-US"/>
          </a:p>
        </p:txBody>
      </p:sp>
    </p:spTree>
    <p:extLst>
      <p:ext uri="{BB962C8B-B14F-4D97-AF65-F5344CB8AC3E}">
        <p14:creationId xmlns:p14="http://schemas.microsoft.com/office/powerpoint/2010/main" val="2050571312"/>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73</a:t>
            </a:fld>
            <a:endParaRPr lang="zh-CN" altLang="en-US"/>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74</a:t>
            </a:fld>
            <a:endParaRPr lang="zh-CN" altLang="en-US"/>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75</a:t>
            </a:fld>
            <a:endParaRPr lang="zh-CN" altLang="en-US"/>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76</a:t>
            </a:fld>
            <a:endParaRPr lang="zh-CN" altLang="en-US"/>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77</a:t>
            </a:fld>
            <a:endParaRPr lang="zh-CN" altLang="en-US"/>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78</a:t>
            </a:fld>
            <a:endParaRPr lang="zh-CN" altLang="en-US"/>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79</a:t>
            </a:fld>
            <a:endParaRPr lang="zh-CN" altLang="en-US"/>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80</a:t>
            </a:fld>
            <a:endParaRPr lang="zh-CN" altLang="en-US"/>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84</a:t>
            </a:fld>
            <a:endParaRPr lang="zh-CN" altLang="en-US"/>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85</a:t>
            </a:fld>
            <a:endParaRPr lang="zh-CN" altLang="en-US"/>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86</a:t>
            </a:fld>
            <a:endParaRPr lang="zh-CN" altLang="en-US"/>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1835D6-31C5-1D1A-93E7-086A9561FAC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33EC76C-3F5D-19C5-9340-D65526A3501C}"/>
              </a:ext>
            </a:extLst>
          </p:cNvPr>
          <p:cNvSpPr>
            <a:spLocks noGrp="1" noRot="1" noChangeAspect="1"/>
          </p:cNvSpPr>
          <p:nvPr>
            <p:ph type="sldImg"/>
          </p:nvPr>
        </p:nvSpPr>
        <p:spPr>
          <a:xfrm>
            <a:off x="382588" y="685800"/>
            <a:ext cx="6092825" cy="3429000"/>
          </a:xfrm>
        </p:spPr>
      </p:sp>
      <p:sp>
        <p:nvSpPr>
          <p:cNvPr id="3" name="备注占位符 2">
            <a:extLst>
              <a:ext uri="{FF2B5EF4-FFF2-40B4-BE49-F238E27FC236}">
                <a16:creationId xmlns:a16="http://schemas.microsoft.com/office/drawing/2014/main" id="{4A801747-1F6A-EDE0-62B7-78B618BA9449}"/>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0D26D1F8-BBAA-BF55-00B4-40CA041BA29B}"/>
              </a:ext>
            </a:extLst>
          </p:cNvPr>
          <p:cNvSpPr>
            <a:spLocks noGrp="1"/>
          </p:cNvSpPr>
          <p:nvPr>
            <p:ph type="sldNum" sz="quarter" idx="10"/>
          </p:nvPr>
        </p:nvSpPr>
        <p:spPr/>
        <p:txBody>
          <a:bodyPr/>
          <a:lstStyle/>
          <a:p>
            <a:fld id="{7392B679-AE23-4750-8FB0-6513430B8953}" type="slidenum">
              <a:rPr lang="zh-CN" altLang="en-US" smtClean="0"/>
              <a:t>89</a:t>
            </a:fld>
            <a:endParaRPr lang="zh-CN" altLang="en-US"/>
          </a:p>
        </p:txBody>
      </p:sp>
    </p:spTree>
    <p:extLst>
      <p:ext uri="{BB962C8B-B14F-4D97-AF65-F5344CB8AC3E}">
        <p14:creationId xmlns:p14="http://schemas.microsoft.com/office/powerpoint/2010/main" val="1688931420"/>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618E9E-2D67-4408-C596-45F7290EE25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F8ECCB4-5FFC-CD3E-3E40-B379AA0BC3F0}"/>
              </a:ext>
            </a:extLst>
          </p:cNvPr>
          <p:cNvSpPr>
            <a:spLocks noGrp="1" noRot="1" noChangeAspect="1"/>
          </p:cNvSpPr>
          <p:nvPr>
            <p:ph type="sldImg"/>
          </p:nvPr>
        </p:nvSpPr>
        <p:spPr>
          <a:xfrm>
            <a:off x="382588" y="685800"/>
            <a:ext cx="6092825" cy="3429000"/>
          </a:xfrm>
        </p:spPr>
      </p:sp>
      <p:sp>
        <p:nvSpPr>
          <p:cNvPr id="3" name="备注占位符 2">
            <a:extLst>
              <a:ext uri="{FF2B5EF4-FFF2-40B4-BE49-F238E27FC236}">
                <a16:creationId xmlns:a16="http://schemas.microsoft.com/office/drawing/2014/main" id="{27BB33BC-2705-6E0D-A9FB-FB2F60313E5B}"/>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6ADF0627-06D5-F083-7AA7-361D8B8FA8DB}"/>
              </a:ext>
            </a:extLst>
          </p:cNvPr>
          <p:cNvSpPr>
            <a:spLocks noGrp="1"/>
          </p:cNvSpPr>
          <p:nvPr>
            <p:ph type="sldNum" sz="quarter" idx="10"/>
          </p:nvPr>
        </p:nvSpPr>
        <p:spPr/>
        <p:txBody>
          <a:bodyPr/>
          <a:lstStyle/>
          <a:p>
            <a:fld id="{7392B679-AE23-4750-8FB0-6513430B8953}" type="slidenum">
              <a:rPr lang="zh-CN" altLang="en-US" smtClean="0"/>
              <a:t>90</a:t>
            </a:fld>
            <a:endParaRPr lang="zh-CN" altLang="en-US"/>
          </a:p>
        </p:txBody>
      </p:sp>
    </p:spTree>
    <p:extLst>
      <p:ext uri="{BB962C8B-B14F-4D97-AF65-F5344CB8AC3E}">
        <p14:creationId xmlns:p14="http://schemas.microsoft.com/office/powerpoint/2010/main" val="3311373263"/>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91</a:t>
            </a:fld>
            <a:endParaRPr lang="zh-CN" altLang="en-US"/>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92</a:t>
            </a:fld>
            <a:endParaRPr lang="zh-CN" altLang="en-US"/>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93</a:t>
            </a:fld>
            <a:endParaRPr lang="zh-CN" altLang="en-US"/>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94</a:t>
            </a:fld>
            <a:endParaRPr lang="zh-CN" altLang="en-US"/>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95</a:t>
            </a:fld>
            <a:endParaRPr lang="zh-CN" altLang="en-US"/>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96</a:t>
            </a:fld>
            <a:endParaRPr lang="zh-CN" altLang="en-US"/>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101</a:t>
            </a:fld>
            <a:endParaRPr lang="zh-CN" altLang="en-US"/>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102</a:t>
            </a:fld>
            <a:endParaRPr lang="zh-CN" altLang="en-US"/>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103</a:t>
            </a:fld>
            <a:endParaRPr lang="zh-CN" altLang="en-US"/>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104</a:t>
            </a:fld>
            <a:endParaRPr lang="zh-CN" altLang="en-US"/>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105</a:t>
            </a:fld>
            <a:endParaRPr lang="zh-CN" altLang="en-US"/>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106</a:t>
            </a:fld>
            <a:endParaRPr lang="zh-CN" altLang="en-US"/>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107</a:t>
            </a:fld>
            <a:endParaRPr lang="zh-CN" altLang="en-US"/>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108</a:t>
            </a:fld>
            <a:endParaRPr lang="zh-CN" altLang="en-US"/>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109</a:t>
            </a:fld>
            <a:endParaRPr lang="zh-CN" altLang="en-US"/>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110</a:t>
            </a:fld>
            <a:endParaRPr lang="zh-CN" altLang="en-US"/>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111</a:t>
            </a:fld>
            <a:endParaRPr lang="zh-CN" altLang="en-US"/>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112</a:t>
            </a:fld>
            <a:endParaRPr lang="zh-CN" altLang="en-US"/>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113</a:t>
            </a:fld>
            <a:endParaRPr lang="zh-CN" altLang="en-US"/>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114</a:t>
            </a:fld>
            <a:endParaRPr lang="zh-CN" altLang="en-US"/>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115</a:t>
            </a:fld>
            <a:endParaRPr lang="zh-CN" altLang="en-US"/>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116</a:t>
            </a:fld>
            <a:endParaRPr lang="zh-CN" altLang="en-US"/>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117</a:t>
            </a:fld>
            <a:endParaRPr lang="zh-CN" altLang="en-US"/>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118</a:t>
            </a:fld>
            <a:endParaRPr lang="zh-CN" altLang="en-US"/>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119</a:t>
            </a:fld>
            <a:endParaRPr lang="zh-CN" altLang="en-US"/>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120</a:t>
            </a:fld>
            <a:endParaRPr lang="zh-CN" altLang="en-US"/>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121</a:t>
            </a:fld>
            <a:endParaRPr lang="zh-CN" altLang="en-US"/>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122</a:t>
            </a:fld>
            <a:endParaRPr lang="zh-CN" altLang="en-US"/>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123</a:t>
            </a:fld>
            <a:endParaRPr lang="zh-CN" altLang="en-US"/>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124</a:t>
            </a:fld>
            <a:endParaRPr lang="zh-CN" altLang="en-US"/>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125</a:t>
            </a:fld>
            <a:endParaRPr lang="zh-CN" altLang="en-US"/>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126</a:t>
            </a:fld>
            <a:endParaRPr lang="zh-CN" altLang="en-US"/>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127</a:t>
            </a:fld>
            <a:endParaRPr lang="zh-CN" altLang="en-US"/>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128</a:t>
            </a:fld>
            <a:endParaRPr lang="zh-CN" altLang="en-US"/>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129</a:t>
            </a:fld>
            <a:endParaRPr lang="zh-CN" altLang="en-US"/>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130</a:t>
            </a:fld>
            <a:endParaRPr lang="zh-CN" altLang="en-US"/>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131</a:t>
            </a:fld>
            <a:endParaRPr lang="zh-CN" altLang="en-US"/>
          </a:p>
        </p:txBody>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132</a:t>
            </a:fld>
            <a:endParaRPr lang="zh-CN" altLang="en-US"/>
          </a:p>
        </p:txBody>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133</a:t>
            </a:fld>
            <a:endParaRPr lang="zh-CN" altLang="en-US"/>
          </a:p>
        </p:txBody>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134</a:t>
            </a:fld>
            <a:endParaRPr lang="zh-CN" altLang="en-US"/>
          </a:p>
        </p:txBody>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135</a:t>
            </a:fld>
            <a:endParaRPr lang="zh-CN" altLang="en-US"/>
          </a:p>
        </p:txBody>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136</a:t>
            </a:fld>
            <a:endParaRPr lang="zh-CN" altLang="en-US"/>
          </a:p>
        </p:txBody>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137</a:t>
            </a:fld>
            <a:endParaRPr lang="zh-CN" altLang="en-US"/>
          </a:p>
        </p:txBody>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138</a:t>
            </a:fld>
            <a:endParaRPr lang="zh-CN" altLang="en-US"/>
          </a:p>
        </p:txBody>
      </p:sp>
    </p:spTree>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139</a:t>
            </a:fld>
            <a:endParaRPr lang="zh-CN" altLang="en-US"/>
          </a:p>
        </p:txBody>
      </p:sp>
    </p:spTree>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140</a:t>
            </a:fld>
            <a:endParaRPr lang="zh-CN" altLang="en-US"/>
          </a:p>
        </p:txBody>
      </p:sp>
    </p:spTree>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141</a:t>
            </a:fld>
            <a:endParaRPr lang="zh-CN" altLang="en-US"/>
          </a:p>
        </p:txBody>
      </p:sp>
    </p:spTree>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142</a:t>
            </a:fld>
            <a:endParaRPr lang="zh-CN" altLang="en-US"/>
          </a:p>
        </p:txBody>
      </p:sp>
    </p:spTree>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143</a:t>
            </a:fld>
            <a:endParaRPr lang="zh-CN" altLang="en-US"/>
          </a:p>
        </p:txBody>
      </p:sp>
    </p:spTree>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144</a:t>
            </a:fld>
            <a:endParaRPr lang="zh-CN" altLang="en-US"/>
          </a:p>
        </p:txBody>
      </p:sp>
    </p:spTree>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145</a:t>
            </a:fld>
            <a:endParaRPr lang="zh-CN" altLang="en-US"/>
          </a:p>
        </p:txBody>
      </p:sp>
    </p:spTree>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146</a:t>
            </a:fld>
            <a:endParaRPr lang="zh-CN" altLang="en-US"/>
          </a:p>
        </p:txBody>
      </p:sp>
    </p:spTree>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147</a:t>
            </a:fld>
            <a:endParaRPr lang="zh-CN" altLang="en-US"/>
          </a:p>
        </p:txBody>
      </p:sp>
    </p:spTree>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148</a:t>
            </a:fld>
            <a:endParaRPr lang="zh-CN" altLang="en-US"/>
          </a:p>
        </p:txBody>
      </p:sp>
    </p:spTree>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149</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42" name="组合 41"/>
          <p:cNvGrpSpPr/>
          <p:nvPr userDrawn="1"/>
        </p:nvGrpSpPr>
        <p:grpSpPr>
          <a:xfrm>
            <a:off x="0" y="2205794"/>
            <a:ext cx="12190413" cy="2413577"/>
            <a:chOff x="170694" y="178255"/>
            <a:chExt cx="3936004" cy="779007"/>
          </a:xfrm>
        </p:grpSpPr>
        <p:sp>
          <p:nvSpPr>
            <p:cNvPr id="44" name="等腰三角形 43"/>
            <p:cNvSpPr/>
            <p:nvPr/>
          </p:nvSpPr>
          <p:spPr>
            <a:xfrm>
              <a:off x="1270819" y="178255"/>
              <a:ext cx="355284" cy="356514"/>
            </a:xfrm>
            <a:prstGeom prs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5" name="等腰三角形 44"/>
            <p:cNvSpPr/>
            <p:nvPr/>
          </p:nvSpPr>
          <p:spPr>
            <a:xfrm flipV="1">
              <a:off x="170694" y="600746"/>
              <a:ext cx="355284" cy="356514"/>
            </a:xfrm>
            <a:prstGeom prs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6" name="矩形 45"/>
            <p:cNvSpPr/>
            <p:nvPr/>
          </p:nvSpPr>
          <p:spPr>
            <a:xfrm>
              <a:off x="170694" y="261768"/>
              <a:ext cx="3936004" cy="61198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7" name="平行四边形 46"/>
            <p:cNvSpPr/>
            <p:nvPr/>
          </p:nvSpPr>
          <p:spPr>
            <a:xfrm>
              <a:off x="348666" y="178257"/>
              <a:ext cx="1100951" cy="779005"/>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8" name="文本框 6"/>
            <p:cNvSpPr txBox="1"/>
            <p:nvPr/>
          </p:nvSpPr>
          <p:spPr>
            <a:xfrm>
              <a:off x="619911" y="284178"/>
              <a:ext cx="650908" cy="553578"/>
            </a:xfrm>
            <a:prstGeom prst="rect">
              <a:avLst/>
            </a:prstGeom>
            <a:noFill/>
          </p:spPr>
          <p:txBody>
            <a:bodyPr wrap="square" lIns="68580" tIns="34290" rIns="68580" bIns="34290" rtlCol="0">
              <a:spAutoFit/>
            </a:bodyPr>
            <a:lstStyle/>
            <a:p>
              <a:endParaRPr lang="zh-CN" altLang="en-US" sz="10700" dirty="0">
                <a:solidFill>
                  <a:schemeClr val="bg1">
                    <a:lumMod val="9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7" name="组合 6"/>
          <p:cNvGrpSpPr/>
          <p:nvPr userDrawn="1"/>
        </p:nvGrpSpPr>
        <p:grpSpPr>
          <a:xfrm>
            <a:off x="8484731" y="1700153"/>
            <a:ext cx="575989" cy="577246"/>
            <a:chOff x="6084168" y="1274820"/>
            <a:chExt cx="432048" cy="432834"/>
          </a:xfrm>
        </p:grpSpPr>
        <p:sp>
          <p:nvSpPr>
            <p:cNvPr id="14" name="椭圆 22"/>
            <p:cNvSpPr>
              <a:spLocks noChangeArrowheads="1"/>
            </p:cNvSpPr>
            <p:nvPr/>
          </p:nvSpPr>
          <p:spPr bwMode="auto">
            <a:xfrm>
              <a:off x="6084168" y="1274820"/>
              <a:ext cx="432048" cy="432834"/>
            </a:xfrm>
            <a:prstGeom prst="ellipse">
              <a:avLst/>
            </a:prstGeom>
            <a:solidFill>
              <a:srgbClr val="1369B2"/>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9" name="Freeform 59"/>
            <p:cNvSpPr>
              <a:spLocks noChangeArrowheads="1"/>
            </p:cNvSpPr>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8" name="组合 7"/>
          <p:cNvGrpSpPr/>
          <p:nvPr userDrawn="1"/>
        </p:nvGrpSpPr>
        <p:grpSpPr>
          <a:xfrm>
            <a:off x="6756764" y="1700678"/>
            <a:ext cx="575989" cy="576197"/>
            <a:chOff x="4788024" y="1275213"/>
            <a:chExt cx="432048" cy="432048"/>
          </a:xfrm>
        </p:grpSpPr>
        <p:sp>
          <p:nvSpPr>
            <p:cNvPr id="17" name="椭圆 65"/>
            <p:cNvSpPr>
              <a:spLocks noChangeArrowheads="1"/>
            </p:cNvSpPr>
            <p:nvPr/>
          </p:nvSpPr>
          <p:spPr bwMode="auto">
            <a:xfrm>
              <a:off x="4788024" y="1275213"/>
              <a:ext cx="432048" cy="432048"/>
            </a:xfrm>
            <a:prstGeom prst="ellipse">
              <a:avLst/>
            </a:prstGeom>
            <a:solidFill>
              <a:srgbClr val="F79600"/>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0" name="Freeform 110"/>
            <p:cNvSpPr>
              <a:spLocks noChangeArrowheads="1"/>
            </p:cNvSpPr>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9" name="组合 8"/>
          <p:cNvGrpSpPr/>
          <p:nvPr userDrawn="1"/>
        </p:nvGrpSpPr>
        <p:grpSpPr>
          <a:xfrm>
            <a:off x="7620748" y="1700153"/>
            <a:ext cx="577036" cy="577246"/>
            <a:chOff x="5436096" y="1274820"/>
            <a:chExt cx="432833" cy="432834"/>
          </a:xfrm>
        </p:grpSpPr>
        <p:sp>
          <p:nvSpPr>
            <p:cNvPr id="25" name="椭圆 16"/>
            <p:cNvSpPr>
              <a:spLocks noChangeArrowheads="1"/>
            </p:cNvSpPr>
            <p:nvPr/>
          </p:nvSpPr>
          <p:spPr bwMode="auto">
            <a:xfrm>
              <a:off x="5436096" y="1274820"/>
              <a:ext cx="432833" cy="432834"/>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1" name="Freeform 16"/>
            <p:cNvSpPr>
              <a:spLocks noChangeArrowheads="1"/>
            </p:cNvSpPr>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0" name="组合 9"/>
          <p:cNvGrpSpPr/>
          <p:nvPr userDrawn="1"/>
        </p:nvGrpSpPr>
        <p:grpSpPr>
          <a:xfrm>
            <a:off x="5028797" y="1700153"/>
            <a:ext cx="577036" cy="577246"/>
            <a:chOff x="3491880" y="1274820"/>
            <a:chExt cx="432833" cy="432834"/>
          </a:xfrm>
        </p:grpSpPr>
        <p:sp>
          <p:nvSpPr>
            <p:cNvPr id="11" name="椭圆 16"/>
            <p:cNvSpPr>
              <a:spLocks noChangeArrowheads="1"/>
            </p:cNvSpPr>
            <p:nvPr/>
          </p:nvSpPr>
          <p:spPr bwMode="auto">
            <a:xfrm>
              <a:off x="3491880" y="1274820"/>
              <a:ext cx="432833" cy="432834"/>
            </a:xfrm>
            <a:prstGeom prst="ellipse">
              <a:avLst/>
            </a:prstGeom>
            <a:solidFill>
              <a:srgbClr val="1369B2"/>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2" name="Freeform 75"/>
            <p:cNvSpPr>
              <a:spLocks noChangeArrowheads="1"/>
            </p:cNvSpPr>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2" name="组合 11"/>
          <p:cNvGrpSpPr/>
          <p:nvPr userDrawn="1"/>
        </p:nvGrpSpPr>
        <p:grpSpPr>
          <a:xfrm>
            <a:off x="5892781" y="1700153"/>
            <a:ext cx="577036" cy="577246"/>
            <a:chOff x="4139952" y="1274820"/>
            <a:chExt cx="432833" cy="432834"/>
          </a:xfrm>
        </p:grpSpPr>
        <p:sp>
          <p:nvSpPr>
            <p:cNvPr id="24" name="椭圆 16"/>
            <p:cNvSpPr>
              <a:spLocks noChangeArrowheads="1"/>
            </p:cNvSpPr>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3" name="Freeform 84"/>
            <p:cNvSpPr>
              <a:spLocks noChangeArrowheads="1"/>
            </p:cNvSpPr>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spTree>
  </p:cSld>
  <p:clrMapOvr>
    <a:masterClrMapping/>
  </p:clrMapOvr>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bg>
      <p:bgPr>
        <a:solidFill>
          <a:schemeClr val="bg1"/>
        </a:solidFill>
        <a:effectLst/>
      </p:bgPr>
    </p:bg>
    <p:spTree>
      <p:nvGrpSpPr>
        <p:cNvPr id="1" name=""/>
        <p:cNvGrpSpPr/>
        <p:nvPr/>
      </p:nvGrpSpPr>
      <p:grpSpPr>
        <a:xfrm>
          <a:off x="0" y="0"/>
          <a:ext cx="0" cy="0"/>
          <a:chOff x="0" y="0"/>
          <a:chExt cx="0" cy="0"/>
        </a:xfrm>
      </p:grpSpPr>
      <p:cxnSp>
        <p:nvCxnSpPr>
          <p:cNvPr id="7" name="直接连接符 6"/>
          <p:cNvCxnSpPr/>
          <p:nvPr userDrawn="1"/>
        </p:nvCxnSpPr>
        <p:spPr>
          <a:xfrm>
            <a:off x="1007304" y="834057"/>
            <a:ext cx="104638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nvGrpSpPr>
          <p:cNvPr id="12" name="Group 7"/>
          <p:cNvGrpSpPr/>
          <p:nvPr userDrawn="1"/>
        </p:nvGrpSpPr>
        <p:grpSpPr bwMode="auto">
          <a:xfrm>
            <a:off x="431315" y="390618"/>
            <a:ext cx="520428" cy="274702"/>
            <a:chOff x="0" y="0"/>
            <a:chExt cx="1041399" cy="549275"/>
          </a:xfrm>
        </p:grpSpPr>
        <p:sp>
          <p:nvSpPr>
            <p:cNvPr id="13" name="Freeform 16"/>
            <p:cNvSpPr/>
            <p:nvPr/>
          </p:nvSpPr>
          <p:spPr bwMode="auto">
            <a:xfrm>
              <a:off x="0" y="0"/>
              <a:ext cx="361950" cy="549275"/>
            </a:xfrm>
            <a:custGeom>
              <a:avLst/>
              <a:gdLst>
                <a:gd name="T0" fmla="*/ 4 w 400"/>
                <a:gd name="T1" fmla="*/ 92 h 608"/>
                <a:gd name="T2" fmla="*/ 96 w 400"/>
                <a:gd name="T3" fmla="*/ 0 h 608"/>
                <a:gd name="T4" fmla="*/ 400 w 400"/>
                <a:gd name="T5" fmla="*/ 304 h 608"/>
                <a:gd name="T6" fmla="*/ 96 w 400"/>
                <a:gd name="T7" fmla="*/ 608 h 608"/>
                <a:gd name="T8" fmla="*/ 0 w 400"/>
                <a:gd name="T9" fmla="*/ 512 h 608"/>
                <a:gd name="T10" fmla="*/ 212 w 400"/>
                <a:gd name="T11" fmla="*/ 300 h 608"/>
                <a:gd name="T12" fmla="*/ 4 w 400"/>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400" h="608">
                  <a:moveTo>
                    <a:pt x="4" y="92"/>
                  </a:moveTo>
                  <a:lnTo>
                    <a:pt x="96" y="0"/>
                  </a:lnTo>
                  <a:lnTo>
                    <a:pt x="400" y="304"/>
                  </a:lnTo>
                  <a:lnTo>
                    <a:pt x="96" y="608"/>
                  </a:lnTo>
                  <a:lnTo>
                    <a:pt x="0" y="512"/>
                  </a:lnTo>
                  <a:lnTo>
                    <a:pt x="212" y="300"/>
                  </a:lnTo>
                  <a:lnTo>
                    <a:pt x="4" y="92"/>
                  </a:lnTo>
                  <a:close/>
                </a:path>
              </a:pathLst>
            </a:custGeom>
            <a:solidFill>
              <a:srgbClr val="005DA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 name="Freeform 17"/>
            <p:cNvSpPr/>
            <p:nvPr/>
          </p:nvSpPr>
          <p:spPr bwMode="auto">
            <a:xfrm>
              <a:off x="338137" y="0"/>
              <a:ext cx="360362" cy="549275"/>
            </a:xfrm>
            <a:custGeom>
              <a:avLst/>
              <a:gdLst>
                <a:gd name="T0" fmla="*/ 4 w 399"/>
                <a:gd name="T1" fmla="*/ 92 h 608"/>
                <a:gd name="T2" fmla="*/ 96 w 399"/>
                <a:gd name="T3" fmla="*/ 0 h 608"/>
                <a:gd name="T4" fmla="*/ 399 w 399"/>
                <a:gd name="T5" fmla="*/ 304 h 608"/>
                <a:gd name="T6" fmla="*/ 96 w 399"/>
                <a:gd name="T7" fmla="*/ 608 h 608"/>
                <a:gd name="T8" fmla="*/ 0 w 399"/>
                <a:gd name="T9" fmla="*/ 512 h 608"/>
                <a:gd name="T10" fmla="*/ 212 w 399"/>
                <a:gd name="T11" fmla="*/ 300 h 608"/>
                <a:gd name="T12" fmla="*/ 4 w 399"/>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399" h="608">
                  <a:moveTo>
                    <a:pt x="4" y="92"/>
                  </a:moveTo>
                  <a:lnTo>
                    <a:pt x="96" y="0"/>
                  </a:lnTo>
                  <a:lnTo>
                    <a:pt x="399" y="304"/>
                  </a:lnTo>
                  <a:lnTo>
                    <a:pt x="96" y="608"/>
                  </a:lnTo>
                  <a:lnTo>
                    <a:pt x="0" y="512"/>
                  </a:lnTo>
                  <a:lnTo>
                    <a:pt x="212" y="300"/>
                  </a:lnTo>
                  <a:lnTo>
                    <a:pt x="4" y="92"/>
                  </a:lnTo>
                  <a:close/>
                </a:path>
              </a:pathLst>
            </a:custGeom>
            <a:solidFill>
              <a:srgbClr val="3992DB"/>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5" name="Freeform 18"/>
            <p:cNvSpPr/>
            <p:nvPr/>
          </p:nvSpPr>
          <p:spPr bwMode="auto">
            <a:xfrm>
              <a:off x="681037" y="0"/>
              <a:ext cx="360362" cy="549275"/>
            </a:xfrm>
            <a:custGeom>
              <a:avLst/>
              <a:gdLst>
                <a:gd name="T0" fmla="*/ 4 w 399"/>
                <a:gd name="T1" fmla="*/ 92 h 608"/>
                <a:gd name="T2" fmla="*/ 95 w 399"/>
                <a:gd name="T3" fmla="*/ 0 h 608"/>
                <a:gd name="T4" fmla="*/ 399 w 399"/>
                <a:gd name="T5" fmla="*/ 304 h 608"/>
                <a:gd name="T6" fmla="*/ 95 w 399"/>
                <a:gd name="T7" fmla="*/ 608 h 608"/>
                <a:gd name="T8" fmla="*/ 0 w 399"/>
                <a:gd name="T9" fmla="*/ 512 h 608"/>
                <a:gd name="T10" fmla="*/ 212 w 399"/>
                <a:gd name="T11" fmla="*/ 300 h 608"/>
                <a:gd name="T12" fmla="*/ 4 w 399"/>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399" h="608">
                  <a:moveTo>
                    <a:pt x="4" y="92"/>
                  </a:moveTo>
                  <a:lnTo>
                    <a:pt x="95" y="0"/>
                  </a:lnTo>
                  <a:lnTo>
                    <a:pt x="399" y="304"/>
                  </a:lnTo>
                  <a:lnTo>
                    <a:pt x="95" y="608"/>
                  </a:lnTo>
                  <a:lnTo>
                    <a:pt x="0" y="512"/>
                  </a:lnTo>
                  <a:lnTo>
                    <a:pt x="212" y="300"/>
                  </a:lnTo>
                  <a:lnTo>
                    <a:pt x="4" y="92"/>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sp>
        <p:nvSpPr>
          <p:cNvPr id="6" name="矩形 5"/>
          <p:cNvSpPr/>
          <p:nvPr userDrawn="1"/>
        </p:nvSpPr>
        <p:spPr>
          <a:xfrm>
            <a:off x="0" y="6794447"/>
            <a:ext cx="10631710" cy="84639"/>
          </a:xfrm>
          <a:prstGeom prst="rect">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p:cNvSpPr/>
          <p:nvPr userDrawn="1"/>
        </p:nvSpPr>
        <p:spPr>
          <a:xfrm>
            <a:off x="10703717" y="6794446"/>
            <a:ext cx="1486695" cy="84639"/>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 name="图片 1">
            <a:extLst>
              <a:ext uri="{FF2B5EF4-FFF2-40B4-BE49-F238E27FC236}">
                <a16:creationId xmlns:a16="http://schemas.microsoft.com/office/drawing/2014/main" id="{203DD783-D586-AC95-A1EA-832C95CBEEE3}"/>
              </a:ext>
            </a:extLst>
          </p:cNvPr>
          <p:cNvPicPr>
            <a:picLocks noChangeAspect="1"/>
          </p:cNvPicPr>
          <p:nvPr userDrawn="1"/>
        </p:nvPicPr>
        <p:blipFill>
          <a:blip r:embed="rId2"/>
          <a:stretch>
            <a:fillRect/>
          </a:stretch>
        </p:blipFill>
        <p:spPr>
          <a:xfrm>
            <a:off x="9124663" y="49251"/>
            <a:ext cx="2631023" cy="682734"/>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内容与标题">
    <p:spTree>
      <p:nvGrpSpPr>
        <p:cNvPr id="1" name=""/>
        <p:cNvGrpSpPr/>
        <p:nvPr/>
      </p:nvGrpSpPr>
      <p:grpSpPr>
        <a:xfrm>
          <a:off x="0" y="0"/>
          <a:ext cx="0" cy="0"/>
          <a:chOff x="0" y="0"/>
          <a:chExt cx="0" cy="0"/>
        </a:xfrm>
      </p:grpSpPr>
      <p:sp>
        <p:nvSpPr>
          <p:cNvPr id="8" name="等腰三角形 7"/>
          <p:cNvSpPr/>
          <p:nvPr userDrawn="1"/>
        </p:nvSpPr>
        <p:spPr>
          <a:xfrm flipH="1" flipV="1">
            <a:off x="-767029" y="-29126"/>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等腰三角形 8"/>
          <p:cNvSpPr/>
          <p:nvPr userDrawn="1"/>
        </p:nvSpPr>
        <p:spPr>
          <a:xfrm flipH="1" flipV="1">
            <a:off x="1413539" y="0"/>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等腰三角形 9"/>
          <p:cNvSpPr/>
          <p:nvPr userDrawn="1"/>
        </p:nvSpPr>
        <p:spPr>
          <a:xfrm>
            <a:off x="6085438" y="4298493"/>
            <a:ext cx="5426766" cy="2559507"/>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等腰三角形 10"/>
          <p:cNvSpPr/>
          <p:nvPr userDrawn="1"/>
        </p:nvSpPr>
        <p:spPr>
          <a:xfrm>
            <a:off x="7741543" y="3609725"/>
            <a:ext cx="6887119" cy="3248275"/>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1" name="组合 40"/>
          <p:cNvGrpSpPr/>
          <p:nvPr userDrawn="1"/>
        </p:nvGrpSpPr>
        <p:grpSpPr>
          <a:xfrm>
            <a:off x="2308773" y="3693670"/>
            <a:ext cx="7551038" cy="105497"/>
            <a:chOff x="2101845" y="3387257"/>
            <a:chExt cx="7551038" cy="105497"/>
          </a:xfrm>
        </p:grpSpPr>
        <p:cxnSp>
          <p:nvCxnSpPr>
            <p:cNvPr id="42" name="直接连接符 41"/>
            <p:cNvCxnSpPr/>
            <p:nvPr/>
          </p:nvCxnSpPr>
          <p:spPr>
            <a:xfrm>
              <a:off x="2369489" y="3440005"/>
              <a:ext cx="7283394" cy="0"/>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5" name="椭圆 44"/>
            <p:cNvSpPr/>
            <p:nvPr/>
          </p:nvSpPr>
          <p:spPr>
            <a:xfrm>
              <a:off x="2101845" y="3387257"/>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椭圆 1"/>
          <p:cNvSpPr/>
          <p:nvPr userDrawn="1"/>
        </p:nvSpPr>
        <p:spPr>
          <a:xfrm>
            <a:off x="9998623" y="3693670"/>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 name="图片 2">
            <a:extLst>
              <a:ext uri="{FF2B5EF4-FFF2-40B4-BE49-F238E27FC236}">
                <a16:creationId xmlns:a16="http://schemas.microsoft.com/office/drawing/2014/main" id="{0CA15F00-6668-5553-75AA-82AC2AEFB041}"/>
              </a:ext>
            </a:extLst>
          </p:cNvPr>
          <p:cNvPicPr>
            <a:picLocks noChangeAspect="1"/>
          </p:cNvPicPr>
          <p:nvPr userDrawn="1"/>
        </p:nvPicPr>
        <p:blipFill>
          <a:blip r:embed="rId2">
            <a:alphaModFix amt="20000"/>
          </a:blip>
          <a:stretch>
            <a:fillRect/>
          </a:stretch>
        </p:blipFill>
        <p:spPr>
          <a:xfrm>
            <a:off x="8615206" y="3218535"/>
            <a:ext cx="3342857" cy="3542857"/>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cxnSp>
        <p:nvCxnSpPr>
          <p:cNvPr id="8" name="直接连接符 7"/>
          <p:cNvCxnSpPr/>
          <p:nvPr userDrawn="1"/>
        </p:nvCxnSpPr>
        <p:spPr>
          <a:xfrm>
            <a:off x="984634" y="1413103"/>
            <a:ext cx="10198475" cy="0"/>
          </a:xfrm>
          <a:prstGeom prst="line">
            <a:avLst/>
          </a:prstGeom>
        </p:spPr>
        <p:style>
          <a:lnRef idx="1">
            <a:schemeClr val="accent1"/>
          </a:lnRef>
          <a:fillRef idx="0">
            <a:schemeClr val="accent1"/>
          </a:fillRef>
          <a:effectRef idx="0">
            <a:schemeClr val="accent1"/>
          </a:effectRef>
          <a:fontRef idx="minor">
            <a:schemeClr val="tx1"/>
          </a:fontRef>
        </p:style>
      </p:cxnSp>
      <p:pic>
        <p:nvPicPr>
          <p:cNvPr id="2" name="图片 1">
            <a:extLst>
              <a:ext uri="{FF2B5EF4-FFF2-40B4-BE49-F238E27FC236}">
                <a16:creationId xmlns:a16="http://schemas.microsoft.com/office/drawing/2014/main" id="{C0278112-6393-4263-A71E-5EB15E5C702A}"/>
              </a:ext>
            </a:extLst>
          </p:cNvPr>
          <p:cNvPicPr>
            <a:picLocks noChangeAspect="1"/>
          </p:cNvPicPr>
          <p:nvPr userDrawn="1"/>
        </p:nvPicPr>
        <p:blipFill>
          <a:blip r:embed="rId2"/>
          <a:stretch>
            <a:fillRect/>
          </a:stretch>
        </p:blipFill>
        <p:spPr>
          <a:xfrm>
            <a:off x="8552086" y="477794"/>
            <a:ext cx="2631023" cy="682734"/>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530820CF-B880-4189-942D-D702A7CBA730}" type="datetimeFigureOut">
              <a:rPr lang="zh-CN" altLang="en-US" smtClean="0"/>
              <a:t>2025/12/12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
        <p:nvSpPr>
          <p:cNvPr id="40" name="等腰三角形 39"/>
          <p:cNvSpPr/>
          <p:nvPr userDrawn="1"/>
        </p:nvSpPr>
        <p:spPr>
          <a:xfrm>
            <a:off x="7741543" y="3609725"/>
            <a:ext cx="6887119" cy="3248275"/>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等腰三角形 6"/>
          <p:cNvSpPr/>
          <p:nvPr userDrawn="1"/>
        </p:nvSpPr>
        <p:spPr>
          <a:xfrm flipH="1" flipV="1">
            <a:off x="-766394" y="-28491"/>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等腰三角形 7"/>
          <p:cNvSpPr/>
          <p:nvPr userDrawn="1"/>
        </p:nvSpPr>
        <p:spPr>
          <a:xfrm flipH="1" flipV="1">
            <a:off x="1414174" y="635"/>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等腰三角形 8"/>
          <p:cNvSpPr/>
          <p:nvPr userDrawn="1"/>
        </p:nvSpPr>
        <p:spPr>
          <a:xfrm>
            <a:off x="6086073" y="4299128"/>
            <a:ext cx="5426766" cy="2559507"/>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1" name="组合 40"/>
          <p:cNvGrpSpPr/>
          <p:nvPr userDrawn="1"/>
        </p:nvGrpSpPr>
        <p:grpSpPr>
          <a:xfrm>
            <a:off x="2308773" y="3437345"/>
            <a:ext cx="7551038" cy="105497"/>
            <a:chOff x="2101845" y="3387257"/>
            <a:chExt cx="7551038" cy="105497"/>
          </a:xfrm>
        </p:grpSpPr>
        <p:cxnSp>
          <p:nvCxnSpPr>
            <p:cNvPr id="42" name="直接连接符 41"/>
            <p:cNvCxnSpPr/>
            <p:nvPr/>
          </p:nvCxnSpPr>
          <p:spPr>
            <a:xfrm>
              <a:off x="2369489" y="3440005"/>
              <a:ext cx="7283394" cy="0"/>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5" name="椭圆 44"/>
            <p:cNvSpPr/>
            <p:nvPr/>
          </p:nvSpPr>
          <p:spPr>
            <a:xfrm>
              <a:off x="2101845" y="3387257"/>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 name="椭圆 9"/>
          <p:cNvSpPr/>
          <p:nvPr userDrawn="1"/>
        </p:nvSpPr>
        <p:spPr>
          <a:xfrm>
            <a:off x="10011958" y="3437345"/>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userDrawn="1"/>
        </p:nvSpPr>
        <p:spPr>
          <a:xfrm>
            <a:off x="4334510" y="2411730"/>
            <a:ext cx="4063365" cy="1106805"/>
          </a:xfrm>
          <a:prstGeom prst="rect">
            <a:avLst/>
          </a:prstGeom>
          <a:noFill/>
        </p:spPr>
        <p:txBody>
          <a:bodyPr wrap="square" rtlCol="0">
            <a:spAutoFit/>
            <a:scene3d>
              <a:camera prst="orthographicFront"/>
              <a:lightRig rig="threePt" dir="t"/>
            </a:scene3d>
          </a:bodyPr>
          <a:lstStyle/>
          <a:p>
            <a:r>
              <a:rPr lang="zh-CN" altLang="en-US" sz="6600" dirty="0">
                <a:ln/>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rPr>
              <a:t>谢谢</a:t>
            </a:r>
          </a:p>
        </p:txBody>
      </p:sp>
      <p:pic>
        <p:nvPicPr>
          <p:cNvPr id="3" name="图片 2">
            <a:extLst>
              <a:ext uri="{FF2B5EF4-FFF2-40B4-BE49-F238E27FC236}">
                <a16:creationId xmlns:a16="http://schemas.microsoft.com/office/drawing/2014/main" id="{BB874365-5214-1B4A-D169-D3A0C527A07A}"/>
              </a:ext>
            </a:extLst>
          </p:cNvPr>
          <p:cNvPicPr>
            <a:picLocks noChangeAspect="1"/>
          </p:cNvPicPr>
          <p:nvPr userDrawn="1"/>
        </p:nvPicPr>
        <p:blipFill>
          <a:blip r:embed="rId2">
            <a:alphaModFix amt="20000"/>
          </a:blip>
          <a:stretch>
            <a:fillRect/>
          </a:stretch>
        </p:blipFill>
        <p:spPr>
          <a:xfrm>
            <a:off x="8615206" y="3218535"/>
            <a:ext cx="3342857" cy="3542857"/>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521" y="274702"/>
            <a:ext cx="10971372" cy="1143265"/>
          </a:xfrm>
          <a:prstGeom prst="rect">
            <a:avLst/>
          </a:prstGeom>
        </p:spPr>
        <p:txBody>
          <a:bodyPr vert="horz" lIns="121917" tIns="60958" rIns="121917" bIns="60958" rtlCol="0" anchor="ctr">
            <a:normAutofit/>
          </a:bodyPr>
          <a:lstStyle/>
          <a:p>
            <a:r>
              <a:rPr lang="zh-CN" altLang="en-US"/>
              <a:t>单击此处编辑母版标题样式</a:t>
            </a:r>
          </a:p>
        </p:txBody>
      </p:sp>
      <p:sp>
        <p:nvSpPr>
          <p:cNvPr id="3" name="文本占位符 2"/>
          <p:cNvSpPr>
            <a:spLocks noGrp="1"/>
          </p:cNvSpPr>
          <p:nvPr>
            <p:ph type="body" idx="1"/>
          </p:nvPr>
        </p:nvSpPr>
        <p:spPr>
          <a:xfrm>
            <a:off x="609521" y="1600572"/>
            <a:ext cx="10971372" cy="4527011"/>
          </a:xfrm>
          <a:prstGeom prst="rect">
            <a:avLst/>
          </a:prstGeom>
        </p:spPr>
        <p:txBody>
          <a:bodyPr vert="horz" lIns="121917" tIns="60958" rIns="121917" bIns="60958"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609521" y="6357822"/>
            <a:ext cx="2844430" cy="365210"/>
          </a:xfrm>
          <a:prstGeom prst="rect">
            <a:avLst/>
          </a:prstGeom>
        </p:spPr>
        <p:txBody>
          <a:bodyPr vert="horz" lIns="121917" tIns="60958" rIns="121917" bIns="60958" rtlCol="0" anchor="ctr"/>
          <a:lstStyle>
            <a:lvl1pPr algn="l">
              <a:defRPr sz="1600">
                <a:solidFill>
                  <a:schemeClr val="tx1">
                    <a:tint val="75000"/>
                  </a:schemeClr>
                </a:solidFill>
              </a:defRPr>
            </a:lvl1pPr>
          </a:lstStyle>
          <a:p>
            <a:fld id="{530820CF-B880-4189-942D-D702A7CBA730}" type="datetimeFigureOut">
              <a:rPr lang="zh-CN" altLang="en-US" smtClean="0"/>
              <a:t>2025/12/12</a:t>
            </a:fld>
            <a:endParaRPr lang="zh-CN" altLang="en-US"/>
          </a:p>
        </p:txBody>
      </p:sp>
      <p:sp>
        <p:nvSpPr>
          <p:cNvPr id="5" name="页脚占位符 4"/>
          <p:cNvSpPr>
            <a:spLocks noGrp="1"/>
          </p:cNvSpPr>
          <p:nvPr>
            <p:ph type="ftr" sz="quarter" idx="3"/>
          </p:nvPr>
        </p:nvSpPr>
        <p:spPr>
          <a:xfrm>
            <a:off x="4165058" y="6357822"/>
            <a:ext cx="3860297" cy="365210"/>
          </a:xfrm>
          <a:prstGeom prst="rect">
            <a:avLst/>
          </a:prstGeom>
        </p:spPr>
        <p:txBody>
          <a:bodyPr vert="horz" lIns="121917" tIns="60958" rIns="121917" bIns="60958" rtlCol="0" anchor="ctr"/>
          <a:lstStyle>
            <a:lvl1pPr algn="ctr">
              <a:defRPr sz="16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736463" y="6357822"/>
            <a:ext cx="2844430" cy="365210"/>
          </a:xfrm>
          <a:prstGeom prst="rect">
            <a:avLst/>
          </a:prstGeom>
        </p:spPr>
        <p:txBody>
          <a:bodyPr vert="horz" lIns="121917" tIns="60958" rIns="121917" bIns="60958" rtlCol="0" anchor="ctr"/>
          <a:lstStyle>
            <a:lvl1pPr algn="r">
              <a:defRPr sz="1600">
                <a:solidFill>
                  <a:schemeClr val="tx1">
                    <a:tint val="75000"/>
                  </a:schemeClr>
                </a:solidFill>
              </a:defRPr>
            </a:lvl1pPr>
          </a:lstStyle>
          <a:p>
            <a:fld id="{0C913308-F349-4B6D-A68A-DD1791B4A57B}"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txStyles>
    <p:titleStyle>
      <a:lvl1pPr algn="ctr" defTabSz="1219200" rtl="0" eaLnBrk="1" latinLnBrk="0" hangingPunct="1">
        <a:spcBef>
          <a:spcPct val="0"/>
        </a:spcBef>
        <a:buNone/>
        <a:defRPr sz="5900" kern="1200">
          <a:solidFill>
            <a:schemeClr val="tx1"/>
          </a:solidFill>
          <a:latin typeface="+mj-lt"/>
          <a:ea typeface="+mj-ea"/>
          <a:cs typeface="+mj-cs"/>
        </a:defRPr>
      </a:lvl1pPr>
    </p:titleStyle>
    <p:bodyStyle>
      <a:lvl1pPr marL="457200" indent="-457200" algn="l" defTabSz="1219200" rtl="0" eaLnBrk="1" latinLnBrk="0" hangingPunct="1">
        <a:spcBef>
          <a:spcPct val="20000"/>
        </a:spcBef>
        <a:buFont typeface="Arial" panose="020B0604020202020204" pitchFamily="34" charset="0"/>
        <a:buChar char="•"/>
        <a:defRPr sz="4300" kern="1200">
          <a:solidFill>
            <a:schemeClr val="tx1"/>
          </a:solidFill>
          <a:latin typeface="+mn-lt"/>
          <a:ea typeface="+mn-ea"/>
          <a:cs typeface="+mn-cs"/>
        </a:defRPr>
      </a:lvl1pPr>
      <a:lvl2pPr marL="990600" indent="-381000" algn="l" defTabSz="1219200" rtl="0" eaLnBrk="1" latinLnBrk="0" hangingPunct="1">
        <a:spcBef>
          <a:spcPct val="20000"/>
        </a:spcBef>
        <a:buFont typeface="Arial" panose="020B0604020202020204" pitchFamily="34" charset="0"/>
        <a:buChar char="–"/>
        <a:defRPr sz="3700" kern="1200">
          <a:solidFill>
            <a:schemeClr val="tx1"/>
          </a:solidFill>
          <a:latin typeface="+mn-lt"/>
          <a:ea typeface="+mn-ea"/>
          <a:cs typeface="+mn-cs"/>
        </a:defRPr>
      </a:lvl2pPr>
      <a:lvl3pPr marL="1524000" indent="-304800" algn="l" defTabSz="12192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36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4pPr>
      <a:lvl5pPr marL="27432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notesSlide" Target="../notesSlides/notesSlide11.xml"/><Relationship Id="rId3" Type="http://schemas.openxmlformats.org/officeDocument/2006/relationships/tags" Target="../tags/tag4.xml"/><Relationship Id="rId7" Type="http://schemas.openxmlformats.org/officeDocument/2006/relationships/slideLayout" Target="../slideLayouts/slideLayout2.xml"/><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tags" Target="../tags/tag7.xml"/><Relationship Id="rId5" Type="http://schemas.openxmlformats.org/officeDocument/2006/relationships/tags" Target="../tags/tag6.xml"/><Relationship Id="rId4" Type="http://schemas.openxmlformats.org/officeDocument/2006/relationships/tags" Target="../tags/tag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ags" Target="../tags/tag8.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xml"/></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8.jpe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tags" Target="../tags/tag10.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tags" Target="../tags/tag11.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tags" Target="../tags/tag12.xml"/></Relationships>
</file>

<file path=ppt/slides/_rels/slide3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2.xml"/><Relationship Id="rId1" Type="http://schemas.openxmlformats.org/officeDocument/2006/relationships/tags" Target="../tags/tag13.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2.xml"/><Relationship Id="rId1" Type="http://schemas.openxmlformats.org/officeDocument/2006/relationships/tags" Target="../tags/tag14.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2.xml"/><Relationship Id="rId1" Type="http://schemas.openxmlformats.org/officeDocument/2006/relationships/tags" Target="../tags/tag15.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2.xml"/><Relationship Id="rId1" Type="http://schemas.openxmlformats.org/officeDocument/2006/relationships/tags" Target="../tags/tag16.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2.xml"/><Relationship Id="rId1" Type="http://schemas.openxmlformats.org/officeDocument/2006/relationships/tags" Target="../tags/tag1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2.xml"/><Relationship Id="rId1" Type="http://schemas.openxmlformats.org/officeDocument/2006/relationships/tags" Target="../tags/tag18.xml"/></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2.xml"/><Relationship Id="rId1" Type="http://schemas.openxmlformats.org/officeDocument/2006/relationships/tags" Target="../tags/tag19.xml"/></Relationships>
</file>

<file path=ppt/slides/_rels/slide4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2.xml"/><Relationship Id="rId1" Type="http://schemas.openxmlformats.org/officeDocument/2006/relationships/tags" Target="../tags/tag20.xml"/></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2.xml"/><Relationship Id="rId1" Type="http://schemas.openxmlformats.org/officeDocument/2006/relationships/tags" Target="../tags/tag21.xml"/></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2.xml"/><Relationship Id="rId1" Type="http://schemas.openxmlformats.org/officeDocument/2006/relationships/tags" Target="../tags/tag2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49.xml"/><Relationship Id="rId1" Type="http://schemas.openxmlformats.org/officeDocument/2006/relationships/slideLayout" Target="../slideLayouts/slideLayout2.xml"/><Relationship Id="rId4" Type="http://schemas.openxmlformats.org/officeDocument/2006/relationships/image" Target="../media/image10.emf"/></Relationships>
</file>

<file path=ppt/slides/_rels/slide5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50.xml"/><Relationship Id="rId1" Type="http://schemas.openxmlformats.org/officeDocument/2006/relationships/slideLayout" Target="../slideLayouts/slideLayout2.xml"/><Relationship Id="rId4" Type="http://schemas.openxmlformats.org/officeDocument/2006/relationships/image" Target="../media/image11.emf"/></Relationships>
</file>

<file path=ppt/slides/_rels/slide59.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notesSlide" Target="../notesSlides/notesSlide55.xml"/><Relationship Id="rId2" Type="http://schemas.openxmlformats.org/officeDocument/2006/relationships/slideLayout" Target="../slideLayouts/slideLayout2.xml"/><Relationship Id="rId1" Type="http://schemas.openxmlformats.org/officeDocument/2006/relationships/tags" Target="../tags/tag23.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58.xml"/><Relationship Id="rId1" Type="http://schemas.openxmlformats.org/officeDocument/2006/relationships/slideLayout" Target="../slideLayouts/slideLayout2.xml"/><Relationship Id="rId6" Type="http://schemas.openxmlformats.org/officeDocument/2006/relationships/image" Target="../media/image14.emf"/><Relationship Id="rId5" Type="http://schemas.openxmlformats.org/officeDocument/2006/relationships/oleObject" Target="../embeddings/oleObject4.bin"/><Relationship Id="rId4" Type="http://schemas.openxmlformats.org/officeDocument/2006/relationships/image" Target="../media/image13.emf"/></Relationships>
</file>

<file path=ppt/slides/_rels/slide67.xml.rels><?xml version="1.0" encoding="UTF-8" standalone="yes"?>
<Relationships xmlns="http://schemas.openxmlformats.org/package/2006/relationships"><Relationship Id="rId3" Type="http://schemas.openxmlformats.org/officeDocument/2006/relationships/notesSlide" Target="../notesSlides/notesSlide59.xml"/><Relationship Id="rId2" Type="http://schemas.openxmlformats.org/officeDocument/2006/relationships/slideLayout" Target="../slideLayouts/slideLayout2.xml"/><Relationship Id="rId1" Type="http://schemas.openxmlformats.org/officeDocument/2006/relationships/tags" Target="../tags/tag24.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oleObject" Target="../embeddings/Microsoft_Visio_2003-2010_Drawing.vsd"/><Relationship Id="rId2" Type="http://schemas.openxmlformats.org/officeDocument/2006/relationships/notesSlide" Target="../notesSlides/notesSlide62.xml"/><Relationship Id="rId1" Type="http://schemas.openxmlformats.org/officeDocument/2006/relationships/slideLayout" Target="../slideLayouts/slideLayout2.xml"/><Relationship Id="rId4" Type="http://schemas.openxmlformats.org/officeDocument/2006/relationships/image" Target="../media/image15.emf"/></Relationships>
</file>

<file path=ppt/slides/_rels/slide71.xml.rels><?xml version="1.0" encoding="UTF-8" standalone="yes"?>
<Relationships xmlns="http://schemas.openxmlformats.org/package/2006/relationships"><Relationship Id="rId3" Type="http://schemas.openxmlformats.org/officeDocument/2006/relationships/notesSlide" Target="../notesSlides/notesSlide63.xml"/><Relationship Id="rId2" Type="http://schemas.openxmlformats.org/officeDocument/2006/relationships/slideLayout" Target="../slideLayouts/slideLayout2.xml"/><Relationship Id="rId1" Type="http://schemas.openxmlformats.org/officeDocument/2006/relationships/tags" Target="../tags/tag25.xml"/></Relationships>
</file>

<file path=ppt/slides/_rels/slide72.xml.rels><?xml version="1.0" encoding="UTF-8" standalone="yes"?>
<Relationships xmlns="http://schemas.openxmlformats.org/package/2006/relationships"><Relationship Id="rId3" Type="http://schemas.openxmlformats.org/officeDocument/2006/relationships/notesSlide" Target="../notesSlides/notesSlide64.xml"/><Relationship Id="rId2" Type="http://schemas.openxmlformats.org/officeDocument/2006/relationships/slideLayout" Target="../slideLayouts/slideLayout2.xml"/><Relationship Id="rId1" Type="http://schemas.openxmlformats.org/officeDocument/2006/relationships/tags" Target="../tags/tag26.xml"/></Relationships>
</file>

<file path=ppt/slides/_rels/slide7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notesSlide" Target="../notesSlides/notesSlide67.xml"/><Relationship Id="rId2" Type="http://schemas.openxmlformats.org/officeDocument/2006/relationships/slideLayout" Target="../slideLayouts/slideLayout2.xml"/><Relationship Id="rId1" Type="http://schemas.openxmlformats.org/officeDocument/2006/relationships/tags" Target="../tags/tag27.xml"/></Relationships>
</file>

<file path=ppt/slides/_rels/slide76.xml.rels><?xml version="1.0" encoding="UTF-8" standalone="yes"?>
<Relationships xmlns="http://schemas.openxmlformats.org/package/2006/relationships"><Relationship Id="rId3" Type="http://schemas.openxmlformats.org/officeDocument/2006/relationships/notesSlide" Target="../notesSlides/notesSlide68.xml"/><Relationship Id="rId2" Type="http://schemas.openxmlformats.org/officeDocument/2006/relationships/slideLayout" Target="../slideLayouts/slideLayout2.xml"/><Relationship Id="rId1" Type="http://schemas.openxmlformats.org/officeDocument/2006/relationships/tags" Target="../tags/tag28.xml"/></Relationships>
</file>

<file path=ppt/slides/_rels/slide77.xml.rels><?xml version="1.0" encoding="UTF-8" standalone="yes"?>
<Relationships xmlns="http://schemas.openxmlformats.org/package/2006/relationships"><Relationship Id="rId3" Type="http://schemas.openxmlformats.org/officeDocument/2006/relationships/notesSlide" Target="../notesSlides/notesSlide69.xml"/><Relationship Id="rId2" Type="http://schemas.openxmlformats.org/officeDocument/2006/relationships/slideLayout" Target="../slideLayouts/slideLayout2.xml"/><Relationship Id="rId1" Type="http://schemas.openxmlformats.org/officeDocument/2006/relationships/tags" Target="../tags/tag29.xml"/></Relationships>
</file>

<file path=ppt/slides/_rels/slide78.xml.rels><?xml version="1.0" encoding="UTF-8" standalone="yes"?>
<Relationships xmlns="http://schemas.openxmlformats.org/package/2006/relationships"><Relationship Id="rId3" Type="http://schemas.openxmlformats.org/officeDocument/2006/relationships/notesSlide" Target="../notesSlides/notesSlide70.xml"/><Relationship Id="rId2" Type="http://schemas.openxmlformats.org/officeDocument/2006/relationships/slideLayout" Target="../slideLayouts/slideLayout2.xml"/><Relationship Id="rId1" Type="http://schemas.openxmlformats.org/officeDocument/2006/relationships/tags" Target="../tags/tag30.xml"/></Relationships>
</file>

<file path=ppt/slides/_rels/slide7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notesSlide" Target="../notesSlides/notesSlide72.xml"/><Relationship Id="rId2" Type="http://schemas.openxmlformats.org/officeDocument/2006/relationships/slideLayout" Target="../slideLayouts/slideLayout2.xml"/><Relationship Id="rId1" Type="http://schemas.openxmlformats.org/officeDocument/2006/relationships/tags" Target="../tags/tag31.xml"/></Relationships>
</file>

<file path=ppt/slides/_rels/slide8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2.xml"/></Relationships>
</file>

<file path=ppt/slides/_rels/slide8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3.xml"/></Relationships>
</file>

<file path=ppt/slides/_rels/slide8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4.xml"/></Relationships>
</file>

<file path=ppt/slides/_rels/slide8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notesSlide" Target="../notesSlides/notesSlide75.xml"/><Relationship Id="rId2" Type="http://schemas.openxmlformats.org/officeDocument/2006/relationships/slideLayout" Target="../slideLayouts/slideLayout2.xml"/><Relationship Id="rId1" Type="http://schemas.openxmlformats.org/officeDocument/2006/relationships/tags" Target="../tags/tag35.xml"/></Relationships>
</file>

<file path=ppt/slides/_rels/slide8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6.xml"/></Relationships>
</file>

<file path=ppt/slides/_rels/slide8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7.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8" Type="http://schemas.openxmlformats.org/officeDocument/2006/relationships/tags" Target="../tags/tag45.xml"/><Relationship Id="rId13" Type="http://schemas.openxmlformats.org/officeDocument/2006/relationships/tags" Target="../tags/tag50.xml"/><Relationship Id="rId3" Type="http://schemas.openxmlformats.org/officeDocument/2006/relationships/tags" Target="../tags/tag40.xml"/><Relationship Id="rId7" Type="http://schemas.openxmlformats.org/officeDocument/2006/relationships/tags" Target="../tags/tag44.xml"/><Relationship Id="rId12" Type="http://schemas.openxmlformats.org/officeDocument/2006/relationships/tags" Target="../tags/tag49.xml"/><Relationship Id="rId17" Type="http://schemas.openxmlformats.org/officeDocument/2006/relationships/notesSlide" Target="../notesSlides/notesSlide81.xml"/><Relationship Id="rId2" Type="http://schemas.openxmlformats.org/officeDocument/2006/relationships/tags" Target="../tags/tag39.xml"/><Relationship Id="rId16" Type="http://schemas.openxmlformats.org/officeDocument/2006/relationships/slideLayout" Target="../slideLayouts/slideLayout2.xml"/><Relationship Id="rId1" Type="http://schemas.openxmlformats.org/officeDocument/2006/relationships/tags" Target="../tags/tag38.xml"/><Relationship Id="rId6" Type="http://schemas.openxmlformats.org/officeDocument/2006/relationships/tags" Target="../tags/tag43.xml"/><Relationship Id="rId11" Type="http://schemas.openxmlformats.org/officeDocument/2006/relationships/tags" Target="../tags/tag48.xml"/><Relationship Id="rId5" Type="http://schemas.openxmlformats.org/officeDocument/2006/relationships/tags" Target="../tags/tag42.xml"/><Relationship Id="rId15" Type="http://schemas.openxmlformats.org/officeDocument/2006/relationships/tags" Target="../tags/tag52.xml"/><Relationship Id="rId10" Type="http://schemas.openxmlformats.org/officeDocument/2006/relationships/tags" Target="../tags/tag47.xml"/><Relationship Id="rId4" Type="http://schemas.openxmlformats.org/officeDocument/2006/relationships/tags" Target="../tags/tag41.xml"/><Relationship Id="rId9" Type="http://schemas.openxmlformats.org/officeDocument/2006/relationships/tags" Target="../tags/tag46.xml"/><Relationship Id="rId14" Type="http://schemas.openxmlformats.org/officeDocument/2006/relationships/tags" Target="../tags/tag51.xml"/></Relationships>
</file>

<file path=ppt/slides/_rels/slide95.xml.rels><?xml version="1.0" encoding="UTF-8" standalone="yes"?>
<Relationships xmlns="http://schemas.openxmlformats.org/package/2006/relationships"><Relationship Id="rId3" Type="http://schemas.openxmlformats.org/officeDocument/2006/relationships/notesSlide" Target="../notesSlides/notesSlide82.xml"/><Relationship Id="rId2" Type="http://schemas.openxmlformats.org/officeDocument/2006/relationships/slideLayout" Target="../slideLayouts/slideLayout2.xml"/><Relationship Id="rId1" Type="http://schemas.openxmlformats.org/officeDocument/2006/relationships/tags" Target="../tags/tag53.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4.xml"/></Relationships>
</file>

<file path=ppt/slides/_rels/slide9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5.xml"/></Relationships>
</file>

<file path=ppt/slides/_rels/slide10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notesSlide" Target="../notesSlides/notesSlide87.xml"/><Relationship Id="rId2" Type="http://schemas.openxmlformats.org/officeDocument/2006/relationships/slideLayout" Target="../slideLayouts/slideLayout2.xml"/><Relationship Id="rId1" Type="http://schemas.openxmlformats.org/officeDocument/2006/relationships/tags" Target="../tags/tag56.xml"/></Relationships>
</file>

<file path=ppt/slides/_rels/slide105.xml.rels><?xml version="1.0" encoding="UTF-8" standalone="yes"?>
<Relationships xmlns="http://schemas.openxmlformats.org/package/2006/relationships"><Relationship Id="rId3" Type="http://schemas.openxmlformats.org/officeDocument/2006/relationships/notesSlide" Target="../notesSlides/notesSlide88.xml"/><Relationship Id="rId2" Type="http://schemas.openxmlformats.org/officeDocument/2006/relationships/slideLayout" Target="../slideLayouts/slideLayout2.xml"/><Relationship Id="rId1" Type="http://schemas.openxmlformats.org/officeDocument/2006/relationships/tags" Target="../tags/tag57.xml"/></Relationships>
</file>

<file path=ppt/slides/_rels/slide10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1.xml"/><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10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92.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png"/></Relationships>
</file>

<file path=ppt/slides/_rels/slide11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1.xml"/></Relationships>
</file>

<file path=ppt/slides/_rels/slide1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3" Type="http://schemas.openxmlformats.org/officeDocument/2006/relationships/notesSlide" Target="../notesSlides/notesSlide99.xml"/><Relationship Id="rId2" Type="http://schemas.openxmlformats.org/officeDocument/2006/relationships/slideLayout" Target="../slideLayouts/slideLayout2.xml"/><Relationship Id="rId1" Type="http://schemas.openxmlformats.org/officeDocument/2006/relationships/tags" Target="../tags/tag58.xml"/></Relationships>
</file>

<file path=ppt/slides/_rels/slide1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3" Type="http://schemas.openxmlformats.org/officeDocument/2006/relationships/notesSlide" Target="../notesSlides/notesSlide104.xml"/><Relationship Id="rId2" Type="http://schemas.openxmlformats.org/officeDocument/2006/relationships/slideLayout" Target="../slideLayouts/slideLayout2.xml"/><Relationship Id="rId1" Type="http://schemas.openxmlformats.org/officeDocument/2006/relationships/tags" Target="../tags/tag59.xml"/></Relationships>
</file>

<file path=ppt/slides/_rels/slide1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5.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notesSlide" Target="../notesSlides/notesSlide107.xml"/><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3" Type="http://schemas.openxmlformats.org/officeDocument/2006/relationships/notesSlide" Target="../notesSlides/notesSlide109.xml"/><Relationship Id="rId2" Type="http://schemas.openxmlformats.org/officeDocument/2006/relationships/slideLayout" Target="../slideLayouts/slideLayout2.xml"/><Relationship Id="rId1" Type="http://schemas.openxmlformats.org/officeDocument/2006/relationships/tags" Target="../tags/tag60.xml"/></Relationships>
</file>

<file path=ppt/slides/_rels/slide127.xml.rels><?xml version="1.0" encoding="UTF-8" standalone="yes"?>
<Relationships xmlns="http://schemas.openxmlformats.org/package/2006/relationships"><Relationship Id="rId3" Type="http://schemas.openxmlformats.org/officeDocument/2006/relationships/notesSlide" Target="../notesSlides/notesSlide110.xml"/><Relationship Id="rId2" Type="http://schemas.openxmlformats.org/officeDocument/2006/relationships/slideLayout" Target="../slideLayouts/slideLayout2.xml"/><Relationship Id="rId1" Type="http://schemas.openxmlformats.org/officeDocument/2006/relationships/tags" Target="../tags/tag61.xml"/></Relationships>
</file>

<file path=ppt/slides/_rels/slide12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11.xml"/><Relationship Id="rId1" Type="http://schemas.openxmlformats.org/officeDocument/2006/relationships/slideLayout" Target="../slideLayouts/slideLayout2.xml"/><Relationship Id="rId4" Type="http://schemas.openxmlformats.org/officeDocument/2006/relationships/image" Target="../media/image28.svg"/></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1.xml"/></Relationships>
</file>

<file path=ppt/slides/_rels/slide13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3.xml"/><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4.xml"/><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6.xml"/><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7.xml"/><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18.xml"/><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3" Type="http://schemas.openxmlformats.org/officeDocument/2006/relationships/notesSlide" Target="../notesSlides/notesSlide119.xml"/><Relationship Id="rId2" Type="http://schemas.openxmlformats.org/officeDocument/2006/relationships/slideLayout" Target="../slideLayouts/slideLayout2.xml"/><Relationship Id="rId1" Type="http://schemas.openxmlformats.org/officeDocument/2006/relationships/tags" Target="../tags/tag62.xml"/></Relationships>
</file>

<file path=ppt/slides/_rels/slide137.xml.rels><?xml version="1.0" encoding="UTF-8" standalone="yes"?>
<Relationships xmlns="http://schemas.openxmlformats.org/package/2006/relationships"><Relationship Id="rId3" Type="http://schemas.openxmlformats.org/officeDocument/2006/relationships/notesSlide" Target="../notesSlides/notesSlide120.xml"/><Relationship Id="rId2" Type="http://schemas.openxmlformats.org/officeDocument/2006/relationships/slideLayout" Target="../slideLayouts/slideLayout2.xml"/><Relationship Id="rId1" Type="http://schemas.openxmlformats.org/officeDocument/2006/relationships/tags" Target="../tags/tag63.xml"/></Relationships>
</file>

<file path=ppt/slides/_rels/slide13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21.xml"/><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3" Type="http://schemas.openxmlformats.org/officeDocument/2006/relationships/notesSlide" Target="../notesSlides/notesSlide122.xml"/><Relationship Id="rId2" Type="http://schemas.openxmlformats.org/officeDocument/2006/relationships/slideLayout" Target="../slideLayouts/slideLayout2.xml"/><Relationship Id="rId1" Type="http://schemas.openxmlformats.org/officeDocument/2006/relationships/tags" Target="../tags/tag64.xml"/></Relationships>
</file>

<file path=ppt/slides/_rels/slide140.xml.rels><?xml version="1.0" encoding="UTF-8" standalone="yes"?>
<Relationships xmlns="http://schemas.openxmlformats.org/package/2006/relationships"><Relationship Id="rId3" Type="http://schemas.openxmlformats.org/officeDocument/2006/relationships/notesSlide" Target="../notesSlides/notesSlide123.xml"/><Relationship Id="rId2" Type="http://schemas.openxmlformats.org/officeDocument/2006/relationships/slideLayout" Target="../slideLayouts/slideLayout2.xml"/><Relationship Id="rId1" Type="http://schemas.openxmlformats.org/officeDocument/2006/relationships/tags" Target="../tags/tag65.xml"/></Relationships>
</file>

<file path=ppt/slides/_rels/slide14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4.xml"/><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5.xml"/><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126.xml"/><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3" Type="http://schemas.openxmlformats.org/officeDocument/2006/relationships/notesSlide" Target="../notesSlides/notesSlide127.xml"/><Relationship Id="rId2" Type="http://schemas.openxmlformats.org/officeDocument/2006/relationships/slideLayout" Target="../slideLayouts/slideLayout2.xml"/><Relationship Id="rId1" Type="http://schemas.openxmlformats.org/officeDocument/2006/relationships/tags" Target="../tags/tag66.xml"/></Relationships>
</file>

<file path=ppt/slides/_rels/slide14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28.xml"/><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3" Type="http://schemas.openxmlformats.org/officeDocument/2006/relationships/notesSlide" Target="../notesSlides/notesSlide129.xml"/><Relationship Id="rId2" Type="http://schemas.openxmlformats.org/officeDocument/2006/relationships/slideLayout" Target="../slideLayouts/slideLayout2.xml"/><Relationship Id="rId1" Type="http://schemas.openxmlformats.org/officeDocument/2006/relationships/tags" Target="../tags/tag67.xml"/></Relationships>
</file>

<file path=ppt/slides/_rels/slide14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30.xml"/><Relationship Id="rId1" Type="http://schemas.openxmlformats.org/officeDocument/2006/relationships/slideLayout" Target="../slideLayouts/slideLayout2.xml"/><Relationship Id="rId4" Type="http://schemas.openxmlformats.org/officeDocument/2006/relationships/image" Target="../media/image28.svg"/></Relationships>
</file>

<file path=ppt/slides/_rels/slide148.xml.rels><?xml version="1.0" encoding="UTF-8" standalone="yes"?>
<Relationships xmlns="http://schemas.openxmlformats.org/package/2006/relationships"><Relationship Id="rId2" Type="http://schemas.openxmlformats.org/officeDocument/2006/relationships/notesSlide" Target="../notesSlides/notesSlide131.xml"/><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2" Type="http://schemas.openxmlformats.org/officeDocument/2006/relationships/notesSlide" Target="../notesSlides/notesSlide132.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文本框 18"/>
          <p:cNvSpPr txBox="1"/>
          <p:nvPr/>
        </p:nvSpPr>
        <p:spPr>
          <a:xfrm>
            <a:off x="3503295" y="2637790"/>
            <a:ext cx="5504180" cy="783590"/>
          </a:xfrm>
          <a:prstGeom prst="rect">
            <a:avLst/>
          </a:prstGeom>
          <a:noFill/>
        </p:spPr>
        <p:txBody>
          <a:bodyPr wrap="square" rtlCol="0">
            <a:spAutoFit/>
          </a:bodyPr>
          <a:lstStyle/>
          <a:p>
            <a:r>
              <a:rPr sz="4500" dirty="0">
                <a:solidFill>
                  <a:srgbClr val="1369B2"/>
                </a:solidFill>
                <a:latin typeface="微软雅黑" panose="020B0503020204020204" pitchFamily="34" charset="-122"/>
                <a:ea typeface="微软雅黑" panose="020B0503020204020204" pitchFamily="34" charset="-122"/>
                <a:cs typeface="+mn-ea"/>
                <a:sym typeface="思源黑体 CN Medium" panose="020B0600000000000000" pitchFamily="34" charset="-122"/>
              </a:rPr>
              <a:t>第</a:t>
            </a:r>
            <a:r>
              <a:rPr lang="en-US" sz="4500" dirty="0">
                <a:solidFill>
                  <a:srgbClr val="1369B2"/>
                </a:solidFill>
                <a:latin typeface="微软雅黑" panose="020B0503020204020204" pitchFamily="34" charset="-122"/>
                <a:ea typeface="微软雅黑" panose="020B0503020204020204" pitchFamily="34" charset="-122"/>
                <a:cs typeface="+mn-ea"/>
                <a:sym typeface="思源黑体 CN Medium" panose="020B0600000000000000" pitchFamily="34" charset="-122"/>
              </a:rPr>
              <a:t>2</a:t>
            </a:r>
            <a:r>
              <a:rPr sz="4500" dirty="0">
                <a:solidFill>
                  <a:srgbClr val="1369B2"/>
                </a:solidFill>
                <a:latin typeface="微软雅黑" panose="020B0503020204020204" pitchFamily="34" charset="-122"/>
                <a:ea typeface="微软雅黑" panose="020B0503020204020204" pitchFamily="34" charset="-122"/>
                <a:cs typeface="+mn-ea"/>
                <a:sym typeface="思源黑体 CN Medium" panose="020B0600000000000000" pitchFamily="34" charset="-122"/>
              </a:rPr>
              <a:t>章 </a:t>
            </a:r>
            <a:r>
              <a:rPr lang="zh-CN" sz="4500" dirty="0">
                <a:solidFill>
                  <a:srgbClr val="1369B2"/>
                </a:solidFill>
                <a:latin typeface="微软雅黑" panose="020B0503020204020204" pitchFamily="34" charset="-122"/>
                <a:ea typeface="微软雅黑" panose="020B0503020204020204" pitchFamily="34" charset="-122"/>
                <a:cs typeface="+mn-ea"/>
                <a:sym typeface="思源黑体 CN Medium" panose="020B0600000000000000" pitchFamily="34" charset="-122"/>
              </a:rPr>
              <a:t>黑盒</a:t>
            </a:r>
            <a:r>
              <a:rPr sz="4500" dirty="0">
                <a:solidFill>
                  <a:srgbClr val="1369B2"/>
                </a:solidFill>
                <a:latin typeface="微软雅黑" panose="020B0503020204020204" pitchFamily="34" charset="-122"/>
                <a:ea typeface="微软雅黑" panose="020B0503020204020204" pitchFamily="34" charset="-122"/>
                <a:cs typeface="+mn-ea"/>
                <a:sym typeface="思源黑体 CN Medium" panose="020B0600000000000000" pitchFamily="34" charset="-122"/>
              </a:rPr>
              <a:t>测试</a:t>
            </a:r>
            <a:r>
              <a:rPr lang="zh-CN" sz="4500" dirty="0">
                <a:solidFill>
                  <a:srgbClr val="1369B2"/>
                </a:solidFill>
                <a:latin typeface="微软雅黑" panose="020B0503020204020204" pitchFamily="34" charset="-122"/>
                <a:ea typeface="微软雅黑" panose="020B0503020204020204" pitchFamily="34" charset="-122"/>
                <a:cs typeface="+mn-ea"/>
                <a:sym typeface="思源黑体 CN Medium" panose="020B0600000000000000" pitchFamily="34" charset="-122"/>
              </a:rPr>
              <a:t>方法</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 Placeholder 4"/>
          <p:cNvSpPr txBox="1"/>
          <p:nvPr/>
        </p:nvSpPr>
        <p:spPr>
          <a:xfrm>
            <a:off x="671292" y="572758"/>
            <a:ext cx="3911746" cy="662532"/>
          </a:xfrm>
          <a:prstGeom prst="rect">
            <a:avLst/>
          </a:prstGeom>
        </p:spPr>
        <p:txBody>
          <a:bodyPr lIns="121917" tIns="60958" rIns="121917" bIns="60958"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lang="zh-CN" altLang="en-US" b="1" dirty="0">
                <a:solidFill>
                  <a:srgbClr val="1369B2"/>
                </a:solidFill>
                <a:latin typeface="微软雅黑" panose="020B0503020204020204" pitchFamily="34" charset="-122"/>
                <a:ea typeface="微软雅黑" panose="020B0503020204020204" pitchFamily="34" charset="-122"/>
                <a:cs typeface="+mn-ea"/>
                <a:sym typeface="+mn-lt"/>
              </a:rPr>
              <a:t>章节概述</a:t>
            </a:r>
            <a:r>
              <a:rPr lang="en-US" altLang="zh-CN" b="1" dirty="0">
                <a:solidFill>
                  <a:srgbClr val="1369B2"/>
                </a:solidFill>
                <a:latin typeface="微软雅黑" panose="020B0503020204020204" pitchFamily="34" charset="-122"/>
                <a:ea typeface="微软雅黑" panose="020B0503020204020204" pitchFamily="34" charset="-122"/>
                <a:cs typeface="+mn-ea"/>
                <a:sym typeface="+mn-lt"/>
              </a:rPr>
              <a:t>/</a:t>
            </a:r>
            <a:r>
              <a:rPr lang="en-US" altLang="zh-CN" sz="2400" dirty="0">
                <a:solidFill>
                  <a:srgbClr val="1369B2"/>
                </a:solidFill>
                <a:latin typeface="微软雅黑" panose="020B0503020204020204" pitchFamily="34" charset="-122"/>
                <a:ea typeface="微软雅黑" panose="020B0503020204020204" pitchFamily="34" charset="-122"/>
                <a:cs typeface="+mn-ea"/>
                <a:sym typeface="+mn-lt"/>
              </a:rPr>
              <a:t> Summary</a:t>
            </a:r>
            <a:endParaRPr lang="en-GB" sz="2400" dirty="0">
              <a:solidFill>
                <a:srgbClr val="1369B2"/>
              </a:solidFill>
              <a:latin typeface="微软雅黑" panose="020B0503020204020204" pitchFamily="34" charset="-122"/>
              <a:ea typeface="微软雅黑" panose="020B0503020204020204" pitchFamily="34" charset="-122"/>
              <a:cs typeface="+mn-ea"/>
              <a:sym typeface="+mn-lt"/>
            </a:endParaRPr>
          </a:p>
        </p:txBody>
      </p:sp>
      <p:sp>
        <p:nvSpPr>
          <p:cNvPr id="80" name="TextBox 35"/>
          <p:cNvSpPr txBox="1">
            <a:spLocks noChangeArrowheads="1"/>
          </p:cNvSpPr>
          <p:nvPr/>
        </p:nvSpPr>
        <p:spPr bwMode="auto">
          <a:xfrm>
            <a:off x="1631106" y="2205504"/>
            <a:ext cx="9039080" cy="1967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nchor="t">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indent="457200" algn="just">
              <a:lnSpc>
                <a:spcPct val="150000"/>
              </a:lnSpc>
              <a:buClrTx/>
              <a:buSzTx/>
              <a:buFontTx/>
            </a:pPr>
            <a:r>
              <a:rPr lang="zh-CN" altLang="en-US" sz="2000" dirty="0">
                <a:solidFill>
                  <a:srgbClr val="595959"/>
                </a:solidFill>
                <a:latin typeface="微软雅黑" panose="020B0503020204020204" pitchFamily="34" charset="-122"/>
                <a:ea typeface="微软雅黑" panose="020B0503020204020204" pitchFamily="34" charset="-122"/>
              </a:rPr>
              <a:t>黑盒测试是软件测试中经常使用的一种测试方法，常用的</a:t>
            </a:r>
            <a:r>
              <a:rPr lang="zh-CN" altLang="en-US" sz="2000" dirty="0">
                <a:solidFill>
                  <a:srgbClr val="0070C0"/>
                </a:solidFill>
                <a:latin typeface="微软雅黑" panose="020B0503020204020204" pitchFamily="34" charset="-122"/>
                <a:ea typeface="微软雅黑" panose="020B0503020204020204" pitchFamily="34" charset="-122"/>
              </a:rPr>
              <a:t>黑盒测试方法</a:t>
            </a:r>
            <a:r>
              <a:rPr lang="zh-CN" altLang="en-US" sz="2000" dirty="0">
                <a:solidFill>
                  <a:srgbClr val="595959"/>
                </a:solidFill>
                <a:latin typeface="微软雅黑" panose="020B0503020204020204" pitchFamily="34" charset="-122"/>
                <a:ea typeface="微软雅黑" panose="020B0503020204020204" pitchFamily="34" charset="-122"/>
              </a:rPr>
              <a:t>包括</a:t>
            </a:r>
            <a:r>
              <a:rPr lang="zh-CN" altLang="en-US" sz="2000" dirty="0">
                <a:solidFill>
                  <a:srgbClr val="0070C0"/>
                </a:solidFill>
                <a:latin typeface="微软雅黑" panose="020B0503020204020204" pitchFamily="34" charset="-122"/>
                <a:ea typeface="微软雅黑" panose="020B0503020204020204" pitchFamily="34" charset="-122"/>
              </a:rPr>
              <a:t>等价类划分法</a:t>
            </a:r>
            <a:r>
              <a:rPr lang="zh-CN" altLang="en-US" sz="2000" dirty="0">
                <a:solidFill>
                  <a:srgbClr val="595959"/>
                </a:solidFill>
                <a:latin typeface="微软雅黑" panose="020B0503020204020204" pitchFamily="34" charset="-122"/>
                <a:ea typeface="微软雅黑" panose="020B0503020204020204" pitchFamily="34" charset="-122"/>
              </a:rPr>
              <a:t>、</a:t>
            </a:r>
            <a:r>
              <a:rPr lang="zh-CN" altLang="en-US" sz="2000" dirty="0">
                <a:solidFill>
                  <a:srgbClr val="0070C0"/>
                </a:solidFill>
                <a:latin typeface="微软雅黑" panose="020B0503020204020204" pitchFamily="34" charset="-122"/>
                <a:ea typeface="微软雅黑" panose="020B0503020204020204" pitchFamily="34" charset="-122"/>
              </a:rPr>
              <a:t>边界值分析法</a:t>
            </a:r>
            <a:r>
              <a:rPr lang="zh-CN" altLang="en-US" sz="2000" dirty="0">
                <a:solidFill>
                  <a:srgbClr val="595959"/>
                </a:solidFill>
                <a:latin typeface="微软雅黑" panose="020B0503020204020204" pitchFamily="34" charset="-122"/>
                <a:ea typeface="微软雅黑" panose="020B0503020204020204" pitchFamily="34" charset="-122"/>
              </a:rPr>
              <a:t>、</a:t>
            </a:r>
            <a:r>
              <a:rPr lang="zh-CN" altLang="en-US" sz="2000" dirty="0">
                <a:solidFill>
                  <a:srgbClr val="0070C0"/>
                </a:solidFill>
                <a:latin typeface="微软雅黑" panose="020B0503020204020204" pitchFamily="34" charset="-122"/>
                <a:ea typeface="微软雅黑" panose="020B0503020204020204" pitchFamily="34" charset="-122"/>
              </a:rPr>
              <a:t>因果图法与决策表法</a:t>
            </a:r>
            <a:r>
              <a:rPr lang="zh-CN" altLang="en-US" sz="2000" dirty="0">
                <a:solidFill>
                  <a:srgbClr val="595959"/>
                </a:solidFill>
                <a:latin typeface="微软雅黑" panose="020B0503020204020204" pitchFamily="34" charset="-122"/>
                <a:ea typeface="微软雅黑" panose="020B0503020204020204" pitchFamily="34" charset="-122"/>
              </a:rPr>
              <a:t>、</a:t>
            </a:r>
            <a:r>
              <a:rPr lang="zh-CN" altLang="en-US" sz="2000" dirty="0">
                <a:solidFill>
                  <a:srgbClr val="0070C0"/>
                </a:solidFill>
                <a:latin typeface="微软雅黑" panose="020B0503020204020204" pitchFamily="34" charset="-122"/>
                <a:ea typeface="微软雅黑" panose="020B0503020204020204" pitchFamily="34" charset="-122"/>
              </a:rPr>
              <a:t>正交实验设计法</a:t>
            </a:r>
            <a:r>
              <a:rPr lang="zh-CN" altLang="en-US" sz="2000" dirty="0">
                <a:solidFill>
                  <a:srgbClr val="595959"/>
                </a:solidFill>
                <a:latin typeface="微软雅黑" panose="020B0503020204020204" pitchFamily="34" charset="-122"/>
                <a:ea typeface="微软雅黑" panose="020B0503020204020204" pitchFamily="34" charset="-122"/>
              </a:rPr>
              <a:t>、</a:t>
            </a:r>
            <a:r>
              <a:rPr lang="zh-CN" altLang="en-US" sz="2000" dirty="0">
                <a:solidFill>
                  <a:srgbClr val="0070C0"/>
                </a:solidFill>
                <a:latin typeface="微软雅黑" panose="020B0503020204020204" pitchFamily="34" charset="-122"/>
                <a:ea typeface="微软雅黑" panose="020B0503020204020204" pitchFamily="34" charset="-122"/>
              </a:rPr>
              <a:t>场景法</a:t>
            </a:r>
            <a:r>
              <a:rPr lang="zh-CN" altLang="en-US" sz="2000" dirty="0">
                <a:solidFill>
                  <a:srgbClr val="595959"/>
                </a:solidFill>
                <a:latin typeface="微软雅黑" panose="020B0503020204020204" pitchFamily="34" charset="-122"/>
                <a:ea typeface="微软雅黑" panose="020B0503020204020204" pitchFamily="34" charset="-122"/>
              </a:rPr>
              <a:t>、</a:t>
            </a:r>
            <a:r>
              <a:rPr lang="zh-CN" altLang="en-US" sz="2000" dirty="0">
                <a:solidFill>
                  <a:srgbClr val="0070C0"/>
                </a:solidFill>
                <a:latin typeface="微软雅黑" panose="020B0503020204020204" pitchFamily="34" charset="-122"/>
                <a:ea typeface="微软雅黑" panose="020B0503020204020204" pitchFamily="34" charset="-122"/>
              </a:rPr>
              <a:t>状态迁移图法</a:t>
            </a:r>
            <a:r>
              <a:rPr lang="zh-CN" altLang="en-US" sz="2000" dirty="0">
                <a:solidFill>
                  <a:srgbClr val="595959"/>
                </a:solidFill>
                <a:latin typeface="微软雅黑" panose="020B0503020204020204" pitchFamily="34" charset="-122"/>
                <a:ea typeface="微软雅黑" panose="020B0503020204020204" pitchFamily="34" charset="-122"/>
              </a:rPr>
              <a:t>等，这些方法非常实用，本章将对黑盒测试的常用方法进行详细讲解。</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16E33F-9897-4B44-3F9D-80991D42DF29}"/>
            </a:ext>
          </a:extLst>
        </p:cNvPr>
        <p:cNvGrpSpPr/>
        <p:nvPr/>
      </p:nvGrpSpPr>
      <p:grpSpPr>
        <a:xfrm>
          <a:off x="0" y="0"/>
          <a:ext cx="0" cy="0"/>
          <a:chOff x="0" y="0"/>
          <a:chExt cx="0" cy="0"/>
        </a:xfrm>
      </p:grpSpPr>
      <p:sp>
        <p:nvSpPr>
          <p:cNvPr id="47" name="TextBox 35">
            <a:extLst>
              <a:ext uri="{FF2B5EF4-FFF2-40B4-BE49-F238E27FC236}">
                <a16:creationId xmlns:a16="http://schemas.microsoft.com/office/drawing/2014/main" id="{95C1A5ED-6CC7-754D-A32B-7C349C7E8632}"/>
              </a:ext>
            </a:extLst>
          </p:cNvPr>
          <p:cNvSpPr txBox="1">
            <a:spLocks noChangeArrowheads="1"/>
          </p:cNvSpPr>
          <p:nvPr/>
        </p:nvSpPr>
        <p:spPr bwMode="auto">
          <a:xfrm>
            <a:off x="983206" y="1359879"/>
            <a:ext cx="10224000" cy="14537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indent="457200"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黑盒测试又称</a:t>
            </a:r>
            <a:r>
              <a:rPr lang="zh-CN" altLang="en-US" sz="2000" dirty="0">
                <a:solidFill>
                  <a:srgbClr val="0070C0"/>
                </a:solidFill>
                <a:latin typeface="微软雅黑" panose="020B0503020204020204" pitchFamily="34" charset="-122"/>
                <a:ea typeface="微软雅黑" panose="020B0503020204020204" pitchFamily="34" charset="-122"/>
              </a:rPr>
              <a:t>功能测试、数据驱动测试或基于规格说明的测试</a:t>
            </a:r>
            <a:r>
              <a:rPr lang="en-US" altLang="zh-CN" sz="2000" dirty="0">
                <a:solidFill>
                  <a:srgbClr val="595959"/>
                </a:solidFill>
                <a:latin typeface="微软雅黑" panose="020B0503020204020204" pitchFamily="34" charset="-122"/>
                <a:ea typeface="微软雅黑" panose="020B0503020204020204" pitchFamily="34" charset="-122"/>
              </a:rPr>
              <a:t>,</a:t>
            </a:r>
            <a:r>
              <a:rPr lang="zh-CN" altLang="en-US" sz="2000" dirty="0">
                <a:solidFill>
                  <a:srgbClr val="595959"/>
                </a:solidFill>
                <a:latin typeface="微软雅黑" panose="020B0503020204020204" pitchFamily="34" charset="-122"/>
                <a:ea typeface="微软雅黑" panose="020B0503020204020204" pitchFamily="34" charset="-122"/>
              </a:rPr>
              <a:t>主要是</a:t>
            </a:r>
            <a:r>
              <a:rPr lang="zh-CN" altLang="en-US" sz="2000" dirty="0">
                <a:solidFill>
                  <a:srgbClr val="0070C0"/>
                </a:solidFill>
                <a:latin typeface="微软雅黑" panose="020B0503020204020204" pitchFamily="34" charset="-122"/>
                <a:ea typeface="微软雅黑" panose="020B0503020204020204" pitchFamily="34" charset="-122"/>
              </a:rPr>
              <a:t>根据功能需求来测试程序是否按照预期工作</a:t>
            </a:r>
            <a:r>
              <a:rPr lang="zh-CN" altLang="en-US" sz="2000" dirty="0">
                <a:solidFill>
                  <a:srgbClr val="595959"/>
                </a:solidFill>
                <a:latin typeface="微软雅黑" panose="020B0503020204020204" pitchFamily="34" charset="-122"/>
                <a:ea typeface="微软雅黑" panose="020B0503020204020204" pitchFamily="34" charset="-122"/>
              </a:rPr>
              <a:t>。黑盒测试把程序看作一个</a:t>
            </a:r>
            <a:r>
              <a:rPr lang="zh-CN" altLang="en-US" sz="2000" dirty="0">
                <a:solidFill>
                  <a:srgbClr val="0070C0"/>
                </a:solidFill>
                <a:latin typeface="微软雅黑" panose="020B0503020204020204" pitchFamily="34" charset="-122"/>
                <a:ea typeface="微软雅黑" panose="020B0503020204020204" pitchFamily="34" charset="-122"/>
              </a:rPr>
              <a:t>不能打开的黑盒子</a:t>
            </a:r>
            <a:r>
              <a:rPr lang="zh-CN" altLang="en-US" sz="2000" dirty="0">
                <a:solidFill>
                  <a:srgbClr val="595959"/>
                </a:solidFill>
                <a:latin typeface="微软雅黑" panose="020B0503020204020204" pitchFamily="34" charset="-122"/>
                <a:ea typeface="微软雅黑" panose="020B0503020204020204" pitchFamily="34" charset="-122"/>
              </a:rPr>
              <a:t>，</a:t>
            </a:r>
            <a:r>
              <a:rPr lang="zh-CN" altLang="en-US" sz="2000" dirty="0">
                <a:solidFill>
                  <a:srgbClr val="0070C0"/>
                </a:solidFill>
                <a:latin typeface="微软雅黑" panose="020B0503020204020204" pitchFamily="34" charset="-122"/>
                <a:ea typeface="微软雅黑" panose="020B0503020204020204" pitchFamily="34" charset="-122"/>
              </a:rPr>
              <a:t>不考虑内都逻辑结构</a:t>
            </a:r>
            <a:r>
              <a:rPr lang="zh-CN" altLang="en-US" sz="2000" dirty="0">
                <a:solidFill>
                  <a:srgbClr val="595959"/>
                </a:solidFill>
                <a:latin typeface="微软雅黑" panose="020B0503020204020204" pitchFamily="34" charset="-122"/>
                <a:ea typeface="微软雅黑" panose="020B0503020204020204" pitchFamily="34" charset="-122"/>
              </a:rPr>
              <a:t>。从用户的角度验证软件功能，实现端到端</a:t>
            </a:r>
            <a:r>
              <a:rPr lang="en-US" altLang="zh-CN" sz="2000" dirty="0">
                <a:solidFill>
                  <a:srgbClr val="595959"/>
                </a:solidFill>
                <a:latin typeface="微软雅黑" panose="020B0503020204020204" pitchFamily="34" charset="-122"/>
                <a:ea typeface="微软雅黑" panose="020B0503020204020204" pitchFamily="34" charset="-122"/>
              </a:rPr>
              <a:t>(end-to-end)</a:t>
            </a:r>
            <a:r>
              <a:rPr lang="zh-CN" altLang="en-US" sz="2000" dirty="0">
                <a:solidFill>
                  <a:srgbClr val="595959"/>
                </a:solidFill>
                <a:latin typeface="微软雅黑" panose="020B0503020204020204" pitchFamily="34" charset="-122"/>
                <a:ea typeface="微软雅黑" panose="020B0503020204020204" pitchFamily="34" charset="-122"/>
              </a:rPr>
              <a:t>的测试。</a:t>
            </a:r>
          </a:p>
        </p:txBody>
      </p:sp>
      <p:sp>
        <p:nvSpPr>
          <p:cNvPr id="2" name="Title 1">
            <a:extLst>
              <a:ext uri="{FF2B5EF4-FFF2-40B4-BE49-F238E27FC236}">
                <a16:creationId xmlns:a16="http://schemas.microsoft.com/office/drawing/2014/main" id="{B0FB89E5-E846-F023-18AF-7B43C96A260C}"/>
              </a:ext>
            </a:extLst>
          </p:cNvPr>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黑盒测试的定义</a:t>
            </a:r>
          </a:p>
        </p:txBody>
      </p:sp>
      <p:pic>
        <p:nvPicPr>
          <p:cNvPr id="6" name="图片 5">
            <a:extLst>
              <a:ext uri="{FF2B5EF4-FFF2-40B4-BE49-F238E27FC236}">
                <a16:creationId xmlns:a16="http://schemas.microsoft.com/office/drawing/2014/main" id="{83408B71-A7E1-D68C-1EE6-861C100AAF3D}"/>
              </a:ext>
            </a:extLst>
          </p:cNvPr>
          <p:cNvPicPr>
            <a:picLocks noChangeAspect="1"/>
          </p:cNvPicPr>
          <p:nvPr/>
        </p:nvPicPr>
        <p:blipFill>
          <a:blip r:embed="rId3"/>
          <a:stretch>
            <a:fillRect/>
          </a:stretch>
        </p:blipFill>
        <p:spPr>
          <a:xfrm>
            <a:off x="3215206" y="3285794"/>
            <a:ext cx="5760000" cy="3143362"/>
          </a:xfrm>
          <a:prstGeom prst="rect">
            <a:avLst/>
          </a:prstGeom>
        </p:spPr>
      </p:pic>
    </p:spTree>
    <p:extLst>
      <p:ext uri="{BB962C8B-B14F-4D97-AF65-F5344CB8AC3E}">
        <p14:creationId xmlns:p14="http://schemas.microsoft.com/office/powerpoint/2010/main" val="79356109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CF69FB-8F54-7990-5C37-604E3B6121CF}"/>
            </a:ext>
          </a:extLst>
        </p:cNvPr>
        <p:cNvGrpSpPr/>
        <p:nvPr/>
      </p:nvGrpSpPr>
      <p:grpSpPr>
        <a:xfrm>
          <a:off x="0" y="0"/>
          <a:ext cx="0" cy="0"/>
          <a:chOff x="0" y="0"/>
          <a:chExt cx="0" cy="0"/>
        </a:xfrm>
      </p:grpSpPr>
      <p:sp>
        <p:nvSpPr>
          <p:cNvPr id="47" name="TextBox 35">
            <a:extLst>
              <a:ext uri="{FF2B5EF4-FFF2-40B4-BE49-F238E27FC236}">
                <a16:creationId xmlns:a16="http://schemas.microsoft.com/office/drawing/2014/main" id="{638543F0-29A8-077E-5404-401AF10750E8}"/>
              </a:ext>
            </a:extLst>
          </p:cNvPr>
          <p:cNvSpPr txBox="1">
            <a:spLocks noChangeArrowheads="1"/>
          </p:cNvSpPr>
          <p:nvPr/>
        </p:nvSpPr>
        <p:spPr bwMode="auto">
          <a:xfrm>
            <a:off x="983206" y="1359879"/>
            <a:ext cx="10224000" cy="3300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黑盒测试方法对被测程序主要进行如下三个方面的检查：</a:t>
            </a:r>
          </a:p>
          <a:p>
            <a:pPr indent="457200"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a:t>
            </a:r>
            <a:r>
              <a:rPr lang="en-US" altLang="zh-CN" sz="2000" dirty="0">
                <a:solidFill>
                  <a:srgbClr val="595959"/>
                </a:solidFill>
                <a:latin typeface="微软雅黑" panose="020B0503020204020204" pitchFamily="34" charset="-122"/>
                <a:ea typeface="微软雅黑" panose="020B0503020204020204" pitchFamily="34" charset="-122"/>
              </a:rPr>
              <a:t>1</a:t>
            </a:r>
            <a:r>
              <a:rPr lang="zh-CN" altLang="en-US" sz="2000" dirty="0">
                <a:solidFill>
                  <a:srgbClr val="595959"/>
                </a:solidFill>
                <a:latin typeface="微软雅黑" panose="020B0503020204020204" pitchFamily="34" charset="-122"/>
                <a:ea typeface="微软雅黑" panose="020B0503020204020204" pitchFamily="34" charset="-122"/>
              </a:rPr>
              <a:t>）检查程序能否按</a:t>
            </a:r>
            <a:r>
              <a:rPr lang="zh-CN" altLang="en-US" sz="2000" dirty="0">
                <a:solidFill>
                  <a:srgbClr val="0070C0"/>
                </a:solidFill>
                <a:latin typeface="微软雅黑" panose="020B0503020204020204" pitchFamily="34" charset="-122"/>
                <a:ea typeface="微软雅黑" panose="020B0503020204020204" pitchFamily="34" charset="-122"/>
              </a:rPr>
              <a:t>需求规格说明书</a:t>
            </a:r>
            <a:r>
              <a:rPr lang="zh-CN" altLang="en-US" sz="2000" dirty="0">
                <a:solidFill>
                  <a:srgbClr val="595959"/>
                </a:solidFill>
                <a:latin typeface="微软雅黑" panose="020B0503020204020204" pitchFamily="34" charset="-122"/>
                <a:ea typeface="微软雅黑" panose="020B0503020204020204" pitchFamily="34" charset="-122"/>
              </a:rPr>
              <a:t>规定</a:t>
            </a:r>
            <a:r>
              <a:rPr lang="zh-CN" altLang="en-US" sz="2000" dirty="0">
                <a:solidFill>
                  <a:srgbClr val="0070C0"/>
                </a:solidFill>
                <a:latin typeface="微软雅黑" panose="020B0503020204020204" pitchFamily="34" charset="-122"/>
                <a:ea typeface="微软雅黑" panose="020B0503020204020204" pitchFamily="34" charset="-122"/>
              </a:rPr>
              <a:t>正常使用</a:t>
            </a:r>
            <a:r>
              <a:rPr lang="zh-CN" altLang="en-US" sz="2000" dirty="0">
                <a:solidFill>
                  <a:srgbClr val="595959"/>
                </a:solidFill>
                <a:latin typeface="微软雅黑" panose="020B0503020204020204" pitchFamily="34" charset="-122"/>
                <a:ea typeface="微软雅黑" panose="020B0503020204020204" pitchFamily="34" charset="-122"/>
              </a:rPr>
              <a:t>，测试各个</a:t>
            </a:r>
            <a:r>
              <a:rPr lang="zh-CN" altLang="en-US" sz="2000" dirty="0">
                <a:solidFill>
                  <a:srgbClr val="0070C0"/>
                </a:solidFill>
                <a:latin typeface="微软雅黑" panose="020B0503020204020204" pitchFamily="34" charset="-122"/>
                <a:ea typeface="微软雅黑" panose="020B0503020204020204" pitchFamily="34" charset="-122"/>
              </a:rPr>
              <a:t>功能是否有遗漏</a:t>
            </a:r>
            <a:r>
              <a:rPr lang="zh-CN" altLang="en-US" sz="2000" dirty="0">
                <a:solidFill>
                  <a:srgbClr val="595959"/>
                </a:solidFill>
                <a:latin typeface="微软雅黑" panose="020B0503020204020204" pitchFamily="34" charset="-122"/>
                <a:ea typeface="微软雅黑" panose="020B0503020204020204" pitchFamily="34" charset="-122"/>
              </a:rPr>
              <a:t>，检测</a:t>
            </a:r>
            <a:r>
              <a:rPr lang="zh-CN" altLang="en-US" sz="2000" dirty="0">
                <a:solidFill>
                  <a:srgbClr val="0070C0"/>
                </a:solidFill>
                <a:latin typeface="微软雅黑" panose="020B0503020204020204" pitchFamily="34" charset="-122"/>
                <a:ea typeface="微软雅黑" panose="020B0503020204020204" pitchFamily="34" charset="-122"/>
              </a:rPr>
              <a:t>性能等特性要求是否满足</a:t>
            </a:r>
            <a:r>
              <a:rPr lang="zh-CN" altLang="en-US" sz="2000" dirty="0">
                <a:solidFill>
                  <a:srgbClr val="595959"/>
                </a:solidFill>
                <a:latin typeface="微软雅黑" panose="020B0503020204020204" pitchFamily="34" charset="-122"/>
                <a:ea typeface="微软雅黑" panose="020B0503020204020204" pitchFamily="34" charset="-122"/>
              </a:rPr>
              <a:t>。</a:t>
            </a:r>
          </a:p>
          <a:p>
            <a:pPr indent="457200"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a:t>
            </a:r>
            <a:r>
              <a:rPr lang="en-US" altLang="zh-CN" sz="2000" dirty="0">
                <a:solidFill>
                  <a:srgbClr val="595959"/>
                </a:solidFill>
                <a:latin typeface="微软雅黑" panose="020B0503020204020204" pitchFamily="34" charset="-122"/>
                <a:ea typeface="微软雅黑" panose="020B0503020204020204" pitchFamily="34" charset="-122"/>
              </a:rPr>
              <a:t>2</a:t>
            </a:r>
            <a:r>
              <a:rPr lang="zh-CN" altLang="en-US" sz="2000" dirty="0">
                <a:solidFill>
                  <a:srgbClr val="595959"/>
                </a:solidFill>
                <a:latin typeface="微软雅黑" panose="020B0503020204020204" pitchFamily="34" charset="-122"/>
                <a:ea typeface="微软雅黑" panose="020B0503020204020204" pitchFamily="34" charset="-122"/>
              </a:rPr>
              <a:t>）检测</a:t>
            </a:r>
            <a:r>
              <a:rPr lang="zh-CN" altLang="en-US" sz="2000" dirty="0">
                <a:solidFill>
                  <a:srgbClr val="0070C0"/>
                </a:solidFill>
                <a:latin typeface="微软雅黑" panose="020B0503020204020204" pitchFamily="34" charset="-122"/>
                <a:ea typeface="微软雅黑" panose="020B0503020204020204" pitchFamily="34" charset="-122"/>
              </a:rPr>
              <a:t>人机交互</a:t>
            </a:r>
            <a:r>
              <a:rPr lang="zh-CN" altLang="en-US" sz="2000" dirty="0">
                <a:solidFill>
                  <a:srgbClr val="595959"/>
                </a:solidFill>
                <a:latin typeface="微软雅黑" panose="020B0503020204020204" pitchFamily="34" charset="-122"/>
                <a:ea typeface="微软雅黑" panose="020B0503020204020204" pitchFamily="34" charset="-122"/>
              </a:rPr>
              <a:t>、数据结构或外部数据库访问是否错误，</a:t>
            </a:r>
            <a:r>
              <a:rPr lang="zh-CN" altLang="en-US" sz="2000" b="1" dirty="0">
                <a:solidFill>
                  <a:srgbClr val="0070C0"/>
                </a:solidFill>
                <a:latin typeface="微软雅黑" panose="020B0503020204020204" pitchFamily="34" charset="-122"/>
                <a:ea typeface="微软雅黑" panose="020B0503020204020204" pitchFamily="34" charset="-122"/>
              </a:rPr>
              <a:t>程序是否能适当地接收输入数据而产生正确的输出结果</a:t>
            </a:r>
            <a:r>
              <a:rPr lang="zh-CN" altLang="en-US" sz="2000" dirty="0">
                <a:solidFill>
                  <a:srgbClr val="595959"/>
                </a:solidFill>
                <a:latin typeface="微软雅黑" panose="020B0503020204020204" pitchFamily="34" charset="-122"/>
                <a:ea typeface="微软雅黑" panose="020B0503020204020204" pitchFamily="34" charset="-122"/>
              </a:rPr>
              <a:t>，并保持</a:t>
            </a:r>
            <a:r>
              <a:rPr lang="zh-CN" altLang="en-US" sz="2000" dirty="0">
                <a:solidFill>
                  <a:srgbClr val="0070C0"/>
                </a:solidFill>
                <a:latin typeface="微软雅黑" panose="020B0503020204020204" pitchFamily="34" charset="-122"/>
                <a:ea typeface="微软雅黑" panose="020B0503020204020204" pitchFamily="34" charset="-122"/>
              </a:rPr>
              <a:t>外部信息</a:t>
            </a:r>
            <a:r>
              <a:rPr lang="en-US" altLang="zh-CN" sz="2000" dirty="0">
                <a:solidFill>
                  <a:srgbClr val="0070C0"/>
                </a:solidFill>
                <a:latin typeface="微软雅黑" panose="020B0503020204020204" pitchFamily="34" charset="-122"/>
                <a:ea typeface="微软雅黑" panose="020B0503020204020204" pitchFamily="34" charset="-122"/>
              </a:rPr>
              <a:t>(</a:t>
            </a:r>
            <a:r>
              <a:rPr lang="zh-CN" altLang="en-US" sz="2000" dirty="0">
                <a:solidFill>
                  <a:srgbClr val="0070C0"/>
                </a:solidFill>
                <a:latin typeface="微软雅黑" panose="020B0503020204020204" pitchFamily="34" charset="-122"/>
                <a:ea typeface="微软雅黑" panose="020B0503020204020204" pitchFamily="34" charset="-122"/>
              </a:rPr>
              <a:t>如数据库或文件</a:t>
            </a:r>
            <a:r>
              <a:rPr lang="en-US" altLang="zh-CN" sz="2000" dirty="0">
                <a:solidFill>
                  <a:srgbClr val="0070C0"/>
                </a:solidFill>
                <a:latin typeface="微软雅黑" panose="020B0503020204020204" pitchFamily="34" charset="-122"/>
                <a:ea typeface="微软雅黑" panose="020B0503020204020204" pitchFamily="34" charset="-122"/>
              </a:rPr>
              <a:t>)</a:t>
            </a:r>
            <a:r>
              <a:rPr lang="zh-CN" altLang="en-US" sz="2000" dirty="0">
                <a:solidFill>
                  <a:srgbClr val="0070C0"/>
                </a:solidFill>
                <a:latin typeface="微软雅黑" panose="020B0503020204020204" pitchFamily="34" charset="-122"/>
                <a:ea typeface="微软雅黑" panose="020B0503020204020204" pitchFamily="34" charset="-122"/>
              </a:rPr>
              <a:t>的完整性</a:t>
            </a:r>
            <a:r>
              <a:rPr lang="zh-CN" altLang="en-US" sz="2000" dirty="0">
                <a:solidFill>
                  <a:srgbClr val="595959"/>
                </a:solidFill>
                <a:latin typeface="微软雅黑" panose="020B0503020204020204" pitchFamily="34" charset="-122"/>
                <a:ea typeface="微软雅黑" panose="020B0503020204020204" pitchFamily="34" charset="-122"/>
              </a:rPr>
              <a:t>。</a:t>
            </a:r>
          </a:p>
          <a:p>
            <a:pPr indent="457200"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a:t>
            </a:r>
            <a:r>
              <a:rPr lang="en-US" altLang="zh-CN" sz="2000" dirty="0">
                <a:solidFill>
                  <a:srgbClr val="595959"/>
                </a:solidFill>
                <a:latin typeface="微软雅黑" panose="020B0503020204020204" pitchFamily="34" charset="-122"/>
                <a:ea typeface="微软雅黑" panose="020B0503020204020204" pitchFamily="34" charset="-122"/>
              </a:rPr>
              <a:t>3</a:t>
            </a:r>
            <a:r>
              <a:rPr lang="zh-CN" altLang="en-US" sz="2000" dirty="0">
                <a:solidFill>
                  <a:srgbClr val="595959"/>
                </a:solidFill>
                <a:latin typeface="微软雅黑" panose="020B0503020204020204" pitchFamily="34" charset="-122"/>
                <a:ea typeface="微软雅黑" panose="020B0503020204020204" pitchFamily="34" charset="-122"/>
              </a:rPr>
              <a:t>）检测程序</a:t>
            </a:r>
            <a:r>
              <a:rPr lang="zh-CN" altLang="en-US" sz="2000" dirty="0">
                <a:solidFill>
                  <a:srgbClr val="0070C0"/>
                </a:solidFill>
                <a:latin typeface="微软雅黑" panose="020B0503020204020204" pitchFamily="34" charset="-122"/>
                <a:ea typeface="微软雅黑" panose="020B0503020204020204" pitchFamily="34" charset="-122"/>
              </a:rPr>
              <a:t>初始化和终止</a:t>
            </a:r>
            <a:r>
              <a:rPr lang="zh-CN" altLang="en-US" sz="2000" dirty="0">
                <a:solidFill>
                  <a:srgbClr val="595959"/>
                </a:solidFill>
                <a:latin typeface="微软雅黑" panose="020B0503020204020204" pitchFamily="34" charset="-122"/>
                <a:ea typeface="微软雅黑" panose="020B0503020204020204" pitchFamily="34" charset="-122"/>
              </a:rPr>
              <a:t>方面是否有错。</a:t>
            </a:r>
          </a:p>
          <a:p>
            <a:pPr indent="457200" algn="just">
              <a:lnSpc>
                <a:spcPct val="150000"/>
              </a:lnSpc>
            </a:pPr>
            <a:endParaRPr lang="zh-CN" altLang="en-US" sz="2000" dirty="0">
              <a:solidFill>
                <a:srgbClr val="595959"/>
              </a:solidFill>
              <a:latin typeface="微软雅黑" panose="020B0503020204020204" pitchFamily="34" charset="-122"/>
              <a:ea typeface="微软雅黑" panose="020B0503020204020204" pitchFamily="34" charset="-122"/>
            </a:endParaRPr>
          </a:p>
        </p:txBody>
      </p:sp>
      <p:sp>
        <p:nvSpPr>
          <p:cNvPr id="2" name="Title 1">
            <a:extLst>
              <a:ext uri="{FF2B5EF4-FFF2-40B4-BE49-F238E27FC236}">
                <a16:creationId xmlns:a16="http://schemas.microsoft.com/office/drawing/2014/main" id="{390A3C19-74F1-1C11-D41A-02A66AF52BFE}"/>
              </a:ext>
            </a:extLst>
          </p:cNvPr>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黑盒测试的范围</a:t>
            </a:r>
          </a:p>
        </p:txBody>
      </p:sp>
    </p:spTree>
    <p:extLst>
      <p:ext uri="{BB962C8B-B14F-4D97-AF65-F5344CB8AC3E}">
        <p14:creationId xmlns:p14="http://schemas.microsoft.com/office/powerpoint/2010/main" val="397861703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CF6898-034A-06DD-1084-CAC6A5CF2C0A}"/>
            </a:ext>
          </a:extLst>
        </p:cNvPr>
        <p:cNvGrpSpPr/>
        <p:nvPr/>
      </p:nvGrpSpPr>
      <p:grpSpPr>
        <a:xfrm>
          <a:off x="0" y="0"/>
          <a:ext cx="0" cy="0"/>
          <a:chOff x="0" y="0"/>
          <a:chExt cx="0" cy="0"/>
        </a:xfrm>
      </p:grpSpPr>
      <p:sp>
        <p:nvSpPr>
          <p:cNvPr id="47" name="TextBox 35">
            <a:extLst>
              <a:ext uri="{FF2B5EF4-FFF2-40B4-BE49-F238E27FC236}">
                <a16:creationId xmlns:a16="http://schemas.microsoft.com/office/drawing/2014/main" id="{0B8A23C5-B954-4BA1-6146-FF04ED350B24}"/>
              </a:ext>
            </a:extLst>
          </p:cNvPr>
          <p:cNvSpPr txBox="1">
            <a:spLocks noChangeArrowheads="1"/>
          </p:cNvSpPr>
          <p:nvPr/>
        </p:nvSpPr>
        <p:spPr bwMode="auto">
          <a:xfrm>
            <a:off x="983206" y="1629794"/>
            <a:ext cx="10224000" cy="3300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a:t>
            </a:r>
            <a:r>
              <a:rPr lang="en-US" altLang="zh-CN" sz="2000" dirty="0">
                <a:solidFill>
                  <a:srgbClr val="595959"/>
                </a:solidFill>
                <a:latin typeface="微软雅黑" panose="020B0503020204020204" pitchFamily="34" charset="-122"/>
                <a:ea typeface="微软雅黑" panose="020B0503020204020204" pitchFamily="34" charset="-122"/>
              </a:rPr>
              <a:t>1</a:t>
            </a:r>
            <a:r>
              <a:rPr lang="zh-CN" altLang="en-US" sz="2000" dirty="0">
                <a:solidFill>
                  <a:srgbClr val="595959"/>
                </a:solidFill>
                <a:latin typeface="微软雅黑" panose="020B0503020204020204" pitchFamily="34" charset="-122"/>
                <a:ea typeface="微软雅黑" panose="020B0503020204020204" pitchFamily="34" charset="-122"/>
              </a:rPr>
              <a:t>）比较简单，</a:t>
            </a:r>
            <a:r>
              <a:rPr lang="zh-CN" altLang="en-US" sz="2000" dirty="0">
                <a:solidFill>
                  <a:srgbClr val="0070C0"/>
                </a:solidFill>
                <a:latin typeface="微软雅黑" panose="020B0503020204020204" pitchFamily="34" charset="-122"/>
                <a:ea typeface="微软雅黑" panose="020B0503020204020204" pitchFamily="34" charset="-122"/>
              </a:rPr>
              <a:t>不需要了解程序内部的代码及实现</a:t>
            </a:r>
            <a:r>
              <a:rPr lang="zh-CN" altLang="en-US" sz="2000" dirty="0">
                <a:solidFill>
                  <a:srgbClr val="595959"/>
                </a:solidFill>
                <a:latin typeface="微软雅黑" panose="020B0503020204020204" pitchFamily="34" charset="-122"/>
                <a:ea typeface="微软雅黑" panose="020B0503020204020204" pitchFamily="34" charset="-122"/>
              </a:rPr>
              <a:t>；</a:t>
            </a:r>
          </a:p>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a:t>
            </a:r>
            <a:r>
              <a:rPr lang="en-US" altLang="zh-CN" sz="2000" dirty="0">
                <a:solidFill>
                  <a:srgbClr val="595959"/>
                </a:solidFill>
                <a:latin typeface="微软雅黑" panose="020B0503020204020204" pitchFamily="34" charset="-122"/>
                <a:ea typeface="微软雅黑" panose="020B0503020204020204" pitchFamily="34" charset="-122"/>
              </a:rPr>
              <a:t>2</a:t>
            </a:r>
            <a:r>
              <a:rPr lang="zh-CN" altLang="en-US" sz="2000" dirty="0">
                <a:solidFill>
                  <a:srgbClr val="595959"/>
                </a:solidFill>
                <a:latin typeface="微软雅黑" panose="020B0503020204020204" pitchFamily="34" charset="-122"/>
                <a:ea typeface="微软雅黑" panose="020B0503020204020204" pitchFamily="34" charset="-122"/>
              </a:rPr>
              <a:t>）与</a:t>
            </a:r>
            <a:r>
              <a:rPr lang="zh-CN" altLang="en-US" sz="2000" dirty="0">
                <a:solidFill>
                  <a:srgbClr val="0070C0"/>
                </a:solidFill>
                <a:latin typeface="微软雅黑" panose="020B0503020204020204" pitchFamily="34" charset="-122"/>
                <a:ea typeface="微软雅黑" panose="020B0503020204020204" pitchFamily="34" charset="-122"/>
              </a:rPr>
              <a:t>软件的内部实现无关</a:t>
            </a:r>
            <a:r>
              <a:rPr lang="zh-CN" altLang="en-US" sz="2000" dirty="0">
                <a:solidFill>
                  <a:srgbClr val="595959"/>
                </a:solidFill>
                <a:latin typeface="微软雅黑" panose="020B0503020204020204" pitchFamily="34" charset="-122"/>
                <a:ea typeface="微软雅黑" panose="020B0503020204020204" pitchFamily="34" charset="-122"/>
              </a:rPr>
              <a:t>；</a:t>
            </a:r>
          </a:p>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a:t>
            </a:r>
            <a:r>
              <a:rPr lang="en-US" altLang="zh-CN" sz="2000" dirty="0">
                <a:solidFill>
                  <a:srgbClr val="595959"/>
                </a:solidFill>
                <a:latin typeface="微软雅黑" panose="020B0503020204020204" pitchFamily="34" charset="-122"/>
                <a:ea typeface="微软雅黑" panose="020B0503020204020204" pitchFamily="34" charset="-122"/>
              </a:rPr>
              <a:t>3</a:t>
            </a:r>
            <a:r>
              <a:rPr lang="zh-CN" altLang="en-US" sz="2000" dirty="0">
                <a:solidFill>
                  <a:srgbClr val="595959"/>
                </a:solidFill>
                <a:latin typeface="微软雅黑" panose="020B0503020204020204" pitchFamily="34" charset="-122"/>
                <a:ea typeface="微软雅黑" panose="020B0503020204020204" pitchFamily="34" charset="-122"/>
              </a:rPr>
              <a:t>）从用户角度出发，能很容易的知道用户会用到哪些功能，会遇到哪些问题，</a:t>
            </a:r>
            <a:r>
              <a:rPr lang="zh-CN" altLang="en-US" sz="2000" dirty="0">
                <a:solidFill>
                  <a:srgbClr val="0070C0"/>
                </a:solidFill>
                <a:latin typeface="微软雅黑" panose="020B0503020204020204" pitchFamily="34" charset="-122"/>
                <a:ea typeface="微软雅黑" panose="020B0503020204020204" pitchFamily="34" charset="-122"/>
              </a:rPr>
              <a:t>从产品功能角度测试可以最大限度地满足用户的需求</a:t>
            </a:r>
            <a:r>
              <a:rPr lang="zh-CN" altLang="en-US" sz="2000" dirty="0">
                <a:solidFill>
                  <a:srgbClr val="595959"/>
                </a:solidFill>
                <a:latin typeface="微软雅黑" panose="020B0503020204020204" pitchFamily="34" charset="-122"/>
                <a:ea typeface="微软雅黑" panose="020B0503020204020204" pitchFamily="34" charset="-122"/>
              </a:rPr>
              <a:t>；</a:t>
            </a:r>
          </a:p>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a:t>
            </a:r>
            <a:r>
              <a:rPr lang="en-US" altLang="zh-CN" sz="2000" dirty="0">
                <a:solidFill>
                  <a:srgbClr val="595959"/>
                </a:solidFill>
                <a:latin typeface="微软雅黑" panose="020B0503020204020204" pitchFamily="34" charset="-122"/>
                <a:ea typeface="微软雅黑" panose="020B0503020204020204" pitchFamily="34" charset="-122"/>
              </a:rPr>
              <a:t>4</a:t>
            </a:r>
            <a:r>
              <a:rPr lang="zh-CN" altLang="en-US" sz="2000" dirty="0">
                <a:solidFill>
                  <a:srgbClr val="595959"/>
                </a:solidFill>
                <a:latin typeface="微软雅黑" panose="020B0503020204020204" pitchFamily="34" charset="-122"/>
                <a:ea typeface="微软雅黑" panose="020B0503020204020204" pitchFamily="34" charset="-122"/>
              </a:rPr>
              <a:t>）基于软件开发文档，将测试直接和待测软件要完成的操作相关联，所以能够知道</a:t>
            </a:r>
            <a:r>
              <a:rPr lang="zh-CN" altLang="en-US" sz="2000" dirty="0">
                <a:solidFill>
                  <a:srgbClr val="0070C0"/>
                </a:solidFill>
                <a:latin typeface="微软雅黑" panose="020B0503020204020204" pitchFamily="34" charset="-122"/>
                <a:ea typeface="微软雅黑" panose="020B0503020204020204" pitchFamily="34" charset="-122"/>
              </a:rPr>
              <a:t>软件实现了文档中的哪些功能</a:t>
            </a:r>
            <a:r>
              <a:rPr lang="zh-CN" altLang="en-US" sz="2000" dirty="0">
                <a:solidFill>
                  <a:srgbClr val="595959"/>
                </a:solidFill>
                <a:latin typeface="微软雅黑" panose="020B0503020204020204" pitchFamily="34" charset="-122"/>
                <a:ea typeface="微软雅黑" panose="020B0503020204020204" pitchFamily="34" charset="-122"/>
              </a:rPr>
              <a:t>；</a:t>
            </a:r>
          </a:p>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a:t>
            </a:r>
            <a:r>
              <a:rPr lang="en-US" altLang="zh-CN" sz="2000" dirty="0">
                <a:solidFill>
                  <a:srgbClr val="595959"/>
                </a:solidFill>
                <a:latin typeface="微软雅黑" panose="020B0503020204020204" pitchFamily="34" charset="-122"/>
                <a:ea typeface="微软雅黑" panose="020B0503020204020204" pitchFamily="34" charset="-122"/>
              </a:rPr>
              <a:t>5</a:t>
            </a:r>
            <a:r>
              <a:rPr lang="zh-CN" altLang="en-US" sz="2000" dirty="0">
                <a:solidFill>
                  <a:srgbClr val="595959"/>
                </a:solidFill>
                <a:latin typeface="微软雅黑" panose="020B0503020204020204" pitchFamily="34" charset="-122"/>
                <a:ea typeface="微软雅黑" panose="020B0503020204020204" pitchFamily="34" charset="-122"/>
              </a:rPr>
              <a:t>）依据测试用例有针对性地寻找问题，</a:t>
            </a:r>
            <a:r>
              <a:rPr lang="zh-CN" altLang="en-US" sz="2000" dirty="0">
                <a:solidFill>
                  <a:srgbClr val="0070C0"/>
                </a:solidFill>
                <a:latin typeface="微软雅黑" panose="020B0503020204020204" pitchFamily="34" charset="-122"/>
                <a:ea typeface="微软雅黑" panose="020B0503020204020204" pitchFamily="34" charset="-122"/>
              </a:rPr>
              <a:t>定位更为准确，容易生成测试数据</a:t>
            </a:r>
            <a:r>
              <a:rPr lang="zh-CN" altLang="en-US" sz="2000" dirty="0">
                <a:solidFill>
                  <a:srgbClr val="595959"/>
                </a:solidFill>
                <a:latin typeface="微软雅黑" panose="020B0503020204020204" pitchFamily="34" charset="-122"/>
                <a:ea typeface="微软雅黑" panose="020B0503020204020204" pitchFamily="34" charset="-122"/>
              </a:rPr>
              <a:t>；</a:t>
            </a:r>
          </a:p>
        </p:txBody>
      </p:sp>
      <p:sp>
        <p:nvSpPr>
          <p:cNvPr id="2" name="Title 1">
            <a:extLst>
              <a:ext uri="{FF2B5EF4-FFF2-40B4-BE49-F238E27FC236}">
                <a16:creationId xmlns:a16="http://schemas.microsoft.com/office/drawing/2014/main" id="{AE74C6F6-D409-A7E4-11BA-678064482938}"/>
              </a:ext>
            </a:extLst>
          </p:cNvPr>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黑盒测试的优点</a:t>
            </a:r>
          </a:p>
        </p:txBody>
      </p:sp>
    </p:spTree>
    <p:extLst>
      <p:ext uri="{BB962C8B-B14F-4D97-AF65-F5344CB8AC3E}">
        <p14:creationId xmlns:p14="http://schemas.microsoft.com/office/powerpoint/2010/main" val="313000958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14156E-C3EA-FB61-F4BD-32F776CD6EAD}"/>
            </a:ext>
          </a:extLst>
        </p:cNvPr>
        <p:cNvGrpSpPr/>
        <p:nvPr/>
      </p:nvGrpSpPr>
      <p:grpSpPr>
        <a:xfrm>
          <a:off x="0" y="0"/>
          <a:ext cx="0" cy="0"/>
          <a:chOff x="0" y="0"/>
          <a:chExt cx="0" cy="0"/>
        </a:xfrm>
      </p:grpSpPr>
      <p:sp>
        <p:nvSpPr>
          <p:cNvPr id="47" name="TextBox 35">
            <a:extLst>
              <a:ext uri="{FF2B5EF4-FFF2-40B4-BE49-F238E27FC236}">
                <a16:creationId xmlns:a16="http://schemas.microsoft.com/office/drawing/2014/main" id="{5C14DFAA-6A0B-1E54-262F-D4264A8F23F5}"/>
              </a:ext>
            </a:extLst>
          </p:cNvPr>
          <p:cNvSpPr txBox="1">
            <a:spLocks noChangeArrowheads="1"/>
          </p:cNvSpPr>
          <p:nvPr/>
        </p:nvSpPr>
        <p:spPr bwMode="auto">
          <a:xfrm>
            <a:off x="983206" y="1629794"/>
            <a:ext cx="10224000" cy="19153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a:t>
            </a:r>
            <a:r>
              <a:rPr lang="en-US" altLang="zh-CN" sz="2000" dirty="0">
                <a:solidFill>
                  <a:srgbClr val="595959"/>
                </a:solidFill>
                <a:latin typeface="微软雅黑" panose="020B0503020204020204" pitchFamily="34" charset="-122"/>
                <a:ea typeface="微软雅黑" panose="020B0503020204020204" pitchFamily="34" charset="-122"/>
              </a:rPr>
              <a:t>1</a:t>
            </a:r>
            <a:r>
              <a:rPr lang="zh-CN" altLang="en-US" sz="2000" dirty="0">
                <a:solidFill>
                  <a:srgbClr val="595959"/>
                </a:solidFill>
                <a:latin typeface="微软雅黑" panose="020B0503020204020204" pitchFamily="34" charset="-122"/>
                <a:ea typeface="微软雅黑" panose="020B0503020204020204" pitchFamily="34" charset="-122"/>
              </a:rPr>
              <a:t>）</a:t>
            </a:r>
            <a:r>
              <a:rPr lang="zh-CN" altLang="en-US" sz="2000" dirty="0">
                <a:solidFill>
                  <a:srgbClr val="0070C0"/>
                </a:solidFill>
                <a:latin typeface="微软雅黑" panose="020B0503020204020204" pitchFamily="34" charset="-122"/>
                <a:ea typeface="微软雅黑" panose="020B0503020204020204" pitchFamily="34" charset="-122"/>
              </a:rPr>
              <a:t>代码得不到测试，测试覆盖有盲区</a:t>
            </a:r>
            <a:r>
              <a:rPr lang="zh-CN" altLang="en-US" sz="2000" dirty="0">
                <a:solidFill>
                  <a:srgbClr val="595959"/>
                </a:solidFill>
                <a:latin typeface="微软雅黑" panose="020B0503020204020204" pitchFamily="34" charset="-122"/>
                <a:ea typeface="微软雅黑" panose="020B0503020204020204" pitchFamily="34" charset="-122"/>
              </a:rPr>
              <a:t>；</a:t>
            </a:r>
          </a:p>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a:t>
            </a:r>
            <a:r>
              <a:rPr lang="en-US" altLang="zh-CN" sz="2000" dirty="0">
                <a:solidFill>
                  <a:srgbClr val="595959"/>
                </a:solidFill>
                <a:latin typeface="微软雅黑" panose="020B0503020204020204" pitchFamily="34" charset="-122"/>
                <a:ea typeface="微软雅黑" panose="020B0503020204020204" pitchFamily="34" charset="-122"/>
              </a:rPr>
              <a:t>2</a:t>
            </a:r>
            <a:r>
              <a:rPr lang="zh-CN" altLang="en-US" sz="2000" dirty="0">
                <a:solidFill>
                  <a:srgbClr val="595959"/>
                </a:solidFill>
                <a:latin typeface="微软雅黑" panose="020B0503020204020204" pitchFamily="34" charset="-122"/>
                <a:ea typeface="微软雅黑" panose="020B0503020204020204" pitchFamily="34" charset="-122"/>
              </a:rPr>
              <a:t>）</a:t>
            </a:r>
            <a:r>
              <a:rPr lang="zh-CN" altLang="en-US" sz="2000" b="1" dirty="0">
                <a:solidFill>
                  <a:srgbClr val="0070C0"/>
                </a:solidFill>
                <a:latin typeface="微软雅黑" panose="020B0503020204020204" pitchFamily="34" charset="-122"/>
                <a:ea typeface="微软雅黑" panose="020B0503020204020204" pitchFamily="34" charset="-122"/>
              </a:rPr>
              <a:t>如果需求规格说明设计有误，很难发现错误所在</a:t>
            </a:r>
            <a:r>
              <a:rPr lang="zh-CN" altLang="en-US" sz="2000" dirty="0">
                <a:solidFill>
                  <a:srgbClr val="595959"/>
                </a:solidFill>
                <a:latin typeface="微软雅黑" panose="020B0503020204020204" pitchFamily="34" charset="-122"/>
                <a:ea typeface="微软雅黑" panose="020B0503020204020204" pitchFamily="34" charset="-122"/>
              </a:rPr>
              <a:t>；</a:t>
            </a:r>
          </a:p>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a:t>
            </a:r>
            <a:r>
              <a:rPr lang="en-US" altLang="zh-CN" sz="2000" dirty="0">
                <a:solidFill>
                  <a:srgbClr val="595959"/>
                </a:solidFill>
                <a:latin typeface="微软雅黑" panose="020B0503020204020204" pitchFamily="34" charset="-122"/>
                <a:ea typeface="微软雅黑" panose="020B0503020204020204" pitchFamily="34" charset="-122"/>
              </a:rPr>
              <a:t>3</a:t>
            </a:r>
            <a:r>
              <a:rPr lang="zh-CN" altLang="en-US" sz="2000" dirty="0">
                <a:solidFill>
                  <a:srgbClr val="595959"/>
                </a:solidFill>
                <a:latin typeface="微软雅黑" panose="020B0503020204020204" pitchFamily="34" charset="-122"/>
                <a:ea typeface="微软雅黑" panose="020B0503020204020204" pitchFamily="34" charset="-122"/>
              </a:rPr>
              <a:t>）测试用例设计难度大；</a:t>
            </a:r>
          </a:p>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a:t>
            </a:r>
            <a:r>
              <a:rPr lang="en-US" altLang="zh-CN" sz="2000" dirty="0">
                <a:solidFill>
                  <a:srgbClr val="595959"/>
                </a:solidFill>
                <a:latin typeface="微软雅黑" panose="020B0503020204020204" pitchFamily="34" charset="-122"/>
                <a:ea typeface="微软雅黑" panose="020B0503020204020204" pitchFamily="34" charset="-122"/>
              </a:rPr>
              <a:t>4</a:t>
            </a:r>
            <a:r>
              <a:rPr lang="zh-CN" altLang="en-US" sz="2000" dirty="0">
                <a:solidFill>
                  <a:srgbClr val="595959"/>
                </a:solidFill>
                <a:latin typeface="微软雅黑" panose="020B0503020204020204" pitchFamily="34" charset="-122"/>
                <a:ea typeface="微软雅黑" panose="020B0503020204020204" pitchFamily="34" charset="-122"/>
              </a:rPr>
              <a:t>）存在一定的冗余性。</a:t>
            </a:r>
            <a:endParaRPr lang="en-US" altLang="zh-CN" sz="2000" dirty="0">
              <a:solidFill>
                <a:srgbClr val="595959"/>
              </a:solidFill>
              <a:latin typeface="微软雅黑" panose="020B0503020204020204" pitchFamily="34" charset="-122"/>
              <a:ea typeface="微软雅黑" panose="020B0503020204020204" pitchFamily="34" charset="-122"/>
            </a:endParaRPr>
          </a:p>
        </p:txBody>
      </p:sp>
      <p:sp>
        <p:nvSpPr>
          <p:cNvPr id="2" name="Title 1">
            <a:extLst>
              <a:ext uri="{FF2B5EF4-FFF2-40B4-BE49-F238E27FC236}">
                <a16:creationId xmlns:a16="http://schemas.microsoft.com/office/drawing/2014/main" id="{CCDE39BF-0D73-B4D6-B31D-5798E27AD147}"/>
              </a:ext>
            </a:extLst>
          </p:cNvPr>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黑盒测试的缺点</a:t>
            </a:r>
          </a:p>
        </p:txBody>
      </p:sp>
    </p:spTree>
    <p:extLst>
      <p:ext uri="{BB962C8B-B14F-4D97-AF65-F5344CB8AC3E}">
        <p14:creationId xmlns:p14="http://schemas.microsoft.com/office/powerpoint/2010/main" val="424154573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535D39-A14B-487D-B119-2C3DAC1B84BF}"/>
            </a:ext>
          </a:extLst>
        </p:cNvPr>
        <p:cNvGrpSpPr/>
        <p:nvPr/>
      </p:nvGrpSpPr>
      <p:grpSpPr>
        <a:xfrm>
          <a:off x="0" y="0"/>
          <a:ext cx="0" cy="0"/>
          <a:chOff x="0" y="0"/>
          <a:chExt cx="0" cy="0"/>
        </a:xfrm>
      </p:grpSpPr>
      <p:sp>
        <p:nvSpPr>
          <p:cNvPr id="47" name="TextBox 35">
            <a:extLst>
              <a:ext uri="{FF2B5EF4-FFF2-40B4-BE49-F238E27FC236}">
                <a16:creationId xmlns:a16="http://schemas.microsoft.com/office/drawing/2014/main" id="{62FF4D1B-D13D-9728-13FD-BA2B129519A9}"/>
              </a:ext>
            </a:extLst>
          </p:cNvPr>
          <p:cNvSpPr txBox="1">
            <a:spLocks noChangeArrowheads="1"/>
          </p:cNvSpPr>
          <p:nvPr/>
        </p:nvSpPr>
        <p:spPr bwMode="auto">
          <a:xfrm>
            <a:off x="983206" y="1359879"/>
            <a:ext cx="10224000" cy="23770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indent="457200"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黑盒测试是</a:t>
            </a:r>
            <a:r>
              <a:rPr lang="zh-CN" altLang="en-US" sz="2000" dirty="0">
                <a:solidFill>
                  <a:srgbClr val="0070C0"/>
                </a:solidFill>
                <a:latin typeface="微软雅黑" panose="020B0503020204020204" pitchFamily="34" charset="-122"/>
                <a:ea typeface="微软雅黑" panose="020B0503020204020204" pitchFamily="34" charset="-122"/>
              </a:rPr>
              <a:t>穷举输入测试</a:t>
            </a:r>
            <a:r>
              <a:rPr lang="zh-CN" altLang="en-US" sz="2000" dirty="0">
                <a:solidFill>
                  <a:srgbClr val="595959"/>
                </a:solidFill>
                <a:latin typeface="微软雅黑" panose="020B0503020204020204" pitchFamily="34" charset="-122"/>
                <a:ea typeface="微软雅黑" panose="020B0503020204020204" pitchFamily="34" charset="-122"/>
              </a:rPr>
              <a:t>，只有把</a:t>
            </a:r>
            <a:r>
              <a:rPr lang="zh-CN" altLang="en-US" sz="2000" dirty="0">
                <a:solidFill>
                  <a:srgbClr val="0070C0"/>
                </a:solidFill>
                <a:latin typeface="微软雅黑" panose="020B0503020204020204" pitchFamily="34" charset="-122"/>
                <a:ea typeface="微软雅黑" panose="020B0503020204020204" pitchFamily="34" charset="-122"/>
              </a:rPr>
              <a:t>所有可能的输入都作为测试数据使用</a:t>
            </a:r>
            <a:r>
              <a:rPr lang="zh-CN" altLang="en-US" sz="2000" dirty="0">
                <a:solidFill>
                  <a:srgbClr val="595959"/>
                </a:solidFill>
                <a:latin typeface="微软雅黑" panose="020B0503020204020204" pitchFamily="34" charset="-122"/>
                <a:ea typeface="微软雅黑" panose="020B0503020204020204" pitchFamily="34" charset="-122"/>
              </a:rPr>
              <a:t>，才能查出程序中所有的错误。实际上测试情况有无穷多个，进行测试时不仅要测试</a:t>
            </a:r>
            <a:r>
              <a:rPr lang="zh-CN" altLang="en-US" sz="2000" dirty="0">
                <a:solidFill>
                  <a:srgbClr val="0070C0"/>
                </a:solidFill>
                <a:latin typeface="微软雅黑" panose="020B0503020204020204" pitchFamily="34" charset="-122"/>
                <a:ea typeface="微软雅黑" panose="020B0503020204020204" pitchFamily="34" charset="-122"/>
              </a:rPr>
              <a:t>所有合法的输入</a:t>
            </a:r>
            <a:r>
              <a:rPr lang="zh-CN" altLang="en-US" sz="2000" dirty="0">
                <a:solidFill>
                  <a:srgbClr val="595959"/>
                </a:solidFill>
                <a:latin typeface="微软雅黑" panose="020B0503020204020204" pitchFamily="34" charset="-122"/>
                <a:ea typeface="微软雅黑" panose="020B0503020204020204" pitchFamily="34" charset="-122"/>
              </a:rPr>
              <a:t>，而且还要对那些</a:t>
            </a:r>
            <a:r>
              <a:rPr lang="zh-CN" altLang="en-US" sz="2000" dirty="0">
                <a:solidFill>
                  <a:srgbClr val="0070C0"/>
                </a:solidFill>
                <a:latin typeface="微软雅黑" panose="020B0503020204020204" pitchFamily="34" charset="-122"/>
                <a:ea typeface="微软雅黑" panose="020B0503020204020204" pitchFamily="34" charset="-122"/>
              </a:rPr>
              <a:t>不合法的、但是可能的输入</a:t>
            </a:r>
            <a:r>
              <a:rPr lang="zh-CN" altLang="en-US" sz="2000" dirty="0">
                <a:solidFill>
                  <a:srgbClr val="595959"/>
                </a:solidFill>
                <a:latin typeface="微软雅黑" panose="020B0503020204020204" pitchFamily="34" charset="-122"/>
                <a:ea typeface="微软雅黑" panose="020B0503020204020204" pitchFamily="34" charset="-122"/>
              </a:rPr>
              <a:t>进行测试。常用的黑盒测试方法有</a:t>
            </a:r>
            <a:r>
              <a:rPr lang="zh-CN" altLang="en-US" sz="2000" b="1" dirty="0">
                <a:solidFill>
                  <a:srgbClr val="0070C0"/>
                </a:solidFill>
                <a:latin typeface="微软雅黑" panose="020B0503020204020204" pitchFamily="34" charset="-122"/>
                <a:ea typeface="微软雅黑" panose="020B0503020204020204" pitchFamily="34" charset="-122"/>
              </a:rPr>
              <a:t>等价类划分法、边界值法、因果图法、决策表法、正交测试法、错误推测法和场景法</a:t>
            </a:r>
            <a:r>
              <a:rPr lang="zh-CN" altLang="en-US" sz="2000" dirty="0">
                <a:solidFill>
                  <a:srgbClr val="595959"/>
                </a:solidFill>
                <a:latin typeface="微软雅黑" panose="020B0503020204020204" pitchFamily="34" charset="-122"/>
                <a:ea typeface="微软雅黑" panose="020B0503020204020204" pitchFamily="34" charset="-122"/>
              </a:rPr>
              <a:t>等，需要应</a:t>
            </a:r>
            <a:r>
              <a:rPr lang="zh-CN" altLang="en-US" sz="2000" dirty="0">
                <a:solidFill>
                  <a:srgbClr val="0070C0"/>
                </a:solidFill>
                <a:latin typeface="微软雅黑" panose="020B0503020204020204" pitchFamily="34" charset="-122"/>
                <a:ea typeface="微软雅黑" panose="020B0503020204020204" pitchFamily="34" charset="-122"/>
              </a:rPr>
              <a:t>针对软件开发项目的具体特点，选择合适的测试方法</a:t>
            </a:r>
            <a:r>
              <a:rPr lang="zh-CN" altLang="en-US" sz="2000" dirty="0">
                <a:solidFill>
                  <a:srgbClr val="595959"/>
                </a:solidFill>
                <a:latin typeface="微软雅黑" panose="020B0503020204020204" pitchFamily="34" charset="-122"/>
                <a:ea typeface="微软雅黑" panose="020B0503020204020204" pitchFamily="34" charset="-122"/>
              </a:rPr>
              <a:t>。</a:t>
            </a:r>
          </a:p>
        </p:txBody>
      </p:sp>
      <p:sp>
        <p:nvSpPr>
          <p:cNvPr id="2" name="Title 1">
            <a:extLst>
              <a:ext uri="{FF2B5EF4-FFF2-40B4-BE49-F238E27FC236}">
                <a16:creationId xmlns:a16="http://schemas.microsoft.com/office/drawing/2014/main" id="{D4C20691-5D16-3C0A-A268-6B8C32BD0A66}"/>
              </a:ext>
            </a:extLst>
          </p:cNvPr>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黑盒测试的总结</a:t>
            </a:r>
          </a:p>
        </p:txBody>
      </p:sp>
    </p:spTree>
    <p:extLst>
      <p:ext uri="{BB962C8B-B14F-4D97-AF65-F5344CB8AC3E}">
        <p14:creationId xmlns:p14="http://schemas.microsoft.com/office/powerpoint/2010/main" val="269863527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Box 48"/>
          <p:cNvSpPr txBox="1"/>
          <p:nvPr/>
        </p:nvSpPr>
        <p:spPr>
          <a:xfrm>
            <a:off x="3970118" y="3014256"/>
            <a:ext cx="6733001" cy="829945"/>
          </a:xfrm>
          <a:prstGeom prst="rect">
            <a:avLst/>
          </a:prstGeom>
          <a:noFill/>
        </p:spPr>
        <p:txBody>
          <a:bodyPr wrap="square" lIns="91443" tIns="45720" rIns="91443" bIns="45720" rtlCol="0">
            <a:spAutoFit/>
          </a:bodyPr>
          <a:lstStyle/>
          <a:p>
            <a:r>
              <a:rPr lang="zh-CN" altLang="en-US" sz="4800" b="1" dirty="0">
                <a:solidFill>
                  <a:srgbClr val="1369B2"/>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等价类划分</a:t>
            </a:r>
            <a:r>
              <a:rPr lang="zh-CN" altLang="en-US" sz="4800" b="1" dirty="0">
                <a:solidFill>
                  <a:srgbClr val="595959"/>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法</a:t>
            </a:r>
          </a:p>
        </p:txBody>
      </p:sp>
      <p:sp>
        <p:nvSpPr>
          <p:cNvPr id="2" name="TextBox 48"/>
          <p:cNvSpPr txBox="1"/>
          <p:nvPr/>
        </p:nvSpPr>
        <p:spPr>
          <a:xfrm>
            <a:off x="1626870" y="2809240"/>
            <a:ext cx="1734820" cy="1106805"/>
          </a:xfrm>
          <a:prstGeom prst="rect">
            <a:avLst/>
          </a:prstGeom>
          <a:noFill/>
        </p:spPr>
        <p:txBody>
          <a:bodyPr wrap="square" lIns="91443" tIns="45720" rIns="91443" bIns="45720" rtlCol="0">
            <a:spAutoFit/>
          </a:bodyPr>
          <a:lstStyle/>
          <a:p>
            <a:r>
              <a:rPr lang="en-US" altLang="en-GB" sz="6600" b="1" dirty="0">
                <a:solidFill>
                  <a:srgbClr val="FAFAFA"/>
                </a:solidFill>
                <a:latin typeface="微软雅黑" panose="020B0503020204020204" pitchFamily="34" charset="-122"/>
                <a:ea typeface="微软雅黑" panose="020B0503020204020204" pitchFamily="34" charset="-122"/>
                <a:cs typeface="+mn-ea"/>
                <a:sym typeface="+mn-lt"/>
              </a:rPr>
              <a:t>2.1</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p:cNvPicPr>
            <a:picLocks noChangeAspect="1"/>
          </p:cNvPicPr>
          <p:nvPr/>
        </p:nvPicPr>
        <p:blipFill>
          <a:blip r:embed="rId3"/>
          <a:stretch>
            <a:fillRect/>
          </a:stretch>
        </p:blipFill>
        <p:spPr>
          <a:xfrm>
            <a:off x="944880" y="2215515"/>
            <a:ext cx="2797810" cy="3898265"/>
          </a:xfrm>
          <a:prstGeom prst="rect">
            <a:avLst/>
          </a:prstGeom>
        </p:spPr>
      </p:pic>
      <p:sp>
        <p:nvSpPr>
          <p:cNvPr id="13" name="椭圆形标注 12"/>
          <p:cNvSpPr/>
          <p:nvPr/>
        </p:nvSpPr>
        <p:spPr>
          <a:xfrm>
            <a:off x="2968625" y="156019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p>
        </p:txBody>
      </p:sp>
      <p:sp>
        <p:nvSpPr>
          <p:cNvPr id="14" name="TextBox 35"/>
          <p:cNvSpPr txBox="1">
            <a:spLocks noChangeArrowheads="1"/>
          </p:cNvSpPr>
          <p:nvPr/>
        </p:nvSpPr>
        <p:spPr bwMode="auto">
          <a:xfrm>
            <a:off x="3247390" y="163830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p>
        </p:txBody>
      </p:sp>
      <p:sp>
        <p:nvSpPr>
          <p:cNvPr id="15" name="TextBox 35"/>
          <p:cNvSpPr txBox="1">
            <a:spLocks noChangeArrowheads="1"/>
          </p:cNvSpPr>
          <p:nvPr/>
        </p:nvSpPr>
        <p:spPr bwMode="auto">
          <a:xfrm>
            <a:off x="5935354" y="3213770"/>
            <a:ext cx="5669299" cy="10439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defRPr/>
            </a:pPr>
            <a:r>
              <a:rPr sz="200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掌握</a:t>
            </a:r>
            <a:r>
              <a:rPr lang="zh-CN" sz="200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等价类划分法概述</a:t>
            </a:r>
            <a:r>
              <a:rPr sz="200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，能够灵活</a:t>
            </a:r>
            <a:r>
              <a:rPr sz="2000">
                <a:solidFill>
                  <a:srgbClr val="0070C0"/>
                </a:solidFill>
                <a:latin typeface="微软雅黑" panose="020B0503020204020204" pitchFamily="34" charset="-122"/>
                <a:ea typeface="微软雅黑" panose="020B0503020204020204" pitchFamily="34" charset="-122"/>
                <a:cs typeface="+mn-ea"/>
                <a:sym typeface="字魂58号-创中黑" panose="00000500000000000000" pitchFamily="2" charset="-122"/>
              </a:rPr>
              <a:t>应用等价类划分法设计测试用例</a:t>
            </a:r>
            <a:endParaRPr lang="zh-CN" sz="2000" dirty="0">
              <a:solidFill>
                <a:srgbClr val="0070C0"/>
              </a:solidFill>
              <a:latin typeface="微软雅黑" panose="020B0503020204020204" pitchFamily="34" charset="-122"/>
              <a:ea typeface="微软雅黑" panose="020B0503020204020204" pitchFamily="34" charset="-122"/>
              <a:cs typeface="+mn-ea"/>
              <a:sym typeface="字魂58号-创中黑" panose="00000500000000000000" pitchFamily="2" charset="-122"/>
            </a:endParaRPr>
          </a:p>
        </p:txBody>
      </p:sp>
      <p:grpSp>
        <p:nvGrpSpPr>
          <p:cNvPr id="19" name="组合 18"/>
          <p:cNvGrpSpPr/>
          <p:nvPr/>
        </p:nvGrpSpPr>
        <p:grpSpPr>
          <a:xfrm>
            <a:off x="5452110" y="3540125"/>
            <a:ext cx="405130" cy="405130"/>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2.1.1	等价类划分法概述</a:t>
            </a: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35"/>
          <p:cNvSpPr txBox="1">
            <a:spLocks noChangeArrowheads="1"/>
          </p:cNvSpPr>
          <p:nvPr/>
        </p:nvSpPr>
        <p:spPr bwMode="auto">
          <a:xfrm>
            <a:off x="4871085" y="1701165"/>
            <a:ext cx="6289675" cy="3300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indent="457200"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一个程序可以有多个输入数据，等价类划分法的原理是把</a:t>
            </a:r>
            <a:r>
              <a:rPr lang="zh-CN" altLang="en-US" sz="2000" dirty="0">
                <a:solidFill>
                  <a:srgbClr val="0070C0"/>
                </a:solidFill>
                <a:latin typeface="微软雅黑" panose="020B0503020204020204" pitchFamily="34" charset="-122"/>
                <a:ea typeface="微软雅黑" panose="020B0503020204020204" pitchFamily="34" charset="-122"/>
              </a:rPr>
              <a:t>所有可能的输入数据</a:t>
            </a:r>
            <a:r>
              <a:rPr lang="zh-CN" altLang="en-US" sz="2000" dirty="0">
                <a:solidFill>
                  <a:srgbClr val="595959"/>
                </a:solidFill>
                <a:latin typeface="微软雅黑" panose="020B0503020204020204" pitchFamily="34" charset="-122"/>
                <a:ea typeface="微软雅黑" panose="020B0503020204020204" pitchFamily="34" charset="-122"/>
              </a:rPr>
              <a:t>，即程序的</a:t>
            </a:r>
            <a:r>
              <a:rPr lang="zh-CN" altLang="en-US" sz="2000" dirty="0">
                <a:solidFill>
                  <a:srgbClr val="0070C0"/>
                </a:solidFill>
                <a:latin typeface="微软雅黑" panose="020B0503020204020204" pitchFamily="34" charset="-122"/>
                <a:ea typeface="微软雅黑" panose="020B0503020204020204" pitchFamily="34" charset="-122"/>
              </a:rPr>
              <a:t>输入域</a:t>
            </a:r>
            <a:r>
              <a:rPr lang="zh-CN" altLang="en-US" sz="2000" dirty="0">
                <a:solidFill>
                  <a:srgbClr val="595959"/>
                </a:solidFill>
                <a:latin typeface="微软雅黑" panose="020B0503020204020204" pitchFamily="34" charset="-122"/>
                <a:ea typeface="微软雅黑" panose="020B0503020204020204" pitchFamily="34" charset="-122"/>
              </a:rPr>
              <a:t>划分成若干</a:t>
            </a:r>
            <a:r>
              <a:rPr lang="zh-CN" altLang="en-US" sz="2000" dirty="0">
                <a:solidFill>
                  <a:srgbClr val="0070C0"/>
                </a:solidFill>
                <a:latin typeface="微软雅黑" panose="020B0503020204020204" pitchFamily="34" charset="-122"/>
                <a:ea typeface="微软雅黑" panose="020B0503020204020204" pitchFamily="34" charset="-122"/>
              </a:rPr>
              <a:t>互不相交</a:t>
            </a:r>
            <a:r>
              <a:rPr lang="zh-CN" altLang="en-US" sz="2000" dirty="0">
                <a:solidFill>
                  <a:srgbClr val="595959"/>
                </a:solidFill>
                <a:latin typeface="微软雅黑" panose="020B0503020204020204" pitchFamily="34" charset="-122"/>
                <a:ea typeface="微软雅黑" panose="020B0503020204020204" pitchFamily="34" charset="-122"/>
              </a:rPr>
              <a:t>的子集，称为</a:t>
            </a:r>
            <a:r>
              <a:rPr lang="zh-CN" altLang="en-US" sz="2000" b="1" dirty="0">
                <a:solidFill>
                  <a:srgbClr val="0070C0"/>
                </a:solidFill>
                <a:latin typeface="微软雅黑" panose="020B0503020204020204" pitchFamily="34" charset="-122"/>
                <a:ea typeface="微软雅黑" panose="020B0503020204020204" pitchFamily="34" charset="-122"/>
              </a:rPr>
              <a:t>等价类</a:t>
            </a:r>
            <a:r>
              <a:rPr lang="zh-CN" altLang="en-US" sz="2000" dirty="0">
                <a:solidFill>
                  <a:srgbClr val="595959"/>
                </a:solidFill>
                <a:latin typeface="微软雅黑" panose="020B0503020204020204" pitchFamily="34" charset="-122"/>
                <a:ea typeface="微软雅黑" panose="020B0503020204020204" pitchFamily="34" charset="-122"/>
              </a:rPr>
              <a:t>。所有子集的并集则构成整个输入域。然后从每一个子集中选取</a:t>
            </a:r>
            <a:r>
              <a:rPr lang="zh-CN" altLang="en-US" sz="2000" dirty="0">
                <a:solidFill>
                  <a:srgbClr val="0070C0"/>
                </a:solidFill>
                <a:latin typeface="微软雅黑" panose="020B0503020204020204" pitchFamily="34" charset="-122"/>
                <a:ea typeface="微软雅黑" panose="020B0503020204020204" pitchFamily="34" charset="-122"/>
              </a:rPr>
              <a:t>少量具有代表性的数据</a:t>
            </a:r>
            <a:r>
              <a:rPr lang="zh-CN" altLang="en-US" sz="2000" dirty="0">
                <a:solidFill>
                  <a:srgbClr val="595959"/>
                </a:solidFill>
                <a:latin typeface="微软雅黑" panose="020B0503020204020204" pitchFamily="34" charset="-122"/>
                <a:ea typeface="微软雅黑" panose="020B0503020204020204" pitchFamily="34" charset="-122"/>
              </a:rPr>
              <a:t>作为测试用例。等价类划分类似于师生站队，男生站左边，女生站右边，老师站中间，这样就把师生群体划分成了</a:t>
            </a:r>
            <a:r>
              <a:rPr lang="en-US" altLang="zh-CN" sz="2000" dirty="0">
                <a:solidFill>
                  <a:srgbClr val="595959"/>
                </a:solidFill>
                <a:latin typeface="微软雅黑" panose="020B0503020204020204" pitchFamily="34" charset="-122"/>
                <a:ea typeface="微软雅黑" panose="020B0503020204020204" pitchFamily="34" charset="-122"/>
              </a:rPr>
              <a:t>3</a:t>
            </a:r>
            <a:r>
              <a:rPr lang="zh-CN" altLang="en-US" sz="2000" dirty="0">
                <a:solidFill>
                  <a:srgbClr val="595959"/>
                </a:solidFill>
                <a:latin typeface="微软雅黑" panose="020B0503020204020204" pitchFamily="34" charset="-122"/>
                <a:ea typeface="微软雅黑" panose="020B0503020204020204" pitchFamily="34" charset="-122"/>
              </a:rPr>
              <a:t>个等价类。</a:t>
            </a:r>
          </a:p>
        </p:txBody>
      </p:sp>
      <p:sp>
        <p:nvSpPr>
          <p:cNvPr id="2"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等价类划分法原理</a:t>
            </a:r>
          </a:p>
        </p:txBody>
      </p:sp>
      <p:pic>
        <p:nvPicPr>
          <p:cNvPr id="33" name="图片 32"/>
          <p:cNvPicPr>
            <a:picLocks noChangeAspect="1"/>
          </p:cNvPicPr>
          <p:nvPr/>
        </p:nvPicPr>
        <p:blipFill>
          <a:blip r:embed="rId3"/>
          <a:stretch>
            <a:fillRect/>
          </a:stretch>
        </p:blipFill>
        <p:spPr>
          <a:xfrm>
            <a:off x="839386" y="1413456"/>
            <a:ext cx="3715858" cy="4006159"/>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321698-BC7E-834F-054E-79529179DB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BCEC9F-836A-FC2D-EC2A-FD1C19793429}"/>
              </a:ext>
            </a:extLst>
          </p:cNvPr>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等价类的意义</a:t>
            </a:r>
          </a:p>
        </p:txBody>
      </p:sp>
      <p:sp>
        <p:nvSpPr>
          <p:cNvPr id="3" name="PA_椭圆 5">
            <a:extLst>
              <a:ext uri="{FF2B5EF4-FFF2-40B4-BE49-F238E27FC236}">
                <a16:creationId xmlns:a16="http://schemas.microsoft.com/office/drawing/2014/main" id="{47CC4AAA-50BE-EA2E-20DB-31764099FF71}"/>
              </a:ext>
            </a:extLst>
          </p:cNvPr>
          <p:cNvSpPr/>
          <p:nvPr>
            <p:custDataLst>
              <p:tags r:id="rId1"/>
            </p:custDataLst>
          </p:nvPr>
        </p:nvSpPr>
        <p:spPr>
          <a:xfrm>
            <a:off x="1382117" y="1669633"/>
            <a:ext cx="2293467" cy="2293467"/>
          </a:xfrm>
          <a:prstGeom prst="ellipse">
            <a:avLst/>
          </a:prstGeom>
          <a:solidFill>
            <a:schemeClr val="accent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2400">
              <a:solidFill>
                <a:schemeClr val="tx1">
                  <a:lumMod val="75000"/>
                  <a:lumOff val="25000"/>
                </a:schemeClr>
              </a:solidFill>
              <a:latin typeface="+mn-ea"/>
            </a:endParaRPr>
          </a:p>
        </p:txBody>
      </p:sp>
      <p:sp>
        <p:nvSpPr>
          <p:cNvPr id="4" name="PA_椭圆 6">
            <a:extLst>
              <a:ext uri="{FF2B5EF4-FFF2-40B4-BE49-F238E27FC236}">
                <a16:creationId xmlns:a16="http://schemas.microsoft.com/office/drawing/2014/main" id="{7B24D893-F8AA-B01F-CD4E-08DEE0FF1C02}"/>
              </a:ext>
            </a:extLst>
          </p:cNvPr>
          <p:cNvSpPr/>
          <p:nvPr>
            <p:custDataLst>
              <p:tags r:id="rId2"/>
            </p:custDataLst>
          </p:nvPr>
        </p:nvSpPr>
        <p:spPr>
          <a:xfrm>
            <a:off x="8292008" y="3062083"/>
            <a:ext cx="2293467" cy="2293467"/>
          </a:xfrm>
          <a:prstGeom prst="ellipse">
            <a:avLst/>
          </a:prstGeom>
          <a:solidFill>
            <a:schemeClr val="accent1">
              <a:lumMod val="40000"/>
              <a:lumOff val="60000"/>
            </a:schemeClr>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2400" dirty="0">
              <a:solidFill>
                <a:srgbClr val="00B0F0"/>
              </a:solidFill>
              <a:latin typeface="+mn-ea"/>
            </a:endParaRPr>
          </a:p>
        </p:txBody>
      </p:sp>
      <p:sp>
        <p:nvSpPr>
          <p:cNvPr id="5" name="PA_矩形 7">
            <a:extLst>
              <a:ext uri="{FF2B5EF4-FFF2-40B4-BE49-F238E27FC236}">
                <a16:creationId xmlns:a16="http://schemas.microsoft.com/office/drawing/2014/main" id="{5AED8A88-F4BD-954B-6DEE-28EB26D0691D}"/>
              </a:ext>
            </a:extLst>
          </p:cNvPr>
          <p:cNvSpPr/>
          <p:nvPr>
            <p:custDataLst>
              <p:tags r:id="rId3"/>
            </p:custDataLst>
          </p:nvPr>
        </p:nvSpPr>
        <p:spPr>
          <a:xfrm>
            <a:off x="1724858" y="2357682"/>
            <a:ext cx="1723549" cy="917367"/>
          </a:xfrm>
          <a:prstGeom prst="rect">
            <a:avLst/>
          </a:prstGeom>
          <a:effectLst/>
        </p:spPr>
        <p:txBody>
          <a:bodyPr wrap="none" anchor="ctr">
            <a:spAutoFit/>
          </a:bodyPr>
          <a:lstStyle/>
          <a:p>
            <a:pPr algn="ctr">
              <a:lnSpc>
                <a:spcPct val="150000"/>
              </a:lnSpc>
            </a:pPr>
            <a:r>
              <a:rPr lang="zh-CN" altLang="en-US" sz="6000" b="1" baseline="12000" dirty="0">
                <a:solidFill>
                  <a:schemeClr val="bg1"/>
                </a:solidFill>
                <a:latin typeface="+mj-lt"/>
              </a:rPr>
              <a:t>完备性</a:t>
            </a:r>
          </a:p>
        </p:txBody>
      </p:sp>
      <p:sp>
        <p:nvSpPr>
          <p:cNvPr id="6" name="PA_矩形 8">
            <a:extLst>
              <a:ext uri="{FF2B5EF4-FFF2-40B4-BE49-F238E27FC236}">
                <a16:creationId xmlns:a16="http://schemas.microsoft.com/office/drawing/2014/main" id="{5CB6D02D-8195-D108-E1C5-4F67C1B5DFE3}"/>
              </a:ext>
            </a:extLst>
          </p:cNvPr>
          <p:cNvSpPr/>
          <p:nvPr>
            <p:custDataLst>
              <p:tags r:id="rId4"/>
            </p:custDataLst>
          </p:nvPr>
        </p:nvSpPr>
        <p:spPr>
          <a:xfrm>
            <a:off x="8320486" y="3750132"/>
            <a:ext cx="2236510" cy="917367"/>
          </a:xfrm>
          <a:prstGeom prst="rect">
            <a:avLst/>
          </a:prstGeom>
          <a:effectLst/>
        </p:spPr>
        <p:txBody>
          <a:bodyPr wrap="none" anchor="ctr">
            <a:spAutoFit/>
          </a:bodyPr>
          <a:lstStyle/>
          <a:p>
            <a:pPr algn="ctr">
              <a:lnSpc>
                <a:spcPct val="150000"/>
              </a:lnSpc>
            </a:pPr>
            <a:r>
              <a:rPr lang="zh-CN" altLang="en-US" sz="6000" b="1" baseline="12000" dirty="0">
                <a:solidFill>
                  <a:schemeClr val="bg1"/>
                </a:solidFill>
                <a:latin typeface="+mj-lt"/>
              </a:rPr>
              <a:t>无冗余性</a:t>
            </a:r>
          </a:p>
        </p:txBody>
      </p:sp>
      <p:sp>
        <p:nvSpPr>
          <p:cNvPr id="7" name="PA_矩形 9">
            <a:extLst>
              <a:ext uri="{FF2B5EF4-FFF2-40B4-BE49-F238E27FC236}">
                <a16:creationId xmlns:a16="http://schemas.microsoft.com/office/drawing/2014/main" id="{4897776A-272B-848F-B958-E9F6A78931DA}"/>
              </a:ext>
            </a:extLst>
          </p:cNvPr>
          <p:cNvSpPr/>
          <p:nvPr>
            <p:custDataLst>
              <p:tags r:id="rId5"/>
            </p:custDataLst>
          </p:nvPr>
        </p:nvSpPr>
        <p:spPr>
          <a:xfrm>
            <a:off x="3675538" y="2230914"/>
            <a:ext cx="4839335" cy="523220"/>
          </a:xfrm>
          <a:prstGeom prst="rect">
            <a:avLst/>
          </a:prstGeom>
        </p:spPr>
        <p:txBody>
          <a:bodyPr wrap="square">
            <a:spAutoFit/>
          </a:bodyPr>
          <a:lstStyle/>
          <a:p>
            <a:pPr>
              <a:defRPr/>
            </a:pPr>
            <a:r>
              <a:rPr lang="zh-CN" altLang="en-US" sz="2800" kern="0" dirty="0">
                <a:solidFill>
                  <a:srgbClr val="0070C0"/>
                </a:solidFill>
                <a:latin typeface="+mn-ea"/>
              </a:rPr>
              <a:t>整个输入域</a:t>
            </a:r>
            <a:r>
              <a:rPr lang="zh-CN" altLang="en-US" sz="2800" kern="0" dirty="0">
                <a:solidFill>
                  <a:schemeClr val="tx1"/>
                </a:solidFill>
                <a:latin typeface="+mn-ea"/>
              </a:rPr>
              <a:t>提供</a:t>
            </a:r>
            <a:r>
              <a:rPr lang="zh-CN" altLang="en-US" sz="2800" kern="0" dirty="0">
                <a:latin typeface="+mn-ea"/>
              </a:rPr>
              <a:t>测试</a:t>
            </a:r>
            <a:r>
              <a:rPr lang="zh-CN" altLang="en-US" sz="2800" kern="0" dirty="0">
                <a:solidFill>
                  <a:schemeClr val="tx1"/>
                </a:solidFill>
                <a:latin typeface="+mn-ea"/>
              </a:rPr>
              <a:t>的完备性</a:t>
            </a:r>
          </a:p>
        </p:txBody>
      </p:sp>
      <p:sp>
        <p:nvSpPr>
          <p:cNvPr id="8" name="PA_矩形 10">
            <a:extLst>
              <a:ext uri="{FF2B5EF4-FFF2-40B4-BE49-F238E27FC236}">
                <a16:creationId xmlns:a16="http://schemas.microsoft.com/office/drawing/2014/main" id="{AAD19710-720F-CAFC-65C8-2384FD45086A}"/>
              </a:ext>
            </a:extLst>
          </p:cNvPr>
          <p:cNvSpPr/>
          <p:nvPr>
            <p:custDataLst>
              <p:tags r:id="rId6"/>
            </p:custDataLst>
          </p:nvPr>
        </p:nvSpPr>
        <p:spPr>
          <a:xfrm>
            <a:off x="3205177" y="4028655"/>
            <a:ext cx="4956810" cy="954107"/>
          </a:xfrm>
          <a:prstGeom prst="rect">
            <a:avLst/>
          </a:prstGeom>
        </p:spPr>
        <p:txBody>
          <a:bodyPr wrap="square">
            <a:spAutoFit/>
          </a:bodyPr>
          <a:lstStyle/>
          <a:p>
            <a:pPr algn="just">
              <a:defRPr/>
            </a:pPr>
            <a:r>
              <a:rPr lang="zh-CN" altLang="en-US" sz="2800" kern="0" dirty="0">
                <a:latin typeface="+mn-ea"/>
              </a:rPr>
              <a:t>等价类</a:t>
            </a:r>
            <a:r>
              <a:rPr lang="zh-CN" altLang="en-US" sz="2800" kern="0" dirty="0">
                <a:solidFill>
                  <a:srgbClr val="0070C0"/>
                </a:solidFill>
                <a:latin typeface="+mn-ea"/>
              </a:rPr>
              <a:t>互不相交</a:t>
            </a:r>
            <a:r>
              <a:rPr lang="zh-CN" altLang="en-US" sz="2800" kern="0" dirty="0">
                <a:solidFill>
                  <a:schemeClr val="tx1"/>
                </a:solidFill>
                <a:latin typeface="+mn-ea"/>
              </a:rPr>
              <a:t>保证测试数据的无冗余性</a:t>
            </a:r>
          </a:p>
        </p:txBody>
      </p:sp>
    </p:spTree>
    <p:extLst>
      <p:ext uri="{BB962C8B-B14F-4D97-AF65-F5344CB8AC3E}">
        <p14:creationId xmlns:p14="http://schemas.microsoft.com/office/powerpoint/2010/main" val="239426452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35">
            <a:extLst>
              <a:ext uri="{FF2B5EF4-FFF2-40B4-BE49-F238E27FC236}">
                <a16:creationId xmlns:a16="http://schemas.microsoft.com/office/drawing/2014/main" id="{C7F66943-0ED0-33AE-6403-2FCEA668D6D1}"/>
              </a:ext>
            </a:extLst>
          </p:cNvPr>
          <p:cNvSpPr txBox="1">
            <a:spLocks noChangeArrowheads="1"/>
          </p:cNvSpPr>
          <p:nvPr/>
        </p:nvSpPr>
        <p:spPr bwMode="auto">
          <a:xfrm>
            <a:off x="1266825" y="981710"/>
            <a:ext cx="9660890" cy="1505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使用等价类划分法测试程序需要经过</a:t>
            </a:r>
            <a:r>
              <a:rPr lang="zh-CN" altLang="en-US" sz="2000" dirty="0">
                <a:solidFill>
                  <a:srgbClr val="0070C0"/>
                </a:solidFill>
                <a:latin typeface="微软雅黑" panose="020B0503020204020204" pitchFamily="34" charset="-122"/>
                <a:ea typeface="微软雅黑" panose="020B0503020204020204" pitchFamily="34" charset="-122"/>
              </a:rPr>
              <a:t>划分等价类</a:t>
            </a:r>
            <a:r>
              <a:rPr lang="zh-CN" altLang="en-US" sz="2000" dirty="0">
                <a:solidFill>
                  <a:srgbClr val="595959"/>
                </a:solidFill>
                <a:latin typeface="微软雅黑" panose="020B0503020204020204" pitchFamily="34" charset="-122"/>
                <a:ea typeface="微软雅黑" panose="020B0503020204020204" pitchFamily="34" charset="-122"/>
              </a:rPr>
              <a:t>和</a:t>
            </a:r>
            <a:r>
              <a:rPr lang="zh-CN" altLang="en-US" sz="2000">
                <a:solidFill>
                  <a:srgbClr val="0070C0"/>
                </a:solidFill>
                <a:latin typeface="微软雅黑" panose="020B0503020204020204" pitchFamily="34" charset="-122"/>
                <a:ea typeface="微软雅黑" panose="020B0503020204020204" pitchFamily="34" charset="-122"/>
              </a:rPr>
              <a:t>设计测试用例</a:t>
            </a:r>
            <a:r>
              <a:rPr lang="en-US" altLang="zh-CN" sz="2000">
                <a:solidFill>
                  <a:srgbClr val="595959"/>
                </a:solidFill>
                <a:latin typeface="微软雅黑" panose="020B0503020204020204" pitchFamily="34" charset="-122"/>
                <a:ea typeface="微软雅黑" panose="020B0503020204020204" pitchFamily="34" charset="-122"/>
              </a:rPr>
              <a:t>2</a:t>
            </a:r>
            <a:r>
              <a:rPr lang="zh-CN" altLang="en-US" sz="2000">
                <a:solidFill>
                  <a:srgbClr val="595959"/>
                </a:solidFill>
                <a:latin typeface="微软雅黑" panose="020B0503020204020204" pitchFamily="34" charset="-122"/>
                <a:ea typeface="微软雅黑" panose="020B0503020204020204" pitchFamily="34" charset="-122"/>
              </a:rPr>
              <a:t>个</a:t>
            </a:r>
            <a:r>
              <a:rPr lang="zh-CN" altLang="en-US" sz="2000" dirty="0">
                <a:solidFill>
                  <a:srgbClr val="595959"/>
                </a:solidFill>
                <a:latin typeface="微软雅黑" panose="020B0503020204020204" pitchFamily="34" charset="-122"/>
                <a:ea typeface="微软雅黑" panose="020B0503020204020204" pitchFamily="34" charset="-122"/>
              </a:rPr>
              <a:t>步骤。</a:t>
            </a:r>
          </a:p>
          <a:p>
            <a:pPr algn="just">
              <a:lnSpc>
                <a:spcPct val="150000"/>
              </a:lnSpc>
            </a:pPr>
            <a:r>
              <a:rPr lang="zh-CN" altLang="en-US" sz="2000" b="1" dirty="0">
                <a:solidFill>
                  <a:srgbClr val="595959"/>
                </a:solidFill>
                <a:latin typeface="微软雅黑" panose="020B0503020204020204" pitchFamily="34" charset="-122"/>
                <a:ea typeface="微软雅黑" panose="020B0503020204020204" pitchFamily="34" charset="-122"/>
              </a:rPr>
              <a:t>1.</a:t>
            </a:r>
            <a:r>
              <a:rPr lang="en-US" altLang="zh-CN" sz="2000" b="1" dirty="0">
                <a:solidFill>
                  <a:srgbClr val="595959"/>
                </a:solidFill>
                <a:latin typeface="微软雅黑" panose="020B0503020204020204" pitchFamily="34" charset="-122"/>
                <a:ea typeface="微软雅黑" panose="020B0503020204020204" pitchFamily="34" charset="-122"/>
              </a:rPr>
              <a:t> </a:t>
            </a:r>
            <a:r>
              <a:rPr lang="zh-CN" altLang="en-US" sz="2000" b="1" dirty="0">
                <a:solidFill>
                  <a:srgbClr val="595959"/>
                </a:solidFill>
                <a:latin typeface="微软雅黑" panose="020B0503020204020204" pitchFamily="34" charset="-122"/>
                <a:ea typeface="微软雅黑" panose="020B0503020204020204" pitchFamily="34" charset="-122"/>
              </a:rPr>
              <a:t>划分等价类</a:t>
            </a:r>
          </a:p>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等价类可以分为</a:t>
            </a:r>
            <a:r>
              <a:rPr lang="zh-CN" altLang="en-US" sz="2000">
                <a:solidFill>
                  <a:srgbClr val="0070C0"/>
                </a:solidFill>
                <a:latin typeface="微软雅黑" panose="020B0503020204020204" pitchFamily="34" charset="-122"/>
                <a:ea typeface="微软雅黑" panose="020B0503020204020204" pitchFamily="34" charset="-122"/>
              </a:rPr>
              <a:t>有效等价类</a:t>
            </a:r>
            <a:r>
              <a:rPr lang="zh-CN" altLang="en-US" sz="2000">
                <a:solidFill>
                  <a:srgbClr val="595959"/>
                </a:solidFill>
                <a:latin typeface="微软雅黑" panose="020B0503020204020204" pitchFamily="34" charset="-122"/>
                <a:ea typeface="微软雅黑" panose="020B0503020204020204" pitchFamily="34" charset="-122"/>
              </a:rPr>
              <a:t>和</a:t>
            </a:r>
            <a:r>
              <a:rPr lang="zh-CN" altLang="en-US" sz="2000">
                <a:solidFill>
                  <a:srgbClr val="0070C0"/>
                </a:solidFill>
                <a:latin typeface="微软雅黑" panose="020B0503020204020204" pitchFamily="34" charset="-122"/>
                <a:ea typeface="微软雅黑" panose="020B0503020204020204" pitchFamily="34" charset="-122"/>
              </a:rPr>
              <a:t>无效</a:t>
            </a:r>
            <a:r>
              <a:rPr lang="zh-CN" altLang="en-US" sz="2000" dirty="0">
                <a:solidFill>
                  <a:srgbClr val="0070C0"/>
                </a:solidFill>
                <a:latin typeface="微软雅黑" panose="020B0503020204020204" pitchFamily="34" charset="-122"/>
                <a:ea typeface="微软雅黑" panose="020B0503020204020204" pitchFamily="34" charset="-122"/>
              </a:rPr>
              <a:t>等价类</a:t>
            </a:r>
            <a:r>
              <a:rPr lang="zh-CN" altLang="en-US" sz="2000" dirty="0">
                <a:solidFill>
                  <a:srgbClr val="595959"/>
                </a:solidFill>
                <a:latin typeface="微软雅黑" panose="020B0503020204020204" pitchFamily="34" charset="-122"/>
                <a:ea typeface="微软雅黑" panose="020B0503020204020204" pitchFamily="34" charset="-122"/>
              </a:rPr>
              <a:t>，其</a:t>
            </a:r>
            <a:r>
              <a:rPr lang="zh-CN" altLang="en-US" sz="2000">
                <a:solidFill>
                  <a:srgbClr val="595959"/>
                </a:solidFill>
                <a:latin typeface="微软雅黑" panose="020B0503020204020204" pitchFamily="34" charset="-122"/>
                <a:ea typeface="微软雅黑" panose="020B0503020204020204" pitchFamily="34" charset="-122"/>
              </a:rPr>
              <a:t>含义如下。</a:t>
            </a:r>
            <a:endParaRPr lang="zh-CN" altLang="en-US" sz="2000" dirty="0">
              <a:solidFill>
                <a:srgbClr val="595959"/>
              </a:solidFill>
              <a:latin typeface="微软雅黑" panose="020B0503020204020204" pitchFamily="34" charset="-122"/>
              <a:ea typeface="微软雅黑" panose="020B0503020204020204" pitchFamily="34" charset="-122"/>
            </a:endParaRPr>
          </a:p>
        </p:txBody>
      </p:sp>
      <p:sp>
        <p:nvSpPr>
          <p:cNvPr id="3" name="Title 1">
            <a:extLst>
              <a:ext uri="{FF2B5EF4-FFF2-40B4-BE49-F238E27FC236}">
                <a16:creationId xmlns:a16="http://schemas.microsoft.com/office/drawing/2014/main" id="{C748D7E9-F608-B3C2-3790-FF50CF6E9A80}"/>
              </a:ext>
            </a:extLst>
          </p:cNvPr>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等价类分类</a:t>
            </a:r>
          </a:p>
        </p:txBody>
      </p:sp>
      <p:sp>
        <p:nvSpPr>
          <p:cNvPr id="4" name="TextBox 13">
            <a:extLst>
              <a:ext uri="{FF2B5EF4-FFF2-40B4-BE49-F238E27FC236}">
                <a16:creationId xmlns:a16="http://schemas.microsoft.com/office/drawing/2014/main" id="{BF093ED5-DB27-ACF9-E51A-19A1D4ED8086}"/>
              </a:ext>
            </a:extLst>
          </p:cNvPr>
          <p:cNvSpPr txBox="1">
            <a:spLocks noChangeArrowheads="1"/>
          </p:cNvSpPr>
          <p:nvPr/>
        </p:nvSpPr>
        <p:spPr bwMode="auto">
          <a:xfrm>
            <a:off x="1590040" y="2926080"/>
            <a:ext cx="2077200" cy="953135"/>
          </a:xfrm>
          <a:prstGeom prst="rect">
            <a:avLst/>
          </a:prstGeom>
          <a:gradFill rotWithShape="0">
            <a:gsLst>
              <a:gs pos="0">
                <a:srgbClr val="00B0F0"/>
              </a:gs>
              <a:gs pos="50000">
                <a:srgbClr val="00B0F0"/>
              </a:gs>
              <a:gs pos="100000">
                <a:srgbClr val="9FD8FF"/>
              </a:gs>
            </a:gsLst>
            <a:lin ang="5400000" scaled="0"/>
          </a:gra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endParaRPr lang="en-US" altLang="zh-CN" sz="1600" b="1" dirty="0">
              <a:solidFill>
                <a:schemeClr val="bg1"/>
              </a:solidFill>
              <a:latin typeface="微软雅黑" panose="020B0503020204020204" pitchFamily="34" charset="-122"/>
              <a:ea typeface="微软雅黑" panose="020B0503020204020204" pitchFamily="34" charset="-122"/>
            </a:endParaRPr>
          </a:p>
          <a:p>
            <a:pPr algn="ctr"/>
            <a:r>
              <a:rPr lang="zh-CN" altLang="en-US" sz="2400" b="1" dirty="0">
                <a:solidFill>
                  <a:schemeClr val="bg1"/>
                </a:solidFill>
                <a:latin typeface="微软雅黑" panose="020B0503020204020204" pitchFamily="34" charset="-122"/>
                <a:ea typeface="微软雅黑" panose="020B0503020204020204" pitchFamily="34" charset="-122"/>
              </a:rPr>
              <a:t>有效等价类</a:t>
            </a:r>
          </a:p>
          <a:p>
            <a:pPr algn="ctr"/>
            <a:endParaRPr lang="zh-CN" altLang="en-US" sz="1600" b="1" dirty="0">
              <a:solidFill>
                <a:schemeClr val="bg1"/>
              </a:solidFill>
              <a:latin typeface="微软雅黑" panose="020B0503020204020204" pitchFamily="34" charset="-122"/>
              <a:ea typeface="微软雅黑" panose="020B0503020204020204" pitchFamily="34" charset="-122"/>
            </a:endParaRPr>
          </a:p>
        </p:txBody>
      </p:sp>
      <p:sp>
        <p:nvSpPr>
          <p:cNvPr id="5" name="折角形 10">
            <a:extLst>
              <a:ext uri="{FF2B5EF4-FFF2-40B4-BE49-F238E27FC236}">
                <a16:creationId xmlns:a16="http://schemas.microsoft.com/office/drawing/2014/main" id="{A8A731C2-7B10-431A-0B46-395ADA7263F6}"/>
              </a:ext>
            </a:extLst>
          </p:cNvPr>
          <p:cNvSpPr/>
          <p:nvPr/>
        </p:nvSpPr>
        <p:spPr bwMode="auto">
          <a:xfrm>
            <a:off x="3647440" y="2925837"/>
            <a:ext cx="5926138" cy="954000"/>
          </a:xfrm>
          <a:prstGeom prst="foldedCorner">
            <a:avLst/>
          </a:prstGeom>
          <a:solidFill>
            <a:schemeClr val="accent1">
              <a:lumMod val="40000"/>
              <a:lumOff val="60000"/>
              <a:alpha val="2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lnSpc>
                <a:spcPct val="150000"/>
              </a:lnSpc>
              <a:defRPr/>
            </a:pPr>
            <a:r>
              <a:rPr lang="zh-CN" altLang="en-US" sz="1800">
                <a:solidFill>
                  <a:srgbClr val="595959"/>
                </a:solidFill>
                <a:latin typeface="微软雅黑" panose="020B0503020204020204" pitchFamily="34" charset="-122"/>
                <a:ea typeface="微软雅黑" panose="020B0503020204020204" pitchFamily="34" charset="-122"/>
              </a:rPr>
              <a:t>是</a:t>
            </a:r>
            <a:r>
              <a:rPr lang="zh-CN" altLang="en-US" sz="1800" dirty="0">
                <a:solidFill>
                  <a:srgbClr val="0070C0"/>
                </a:solidFill>
                <a:latin typeface="微软雅黑" panose="020B0503020204020204" pitchFamily="34" charset="-122"/>
                <a:ea typeface="微软雅黑" panose="020B0503020204020204" pitchFamily="34" charset="-122"/>
              </a:rPr>
              <a:t>有效值的</a:t>
            </a:r>
            <a:r>
              <a:rPr lang="zh-CN" altLang="en-US" sz="1800">
                <a:solidFill>
                  <a:srgbClr val="0070C0"/>
                </a:solidFill>
                <a:latin typeface="微软雅黑" panose="020B0503020204020204" pitchFamily="34" charset="-122"/>
                <a:ea typeface="微软雅黑" panose="020B0503020204020204" pitchFamily="34" charset="-122"/>
              </a:rPr>
              <a:t>集合</a:t>
            </a:r>
            <a:r>
              <a:rPr lang="zh-CN" altLang="en-US" sz="1800">
                <a:solidFill>
                  <a:srgbClr val="595959"/>
                </a:solidFill>
                <a:latin typeface="微软雅黑" panose="020B0503020204020204" pitchFamily="34" charset="-122"/>
                <a:ea typeface="微软雅黑" panose="020B0503020204020204" pitchFamily="34" charset="-122"/>
              </a:rPr>
              <a:t>，这些有效值是</a:t>
            </a:r>
            <a:r>
              <a:rPr lang="zh-CN" altLang="en-US" sz="1800" dirty="0">
                <a:solidFill>
                  <a:srgbClr val="595959"/>
                </a:solidFill>
                <a:latin typeface="微软雅黑" panose="020B0503020204020204" pitchFamily="34" charset="-122"/>
                <a:ea typeface="微软雅黑" panose="020B0503020204020204" pitchFamily="34" charset="-122"/>
              </a:rPr>
              <a:t>符合程序要求、合理且有意义的输入数据。</a:t>
            </a:r>
          </a:p>
        </p:txBody>
      </p:sp>
      <p:sp>
        <p:nvSpPr>
          <p:cNvPr id="6" name="折角形 11">
            <a:extLst>
              <a:ext uri="{FF2B5EF4-FFF2-40B4-BE49-F238E27FC236}">
                <a16:creationId xmlns:a16="http://schemas.microsoft.com/office/drawing/2014/main" id="{D8FB4109-CDC4-48D8-33BE-C791B5177942}"/>
              </a:ext>
            </a:extLst>
          </p:cNvPr>
          <p:cNvSpPr/>
          <p:nvPr/>
        </p:nvSpPr>
        <p:spPr bwMode="auto">
          <a:xfrm>
            <a:off x="3649028" y="4210593"/>
            <a:ext cx="5925600" cy="954087"/>
          </a:xfrm>
          <a:prstGeom prst="foldedCorner">
            <a:avLst/>
          </a:prstGeom>
          <a:solidFill>
            <a:srgbClr val="D1C7FD">
              <a:alpha val="3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lnSpc>
                <a:spcPct val="150000"/>
              </a:lnSpc>
              <a:defRPr/>
            </a:pPr>
            <a:r>
              <a:rPr lang="zh-CN" altLang="en-US" sz="1800" dirty="0">
                <a:solidFill>
                  <a:srgbClr val="595959"/>
                </a:solidFill>
                <a:latin typeface="微软雅黑" panose="020B0503020204020204" pitchFamily="34" charset="-122"/>
                <a:ea typeface="微软雅黑" panose="020B0503020204020204" pitchFamily="34" charset="-122"/>
              </a:rPr>
              <a:t>是</a:t>
            </a:r>
            <a:r>
              <a:rPr lang="zh-CN" altLang="en-US" sz="1800" dirty="0">
                <a:solidFill>
                  <a:srgbClr val="0070C0"/>
                </a:solidFill>
                <a:latin typeface="微软雅黑" panose="020B0503020204020204" pitchFamily="34" charset="-122"/>
                <a:ea typeface="微软雅黑" panose="020B0503020204020204" pitchFamily="34" charset="-122"/>
              </a:rPr>
              <a:t>无效值的集合</a:t>
            </a:r>
            <a:r>
              <a:rPr lang="zh-CN" altLang="en-US" sz="1800" dirty="0">
                <a:solidFill>
                  <a:srgbClr val="595959"/>
                </a:solidFill>
                <a:latin typeface="微软雅黑" panose="020B0503020204020204" pitchFamily="34" charset="-122"/>
                <a:ea typeface="微软雅黑" panose="020B0503020204020204" pitchFamily="34" charset="-122"/>
              </a:rPr>
              <a:t>，这些无效值是不符合程序要求、不合理或无意义的输入数据。</a:t>
            </a:r>
          </a:p>
        </p:txBody>
      </p:sp>
      <p:sp>
        <p:nvSpPr>
          <p:cNvPr id="7" name="TextBox 8">
            <a:extLst>
              <a:ext uri="{FF2B5EF4-FFF2-40B4-BE49-F238E27FC236}">
                <a16:creationId xmlns:a16="http://schemas.microsoft.com/office/drawing/2014/main" id="{3C2B4003-E082-63E7-AB5C-802D092895C2}"/>
              </a:ext>
            </a:extLst>
          </p:cNvPr>
          <p:cNvSpPr txBox="1">
            <a:spLocks noChangeArrowheads="1"/>
          </p:cNvSpPr>
          <p:nvPr/>
        </p:nvSpPr>
        <p:spPr bwMode="auto">
          <a:xfrm>
            <a:off x="1571625" y="4210685"/>
            <a:ext cx="2077085" cy="954000"/>
          </a:xfrm>
          <a:prstGeom prst="rect">
            <a:avLst/>
          </a:prstGeom>
          <a:gradFill rotWithShape="0">
            <a:gsLst>
              <a:gs pos="0">
                <a:srgbClr val="008DF6"/>
              </a:gs>
              <a:gs pos="50000">
                <a:srgbClr val="00B0F0"/>
              </a:gs>
              <a:gs pos="100000">
                <a:srgbClr val="9FD8FF"/>
              </a:gs>
            </a:gsLst>
            <a:lin ang="5400000" scaled="0"/>
          </a:gra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endParaRPr lang="en-US" altLang="zh-CN" sz="1600" b="1" dirty="0">
              <a:solidFill>
                <a:schemeClr val="bg1"/>
              </a:solidFill>
              <a:latin typeface="微软雅黑" panose="020B0503020204020204" pitchFamily="34" charset="-122"/>
              <a:ea typeface="微软雅黑" panose="020B0503020204020204" pitchFamily="34" charset="-122"/>
            </a:endParaRPr>
          </a:p>
          <a:p>
            <a:pPr algn="ctr"/>
            <a:r>
              <a:rPr lang="zh-CN" altLang="en-US" sz="2400" b="1" dirty="0">
                <a:solidFill>
                  <a:schemeClr val="bg1"/>
                </a:solidFill>
                <a:latin typeface="微软雅黑" panose="020B0503020204020204" pitchFamily="34" charset="-122"/>
                <a:ea typeface="微软雅黑" panose="020B0503020204020204" pitchFamily="34" charset="-122"/>
              </a:rPr>
              <a:t>无效等价类</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sp>
        <p:nvSpPr>
          <p:cNvPr id="9" name="文本框 8">
            <a:extLst>
              <a:ext uri="{FF2B5EF4-FFF2-40B4-BE49-F238E27FC236}">
                <a16:creationId xmlns:a16="http://schemas.microsoft.com/office/drawing/2014/main" id="{31BC0E3A-7C9B-06A5-8056-01349F5A132F}"/>
              </a:ext>
            </a:extLst>
          </p:cNvPr>
          <p:cNvSpPr txBox="1"/>
          <p:nvPr/>
        </p:nvSpPr>
        <p:spPr>
          <a:xfrm>
            <a:off x="1571625" y="5499770"/>
            <a:ext cx="8306753" cy="1200329"/>
          </a:xfrm>
          <a:prstGeom prst="rect">
            <a:avLst/>
          </a:prstGeom>
          <a:noFill/>
        </p:spPr>
        <p:txBody>
          <a:bodyPr wrap="square">
            <a:spAutoFit/>
          </a:bodyPr>
          <a:lstStyle/>
          <a:p>
            <a:r>
              <a:rPr lang="zh-CN" altLang="en-US" sz="2400" dirty="0">
                <a:solidFill>
                  <a:schemeClr val="tx1">
                    <a:lumMod val="85000"/>
                    <a:lumOff val="15000"/>
                  </a:schemeClr>
                </a:solidFill>
                <a:latin typeface="楷体" panose="02010609060101010101" charset="-122"/>
                <a:ea typeface="楷体" panose="02010609060101010101" charset="-122"/>
                <a:sym typeface="+mn-ea"/>
              </a:rPr>
              <a:t>此处应注意，正确的术语应该是“无效值的等价类”，而不是“无效等价类”，因为等价类本身并不是无效的，只是这个等价类对于某个特定的输入值是无效的。</a:t>
            </a:r>
            <a:endParaRPr lang="zh-CN" altLang="en-US" sz="2400" dirty="0">
              <a:solidFill>
                <a:schemeClr val="tx1">
                  <a:lumMod val="85000"/>
                  <a:lumOff val="15000"/>
                </a:schemeClr>
              </a:solidFill>
              <a:latin typeface="楷体" panose="02010609060101010101" charset="-122"/>
              <a:ea typeface="楷体" panose="02010609060101010101" charset="-122"/>
            </a:endParaRPr>
          </a:p>
        </p:txBody>
      </p:sp>
    </p:spTree>
    <p:extLst>
      <p:ext uri="{BB962C8B-B14F-4D97-AF65-F5344CB8AC3E}">
        <p14:creationId xmlns:p14="http://schemas.microsoft.com/office/powerpoint/2010/main" val="1515465510"/>
      </p:ext>
    </p:extLst>
  </p:cSld>
  <p:clrMapOvr>
    <a:masterClrMapping/>
  </p:clrMapOvr>
  <mc:AlternateContent xmlns:mc="http://schemas.openxmlformats.org/markup-compatibility/2006" xmlns:p14="http://schemas.microsoft.com/office/powerpoint/2010/main">
    <mc:Choice Requires="p14">
      <p:transition p14:dur="10" advTm="3000"/>
    </mc:Choice>
    <mc:Fallback xmlns="">
      <p:transition advTm="3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B7D008FC-B366-F994-DD7D-F4899163520C}"/>
              </a:ext>
            </a:extLst>
          </p:cNvPr>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等价类划分原则</a:t>
            </a:r>
          </a:p>
        </p:txBody>
      </p:sp>
      <p:sp>
        <p:nvSpPr>
          <p:cNvPr id="4" name="TextBox 35">
            <a:extLst>
              <a:ext uri="{FF2B5EF4-FFF2-40B4-BE49-F238E27FC236}">
                <a16:creationId xmlns:a16="http://schemas.microsoft.com/office/drawing/2014/main" id="{119D2FA7-1375-5E0A-D052-E6CF6F9854EC}"/>
              </a:ext>
            </a:extLst>
          </p:cNvPr>
          <p:cNvSpPr txBox="1">
            <a:spLocks noChangeArrowheads="1"/>
          </p:cNvSpPr>
          <p:nvPr/>
        </p:nvSpPr>
        <p:spPr bwMode="auto">
          <a:xfrm>
            <a:off x="1127125" y="837565"/>
            <a:ext cx="9660890"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no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通常在划分等价类时，需要遵守以下原则。</a:t>
            </a:r>
          </a:p>
          <a:p>
            <a:pPr algn="just">
              <a:lnSpc>
                <a:spcPct val="150000"/>
              </a:lnSpc>
            </a:pPr>
            <a:endParaRPr lang="zh-CN" altLang="en-US" sz="1800" dirty="0">
              <a:solidFill>
                <a:srgbClr val="595959"/>
              </a:solidFill>
              <a:latin typeface="微软雅黑" panose="020B0503020204020204" pitchFamily="34" charset="-122"/>
              <a:ea typeface="微软雅黑" panose="020B0503020204020204" pitchFamily="34" charset="-122"/>
            </a:endParaRPr>
          </a:p>
        </p:txBody>
      </p:sp>
      <p:graphicFrame>
        <p:nvGraphicFramePr>
          <p:cNvPr id="8" name="表格 7">
            <a:extLst>
              <a:ext uri="{FF2B5EF4-FFF2-40B4-BE49-F238E27FC236}">
                <a16:creationId xmlns:a16="http://schemas.microsoft.com/office/drawing/2014/main" id="{DB280D27-99FD-56B8-7CD3-A12BE104541A}"/>
              </a:ext>
            </a:extLst>
          </p:cNvPr>
          <p:cNvGraphicFramePr>
            <a:graphicFrameLocks noGrp="1"/>
          </p:cNvGraphicFramePr>
          <p:nvPr>
            <p:extLst>
              <p:ext uri="{D42A27DB-BD31-4B8C-83A1-F6EECF244321}">
                <p14:modId xmlns:p14="http://schemas.microsoft.com/office/powerpoint/2010/main" val="1000604824"/>
              </p:ext>
            </p:extLst>
          </p:nvPr>
        </p:nvGraphicFramePr>
        <p:xfrm>
          <a:off x="855434" y="1843820"/>
          <a:ext cx="10479544" cy="4194057"/>
        </p:xfrm>
        <a:graphic>
          <a:graphicData uri="http://schemas.openxmlformats.org/drawingml/2006/table">
            <a:tbl>
              <a:tblPr firstRow="1" bandRow="1">
                <a:tableStyleId>{69012ECD-51FC-41F1-AA8D-1B2483CD663E}</a:tableStyleId>
              </a:tblPr>
              <a:tblGrid>
                <a:gridCol w="2121535">
                  <a:extLst>
                    <a:ext uri="{9D8B030D-6E8A-4147-A177-3AD203B41FA5}">
                      <a16:colId xmlns:a16="http://schemas.microsoft.com/office/drawing/2014/main" val="20000"/>
                    </a:ext>
                  </a:extLst>
                </a:gridCol>
                <a:gridCol w="8358009">
                  <a:extLst>
                    <a:ext uri="{9D8B030D-6E8A-4147-A177-3AD203B41FA5}">
                      <a16:colId xmlns:a16="http://schemas.microsoft.com/office/drawing/2014/main" val="20001"/>
                    </a:ext>
                  </a:extLst>
                </a:gridCol>
              </a:tblGrid>
              <a:tr h="719504">
                <a:tc>
                  <a:txBody>
                    <a:bodyPr/>
                    <a:lstStyle/>
                    <a:p>
                      <a:pPr algn="ctr"/>
                      <a:r>
                        <a:rPr lang="zh-CN" altLang="en-US" sz="2000" b="1" kern="1200" dirty="0">
                          <a:solidFill>
                            <a:schemeClr val="bg1"/>
                          </a:solidFill>
                          <a:latin typeface="微软雅黑" panose="020B0503020204020204" pitchFamily="34" charset="-122"/>
                          <a:ea typeface="微软雅黑" panose="020B0503020204020204" pitchFamily="34" charset="-122"/>
                          <a:cs typeface="+mn-cs"/>
                        </a:rPr>
                        <a:t>原则一</a:t>
                      </a:r>
                    </a:p>
                  </a:txBody>
                  <a:tcPr anchor="ctr" anchorCtr="1">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rgbClr val="005DA2"/>
                    </a:solidFill>
                  </a:tcPr>
                </a:tc>
                <a:tc>
                  <a:txBody>
                    <a:bodyPr/>
                    <a:lstStyle/>
                    <a:p>
                      <a:pPr marL="0" marR="0" lvl="0" indent="457200" algn="l" defTabSz="914400" rtl="0" eaLnBrk="1" fontAlgn="auto" latinLnBrk="0" hangingPunct="1">
                        <a:lnSpc>
                          <a:spcPct val="100000"/>
                        </a:lnSpc>
                        <a:spcBef>
                          <a:spcPts val="0"/>
                        </a:spcBef>
                        <a:spcAft>
                          <a:spcPts val="0"/>
                        </a:spcAft>
                        <a:buClrTx/>
                        <a:buSzTx/>
                        <a:buFontTx/>
                        <a:buNone/>
                        <a:defRPr/>
                      </a:pPr>
                      <a:r>
                        <a:rPr lang="en-US" altLang="zh-CN" sz="1800" kern="1200" dirty="0">
                          <a:solidFill>
                            <a:srgbClr val="0075CC"/>
                          </a:solidFill>
                          <a:latin typeface="微软雅黑" panose="020B0503020204020204" pitchFamily="34" charset="-122"/>
                          <a:ea typeface="微软雅黑" panose="020B0503020204020204" pitchFamily="34" charset="-122"/>
                          <a:cs typeface="+mn-cs"/>
                        </a:rPr>
                        <a:t> </a:t>
                      </a:r>
                      <a:r>
                        <a:rPr lang="zh-CN" altLang="en-US" sz="2000" kern="1200" dirty="0">
                          <a:solidFill>
                            <a:srgbClr val="0075CC"/>
                          </a:solidFill>
                          <a:latin typeface="微软雅黑" panose="020B0503020204020204" pitchFamily="34" charset="-122"/>
                          <a:ea typeface="微软雅黑" panose="020B0503020204020204" pitchFamily="34" charset="-122"/>
                          <a:cs typeface="+mn-cs"/>
                        </a:rPr>
                        <a:t>在输入条件规定了取值范围的情况下，可以确立一个有效等价类和两个无效等价类。</a:t>
                      </a:r>
                      <a:endParaRPr lang="zh-CN" altLang="zh-CN" sz="1800" kern="1200" dirty="0">
                        <a:solidFill>
                          <a:srgbClr val="0075CC"/>
                        </a:solidFill>
                        <a:latin typeface="微软雅黑" panose="020B0503020204020204" pitchFamily="34" charset="-122"/>
                        <a:ea typeface="微软雅黑" panose="020B0503020204020204" pitchFamily="34" charset="-122"/>
                        <a:cs typeface="+mn-cs"/>
                      </a:endParaRPr>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rgbClr val="F4F4F4"/>
                    </a:solidFill>
                  </a:tcPr>
                </a:tc>
                <a:extLst>
                  <a:ext uri="{0D108BD9-81ED-4DB2-BD59-A6C34878D82A}">
                    <a16:rowId xmlns:a16="http://schemas.microsoft.com/office/drawing/2014/main" val="10000"/>
                  </a:ext>
                </a:extLst>
              </a:tr>
              <a:tr h="3474553">
                <a:tc>
                  <a:txBody>
                    <a:bodyPr/>
                    <a:lstStyle/>
                    <a:p>
                      <a:pPr algn="ctr"/>
                      <a:endParaRPr lang="en-US" altLang="zh-CN" sz="2800" dirty="0">
                        <a:solidFill>
                          <a:schemeClr val="accent1"/>
                        </a:solidFill>
                      </a:endParaRPr>
                    </a:p>
                    <a:p>
                      <a:pPr algn="ctr"/>
                      <a:endParaRPr lang="en-US" altLang="zh-CN" sz="2800" dirty="0">
                        <a:solidFill>
                          <a:schemeClr val="accent1"/>
                        </a:solidFill>
                      </a:endParaRPr>
                    </a:p>
                    <a:p>
                      <a:pPr algn="ctr"/>
                      <a:endParaRPr lang="en-US" altLang="zh-CN" sz="2800" dirty="0">
                        <a:solidFill>
                          <a:schemeClr val="accent1"/>
                        </a:solidFill>
                      </a:endParaRPr>
                    </a:p>
                    <a:p>
                      <a:pPr algn="ctr"/>
                      <a:endParaRPr lang="en-US" altLang="zh-CN" sz="2800" dirty="0">
                        <a:solidFill>
                          <a:schemeClr val="accent1"/>
                        </a:solidFill>
                      </a:endParaRPr>
                    </a:p>
                    <a:p>
                      <a:pPr algn="ctr"/>
                      <a:r>
                        <a:rPr lang="zh-CN" altLang="en-US" sz="2000" b="1" kern="1200" dirty="0">
                          <a:solidFill>
                            <a:srgbClr val="0075CC"/>
                          </a:solidFill>
                          <a:latin typeface="微软雅黑" panose="020B0503020204020204" pitchFamily="34" charset="-122"/>
                          <a:ea typeface="微软雅黑" panose="020B0503020204020204" pitchFamily="34" charset="-122"/>
                          <a:cs typeface="+mn-cs"/>
                        </a:rPr>
                        <a:t>示例</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indent="0"/>
                      <a:endParaRPr lang="en-US" altLang="zh-CN" sz="1600" b="1" kern="1200" dirty="0">
                        <a:solidFill>
                          <a:srgbClr val="0075CC"/>
                        </a:solidFill>
                        <a:latin typeface="微软雅黑" panose="020B0503020204020204" pitchFamily="34" charset="-122"/>
                        <a:ea typeface="微软雅黑" panose="020B0503020204020204" pitchFamily="34" charset="-122"/>
                        <a:cs typeface="+mn-cs"/>
                      </a:endParaRPr>
                    </a:p>
                    <a:p>
                      <a:pPr indent="0"/>
                      <a:r>
                        <a:rPr lang="zh-CN" altLang="en-US" sz="1600" b="1" kern="1200" dirty="0">
                          <a:solidFill>
                            <a:srgbClr val="0075CC"/>
                          </a:solidFill>
                          <a:latin typeface="微软雅黑" panose="020B0503020204020204" pitchFamily="34" charset="-122"/>
                          <a:ea typeface="微软雅黑" panose="020B0503020204020204" pitchFamily="34" charset="-122"/>
                          <a:cs typeface="+mn-cs"/>
                        </a:rPr>
                        <a:t>输入条件：</a:t>
                      </a:r>
                      <a:r>
                        <a:rPr lang="zh-CN" altLang="en-US" sz="1600" b="0" kern="1200" dirty="0">
                          <a:solidFill>
                            <a:srgbClr val="595959"/>
                          </a:solidFill>
                          <a:latin typeface="微软雅黑" panose="020B0503020204020204" pitchFamily="34" charset="-122"/>
                          <a:ea typeface="微软雅黑" panose="020B0503020204020204" pitchFamily="34" charset="-122"/>
                          <a:cs typeface="+mn-cs"/>
                        </a:rPr>
                        <a:t>输入值是学生成绩，范围是</a:t>
                      </a:r>
                      <a:r>
                        <a:rPr lang="en-US" altLang="zh-CN" sz="1600" b="0" kern="1200" dirty="0">
                          <a:solidFill>
                            <a:srgbClr val="595959"/>
                          </a:solidFill>
                          <a:latin typeface="微软雅黑" panose="020B0503020204020204" pitchFamily="34" charset="-122"/>
                          <a:ea typeface="微软雅黑" panose="020B0503020204020204" pitchFamily="34" charset="-122"/>
                          <a:cs typeface="+mn-cs"/>
                        </a:rPr>
                        <a:t>0-100</a:t>
                      </a:r>
                      <a:r>
                        <a:rPr lang="zh-CN" altLang="en-US" sz="1600" b="0" kern="1200" dirty="0">
                          <a:solidFill>
                            <a:srgbClr val="595959"/>
                          </a:solidFill>
                          <a:latin typeface="微软雅黑" panose="020B0503020204020204" pitchFamily="34" charset="-122"/>
                          <a:ea typeface="微软雅黑" panose="020B0503020204020204" pitchFamily="34" charset="-122"/>
                          <a:cs typeface="+mn-cs"/>
                        </a:rPr>
                        <a:t>，则学生成绩的等价类划分如图所示。</a:t>
                      </a:r>
                      <a:endParaRPr lang="en-US" altLang="zh-CN" sz="1600" b="0" kern="1200" dirty="0">
                        <a:solidFill>
                          <a:srgbClr val="595959"/>
                        </a:solidFill>
                        <a:latin typeface="微软雅黑" panose="020B0503020204020204" pitchFamily="34" charset="-122"/>
                        <a:ea typeface="微软雅黑" panose="020B0503020204020204" pitchFamily="34" charset="-122"/>
                        <a:cs typeface="+mn-cs"/>
                      </a:endParaRPr>
                    </a:p>
                    <a:p>
                      <a:endParaRPr lang="en-US" altLang="zh-CN" sz="2800" b="0" dirty="0">
                        <a:solidFill>
                          <a:schemeClr val="tx1"/>
                        </a:solidFill>
                      </a:endParaRPr>
                    </a:p>
                    <a:p>
                      <a:endParaRPr lang="en-US" altLang="zh-CN" b="0" dirty="0"/>
                    </a:p>
                    <a:p>
                      <a:endParaRPr lang="en-US" altLang="zh-CN" b="0" dirty="0"/>
                    </a:p>
                    <a:p>
                      <a:endParaRPr lang="en-US" altLang="zh-CN" b="0" dirty="0"/>
                    </a:p>
                    <a:p>
                      <a:r>
                        <a:rPr lang="zh-CN" altLang="en-US" b="0" dirty="0"/>
                        <a:t> </a:t>
                      </a:r>
                      <a:r>
                        <a:rPr lang="en-US" altLang="zh-CN" b="0" dirty="0"/>
                        <a:t>                      </a:t>
                      </a:r>
                      <a:r>
                        <a:rPr lang="en-US" altLang="zh-CN" sz="2400" b="0" dirty="0"/>
                        <a:t> </a:t>
                      </a:r>
                    </a:p>
                    <a:p>
                      <a:r>
                        <a:rPr lang="zh-CN" altLang="en-US" sz="1600" b="1" kern="1200" dirty="0">
                          <a:solidFill>
                            <a:srgbClr val="0075CC"/>
                          </a:solidFill>
                          <a:latin typeface="微软雅黑" panose="020B0503020204020204" pitchFamily="34" charset="-122"/>
                          <a:ea typeface="微软雅黑" panose="020B0503020204020204" pitchFamily="34" charset="-122"/>
                          <a:cs typeface="+mn-cs"/>
                        </a:rPr>
                        <a:t>有效等价类：</a:t>
                      </a:r>
                      <a:r>
                        <a:rPr lang="zh-CN" altLang="en-US" sz="1600" b="0" kern="1200" dirty="0">
                          <a:solidFill>
                            <a:srgbClr val="595959"/>
                          </a:solidFill>
                          <a:latin typeface="微软雅黑" panose="020B0503020204020204" pitchFamily="34" charset="-122"/>
                          <a:ea typeface="微软雅黑" panose="020B0503020204020204" pitchFamily="34" charset="-122"/>
                          <a:cs typeface="+mn-cs"/>
                        </a:rPr>
                        <a:t>0≤成绩≤100；</a:t>
                      </a:r>
                      <a:endParaRPr lang="en-US" altLang="zh-CN" sz="1600" b="0" kern="1200" dirty="0">
                        <a:solidFill>
                          <a:srgbClr val="595959"/>
                        </a:solidFill>
                        <a:latin typeface="微软雅黑" panose="020B0503020204020204" pitchFamily="34" charset="-122"/>
                        <a:ea typeface="微软雅黑" panose="020B0503020204020204" pitchFamily="34" charset="-122"/>
                        <a:cs typeface="+mn-cs"/>
                      </a:endParaRPr>
                    </a:p>
                    <a:p>
                      <a:endParaRPr lang="en-US" altLang="zh-CN" sz="1600" b="0" kern="1200" dirty="0">
                        <a:solidFill>
                          <a:srgbClr val="595959"/>
                        </a:solidFill>
                        <a:latin typeface="微软雅黑" panose="020B0503020204020204" pitchFamily="34" charset="-122"/>
                        <a:ea typeface="微软雅黑" panose="020B0503020204020204" pitchFamily="34" charset="-122"/>
                        <a:cs typeface="+mn-cs"/>
                      </a:endParaRPr>
                    </a:p>
                    <a:p>
                      <a:r>
                        <a:rPr lang="zh-CN" altLang="en-US" sz="1600" b="1" kern="1200" dirty="0">
                          <a:solidFill>
                            <a:srgbClr val="0075CC"/>
                          </a:solidFill>
                          <a:latin typeface="微软雅黑" panose="020B0503020204020204" pitchFamily="34" charset="-122"/>
                          <a:ea typeface="微软雅黑" panose="020B0503020204020204" pitchFamily="34" charset="-122"/>
                          <a:cs typeface="+mn-cs"/>
                        </a:rPr>
                        <a:t>无效等价类</a:t>
                      </a:r>
                      <a:r>
                        <a:rPr lang="zh-CN" altLang="en-US" sz="1600" b="0" kern="1200" dirty="0">
                          <a:solidFill>
                            <a:srgbClr val="595959"/>
                          </a:solidFill>
                          <a:latin typeface="微软雅黑" panose="020B0503020204020204" pitchFamily="34" charset="-122"/>
                          <a:ea typeface="微软雅黑" panose="020B0503020204020204" pitchFamily="34" charset="-122"/>
                          <a:cs typeface="+mn-cs"/>
                        </a:rPr>
                        <a:t>：成绩&lt;0；</a:t>
                      </a:r>
                      <a:endParaRPr lang="en-US" altLang="zh-CN" sz="1600" b="0" kern="1200" dirty="0">
                        <a:solidFill>
                          <a:srgbClr val="595959"/>
                        </a:solidFill>
                        <a:latin typeface="微软雅黑" panose="020B0503020204020204" pitchFamily="34" charset="-122"/>
                        <a:ea typeface="微软雅黑" panose="020B0503020204020204" pitchFamily="34" charset="-122"/>
                        <a:cs typeface="+mn-cs"/>
                      </a:endParaRPr>
                    </a:p>
                    <a:p>
                      <a:r>
                        <a:rPr lang="en-US" altLang="zh-CN" sz="1600" b="0" kern="1200" dirty="0">
                          <a:solidFill>
                            <a:srgbClr val="595959"/>
                          </a:solidFill>
                          <a:latin typeface="微软雅黑" panose="020B0503020204020204" pitchFamily="34" charset="-122"/>
                          <a:ea typeface="微软雅黑" panose="020B0503020204020204" pitchFamily="34" charset="-122"/>
                          <a:cs typeface="+mn-cs"/>
                        </a:rPr>
                        <a:t>                    </a:t>
                      </a:r>
                      <a:r>
                        <a:rPr lang="zh-CN" altLang="en-US" sz="1600" b="0" kern="1200" dirty="0">
                          <a:solidFill>
                            <a:srgbClr val="595959"/>
                          </a:solidFill>
                          <a:latin typeface="微软雅黑" panose="020B0503020204020204" pitchFamily="34" charset="-122"/>
                          <a:ea typeface="微软雅黑" panose="020B0503020204020204" pitchFamily="34" charset="-122"/>
                          <a:cs typeface="+mn-cs"/>
                        </a:rPr>
                        <a:t>成绩&gt;100。</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pic>
        <p:nvPicPr>
          <p:cNvPr id="11" name="图片 10">
            <a:extLst>
              <a:ext uri="{FF2B5EF4-FFF2-40B4-BE49-F238E27FC236}">
                <a16:creationId xmlns:a16="http://schemas.microsoft.com/office/drawing/2014/main" id="{40155D71-BDD0-F4DE-D567-9B0AE873E38F}"/>
              </a:ext>
            </a:extLst>
          </p:cNvPr>
          <p:cNvPicPr>
            <a:picLocks noChangeAspect="1"/>
          </p:cNvPicPr>
          <p:nvPr/>
        </p:nvPicPr>
        <p:blipFill>
          <a:blip r:embed="rId2"/>
          <a:stretch>
            <a:fillRect/>
          </a:stretch>
        </p:blipFill>
        <p:spPr>
          <a:xfrm>
            <a:off x="3287206" y="3213794"/>
            <a:ext cx="7627159" cy="1584000"/>
          </a:xfrm>
          <a:prstGeom prst="rect">
            <a:avLst/>
          </a:prstGeom>
        </p:spPr>
      </p:pic>
    </p:spTree>
    <p:extLst>
      <p:ext uri="{BB962C8B-B14F-4D97-AF65-F5344CB8AC3E}">
        <p14:creationId xmlns:p14="http://schemas.microsoft.com/office/powerpoint/2010/main" val="1350561068"/>
      </p:ext>
    </p:extLst>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50F0D4-CC76-B875-1B6B-7AA4F2A0055E}"/>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0548F16D-8CD8-F405-7087-2B1594D0155B}"/>
              </a:ext>
            </a:extLst>
          </p:cNvPr>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等价类划分原则</a:t>
            </a:r>
          </a:p>
        </p:txBody>
      </p:sp>
      <p:graphicFrame>
        <p:nvGraphicFramePr>
          <p:cNvPr id="8" name="表格 7">
            <a:extLst>
              <a:ext uri="{FF2B5EF4-FFF2-40B4-BE49-F238E27FC236}">
                <a16:creationId xmlns:a16="http://schemas.microsoft.com/office/drawing/2014/main" id="{246B9DBA-100F-B2B6-6B6F-CFA1E63D8C09}"/>
              </a:ext>
            </a:extLst>
          </p:cNvPr>
          <p:cNvGraphicFramePr>
            <a:graphicFrameLocks noGrp="1"/>
          </p:cNvGraphicFramePr>
          <p:nvPr>
            <p:extLst>
              <p:ext uri="{D42A27DB-BD31-4B8C-83A1-F6EECF244321}">
                <p14:modId xmlns:p14="http://schemas.microsoft.com/office/powerpoint/2010/main" val="3209897581"/>
              </p:ext>
            </p:extLst>
          </p:nvPr>
        </p:nvGraphicFramePr>
        <p:xfrm>
          <a:off x="767206" y="1053794"/>
          <a:ext cx="10479544" cy="2581328"/>
        </p:xfrm>
        <a:graphic>
          <a:graphicData uri="http://schemas.openxmlformats.org/drawingml/2006/table">
            <a:tbl>
              <a:tblPr firstRow="1" bandRow="1">
                <a:tableStyleId>{69012ECD-51FC-41F1-AA8D-1B2483CD663E}</a:tableStyleId>
              </a:tblPr>
              <a:tblGrid>
                <a:gridCol w="2121535">
                  <a:extLst>
                    <a:ext uri="{9D8B030D-6E8A-4147-A177-3AD203B41FA5}">
                      <a16:colId xmlns:a16="http://schemas.microsoft.com/office/drawing/2014/main" val="20000"/>
                    </a:ext>
                  </a:extLst>
                </a:gridCol>
                <a:gridCol w="8358009">
                  <a:extLst>
                    <a:ext uri="{9D8B030D-6E8A-4147-A177-3AD203B41FA5}">
                      <a16:colId xmlns:a16="http://schemas.microsoft.com/office/drawing/2014/main" val="20001"/>
                    </a:ext>
                  </a:extLst>
                </a:gridCol>
              </a:tblGrid>
              <a:tr h="609231">
                <a:tc>
                  <a:txBody>
                    <a:bodyPr/>
                    <a:lstStyle/>
                    <a:p>
                      <a:pPr algn="ctr"/>
                      <a:r>
                        <a:rPr lang="zh-CN" altLang="en-US" sz="2000" b="1" kern="1200" dirty="0">
                          <a:solidFill>
                            <a:schemeClr val="bg1"/>
                          </a:solidFill>
                          <a:latin typeface="微软雅黑" panose="020B0503020204020204" pitchFamily="34" charset="-122"/>
                          <a:ea typeface="微软雅黑" panose="020B0503020204020204" pitchFamily="34" charset="-122"/>
                          <a:cs typeface="+mn-cs"/>
                        </a:rPr>
                        <a:t>原则二</a:t>
                      </a:r>
                    </a:p>
                  </a:txBody>
                  <a:tcPr anchor="ctr" anchorCtr="1">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rgbClr val="005DA2"/>
                    </a:solidFill>
                  </a:tcPr>
                </a:tc>
                <a:tc>
                  <a:txBody>
                    <a:bodyPr/>
                    <a:lstStyle/>
                    <a:p>
                      <a:pPr marL="0" marR="0" lvl="0" indent="457200" algn="l" defTabSz="914400" rtl="0" eaLnBrk="1" fontAlgn="auto" latinLnBrk="0" hangingPunct="1">
                        <a:lnSpc>
                          <a:spcPct val="100000"/>
                        </a:lnSpc>
                        <a:spcBef>
                          <a:spcPts val="0"/>
                        </a:spcBef>
                        <a:spcAft>
                          <a:spcPts val="0"/>
                        </a:spcAft>
                        <a:buClrTx/>
                        <a:buSzTx/>
                        <a:buFontTx/>
                        <a:buNone/>
                        <a:defRPr/>
                      </a:pPr>
                      <a:r>
                        <a:rPr lang="zh-CN" altLang="en-US" sz="1800" kern="1200" dirty="0">
                          <a:solidFill>
                            <a:srgbClr val="0075CC"/>
                          </a:solidFill>
                          <a:latin typeface="微软雅黑" panose="020B0503020204020204" pitchFamily="34" charset="-122"/>
                          <a:ea typeface="微软雅黑" panose="020B0503020204020204" pitchFamily="34" charset="-122"/>
                          <a:cs typeface="+mn-cs"/>
                        </a:rPr>
                        <a:t>输入条件规定了输入值的集合或者规定了“必须如何”的条件的情况下，可确立一个有效等价类和一个无效等价类</a:t>
                      </a:r>
                      <a:r>
                        <a:rPr lang="zh-CN" altLang="en-US" sz="2000" kern="1200" dirty="0">
                          <a:solidFill>
                            <a:srgbClr val="0075CC"/>
                          </a:solidFill>
                          <a:latin typeface="微软雅黑" panose="020B0503020204020204" pitchFamily="34" charset="-122"/>
                          <a:ea typeface="微软雅黑" panose="020B0503020204020204" pitchFamily="34" charset="-122"/>
                          <a:cs typeface="+mn-cs"/>
                        </a:rPr>
                        <a:t>。</a:t>
                      </a:r>
                      <a:endParaRPr lang="zh-CN" altLang="zh-CN" sz="1800" kern="1200" dirty="0">
                        <a:solidFill>
                          <a:srgbClr val="0075CC"/>
                        </a:solidFill>
                        <a:latin typeface="微软雅黑" panose="020B0503020204020204" pitchFamily="34" charset="-122"/>
                        <a:ea typeface="微软雅黑" panose="020B0503020204020204" pitchFamily="34" charset="-122"/>
                        <a:cs typeface="+mn-cs"/>
                      </a:endParaRPr>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rgbClr val="F4F4F4"/>
                    </a:solidFill>
                  </a:tcPr>
                </a:tc>
                <a:extLst>
                  <a:ext uri="{0D108BD9-81ED-4DB2-BD59-A6C34878D82A}">
                    <a16:rowId xmlns:a16="http://schemas.microsoft.com/office/drawing/2014/main" val="10000"/>
                  </a:ext>
                </a:extLst>
              </a:tr>
              <a:tr h="1910768">
                <a:tc>
                  <a:txBody>
                    <a:bodyPr/>
                    <a:lstStyle/>
                    <a:p>
                      <a:pPr algn="ctr"/>
                      <a:endParaRPr lang="en-US" altLang="zh-CN" sz="2800" dirty="0">
                        <a:solidFill>
                          <a:schemeClr val="accent1"/>
                        </a:solidFill>
                      </a:endParaRPr>
                    </a:p>
                    <a:p>
                      <a:pPr algn="ctr"/>
                      <a:r>
                        <a:rPr lang="zh-CN" altLang="en-US" sz="2800" dirty="0">
                          <a:solidFill>
                            <a:schemeClr val="accent1"/>
                          </a:solidFill>
                        </a:rPr>
                        <a:t>示例</a:t>
                      </a:r>
                      <a:endParaRPr lang="en-US" altLang="zh-CN" sz="2800" dirty="0">
                        <a:solidFill>
                          <a:schemeClr val="accent1"/>
                        </a:solidFill>
                      </a:endParaRPr>
                    </a:p>
                    <a:p>
                      <a:pPr algn="ctr"/>
                      <a:endParaRPr lang="en-US" altLang="zh-CN" sz="2800" dirty="0">
                        <a:solidFill>
                          <a:schemeClr val="accent1"/>
                        </a:solidFill>
                      </a:endParaRP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indent="0"/>
                      <a:endParaRPr lang="en-US" altLang="zh-CN" sz="1600" b="1" kern="1200" dirty="0">
                        <a:solidFill>
                          <a:srgbClr val="0075CC"/>
                        </a:solidFill>
                        <a:latin typeface="微软雅黑" panose="020B0503020204020204" pitchFamily="34" charset="-122"/>
                        <a:ea typeface="微软雅黑" panose="020B0503020204020204" pitchFamily="34" charset="-122"/>
                        <a:cs typeface="+mn-cs"/>
                      </a:endParaRPr>
                    </a:p>
                    <a:p>
                      <a:pPr indent="0"/>
                      <a:r>
                        <a:rPr lang="zh-CN" altLang="en-US" sz="1600" b="1" kern="1200" dirty="0">
                          <a:solidFill>
                            <a:srgbClr val="0075CC"/>
                          </a:solidFill>
                          <a:latin typeface="微软雅黑" panose="020B0503020204020204" pitchFamily="34" charset="-122"/>
                          <a:ea typeface="微软雅黑" panose="020B0503020204020204" pitchFamily="34" charset="-122"/>
                          <a:cs typeface="+mn-cs"/>
                        </a:rPr>
                        <a:t>输入条件：</a:t>
                      </a:r>
                      <a:r>
                        <a:rPr lang="zh-CN" altLang="en-US" sz="1600" b="0" kern="1200" dirty="0">
                          <a:solidFill>
                            <a:srgbClr val="595959"/>
                          </a:solidFill>
                          <a:latin typeface="微软雅黑" panose="020B0503020204020204" pitchFamily="34" charset="-122"/>
                          <a:ea typeface="微软雅黑" panose="020B0503020204020204" pitchFamily="34" charset="-122"/>
                          <a:cs typeface="+mn-cs"/>
                        </a:rPr>
                        <a:t>输入值必须是一个</a:t>
                      </a:r>
                      <a:r>
                        <a:rPr lang="en-US" altLang="zh-CN" sz="1600" b="0" kern="1200" dirty="0">
                          <a:solidFill>
                            <a:srgbClr val="595959"/>
                          </a:solidFill>
                          <a:latin typeface="微软雅黑" panose="020B0503020204020204" pitchFamily="34" charset="-122"/>
                          <a:ea typeface="微软雅黑" panose="020B0503020204020204" pitchFamily="34" charset="-122"/>
                          <a:cs typeface="+mn-cs"/>
                        </a:rPr>
                        <a:t>11</a:t>
                      </a:r>
                      <a:r>
                        <a:rPr lang="zh-CN" altLang="en-US" sz="1600" b="0" kern="1200" dirty="0">
                          <a:solidFill>
                            <a:srgbClr val="595959"/>
                          </a:solidFill>
                          <a:latin typeface="微软雅黑" panose="020B0503020204020204" pitchFamily="34" charset="-122"/>
                          <a:ea typeface="微软雅黑" panose="020B0503020204020204" pitchFamily="34" charset="-122"/>
                          <a:cs typeface="+mn-cs"/>
                        </a:rPr>
                        <a:t>位的数字字符串。</a:t>
                      </a:r>
                      <a:endParaRPr lang="en-US" altLang="zh-CN" sz="1600" b="0" kern="1200" dirty="0">
                        <a:solidFill>
                          <a:srgbClr val="595959"/>
                        </a:solidFill>
                        <a:latin typeface="微软雅黑" panose="020B0503020204020204" pitchFamily="34" charset="-122"/>
                        <a:ea typeface="微软雅黑" panose="020B0503020204020204" pitchFamily="34" charset="-122"/>
                        <a:cs typeface="+mn-cs"/>
                      </a:endParaRPr>
                    </a:p>
                    <a:p>
                      <a:pPr indent="457200"/>
                      <a:r>
                        <a:rPr lang="en-US" altLang="zh-CN" b="0" dirty="0"/>
                        <a:t>                            </a:t>
                      </a:r>
                      <a:r>
                        <a:rPr lang="en-US" altLang="zh-CN" sz="2400" b="0" dirty="0"/>
                        <a:t> </a:t>
                      </a:r>
                    </a:p>
                    <a:p>
                      <a:r>
                        <a:rPr lang="zh-CN" altLang="en-US" sz="1600" b="1" kern="1200" dirty="0">
                          <a:solidFill>
                            <a:srgbClr val="0075CC"/>
                          </a:solidFill>
                          <a:latin typeface="微软雅黑" panose="020B0503020204020204" pitchFamily="34" charset="-122"/>
                          <a:ea typeface="微软雅黑" panose="020B0503020204020204" pitchFamily="34" charset="-122"/>
                          <a:cs typeface="+mn-cs"/>
                        </a:rPr>
                        <a:t>有效等价类：</a:t>
                      </a:r>
                      <a:r>
                        <a:rPr lang="zh-CN" altLang="en-US" sz="1600" b="0" kern="1200" dirty="0">
                          <a:solidFill>
                            <a:srgbClr val="595959"/>
                          </a:solidFill>
                          <a:latin typeface="微软雅黑" panose="020B0503020204020204" pitchFamily="34" charset="-122"/>
                          <a:ea typeface="微软雅黑" panose="020B0503020204020204" pitchFamily="34" charset="-122"/>
                          <a:cs typeface="+mn-cs"/>
                        </a:rPr>
                        <a:t>所有完全符合”</a:t>
                      </a:r>
                      <a:r>
                        <a:rPr lang="en-US" altLang="zh-CN" sz="1600" b="0" kern="1200" dirty="0">
                          <a:solidFill>
                            <a:srgbClr val="595959"/>
                          </a:solidFill>
                          <a:latin typeface="微软雅黑" panose="020B0503020204020204" pitchFamily="34" charset="-122"/>
                          <a:ea typeface="微软雅黑" panose="020B0503020204020204" pitchFamily="34" charset="-122"/>
                          <a:cs typeface="+mn-cs"/>
                        </a:rPr>
                        <a:t>11</a:t>
                      </a:r>
                      <a:r>
                        <a:rPr lang="zh-CN" altLang="en-US" sz="1600" b="0" kern="1200" dirty="0">
                          <a:solidFill>
                            <a:srgbClr val="595959"/>
                          </a:solidFill>
                          <a:latin typeface="微软雅黑" panose="020B0503020204020204" pitchFamily="34" charset="-122"/>
                          <a:ea typeface="微软雅黑" panose="020B0503020204020204" pitchFamily="34" charset="-122"/>
                          <a:cs typeface="+mn-cs"/>
                        </a:rPr>
                        <a:t>位数字“这一条件的输入；</a:t>
                      </a:r>
                      <a:endParaRPr lang="en-US" altLang="zh-CN" sz="1600" b="0" kern="1200" dirty="0">
                        <a:solidFill>
                          <a:srgbClr val="595959"/>
                        </a:solidFill>
                        <a:latin typeface="微软雅黑" panose="020B0503020204020204" pitchFamily="34" charset="-122"/>
                        <a:ea typeface="微软雅黑" panose="020B0503020204020204" pitchFamily="34" charset="-122"/>
                        <a:cs typeface="+mn-cs"/>
                      </a:endParaRPr>
                    </a:p>
                    <a:p>
                      <a:r>
                        <a:rPr lang="zh-CN" altLang="en-US" sz="1600" b="1" kern="1200" dirty="0">
                          <a:solidFill>
                            <a:srgbClr val="0075CC"/>
                          </a:solidFill>
                          <a:latin typeface="微软雅黑" panose="020B0503020204020204" pitchFamily="34" charset="-122"/>
                          <a:ea typeface="微软雅黑" panose="020B0503020204020204" pitchFamily="34" charset="-122"/>
                          <a:cs typeface="+mn-cs"/>
                        </a:rPr>
                        <a:t>无效等价类：</a:t>
                      </a:r>
                      <a:r>
                        <a:rPr lang="zh-CN" altLang="en-US" sz="1600" b="0" kern="1200" dirty="0">
                          <a:solidFill>
                            <a:srgbClr val="595959"/>
                          </a:solidFill>
                          <a:latin typeface="微软雅黑" panose="020B0503020204020204" pitchFamily="34" charset="-122"/>
                          <a:ea typeface="微软雅黑" panose="020B0503020204020204" pitchFamily="34" charset="-122"/>
                          <a:cs typeface="+mn-cs"/>
                        </a:rPr>
                        <a:t>所有不符合”</a:t>
                      </a:r>
                      <a:r>
                        <a:rPr lang="en-US" altLang="zh-CN" sz="1600" b="0" kern="1200" dirty="0">
                          <a:solidFill>
                            <a:srgbClr val="595959"/>
                          </a:solidFill>
                          <a:latin typeface="微软雅黑" panose="020B0503020204020204" pitchFamily="34" charset="-122"/>
                          <a:ea typeface="微软雅黑" panose="020B0503020204020204" pitchFamily="34" charset="-122"/>
                          <a:cs typeface="+mn-cs"/>
                        </a:rPr>
                        <a:t>11</a:t>
                      </a:r>
                      <a:r>
                        <a:rPr lang="zh-CN" altLang="en-US" sz="1600" b="0" kern="1200" dirty="0">
                          <a:solidFill>
                            <a:srgbClr val="595959"/>
                          </a:solidFill>
                          <a:latin typeface="微软雅黑" panose="020B0503020204020204" pitchFamily="34" charset="-122"/>
                          <a:ea typeface="微软雅黑" panose="020B0503020204020204" pitchFamily="34" charset="-122"/>
                          <a:cs typeface="+mn-cs"/>
                        </a:rPr>
                        <a:t>位数字“这一条件的输入的</a:t>
                      </a:r>
                      <a:r>
                        <a:rPr lang="zh-CN" altLang="en-US" sz="1600" b="1" kern="1200" dirty="0">
                          <a:solidFill>
                            <a:srgbClr val="595959"/>
                          </a:solidFill>
                          <a:latin typeface="微软雅黑" panose="020B0503020204020204" pitchFamily="34" charset="-122"/>
                          <a:ea typeface="微软雅黑" panose="020B0503020204020204" pitchFamily="34" charset="-122"/>
                          <a:cs typeface="+mn-cs"/>
                        </a:rPr>
                        <a:t>集合</a:t>
                      </a:r>
                      <a:r>
                        <a:rPr lang="zh-CN" altLang="en-US" sz="1600" b="0" kern="1200" dirty="0">
                          <a:solidFill>
                            <a:srgbClr val="595959"/>
                          </a:solidFill>
                          <a:latin typeface="微软雅黑" panose="020B0503020204020204" pitchFamily="34" charset="-122"/>
                          <a:ea typeface="微软雅黑" panose="020B0503020204020204" pitchFamily="34" charset="-122"/>
                          <a:cs typeface="+mn-cs"/>
                        </a:rPr>
                        <a:t>。</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1"/>
                  </a:ext>
                </a:extLst>
              </a:tr>
            </a:tbl>
          </a:graphicData>
        </a:graphic>
      </p:graphicFrame>
      <p:graphicFrame>
        <p:nvGraphicFramePr>
          <p:cNvPr id="6" name="表格 5">
            <a:extLst>
              <a:ext uri="{FF2B5EF4-FFF2-40B4-BE49-F238E27FC236}">
                <a16:creationId xmlns:a16="http://schemas.microsoft.com/office/drawing/2014/main" id="{471C5B43-FB49-4C1D-A3B2-EA403B5D1AA5}"/>
              </a:ext>
            </a:extLst>
          </p:cNvPr>
          <p:cNvGraphicFramePr>
            <a:graphicFrameLocks noGrp="1"/>
          </p:cNvGraphicFramePr>
          <p:nvPr>
            <p:extLst>
              <p:ext uri="{D42A27DB-BD31-4B8C-83A1-F6EECF244321}">
                <p14:modId xmlns:p14="http://schemas.microsoft.com/office/powerpoint/2010/main" val="2299341168"/>
              </p:ext>
            </p:extLst>
          </p:nvPr>
        </p:nvGraphicFramePr>
        <p:xfrm>
          <a:off x="780032" y="4067259"/>
          <a:ext cx="10479544" cy="2550848"/>
        </p:xfrm>
        <a:graphic>
          <a:graphicData uri="http://schemas.openxmlformats.org/drawingml/2006/table">
            <a:tbl>
              <a:tblPr firstRow="1" bandRow="1">
                <a:tableStyleId>{69012ECD-51FC-41F1-AA8D-1B2483CD663E}</a:tableStyleId>
              </a:tblPr>
              <a:tblGrid>
                <a:gridCol w="2121535">
                  <a:extLst>
                    <a:ext uri="{9D8B030D-6E8A-4147-A177-3AD203B41FA5}">
                      <a16:colId xmlns:a16="http://schemas.microsoft.com/office/drawing/2014/main" val="20000"/>
                    </a:ext>
                  </a:extLst>
                </a:gridCol>
                <a:gridCol w="8358009">
                  <a:extLst>
                    <a:ext uri="{9D8B030D-6E8A-4147-A177-3AD203B41FA5}">
                      <a16:colId xmlns:a16="http://schemas.microsoft.com/office/drawing/2014/main" val="20001"/>
                    </a:ext>
                  </a:extLst>
                </a:gridCol>
              </a:tblGrid>
              <a:tr h="609231">
                <a:tc>
                  <a:txBody>
                    <a:bodyPr/>
                    <a:lstStyle/>
                    <a:p>
                      <a:pPr algn="ctr"/>
                      <a:r>
                        <a:rPr lang="zh-CN" altLang="en-US" sz="2000" b="1" kern="1200" dirty="0">
                          <a:solidFill>
                            <a:schemeClr val="bg1"/>
                          </a:solidFill>
                          <a:latin typeface="微软雅黑" panose="020B0503020204020204" pitchFamily="34" charset="-122"/>
                          <a:ea typeface="微软雅黑" panose="020B0503020204020204" pitchFamily="34" charset="-122"/>
                          <a:cs typeface="+mn-cs"/>
                        </a:rPr>
                        <a:t>原则三</a:t>
                      </a:r>
                    </a:p>
                  </a:txBody>
                  <a:tcPr anchor="ctr" anchorCtr="1">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rgbClr val="005DA2"/>
                    </a:solidFill>
                  </a:tcPr>
                </a:tc>
                <a:tc>
                  <a:txBody>
                    <a:bodyPr/>
                    <a:lstStyle/>
                    <a:p>
                      <a:pPr marL="0" marR="0" lvl="0" indent="457200" algn="l" defTabSz="914400" rtl="0" eaLnBrk="1" fontAlgn="auto" latinLnBrk="0" hangingPunct="1">
                        <a:lnSpc>
                          <a:spcPct val="100000"/>
                        </a:lnSpc>
                        <a:spcBef>
                          <a:spcPts val="0"/>
                        </a:spcBef>
                        <a:spcAft>
                          <a:spcPts val="0"/>
                        </a:spcAft>
                        <a:buClrTx/>
                        <a:buSzTx/>
                        <a:buFontTx/>
                        <a:buNone/>
                        <a:defRPr/>
                      </a:pPr>
                      <a:r>
                        <a:rPr lang="zh-CN" altLang="en-US" sz="1800" kern="1200" dirty="0">
                          <a:solidFill>
                            <a:srgbClr val="0075CC"/>
                          </a:solidFill>
                          <a:latin typeface="微软雅黑" panose="020B0503020204020204" pitchFamily="34" charset="-122"/>
                          <a:ea typeface="微软雅黑" panose="020B0503020204020204" pitchFamily="34" charset="-122"/>
                          <a:cs typeface="+mn-cs"/>
                        </a:rPr>
                        <a:t>在输入条件是一个布尔量的情况下，可确定一个有效等价类和一个无效等价类。</a:t>
                      </a:r>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rgbClr val="F4F4F4"/>
                    </a:solidFill>
                  </a:tcPr>
                </a:tc>
                <a:extLst>
                  <a:ext uri="{0D108BD9-81ED-4DB2-BD59-A6C34878D82A}">
                    <a16:rowId xmlns:a16="http://schemas.microsoft.com/office/drawing/2014/main" val="10000"/>
                  </a:ext>
                </a:extLst>
              </a:tr>
              <a:tr h="1910768">
                <a:tc>
                  <a:txBody>
                    <a:bodyPr/>
                    <a:lstStyle/>
                    <a:p>
                      <a:pPr algn="ctr"/>
                      <a:endParaRPr lang="en-US" altLang="zh-CN" sz="2800" dirty="0">
                        <a:solidFill>
                          <a:schemeClr val="accent1"/>
                        </a:solidFill>
                      </a:endParaRPr>
                    </a:p>
                    <a:p>
                      <a:pPr algn="ctr"/>
                      <a:r>
                        <a:rPr lang="zh-CN" altLang="en-US" sz="2800" dirty="0">
                          <a:solidFill>
                            <a:schemeClr val="accent1"/>
                          </a:solidFill>
                        </a:rPr>
                        <a:t>示例</a:t>
                      </a:r>
                      <a:endParaRPr lang="en-US" altLang="zh-CN" sz="2800" dirty="0">
                        <a:solidFill>
                          <a:schemeClr val="accent1"/>
                        </a:solidFill>
                      </a:endParaRPr>
                    </a:p>
                    <a:p>
                      <a:pPr algn="ctr"/>
                      <a:endParaRPr lang="en-US" altLang="zh-CN" sz="2800" dirty="0">
                        <a:solidFill>
                          <a:schemeClr val="accent1"/>
                        </a:solidFill>
                      </a:endParaRP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marL="0" marR="0" lvl="0" indent="0" algn="l" defTabSz="1219200" rtl="0" eaLnBrk="1" fontAlgn="auto" latinLnBrk="0" hangingPunct="1">
                        <a:lnSpc>
                          <a:spcPct val="100000"/>
                        </a:lnSpc>
                        <a:spcBef>
                          <a:spcPts val="0"/>
                        </a:spcBef>
                        <a:spcAft>
                          <a:spcPts val="0"/>
                        </a:spcAft>
                        <a:buClrTx/>
                        <a:buSzTx/>
                        <a:buFontTx/>
                        <a:buNone/>
                        <a:tabLst/>
                        <a:defRPr/>
                      </a:pPr>
                      <a:r>
                        <a:rPr kumimoji="0" lang="zh-CN" altLang="en-US" sz="1600" b="1" i="0" u="none" strike="noStrike" kern="1200" cap="none" spc="0" normalizeH="0" baseline="0" noProof="0" dirty="0">
                          <a:ln>
                            <a:noFill/>
                          </a:ln>
                          <a:solidFill>
                            <a:srgbClr val="0075CC"/>
                          </a:solidFill>
                          <a:effectLst/>
                          <a:uLnTx/>
                          <a:uFillTx/>
                          <a:latin typeface="微软雅黑" panose="020B0503020204020204" pitchFamily="34" charset="-122"/>
                          <a:ea typeface="微软雅黑" panose="020B0503020204020204" pitchFamily="34" charset="-122"/>
                          <a:cs typeface="+mn-cs"/>
                        </a:rPr>
                        <a:t>输入条件：</a:t>
                      </a:r>
                      <a:r>
                        <a:rPr kumimoji="0" lang="zh-CN" altLang="en-US" sz="1600" b="0" i="0" u="none" strike="noStrike" kern="1200" cap="none" spc="0" normalizeH="0" baseline="0" noProof="0" dirty="0">
                          <a:ln>
                            <a:noFill/>
                          </a:ln>
                          <a:solidFill>
                            <a:srgbClr val="595959"/>
                          </a:solidFill>
                          <a:effectLst/>
                          <a:uLnTx/>
                          <a:uFillTx/>
                          <a:latin typeface="微软雅黑" panose="020B0503020204020204" pitchFamily="34" charset="-122"/>
                          <a:ea typeface="微软雅黑" panose="020B0503020204020204" pitchFamily="34" charset="-122"/>
                          <a:cs typeface="+mn-cs"/>
                        </a:rPr>
                        <a:t>一个布尔量。用户必须勾选“我已阅读并同意用户协议”复选框才能完成注册。</a:t>
                      </a:r>
                      <a:endParaRPr kumimoji="0" lang="en-US" altLang="zh-CN" sz="1600" b="0" i="0" u="none" strike="noStrike" kern="1200" cap="none" spc="0" normalizeH="0" baseline="0" noProof="0" dirty="0">
                        <a:ln>
                          <a:noFill/>
                        </a:ln>
                        <a:solidFill>
                          <a:srgbClr val="595959"/>
                        </a:solidFill>
                        <a:effectLst/>
                        <a:uLnTx/>
                        <a:uFillTx/>
                        <a:latin typeface="微软雅黑" panose="020B0503020204020204" pitchFamily="34" charset="-122"/>
                        <a:ea typeface="微软雅黑" panose="020B0503020204020204" pitchFamily="34" charset="-122"/>
                        <a:cs typeface="+mn-cs"/>
                      </a:endParaRPr>
                    </a:p>
                    <a:p>
                      <a:pPr marL="0" marR="0" lvl="0" indent="457200" algn="l" defTabSz="1219200" rtl="0" eaLnBrk="1" fontAlgn="auto" latinLnBrk="0" hangingPunct="1">
                        <a:lnSpc>
                          <a:spcPct val="100000"/>
                        </a:lnSpc>
                        <a:spcBef>
                          <a:spcPts val="0"/>
                        </a:spcBef>
                        <a:spcAft>
                          <a:spcPts val="0"/>
                        </a:spcAft>
                        <a:buClrTx/>
                        <a:buSzTx/>
                        <a:buFontTx/>
                        <a:buNone/>
                        <a:tabLst/>
                        <a:defRPr/>
                      </a:pPr>
                      <a:r>
                        <a:rPr kumimoji="0" lang="en-US" altLang="zh-CN" sz="2400" b="0" i="0" u="none" strike="noStrike" kern="1200" cap="none" spc="0" normalizeH="0" baseline="0" noProof="0" dirty="0">
                          <a:ln>
                            <a:noFill/>
                          </a:ln>
                          <a:solidFill>
                            <a:prstClr val="black"/>
                          </a:solidFill>
                          <a:effectLst/>
                          <a:uLnTx/>
                          <a:uFillTx/>
                          <a:latin typeface="+mn-lt"/>
                          <a:cs typeface="+mn-cs"/>
                        </a:rPr>
                        <a:t>                             </a:t>
                      </a:r>
                    </a:p>
                    <a:p>
                      <a:pPr marL="0" marR="0" lvl="0" indent="0" algn="l" defTabSz="1219200" rtl="0" eaLnBrk="1" fontAlgn="auto" latinLnBrk="0" hangingPunct="1">
                        <a:lnSpc>
                          <a:spcPct val="100000"/>
                        </a:lnSpc>
                        <a:spcBef>
                          <a:spcPts val="0"/>
                        </a:spcBef>
                        <a:spcAft>
                          <a:spcPts val="0"/>
                        </a:spcAft>
                        <a:buClrTx/>
                        <a:buSzTx/>
                        <a:buFontTx/>
                        <a:buNone/>
                        <a:tabLst/>
                        <a:defRPr/>
                      </a:pPr>
                      <a:r>
                        <a:rPr kumimoji="0" lang="zh-CN" altLang="en-US" sz="1600" b="1" i="0" u="none" strike="noStrike" kern="1200" cap="none" spc="0" normalizeH="0" baseline="0" noProof="0" dirty="0">
                          <a:ln>
                            <a:noFill/>
                          </a:ln>
                          <a:solidFill>
                            <a:srgbClr val="0075CC"/>
                          </a:solidFill>
                          <a:effectLst/>
                          <a:uLnTx/>
                          <a:uFillTx/>
                          <a:latin typeface="微软雅黑" panose="020B0503020204020204" pitchFamily="34" charset="-122"/>
                          <a:ea typeface="微软雅黑" panose="020B0503020204020204" pitchFamily="34" charset="-122"/>
                          <a:cs typeface="+mn-cs"/>
                        </a:rPr>
                        <a:t>有效等价类：</a:t>
                      </a:r>
                      <a:r>
                        <a:rPr kumimoji="0" lang="en-US" altLang="zh-CN" sz="1600" b="0" i="0" u="none" strike="noStrike" kern="1200" cap="none" spc="0" normalizeH="0" baseline="0" noProof="0" dirty="0">
                          <a:ln>
                            <a:noFill/>
                          </a:ln>
                          <a:solidFill>
                            <a:srgbClr val="595959"/>
                          </a:solidFill>
                          <a:effectLst/>
                          <a:uLnTx/>
                          <a:uFillTx/>
                          <a:latin typeface="微软雅黑" panose="020B0503020204020204" pitchFamily="34" charset="-122"/>
                          <a:ea typeface="微软雅黑" panose="020B0503020204020204" pitchFamily="34" charset="-122"/>
                          <a:cs typeface="+mn-cs"/>
                        </a:rPr>
                        <a:t>True (</a:t>
                      </a:r>
                      <a:r>
                        <a:rPr kumimoji="0" lang="zh-CN" altLang="en-US" sz="1600" b="0" i="0" u="none" strike="noStrike" kern="1200" cap="none" spc="0" normalizeH="0" baseline="0" noProof="0" dirty="0">
                          <a:ln>
                            <a:noFill/>
                          </a:ln>
                          <a:solidFill>
                            <a:srgbClr val="595959"/>
                          </a:solidFill>
                          <a:effectLst/>
                          <a:uLnTx/>
                          <a:uFillTx/>
                          <a:latin typeface="微软雅黑" panose="020B0503020204020204" pitchFamily="34" charset="-122"/>
                          <a:ea typeface="微软雅黑" panose="020B0503020204020204" pitchFamily="34" charset="-122"/>
                          <a:cs typeface="+mn-cs"/>
                        </a:rPr>
                        <a:t>复选框被勾选</a:t>
                      </a:r>
                      <a:r>
                        <a:rPr kumimoji="0" lang="en-US" altLang="zh-CN" sz="1600" b="0" i="0" u="none" strike="noStrike" kern="1200" cap="none" spc="0" normalizeH="0" baseline="0" noProof="0" dirty="0">
                          <a:ln>
                            <a:noFill/>
                          </a:ln>
                          <a:solidFill>
                            <a:srgbClr val="595959"/>
                          </a:solidFill>
                          <a:effectLst/>
                          <a:uLnTx/>
                          <a:uFillTx/>
                          <a:latin typeface="微软雅黑" panose="020B0503020204020204" pitchFamily="34" charset="-122"/>
                          <a:ea typeface="微软雅黑" panose="020B0503020204020204" pitchFamily="34" charset="-122"/>
                          <a:cs typeface="+mn-cs"/>
                        </a:rPr>
                        <a:t>)</a:t>
                      </a:r>
                      <a:r>
                        <a:rPr kumimoji="0" lang="zh-CN" altLang="en-US" sz="1600" b="0" i="0" u="none" strike="noStrike" kern="1200" cap="none" spc="0" normalizeH="0" baseline="0" noProof="0" dirty="0">
                          <a:ln>
                            <a:noFill/>
                          </a:ln>
                          <a:solidFill>
                            <a:srgbClr val="595959"/>
                          </a:solidFill>
                          <a:effectLst/>
                          <a:uLnTx/>
                          <a:uFillTx/>
                          <a:latin typeface="微软雅黑" panose="020B0503020204020204" pitchFamily="34" charset="-122"/>
                          <a:ea typeface="微软雅黑" panose="020B0503020204020204" pitchFamily="34" charset="-122"/>
                          <a:cs typeface="+mn-cs"/>
                        </a:rPr>
                        <a:t>；</a:t>
                      </a:r>
                      <a:endParaRPr kumimoji="0" lang="en-US" altLang="zh-CN" sz="1600" b="0" i="0" u="none" strike="noStrike" kern="1200" cap="none" spc="0" normalizeH="0" baseline="0" noProof="0" dirty="0">
                        <a:ln>
                          <a:noFill/>
                        </a:ln>
                        <a:solidFill>
                          <a:srgbClr val="595959"/>
                        </a:solidFill>
                        <a:effectLst/>
                        <a:uLnTx/>
                        <a:uFillTx/>
                        <a:latin typeface="微软雅黑" panose="020B0503020204020204" pitchFamily="34" charset="-122"/>
                        <a:ea typeface="微软雅黑" panose="020B0503020204020204" pitchFamily="34" charset="-122"/>
                        <a:cs typeface="+mn-cs"/>
                      </a:endParaRPr>
                    </a:p>
                    <a:p>
                      <a:pPr marL="0" marR="0" lvl="0" indent="0" algn="l" defTabSz="1219200" rtl="0" eaLnBrk="1" fontAlgn="auto" latinLnBrk="0" hangingPunct="1">
                        <a:lnSpc>
                          <a:spcPct val="100000"/>
                        </a:lnSpc>
                        <a:spcBef>
                          <a:spcPts val="0"/>
                        </a:spcBef>
                        <a:spcAft>
                          <a:spcPts val="0"/>
                        </a:spcAft>
                        <a:buClrTx/>
                        <a:buSzTx/>
                        <a:buFontTx/>
                        <a:buNone/>
                        <a:tabLst/>
                        <a:defRPr/>
                      </a:pPr>
                      <a:r>
                        <a:rPr kumimoji="0" lang="zh-CN" altLang="en-US" sz="1600" b="1" i="0" u="none" strike="noStrike" kern="1200" cap="none" spc="0" normalizeH="0" baseline="0" noProof="0" dirty="0">
                          <a:ln>
                            <a:noFill/>
                          </a:ln>
                          <a:solidFill>
                            <a:srgbClr val="0075CC"/>
                          </a:solidFill>
                          <a:effectLst/>
                          <a:uLnTx/>
                          <a:uFillTx/>
                          <a:latin typeface="微软雅黑" panose="020B0503020204020204" pitchFamily="34" charset="-122"/>
                          <a:ea typeface="微软雅黑" panose="020B0503020204020204" pitchFamily="34" charset="-122"/>
                          <a:cs typeface="+mn-cs"/>
                        </a:rPr>
                        <a:t>无效等价类：</a:t>
                      </a:r>
                      <a:r>
                        <a:rPr kumimoji="0" lang="en-US" altLang="zh-CN" sz="1600" b="0" i="0" u="none" strike="noStrike" kern="1200" cap="none" spc="0" normalizeH="0" baseline="0" noProof="0" dirty="0">
                          <a:ln>
                            <a:noFill/>
                          </a:ln>
                          <a:solidFill>
                            <a:srgbClr val="595959"/>
                          </a:solidFill>
                          <a:effectLst/>
                          <a:uLnTx/>
                          <a:uFillTx/>
                          <a:latin typeface="微软雅黑" panose="020B0503020204020204" pitchFamily="34" charset="-122"/>
                          <a:ea typeface="微软雅黑" panose="020B0503020204020204" pitchFamily="34" charset="-122"/>
                          <a:cs typeface="+mn-cs"/>
                        </a:rPr>
                        <a:t>False (</a:t>
                      </a:r>
                      <a:r>
                        <a:rPr kumimoji="0" lang="zh-CN" altLang="en-US" sz="1600" b="0" i="0" u="none" strike="noStrike" kern="1200" cap="none" spc="0" normalizeH="0" baseline="0" noProof="0" dirty="0">
                          <a:ln>
                            <a:noFill/>
                          </a:ln>
                          <a:solidFill>
                            <a:srgbClr val="595959"/>
                          </a:solidFill>
                          <a:effectLst/>
                          <a:uLnTx/>
                          <a:uFillTx/>
                          <a:latin typeface="微软雅黑" panose="020B0503020204020204" pitchFamily="34" charset="-122"/>
                          <a:ea typeface="微软雅黑" panose="020B0503020204020204" pitchFamily="34" charset="-122"/>
                          <a:cs typeface="+mn-cs"/>
                        </a:rPr>
                        <a:t>复选框未被勾选</a:t>
                      </a:r>
                      <a:r>
                        <a:rPr kumimoji="0" lang="en-US" altLang="zh-CN" sz="1600" b="0" i="0" u="none" strike="noStrike" kern="1200" cap="none" spc="0" normalizeH="0" baseline="0" noProof="0" dirty="0">
                          <a:ln>
                            <a:noFill/>
                          </a:ln>
                          <a:solidFill>
                            <a:srgbClr val="595959"/>
                          </a:solidFill>
                          <a:effectLst/>
                          <a:uLnTx/>
                          <a:uFillTx/>
                          <a:latin typeface="微软雅黑" panose="020B0503020204020204" pitchFamily="34" charset="-122"/>
                          <a:ea typeface="微软雅黑" panose="020B0503020204020204" pitchFamily="34" charset="-122"/>
                          <a:cs typeface="+mn-cs"/>
                        </a:rPr>
                        <a:t>)</a:t>
                      </a:r>
                      <a:r>
                        <a:rPr kumimoji="0" lang="zh-CN" altLang="en-US" sz="1600" b="0" i="0" u="none" strike="noStrike" kern="1200" cap="none" spc="0" normalizeH="0" baseline="0" noProof="0" dirty="0">
                          <a:ln>
                            <a:noFill/>
                          </a:ln>
                          <a:solidFill>
                            <a:srgbClr val="595959"/>
                          </a:solidFill>
                          <a:effectLst/>
                          <a:uLnTx/>
                          <a:uFillTx/>
                          <a:latin typeface="微软雅黑" panose="020B0503020204020204" pitchFamily="34" charset="-122"/>
                          <a:ea typeface="微软雅黑" panose="020B0503020204020204" pitchFamily="34" charset="-122"/>
                          <a:cs typeface="+mn-cs"/>
                        </a:rPr>
                        <a:t>。</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1209479515"/>
      </p:ext>
    </p:extLst>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DCD005-1735-F5AC-CC2D-DE93929DB3D5}"/>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C7A099B5-6025-B4E4-B4A8-E907826B54FF}"/>
              </a:ext>
            </a:extLst>
          </p:cNvPr>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等价类划分原则</a:t>
            </a:r>
          </a:p>
        </p:txBody>
      </p:sp>
      <p:graphicFrame>
        <p:nvGraphicFramePr>
          <p:cNvPr id="8" name="表格 7">
            <a:extLst>
              <a:ext uri="{FF2B5EF4-FFF2-40B4-BE49-F238E27FC236}">
                <a16:creationId xmlns:a16="http://schemas.microsoft.com/office/drawing/2014/main" id="{AAA29521-893D-074C-DE29-2ADEF60CF2B3}"/>
              </a:ext>
            </a:extLst>
          </p:cNvPr>
          <p:cNvGraphicFramePr>
            <a:graphicFrameLocks noGrp="1"/>
          </p:cNvGraphicFramePr>
          <p:nvPr>
            <p:extLst>
              <p:ext uri="{D42A27DB-BD31-4B8C-83A1-F6EECF244321}">
                <p14:modId xmlns:p14="http://schemas.microsoft.com/office/powerpoint/2010/main" val="3184963882"/>
              </p:ext>
            </p:extLst>
          </p:nvPr>
        </p:nvGraphicFramePr>
        <p:xfrm>
          <a:off x="855434" y="1843821"/>
          <a:ext cx="10479544" cy="2639312"/>
        </p:xfrm>
        <a:graphic>
          <a:graphicData uri="http://schemas.openxmlformats.org/drawingml/2006/table">
            <a:tbl>
              <a:tblPr firstRow="1" bandRow="1">
                <a:tableStyleId>{69012ECD-51FC-41F1-AA8D-1B2483CD663E}</a:tableStyleId>
              </a:tblPr>
              <a:tblGrid>
                <a:gridCol w="2121535">
                  <a:extLst>
                    <a:ext uri="{9D8B030D-6E8A-4147-A177-3AD203B41FA5}">
                      <a16:colId xmlns:a16="http://schemas.microsoft.com/office/drawing/2014/main" val="20000"/>
                    </a:ext>
                  </a:extLst>
                </a:gridCol>
                <a:gridCol w="8358009">
                  <a:extLst>
                    <a:ext uri="{9D8B030D-6E8A-4147-A177-3AD203B41FA5}">
                      <a16:colId xmlns:a16="http://schemas.microsoft.com/office/drawing/2014/main" val="20001"/>
                    </a:ext>
                  </a:extLst>
                </a:gridCol>
              </a:tblGrid>
              <a:tr h="583701">
                <a:tc>
                  <a:txBody>
                    <a:bodyPr/>
                    <a:lstStyle/>
                    <a:p>
                      <a:pPr algn="ctr"/>
                      <a:r>
                        <a:rPr lang="zh-CN" altLang="en-US" sz="2000" b="1" kern="1200" dirty="0">
                          <a:solidFill>
                            <a:schemeClr val="bg1"/>
                          </a:solidFill>
                          <a:latin typeface="微软雅黑" panose="020B0503020204020204" pitchFamily="34" charset="-122"/>
                          <a:ea typeface="微软雅黑" panose="020B0503020204020204" pitchFamily="34" charset="-122"/>
                          <a:cs typeface="+mn-cs"/>
                        </a:rPr>
                        <a:t>原则四</a:t>
                      </a:r>
                    </a:p>
                  </a:txBody>
                  <a:tcPr anchor="ctr" anchorCtr="1">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rgbClr val="005DA2"/>
                    </a:solidFill>
                  </a:tcPr>
                </a:tc>
                <a:tc>
                  <a:txBody>
                    <a:bodyPr/>
                    <a:lstStyle/>
                    <a:p>
                      <a:pPr marL="0" marR="0" lvl="0" indent="457200" algn="l" defTabSz="914400" rtl="0" eaLnBrk="1" fontAlgn="auto" latinLnBrk="0" hangingPunct="1">
                        <a:lnSpc>
                          <a:spcPct val="100000"/>
                        </a:lnSpc>
                        <a:spcBef>
                          <a:spcPts val="0"/>
                        </a:spcBef>
                        <a:spcAft>
                          <a:spcPts val="0"/>
                        </a:spcAft>
                        <a:buClrTx/>
                        <a:buSzTx/>
                        <a:buFontTx/>
                        <a:buNone/>
                        <a:defRPr/>
                      </a:pPr>
                      <a:r>
                        <a:rPr lang="zh-CN" altLang="en-US" sz="2000" kern="1200" dirty="0">
                          <a:solidFill>
                            <a:srgbClr val="0075CC"/>
                          </a:solidFill>
                          <a:latin typeface="微软雅黑" panose="020B0503020204020204" pitchFamily="34" charset="-122"/>
                          <a:ea typeface="微软雅黑" panose="020B0503020204020204" pitchFamily="34" charset="-122"/>
                          <a:cs typeface="+mn-cs"/>
                        </a:rPr>
                        <a:t>在规定了输入数据的一组值</a:t>
                      </a:r>
                      <a:r>
                        <a:rPr lang="en-US" altLang="zh-CN" sz="2000" kern="1200" dirty="0">
                          <a:solidFill>
                            <a:srgbClr val="0075CC"/>
                          </a:solidFill>
                          <a:latin typeface="微软雅黑" panose="020B0503020204020204" pitchFamily="34" charset="-122"/>
                          <a:ea typeface="微软雅黑" panose="020B0503020204020204" pitchFamily="34" charset="-122"/>
                          <a:cs typeface="+mn-cs"/>
                        </a:rPr>
                        <a:t>(</a:t>
                      </a:r>
                      <a:r>
                        <a:rPr lang="zh-CN" altLang="en-US" sz="2000" kern="1200" dirty="0">
                          <a:solidFill>
                            <a:srgbClr val="0075CC"/>
                          </a:solidFill>
                          <a:latin typeface="微软雅黑" panose="020B0503020204020204" pitchFamily="34" charset="-122"/>
                          <a:ea typeface="微软雅黑" panose="020B0503020204020204" pitchFamily="34" charset="-122"/>
                          <a:cs typeface="+mn-cs"/>
                        </a:rPr>
                        <a:t>假定</a:t>
                      </a:r>
                      <a:r>
                        <a:rPr lang="en-US" altLang="zh-CN" sz="2000" kern="1200" dirty="0">
                          <a:solidFill>
                            <a:srgbClr val="0075CC"/>
                          </a:solidFill>
                          <a:latin typeface="微软雅黑" panose="020B0503020204020204" pitchFamily="34" charset="-122"/>
                          <a:ea typeface="微软雅黑" panose="020B0503020204020204" pitchFamily="34" charset="-122"/>
                          <a:cs typeface="+mn-cs"/>
                        </a:rPr>
                        <a:t>n</a:t>
                      </a:r>
                      <a:r>
                        <a:rPr lang="zh-CN" altLang="en-US" sz="2000" kern="1200" dirty="0">
                          <a:solidFill>
                            <a:srgbClr val="0075CC"/>
                          </a:solidFill>
                          <a:latin typeface="微软雅黑" panose="020B0503020204020204" pitchFamily="34" charset="-122"/>
                          <a:ea typeface="微软雅黑" panose="020B0503020204020204" pitchFamily="34" charset="-122"/>
                          <a:cs typeface="+mn-cs"/>
                        </a:rPr>
                        <a:t>个</a:t>
                      </a:r>
                      <a:r>
                        <a:rPr lang="en-US" altLang="zh-CN" sz="2000" kern="1200" dirty="0">
                          <a:solidFill>
                            <a:srgbClr val="0075CC"/>
                          </a:solidFill>
                          <a:latin typeface="微软雅黑" panose="020B0503020204020204" pitchFamily="34" charset="-122"/>
                          <a:ea typeface="微软雅黑" panose="020B0503020204020204" pitchFamily="34" charset="-122"/>
                          <a:cs typeface="+mn-cs"/>
                        </a:rPr>
                        <a:t>)</a:t>
                      </a:r>
                      <a:r>
                        <a:rPr lang="zh-CN" altLang="en-US" sz="2000" kern="1200" dirty="0">
                          <a:solidFill>
                            <a:srgbClr val="0075CC"/>
                          </a:solidFill>
                          <a:latin typeface="微软雅黑" panose="020B0503020204020204" pitchFamily="34" charset="-122"/>
                          <a:ea typeface="微软雅黑" panose="020B0503020204020204" pitchFamily="34" charset="-122"/>
                          <a:cs typeface="+mn-cs"/>
                        </a:rPr>
                        <a:t>，并且程序要对每一个输入值分别处理的情况下，可确立</a:t>
                      </a:r>
                      <a:r>
                        <a:rPr lang="en-US" altLang="zh-CN" sz="2000" kern="1200" dirty="0">
                          <a:solidFill>
                            <a:srgbClr val="0075CC"/>
                          </a:solidFill>
                          <a:latin typeface="微软雅黑" panose="020B0503020204020204" pitchFamily="34" charset="-122"/>
                          <a:ea typeface="微软雅黑" panose="020B0503020204020204" pitchFamily="34" charset="-122"/>
                          <a:cs typeface="+mn-cs"/>
                        </a:rPr>
                        <a:t>n</a:t>
                      </a:r>
                      <a:r>
                        <a:rPr lang="zh-CN" altLang="en-US" sz="2000" kern="1200" dirty="0">
                          <a:solidFill>
                            <a:srgbClr val="0075CC"/>
                          </a:solidFill>
                          <a:latin typeface="微软雅黑" panose="020B0503020204020204" pitchFamily="34" charset="-122"/>
                          <a:ea typeface="微软雅黑" panose="020B0503020204020204" pitchFamily="34" charset="-122"/>
                          <a:cs typeface="+mn-cs"/>
                        </a:rPr>
                        <a:t>个有效等价类和一个无效等价类。</a:t>
                      </a:r>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rgbClr val="F4F4F4"/>
                    </a:solidFill>
                  </a:tcPr>
                </a:tc>
                <a:extLst>
                  <a:ext uri="{0D108BD9-81ED-4DB2-BD59-A6C34878D82A}">
                    <a16:rowId xmlns:a16="http://schemas.microsoft.com/office/drawing/2014/main" val="10000"/>
                  </a:ext>
                </a:extLst>
              </a:tr>
              <a:tr h="1938272">
                <a:tc>
                  <a:txBody>
                    <a:bodyPr/>
                    <a:lstStyle/>
                    <a:p>
                      <a:pPr algn="ctr"/>
                      <a:endParaRPr lang="en-US" altLang="zh-CN" sz="2800" dirty="0">
                        <a:solidFill>
                          <a:schemeClr val="accent1"/>
                        </a:solidFill>
                      </a:endParaRPr>
                    </a:p>
                    <a:p>
                      <a:pPr algn="ctr"/>
                      <a:endParaRPr lang="en-US" altLang="zh-CN" sz="2800" dirty="0">
                        <a:solidFill>
                          <a:schemeClr val="accent1"/>
                        </a:solidFill>
                      </a:endParaRPr>
                    </a:p>
                    <a:p>
                      <a:pPr algn="ctr"/>
                      <a:r>
                        <a:rPr lang="zh-CN" altLang="en-US" sz="2800" dirty="0">
                          <a:solidFill>
                            <a:schemeClr val="accent1"/>
                          </a:solidFill>
                        </a:rPr>
                        <a:t>示例</a:t>
                      </a:r>
                      <a:endParaRPr lang="en-US" altLang="zh-CN" sz="2800" dirty="0">
                        <a:solidFill>
                          <a:schemeClr val="accent1"/>
                        </a:solidFill>
                      </a:endParaRP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indent="0"/>
                      <a:endParaRPr lang="en-US" altLang="zh-CN" sz="1600" b="1" kern="1200" dirty="0">
                        <a:solidFill>
                          <a:srgbClr val="0075CC"/>
                        </a:solidFill>
                        <a:latin typeface="微软雅黑" panose="020B0503020204020204" pitchFamily="34" charset="-122"/>
                        <a:ea typeface="微软雅黑" panose="020B0503020204020204" pitchFamily="34" charset="-122"/>
                        <a:cs typeface="+mn-cs"/>
                      </a:endParaRPr>
                    </a:p>
                    <a:p>
                      <a:pPr indent="0"/>
                      <a:r>
                        <a:rPr lang="zh-CN" altLang="en-US" sz="1600" b="1" kern="1200" dirty="0">
                          <a:solidFill>
                            <a:srgbClr val="0075CC"/>
                          </a:solidFill>
                          <a:latin typeface="微软雅黑" panose="020B0503020204020204" pitchFamily="34" charset="-122"/>
                          <a:ea typeface="微软雅黑" panose="020B0503020204020204" pitchFamily="34" charset="-122"/>
                          <a:cs typeface="+mn-cs"/>
                        </a:rPr>
                        <a:t>输入条件：</a:t>
                      </a:r>
                      <a:r>
                        <a:rPr lang="zh-CN" altLang="en-US" sz="1600" dirty="0">
                          <a:solidFill>
                            <a:schemeClr val="tx1"/>
                          </a:solidFill>
                        </a:rPr>
                        <a:t>学生的学位</a:t>
                      </a:r>
                      <a:r>
                        <a:rPr lang="zh-CN" altLang="en-US" sz="1600" b="0" kern="1200" dirty="0">
                          <a:solidFill>
                            <a:srgbClr val="595959"/>
                          </a:solidFill>
                          <a:latin typeface="微软雅黑" panose="020B0503020204020204" pitchFamily="34" charset="-122"/>
                          <a:ea typeface="微软雅黑" panose="020B0503020204020204" pitchFamily="34" charset="-122"/>
                          <a:cs typeface="+mn-cs"/>
                        </a:rPr>
                        <a:t>。</a:t>
                      </a:r>
                      <a:r>
                        <a:rPr lang="zh-CN" altLang="en-US" sz="1600" dirty="0">
                          <a:solidFill>
                            <a:schemeClr val="tx1"/>
                          </a:solidFill>
                        </a:rPr>
                        <a:t>可为学士、硕士、博士三种之一</a:t>
                      </a:r>
                      <a:endParaRPr lang="en-US" altLang="zh-CN" sz="1600" b="0" kern="1200" dirty="0">
                        <a:solidFill>
                          <a:srgbClr val="595959"/>
                        </a:solidFill>
                        <a:latin typeface="微软雅黑" panose="020B0503020204020204" pitchFamily="34" charset="-122"/>
                        <a:ea typeface="微软雅黑" panose="020B0503020204020204" pitchFamily="34" charset="-122"/>
                        <a:cs typeface="+mn-cs"/>
                      </a:endParaRPr>
                    </a:p>
                    <a:p>
                      <a:r>
                        <a:rPr lang="en-US" altLang="zh-CN" b="0" dirty="0"/>
                        <a:t>              </a:t>
                      </a:r>
                      <a:r>
                        <a:rPr lang="en-US" altLang="zh-CN" sz="2400" b="0" dirty="0"/>
                        <a:t> </a:t>
                      </a:r>
                    </a:p>
                    <a:p>
                      <a:r>
                        <a:rPr lang="zh-CN" altLang="en-US" sz="1600" b="1" kern="1200" dirty="0">
                          <a:solidFill>
                            <a:srgbClr val="0075CC"/>
                          </a:solidFill>
                          <a:latin typeface="微软雅黑" panose="020B0503020204020204" pitchFamily="34" charset="-122"/>
                          <a:ea typeface="微软雅黑" panose="020B0503020204020204" pitchFamily="34" charset="-122"/>
                          <a:cs typeface="+mn-cs"/>
                        </a:rPr>
                        <a:t>有效等价类：</a:t>
                      </a:r>
                      <a:r>
                        <a:rPr lang="zh-CN" altLang="en-US" sz="1600" b="0" kern="1200" dirty="0">
                          <a:solidFill>
                            <a:srgbClr val="595959"/>
                          </a:solidFill>
                          <a:latin typeface="微软雅黑" panose="020B0503020204020204" pitchFamily="34" charset="-122"/>
                          <a:ea typeface="微软雅黑" panose="020B0503020204020204" pitchFamily="34" charset="-122"/>
                          <a:cs typeface="+mn-cs"/>
                        </a:rPr>
                        <a:t>学士；硕士；博士。</a:t>
                      </a:r>
                      <a:endParaRPr lang="en-US" altLang="zh-CN" sz="1600" b="0" kern="1200" dirty="0">
                        <a:solidFill>
                          <a:srgbClr val="595959"/>
                        </a:solidFill>
                        <a:latin typeface="微软雅黑" panose="020B0503020204020204" pitchFamily="34" charset="-122"/>
                        <a:ea typeface="微软雅黑" panose="020B0503020204020204" pitchFamily="34" charset="-122"/>
                        <a:cs typeface="+mn-cs"/>
                      </a:endParaRPr>
                    </a:p>
                    <a:p>
                      <a:endParaRPr lang="en-US" altLang="zh-CN" sz="1600" b="0" kern="1200" dirty="0">
                        <a:solidFill>
                          <a:srgbClr val="595959"/>
                        </a:solidFill>
                        <a:latin typeface="微软雅黑" panose="020B0503020204020204" pitchFamily="34" charset="-122"/>
                        <a:ea typeface="微软雅黑" panose="020B0503020204020204" pitchFamily="34" charset="-122"/>
                        <a:cs typeface="+mn-cs"/>
                      </a:endParaRPr>
                    </a:p>
                    <a:p>
                      <a:r>
                        <a:rPr lang="zh-CN" altLang="en-US" sz="1600" b="1" kern="1200" dirty="0">
                          <a:solidFill>
                            <a:srgbClr val="0075CC"/>
                          </a:solidFill>
                          <a:latin typeface="微软雅黑" panose="020B0503020204020204" pitchFamily="34" charset="-122"/>
                          <a:ea typeface="微软雅黑" panose="020B0503020204020204" pitchFamily="34" charset="-122"/>
                          <a:cs typeface="+mn-cs"/>
                        </a:rPr>
                        <a:t>无效等价类</a:t>
                      </a:r>
                      <a:r>
                        <a:rPr lang="zh-CN" altLang="en-US" sz="1600" b="0" kern="1200" dirty="0">
                          <a:solidFill>
                            <a:srgbClr val="595959"/>
                          </a:solidFill>
                          <a:latin typeface="微软雅黑" panose="020B0503020204020204" pitchFamily="34" charset="-122"/>
                          <a:ea typeface="微软雅黑" panose="020B0503020204020204" pitchFamily="34" charset="-122"/>
                          <a:cs typeface="+mn-cs"/>
                        </a:rPr>
                        <a:t>：三种学位之外的任何学位。</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645388575"/>
      </p:ext>
    </p:extLst>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936C48-6ADB-A360-B539-23311C4311F2}"/>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103AE9B7-4AF9-6E33-9547-AD017D70C720}"/>
              </a:ext>
            </a:extLst>
          </p:cNvPr>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等价类划分原则</a:t>
            </a:r>
          </a:p>
        </p:txBody>
      </p:sp>
      <p:graphicFrame>
        <p:nvGraphicFramePr>
          <p:cNvPr id="8" name="表格 7">
            <a:extLst>
              <a:ext uri="{FF2B5EF4-FFF2-40B4-BE49-F238E27FC236}">
                <a16:creationId xmlns:a16="http://schemas.microsoft.com/office/drawing/2014/main" id="{9AA983C4-56DA-A790-D1AB-8F91885FB41E}"/>
              </a:ext>
            </a:extLst>
          </p:cNvPr>
          <p:cNvGraphicFramePr>
            <a:graphicFrameLocks noGrp="1"/>
          </p:cNvGraphicFramePr>
          <p:nvPr>
            <p:extLst>
              <p:ext uri="{D42A27DB-BD31-4B8C-83A1-F6EECF244321}">
                <p14:modId xmlns:p14="http://schemas.microsoft.com/office/powerpoint/2010/main" val="1489296412"/>
              </p:ext>
            </p:extLst>
          </p:nvPr>
        </p:nvGraphicFramePr>
        <p:xfrm>
          <a:off x="855434" y="1125794"/>
          <a:ext cx="10479544" cy="5120640"/>
        </p:xfrm>
        <a:graphic>
          <a:graphicData uri="http://schemas.openxmlformats.org/drawingml/2006/table">
            <a:tbl>
              <a:tblPr firstRow="1" bandRow="1">
                <a:tableStyleId>{69012ECD-51FC-41F1-AA8D-1B2483CD663E}</a:tableStyleId>
              </a:tblPr>
              <a:tblGrid>
                <a:gridCol w="2121535">
                  <a:extLst>
                    <a:ext uri="{9D8B030D-6E8A-4147-A177-3AD203B41FA5}">
                      <a16:colId xmlns:a16="http://schemas.microsoft.com/office/drawing/2014/main" val="20000"/>
                    </a:ext>
                  </a:extLst>
                </a:gridCol>
                <a:gridCol w="8358009">
                  <a:extLst>
                    <a:ext uri="{9D8B030D-6E8A-4147-A177-3AD203B41FA5}">
                      <a16:colId xmlns:a16="http://schemas.microsoft.com/office/drawing/2014/main" val="20001"/>
                    </a:ext>
                  </a:extLst>
                </a:gridCol>
              </a:tblGrid>
              <a:tr h="583701">
                <a:tc>
                  <a:txBody>
                    <a:bodyPr/>
                    <a:lstStyle/>
                    <a:p>
                      <a:pPr algn="ctr"/>
                      <a:r>
                        <a:rPr lang="zh-CN" altLang="en-US" sz="2000" b="1" kern="1200" dirty="0">
                          <a:solidFill>
                            <a:schemeClr val="bg1"/>
                          </a:solidFill>
                          <a:latin typeface="微软雅黑" panose="020B0503020204020204" pitchFamily="34" charset="-122"/>
                          <a:ea typeface="微软雅黑" panose="020B0503020204020204" pitchFamily="34" charset="-122"/>
                          <a:cs typeface="+mn-cs"/>
                        </a:rPr>
                        <a:t>原则五</a:t>
                      </a:r>
                    </a:p>
                  </a:txBody>
                  <a:tcPr anchor="ctr" anchorCtr="1">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rgbClr val="005DA2"/>
                    </a:solidFill>
                  </a:tcPr>
                </a:tc>
                <a:tc>
                  <a:txBody>
                    <a:bodyPr/>
                    <a:lstStyle/>
                    <a:p>
                      <a:pPr marL="0" marR="0" lvl="0" indent="457200" algn="l" defTabSz="914400" rtl="0" eaLnBrk="1" fontAlgn="auto" latinLnBrk="0" hangingPunct="1">
                        <a:lnSpc>
                          <a:spcPct val="100000"/>
                        </a:lnSpc>
                        <a:spcBef>
                          <a:spcPts val="0"/>
                        </a:spcBef>
                        <a:spcAft>
                          <a:spcPts val="0"/>
                        </a:spcAft>
                        <a:buClrTx/>
                        <a:buSzTx/>
                        <a:buFontTx/>
                        <a:buNone/>
                        <a:defRPr/>
                      </a:pPr>
                      <a:r>
                        <a:rPr lang="zh-CN" altLang="en-US" sz="2000" kern="1200" dirty="0">
                          <a:solidFill>
                            <a:srgbClr val="0075CC"/>
                          </a:solidFill>
                          <a:latin typeface="微软雅黑" panose="020B0503020204020204" pitchFamily="34" charset="-122"/>
                          <a:ea typeface="微软雅黑" panose="020B0503020204020204" pitchFamily="34" charset="-122"/>
                          <a:cs typeface="+mn-cs"/>
                        </a:rPr>
                        <a:t> 在规定了输入数据必须遵守的规则的情况下，可确立一个有效等价类（符合规则）和若干个无效等价类（从不同角度违反规则）。</a:t>
                      </a:r>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rgbClr val="F4F4F4"/>
                    </a:solidFill>
                  </a:tcPr>
                </a:tc>
                <a:extLst>
                  <a:ext uri="{0D108BD9-81ED-4DB2-BD59-A6C34878D82A}">
                    <a16:rowId xmlns:a16="http://schemas.microsoft.com/office/drawing/2014/main" val="10000"/>
                  </a:ext>
                </a:extLst>
              </a:tr>
              <a:tr h="1938272">
                <a:tc>
                  <a:txBody>
                    <a:bodyPr/>
                    <a:lstStyle/>
                    <a:p>
                      <a:pPr algn="ctr"/>
                      <a:r>
                        <a:rPr lang="zh-CN" altLang="en-US" sz="2800" dirty="0">
                          <a:solidFill>
                            <a:schemeClr val="accent1"/>
                          </a:solidFill>
                        </a:rPr>
                        <a:t>示例</a:t>
                      </a:r>
                      <a:endParaRPr lang="en-US" altLang="zh-CN" sz="2800" dirty="0">
                        <a:solidFill>
                          <a:schemeClr val="accent1"/>
                        </a:solidFill>
                      </a:endParaRP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indent="0"/>
                      <a:endParaRPr lang="en-US" altLang="zh-CN" sz="1600" b="1" kern="1200" dirty="0">
                        <a:solidFill>
                          <a:srgbClr val="0075CC"/>
                        </a:solidFill>
                        <a:latin typeface="微软雅黑" panose="020B0503020204020204" pitchFamily="34" charset="-122"/>
                        <a:ea typeface="微软雅黑" panose="020B0503020204020204" pitchFamily="34" charset="-122"/>
                        <a:cs typeface="+mn-cs"/>
                      </a:endParaRPr>
                    </a:p>
                    <a:p>
                      <a:pPr indent="0"/>
                      <a:r>
                        <a:rPr lang="zh-CN" altLang="en-US" sz="1600" b="1" kern="1200" dirty="0">
                          <a:solidFill>
                            <a:srgbClr val="0075CC"/>
                          </a:solidFill>
                          <a:latin typeface="微软雅黑" panose="020B0503020204020204" pitchFamily="34" charset="-122"/>
                          <a:ea typeface="微软雅黑" panose="020B0503020204020204" pitchFamily="34" charset="-122"/>
                          <a:cs typeface="+mn-cs"/>
                        </a:rPr>
                        <a:t>输入条件：</a:t>
                      </a:r>
                      <a:r>
                        <a:rPr lang="zh-CN" altLang="en-US" sz="1600" b="0" kern="1200" dirty="0">
                          <a:solidFill>
                            <a:srgbClr val="595959"/>
                          </a:solidFill>
                          <a:latin typeface="微软雅黑" panose="020B0503020204020204" pitchFamily="34" charset="-122"/>
                          <a:ea typeface="微软雅黑" panose="020B0503020204020204" pitchFamily="34" charset="-122"/>
                          <a:cs typeface="+mn-cs"/>
                        </a:rPr>
                        <a:t>必须同时遵守以下规则：</a:t>
                      </a:r>
                    </a:p>
                    <a:p>
                      <a:pPr indent="1080000"/>
                      <a:r>
                        <a:rPr lang="zh-CN" altLang="en-US" sz="1600" b="0" kern="1200" dirty="0">
                          <a:solidFill>
                            <a:srgbClr val="595959"/>
                          </a:solidFill>
                          <a:latin typeface="微软雅黑" panose="020B0503020204020204" pitchFamily="34" charset="-122"/>
                          <a:ea typeface="微软雅黑" panose="020B0503020204020204" pitchFamily="34" charset="-122"/>
                          <a:cs typeface="+mn-cs"/>
                        </a:rPr>
                        <a:t>（</a:t>
                      </a:r>
                      <a:r>
                        <a:rPr lang="en-US" altLang="zh-CN" sz="1600" b="0" kern="1200" dirty="0">
                          <a:solidFill>
                            <a:srgbClr val="595959"/>
                          </a:solidFill>
                          <a:latin typeface="微软雅黑" panose="020B0503020204020204" pitchFamily="34" charset="-122"/>
                          <a:ea typeface="微软雅黑" panose="020B0503020204020204" pitchFamily="34" charset="-122"/>
                          <a:cs typeface="+mn-cs"/>
                        </a:rPr>
                        <a:t>1</a:t>
                      </a:r>
                      <a:r>
                        <a:rPr lang="zh-CN" altLang="en-US" sz="1600" b="0" kern="1200" dirty="0">
                          <a:solidFill>
                            <a:srgbClr val="595959"/>
                          </a:solidFill>
                          <a:latin typeface="微软雅黑" panose="020B0503020204020204" pitchFamily="34" charset="-122"/>
                          <a:ea typeface="微软雅黑" panose="020B0503020204020204" pitchFamily="34" charset="-122"/>
                          <a:cs typeface="+mn-cs"/>
                        </a:rPr>
                        <a:t>）长度在</a:t>
                      </a:r>
                      <a:r>
                        <a:rPr lang="en-US" altLang="zh-CN" sz="1600" b="0" kern="1200" dirty="0">
                          <a:solidFill>
                            <a:srgbClr val="595959"/>
                          </a:solidFill>
                          <a:latin typeface="微软雅黑" panose="020B0503020204020204" pitchFamily="34" charset="-122"/>
                          <a:ea typeface="微软雅黑" panose="020B0503020204020204" pitchFamily="34" charset="-122"/>
                          <a:cs typeface="+mn-cs"/>
                        </a:rPr>
                        <a:t>8-16</a:t>
                      </a:r>
                      <a:r>
                        <a:rPr lang="zh-CN" altLang="en-US" sz="1600" b="0" kern="1200" dirty="0">
                          <a:solidFill>
                            <a:srgbClr val="595959"/>
                          </a:solidFill>
                          <a:latin typeface="微软雅黑" panose="020B0503020204020204" pitchFamily="34" charset="-122"/>
                          <a:ea typeface="微软雅黑" panose="020B0503020204020204" pitchFamily="34" charset="-122"/>
                          <a:cs typeface="+mn-cs"/>
                        </a:rPr>
                        <a:t>位之间。</a:t>
                      </a:r>
                    </a:p>
                    <a:p>
                      <a:pPr indent="1080000"/>
                      <a:r>
                        <a:rPr lang="zh-CN" altLang="en-US" sz="1600" b="0" kern="1200" dirty="0">
                          <a:solidFill>
                            <a:srgbClr val="595959"/>
                          </a:solidFill>
                          <a:latin typeface="微软雅黑" panose="020B0503020204020204" pitchFamily="34" charset="-122"/>
                          <a:ea typeface="微软雅黑" panose="020B0503020204020204" pitchFamily="34" charset="-122"/>
                          <a:cs typeface="+mn-cs"/>
                        </a:rPr>
                        <a:t>（</a:t>
                      </a:r>
                      <a:r>
                        <a:rPr lang="en-US" altLang="zh-CN" sz="1600" b="0" kern="1200" dirty="0">
                          <a:solidFill>
                            <a:srgbClr val="595959"/>
                          </a:solidFill>
                          <a:latin typeface="微软雅黑" panose="020B0503020204020204" pitchFamily="34" charset="-122"/>
                          <a:ea typeface="微软雅黑" panose="020B0503020204020204" pitchFamily="34" charset="-122"/>
                          <a:cs typeface="+mn-cs"/>
                        </a:rPr>
                        <a:t>2</a:t>
                      </a:r>
                      <a:r>
                        <a:rPr lang="zh-CN" altLang="en-US" sz="1600" b="0" kern="1200" dirty="0">
                          <a:solidFill>
                            <a:srgbClr val="595959"/>
                          </a:solidFill>
                          <a:latin typeface="微软雅黑" panose="020B0503020204020204" pitchFamily="34" charset="-122"/>
                          <a:ea typeface="微软雅黑" panose="020B0503020204020204" pitchFamily="34" charset="-122"/>
                          <a:cs typeface="+mn-cs"/>
                        </a:rPr>
                        <a:t>）必须包含至少一个大写字母。</a:t>
                      </a:r>
                    </a:p>
                    <a:p>
                      <a:pPr indent="1080000"/>
                      <a:r>
                        <a:rPr lang="zh-CN" altLang="en-US" sz="1600" b="0" kern="1200" dirty="0">
                          <a:solidFill>
                            <a:srgbClr val="595959"/>
                          </a:solidFill>
                          <a:latin typeface="微软雅黑" panose="020B0503020204020204" pitchFamily="34" charset="-122"/>
                          <a:ea typeface="微软雅黑" panose="020B0503020204020204" pitchFamily="34" charset="-122"/>
                          <a:cs typeface="+mn-cs"/>
                        </a:rPr>
                        <a:t>（</a:t>
                      </a:r>
                      <a:r>
                        <a:rPr lang="en-US" altLang="zh-CN" sz="1600" b="0" kern="1200" dirty="0">
                          <a:solidFill>
                            <a:srgbClr val="595959"/>
                          </a:solidFill>
                          <a:latin typeface="微软雅黑" panose="020B0503020204020204" pitchFamily="34" charset="-122"/>
                          <a:ea typeface="微软雅黑" panose="020B0503020204020204" pitchFamily="34" charset="-122"/>
                          <a:cs typeface="+mn-cs"/>
                        </a:rPr>
                        <a:t>3</a:t>
                      </a:r>
                      <a:r>
                        <a:rPr lang="zh-CN" altLang="en-US" sz="1600" b="0" kern="1200" dirty="0">
                          <a:solidFill>
                            <a:srgbClr val="595959"/>
                          </a:solidFill>
                          <a:latin typeface="微软雅黑" panose="020B0503020204020204" pitchFamily="34" charset="-122"/>
                          <a:ea typeface="微软雅黑" panose="020B0503020204020204" pitchFamily="34" charset="-122"/>
                          <a:cs typeface="+mn-cs"/>
                        </a:rPr>
                        <a:t>）必须包含至少一个小写字母。</a:t>
                      </a:r>
                    </a:p>
                    <a:p>
                      <a:pPr indent="1080000"/>
                      <a:r>
                        <a:rPr lang="zh-CN" altLang="en-US" sz="1600" b="0" kern="1200" dirty="0">
                          <a:solidFill>
                            <a:srgbClr val="595959"/>
                          </a:solidFill>
                          <a:latin typeface="微软雅黑" panose="020B0503020204020204" pitchFamily="34" charset="-122"/>
                          <a:ea typeface="微软雅黑" panose="020B0503020204020204" pitchFamily="34" charset="-122"/>
                          <a:cs typeface="+mn-cs"/>
                        </a:rPr>
                        <a:t>（</a:t>
                      </a:r>
                      <a:r>
                        <a:rPr lang="en-US" altLang="zh-CN" sz="1600" b="0" kern="1200" dirty="0">
                          <a:solidFill>
                            <a:srgbClr val="595959"/>
                          </a:solidFill>
                          <a:latin typeface="微软雅黑" panose="020B0503020204020204" pitchFamily="34" charset="-122"/>
                          <a:ea typeface="微软雅黑" panose="020B0503020204020204" pitchFamily="34" charset="-122"/>
                          <a:cs typeface="+mn-cs"/>
                        </a:rPr>
                        <a:t>4</a:t>
                      </a:r>
                      <a:r>
                        <a:rPr lang="zh-CN" altLang="en-US" sz="1600" b="0" kern="1200" dirty="0">
                          <a:solidFill>
                            <a:srgbClr val="595959"/>
                          </a:solidFill>
                          <a:latin typeface="微软雅黑" panose="020B0503020204020204" pitchFamily="34" charset="-122"/>
                          <a:ea typeface="微软雅黑" panose="020B0503020204020204" pitchFamily="34" charset="-122"/>
                          <a:cs typeface="+mn-cs"/>
                        </a:rPr>
                        <a:t>）必须包含至少一个数字。</a:t>
                      </a:r>
                      <a:endParaRPr lang="en-US" altLang="zh-CN" sz="1600" b="0" kern="1200" dirty="0">
                        <a:solidFill>
                          <a:srgbClr val="595959"/>
                        </a:solidFill>
                        <a:latin typeface="微软雅黑" panose="020B0503020204020204" pitchFamily="34" charset="-122"/>
                        <a:ea typeface="微软雅黑" panose="020B0503020204020204" pitchFamily="34" charset="-122"/>
                        <a:cs typeface="+mn-cs"/>
                      </a:endParaRPr>
                    </a:p>
                    <a:p>
                      <a:r>
                        <a:rPr lang="en-US" altLang="zh-CN" b="0" dirty="0"/>
                        <a:t>              </a:t>
                      </a:r>
                      <a:r>
                        <a:rPr lang="en-US" altLang="zh-CN" sz="2400" b="0" dirty="0"/>
                        <a:t> </a:t>
                      </a:r>
                    </a:p>
                    <a:p>
                      <a:r>
                        <a:rPr lang="zh-CN" altLang="en-US" sz="1600" b="1" kern="1200" dirty="0">
                          <a:solidFill>
                            <a:srgbClr val="0075CC"/>
                          </a:solidFill>
                          <a:latin typeface="微软雅黑" panose="020B0503020204020204" pitchFamily="34" charset="-122"/>
                          <a:ea typeface="微软雅黑" panose="020B0503020204020204" pitchFamily="34" charset="-122"/>
                          <a:cs typeface="+mn-cs"/>
                        </a:rPr>
                        <a:t>有效等价类：</a:t>
                      </a:r>
                      <a:r>
                        <a:rPr lang="zh-CN" altLang="en-US" sz="1600" b="1" kern="1200" dirty="0">
                          <a:solidFill>
                            <a:srgbClr val="595959"/>
                          </a:solidFill>
                          <a:latin typeface="微软雅黑" panose="020B0503020204020204" pitchFamily="34" charset="-122"/>
                          <a:ea typeface="微软雅黑" panose="020B0503020204020204" pitchFamily="34" charset="-122"/>
                          <a:cs typeface="+mn-cs"/>
                        </a:rPr>
                        <a:t>同时满足</a:t>
                      </a:r>
                      <a:r>
                        <a:rPr lang="zh-CN" altLang="en-US" sz="1600" b="0" kern="1200" dirty="0">
                          <a:solidFill>
                            <a:srgbClr val="595959"/>
                          </a:solidFill>
                          <a:latin typeface="微软雅黑" panose="020B0503020204020204" pitchFamily="34" charset="-122"/>
                          <a:ea typeface="微软雅黑" panose="020B0503020204020204" pitchFamily="34" charset="-122"/>
                          <a:cs typeface="+mn-cs"/>
                        </a:rPr>
                        <a:t>所有</a:t>
                      </a:r>
                      <a:r>
                        <a:rPr lang="en-US" altLang="zh-CN" sz="1600" b="0" kern="1200" dirty="0">
                          <a:solidFill>
                            <a:srgbClr val="595959"/>
                          </a:solidFill>
                          <a:latin typeface="微软雅黑" panose="020B0503020204020204" pitchFamily="34" charset="-122"/>
                          <a:ea typeface="微软雅黑" panose="020B0503020204020204" pitchFamily="34" charset="-122"/>
                          <a:cs typeface="+mn-cs"/>
                        </a:rPr>
                        <a:t>4</a:t>
                      </a:r>
                      <a:r>
                        <a:rPr lang="zh-CN" altLang="en-US" sz="1600" b="0" kern="1200" dirty="0">
                          <a:solidFill>
                            <a:srgbClr val="595959"/>
                          </a:solidFill>
                          <a:latin typeface="微软雅黑" panose="020B0503020204020204" pitchFamily="34" charset="-122"/>
                          <a:ea typeface="微软雅黑" panose="020B0503020204020204" pitchFamily="34" charset="-122"/>
                          <a:cs typeface="+mn-cs"/>
                        </a:rPr>
                        <a:t>条规则的数据。</a:t>
                      </a:r>
                      <a:endParaRPr lang="en-US" altLang="zh-CN" sz="1600" b="0" kern="1200" dirty="0">
                        <a:solidFill>
                          <a:srgbClr val="595959"/>
                        </a:solidFill>
                        <a:latin typeface="微软雅黑" panose="020B0503020204020204" pitchFamily="34" charset="-122"/>
                        <a:ea typeface="微软雅黑" panose="020B0503020204020204" pitchFamily="34" charset="-122"/>
                        <a:cs typeface="+mn-cs"/>
                      </a:endParaRPr>
                    </a:p>
                    <a:p>
                      <a:endParaRPr lang="en-US" altLang="zh-CN" sz="1600" b="0" kern="1200" dirty="0">
                        <a:solidFill>
                          <a:srgbClr val="595959"/>
                        </a:solidFill>
                        <a:latin typeface="微软雅黑" panose="020B0503020204020204" pitchFamily="34" charset="-122"/>
                        <a:ea typeface="微软雅黑" panose="020B0503020204020204" pitchFamily="34" charset="-122"/>
                        <a:cs typeface="+mn-cs"/>
                      </a:endParaRPr>
                    </a:p>
                    <a:p>
                      <a:r>
                        <a:rPr lang="zh-CN" altLang="en-US" sz="1600" b="1" kern="1200" dirty="0">
                          <a:solidFill>
                            <a:srgbClr val="0075CC"/>
                          </a:solidFill>
                          <a:latin typeface="微软雅黑" panose="020B0503020204020204" pitchFamily="34" charset="-122"/>
                          <a:ea typeface="微软雅黑" panose="020B0503020204020204" pitchFamily="34" charset="-122"/>
                          <a:cs typeface="+mn-cs"/>
                        </a:rPr>
                        <a:t>无效等价类</a:t>
                      </a:r>
                      <a:r>
                        <a:rPr lang="zh-CN" altLang="en-US" sz="1600" b="0" kern="1200" dirty="0">
                          <a:solidFill>
                            <a:srgbClr val="595959"/>
                          </a:solidFill>
                          <a:latin typeface="微软雅黑" panose="020B0503020204020204" pitchFamily="34" charset="-122"/>
                          <a:ea typeface="微软雅黑" panose="020B0503020204020204" pitchFamily="34" charset="-122"/>
                          <a:cs typeface="+mn-cs"/>
                        </a:rPr>
                        <a:t>：</a:t>
                      </a:r>
                      <a:endParaRPr lang="en-US" altLang="zh-CN" sz="1600" b="0" kern="1200" dirty="0">
                        <a:solidFill>
                          <a:srgbClr val="595959"/>
                        </a:solidFill>
                        <a:latin typeface="微软雅黑" panose="020B0503020204020204" pitchFamily="34" charset="-122"/>
                        <a:ea typeface="微软雅黑" panose="020B0503020204020204" pitchFamily="34" charset="-122"/>
                        <a:cs typeface="+mn-cs"/>
                      </a:endParaRPr>
                    </a:p>
                    <a:p>
                      <a:pPr indent="1080000"/>
                      <a:r>
                        <a:rPr lang="zh-CN" altLang="en-US" sz="1600" b="0" kern="1200" dirty="0">
                          <a:solidFill>
                            <a:srgbClr val="595959"/>
                          </a:solidFill>
                          <a:latin typeface="微软雅黑" panose="020B0503020204020204" pitchFamily="34" charset="-122"/>
                          <a:ea typeface="微软雅黑" panose="020B0503020204020204" pitchFamily="34" charset="-122"/>
                          <a:cs typeface="+mn-cs"/>
                        </a:rPr>
                        <a:t>（</a:t>
                      </a:r>
                      <a:r>
                        <a:rPr lang="en-US" altLang="zh-CN" sz="1600" b="0" kern="1200" dirty="0">
                          <a:solidFill>
                            <a:srgbClr val="595959"/>
                          </a:solidFill>
                          <a:latin typeface="微软雅黑" panose="020B0503020204020204" pitchFamily="34" charset="-122"/>
                          <a:ea typeface="微软雅黑" panose="020B0503020204020204" pitchFamily="34" charset="-122"/>
                          <a:cs typeface="+mn-cs"/>
                        </a:rPr>
                        <a:t>1</a:t>
                      </a:r>
                      <a:r>
                        <a:rPr lang="zh-CN" altLang="en-US" sz="1600" b="0" kern="1200" dirty="0">
                          <a:solidFill>
                            <a:srgbClr val="595959"/>
                          </a:solidFill>
                          <a:latin typeface="微软雅黑" panose="020B0503020204020204" pitchFamily="34" charset="-122"/>
                          <a:ea typeface="微软雅黑" panose="020B0503020204020204" pitchFamily="34" charset="-122"/>
                          <a:cs typeface="+mn-cs"/>
                        </a:rPr>
                        <a:t>）违反长度规则，密码太长；</a:t>
                      </a:r>
                      <a:endParaRPr lang="en-US" altLang="zh-CN" sz="1600" b="0" kern="1200" dirty="0">
                        <a:solidFill>
                          <a:srgbClr val="595959"/>
                        </a:solidFill>
                        <a:latin typeface="微软雅黑" panose="020B0503020204020204" pitchFamily="34" charset="-122"/>
                        <a:ea typeface="微软雅黑" panose="020B0503020204020204" pitchFamily="34" charset="-122"/>
                        <a:cs typeface="+mn-cs"/>
                      </a:endParaRPr>
                    </a:p>
                    <a:p>
                      <a:pPr indent="1080000"/>
                      <a:r>
                        <a:rPr lang="zh-CN" altLang="en-US" sz="1600" b="0" kern="1200" dirty="0">
                          <a:solidFill>
                            <a:srgbClr val="595959"/>
                          </a:solidFill>
                          <a:latin typeface="微软雅黑" panose="020B0503020204020204" pitchFamily="34" charset="-122"/>
                          <a:ea typeface="微软雅黑" panose="020B0503020204020204" pitchFamily="34" charset="-122"/>
                          <a:cs typeface="+mn-cs"/>
                        </a:rPr>
                        <a:t>（</a:t>
                      </a:r>
                      <a:r>
                        <a:rPr lang="en-US" altLang="zh-CN" sz="1600" b="0" kern="1200" dirty="0">
                          <a:solidFill>
                            <a:srgbClr val="595959"/>
                          </a:solidFill>
                          <a:latin typeface="微软雅黑" panose="020B0503020204020204" pitchFamily="34" charset="-122"/>
                          <a:ea typeface="微软雅黑" panose="020B0503020204020204" pitchFamily="34" charset="-122"/>
                          <a:cs typeface="+mn-cs"/>
                        </a:rPr>
                        <a:t>2</a:t>
                      </a:r>
                      <a:r>
                        <a:rPr lang="zh-CN" altLang="en-US" sz="1600" b="0" kern="1200" dirty="0">
                          <a:solidFill>
                            <a:srgbClr val="595959"/>
                          </a:solidFill>
                          <a:latin typeface="微软雅黑" panose="020B0503020204020204" pitchFamily="34" charset="-122"/>
                          <a:ea typeface="微软雅黑" panose="020B0503020204020204" pitchFamily="34" charset="-122"/>
                          <a:cs typeface="+mn-cs"/>
                        </a:rPr>
                        <a:t>）违反长度规则，密码太短；</a:t>
                      </a:r>
                      <a:endParaRPr lang="en-US" altLang="zh-CN" sz="1600" b="0" kern="1200" dirty="0">
                        <a:solidFill>
                          <a:srgbClr val="595959"/>
                        </a:solidFill>
                        <a:latin typeface="微软雅黑" panose="020B0503020204020204" pitchFamily="34" charset="-122"/>
                        <a:ea typeface="微软雅黑" panose="020B0503020204020204" pitchFamily="34" charset="-122"/>
                        <a:cs typeface="+mn-cs"/>
                      </a:endParaRPr>
                    </a:p>
                    <a:p>
                      <a:pPr indent="1080000"/>
                      <a:r>
                        <a:rPr lang="zh-CN" altLang="en-US" sz="1600" b="0" kern="1200" dirty="0">
                          <a:solidFill>
                            <a:srgbClr val="595959"/>
                          </a:solidFill>
                          <a:latin typeface="微软雅黑" panose="020B0503020204020204" pitchFamily="34" charset="-122"/>
                          <a:ea typeface="微软雅黑" panose="020B0503020204020204" pitchFamily="34" charset="-122"/>
                          <a:cs typeface="+mn-cs"/>
                        </a:rPr>
                        <a:t>（</a:t>
                      </a:r>
                      <a:r>
                        <a:rPr lang="en-US" altLang="zh-CN" sz="1600" b="0" kern="1200" dirty="0">
                          <a:solidFill>
                            <a:srgbClr val="595959"/>
                          </a:solidFill>
                          <a:latin typeface="微软雅黑" panose="020B0503020204020204" pitchFamily="34" charset="-122"/>
                          <a:ea typeface="微软雅黑" panose="020B0503020204020204" pitchFamily="34" charset="-122"/>
                          <a:cs typeface="+mn-cs"/>
                        </a:rPr>
                        <a:t>3</a:t>
                      </a:r>
                      <a:r>
                        <a:rPr lang="zh-CN" altLang="en-US" sz="1600" b="0" kern="1200" dirty="0">
                          <a:solidFill>
                            <a:srgbClr val="595959"/>
                          </a:solidFill>
                          <a:latin typeface="微软雅黑" panose="020B0503020204020204" pitchFamily="34" charset="-122"/>
                          <a:ea typeface="微软雅黑" panose="020B0503020204020204" pitchFamily="34" charset="-122"/>
                          <a:cs typeface="+mn-cs"/>
                        </a:rPr>
                        <a:t>）违反字母大小写规则，缺少大写字母；</a:t>
                      </a:r>
                      <a:endParaRPr lang="en-US" altLang="zh-CN" sz="1600" b="0" kern="1200" dirty="0">
                        <a:solidFill>
                          <a:srgbClr val="595959"/>
                        </a:solidFill>
                        <a:latin typeface="微软雅黑" panose="020B0503020204020204" pitchFamily="34" charset="-122"/>
                        <a:ea typeface="微软雅黑" panose="020B0503020204020204" pitchFamily="34" charset="-122"/>
                        <a:cs typeface="+mn-cs"/>
                      </a:endParaRPr>
                    </a:p>
                    <a:p>
                      <a:pPr marL="0" marR="0" lvl="0" indent="1080000" algn="l" defTabSz="1219200" rtl="0" eaLnBrk="1" fontAlgn="auto" latinLnBrk="0" hangingPunct="1">
                        <a:lnSpc>
                          <a:spcPct val="100000"/>
                        </a:lnSpc>
                        <a:spcBef>
                          <a:spcPts val="0"/>
                        </a:spcBef>
                        <a:spcAft>
                          <a:spcPts val="0"/>
                        </a:spcAft>
                        <a:buClrTx/>
                        <a:buSzTx/>
                        <a:buFontTx/>
                        <a:buNone/>
                        <a:tabLst/>
                        <a:defRPr/>
                      </a:pPr>
                      <a:r>
                        <a:rPr lang="zh-CN" altLang="en-US" sz="1600" b="0" kern="1200" dirty="0">
                          <a:solidFill>
                            <a:srgbClr val="595959"/>
                          </a:solidFill>
                          <a:latin typeface="微软雅黑" panose="020B0503020204020204" pitchFamily="34" charset="-122"/>
                          <a:ea typeface="微软雅黑" panose="020B0503020204020204" pitchFamily="34" charset="-122"/>
                          <a:cs typeface="+mn-cs"/>
                        </a:rPr>
                        <a:t>（</a:t>
                      </a:r>
                      <a:r>
                        <a:rPr lang="en-US" altLang="zh-CN" sz="1600" b="0" kern="1200" dirty="0">
                          <a:solidFill>
                            <a:srgbClr val="595959"/>
                          </a:solidFill>
                          <a:latin typeface="微软雅黑" panose="020B0503020204020204" pitchFamily="34" charset="-122"/>
                          <a:ea typeface="微软雅黑" panose="020B0503020204020204" pitchFamily="34" charset="-122"/>
                          <a:cs typeface="+mn-cs"/>
                        </a:rPr>
                        <a:t>4</a:t>
                      </a:r>
                      <a:r>
                        <a:rPr lang="zh-CN" altLang="en-US" sz="1600" b="0" kern="1200" dirty="0">
                          <a:solidFill>
                            <a:srgbClr val="595959"/>
                          </a:solidFill>
                          <a:latin typeface="微软雅黑" panose="020B0503020204020204" pitchFamily="34" charset="-122"/>
                          <a:ea typeface="微软雅黑" panose="020B0503020204020204" pitchFamily="34" charset="-122"/>
                          <a:cs typeface="+mn-cs"/>
                        </a:rPr>
                        <a:t>）违反字母大小写规则，缺少小写字母；</a:t>
                      </a:r>
                      <a:endParaRPr lang="en-US" altLang="zh-CN" sz="1600" b="0" kern="1200" dirty="0">
                        <a:solidFill>
                          <a:srgbClr val="595959"/>
                        </a:solidFill>
                        <a:latin typeface="微软雅黑" panose="020B0503020204020204" pitchFamily="34" charset="-122"/>
                        <a:ea typeface="微软雅黑" panose="020B0503020204020204" pitchFamily="34" charset="-122"/>
                        <a:cs typeface="+mn-cs"/>
                      </a:endParaRPr>
                    </a:p>
                    <a:p>
                      <a:pPr marL="0" marR="0" lvl="0" indent="1080000" algn="l" defTabSz="1219200" rtl="0" eaLnBrk="1" fontAlgn="auto" latinLnBrk="0" hangingPunct="1">
                        <a:lnSpc>
                          <a:spcPct val="100000"/>
                        </a:lnSpc>
                        <a:spcBef>
                          <a:spcPts val="0"/>
                        </a:spcBef>
                        <a:spcAft>
                          <a:spcPts val="0"/>
                        </a:spcAft>
                        <a:buClrTx/>
                        <a:buSzTx/>
                        <a:buFontTx/>
                        <a:buNone/>
                        <a:tabLst/>
                        <a:defRPr/>
                      </a:pPr>
                      <a:r>
                        <a:rPr lang="zh-CN" altLang="en-US" sz="1600" b="0" kern="1200" dirty="0">
                          <a:solidFill>
                            <a:srgbClr val="595959"/>
                          </a:solidFill>
                          <a:latin typeface="微软雅黑" panose="020B0503020204020204" pitchFamily="34" charset="-122"/>
                          <a:ea typeface="微软雅黑" panose="020B0503020204020204" pitchFamily="34" charset="-122"/>
                          <a:cs typeface="+mn-cs"/>
                        </a:rPr>
                        <a:t>（</a:t>
                      </a:r>
                      <a:r>
                        <a:rPr lang="en-US" altLang="zh-CN" sz="1600" b="0" kern="1200" dirty="0">
                          <a:solidFill>
                            <a:srgbClr val="595959"/>
                          </a:solidFill>
                          <a:latin typeface="微软雅黑" panose="020B0503020204020204" pitchFamily="34" charset="-122"/>
                          <a:ea typeface="微软雅黑" panose="020B0503020204020204" pitchFamily="34" charset="-122"/>
                          <a:cs typeface="+mn-cs"/>
                        </a:rPr>
                        <a:t>5</a:t>
                      </a:r>
                      <a:r>
                        <a:rPr lang="zh-CN" altLang="en-US" sz="1600" b="0" kern="1200" dirty="0">
                          <a:solidFill>
                            <a:srgbClr val="595959"/>
                          </a:solidFill>
                          <a:latin typeface="微软雅黑" panose="020B0503020204020204" pitchFamily="34" charset="-122"/>
                          <a:ea typeface="微软雅黑" panose="020B0503020204020204" pitchFamily="34" charset="-122"/>
                          <a:cs typeface="+mn-cs"/>
                        </a:rPr>
                        <a:t>）违反数字规则，缺少数字；</a:t>
                      </a:r>
                      <a:endParaRPr lang="en-US" altLang="zh-CN" sz="1600" b="0" kern="1200" dirty="0">
                        <a:solidFill>
                          <a:srgbClr val="595959"/>
                        </a:solidFill>
                        <a:latin typeface="微软雅黑" panose="020B0503020204020204" pitchFamily="34" charset="-122"/>
                        <a:ea typeface="微软雅黑" panose="020B0503020204020204" pitchFamily="34" charset="-122"/>
                        <a:cs typeface="+mn-cs"/>
                      </a:endParaRPr>
                    </a:p>
                    <a:p>
                      <a:pPr marL="0" marR="0" lvl="0" indent="1080000" algn="l" defTabSz="1219200" rtl="0" eaLnBrk="1" fontAlgn="auto" latinLnBrk="0" hangingPunct="1">
                        <a:lnSpc>
                          <a:spcPct val="100000"/>
                        </a:lnSpc>
                        <a:spcBef>
                          <a:spcPts val="0"/>
                        </a:spcBef>
                        <a:spcAft>
                          <a:spcPts val="0"/>
                        </a:spcAft>
                        <a:buClrTx/>
                        <a:buSzTx/>
                        <a:buFontTx/>
                        <a:buNone/>
                        <a:tabLst/>
                        <a:defRPr/>
                      </a:pPr>
                      <a:r>
                        <a:rPr lang="zh-CN" altLang="en-US" sz="1600" b="0" kern="1200" dirty="0">
                          <a:solidFill>
                            <a:srgbClr val="595959"/>
                          </a:solidFill>
                          <a:latin typeface="微软雅黑" panose="020B0503020204020204" pitchFamily="34" charset="-122"/>
                          <a:ea typeface="微软雅黑" panose="020B0503020204020204" pitchFamily="34" charset="-122"/>
                          <a:cs typeface="+mn-cs"/>
                        </a:rPr>
                        <a:t>（</a:t>
                      </a:r>
                      <a:r>
                        <a:rPr lang="en-US" altLang="zh-CN" sz="1600" b="0" kern="1200" dirty="0">
                          <a:solidFill>
                            <a:srgbClr val="595959"/>
                          </a:solidFill>
                          <a:latin typeface="微软雅黑" panose="020B0503020204020204" pitchFamily="34" charset="-122"/>
                          <a:ea typeface="微软雅黑" panose="020B0503020204020204" pitchFamily="34" charset="-122"/>
                          <a:cs typeface="+mn-cs"/>
                        </a:rPr>
                        <a:t>6</a:t>
                      </a:r>
                      <a:r>
                        <a:rPr lang="zh-CN" altLang="en-US" sz="1600" b="0" kern="1200" dirty="0">
                          <a:solidFill>
                            <a:srgbClr val="595959"/>
                          </a:solidFill>
                          <a:latin typeface="微软雅黑" panose="020B0503020204020204" pitchFamily="34" charset="-122"/>
                          <a:ea typeface="微软雅黑" panose="020B0503020204020204" pitchFamily="34" charset="-122"/>
                          <a:cs typeface="+mn-cs"/>
                        </a:rPr>
                        <a:t>）违反多项规则。</a:t>
                      </a:r>
                      <a:endParaRPr lang="en-US" altLang="zh-CN" sz="1600" b="0" kern="1200" dirty="0">
                        <a:solidFill>
                          <a:srgbClr val="595959"/>
                        </a:solidFill>
                        <a:latin typeface="微软雅黑" panose="020B0503020204020204" pitchFamily="34" charset="-122"/>
                        <a:ea typeface="微软雅黑" panose="020B0503020204020204" pitchFamily="34" charset="-122"/>
                        <a:cs typeface="+mn-cs"/>
                      </a:endParaRPr>
                    </a:p>
                    <a:p>
                      <a:pPr marL="0" marR="0" lvl="0" indent="1080000" algn="l" defTabSz="1219200" rtl="0" eaLnBrk="1" fontAlgn="auto" latinLnBrk="0" hangingPunct="1">
                        <a:lnSpc>
                          <a:spcPct val="100000"/>
                        </a:lnSpc>
                        <a:spcBef>
                          <a:spcPts val="0"/>
                        </a:spcBef>
                        <a:spcAft>
                          <a:spcPts val="0"/>
                        </a:spcAft>
                        <a:buClrTx/>
                        <a:buSzTx/>
                        <a:buFontTx/>
                        <a:buNone/>
                        <a:tabLst/>
                        <a:defRPr/>
                      </a:pPr>
                      <a:r>
                        <a:rPr lang="en-US" altLang="zh-CN" sz="2000" b="1" kern="1200" dirty="0">
                          <a:solidFill>
                            <a:srgbClr val="595959"/>
                          </a:solidFill>
                          <a:latin typeface="微软雅黑" panose="020B0503020204020204" pitchFamily="34" charset="-122"/>
                          <a:ea typeface="微软雅黑" panose="020B0503020204020204" pitchFamily="34" charset="-122"/>
                          <a:cs typeface="+mn-cs"/>
                        </a:rPr>
                        <a:t>……..</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75015681"/>
      </p:ext>
    </p:extLst>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35">
            <a:extLst>
              <a:ext uri="{FF2B5EF4-FFF2-40B4-BE49-F238E27FC236}">
                <a16:creationId xmlns:a16="http://schemas.microsoft.com/office/drawing/2014/main" id="{BF29D29E-9A1B-A698-2640-C61F8CD70888}"/>
              </a:ext>
            </a:extLst>
          </p:cNvPr>
          <p:cNvSpPr txBox="1">
            <a:spLocks noChangeArrowheads="1"/>
          </p:cNvSpPr>
          <p:nvPr/>
        </p:nvSpPr>
        <p:spPr bwMode="auto">
          <a:xfrm>
            <a:off x="1264285" y="909955"/>
            <a:ext cx="9660890" cy="1505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en-US" altLang="zh-CN" sz="2000" b="1" dirty="0">
                <a:solidFill>
                  <a:srgbClr val="595959"/>
                </a:solidFill>
                <a:latin typeface="微软雅黑" panose="020B0503020204020204" pitchFamily="34" charset="-122"/>
                <a:ea typeface="微软雅黑" panose="020B0503020204020204" pitchFamily="34" charset="-122"/>
              </a:rPr>
              <a:t>2</a:t>
            </a:r>
            <a:r>
              <a:rPr lang="zh-CN" altLang="en-US" sz="2000" b="1" dirty="0">
                <a:solidFill>
                  <a:srgbClr val="595959"/>
                </a:solidFill>
                <a:latin typeface="微软雅黑" panose="020B0503020204020204" pitchFamily="34" charset="-122"/>
                <a:ea typeface="微软雅黑" panose="020B0503020204020204" pitchFamily="34" charset="-122"/>
              </a:rPr>
              <a:t>.</a:t>
            </a:r>
            <a:r>
              <a:rPr lang="en-US" altLang="zh-CN" sz="2000" b="1" dirty="0">
                <a:solidFill>
                  <a:srgbClr val="595959"/>
                </a:solidFill>
                <a:latin typeface="微软雅黑" panose="020B0503020204020204" pitchFamily="34" charset="-122"/>
                <a:ea typeface="微软雅黑" panose="020B0503020204020204" pitchFamily="34" charset="-122"/>
              </a:rPr>
              <a:t> </a:t>
            </a:r>
            <a:r>
              <a:rPr lang="zh-CN" altLang="en-US" sz="2000" b="1" dirty="0">
                <a:solidFill>
                  <a:srgbClr val="595959"/>
                </a:solidFill>
                <a:latin typeface="微软雅黑" panose="020B0503020204020204" pitchFamily="34" charset="-122"/>
                <a:ea typeface="微软雅黑" panose="020B0503020204020204" pitchFamily="34" charset="-122"/>
              </a:rPr>
              <a:t>设计测试用例</a:t>
            </a:r>
          </a:p>
          <a:p>
            <a:pPr algn="just">
              <a:lnSpc>
                <a:spcPct val="150000"/>
              </a:lnSpc>
              <a:buClrTx/>
              <a:buSzTx/>
              <a:buFontTx/>
            </a:pPr>
            <a:r>
              <a:rPr lang="zh-CN" altLang="en-US" sz="2000" dirty="0">
                <a:solidFill>
                  <a:srgbClr val="595959"/>
                </a:solidFill>
                <a:latin typeface="微软雅黑" panose="020B0503020204020204" pitchFamily="34" charset="-122"/>
                <a:ea typeface="微软雅黑" panose="020B0503020204020204" pitchFamily="34" charset="-122"/>
              </a:rPr>
              <a:t>当确定等价类后，需要建立等价类表，列出所有划分出的等价类，用以设计测试用例。基于等价类划分法的测试用例设计步骤如下。</a:t>
            </a:r>
          </a:p>
        </p:txBody>
      </p:sp>
      <p:sp>
        <p:nvSpPr>
          <p:cNvPr id="3" name="Title 1">
            <a:extLst>
              <a:ext uri="{FF2B5EF4-FFF2-40B4-BE49-F238E27FC236}">
                <a16:creationId xmlns:a16="http://schemas.microsoft.com/office/drawing/2014/main" id="{D0BCBF50-5A1C-E1D0-3095-537CDD503321}"/>
              </a:ext>
            </a:extLst>
          </p:cNvPr>
          <p:cNvSpPr txBox="1"/>
          <p:nvPr/>
        </p:nvSpPr>
        <p:spPr>
          <a:xfrm>
            <a:off x="1143690" y="266995"/>
            <a:ext cx="4663515"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等价类划分法设计测试用例步骤</a:t>
            </a:r>
          </a:p>
        </p:txBody>
      </p:sp>
      <p:sp>
        <p:nvSpPr>
          <p:cNvPr id="4" name="Freeform 274">
            <a:extLst>
              <a:ext uri="{FF2B5EF4-FFF2-40B4-BE49-F238E27FC236}">
                <a16:creationId xmlns:a16="http://schemas.microsoft.com/office/drawing/2014/main" id="{22B35E58-0A8F-049B-6CD0-D3BD51DBE7D5}"/>
              </a:ext>
            </a:extLst>
          </p:cNvPr>
          <p:cNvSpPr/>
          <p:nvPr/>
        </p:nvSpPr>
        <p:spPr bwMode="auto">
          <a:xfrm>
            <a:off x="1602929" y="2779753"/>
            <a:ext cx="827231" cy="827231"/>
          </a:xfrm>
          <a:prstGeom prst="flowChartConnector">
            <a:avLst/>
          </a:prstGeom>
          <a:solidFill>
            <a:srgbClr val="36B2E6"/>
          </a:solidFill>
          <a:ln>
            <a:noFill/>
          </a:ln>
          <a:effectLst>
            <a:reflection endPos="21000" dist="50800" dir="5400000" sy="-100000" algn="bl" rotWithShape="0"/>
          </a:effectLst>
        </p:spPr>
        <p:txBody>
          <a:bodyPr vert="horz" wrap="square" lIns="91425" tIns="45712" rIns="91425" bIns="45712" numCol="1" anchor="t" anchorCtr="0" compatLnSpc="1"/>
          <a:lstStyle/>
          <a:p>
            <a:pPr algn="ctr"/>
            <a:r>
              <a:rPr lang="en-US" altLang="zh-CN" sz="3200" b="1">
                <a:solidFill>
                  <a:schemeClr val="bg1"/>
                </a:solidFill>
              </a:rPr>
              <a:t>1</a:t>
            </a:r>
            <a:endParaRPr lang="zh-CN" altLang="en-US" sz="3200" b="1" dirty="0">
              <a:solidFill>
                <a:schemeClr val="bg1"/>
              </a:solidFill>
            </a:endParaRPr>
          </a:p>
        </p:txBody>
      </p:sp>
      <p:sp>
        <p:nvSpPr>
          <p:cNvPr id="5" name="Freeform 369">
            <a:extLst>
              <a:ext uri="{FF2B5EF4-FFF2-40B4-BE49-F238E27FC236}">
                <a16:creationId xmlns:a16="http://schemas.microsoft.com/office/drawing/2014/main" id="{7ED0240C-6BE6-EA74-0690-1939AB272D5F}"/>
              </a:ext>
            </a:extLst>
          </p:cNvPr>
          <p:cNvSpPr/>
          <p:nvPr/>
        </p:nvSpPr>
        <p:spPr bwMode="auto">
          <a:xfrm>
            <a:off x="1603626" y="4439726"/>
            <a:ext cx="827231" cy="827231"/>
          </a:xfrm>
          <a:prstGeom prst="flowChartConnector">
            <a:avLst/>
          </a:prstGeom>
          <a:solidFill>
            <a:srgbClr val="7BC143"/>
          </a:solidFill>
          <a:ln>
            <a:noFill/>
          </a:ln>
          <a:effectLst>
            <a:reflection endPos="21000" dist="50800" dir="5400000" sy="-100000" algn="bl" rotWithShape="0"/>
          </a:effectLst>
        </p:spPr>
        <p:txBody>
          <a:bodyPr vert="horz" wrap="square" lIns="91425" tIns="45712" rIns="91425" bIns="45712" numCol="1" anchor="t" anchorCtr="0" compatLnSpc="1"/>
          <a:lstStyle/>
          <a:p>
            <a:pPr algn="ctr"/>
            <a:r>
              <a:rPr lang="en-US" altLang="zh-CN" sz="3200" b="1">
                <a:solidFill>
                  <a:schemeClr val="bg1"/>
                </a:solidFill>
              </a:rPr>
              <a:t>2</a:t>
            </a:r>
            <a:endParaRPr lang="zh-CN" altLang="en-US" sz="3200" b="1" dirty="0">
              <a:solidFill>
                <a:schemeClr val="bg1"/>
              </a:solidFill>
            </a:endParaRPr>
          </a:p>
        </p:txBody>
      </p:sp>
      <p:cxnSp>
        <p:nvCxnSpPr>
          <p:cNvPr id="6" name="直接连接符 5">
            <a:extLst>
              <a:ext uri="{FF2B5EF4-FFF2-40B4-BE49-F238E27FC236}">
                <a16:creationId xmlns:a16="http://schemas.microsoft.com/office/drawing/2014/main" id="{4382CB8C-4EA0-A20E-AB65-4777DB226128}"/>
              </a:ext>
            </a:extLst>
          </p:cNvPr>
          <p:cNvCxnSpPr/>
          <p:nvPr/>
        </p:nvCxnSpPr>
        <p:spPr>
          <a:xfrm flipV="1">
            <a:off x="1944460" y="3643714"/>
            <a:ext cx="7378847" cy="0"/>
          </a:xfrm>
          <a:prstGeom prst="line">
            <a:avLst/>
          </a:prstGeom>
          <a:solidFill>
            <a:srgbClr val="3BCCFF"/>
          </a:solidFill>
          <a:ln w="12700" cap="flat" cmpd="sng" algn="ctr">
            <a:solidFill>
              <a:srgbClr val="19C3FF"/>
            </a:solidFill>
            <a:prstDash val="solid"/>
            <a:round/>
            <a:headEnd type="none" w="med" len="med"/>
            <a:tailEnd type="none" w="med" len="med"/>
          </a:ln>
          <a:effectLst>
            <a:outerShdw blurRad="25400" dist="12700" dir="2700000" algn="tl" rotWithShape="0">
              <a:prstClr val="black">
                <a:alpha val="40000"/>
              </a:prstClr>
            </a:outerShdw>
          </a:effectLst>
        </p:spPr>
      </p:cxnSp>
      <p:cxnSp>
        <p:nvCxnSpPr>
          <p:cNvPr id="7" name="直接连接符 6">
            <a:extLst>
              <a:ext uri="{FF2B5EF4-FFF2-40B4-BE49-F238E27FC236}">
                <a16:creationId xmlns:a16="http://schemas.microsoft.com/office/drawing/2014/main" id="{840B0EE3-CA57-442B-3BE7-D84C7F685E8D}"/>
              </a:ext>
            </a:extLst>
          </p:cNvPr>
          <p:cNvCxnSpPr/>
          <p:nvPr/>
        </p:nvCxnSpPr>
        <p:spPr>
          <a:xfrm>
            <a:off x="1945158" y="5304699"/>
            <a:ext cx="7378847" cy="0"/>
          </a:xfrm>
          <a:prstGeom prst="line">
            <a:avLst/>
          </a:prstGeom>
          <a:ln w="19050">
            <a:solidFill>
              <a:srgbClr val="92D050"/>
            </a:solidFill>
            <a:headEnd type="none" w="med" len="med"/>
            <a:tailEnd type="none" w="med" len="med"/>
          </a:ln>
        </p:spPr>
        <p:style>
          <a:lnRef idx="1">
            <a:schemeClr val="accent3"/>
          </a:lnRef>
          <a:fillRef idx="0">
            <a:schemeClr val="accent3"/>
          </a:fillRef>
          <a:effectRef idx="0">
            <a:schemeClr val="accent3"/>
          </a:effectRef>
          <a:fontRef idx="minor">
            <a:schemeClr val="tx1"/>
          </a:fontRef>
        </p:style>
      </p:cxnSp>
      <p:sp>
        <p:nvSpPr>
          <p:cNvPr id="8" name="矩形 7">
            <a:extLst>
              <a:ext uri="{FF2B5EF4-FFF2-40B4-BE49-F238E27FC236}">
                <a16:creationId xmlns:a16="http://schemas.microsoft.com/office/drawing/2014/main" id="{4C501525-D57E-82EB-3324-578AA7BBA1CC}"/>
              </a:ext>
            </a:extLst>
          </p:cNvPr>
          <p:cNvSpPr/>
          <p:nvPr/>
        </p:nvSpPr>
        <p:spPr>
          <a:xfrm>
            <a:off x="2467220" y="3062095"/>
            <a:ext cx="7136920" cy="460375"/>
          </a:xfrm>
          <a:prstGeom prst="rect">
            <a:avLst/>
          </a:prstGeom>
        </p:spPr>
        <p:txBody>
          <a:bodyPr wrap="square">
            <a:spAutoFit/>
          </a:bodyPr>
          <a:lstStyle/>
          <a:p>
            <a:pPr algn="l"/>
            <a:r>
              <a:rPr lang="zh-CN" altLang="en-US" b="1">
                <a:solidFill>
                  <a:srgbClr val="00B0F0"/>
                </a:solidFill>
                <a:latin typeface="Times New Roman" panose="02020603050405020304" charset="0"/>
                <a:ea typeface="微软雅黑" panose="020B0503020204020204" pitchFamily="34" charset="-122"/>
                <a:cs typeface="Times New Roman" panose="02020603050405020304" charset="0"/>
              </a:rPr>
              <a:t>确定测试对象，保证非测试对象的正确性。</a:t>
            </a:r>
          </a:p>
        </p:txBody>
      </p:sp>
      <p:sp>
        <p:nvSpPr>
          <p:cNvPr id="9" name="矩形 8">
            <a:extLst>
              <a:ext uri="{FF2B5EF4-FFF2-40B4-BE49-F238E27FC236}">
                <a16:creationId xmlns:a16="http://schemas.microsoft.com/office/drawing/2014/main" id="{7972060C-66E6-B5D4-F2AC-3E62F6BDA92E}"/>
              </a:ext>
            </a:extLst>
          </p:cNvPr>
          <p:cNvSpPr/>
          <p:nvPr/>
        </p:nvSpPr>
        <p:spPr>
          <a:xfrm>
            <a:off x="2430396" y="4727440"/>
            <a:ext cx="6881690" cy="460375"/>
          </a:xfrm>
          <a:prstGeom prst="rect">
            <a:avLst/>
          </a:prstGeom>
        </p:spPr>
        <p:txBody>
          <a:bodyPr wrap="square">
            <a:spAutoFit/>
          </a:bodyPr>
          <a:lstStyle/>
          <a:p>
            <a:pPr algn="l"/>
            <a:r>
              <a:rPr lang="zh-CN" altLang="en-US" b="1" dirty="0">
                <a:solidFill>
                  <a:srgbClr val="92D050"/>
                </a:solidFill>
                <a:latin typeface="微软雅黑" panose="020B0503020204020204" pitchFamily="34" charset="-122"/>
                <a:ea typeface="微软雅黑" panose="020B0503020204020204" pitchFamily="34" charset="-122"/>
              </a:rPr>
              <a:t>为每个等价类规定一个唯一编号。</a:t>
            </a:r>
          </a:p>
        </p:txBody>
      </p:sp>
    </p:spTree>
    <p:extLst>
      <p:ext uri="{BB962C8B-B14F-4D97-AF65-F5344CB8AC3E}">
        <p14:creationId xmlns:p14="http://schemas.microsoft.com/office/powerpoint/2010/main" val="1893775774"/>
      </p:ext>
    </p:extLst>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274">
            <a:extLst>
              <a:ext uri="{FF2B5EF4-FFF2-40B4-BE49-F238E27FC236}">
                <a16:creationId xmlns:a16="http://schemas.microsoft.com/office/drawing/2014/main" id="{A2C990E5-76D1-9AE2-40C0-8C23AD53562B}"/>
              </a:ext>
            </a:extLst>
          </p:cNvPr>
          <p:cNvSpPr/>
          <p:nvPr/>
        </p:nvSpPr>
        <p:spPr bwMode="auto">
          <a:xfrm>
            <a:off x="1625789" y="2123798"/>
            <a:ext cx="827231" cy="827231"/>
          </a:xfrm>
          <a:prstGeom prst="flowChartConnector">
            <a:avLst/>
          </a:prstGeom>
          <a:solidFill>
            <a:srgbClr val="36B2E6"/>
          </a:solidFill>
          <a:ln>
            <a:noFill/>
          </a:ln>
          <a:effectLst>
            <a:reflection endPos="21000" dist="50800" dir="5400000" sy="-100000" algn="bl" rotWithShape="0"/>
          </a:effectLst>
        </p:spPr>
        <p:txBody>
          <a:bodyPr vert="horz" wrap="square" lIns="91425" tIns="45712" rIns="91425" bIns="45712" numCol="1" anchor="t" anchorCtr="0" compatLnSpc="1"/>
          <a:lstStyle/>
          <a:p>
            <a:pPr algn="ctr"/>
            <a:r>
              <a:rPr lang="en-US" altLang="zh-CN" sz="3200" b="1">
                <a:solidFill>
                  <a:schemeClr val="bg1"/>
                </a:solidFill>
              </a:rPr>
              <a:t>3</a:t>
            </a:r>
            <a:endParaRPr lang="zh-CN" altLang="en-US" sz="3200" b="1" dirty="0">
              <a:solidFill>
                <a:schemeClr val="bg1"/>
              </a:solidFill>
            </a:endParaRPr>
          </a:p>
        </p:txBody>
      </p:sp>
      <p:sp>
        <p:nvSpPr>
          <p:cNvPr id="4" name="Freeform 369">
            <a:extLst>
              <a:ext uri="{FF2B5EF4-FFF2-40B4-BE49-F238E27FC236}">
                <a16:creationId xmlns:a16="http://schemas.microsoft.com/office/drawing/2014/main" id="{65A7BA4E-FB69-102F-43D5-435AB758484C}"/>
              </a:ext>
            </a:extLst>
          </p:cNvPr>
          <p:cNvSpPr/>
          <p:nvPr/>
        </p:nvSpPr>
        <p:spPr bwMode="auto">
          <a:xfrm>
            <a:off x="1626486" y="3783771"/>
            <a:ext cx="827231" cy="827231"/>
          </a:xfrm>
          <a:prstGeom prst="flowChartConnector">
            <a:avLst/>
          </a:prstGeom>
          <a:solidFill>
            <a:srgbClr val="7BC143"/>
          </a:solidFill>
          <a:ln>
            <a:noFill/>
          </a:ln>
          <a:effectLst>
            <a:reflection endPos="21000" dist="50800" dir="5400000" sy="-100000" algn="bl" rotWithShape="0"/>
          </a:effectLst>
        </p:spPr>
        <p:txBody>
          <a:bodyPr vert="horz" wrap="square" lIns="91425" tIns="45712" rIns="91425" bIns="45712" numCol="1" anchor="t" anchorCtr="0" compatLnSpc="1"/>
          <a:lstStyle/>
          <a:p>
            <a:pPr algn="ctr"/>
            <a:r>
              <a:rPr lang="en-US" altLang="zh-CN" sz="3200" b="1">
                <a:solidFill>
                  <a:schemeClr val="bg1"/>
                </a:solidFill>
              </a:rPr>
              <a:t>4</a:t>
            </a:r>
            <a:endParaRPr lang="zh-CN" altLang="en-US" sz="3200" b="1" dirty="0">
              <a:solidFill>
                <a:schemeClr val="bg1"/>
              </a:solidFill>
            </a:endParaRPr>
          </a:p>
        </p:txBody>
      </p:sp>
      <p:cxnSp>
        <p:nvCxnSpPr>
          <p:cNvPr id="5" name="直接连接符 4">
            <a:extLst>
              <a:ext uri="{FF2B5EF4-FFF2-40B4-BE49-F238E27FC236}">
                <a16:creationId xmlns:a16="http://schemas.microsoft.com/office/drawing/2014/main" id="{35C24D61-D7D6-3758-4155-17363483122C}"/>
              </a:ext>
            </a:extLst>
          </p:cNvPr>
          <p:cNvCxnSpPr/>
          <p:nvPr/>
        </p:nvCxnSpPr>
        <p:spPr>
          <a:xfrm flipV="1">
            <a:off x="1967320" y="2987759"/>
            <a:ext cx="8316000" cy="0"/>
          </a:xfrm>
          <a:prstGeom prst="line">
            <a:avLst/>
          </a:prstGeom>
          <a:solidFill>
            <a:srgbClr val="3BCCFF"/>
          </a:solidFill>
          <a:ln w="12700" cap="flat" cmpd="sng" algn="ctr">
            <a:solidFill>
              <a:srgbClr val="19C3FF"/>
            </a:solidFill>
            <a:prstDash val="solid"/>
            <a:round/>
            <a:headEnd type="none" w="med" len="med"/>
            <a:tailEnd type="none" w="med" len="med"/>
          </a:ln>
          <a:effectLst>
            <a:outerShdw blurRad="25400" dist="12700" dir="2700000" algn="tl" rotWithShape="0">
              <a:prstClr val="black">
                <a:alpha val="40000"/>
              </a:prstClr>
            </a:outerShdw>
          </a:effectLst>
        </p:spPr>
      </p:cxnSp>
      <p:cxnSp>
        <p:nvCxnSpPr>
          <p:cNvPr id="6" name="直接连接符 5">
            <a:extLst>
              <a:ext uri="{FF2B5EF4-FFF2-40B4-BE49-F238E27FC236}">
                <a16:creationId xmlns:a16="http://schemas.microsoft.com/office/drawing/2014/main" id="{F41C31A8-38E3-15A2-9C1C-2DCABCDF120B}"/>
              </a:ext>
            </a:extLst>
          </p:cNvPr>
          <p:cNvCxnSpPr/>
          <p:nvPr/>
        </p:nvCxnSpPr>
        <p:spPr>
          <a:xfrm>
            <a:off x="1968018" y="4648744"/>
            <a:ext cx="8316000" cy="0"/>
          </a:xfrm>
          <a:prstGeom prst="line">
            <a:avLst/>
          </a:prstGeom>
          <a:ln w="19050">
            <a:solidFill>
              <a:srgbClr val="92D050"/>
            </a:solidFill>
            <a:headEnd type="none" w="med" len="med"/>
            <a:tailEnd type="none" w="med" len="med"/>
          </a:ln>
        </p:spPr>
        <p:style>
          <a:lnRef idx="1">
            <a:schemeClr val="accent3"/>
          </a:lnRef>
          <a:fillRef idx="0">
            <a:schemeClr val="accent3"/>
          </a:fillRef>
          <a:effectRef idx="0">
            <a:schemeClr val="accent3"/>
          </a:effectRef>
          <a:fontRef idx="minor">
            <a:schemeClr val="tx1"/>
          </a:fontRef>
        </p:style>
      </p:cxnSp>
      <p:sp>
        <p:nvSpPr>
          <p:cNvPr id="7" name="矩形 6">
            <a:extLst>
              <a:ext uri="{FF2B5EF4-FFF2-40B4-BE49-F238E27FC236}">
                <a16:creationId xmlns:a16="http://schemas.microsoft.com/office/drawing/2014/main" id="{578E6986-710D-B27C-0009-FE64A2FEF1E3}"/>
              </a:ext>
            </a:extLst>
          </p:cNvPr>
          <p:cNvSpPr/>
          <p:nvPr/>
        </p:nvSpPr>
        <p:spPr>
          <a:xfrm>
            <a:off x="2496820" y="1990090"/>
            <a:ext cx="8116570" cy="829945"/>
          </a:xfrm>
          <a:prstGeom prst="rect">
            <a:avLst/>
          </a:prstGeom>
        </p:spPr>
        <p:txBody>
          <a:bodyPr wrap="square">
            <a:spAutoFit/>
          </a:bodyPr>
          <a:lstStyle/>
          <a:p>
            <a:pPr algn="l"/>
            <a:r>
              <a:rPr lang="zh-CN" altLang="en-US" b="1">
                <a:solidFill>
                  <a:srgbClr val="00B0F0"/>
                </a:solidFill>
                <a:latin typeface="Times New Roman" panose="02020603050405020304" charset="0"/>
                <a:ea typeface="微软雅黑" panose="020B0503020204020204" pitchFamily="34" charset="-122"/>
                <a:cs typeface="Times New Roman" panose="02020603050405020304" charset="0"/>
              </a:rPr>
              <a:t>设计有效等价类的测试用例，使其尽可能多地覆盖尚未被覆盖的有效等价类，直到测试用例覆盖所有的有效等价类。</a:t>
            </a:r>
          </a:p>
        </p:txBody>
      </p:sp>
      <p:sp>
        <p:nvSpPr>
          <p:cNvPr id="8" name="矩形 7">
            <a:extLst>
              <a:ext uri="{FF2B5EF4-FFF2-40B4-BE49-F238E27FC236}">
                <a16:creationId xmlns:a16="http://schemas.microsoft.com/office/drawing/2014/main" id="{A9C2EBD7-7E8C-9446-4B3C-03A66C92B07D}"/>
              </a:ext>
            </a:extLst>
          </p:cNvPr>
          <p:cNvSpPr/>
          <p:nvPr/>
        </p:nvSpPr>
        <p:spPr>
          <a:xfrm>
            <a:off x="2496820" y="4003675"/>
            <a:ext cx="7933690" cy="460375"/>
          </a:xfrm>
          <a:prstGeom prst="rect">
            <a:avLst/>
          </a:prstGeom>
        </p:spPr>
        <p:txBody>
          <a:bodyPr wrap="square">
            <a:spAutoFit/>
          </a:bodyPr>
          <a:lstStyle/>
          <a:p>
            <a:pPr algn="l"/>
            <a:r>
              <a:rPr lang="zh-CN" altLang="en-US" b="1" dirty="0">
                <a:solidFill>
                  <a:srgbClr val="92D050"/>
                </a:solidFill>
                <a:latin typeface="微软雅黑" panose="020B0503020204020204" pitchFamily="34" charset="-122"/>
                <a:ea typeface="微软雅黑" panose="020B0503020204020204" pitchFamily="34" charset="-122"/>
              </a:rPr>
              <a:t>设计无效等价类的测试用例，使其覆盖所有的无效等价类。</a:t>
            </a:r>
          </a:p>
        </p:txBody>
      </p:sp>
      <p:sp>
        <p:nvSpPr>
          <p:cNvPr id="9" name="Title 1">
            <a:extLst>
              <a:ext uri="{FF2B5EF4-FFF2-40B4-BE49-F238E27FC236}">
                <a16:creationId xmlns:a16="http://schemas.microsoft.com/office/drawing/2014/main" id="{F404A7D0-B3FD-2772-CD6C-DDF1762C3288}"/>
              </a:ext>
            </a:extLst>
          </p:cNvPr>
          <p:cNvSpPr txBox="1"/>
          <p:nvPr/>
        </p:nvSpPr>
        <p:spPr>
          <a:xfrm>
            <a:off x="1143690" y="266995"/>
            <a:ext cx="4519515"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等价类划分法设计测试用例步骤</a:t>
            </a:r>
          </a:p>
        </p:txBody>
      </p:sp>
    </p:spTree>
    <p:extLst>
      <p:ext uri="{BB962C8B-B14F-4D97-AF65-F5344CB8AC3E}">
        <p14:creationId xmlns:p14="http://schemas.microsoft.com/office/powerpoint/2010/main" val="3609154376"/>
      </p:ext>
    </p:extLst>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p:cNvPicPr>
            <a:picLocks noChangeAspect="1"/>
          </p:cNvPicPr>
          <p:nvPr/>
        </p:nvPicPr>
        <p:blipFill>
          <a:blip r:embed="rId3"/>
          <a:stretch>
            <a:fillRect/>
          </a:stretch>
        </p:blipFill>
        <p:spPr>
          <a:xfrm>
            <a:off x="944880" y="2215515"/>
            <a:ext cx="2797810" cy="3898265"/>
          </a:xfrm>
          <a:prstGeom prst="rect">
            <a:avLst/>
          </a:prstGeom>
        </p:spPr>
      </p:pic>
      <p:sp>
        <p:nvSpPr>
          <p:cNvPr id="13" name="椭圆形标注 12"/>
          <p:cNvSpPr/>
          <p:nvPr/>
        </p:nvSpPr>
        <p:spPr>
          <a:xfrm>
            <a:off x="2968625" y="156019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p>
        </p:txBody>
      </p:sp>
      <p:sp>
        <p:nvSpPr>
          <p:cNvPr id="14" name="TextBox 35"/>
          <p:cNvSpPr txBox="1">
            <a:spLocks noChangeArrowheads="1"/>
          </p:cNvSpPr>
          <p:nvPr/>
        </p:nvSpPr>
        <p:spPr bwMode="auto">
          <a:xfrm>
            <a:off x="3247390" y="163830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p>
        </p:txBody>
      </p:sp>
      <p:sp>
        <p:nvSpPr>
          <p:cNvPr id="15" name="TextBox 35"/>
          <p:cNvSpPr txBox="1">
            <a:spLocks noChangeArrowheads="1"/>
          </p:cNvSpPr>
          <p:nvPr/>
        </p:nvSpPr>
        <p:spPr bwMode="auto">
          <a:xfrm>
            <a:off x="5935354" y="3213770"/>
            <a:ext cx="5669299" cy="10439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defRPr/>
            </a:pPr>
            <a:r>
              <a:rPr sz="200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掌握</a:t>
            </a:r>
            <a:r>
              <a:rPr lang="zh-CN" sz="200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QQ账号合法性的等价类划分</a:t>
            </a:r>
            <a:r>
              <a:rPr sz="200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，能够</a:t>
            </a:r>
            <a:r>
              <a:rPr lang="zh-CN" sz="2000">
                <a:solidFill>
                  <a:srgbClr val="0070C0"/>
                </a:solidFill>
                <a:latin typeface="微软雅黑" panose="020B0503020204020204" pitchFamily="34" charset="-122"/>
                <a:ea typeface="微软雅黑" panose="020B0503020204020204" pitchFamily="34" charset="-122"/>
                <a:cs typeface="+mn-ea"/>
                <a:sym typeface="字魂58号-创中黑" panose="00000500000000000000" pitchFamily="2" charset="-122"/>
              </a:rPr>
              <a:t>建立</a:t>
            </a:r>
            <a:r>
              <a:rPr sz="200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QQ账号的</a:t>
            </a:r>
            <a:r>
              <a:rPr sz="2000">
                <a:solidFill>
                  <a:srgbClr val="0070C0"/>
                </a:solidFill>
                <a:latin typeface="微软雅黑" panose="020B0503020204020204" pitchFamily="34" charset="-122"/>
                <a:ea typeface="微软雅黑" panose="020B0503020204020204" pitchFamily="34" charset="-122"/>
                <a:cs typeface="+mn-ea"/>
                <a:sym typeface="字魂58号-创中黑" panose="00000500000000000000" pitchFamily="2" charset="-122"/>
              </a:rPr>
              <a:t>等价类划分表</a:t>
            </a:r>
            <a:r>
              <a:rPr lang="zh-CN" sz="200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与</a:t>
            </a:r>
            <a:r>
              <a:rPr lang="zh-CN" sz="2000">
                <a:solidFill>
                  <a:srgbClr val="0070C0"/>
                </a:solidFill>
                <a:latin typeface="微软雅黑" panose="020B0503020204020204" pitchFamily="34" charset="-122"/>
                <a:ea typeface="微软雅黑" panose="020B0503020204020204" pitchFamily="34" charset="-122"/>
                <a:cs typeface="+mn-ea"/>
                <a:sym typeface="字魂58号-创中黑" panose="00000500000000000000" pitchFamily="2" charset="-122"/>
              </a:rPr>
              <a:t>设计</a:t>
            </a:r>
            <a:r>
              <a:rPr sz="200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QQ账号</a:t>
            </a:r>
            <a:r>
              <a:rPr lang="zh-CN" sz="200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的</a:t>
            </a:r>
            <a:r>
              <a:rPr lang="zh-CN" sz="2000">
                <a:solidFill>
                  <a:srgbClr val="0070C0"/>
                </a:solidFill>
                <a:latin typeface="微软雅黑" panose="020B0503020204020204" pitchFamily="34" charset="-122"/>
                <a:ea typeface="微软雅黑" panose="020B0503020204020204" pitchFamily="34" charset="-122"/>
                <a:cs typeface="+mn-ea"/>
                <a:sym typeface="字魂58号-创中黑" panose="00000500000000000000" pitchFamily="2" charset="-122"/>
              </a:rPr>
              <a:t>测试用例</a:t>
            </a:r>
          </a:p>
        </p:txBody>
      </p:sp>
      <p:grpSp>
        <p:nvGrpSpPr>
          <p:cNvPr id="19" name="组合 18"/>
          <p:cNvGrpSpPr/>
          <p:nvPr/>
        </p:nvGrpSpPr>
        <p:grpSpPr>
          <a:xfrm>
            <a:off x="5452110" y="3540125"/>
            <a:ext cx="405130" cy="405130"/>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Title 1"/>
          <p:cNvSpPr txBox="1"/>
          <p:nvPr/>
        </p:nvSpPr>
        <p:spPr>
          <a:xfrm>
            <a:off x="1143635" y="266700"/>
            <a:ext cx="644271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2.1.2	实例一：QQ账号合法性的等价类划分</a:t>
            </a: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1143635" y="266700"/>
            <a:ext cx="644271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2.1.2	实例一：QQ账号合法性的等价类划分</a:t>
            </a:r>
          </a:p>
        </p:txBody>
      </p:sp>
      <p:sp>
        <p:nvSpPr>
          <p:cNvPr id="16" name="TextBox 35"/>
          <p:cNvSpPr txBox="1">
            <a:spLocks noChangeArrowheads="1"/>
          </p:cNvSpPr>
          <p:nvPr/>
        </p:nvSpPr>
        <p:spPr bwMode="auto">
          <a:xfrm>
            <a:off x="911225" y="909955"/>
            <a:ext cx="9952990" cy="47834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indent="457200" algn="just">
              <a:lnSpc>
                <a:spcPct val="150000"/>
              </a:lnSpc>
              <a:buClrTx/>
              <a:buSzTx/>
              <a:buFontTx/>
            </a:pPr>
            <a:r>
              <a:rPr lang="zh-CN" altLang="en-US" sz="2000" dirty="0">
                <a:solidFill>
                  <a:srgbClr val="595959"/>
                </a:solidFill>
                <a:latin typeface="微软雅黑" panose="020B0503020204020204" pitchFamily="34" charset="-122"/>
                <a:ea typeface="微软雅黑" panose="020B0503020204020204" pitchFamily="34" charset="-122"/>
              </a:rPr>
              <a:t>QQ是一款基于互联网的即时通信软件，</a:t>
            </a:r>
            <a:r>
              <a:rPr lang="zh-CN" altLang="en-US" sz="2000" dirty="0">
                <a:solidFill>
                  <a:srgbClr val="0070C0"/>
                </a:solidFill>
                <a:latin typeface="微软雅黑" panose="020B0503020204020204" pitchFamily="34" charset="-122"/>
                <a:ea typeface="微软雅黑" panose="020B0503020204020204" pitchFamily="34" charset="-122"/>
              </a:rPr>
              <a:t>假设QQ账号</a:t>
            </a:r>
            <a:r>
              <a:rPr lang="zh-CN" altLang="en-US" sz="2000" dirty="0">
                <a:solidFill>
                  <a:srgbClr val="595959"/>
                </a:solidFill>
                <a:latin typeface="微软雅黑" panose="020B0503020204020204" pitchFamily="34" charset="-122"/>
                <a:ea typeface="微软雅黑" panose="020B0503020204020204" pitchFamily="34" charset="-122"/>
              </a:rPr>
              <a:t>的要求</a:t>
            </a:r>
            <a:r>
              <a:rPr lang="zh-CN" altLang="en-US" sz="2000" dirty="0">
                <a:solidFill>
                  <a:srgbClr val="0070C0"/>
                </a:solidFill>
                <a:latin typeface="微软雅黑" panose="020B0503020204020204" pitchFamily="34" charset="-122"/>
                <a:ea typeface="微软雅黑" panose="020B0503020204020204" pitchFamily="34" charset="-122"/>
              </a:rPr>
              <a:t>是6~10位自然数</a:t>
            </a:r>
            <a:r>
              <a:rPr lang="zh-CN" altLang="en-US" sz="2000" dirty="0">
                <a:solidFill>
                  <a:srgbClr val="595959"/>
                </a:solidFill>
                <a:latin typeface="微软雅黑" panose="020B0503020204020204" pitchFamily="34" charset="-122"/>
                <a:ea typeface="微软雅黑" panose="020B0503020204020204" pitchFamily="34" charset="-122"/>
              </a:rPr>
              <a:t>，在登录QQ时，可以</a:t>
            </a:r>
            <a:r>
              <a:rPr lang="zh-CN" altLang="en-US" sz="2000" dirty="0">
                <a:solidFill>
                  <a:srgbClr val="0070C0"/>
                </a:solidFill>
                <a:latin typeface="微软雅黑" panose="020B0503020204020204" pitchFamily="34" charset="-122"/>
                <a:ea typeface="微软雅黑" panose="020B0503020204020204" pitchFamily="34" charset="-122"/>
              </a:rPr>
              <a:t>根据QQ账号的长度判断QQ账号的合法性</a:t>
            </a:r>
            <a:r>
              <a:rPr lang="zh-CN" altLang="en-US" sz="2000" dirty="0">
                <a:solidFill>
                  <a:srgbClr val="595959"/>
                </a:solidFill>
                <a:latin typeface="微软雅黑" panose="020B0503020204020204" pitchFamily="34" charset="-122"/>
                <a:ea typeface="微软雅黑" panose="020B0503020204020204" pitchFamily="34" charset="-122"/>
              </a:rPr>
              <a:t>。</a:t>
            </a:r>
          </a:p>
          <a:p>
            <a:pPr indent="457200" algn="just">
              <a:lnSpc>
                <a:spcPct val="150000"/>
              </a:lnSpc>
              <a:buClrTx/>
              <a:buSzTx/>
              <a:buFontTx/>
            </a:pPr>
            <a:r>
              <a:rPr lang="zh-CN" altLang="en-US" sz="1800" dirty="0">
                <a:solidFill>
                  <a:srgbClr val="595959"/>
                </a:solidFill>
                <a:latin typeface="微软雅黑" panose="020B0503020204020204" pitchFamily="34" charset="-122"/>
                <a:ea typeface="微软雅黑" panose="020B0503020204020204" pitchFamily="34" charset="-122"/>
              </a:rPr>
              <a:t>下面以QQ账号为测试对象，在判断QQ账号的合法性时，需要明确2个条件：第1个条件是</a:t>
            </a:r>
            <a:r>
              <a:rPr lang="zh-CN" altLang="en-US" sz="1800" dirty="0">
                <a:solidFill>
                  <a:srgbClr val="0070C0"/>
                </a:solidFill>
                <a:latin typeface="微软雅黑" panose="020B0503020204020204" pitchFamily="34" charset="-122"/>
                <a:ea typeface="微软雅黑" panose="020B0503020204020204" pitchFamily="34" charset="-122"/>
              </a:rPr>
              <a:t>QQ账号的长度为6~10</a:t>
            </a:r>
            <a:r>
              <a:rPr lang="zh-CN" altLang="en-US" sz="1800" dirty="0">
                <a:solidFill>
                  <a:srgbClr val="595959"/>
                </a:solidFill>
                <a:latin typeface="微软雅黑" panose="020B0503020204020204" pitchFamily="34" charset="-122"/>
                <a:ea typeface="微软雅黑" panose="020B0503020204020204" pitchFamily="34" charset="-122"/>
              </a:rPr>
              <a:t>；第2个条件是</a:t>
            </a:r>
            <a:r>
              <a:rPr lang="zh-CN" altLang="en-US" sz="1800" dirty="0">
                <a:solidFill>
                  <a:srgbClr val="0070C0"/>
                </a:solidFill>
                <a:latin typeface="微软雅黑" panose="020B0503020204020204" pitchFamily="34" charset="-122"/>
                <a:ea typeface="微软雅黑" panose="020B0503020204020204" pitchFamily="34" charset="-122"/>
              </a:rPr>
              <a:t>QQ账号的数据类型为自然数</a:t>
            </a:r>
            <a:r>
              <a:rPr lang="zh-CN" altLang="en-US" sz="1800" dirty="0">
                <a:solidFill>
                  <a:srgbClr val="595959"/>
                </a:solidFill>
                <a:latin typeface="微软雅黑" panose="020B0503020204020204" pitchFamily="34" charset="-122"/>
                <a:ea typeface="微软雅黑" panose="020B0503020204020204" pitchFamily="34" charset="-122"/>
              </a:rPr>
              <a:t>。根据这2个条件可以将QQ账号划分为</a:t>
            </a:r>
            <a:r>
              <a:rPr lang="zh-CN" altLang="en-US" sz="1800" dirty="0">
                <a:solidFill>
                  <a:srgbClr val="0070C0"/>
                </a:solidFill>
                <a:latin typeface="微软雅黑" panose="020B0503020204020204" pitchFamily="34" charset="-122"/>
                <a:ea typeface="微软雅黑" panose="020B0503020204020204" pitchFamily="34" charset="-122"/>
              </a:rPr>
              <a:t>1个有效等价类</a:t>
            </a:r>
            <a:r>
              <a:rPr lang="zh-CN" altLang="en-US" sz="1800" dirty="0">
                <a:solidFill>
                  <a:srgbClr val="595959"/>
                </a:solidFill>
                <a:latin typeface="微软雅黑" panose="020B0503020204020204" pitchFamily="34" charset="-122"/>
                <a:ea typeface="微软雅黑" panose="020B0503020204020204" pitchFamily="34" charset="-122"/>
              </a:rPr>
              <a:t>和</a:t>
            </a:r>
            <a:r>
              <a:rPr lang="zh-CN" altLang="en-US" sz="1800" dirty="0">
                <a:solidFill>
                  <a:srgbClr val="0070C0"/>
                </a:solidFill>
                <a:latin typeface="微软雅黑" panose="020B0503020204020204" pitchFamily="34" charset="-122"/>
                <a:ea typeface="微软雅黑" panose="020B0503020204020204" pitchFamily="34" charset="-122"/>
              </a:rPr>
              <a:t>5个无效等价类</a:t>
            </a:r>
            <a:r>
              <a:rPr lang="zh-CN" altLang="en-US" sz="1800" dirty="0">
                <a:solidFill>
                  <a:srgbClr val="595959"/>
                </a:solidFill>
                <a:latin typeface="微软雅黑" panose="020B0503020204020204" pitchFamily="34" charset="-122"/>
                <a:ea typeface="微软雅黑" panose="020B0503020204020204" pitchFamily="34" charset="-122"/>
              </a:rPr>
              <a:t>，具体如下。</a:t>
            </a:r>
          </a:p>
          <a:p>
            <a:pPr marL="540000" indent="-285750" algn="just">
              <a:lnSpc>
                <a:spcPct val="150000"/>
              </a:lnSpc>
              <a:buClrTx/>
              <a:buSzTx/>
              <a:buFont typeface="Wingdings" panose="05000000000000000000" charset="0"/>
              <a:buChar char="l"/>
            </a:pPr>
            <a:r>
              <a:rPr lang="zh-CN" altLang="en-US" sz="1800" dirty="0">
                <a:solidFill>
                  <a:srgbClr val="595959"/>
                </a:solidFill>
                <a:latin typeface="微软雅黑" panose="020B0503020204020204" pitchFamily="34" charset="-122"/>
                <a:ea typeface="微软雅黑" panose="020B0503020204020204" pitchFamily="34" charset="-122"/>
              </a:rPr>
              <a:t>有效等价类：</a:t>
            </a:r>
            <a:r>
              <a:rPr lang="zh-CN" altLang="en-US" sz="1800" dirty="0">
                <a:solidFill>
                  <a:srgbClr val="0070C0"/>
                </a:solidFill>
                <a:latin typeface="微软雅黑" panose="020B0503020204020204" pitchFamily="34" charset="-122"/>
                <a:ea typeface="微软雅黑" panose="020B0503020204020204" pitchFamily="34" charset="-122"/>
              </a:rPr>
              <a:t>6~10</a:t>
            </a:r>
            <a:r>
              <a:rPr lang="zh-CN" altLang="en-US" sz="1800" dirty="0">
                <a:solidFill>
                  <a:srgbClr val="595959"/>
                </a:solidFill>
                <a:latin typeface="微软雅黑" panose="020B0503020204020204" pitchFamily="34" charset="-122"/>
                <a:ea typeface="微软雅黑" panose="020B0503020204020204" pitchFamily="34" charset="-122"/>
              </a:rPr>
              <a:t>位自然数。</a:t>
            </a:r>
          </a:p>
          <a:p>
            <a:pPr marL="540000" indent="-285750" algn="just">
              <a:lnSpc>
                <a:spcPct val="150000"/>
              </a:lnSpc>
              <a:buClrTx/>
              <a:buSzTx/>
              <a:buFont typeface="Wingdings" panose="05000000000000000000" charset="0"/>
              <a:buChar char="l"/>
            </a:pPr>
            <a:r>
              <a:rPr lang="zh-CN" altLang="en-US" sz="1800" dirty="0">
                <a:solidFill>
                  <a:srgbClr val="595959"/>
                </a:solidFill>
                <a:latin typeface="微软雅黑" panose="020B0503020204020204" pitchFamily="34" charset="-122"/>
                <a:ea typeface="微软雅黑" panose="020B0503020204020204" pitchFamily="34" charset="-122"/>
              </a:rPr>
              <a:t>无效等价类：</a:t>
            </a:r>
            <a:r>
              <a:rPr lang="zh-CN" altLang="en-US" sz="1800" dirty="0">
                <a:solidFill>
                  <a:srgbClr val="0070C0"/>
                </a:solidFill>
                <a:latin typeface="微软雅黑" panose="020B0503020204020204" pitchFamily="34" charset="-122"/>
                <a:ea typeface="微软雅黑" panose="020B0503020204020204" pitchFamily="34" charset="-122"/>
              </a:rPr>
              <a:t>少于6</a:t>
            </a:r>
            <a:r>
              <a:rPr lang="zh-CN" altLang="en-US" sz="1800" dirty="0">
                <a:solidFill>
                  <a:srgbClr val="595959"/>
                </a:solidFill>
                <a:latin typeface="微软雅黑" panose="020B0503020204020204" pitchFamily="34" charset="-122"/>
                <a:ea typeface="微软雅黑" panose="020B0503020204020204" pitchFamily="34" charset="-122"/>
              </a:rPr>
              <a:t>位自然数（包含空值）。</a:t>
            </a:r>
          </a:p>
          <a:p>
            <a:pPr marL="540000" indent="-285750" algn="just">
              <a:lnSpc>
                <a:spcPct val="150000"/>
              </a:lnSpc>
              <a:buClrTx/>
              <a:buSzTx/>
              <a:buFont typeface="Wingdings" panose="05000000000000000000" charset="0"/>
              <a:buChar char="l"/>
            </a:pPr>
            <a:r>
              <a:rPr lang="zh-CN" altLang="en-US" sz="1800" dirty="0">
                <a:solidFill>
                  <a:srgbClr val="595959"/>
                </a:solidFill>
                <a:latin typeface="微软雅黑" panose="020B0503020204020204" pitchFamily="34" charset="-122"/>
                <a:ea typeface="微软雅黑" panose="020B0503020204020204" pitchFamily="34" charset="-122"/>
              </a:rPr>
              <a:t>无效等价类：</a:t>
            </a:r>
            <a:r>
              <a:rPr lang="zh-CN" altLang="en-US" sz="1800" dirty="0">
                <a:solidFill>
                  <a:srgbClr val="0070C0"/>
                </a:solidFill>
                <a:latin typeface="微软雅黑" panose="020B0503020204020204" pitchFamily="34" charset="-122"/>
                <a:ea typeface="微软雅黑" panose="020B0503020204020204" pitchFamily="34" charset="-122"/>
              </a:rPr>
              <a:t>多于10</a:t>
            </a:r>
            <a:r>
              <a:rPr lang="zh-CN" altLang="en-US" sz="1800" dirty="0">
                <a:solidFill>
                  <a:srgbClr val="595959"/>
                </a:solidFill>
                <a:latin typeface="微软雅黑" panose="020B0503020204020204" pitchFamily="34" charset="-122"/>
                <a:ea typeface="微软雅黑" panose="020B0503020204020204" pitchFamily="34" charset="-122"/>
              </a:rPr>
              <a:t>位自然数。</a:t>
            </a:r>
          </a:p>
          <a:p>
            <a:pPr marL="540000" indent="-285750" algn="just">
              <a:lnSpc>
                <a:spcPct val="150000"/>
              </a:lnSpc>
              <a:buClrTx/>
              <a:buSzTx/>
              <a:buFont typeface="Wingdings" panose="05000000000000000000" charset="0"/>
              <a:buChar char="l"/>
            </a:pPr>
            <a:r>
              <a:rPr lang="zh-CN" altLang="en-US" sz="1800" dirty="0">
                <a:solidFill>
                  <a:srgbClr val="595959"/>
                </a:solidFill>
                <a:latin typeface="微软雅黑" panose="020B0503020204020204" pitchFamily="34" charset="-122"/>
                <a:ea typeface="微软雅黑" panose="020B0503020204020204" pitchFamily="34" charset="-122"/>
              </a:rPr>
              <a:t>无效等价类：</a:t>
            </a:r>
            <a:r>
              <a:rPr lang="zh-CN" altLang="en-US" sz="1800" dirty="0">
                <a:solidFill>
                  <a:srgbClr val="0070C0"/>
                </a:solidFill>
                <a:latin typeface="微软雅黑" panose="020B0503020204020204" pitchFamily="34" charset="-122"/>
                <a:ea typeface="微软雅黑" panose="020B0503020204020204" pitchFamily="34" charset="-122"/>
              </a:rPr>
              <a:t>6~10</a:t>
            </a:r>
            <a:r>
              <a:rPr lang="zh-CN" altLang="en-US" sz="1800" dirty="0">
                <a:solidFill>
                  <a:srgbClr val="595959"/>
                </a:solidFill>
                <a:latin typeface="微软雅黑" panose="020B0503020204020204" pitchFamily="34" charset="-122"/>
                <a:ea typeface="微软雅黑" panose="020B0503020204020204" pitchFamily="34" charset="-122"/>
              </a:rPr>
              <a:t>位非自然数。</a:t>
            </a:r>
          </a:p>
          <a:p>
            <a:pPr marL="540000" indent="-285750" algn="just">
              <a:lnSpc>
                <a:spcPct val="150000"/>
              </a:lnSpc>
              <a:buClrTx/>
              <a:buSzTx/>
              <a:buFont typeface="Wingdings" panose="05000000000000000000" charset="0"/>
              <a:buChar char="l"/>
            </a:pPr>
            <a:r>
              <a:rPr lang="zh-CN" altLang="en-US" sz="1800" dirty="0">
                <a:solidFill>
                  <a:srgbClr val="595959"/>
                </a:solidFill>
                <a:latin typeface="微软雅黑" panose="020B0503020204020204" pitchFamily="34" charset="-122"/>
                <a:ea typeface="微软雅黑" panose="020B0503020204020204" pitchFamily="34" charset="-122"/>
              </a:rPr>
              <a:t>无效等价类：</a:t>
            </a:r>
            <a:r>
              <a:rPr lang="zh-CN" altLang="en-US" sz="1800" dirty="0">
                <a:solidFill>
                  <a:srgbClr val="0070C0"/>
                </a:solidFill>
                <a:latin typeface="微软雅黑" panose="020B0503020204020204" pitchFamily="34" charset="-122"/>
                <a:ea typeface="微软雅黑" panose="020B0503020204020204" pitchFamily="34" charset="-122"/>
              </a:rPr>
              <a:t>少于6</a:t>
            </a:r>
            <a:r>
              <a:rPr lang="zh-CN" altLang="en-US" sz="1800" dirty="0">
                <a:solidFill>
                  <a:srgbClr val="595959"/>
                </a:solidFill>
                <a:latin typeface="微软雅黑" panose="020B0503020204020204" pitchFamily="34" charset="-122"/>
                <a:ea typeface="微软雅黑" panose="020B0503020204020204" pitchFamily="34" charset="-122"/>
              </a:rPr>
              <a:t>位非自然数（包含空值）。</a:t>
            </a:r>
          </a:p>
          <a:p>
            <a:pPr marL="540000" indent="-285750" algn="just">
              <a:lnSpc>
                <a:spcPct val="150000"/>
              </a:lnSpc>
              <a:buClrTx/>
              <a:buSzTx/>
              <a:buFont typeface="Wingdings" panose="05000000000000000000" charset="0"/>
              <a:buChar char="l"/>
            </a:pPr>
            <a:r>
              <a:rPr lang="zh-CN" altLang="en-US" sz="1800" dirty="0">
                <a:solidFill>
                  <a:srgbClr val="595959"/>
                </a:solidFill>
                <a:latin typeface="微软雅黑" panose="020B0503020204020204" pitchFamily="34" charset="-122"/>
                <a:ea typeface="微软雅黑" panose="020B0503020204020204" pitchFamily="34" charset="-122"/>
              </a:rPr>
              <a:t>无效等价类：</a:t>
            </a:r>
            <a:r>
              <a:rPr lang="zh-CN" altLang="en-US" sz="1800" dirty="0">
                <a:solidFill>
                  <a:srgbClr val="0070C0"/>
                </a:solidFill>
                <a:latin typeface="微软雅黑" panose="020B0503020204020204" pitchFamily="34" charset="-122"/>
                <a:ea typeface="微软雅黑" panose="020B0503020204020204" pitchFamily="34" charset="-122"/>
              </a:rPr>
              <a:t>多于10</a:t>
            </a:r>
            <a:r>
              <a:rPr lang="zh-CN" altLang="en-US" sz="1800" dirty="0">
                <a:solidFill>
                  <a:srgbClr val="595959"/>
                </a:solidFill>
                <a:latin typeface="微软雅黑" panose="020B0503020204020204" pitchFamily="34" charset="-122"/>
                <a:ea typeface="微软雅黑" panose="020B0503020204020204" pitchFamily="34" charset="-122"/>
              </a:rPr>
              <a:t>位非自然数。</a:t>
            </a: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1143635" y="266700"/>
            <a:ext cx="644271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2.1.2	实例一：QQ账号合法性的等价类划分</a:t>
            </a:r>
          </a:p>
        </p:txBody>
      </p:sp>
      <p:graphicFrame>
        <p:nvGraphicFramePr>
          <p:cNvPr id="4" name="表格 3"/>
          <p:cNvGraphicFramePr/>
          <p:nvPr>
            <p:custDataLst>
              <p:tags r:id="rId1"/>
            </p:custDataLst>
          </p:nvPr>
        </p:nvGraphicFramePr>
        <p:xfrm>
          <a:off x="1631315" y="1955800"/>
          <a:ext cx="8619490" cy="4181856"/>
        </p:xfrm>
        <a:graphic>
          <a:graphicData uri="http://schemas.openxmlformats.org/drawingml/2006/table">
            <a:tbl>
              <a:tblPr firstRow="1" bandRow="1">
                <a:tableStyleId>{5C22544A-7EE6-4342-B048-85BDC9FD1C3A}</a:tableStyleId>
              </a:tblPr>
              <a:tblGrid>
                <a:gridCol w="1647825">
                  <a:extLst>
                    <a:ext uri="{9D8B030D-6E8A-4147-A177-3AD203B41FA5}">
                      <a16:colId xmlns:a16="http://schemas.microsoft.com/office/drawing/2014/main" val="20000"/>
                    </a:ext>
                  </a:extLst>
                </a:gridCol>
                <a:gridCol w="1678940">
                  <a:extLst>
                    <a:ext uri="{9D8B030D-6E8A-4147-A177-3AD203B41FA5}">
                      <a16:colId xmlns:a16="http://schemas.microsoft.com/office/drawing/2014/main" val="20001"/>
                    </a:ext>
                  </a:extLst>
                </a:gridCol>
                <a:gridCol w="1241425">
                  <a:extLst>
                    <a:ext uri="{9D8B030D-6E8A-4147-A177-3AD203B41FA5}">
                      <a16:colId xmlns:a16="http://schemas.microsoft.com/office/drawing/2014/main" val="20002"/>
                    </a:ext>
                  </a:extLst>
                </a:gridCol>
                <a:gridCol w="2910840">
                  <a:extLst>
                    <a:ext uri="{9D8B030D-6E8A-4147-A177-3AD203B41FA5}">
                      <a16:colId xmlns:a16="http://schemas.microsoft.com/office/drawing/2014/main" val="20003"/>
                    </a:ext>
                  </a:extLst>
                </a:gridCol>
                <a:gridCol w="1140460">
                  <a:extLst>
                    <a:ext uri="{9D8B030D-6E8A-4147-A177-3AD203B41FA5}">
                      <a16:colId xmlns:a16="http://schemas.microsoft.com/office/drawing/2014/main" val="20004"/>
                    </a:ext>
                  </a:extLst>
                </a:gridCol>
              </a:tblGrid>
              <a:tr h="491490">
                <a:tc>
                  <a:txBody>
                    <a:bodyPr/>
                    <a:lstStyle/>
                    <a:p>
                      <a:pPr algn="ctr">
                        <a:lnSpc>
                          <a:spcPct val="90000"/>
                        </a:lnSpc>
                        <a:buNone/>
                      </a:pPr>
                      <a:r>
                        <a:rPr lang="zh-CN" altLang="en-US" sz="1800" b="1">
                          <a:latin typeface="微软雅黑" panose="020B0503020204020204" pitchFamily="34" charset="-122"/>
                          <a:ea typeface="微软雅黑" panose="020B0503020204020204" pitchFamily="34" charset="-122"/>
                        </a:rPr>
                        <a:t>要求</a:t>
                      </a:r>
                    </a:p>
                  </a:txBody>
                  <a:tcPr anchor="ctr"/>
                </a:tc>
                <a:tc>
                  <a:txBody>
                    <a:bodyPr/>
                    <a:lstStyle/>
                    <a:p>
                      <a:pPr algn="ctr">
                        <a:lnSpc>
                          <a:spcPct val="90000"/>
                        </a:lnSpc>
                        <a:buNone/>
                      </a:pPr>
                      <a:r>
                        <a:rPr lang="zh-CN" altLang="en-US" sz="1800">
                          <a:latin typeface="微软雅黑" panose="020B0503020204020204" pitchFamily="34" charset="-122"/>
                          <a:ea typeface="微软雅黑" panose="020B0503020204020204" pitchFamily="34" charset="-122"/>
                        </a:rPr>
                        <a:t>有效等价类</a:t>
                      </a:r>
                    </a:p>
                  </a:txBody>
                  <a:tcPr anchor="ctr"/>
                </a:tc>
                <a:tc>
                  <a:txBody>
                    <a:bodyPr/>
                    <a:lstStyle/>
                    <a:p>
                      <a:pPr algn="ctr">
                        <a:lnSpc>
                          <a:spcPct val="90000"/>
                        </a:lnSpc>
                        <a:buNone/>
                      </a:pPr>
                      <a:r>
                        <a:rPr lang="zh-CN" altLang="en-US" sz="1800">
                          <a:latin typeface="微软雅黑" panose="020B0503020204020204" pitchFamily="34" charset="-122"/>
                          <a:ea typeface="微软雅黑" panose="020B0503020204020204" pitchFamily="34" charset="-122"/>
                        </a:rPr>
                        <a:t>有效等价类编号</a:t>
                      </a:r>
                    </a:p>
                  </a:txBody>
                  <a:tcPr anchor="ctr"/>
                </a:tc>
                <a:tc>
                  <a:txBody>
                    <a:bodyPr/>
                    <a:lstStyle/>
                    <a:p>
                      <a:pPr algn="ctr">
                        <a:lnSpc>
                          <a:spcPct val="90000"/>
                        </a:lnSpc>
                        <a:buNone/>
                      </a:pPr>
                      <a:r>
                        <a:rPr lang="zh-CN" altLang="en-US" sz="1800">
                          <a:latin typeface="微软雅黑" panose="020B0503020204020204" pitchFamily="34" charset="-122"/>
                          <a:ea typeface="微软雅黑" panose="020B0503020204020204" pitchFamily="34" charset="-122"/>
                        </a:rPr>
                        <a:t>无效等价类</a:t>
                      </a:r>
                    </a:p>
                  </a:txBody>
                  <a:tcPr anchor="ctr"/>
                </a:tc>
                <a:tc>
                  <a:txBody>
                    <a:bodyPr/>
                    <a:lstStyle/>
                    <a:p>
                      <a:pPr marL="0" marR="0" lvl="0" indent="0" algn="ctr" defTabSz="1219200" rtl="0" eaLnBrk="1" fontAlgn="auto" latinLnBrk="0" hangingPunct="1">
                        <a:lnSpc>
                          <a:spcPct val="90000"/>
                        </a:lnSpc>
                        <a:spcBef>
                          <a:spcPts val="0"/>
                        </a:spcBef>
                        <a:spcAft>
                          <a:spcPts val="0"/>
                        </a:spcAft>
                        <a:buClrTx/>
                        <a:buSzTx/>
                        <a:buFontTx/>
                        <a:buNone/>
                        <a:defRPr/>
                      </a:pPr>
                      <a:r>
                        <a:rPr lang="zh-CN" altLang="en-US" sz="1800">
                          <a:latin typeface="微软雅黑" panose="020B0503020204020204" pitchFamily="34" charset="-122"/>
                          <a:ea typeface="微软雅黑" panose="020B0503020204020204" pitchFamily="34" charset="-122"/>
                        </a:rPr>
                        <a:t>无效等价类编号</a:t>
                      </a:r>
                    </a:p>
                  </a:txBody>
                  <a:tcPr anchor="ctr"/>
                </a:tc>
                <a:extLst>
                  <a:ext uri="{0D108BD9-81ED-4DB2-BD59-A6C34878D82A}">
                    <a16:rowId xmlns:a16="http://schemas.microsoft.com/office/drawing/2014/main" val="10000"/>
                  </a:ext>
                </a:extLst>
              </a:tr>
              <a:tr h="718820">
                <a:tc rowSpan="5">
                  <a:txBody>
                    <a:bodyPr/>
                    <a:lstStyle/>
                    <a:p>
                      <a:pPr algn="l">
                        <a:buNone/>
                      </a:pPr>
                      <a:r>
                        <a:rPr lang="zh-CN" altLang="en-US" sz="1800" kern="1200" dirty="0">
                          <a:solidFill>
                            <a:srgbClr val="595959"/>
                          </a:solidFill>
                          <a:latin typeface="微软雅黑" panose="020B0503020204020204" pitchFamily="34" charset="-122"/>
                          <a:ea typeface="微软雅黑" panose="020B0503020204020204" pitchFamily="34" charset="-122"/>
                          <a:cs typeface="+mn-cs"/>
                        </a:rPr>
                        <a:t>QQ账号为6~10位自然数</a:t>
                      </a:r>
                    </a:p>
                  </a:txBody>
                  <a:tcPr anchor="ctr"/>
                </a:tc>
                <a:tc rowSpan="5">
                  <a:txBody>
                    <a:bodyPr/>
                    <a:lstStyle/>
                    <a:p>
                      <a:pPr>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6~10位自然数</a:t>
                      </a:r>
                    </a:p>
                  </a:txBody>
                  <a:tcPr anchor="ctr"/>
                </a:tc>
                <a:tc rowSpan="5">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1</a:t>
                      </a:r>
                    </a:p>
                  </a:txBody>
                  <a:tcPr anchor="ctr"/>
                </a:tc>
                <a:tc>
                  <a:txBody>
                    <a:bodyPr/>
                    <a:lstStyle/>
                    <a:p>
                      <a:pPr>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少于6位自然数（包含空值）</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2</a:t>
                      </a:r>
                    </a:p>
                  </a:txBody>
                  <a:tcPr anchor="ctr"/>
                </a:tc>
                <a:extLst>
                  <a:ext uri="{0D108BD9-81ED-4DB2-BD59-A6C34878D82A}">
                    <a16:rowId xmlns:a16="http://schemas.microsoft.com/office/drawing/2014/main" val="10001"/>
                  </a:ext>
                </a:extLst>
              </a:tr>
              <a:tr h="668655">
                <a:tc vMerge="1">
                  <a:txBody>
                    <a:bodyPr/>
                    <a:lstStyle/>
                    <a:p>
                      <a:endParaRPr lang="zh-CN"/>
                    </a:p>
                  </a:txBody>
                  <a:tcPr anchor="ctr"/>
                </a:tc>
                <a:tc vMerge="1">
                  <a:txBody>
                    <a:bodyPr/>
                    <a:lstStyle/>
                    <a:p>
                      <a:endParaRPr lang="zh-CN"/>
                    </a:p>
                  </a:txBody>
                  <a:tcPr anchor="ctr"/>
                </a:tc>
                <a:tc vMerge="1">
                  <a:txBody>
                    <a:bodyPr/>
                    <a:lstStyle/>
                    <a:p>
                      <a:endParaRPr lang="zh-CN"/>
                    </a:p>
                  </a:txBody>
                  <a:tcPr anchor="ctr"/>
                </a:tc>
                <a:tc>
                  <a:txBody>
                    <a:bodyPr/>
                    <a:lstStyle/>
                    <a:p>
                      <a:pPr>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多于10位自然数</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3</a:t>
                      </a:r>
                    </a:p>
                  </a:txBody>
                  <a:tcPr anchor="ctr"/>
                </a:tc>
                <a:extLst>
                  <a:ext uri="{0D108BD9-81ED-4DB2-BD59-A6C34878D82A}">
                    <a16:rowId xmlns:a16="http://schemas.microsoft.com/office/drawing/2014/main" val="10002"/>
                  </a:ext>
                </a:extLst>
              </a:tr>
              <a:tr h="711200">
                <a:tc vMerge="1">
                  <a:txBody>
                    <a:bodyPr/>
                    <a:lstStyle/>
                    <a:p>
                      <a:endParaRPr lang="zh-CN"/>
                    </a:p>
                  </a:txBody>
                  <a:tcPr anchor="ctr"/>
                </a:tc>
                <a:tc vMerge="1">
                  <a:txBody>
                    <a:bodyPr/>
                    <a:lstStyle/>
                    <a:p>
                      <a:endParaRPr lang="zh-CN"/>
                    </a:p>
                  </a:txBody>
                  <a:tcPr anchor="ctr"/>
                </a:tc>
                <a:tc vMerge="1">
                  <a:txBody>
                    <a:bodyPr/>
                    <a:lstStyle/>
                    <a:p>
                      <a:endParaRPr lang="zh-CN"/>
                    </a:p>
                  </a:txBody>
                  <a:tcPr anchor="ctr"/>
                </a:tc>
                <a:tc>
                  <a:txBody>
                    <a:bodyPr/>
                    <a:lstStyle/>
                    <a:p>
                      <a:pPr>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6~10位非自然数</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4</a:t>
                      </a:r>
                    </a:p>
                  </a:txBody>
                  <a:tcPr anchor="ctr"/>
                </a:tc>
                <a:extLst>
                  <a:ext uri="{0D108BD9-81ED-4DB2-BD59-A6C34878D82A}">
                    <a16:rowId xmlns:a16="http://schemas.microsoft.com/office/drawing/2014/main" val="10003"/>
                  </a:ext>
                </a:extLst>
              </a:tr>
              <a:tr h="725170">
                <a:tc vMerge="1">
                  <a:txBody>
                    <a:bodyPr/>
                    <a:lstStyle/>
                    <a:p>
                      <a:endParaRPr lang="zh-CN"/>
                    </a:p>
                  </a:txBody>
                  <a:tcPr anchor="ctr"/>
                </a:tc>
                <a:tc vMerge="1">
                  <a:txBody>
                    <a:bodyPr/>
                    <a:lstStyle/>
                    <a:p>
                      <a:endParaRPr lang="zh-CN"/>
                    </a:p>
                  </a:txBody>
                  <a:tcPr anchor="ctr"/>
                </a:tc>
                <a:tc vMerge="1">
                  <a:txBody>
                    <a:bodyPr/>
                    <a:lstStyle/>
                    <a:p>
                      <a:endParaRPr lang="zh-CN"/>
                    </a:p>
                  </a:txBody>
                  <a:tcPr anchor="ctr"/>
                </a:tc>
                <a:tc>
                  <a:txBody>
                    <a:bodyPr/>
                    <a:lstStyle/>
                    <a:p>
                      <a:pPr>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少于6位非自然数（包含空值）</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5</a:t>
                      </a:r>
                    </a:p>
                  </a:txBody>
                  <a:tcPr anchor="ctr"/>
                </a:tc>
                <a:extLst>
                  <a:ext uri="{0D108BD9-81ED-4DB2-BD59-A6C34878D82A}">
                    <a16:rowId xmlns:a16="http://schemas.microsoft.com/office/drawing/2014/main" val="10004"/>
                  </a:ext>
                </a:extLst>
              </a:tr>
              <a:tr h="772795">
                <a:tc vMerge="1">
                  <a:txBody>
                    <a:bodyPr/>
                    <a:lstStyle/>
                    <a:p>
                      <a:endParaRPr lang="zh-CN"/>
                    </a:p>
                  </a:txBody>
                  <a:tcPr anchor="ctr"/>
                </a:tc>
                <a:tc vMerge="1">
                  <a:txBody>
                    <a:bodyPr/>
                    <a:lstStyle/>
                    <a:p>
                      <a:endParaRPr lang="zh-CN"/>
                    </a:p>
                  </a:txBody>
                  <a:tcPr anchor="ctr"/>
                </a:tc>
                <a:tc vMerge="1">
                  <a:txBody>
                    <a:bodyPr/>
                    <a:lstStyle/>
                    <a:p>
                      <a:endParaRPr lang="zh-CN"/>
                    </a:p>
                  </a:txBody>
                  <a:tcPr anchor="ctr"/>
                </a:tc>
                <a:tc>
                  <a:txBody>
                    <a:bodyPr/>
                    <a:lstStyle/>
                    <a:p>
                      <a:pPr>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多于10位非自然数</a:t>
                      </a:r>
                    </a:p>
                  </a:txBody>
                  <a:tcPr anchor="ctr"/>
                </a:tc>
                <a:tc>
                  <a:txBody>
                    <a:bodyPr/>
                    <a:lstStyle/>
                    <a:p>
                      <a:pPr algn="ctr">
                        <a:buNone/>
                      </a:pPr>
                      <a:r>
                        <a:rPr lang="en-US" altLang="zh-CN" sz="1800" kern="1200" dirty="0">
                          <a:solidFill>
                            <a:srgbClr val="595959"/>
                          </a:solidFill>
                          <a:latin typeface="微软雅黑" panose="020B0503020204020204" pitchFamily="34" charset="-122"/>
                          <a:ea typeface="微软雅黑" panose="020B0503020204020204" pitchFamily="34" charset="-122"/>
                          <a:cs typeface="+mn-cs"/>
                        </a:rPr>
                        <a:t>6</a:t>
                      </a:r>
                    </a:p>
                  </a:txBody>
                  <a:tcPr anchor="ctr"/>
                </a:tc>
                <a:extLst>
                  <a:ext uri="{0D108BD9-81ED-4DB2-BD59-A6C34878D82A}">
                    <a16:rowId xmlns:a16="http://schemas.microsoft.com/office/drawing/2014/main" val="10005"/>
                  </a:ext>
                </a:extLst>
              </a:tr>
            </a:tbl>
          </a:graphicData>
        </a:graphic>
      </p:graphicFrame>
      <p:sp>
        <p:nvSpPr>
          <p:cNvPr id="16" name="TextBox 35"/>
          <p:cNvSpPr txBox="1">
            <a:spLocks noChangeArrowheads="1"/>
          </p:cNvSpPr>
          <p:nvPr/>
        </p:nvSpPr>
        <p:spPr bwMode="auto">
          <a:xfrm>
            <a:off x="1127125" y="837565"/>
            <a:ext cx="9710420" cy="1053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no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indent="457200" algn="just">
              <a:lnSpc>
                <a:spcPct val="150000"/>
              </a:lnSpc>
              <a:buClrTx/>
              <a:buSzTx/>
              <a:buFontTx/>
            </a:pPr>
            <a:r>
              <a:rPr lang="zh-CN" altLang="en-US" sz="2000" dirty="0">
                <a:solidFill>
                  <a:srgbClr val="595959"/>
                </a:solidFill>
                <a:latin typeface="微软雅黑" panose="020B0503020204020204" pitchFamily="34" charset="-122"/>
                <a:ea typeface="微软雅黑" panose="020B0503020204020204" pitchFamily="34" charset="-122"/>
              </a:rPr>
              <a:t>通过前面的分析，下面将6个等价类进行编号，建立等价类划分表。</a:t>
            </a:r>
            <a:r>
              <a:rPr lang="zh-CN" altLang="en-US" sz="2000" dirty="0">
                <a:solidFill>
                  <a:srgbClr val="0070C0"/>
                </a:solidFill>
                <a:latin typeface="微软雅黑" panose="020B0503020204020204" pitchFamily="34" charset="-122"/>
                <a:ea typeface="微软雅黑" panose="020B0503020204020204" pitchFamily="34" charset="-122"/>
              </a:rPr>
              <a:t>QQ账号的等价类划分表</a:t>
            </a:r>
            <a:r>
              <a:rPr lang="zh-CN" altLang="en-US" sz="2000" dirty="0">
                <a:solidFill>
                  <a:srgbClr val="595959"/>
                </a:solidFill>
                <a:latin typeface="微软雅黑" panose="020B0503020204020204" pitchFamily="34" charset="-122"/>
                <a:ea typeface="微软雅黑" panose="020B0503020204020204" pitchFamily="34" charset="-122"/>
              </a:rPr>
              <a:t>如下表所示。</a:t>
            </a: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表格 2"/>
          <p:cNvGraphicFramePr/>
          <p:nvPr>
            <p:custDataLst>
              <p:tags r:id="rId1"/>
            </p:custDataLst>
            <p:extLst>
              <p:ext uri="{D42A27DB-BD31-4B8C-83A1-F6EECF244321}">
                <p14:modId xmlns:p14="http://schemas.microsoft.com/office/powerpoint/2010/main" val="95270343"/>
              </p:ext>
            </p:extLst>
          </p:nvPr>
        </p:nvGraphicFramePr>
        <p:xfrm>
          <a:off x="2207260" y="1990090"/>
          <a:ext cx="7343946" cy="4000500"/>
        </p:xfrm>
        <a:graphic>
          <a:graphicData uri="http://schemas.openxmlformats.org/drawingml/2006/table">
            <a:tbl>
              <a:tblPr firstRow="1" bandRow="1">
                <a:tableStyleId>{5C22544A-7EE6-4342-B048-85BDC9FD1C3A}</a:tableStyleId>
              </a:tblPr>
              <a:tblGrid>
                <a:gridCol w="1826260">
                  <a:extLst>
                    <a:ext uri="{9D8B030D-6E8A-4147-A177-3AD203B41FA5}">
                      <a16:colId xmlns:a16="http://schemas.microsoft.com/office/drawing/2014/main" val="20000"/>
                    </a:ext>
                  </a:extLst>
                </a:gridCol>
                <a:gridCol w="1845686">
                  <a:extLst>
                    <a:ext uri="{9D8B030D-6E8A-4147-A177-3AD203B41FA5}">
                      <a16:colId xmlns:a16="http://schemas.microsoft.com/office/drawing/2014/main" val="20001"/>
                    </a:ext>
                  </a:extLst>
                </a:gridCol>
                <a:gridCol w="1872000">
                  <a:extLst>
                    <a:ext uri="{9D8B030D-6E8A-4147-A177-3AD203B41FA5}">
                      <a16:colId xmlns:a16="http://schemas.microsoft.com/office/drawing/2014/main" val="20002"/>
                    </a:ext>
                  </a:extLst>
                </a:gridCol>
                <a:gridCol w="1800000">
                  <a:extLst>
                    <a:ext uri="{9D8B030D-6E8A-4147-A177-3AD203B41FA5}">
                      <a16:colId xmlns:a16="http://schemas.microsoft.com/office/drawing/2014/main" val="20003"/>
                    </a:ext>
                  </a:extLst>
                </a:gridCol>
              </a:tblGrid>
              <a:tr h="613410">
                <a:tc>
                  <a:txBody>
                    <a:bodyPr/>
                    <a:lstStyle/>
                    <a:p>
                      <a:pPr algn="ctr">
                        <a:lnSpc>
                          <a:spcPct val="90000"/>
                        </a:lnSpc>
                        <a:buNone/>
                      </a:pPr>
                      <a:r>
                        <a:rPr lang="zh-CN" altLang="en-US" sz="1800" b="1">
                          <a:latin typeface="微软雅黑" panose="020B0503020204020204" pitchFamily="34" charset="-122"/>
                          <a:ea typeface="微软雅黑" panose="020B0503020204020204" pitchFamily="34" charset="-122"/>
                        </a:rPr>
                        <a:t>测试用例编号</a:t>
                      </a:r>
                    </a:p>
                  </a:txBody>
                  <a:tcPr anchor="ctr"/>
                </a:tc>
                <a:tc>
                  <a:txBody>
                    <a:bodyPr/>
                    <a:lstStyle/>
                    <a:p>
                      <a:pPr algn="ctr">
                        <a:lnSpc>
                          <a:spcPct val="90000"/>
                        </a:lnSpc>
                        <a:buNone/>
                      </a:pPr>
                      <a:r>
                        <a:rPr lang="zh-CN" altLang="en-US" sz="1800">
                          <a:latin typeface="微软雅黑" panose="020B0503020204020204" pitchFamily="34" charset="-122"/>
                          <a:ea typeface="微软雅黑" panose="020B0503020204020204" pitchFamily="34" charset="-122"/>
                        </a:rPr>
                        <a:t>测试数据</a:t>
                      </a:r>
                    </a:p>
                  </a:txBody>
                  <a:tcPr anchor="ctr"/>
                </a:tc>
                <a:tc>
                  <a:txBody>
                    <a:bodyPr/>
                    <a:lstStyle/>
                    <a:p>
                      <a:pPr algn="ctr">
                        <a:lnSpc>
                          <a:spcPct val="90000"/>
                        </a:lnSpc>
                        <a:buNone/>
                      </a:pPr>
                      <a:r>
                        <a:rPr lang="zh-CN" altLang="en-US" sz="1800">
                          <a:latin typeface="微软雅黑" panose="020B0503020204020204" pitchFamily="34" charset="-122"/>
                          <a:ea typeface="微软雅黑" panose="020B0503020204020204" pitchFamily="34" charset="-122"/>
                        </a:rPr>
                        <a:t>覆盖等价类编号</a:t>
                      </a:r>
                    </a:p>
                  </a:txBody>
                  <a:tcPr anchor="ctr"/>
                </a:tc>
                <a:tc>
                  <a:txBody>
                    <a:bodyPr/>
                    <a:lstStyle/>
                    <a:p>
                      <a:pPr algn="ctr">
                        <a:lnSpc>
                          <a:spcPct val="90000"/>
                        </a:lnSpc>
                        <a:buNone/>
                      </a:pPr>
                      <a:r>
                        <a:rPr lang="zh-CN" altLang="en-US" sz="1800">
                          <a:latin typeface="微软雅黑" panose="020B0503020204020204" pitchFamily="34" charset="-122"/>
                          <a:ea typeface="微软雅黑" panose="020B0503020204020204" pitchFamily="34" charset="-122"/>
                        </a:rPr>
                        <a:t>预期结果</a:t>
                      </a:r>
                    </a:p>
                  </a:txBody>
                  <a:tcPr anchor="ctr"/>
                </a:tc>
                <a:extLst>
                  <a:ext uri="{0D108BD9-81ED-4DB2-BD59-A6C34878D82A}">
                    <a16:rowId xmlns:a16="http://schemas.microsoft.com/office/drawing/2014/main" val="10000"/>
                  </a:ext>
                </a:extLst>
              </a:tr>
              <a:tr h="598805">
                <a:tc>
                  <a:txBody>
                    <a:bodyPr/>
                    <a:lstStyle/>
                    <a:p>
                      <a:pPr algn="ctr">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test1</a:t>
                      </a:r>
                    </a:p>
                  </a:txBody>
                  <a:tcPr anchor="ctr"/>
                </a:tc>
                <a:tc>
                  <a:txBody>
                    <a:bodyPr/>
                    <a:lstStyle/>
                    <a:p>
                      <a:pPr algn="ctr">
                        <a:buNone/>
                      </a:pPr>
                      <a:r>
                        <a:rPr lang="zh-CN" altLang="en-US" sz="1800" kern="1200" dirty="0">
                          <a:solidFill>
                            <a:srgbClr val="595959"/>
                          </a:solidFill>
                          <a:latin typeface="微软雅黑" panose="020B0503020204020204" pitchFamily="34" charset="-122"/>
                          <a:ea typeface="微软雅黑" panose="020B0503020204020204" pitchFamily="34" charset="-122"/>
                          <a:cs typeface="+mn-cs"/>
                        </a:rPr>
                        <a:t>1</a:t>
                      </a:r>
                      <a:r>
                        <a:rPr lang="en-US" altLang="zh-CN" sz="1800" kern="1200" dirty="0">
                          <a:solidFill>
                            <a:srgbClr val="595959"/>
                          </a:solidFill>
                          <a:latin typeface="微软雅黑" panose="020B0503020204020204" pitchFamily="34" charset="-122"/>
                          <a:ea typeface="微软雅黑" panose="020B0503020204020204" pitchFamily="34" charset="-122"/>
                          <a:cs typeface="+mn-cs"/>
                        </a:rPr>
                        <a:t>23456789</a:t>
                      </a:r>
                      <a:endParaRPr lang="zh-CN" altLang="en-US" sz="1800" kern="1200" dirty="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1</a:t>
                      </a:r>
                    </a:p>
                  </a:txBody>
                  <a:tcPr anchor="ctr"/>
                </a:tc>
                <a:tc>
                  <a:txBody>
                    <a:bodyPr/>
                    <a:lstStyle/>
                    <a:p>
                      <a:pPr algn="ctr">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QQ账号合法</a:t>
                      </a:r>
                    </a:p>
                  </a:txBody>
                  <a:tcPr anchor="ctr"/>
                </a:tc>
                <a:extLst>
                  <a:ext uri="{0D108BD9-81ED-4DB2-BD59-A6C34878D82A}">
                    <a16:rowId xmlns:a16="http://schemas.microsoft.com/office/drawing/2014/main" val="10001"/>
                  </a:ext>
                </a:extLst>
              </a:tr>
              <a:tr h="558165">
                <a:tc>
                  <a:txBody>
                    <a:bodyPr/>
                    <a:lstStyle/>
                    <a:p>
                      <a:pPr algn="ctr">
                        <a:buClrTx/>
                        <a:buSzTx/>
                        <a:buFontTx/>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test</a:t>
                      </a:r>
                      <a:r>
                        <a:rPr lang="en-US" altLang="zh-CN" sz="1800" kern="1200">
                          <a:solidFill>
                            <a:srgbClr val="595959"/>
                          </a:solidFill>
                          <a:latin typeface="微软雅黑" panose="020B0503020204020204" pitchFamily="34" charset="-122"/>
                          <a:ea typeface="微软雅黑" panose="020B0503020204020204" pitchFamily="34" charset="-122"/>
                          <a:cs typeface="+mn-cs"/>
                        </a:rPr>
                        <a:t>2</a:t>
                      </a:r>
                    </a:p>
                  </a:txBody>
                  <a:tcPr anchor="ctr"/>
                </a:tc>
                <a:tc>
                  <a:txBody>
                    <a:bodyPr/>
                    <a:lstStyle/>
                    <a:p>
                      <a:pPr algn="ctr">
                        <a:buNone/>
                      </a:pPr>
                      <a:r>
                        <a:rPr lang="zh-CN" altLang="en-US" sz="1800" kern="1200" dirty="0">
                          <a:solidFill>
                            <a:srgbClr val="595959"/>
                          </a:solidFill>
                          <a:latin typeface="微软雅黑" panose="020B0503020204020204" pitchFamily="34" charset="-122"/>
                          <a:ea typeface="微软雅黑" panose="020B0503020204020204" pitchFamily="34" charset="-122"/>
                          <a:cs typeface="+mn-cs"/>
                        </a:rPr>
                        <a:t>12345</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2</a:t>
                      </a:r>
                    </a:p>
                  </a:txBody>
                  <a:tcPr anchor="ctr"/>
                </a:tc>
                <a:tc>
                  <a:txBody>
                    <a:bodyPr/>
                    <a:lstStyle/>
                    <a:p>
                      <a:pPr algn="ctr">
                        <a:buNone/>
                      </a:pPr>
                      <a:r>
                        <a:rPr lang="zh-CN" altLang="en-US" sz="1800" kern="1200">
                          <a:solidFill>
                            <a:srgbClr val="595959"/>
                          </a:solidFill>
                          <a:latin typeface="微软雅黑" panose="020B0503020204020204" pitchFamily="34" charset="-122"/>
                          <a:ea typeface="微软雅黑" panose="020B0503020204020204" pitchFamily="34" charset="-122"/>
                          <a:cs typeface="+mn-cs"/>
                          <a:sym typeface="+mn-ea"/>
                        </a:rPr>
                        <a:t>QQ账号不合法</a:t>
                      </a:r>
                      <a:endParaRPr lang="zh-CN" altLang="en-US" sz="1800" kern="1200">
                        <a:solidFill>
                          <a:srgbClr val="595959"/>
                        </a:solidFill>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10002"/>
                  </a:ext>
                </a:extLst>
              </a:tr>
              <a:tr h="565150">
                <a:tc>
                  <a:txBody>
                    <a:bodyPr/>
                    <a:lstStyle/>
                    <a:p>
                      <a:pPr algn="ctr">
                        <a:buClrTx/>
                        <a:buSzTx/>
                        <a:buFontTx/>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test</a:t>
                      </a:r>
                      <a:r>
                        <a:rPr lang="en-US" altLang="zh-CN" sz="1800" kern="1200">
                          <a:solidFill>
                            <a:srgbClr val="595959"/>
                          </a:solidFill>
                          <a:latin typeface="微软雅黑" panose="020B0503020204020204" pitchFamily="34" charset="-122"/>
                          <a:ea typeface="微软雅黑" panose="020B0503020204020204" pitchFamily="34" charset="-122"/>
                          <a:cs typeface="+mn-cs"/>
                        </a:rPr>
                        <a:t>3</a:t>
                      </a:r>
                    </a:p>
                  </a:txBody>
                  <a:tcPr anchor="ctr"/>
                </a:tc>
                <a:tc>
                  <a:txBody>
                    <a:bodyPr/>
                    <a:lstStyle/>
                    <a:p>
                      <a:pPr algn="ctr">
                        <a:buNone/>
                      </a:pPr>
                      <a:r>
                        <a:rPr lang="en-US" altLang="zh-CN" sz="1800" kern="1200" dirty="0">
                          <a:solidFill>
                            <a:srgbClr val="595959"/>
                          </a:solidFill>
                          <a:latin typeface="微软雅黑" panose="020B0503020204020204" pitchFamily="34" charset="-122"/>
                          <a:ea typeface="微软雅黑" panose="020B0503020204020204" pitchFamily="34" charset="-122"/>
                          <a:cs typeface="+mn-cs"/>
                        </a:rPr>
                        <a:t>123456789012</a:t>
                      </a:r>
                      <a:endParaRPr lang="zh-CN" altLang="en-US" sz="1800" kern="1200" dirty="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3</a:t>
                      </a:r>
                    </a:p>
                  </a:txBody>
                  <a:tcPr anchor="ctr"/>
                </a:tc>
                <a:tc>
                  <a:txBody>
                    <a:bodyPr/>
                    <a:lstStyle/>
                    <a:p>
                      <a:pPr algn="ctr">
                        <a:buNone/>
                      </a:pPr>
                      <a:r>
                        <a:rPr lang="zh-CN" altLang="en-US" sz="1800" kern="1200">
                          <a:solidFill>
                            <a:srgbClr val="595959"/>
                          </a:solidFill>
                          <a:latin typeface="微软雅黑" panose="020B0503020204020204" pitchFamily="34" charset="-122"/>
                          <a:ea typeface="微软雅黑" panose="020B0503020204020204" pitchFamily="34" charset="-122"/>
                          <a:cs typeface="+mn-cs"/>
                          <a:sym typeface="+mn-ea"/>
                        </a:rPr>
                        <a:t>QQ账号不合法</a:t>
                      </a:r>
                      <a:endParaRPr lang="zh-CN" altLang="en-US" sz="1800" kern="1200">
                        <a:solidFill>
                          <a:srgbClr val="595959"/>
                        </a:solidFill>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10003"/>
                  </a:ext>
                </a:extLst>
              </a:tr>
              <a:tr h="574040">
                <a:tc>
                  <a:txBody>
                    <a:bodyPr/>
                    <a:lstStyle/>
                    <a:p>
                      <a:pPr algn="ctr">
                        <a:buClrTx/>
                        <a:buSzTx/>
                        <a:buFontTx/>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test</a:t>
                      </a:r>
                      <a:r>
                        <a:rPr lang="en-US" altLang="zh-CN" sz="1800" kern="1200">
                          <a:solidFill>
                            <a:srgbClr val="595959"/>
                          </a:solidFill>
                          <a:latin typeface="微软雅黑" panose="020B0503020204020204" pitchFamily="34" charset="-122"/>
                          <a:ea typeface="微软雅黑" panose="020B0503020204020204" pitchFamily="34" charset="-122"/>
                          <a:cs typeface="+mn-cs"/>
                        </a:rPr>
                        <a:t>4</a:t>
                      </a:r>
                    </a:p>
                  </a:txBody>
                  <a:tcPr anchor="ctr"/>
                </a:tc>
                <a:tc>
                  <a:txBody>
                    <a:bodyPr/>
                    <a:lstStyle/>
                    <a:p>
                      <a:pPr algn="ctr">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1234@&amp;</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4</a:t>
                      </a:r>
                    </a:p>
                  </a:txBody>
                  <a:tcPr anchor="ctr"/>
                </a:tc>
                <a:tc>
                  <a:txBody>
                    <a:bodyPr/>
                    <a:lstStyle/>
                    <a:p>
                      <a:pPr algn="ctr">
                        <a:buNone/>
                      </a:pPr>
                      <a:r>
                        <a:rPr lang="zh-CN" altLang="en-US" sz="1800" kern="1200">
                          <a:solidFill>
                            <a:srgbClr val="595959"/>
                          </a:solidFill>
                          <a:latin typeface="微软雅黑" panose="020B0503020204020204" pitchFamily="34" charset="-122"/>
                          <a:ea typeface="微软雅黑" panose="020B0503020204020204" pitchFamily="34" charset="-122"/>
                          <a:cs typeface="+mn-cs"/>
                          <a:sym typeface="+mn-ea"/>
                        </a:rPr>
                        <a:t>QQ账号不合法</a:t>
                      </a:r>
                      <a:endParaRPr lang="zh-CN" altLang="en-US" sz="1800" kern="1200">
                        <a:solidFill>
                          <a:srgbClr val="595959"/>
                        </a:solidFill>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10004"/>
                  </a:ext>
                </a:extLst>
              </a:tr>
              <a:tr h="525780">
                <a:tc>
                  <a:txBody>
                    <a:bodyPr/>
                    <a:lstStyle/>
                    <a:p>
                      <a:pPr algn="ctr">
                        <a:buClrTx/>
                        <a:buSzTx/>
                        <a:buFontTx/>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test</a:t>
                      </a:r>
                      <a:r>
                        <a:rPr lang="en-US" altLang="zh-CN" sz="1800" kern="1200">
                          <a:solidFill>
                            <a:srgbClr val="595959"/>
                          </a:solidFill>
                          <a:latin typeface="微软雅黑" panose="020B0503020204020204" pitchFamily="34" charset="-122"/>
                          <a:ea typeface="微软雅黑" panose="020B0503020204020204" pitchFamily="34" charset="-122"/>
                          <a:cs typeface="+mn-cs"/>
                        </a:rPr>
                        <a:t>5</a:t>
                      </a:r>
                    </a:p>
                  </a:txBody>
                  <a:tcPr anchor="ctr"/>
                </a:tc>
                <a:tc>
                  <a:txBody>
                    <a:bodyPr/>
                    <a:lstStyle/>
                    <a:p>
                      <a:pPr algn="ctr">
                        <a:buNone/>
                      </a:pPr>
                      <a:r>
                        <a:rPr lang="en-US" altLang="zh-CN" sz="1800" kern="1200" dirty="0">
                          <a:solidFill>
                            <a:srgbClr val="595959"/>
                          </a:solidFill>
                          <a:latin typeface="微软雅黑" panose="020B0503020204020204" pitchFamily="34" charset="-122"/>
                          <a:ea typeface="微软雅黑" panose="020B0503020204020204" pitchFamily="34" charset="-122"/>
                          <a:cs typeface="+mn-cs"/>
                        </a:rPr>
                        <a:t>null</a:t>
                      </a:r>
                      <a:endParaRPr lang="zh-CN" altLang="en-US" sz="1800" kern="1200" dirty="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5</a:t>
                      </a:r>
                    </a:p>
                  </a:txBody>
                  <a:tcPr anchor="ctr"/>
                </a:tc>
                <a:tc>
                  <a:txBody>
                    <a:bodyPr/>
                    <a:lstStyle/>
                    <a:p>
                      <a:pPr algn="ctr">
                        <a:buNone/>
                      </a:pPr>
                      <a:r>
                        <a:rPr lang="zh-CN" altLang="en-US" sz="1800" kern="1200">
                          <a:solidFill>
                            <a:srgbClr val="595959"/>
                          </a:solidFill>
                          <a:latin typeface="微软雅黑" panose="020B0503020204020204" pitchFamily="34" charset="-122"/>
                          <a:ea typeface="微软雅黑" panose="020B0503020204020204" pitchFamily="34" charset="-122"/>
                          <a:cs typeface="+mn-cs"/>
                          <a:sym typeface="+mn-ea"/>
                        </a:rPr>
                        <a:t>QQ账号不合法</a:t>
                      </a:r>
                      <a:endParaRPr lang="zh-CN" altLang="en-US" sz="1800" kern="1200">
                        <a:solidFill>
                          <a:srgbClr val="595959"/>
                        </a:solidFill>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10005"/>
                  </a:ext>
                </a:extLst>
              </a:tr>
              <a:tr h="565150">
                <a:tc>
                  <a:txBody>
                    <a:bodyPr/>
                    <a:lstStyle/>
                    <a:p>
                      <a:pPr algn="ctr">
                        <a:buClrTx/>
                        <a:buSzTx/>
                        <a:buFontTx/>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test</a:t>
                      </a:r>
                      <a:r>
                        <a:rPr lang="en-US" altLang="zh-CN" sz="1800" kern="1200">
                          <a:solidFill>
                            <a:srgbClr val="595959"/>
                          </a:solidFill>
                          <a:latin typeface="微软雅黑" panose="020B0503020204020204" pitchFamily="34" charset="-122"/>
                          <a:ea typeface="微软雅黑" panose="020B0503020204020204" pitchFamily="34" charset="-122"/>
                          <a:cs typeface="+mn-cs"/>
                        </a:rPr>
                        <a:t>6</a:t>
                      </a:r>
                    </a:p>
                  </a:txBody>
                  <a:tcPr anchor="ctr"/>
                </a:tc>
                <a:tc>
                  <a:txBody>
                    <a:bodyPr/>
                    <a:lstStyle/>
                    <a:p>
                      <a:pPr algn="ctr">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@#&amp;88888888</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6</a:t>
                      </a:r>
                    </a:p>
                  </a:txBody>
                  <a:tcPr anchor="ctr"/>
                </a:tc>
                <a:tc>
                  <a:txBody>
                    <a:bodyPr/>
                    <a:lstStyle/>
                    <a:p>
                      <a:pPr algn="ctr">
                        <a:buNone/>
                      </a:pPr>
                      <a:r>
                        <a:rPr lang="zh-CN" altLang="en-US" sz="1800" kern="1200" dirty="0">
                          <a:solidFill>
                            <a:srgbClr val="595959"/>
                          </a:solidFill>
                          <a:latin typeface="微软雅黑" panose="020B0503020204020204" pitchFamily="34" charset="-122"/>
                          <a:ea typeface="微软雅黑" panose="020B0503020204020204" pitchFamily="34" charset="-122"/>
                          <a:cs typeface="+mn-cs"/>
                          <a:sym typeface="+mn-ea"/>
                        </a:rPr>
                        <a:t>QQ账号不合法</a:t>
                      </a:r>
                      <a:endParaRPr lang="zh-CN" altLang="en-US" sz="1800" kern="1200" dirty="0">
                        <a:solidFill>
                          <a:srgbClr val="595959"/>
                        </a:solidFill>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10006"/>
                  </a:ext>
                </a:extLst>
              </a:tr>
            </a:tbl>
          </a:graphicData>
        </a:graphic>
      </p:graphicFrame>
      <p:sp>
        <p:nvSpPr>
          <p:cNvPr id="2" name="Title 1"/>
          <p:cNvSpPr txBox="1"/>
          <p:nvPr/>
        </p:nvSpPr>
        <p:spPr>
          <a:xfrm>
            <a:off x="1143635" y="266700"/>
            <a:ext cx="644271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2.1.2	实例一：QQ账号合法性的等价类划分</a:t>
            </a:r>
          </a:p>
        </p:txBody>
      </p:sp>
      <p:sp>
        <p:nvSpPr>
          <p:cNvPr id="16" name="TextBox 35"/>
          <p:cNvSpPr txBox="1">
            <a:spLocks noChangeArrowheads="1"/>
          </p:cNvSpPr>
          <p:nvPr/>
        </p:nvSpPr>
        <p:spPr bwMode="auto">
          <a:xfrm>
            <a:off x="1199515" y="909955"/>
            <a:ext cx="6474460" cy="6623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no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buClrTx/>
              <a:buSzTx/>
              <a:buFontTx/>
            </a:pPr>
            <a:r>
              <a:rPr lang="zh-CN" altLang="en-US" sz="2000">
                <a:solidFill>
                  <a:srgbClr val="595959"/>
                </a:solidFill>
                <a:latin typeface="微软雅黑" panose="020B0503020204020204" pitchFamily="34" charset="-122"/>
                <a:ea typeface="微软雅黑" panose="020B0503020204020204" pitchFamily="34" charset="-122"/>
              </a:rPr>
              <a:t>基于等价类划分</a:t>
            </a:r>
            <a:r>
              <a:rPr lang="zh-CN" altLang="en-US" sz="2000" dirty="0">
                <a:solidFill>
                  <a:srgbClr val="595959"/>
                </a:solidFill>
                <a:latin typeface="微软雅黑" panose="020B0503020204020204" pitchFamily="34" charset="-122"/>
                <a:ea typeface="微软雅黑" panose="020B0503020204020204" pitchFamily="34" charset="-122"/>
              </a:rPr>
              <a:t>法设计</a:t>
            </a:r>
            <a:r>
              <a:rPr lang="zh-CN" altLang="en-US" sz="2000" dirty="0">
                <a:solidFill>
                  <a:srgbClr val="0070C0"/>
                </a:solidFill>
                <a:latin typeface="微软雅黑" panose="020B0503020204020204" pitchFamily="34" charset="-122"/>
                <a:ea typeface="微软雅黑" panose="020B0503020204020204" pitchFamily="34" charset="-122"/>
              </a:rPr>
              <a:t>QQ账号的测试用例</a:t>
            </a:r>
            <a:r>
              <a:rPr lang="zh-CN" altLang="en-US" sz="2000" dirty="0">
                <a:solidFill>
                  <a:srgbClr val="595959"/>
                </a:solidFill>
                <a:latin typeface="微软雅黑" panose="020B0503020204020204" pitchFamily="34" charset="-122"/>
                <a:ea typeface="微软雅黑" panose="020B0503020204020204" pitchFamily="34" charset="-122"/>
              </a:rPr>
              <a:t>如下表所示。</a:t>
            </a:r>
          </a:p>
          <a:p>
            <a:pPr algn="just">
              <a:lnSpc>
                <a:spcPct val="150000"/>
              </a:lnSpc>
              <a:buClrTx/>
              <a:buSzTx/>
              <a:buFontTx/>
            </a:pPr>
            <a:endParaRPr lang="zh-CN" altLang="en-US" sz="2000" dirty="0">
              <a:solidFill>
                <a:srgbClr val="595959"/>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p:cNvPicPr>
            <a:picLocks noChangeAspect="1"/>
          </p:cNvPicPr>
          <p:nvPr/>
        </p:nvPicPr>
        <p:blipFill>
          <a:blip r:embed="rId3"/>
          <a:stretch>
            <a:fillRect/>
          </a:stretch>
        </p:blipFill>
        <p:spPr>
          <a:xfrm>
            <a:off x="944880" y="2215515"/>
            <a:ext cx="2797810" cy="3898265"/>
          </a:xfrm>
          <a:prstGeom prst="rect">
            <a:avLst/>
          </a:prstGeom>
        </p:spPr>
      </p:pic>
      <p:sp>
        <p:nvSpPr>
          <p:cNvPr id="13" name="椭圆形标注 12"/>
          <p:cNvSpPr/>
          <p:nvPr/>
        </p:nvSpPr>
        <p:spPr>
          <a:xfrm>
            <a:off x="2968625" y="156019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p>
        </p:txBody>
      </p:sp>
      <p:sp>
        <p:nvSpPr>
          <p:cNvPr id="14" name="TextBox 35"/>
          <p:cNvSpPr txBox="1">
            <a:spLocks noChangeArrowheads="1"/>
          </p:cNvSpPr>
          <p:nvPr/>
        </p:nvSpPr>
        <p:spPr bwMode="auto">
          <a:xfrm>
            <a:off x="3247390" y="163830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p>
        </p:txBody>
      </p:sp>
      <p:sp>
        <p:nvSpPr>
          <p:cNvPr id="15" name="TextBox 35"/>
          <p:cNvSpPr txBox="1">
            <a:spLocks noChangeArrowheads="1"/>
          </p:cNvSpPr>
          <p:nvPr/>
        </p:nvSpPr>
        <p:spPr bwMode="auto">
          <a:xfrm>
            <a:off x="5433060" y="3213735"/>
            <a:ext cx="6242685" cy="10439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defRPr/>
            </a:pPr>
            <a:r>
              <a:rPr sz="200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掌握</a:t>
            </a:r>
            <a:r>
              <a:rPr lang="zh-CN" sz="200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三角形问题的等价类划分</a:t>
            </a:r>
            <a:r>
              <a:rPr sz="200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，能够</a:t>
            </a:r>
            <a:r>
              <a:rPr lang="zh-CN" sz="2000">
                <a:solidFill>
                  <a:srgbClr val="0070C0"/>
                </a:solidFill>
                <a:latin typeface="微软雅黑" panose="020B0503020204020204" pitchFamily="34" charset="-122"/>
                <a:ea typeface="微软雅黑" panose="020B0503020204020204" pitchFamily="34" charset="-122"/>
                <a:cs typeface="+mn-ea"/>
                <a:sym typeface="字魂58号-创中黑" panose="00000500000000000000" pitchFamily="2" charset="-122"/>
              </a:rPr>
              <a:t>建立</a:t>
            </a:r>
            <a:r>
              <a:rPr sz="2000">
                <a:solidFill>
                  <a:srgbClr val="0070C0"/>
                </a:solidFill>
                <a:latin typeface="微软雅黑" panose="020B0503020204020204" pitchFamily="34" charset="-122"/>
                <a:ea typeface="微软雅黑" panose="020B0503020204020204" pitchFamily="34" charset="-122"/>
                <a:cs typeface="+mn-ea"/>
                <a:sym typeface="字魂58号-创中黑" panose="00000500000000000000" pitchFamily="2" charset="-122"/>
              </a:rPr>
              <a:t>三角形输入等价类表</a:t>
            </a:r>
            <a:r>
              <a:rPr lang="zh-CN" sz="200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a:t>
            </a:r>
            <a:r>
              <a:rPr lang="zh-CN" sz="2000">
                <a:solidFill>
                  <a:srgbClr val="0070C0"/>
                </a:solidFill>
                <a:latin typeface="微软雅黑" panose="020B0503020204020204" pitchFamily="34" charset="-122"/>
                <a:ea typeface="微软雅黑" panose="020B0503020204020204" pitchFamily="34" charset="-122"/>
                <a:cs typeface="+mn-ea"/>
                <a:sym typeface="字魂58号-创中黑" panose="00000500000000000000" pitchFamily="2" charset="-122"/>
              </a:rPr>
              <a:t>设计覆盖有效与无效等价类的测试用例</a:t>
            </a:r>
          </a:p>
        </p:txBody>
      </p:sp>
      <p:grpSp>
        <p:nvGrpSpPr>
          <p:cNvPr id="19" name="组合 18"/>
          <p:cNvGrpSpPr/>
          <p:nvPr/>
        </p:nvGrpSpPr>
        <p:grpSpPr>
          <a:xfrm>
            <a:off x="4949825" y="3540125"/>
            <a:ext cx="445770" cy="405130"/>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Title 1"/>
          <p:cNvSpPr txBox="1"/>
          <p:nvPr/>
        </p:nvSpPr>
        <p:spPr>
          <a:xfrm>
            <a:off x="1143635" y="266700"/>
            <a:ext cx="644271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2.1.3	实例二：三角形问题的等价类划分</a:t>
            </a: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143635" y="266700"/>
            <a:ext cx="644271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2.1.3	实例二：三角形问题的等价类划分</a:t>
            </a:r>
          </a:p>
        </p:txBody>
      </p:sp>
      <p:sp>
        <p:nvSpPr>
          <p:cNvPr id="37" name="原创设计师QQ598969553          _3"/>
          <p:cNvSpPr/>
          <p:nvPr/>
        </p:nvSpPr>
        <p:spPr>
          <a:xfrm>
            <a:off x="1271270" y="1843405"/>
            <a:ext cx="4469130" cy="3642360"/>
          </a:xfrm>
          <a:prstGeom prst="roundRect">
            <a:avLst>
              <a:gd name="adj" fmla="val 9083"/>
            </a:avLst>
          </a:prstGeom>
          <a:noFill/>
          <a:ln>
            <a:solidFill>
              <a:srgbClr val="ADBAC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n-ea"/>
              <a:sym typeface="+mn-lt"/>
            </a:endParaRPr>
          </a:p>
        </p:txBody>
      </p:sp>
      <p:sp>
        <p:nvSpPr>
          <p:cNvPr id="38" name="原创设计师QQ598969553          _6"/>
          <p:cNvSpPr/>
          <p:nvPr/>
        </p:nvSpPr>
        <p:spPr>
          <a:xfrm>
            <a:off x="1687303" y="1583494"/>
            <a:ext cx="1656184" cy="519694"/>
          </a:xfrm>
          <a:prstGeom prst="roundRect">
            <a:avLst/>
          </a:prstGeom>
          <a:solidFill>
            <a:srgbClr val="0070C0"/>
          </a:solidFill>
          <a:ln>
            <a:noFill/>
          </a:ln>
          <a:effectLst>
            <a:outerShdw blurRad="101600" dist="762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rIns="182880" rtlCol="0" anchor="ctr" anchorCtr="0"/>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1450340"/>
            <a:r>
              <a:rPr lang="zh-CN" altLang="en-US" sz="2000">
                <a:solidFill>
                  <a:schemeClr val="bg1"/>
                </a:solidFill>
                <a:latin typeface="微软雅黑" panose="020B0503020204020204" pitchFamily="34" charset="-122"/>
                <a:ea typeface="微软雅黑" panose="020B0503020204020204" pitchFamily="34" charset="-122"/>
                <a:cs typeface="+mn-ea"/>
                <a:sym typeface="+mn-lt"/>
              </a:rPr>
              <a:t>案例描述</a:t>
            </a:r>
          </a:p>
        </p:txBody>
      </p:sp>
      <p:sp>
        <p:nvSpPr>
          <p:cNvPr id="4" name="TextBox 35"/>
          <p:cNvSpPr txBox="1">
            <a:spLocks noChangeArrowheads="1"/>
          </p:cNvSpPr>
          <p:nvPr/>
        </p:nvSpPr>
        <p:spPr bwMode="auto">
          <a:xfrm>
            <a:off x="1559560" y="2203450"/>
            <a:ext cx="3909060" cy="30753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buClrTx/>
              <a:buSzTx/>
              <a:buFontTx/>
            </a:pPr>
            <a:r>
              <a:rPr lang="zh-CN" altLang="en-US" sz="1600" dirty="0">
                <a:solidFill>
                  <a:srgbClr val="595959"/>
                </a:solidFill>
                <a:latin typeface="微软雅黑" panose="020B0503020204020204" pitchFamily="34" charset="-122"/>
                <a:ea typeface="微软雅黑" panose="020B0503020204020204" pitchFamily="34" charset="-122"/>
              </a:rPr>
              <a:t>三角形问题是测试中广泛使用的一个经典案例，它要求输入3个正数a、b、c作为</a:t>
            </a:r>
            <a:r>
              <a:rPr lang="zh-CN" altLang="en-US" sz="1600">
                <a:solidFill>
                  <a:srgbClr val="595959"/>
                </a:solidFill>
                <a:latin typeface="微软雅黑" panose="020B0503020204020204" pitchFamily="34" charset="-122"/>
                <a:ea typeface="微软雅黑" panose="020B0503020204020204" pitchFamily="34" charset="-122"/>
              </a:rPr>
              <a:t>三角形的</a:t>
            </a:r>
            <a:r>
              <a:rPr lang="en-US" altLang="zh-CN" sz="1600">
                <a:solidFill>
                  <a:srgbClr val="595959"/>
                </a:solidFill>
                <a:latin typeface="微软雅黑" panose="020B0503020204020204" pitchFamily="34" charset="-122"/>
                <a:ea typeface="微软雅黑" panose="020B0503020204020204" pitchFamily="34" charset="-122"/>
              </a:rPr>
              <a:t>3</a:t>
            </a:r>
            <a:r>
              <a:rPr lang="zh-CN" altLang="en-US" sz="1600">
                <a:solidFill>
                  <a:srgbClr val="595959"/>
                </a:solidFill>
                <a:latin typeface="微软雅黑" panose="020B0503020204020204" pitchFamily="34" charset="-122"/>
                <a:ea typeface="微软雅黑" panose="020B0503020204020204" pitchFamily="34" charset="-122"/>
              </a:rPr>
              <a:t>条</a:t>
            </a:r>
            <a:r>
              <a:rPr lang="zh-CN" altLang="en-US" sz="1600" dirty="0">
                <a:solidFill>
                  <a:srgbClr val="595959"/>
                </a:solidFill>
                <a:latin typeface="微软雅黑" panose="020B0503020204020204" pitchFamily="34" charset="-122"/>
                <a:ea typeface="微软雅黑" panose="020B0503020204020204" pitchFamily="34" charset="-122"/>
              </a:rPr>
              <a:t>边，</a:t>
            </a:r>
            <a:r>
              <a:rPr lang="zh-CN" altLang="en-US" sz="1600" dirty="0">
                <a:solidFill>
                  <a:srgbClr val="0070C0"/>
                </a:solidFill>
                <a:latin typeface="微软雅黑" panose="020B0503020204020204" pitchFamily="34" charset="-122"/>
                <a:ea typeface="微软雅黑" panose="020B0503020204020204" pitchFamily="34" charset="-122"/>
              </a:rPr>
              <a:t>判断这3个数构成</a:t>
            </a:r>
            <a:r>
              <a:rPr lang="zh-CN" altLang="en-US" sz="1600" dirty="0">
                <a:solidFill>
                  <a:srgbClr val="595959"/>
                </a:solidFill>
                <a:latin typeface="微软雅黑" panose="020B0503020204020204" pitchFamily="34" charset="-122"/>
                <a:ea typeface="微软雅黑" panose="020B0503020204020204" pitchFamily="34" charset="-122"/>
              </a:rPr>
              <a:t>的是</a:t>
            </a:r>
            <a:r>
              <a:rPr lang="zh-CN" altLang="en-US" sz="1600" dirty="0">
                <a:solidFill>
                  <a:srgbClr val="0070C0"/>
                </a:solidFill>
                <a:latin typeface="微软雅黑" panose="020B0503020204020204" pitchFamily="34" charset="-122"/>
                <a:ea typeface="微软雅黑" panose="020B0503020204020204" pitchFamily="34" charset="-122"/>
              </a:rPr>
              <a:t>一般三角形</a:t>
            </a:r>
            <a:r>
              <a:rPr lang="zh-CN" altLang="en-US" sz="1600" dirty="0">
                <a:solidFill>
                  <a:srgbClr val="595959"/>
                </a:solidFill>
                <a:latin typeface="微软雅黑" panose="020B0503020204020204" pitchFamily="34" charset="-122"/>
                <a:ea typeface="微软雅黑" panose="020B0503020204020204" pitchFamily="34" charset="-122"/>
              </a:rPr>
              <a:t>、</a:t>
            </a:r>
            <a:r>
              <a:rPr lang="zh-CN" altLang="en-US" sz="1600" dirty="0">
                <a:solidFill>
                  <a:srgbClr val="0070C0"/>
                </a:solidFill>
                <a:latin typeface="微软雅黑" panose="020B0503020204020204" pitchFamily="34" charset="-122"/>
                <a:ea typeface="微软雅黑" panose="020B0503020204020204" pitchFamily="34" charset="-122"/>
              </a:rPr>
              <a:t>等边三角形</a:t>
            </a:r>
            <a:r>
              <a:rPr lang="zh-CN" altLang="en-US" sz="1600" dirty="0">
                <a:solidFill>
                  <a:srgbClr val="595959"/>
                </a:solidFill>
                <a:latin typeface="微软雅黑" panose="020B0503020204020204" pitchFamily="34" charset="-122"/>
                <a:ea typeface="微软雅黑" panose="020B0503020204020204" pitchFamily="34" charset="-122"/>
              </a:rPr>
              <a:t>、</a:t>
            </a:r>
            <a:r>
              <a:rPr lang="zh-CN" altLang="en-US" sz="1600" dirty="0">
                <a:solidFill>
                  <a:srgbClr val="0070C0"/>
                </a:solidFill>
                <a:latin typeface="微软雅黑" panose="020B0503020204020204" pitchFamily="34" charset="-122"/>
                <a:ea typeface="微软雅黑" panose="020B0503020204020204" pitchFamily="34" charset="-122"/>
              </a:rPr>
              <a:t>等腰三角形</a:t>
            </a:r>
            <a:r>
              <a:rPr lang="zh-CN" altLang="en-US" sz="1600" dirty="0">
                <a:solidFill>
                  <a:srgbClr val="595959"/>
                </a:solidFill>
                <a:latin typeface="微软雅黑" panose="020B0503020204020204" pitchFamily="34" charset="-122"/>
                <a:ea typeface="微软雅黑" panose="020B0503020204020204" pitchFamily="34" charset="-122"/>
              </a:rPr>
              <a:t>，还是</a:t>
            </a:r>
            <a:r>
              <a:rPr lang="zh-CN" altLang="en-US" sz="1600" dirty="0">
                <a:solidFill>
                  <a:srgbClr val="0070C0"/>
                </a:solidFill>
                <a:latin typeface="微软雅黑" panose="020B0503020204020204" pitchFamily="34" charset="-122"/>
                <a:ea typeface="微软雅黑" panose="020B0503020204020204" pitchFamily="34" charset="-122"/>
              </a:rPr>
              <a:t>无法构成三角形</a:t>
            </a:r>
            <a:r>
              <a:rPr lang="zh-CN" altLang="en-US" sz="1600" dirty="0">
                <a:solidFill>
                  <a:srgbClr val="595959"/>
                </a:solidFill>
                <a:latin typeface="微软雅黑" panose="020B0503020204020204" pitchFamily="34" charset="-122"/>
                <a:ea typeface="微软雅黑" panose="020B0503020204020204" pitchFamily="34" charset="-122"/>
              </a:rPr>
              <a:t>。如果使用等价类划分法设计三角形程序的测试用例，则需要</a:t>
            </a:r>
            <a:r>
              <a:rPr lang="zh-CN" altLang="en-US" sz="1600" dirty="0">
                <a:solidFill>
                  <a:srgbClr val="0070C0"/>
                </a:solidFill>
                <a:latin typeface="微软雅黑" panose="020B0503020204020204" pitchFamily="34" charset="-122"/>
                <a:ea typeface="微软雅黑" panose="020B0503020204020204" pitchFamily="34" charset="-122"/>
              </a:rPr>
              <a:t>将所有输入数据划分为不同的等价类</a:t>
            </a:r>
            <a:r>
              <a:rPr lang="zh-CN" altLang="en-US" sz="1600" dirty="0">
                <a:solidFill>
                  <a:srgbClr val="595959"/>
                </a:solidFill>
                <a:latin typeface="微软雅黑" panose="020B0503020204020204" pitchFamily="34" charset="-122"/>
                <a:ea typeface="微软雅黑" panose="020B0503020204020204" pitchFamily="34" charset="-122"/>
              </a:rPr>
              <a:t>。</a:t>
            </a:r>
          </a:p>
          <a:p>
            <a:pPr algn="just">
              <a:lnSpc>
                <a:spcPct val="150000"/>
              </a:lnSpc>
              <a:buClrTx/>
              <a:buSzTx/>
              <a:buFontTx/>
            </a:pPr>
            <a:endParaRPr lang="zh-CN" altLang="en-US" sz="1600" dirty="0">
              <a:solidFill>
                <a:srgbClr val="595959"/>
              </a:solidFill>
              <a:latin typeface="微软雅黑" panose="020B0503020204020204" pitchFamily="34" charset="-122"/>
              <a:ea typeface="微软雅黑" panose="020B0503020204020204" pitchFamily="34" charset="-122"/>
            </a:endParaRPr>
          </a:p>
        </p:txBody>
      </p:sp>
      <p:sp>
        <p:nvSpPr>
          <p:cNvPr id="8" name="原创设计师QQ598969553          _3"/>
          <p:cNvSpPr/>
          <p:nvPr/>
        </p:nvSpPr>
        <p:spPr>
          <a:xfrm>
            <a:off x="6671310" y="1842770"/>
            <a:ext cx="4469130" cy="3642360"/>
          </a:xfrm>
          <a:prstGeom prst="roundRect">
            <a:avLst>
              <a:gd name="adj" fmla="val 9083"/>
            </a:avLst>
          </a:prstGeom>
          <a:noFill/>
          <a:ln>
            <a:solidFill>
              <a:srgbClr val="ADBAC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n-ea"/>
              <a:sym typeface="+mn-lt"/>
            </a:endParaRPr>
          </a:p>
        </p:txBody>
      </p:sp>
      <p:sp>
        <p:nvSpPr>
          <p:cNvPr id="9" name="原创设计师QQ598969553          _6"/>
          <p:cNvSpPr/>
          <p:nvPr/>
        </p:nvSpPr>
        <p:spPr>
          <a:xfrm>
            <a:off x="7087343" y="1582859"/>
            <a:ext cx="1656184" cy="519694"/>
          </a:xfrm>
          <a:prstGeom prst="roundRect">
            <a:avLst/>
          </a:prstGeom>
          <a:solidFill>
            <a:srgbClr val="0070C0"/>
          </a:solidFill>
          <a:ln>
            <a:noFill/>
          </a:ln>
          <a:effectLst>
            <a:outerShdw blurRad="101600" dist="762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rIns="182880" rtlCol="0" anchor="ctr" anchorCtr="0"/>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1450340"/>
            <a:r>
              <a:rPr lang="zh-CN" altLang="en-US" sz="2000">
                <a:solidFill>
                  <a:schemeClr val="bg1"/>
                </a:solidFill>
                <a:latin typeface="微软雅黑" panose="020B0503020204020204" pitchFamily="34" charset="-122"/>
                <a:ea typeface="微软雅黑" panose="020B0503020204020204" pitchFamily="34" charset="-122"/>
                <a:cs typeface="+mn-ea"/>
                <a:sym typeface="+mn-lt"/>
              </a:rPr>
              <a:t>案例分析</a:t>
            </a:r>
          </a:p>
        </p:txBody>
      </p:sp>
      <p:sp>
        <p:nvSpPr>
          <p:cNvPr id="10" name="TextBox 35"/>
          <p:cNvSpPr txBox="1">
            <a:spLocks noChangeArrowheads="1"/>
          </p:cNvSpPr>
          <p:nvPr/>
        </p:nvSpPr>
        <p:spPr bwMode="auto">
          <a:xfrm>
            <a:off x="6959600" y="2202815"/>
            <a:ext cx="3909060" cy="30753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buClrTx/>
              <a:buSzTx/>
              <a:buFontTx/>
            </a:pPr>
            <a:r>
              <a:rPr lang="zh-CN" altLang="en-US" sz="1600" dirty="0">
                <a:solidFill>
                  <a:srgbClr val="595959"/>
                </a:solidFill>
                <a:latin typeface="微软雅黑" panose="020B0503020204020204" pitchFamily="34" charset="-122"/>
                <a:ea typeface="微软雅黑" panose="020B0503020204020204" pitchFamily="34" charset="-122"/>
                <a:sym typeface="+mn-ea"/>
              </a:rPr>
              <a:t>对该案例进行分析，程序要求输入3个数，并且是正数，在输入3个正数的基础上判断这</a:t>
            </a:r>
            <a:r>
              <a:rPr lang="en-US" altLang="zh-CN" sz="1600" dirty="0">
                <a:solidFill>
                  <a:srgbClr val="595959"/>
                </a:solidFill>
                <a:latin typeface="微软雅黑" panose="020B0503020204020204" pitchFamily="34" charset="-122"/>
                <a:ea typeface="微软雅黑" panose="020B0503020204020204" pitchFamily="34" charset="-122"/>
                <a:sym typeface="+mn-ea"/>
              </a:rPr>
              <a:t>3</a:t>
            </a:r>
            <a:r>
              <a:rPr lang="zh-CN" altLang="en-US" sz="1600" dirty="0">
                <a:solidFill>
                  <a:srgbClr val="595959"/>
                </a:solidFill>
                <a:latin typeface="微软雅黑" panose="020B0503020204020204" pitchFamily="34" charset="-122"/>
                <a:ea typeface="微软雅黑" panose="020B0503020204020204" pitchFamily="34" charset="-122"/>
                <a:sym typeface="+mn-ea"/>
              </a:rPr>
              <a:t>个数能否构成三角形；如果能构成三角形，再判断它构成的三角形是一般三角形、等腰三角形还是等边三角形。如此可以按照相关步骤将输入情况划分为不同的等价类</a:t>
            </a:r>
            <a:r>
              <a:rPr lang="zh-CN" altLang="en-US" sz="1600" dirty="0">
                <a:solidFill>
                  <a:srgbClr val="595959"/>
                </a:solidFill>
                <a:latin typeface="微软雅黑" panose="020B0503020204020204" pitchFamily="34" charset="-122"/>
                <a:ea typeface="微软雅黑" panose="020B0503020204020204" pitchFamily="34" charset="-122"/>
              </a:rPr>
              <a:t>。</a:t>
            </a:r>
          </a:p>
          <a:p>
            <a:pPr algn="just">
              <a:lnSpc>
                <a:spcPct val="150000"/>
              </a:lnSpc>
              <a:buClrTx/>
              <a:buSzTx/>
              <a:buFontTx/>
            </a:pPr>
            <a:endParaRPr lang="zh-CN" altLang="en-US" sz="1600" dirty="0">
              <a:solidFill>
                <a:srgbClr val="595959"/>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143635" y="266700"/>
            <a:ext cx="644271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2.1.3	实例二：三角形问题的等价类划分</a:t>
            </a:r>
          </a:p>
        </p:txBody>
      </p:sp>
      <p:sp>
        <p:nvSpPr>
          <p:cNvPr id="37" name="原创设计师QQ598969553          _3"/>
          <p:cNvSpPr/>
          <p:nvPr/>
        </p:nvSpPr>
        <p:spPr>
          <a:xfrm>
            <a:off x="1271270" y="1843405"/>
            <a:ext cx="4469130" cy="3642360"/>
          </a:xfrm>
          <a:prstGeom prst="roundRect">
            <a:avLst>
              <a:gd name="adj" fmla="val 9083"/>
            </a:avLst>
          </a:prstGeom>
          <a:noFill/>
          <a:ln>
            <a:solidFill>
              <a:srgbClr val="ADBAC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n-ea"/>
              <a:sym typeface="+mn-lt"/>
            </a:endParaRPr>
          </a:p>
        </p:txBody>
      </p:sp>
      <p:sp>
        <p:nvSpPr>
          <p:cNvPr id="38" name="原创设计师QQ598969553          _6"/>
          <p:cNvSpPr/>
          <p:nvPr/>
        </p:nvSpPr>
        <p:spPr>
          <a:xfrm>
            <a:off x="1687303" y="1583494"/>
            <a:ext cx="1656184" cy="519694"/>
          </a:xfrm>
          <a:prstGeom prst="roundRect">
            <a:avLst/>
          </a:prstGeom>
          <a:solidFill>
            <a:srgbClr val="0070C0"/>
          </a:solidFill>
          <a:ln>
            <a:noFill/>
          </a:ln>
          <a:effectLst>
            <a:outerShdw blurRad="101600" dist="762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rIns="182880" rtlCol="0" anchor="ctr" anchorCtr="0"/>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1450340"/>
            <a:r>
              <a:rPr lang="zh-CN" altLang="en-US" sz="2000">
                <a:solidFill>
                  <a:schemeClr val="bg1"/>
                </a:solidFill>
                <a:latin typeface="微软雅黑" panose="020B0503020204020204" pitchFamily="34" charset="-122"/>
                <a:ea typeface="微软雅黑" panose="020B0503020204020204" pitchFamily="34" charset="-122"/>
                <a:cs typeface="+mn-ea"/>
                <a:sym typeface="+mn-lt"/>
              </a:rPr>
              <a:t>第</a:t>
            </a:r>
            <a:r>
              <a:rPr lang="en-US" altLang="zh-CN" sz="2000">
                <a:solidFill>
                  <a:schemeClr val="bg1"/>
                </a:solidFill>
                <a:latin typeface="微软雅黑" panose="020B0503020204020204" pitchFamily="34" charset="-122"/>
                <a:ea typeface="微软雅黑" panose="020B0503020204020204" pitchFamily="34" charset="-122"/>
                <a:cs typeface="+mn-ea"/>
                <a:sym typeface="+mn-lt"/>
              </a:rPr>
              <a:t>1</a:t>
            </a:r>
            <a:r>
              <a:rPr lang="zh-CN" altLang="en-US" sz="2000">
                <a:solidFill>
                  <a:schemeClr val="bg1"/>
                </a:solidFill>
                <a:latin typeface="微软雅黑" panose="020B0503020204020204" pitchFamily="34" charset="-122"/>
                <a:ea typeface="微软雅黑" panose="020B0503020204020204" pitchFamily="34" charset="-122"/>
                <a:cs typeface="+mn-ea"/>
                <a:sym typeface="+mn-lt"/>
              </a:rPr>
              <a:t>步</a:t>
            </a:r>
          </a:p>
        </p:txBody>
      </p:sp>
      <p:sp>
        <p:nvSpPr>
          <p:cNvPr id="4" name="TextBox 35"/>
          <p:cNvSpPr txBox="1">
            <a:spLocks noChangeArrowheads="1"/>
          </p:cNvSpPr>
          <p:nvPr/>
        </p:nvSpPr>
        <p:spPr bwMode="auto">
          <a:xfrm>
            <a:off x="1559560" y="2203450"/>
            <a:ext cx="3909060" cy="3444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buClrTx/>
              <a:buSzTx/>
              <a:buFontTx/>
            </a:pPr>
            <a:r>
              <a:rPr lang="zh-CN" altLang="en-US" sz="1600" dirty="0">
                <a:solidFill>
                  <a:srgbClr val="595959"/>
                </a:solidFill>
                <a:latin typeface="微软雅黑" panose="020B0503020204020204" pitchFamily="34" charset="-122"/>
                <a:ea typeface="微软雅黑" panose="020B0503020204020204" pitchFamily="34" charset="-122"/>
              </a:rPr>
              <a:t>判断是否输入了3个数，可以将输入情况划分成</a:t>
            </a:r>
            <a:r>
              <a:rPr lang="zh-CN" altLang="en-US" sz="1600" dirty="0">
                <a:solidFill>
                  <a:srgbClr val="0070C0"/>
                </a:solidFill>
                <a:latin typeface="微软雅黑" panose="020B0503020204020204" pitchFamily="34" charset="-122"/>
                <a:ea typeface="微软雅黑" panose="020B0503020204020204" pitchFamily="34" charset="-122"/>
              </a:rPr>
              <a:t>1个有效等价类</a:t>
            </a:r>
            <a:r>
              <a:rPr lang="zh-CN" altLang="en-US" sz="1600" dirty="0">
                <a:solidFill>
                  <a:srgbClr val="595959"/>
                </a:solidFill>
                <a:latin typeface="微软雅黑" panose="020B0503020204020204" pitchFamily="34" charset="-122"/>
                <a:ea typeface="微软雅黑" panose="020B0503020204020204" pitchFamily="34" charset="-122"/>
              </a:rPr>
              <a:t>，</a:t>
            </a:r>
            <a:r>
              <a:rPr lang="zh-CN" altLang="en-US" sz="1600" dirty="0">
                <a:solidFill>
                  <a:srgbClr val="0070C0"/>
                </a:solidFill>
                <a:latin typeface="微软雅黑" panose="020B0503020204020204" pitchFamily="34" charset="-122"/>
                <a:ea typeface="微软雅黑" panose="020B0503020204020204" pitchFamily="34" charset="-122"/>
              </a:rPr>
              <a:t>4个无效等价类</a:t>
            </a:r>
            <a:r>
              <a:rPr lang="zh-CN" altLang="en-US" sz="1600" dirty="0">
                <a:solidFill>
                  <a:srgbClr val="595959"/>
                </a:solidFill>
                <a:latin typeface="微软雅黑" panose="020B0503020204020204" pitchFamily="34" charset="-122"/>
                <a:ea typeface="微软雅黑" panose="020B0503020204020204" pitchFamily="34" charset="-122"/>
              </a:rPr>
              <a:t>，具体如下。</a:t>
            </a:r>
          </a:p>
          <a:p>
            <a:pPr marL="285750" indent="-285750" algn="just">
              <a:lnSpc>
                <a:spcPct val="150000"/>
              </a:lnSpc>
              <a:buClrTx/>
              <a:buSzTx/>
              <a:buFont typeface="Wingdings" panose="05000000000000000000" charset="0"/>
              <a:buChar char="l"/>
            </a:pPr>
            <a:r>
              <a:rPr lang="zh-CN" altLang="en-US" sz="1600" dirty="0">
                <a:solidFill>
                  <a:srgbClr val="595959"/>
                </a:solidFill>
                <a:latin typeface="微软雅黑" panose="020B0503020204020204" pitchFamily="34" charset="-122"/>
                <a:ea typeface="微软雅黑" panose="020B0503020204020204" pitchFamily="34" charset="-122"/>
              </a:rPr>
              <a:t>有效等价类：输入3个数。</a:t>
            </a:r>
          </a:p>
          <a:p>
            <a:pPr marL="285750" indent="-285750" algn="just">
              <a:lnSpc>
                <a:spcPct val="150000"/>
              </a:lnSpc>
              <a:buClrTx/>
              <a:buSzTx/>
              <a:buFont typeface="Wingdings" panose="05000000000000000000" charset="0"/>
              <a:buChar char="l"/>
            </a:pPr>
            <a:r>
              <a:rPr lang="zh-CN" altLang="en-US" sz="1600" dirty="0">
                <a:solidFill>
                  <a:srgbClr val="595959"/>
                </a:solidFill>
                <a:latin typeface="微软雅黑" panose="020B0503020204020204" pitchFamily="34" charset="-122"/>
                <a:ea typeface="微软雅黑" panose="020B0503020204020204" pitchFamily="34" charset="-122"/>
              </a:rPr>
              <a:t>无效等价类：输入0个数。</a:t>
            </a:r>
          </a:p>
          <a:p>
            <a:pPr marL="285750" indent="-285750" algn="just">
              <a:lnSpc>
                <a:spcPct val="150000"/>
              </a:lnSpc>
              <a:buClrTx/>
              <a:buSzTx/>
              <a:buFont typeface="Wingdings" panose="05000000000000000000" charset="0"/>
              <a:buChar char="l"/>
            </a:pPr>
            <a:r>
              <a:rPr lang="zh-CN" altLang="en-US" sz="1600" dirty="0">
                <a:solidFill>
                  <a:srgbClr val="595959"/>
                </a:solidFill>
                <a:latin typeface="微软雅黑" panose="020B0503020204020204" pitchFamily="34" charset="-122"/>
                <a:ea typeface="微软雅黑" panose="020B0503020204020204" pitchFamily="34" charset="-122"/>
              </a:rPr>
              <a:t>无效等价类：只输入1个数。</a:t>
            </a:r>
          </a:p>
          <a:p>
            <a:pPr marL="285750" indent="-285750" algn="just">
              <a:lnSpc>
                <a:spcPct val="150000"/>
              </a:lnSpc>
              <a:buClrTx/>
              <a:buSzTx/>
              <a:buFont typeface="Wingdings" panose="05000000000000000000" charset="0"/>
              <a:buChar char="l"/>
            </a:pPr>
            <a:r>
              <a:rPr lang="zh-CN" altLang="en-US" sz="1600" dirty="0">
                <a:solidFill>
                  <a:srgbClr val="595959"/>
                </a:solidFill>
                <a:latin typeface="微软雅黑" panose="020B0503020204020204" pitchFamily="34" charset="-122"/>
                <a:ea typeface="微软雅黑" panose="020B0503020204020204" pitchFamily="34" charset="-122"/>
              </a:rPr>
              <a:t>无效等价类：只输入2个数。</a:t>
            </a:r>
          </a:p>
          <a:p>
            <a:pPr marL="285750" indent="-285750" algn="just">
              <a:lnSpc>
                <a:spcPct val="150000"/>
              </a:lnSpc>
              <a:buClrTx/>
              <a:buSzTx/>
              <a:buFont typeface="Wingdings" panose="05000000000000000000" charset="0"/>
              <a:buChar char="l"/>
            </a:pPr>
            <a:r>
              <a:rPr lang="zh-CN" altLang="en-US" sz="1600" dirty="0">
                <a:solidFill>
                  <a:srgbClr val="595959"/>
                </a:solidFill>
                <a:latin typeface="微软雅黑" panose="020B0503020204020204" pitchFamily="34" charset="-122"/>
                <a:ea typeface="微软雅黑" panose="020B0503020204020204" pitchFamily="34" charset="-122"/>
              </a:rPr>
              <a:t>无效等价类：输入超过3个数。</a:t>
            </a:r>
          </a:p>
          <a:p>
            <a:pPr algn="just">
              <a:lnSpc>
                <a:spcPct val="150000"/>
              </a:lnSpc>
              <a:buClrTx/>
              <a:buSzTx/>
              <a:buFontTx/>
            </a:pPr>
            <a:endParaRPr lang="zh-CN" altLang="en-US" sz="1600" dirty="0">
              <a:solidFill>
                <a:srgbClr val="595959"/>
              </a:solidFill>
              <a:latin typeface="微软雅黑" panose="020B0503020204020204" pitchFamily="34" charset="-122"/>
              <a:ea typeface="微软雅黑" panose="020B0503020204020204" pitchFamily="34" charset="-122"/>
            </a:endParaRPr>
          </a:p>
        </p:txBody>
      </p:sp>
      <p:sp>
        <p:nvSpPr>
          <p:cNvPr id="8" name="原创设计师QQ598969553          _3"/>
          <p:cNvSpPr/>
          <p:nvPr/>
        </p:nvSpPr>
        <p:spPr>
          <a:xfrm>
            <a:off x="6671310" y="1842770"/>
            <a:ext cx="4469130" cy="3642360"/>
          </a:xfrm>
          <a:prstGeom prst="roundRect">
            <a:avLst>
              <a:gd name="adj" fmla="val 9083"/>
            </a:avLst>
          </a:prstGeom>
          <a:noFill/>
          <a:ln>
            <a:solidFill>
              <a:srgbClr val="ADBAC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n-ea"/>
              <a:sym typeface="+mn-lt"/>
            </a:endParaRPr>
          </a:p>
        </p:txBody>
      </p:sp>
      <p:sp>
        <p:nvSpPr>
          <p:cNvPr id="9" name="原创设计师QQ598969553          _6"/>
          <p:cNvSpPr/>
          <p:nvPr/>
        </p:nvSpPr>
        <p:spPr>
          <a:xfrm>
            <a:off x="7087343" y="1582859"/>
            <a:ext cx="1656184" cy="519694"/>
          </a:xfrm>
          <a:prstGeom prst="roundRect">
            <a:avLst/>
          </a:prstGeom>
          <a:solidFill>
            <a:srgbClr val="0070C0"/>
          </a:solidFill>
          <a:ln>
            <a:noFill/>
          </a:ln>
          <a:effectLst>
            <a:outerShdw blurRad="101600" dist="762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rIns="182880" rtlCol="0" anchor="ctr" anchorCtr="0"/>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1450340"/>
            <a:r>
              <a:rPr lang="zh-CN" altLang="en-US" sz="2000">
                <a:solidFill>
                  <a:schemeClr val="bg1"/>
                </a:solidFill>
                <a:latin typeface="微软雅黑" panose="020B0503020204020204" pitchFamily="34" charset="-122"/>
                <a:ea typeface="微软雅黑" panose="020B0503020204020204" pitchFamily="34" charset="-122"/>
                <a:cs typeface="+mn-ea"/>
                <a:sym typeface="+mn-lt"/>
              </a:rPr>
              <a:t>第</a:t>
            </a:r>
            <a:r>
              <a:rPr lang="en-US" altLang="zh-CN" sz="2000">
                <a:solidFill>
                  <a:schemeClr val="bg1"/>
                </a:solidFill>
                <a:latin typeface="微软雅黑" panose="020B0503020204020204" pitchFamily="34" charset="-122"/>
                <a:ea typeface="微软雅黑" panose="020B0503020204020204" pitchFamily="34" charset="-122"/>
                <a:cs typeface="+mn-ea"/>
                <a:sym typeface="+mn-lt"/>
              </a:rPr>
              <a:t>2</a:t>
            </a:r>
            <a:r>
              <a:rPr lang="zh-CN" altLang="en-US" sz="2000">
                <a:solidFill>
                  <a:schemeClr val="bg1"/>
                </a:solidFill>
                <a:latin typeface="微软雅黑" panose="020B0503020204020204" pitchFamily="34" charset="-122"/>
                <a:ea typeface="微软雅黑" panose="020B0503020204020204" pitchFamily="34" charset="-122"/>
                <a:cs typeface="+mn-ea"/>
                <a:sym typeface="+mn-lt"/>
              </a:rPr>
              <a:t>步</a:t>
            </a:r>
          </a:p>
        </p:txBody>
      </p:sp>
      <p:sp>
        <p:nvSpPr>
          <p:cNvPr id="10" name="TextBox 35"/>
          <p:cNvSpPr txBox="1">
            <a:spLocks noChangeArrowheads="1"/>
          </p:cNvSpPr>
          <p:nvPr/>
        </p:nvSpPr>
        <p:spPr bwMode="auto">
          <a:xfrm>
            <a:off x="6959600" y="2202815"/>
            <a:ext cx="3909060" cy="30753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buClrTx/>
              <a:buSzTx/>
              <a:buFontTx/>
            </a:pPr>
            <a:r>
              <a:rPr lang="zh-CN" altLang="en-US" sz="1600" dirty="0">
                <a:solidFill>
                  <a:srgbClr val="595959"/>
                </a:solidFill>
                <a:latin typeface="微软雅黑" panose="020B0503020204020204" pitchFamily="34" charset="-122"/>
                <a:ea typeface="微软雅黑" panose="020B0503020204020204" pitchFamily="34" charset="-122"/>
                <a:sym typeface="+mn-ea"/>
              </a:rPr>
              <a:t>在输入3个数的基础上</a:t>
            </a:r>
            <a:r>
              <a:rPr lang="zh-CN" altLang="en-US" sz="1600">
                <a:solidFill>
                  <a:srgbClr val="595959"/>
                </a:solidFill>
                <a:latin typeface="微软雅黑" panose="020B0503020204020204" pitchFamily="34" charset="-122"/>
                <a:ea typeface="微软雅黑" panose="020B0503020204020204" pitchFamily="34" charset="-122"/>
                <a:sym typeface="+mn-ea"/>
              </a:rPr>
              <a:t>，判断</a:t>
            </a:r>
            <a:r>
              <a:rPr lang="en-US" altLang="zh-CN" sz="1600">
                <a:solidFill>
                  <a:srgbClr val="595959"/>
                </a:solidFill>
                <a:latin typeface="微软雅黑" panose="020B0503020204020204" pitchFamily="34" charset="-122"/>
                <a:ea typeface="微软雅黑" panose="020B0503020204020204" pitchFamily="34" charset="-122"/>
                <a:sym typeface="+mn-ea"/>
              </a:rPr>
              <a:t>3</a:t>
            </a:r>
            <a:r>
              <a:rPr lang="zh-CN" altLang="en-US" sz="1600">
                <a:solidFill>
                  <a:srgbClr val="595959"/>
                </a:solidFill>
                <a:latin typeface="微软雅黑" panose="020B0503020204020204" pitchFamily="34" charset="-122"/>
                <a:ea typeface="微软雅黑" panose="020B0503020204020204" pitchFamily="34" charset="-122"/>
                <a:sym typeface="+mn-ea"/>
              </a:rPr>
              <a:t>个数</a:t>
            </a:r>
            <a:r>
              <a:rPr lang="zh-CN" altLang="en-US" sz="1600" dirty="0">
                <a:solidFill>
                  <a:srgbClr val="595959"/>
                </a:solidFill>
                <a:latin typeface="微软雅黑" panose="020B0503020204020204" pitchFamily="34" charset="-122"/>
                <a:ea typeface="微软雅黑" panose="020B0503020204020204" pitchFamily="34" charset="-122"/>
                <a:sym typeface="+mn-ea"/>
              </a:rPr>
              <a:t>是否为正数，可以将输入情况划分为</a:t>
            </a:r>
            <a:r>
              <a:rPr lang="zh-CN" altLang="en-US" sz="1600" dirty="0">
                <a:solidFill>
                  <a:srgbClr val="0070C0"/>
                </a:solidFill>
                <a:latin typeface="微软雅黑" panose="020B0503020204020204" pitchFamily="34" charset="-122"/>
                <a:ea typeface="微软雅黑" panose="020B0503020204020204" pitchFamily="34" charset="-122"/>
                <a:sym typeface="+mn-ea"/>
              </a:rPr>
              <a:t>1个有效等价类</a:t>
            </a:r>
            <a:r>
              <a:rPr lang="zh-CN" altLang="en-US" sz="1600" dirty="0">
                <a:solidFill>
                  <a:srgbClr val="595959"/>
                </a:solidFill>
                <a:latin typeface="微软雅黑" panose="020B0503020204020204" pitchFamily="34" charset="-122"/>
                <a:ea typeface="微软雅黑" panose="020B0503020204020204" pitchFamily="34" charset="-122"/>
                <a:sym typeface="+mn-ea"/>
              </a:rPr>
              <a:t>，</a:t>
            </a:r>
            <a:r>
              <a:rPr lang="zh-CN" altLang="en-US" sz="1600" dirty="0">
                <a:solidFill>
                  <a:srgbClr val="0070C0"/>
                </a:solidFill>
                <a:latin typeface="微软雅黑" panose="020B0503020204020204" pitchFamily="34" charset="-122"/>
                <a:ea typeface="微软雅黑" panose="020B0503020204020204" pitchFamily="34" charset="-122"/>
                <a:sym typeface="+mn-ea"/>
              </a:rPr>
              <a:t>3个无效等价类</a:t>
            </a:r>
            <a:r>
              <a:rPr lang="zh-CN" altLang="en-US" sz="1600" dirty="0">
                <a:solidFill>
                  <a:srgbClr val="595959"/>
                </a:solidFill>
                <a:latin typeface="微软雅黑" panose="020B0503020204020204" pitchFamily="34" charset="-122"/>
                <a:ea typeface="微软雅黑" panose="020B0503020204020204" pitchFamily="34" charset="-122"/>
                <a:sym typeface="+mn-ea"/>
              </a:rPr>
              <a:t>，具体如下</a:t>
            </a:r>
            <a:r>
              <a:rPr lang="zh-CN" altLang="en-US" sz="1600" dirty="0">
                <a:solidFill>
                  <a:srgbClr val="595959"/>
                </a:solidFill>
                <a:latin typeface="微软雅黑" panose="020B0503020204020204" pitchFamily="34" charset="-122"/>
                <a:ea typeface="微软雅黑" panose="020B0503020204020204" pitchFamily="34" charset="-122"/>
              </a:rPr>
              <a:t>。</a:t>
            </a:r>
          </a:p>
          <a:p>
            <a:pPr marL="285750" indent="-285750" algn="just">
              <a:lnSpc>
                <a:spcPct val="150000"/>
              </a:lnSpc>
              <a:buClrTx/>
              <a:buSzTx/>
              <a:buFont typeface="Wingdings" panose="05000000000000000000" charset="0"/>
              <a:buChar char="l"/>
            </a:pPr>
            <a:r>
              <a:rPr lang="zh-CN" altLang="en-US" sz="1600" dirty="0">
                <a:solidFill>
                  <a:srgbClr val="595959"/>
                </a:solidFill>
                <a:latin typeface="微软雅黑" panose="020B0503020204020204" pitchFamily="34" charset="-122"/>
                <a:ea typeface="微软雅黑" panose="020B0503020204020204" pitchFamily="34" charset="-122"/>
              </a:rPr>
              <a:t>有效等价类：3个数都是正数。</a:t>
            </a:r>
          </a:p>
          <a:p>
            <a:pPr marL="285750" indent="-285750" algn="just">
              <a:lnSpc>
                <a:spcPct val="150000"/>
              </a:lnSpc>
              <a:buClrTx/>
              <a:buSzTx/>
              <a:buFont typeface="Wingdings" panose="05000000000000000000" charset="0"/>
              <a:buChar char="l"/>
            </a:pPr>
            <a:r>
              <a:rPr lang="zh-CN" altLang="en-US" sz="1600" dirty="0">
                <a:solidFill>
                  <a:srgbClr val="595959"/>
                </a:solidFill>
                <a:latin typeface="微软雅黑" panose="020B0503020204020204" pitchFamily="34" charset="-122"/>
                <a:ea typeface="微软雅黑" panose="020B0503020204020204" pitchFamily="34" charset="-122"/>
              </a:rPr>
              <a:t>无效等价类：有1个数小于等于0。</a:t>
            </a:r>
          </a:p>
          <a:p>
            <a:pPr marL="285750" indent="-285750" algn="just">
              <a:lnSpc>
                <a:spcPct val="150000"/>
              </a:lnSpc>
              <a:buClrTx/>
              <a:buSzTx/>
              <a:buFont typeface="Wingdings" panose="05000000000000000000" charset="0"/>
              <a:buChar char="l"/>
            </a:pPr>
            <a:r>
              <a:rPr lang="zh-CN" altLang="en-US" sz="1600" dirty="0">
                <a:solidFill>
                  <a:srgbClr val="595959"/>
                </a:solidFill>
                <a:latin typeface="微软雅黑" panose="020B0503020204020204" pitchFamily="34" charset="-122"/>
                <a:ea typeface="微软雅黑" panose="020B0503020204020204" pitchFamily="34" charset="-122"/>
              </a:rPr>
              <a:t>无效等价类：有2个数小于等于0。</a:t>
            </a:r>
          </a:p>
          <a:p>
            <a:pPr marL="285750" indent="-285750" algn="just">
              <a:lnSpc>
                <a:spcPct val="150000"/>
              </a:lnSpc>
              <a:buClrTx/>
              <a:buSzTx/>
              <a:buFont typeface="Wingdings" panose="05000000000000000000" charset="0"/>
              <a:buChar char="l"/>
            </a:pPr>
            <a:r>
              <a:rPr lang="zh-CN" altLang="en-US" sz="1600" dirty="0">
                <a:solidFill>
                  <a:srgbClr val="595959"/>
                </a:solidFill>
                <a:latin typeface="微软雅黑" panose="020B0503020204020204" pitchFamily="34" charset="-122"/>
                <a:ea typeface="微软雅黑" panose="020B0503020204020204" pitchFamily="34" charset="-122"/>
              </a:rPr>
              <a:t>无效等价类：3个数都小于等于0。</a:t>
            </a:r>
          </a:p>
          <a:p>
            <a:pPr algn="just">
              <a:lnSpc>
                <a:spcPct val="150000"/>
              </a:lnSpc>
              <a:buClrTx/>
              <a:buSzTx/>
              <a:buFontTx/>
            </a:pPr>
            <a:endParaRPr lang="zh-CN" altLang="en-US" sz="1600" dirty="0">
              <a:solidFill>
                <a:srgbClr val="595959"/>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143635" y="266700"/>
            <a:ext cx="644271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2.1.3	实例二：三角形问题的等价类划分</a:t>
            </a:r>
          </a:p>
        </p:txBody>
      </p:sp>
      <p:sp>
        <p:nvSpPr>
          <p:cNvPr id="37" name="原创设计师QQ598969553          _3"/>
          <p:cNvSpPr/>
          <p:nvPr/>
        </p:nvSpPr>
        <p:spPr>
          <a:xfrm>
            <a:off x="1271270" y="1843405"/>
            <a:ext cx="4469130" cy="3804920"/>
          </a:xfrm>
          <a:prstGeom prst="roundRect">
            <a:avLst>
              <a:gd name="adj" fmla="val 9083"/>
            </a:avLst>
          </a:prstGeom>
          <a:noFill/>
          <a:ln>
            <a:solidFill>
              <a:srgbClr val="ADBAC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n-ea"/>
              <a:sym typeface="+mn-lt"/>
            </a:endParaRPr>
          </a:p>
        </p:txBody>
      </p:sp>
      <p:sp>
        <p:nvSpPr>
          <p:cNvPr id="38" name="原创设计师QQ598969553          _6"/>
          <p:cNvSpPr/>
          <p:nvPr/>
        </p:nvSpPr>
        <p:spPr>
          <a:xfrm>
            <a:off x="1687303" y="1583494"/>
            <a:ext cx="1656184" cy="519694"/>
          </a:xfrm>
          <a:prstGeom prst="roundRect">
            <a:avLst/>
          </a:prstGeom>
          <a:solidFill>
            <a:srgbClr val="0070C0"/>
          </a:solidFill>
          <a:ln>
            <a:noFill/>
          </a:ln>
          <a:effectLst>
            <a:outerShdw blurRad="101600" dist="762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rIns="182880" rtlCol="0" anchor="ctr" anchorCtr="0"/>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1450340"/>
            <a:r>
              <a:rPr lang="zh-CN" altLang="en-US" sz="2000">
                <a:solidFill>
                  <a:schemeClr val="bg1"/>
                </a:solidFill>
                <a:latin typeface="微软雅黑" panose="020B0503020204020204" pitchFamily="34" charset="-122"/>
                <a:ea typeface="微软雅黑" panose="020B0503020204020204" pitchFamily="34" charset="-122"/>
                <a:cs typeface="+mn-ea"/>
                <a:sym typeface="+mn-lt"/>
              </a:rPr>
              <a:t>第</a:t>
            </a:r>
            <a:r>
              <a:rPr lang="en-US" altLang="zh-CN" sz="2000">
                <a:solidFill>
                  <a:schemeClr val="bg1"/>
                </a:solidFill>
                <a:latin typeface="微软雅黑" panose="020B0503020204020204" pitchFamily="34" charset="-122"/>
                <a:ea typeface="微软雅黑" panose="020B0503020204020204" pitchFamily="34" charset="-122"/>
                <a:cs typeface="+mn-ea"/>
                <a:sym typeface="+mn-lt"/>
              </a:rPr>
              <a:t>3</a:t>
            </a:r>
            <a:r>
              <a:rPr lang="zh-CN" altLang="en-US" sz="2000">
                <a:solidFill>
                  <a:schemeClr val="bg1"/>
                </a:solidFill>
                <a:latin typeface="微软雅黑" panose="020B0503020204020204" pitchFamily="34" charset="-122"/>
                <a:ea typeface="微软雅黑" panose="020B0503020204020204" pitchFamily="34" charset="-122"/>
                <a:cs typeface="+mn-ea"/>
                <a:sym typeface="+mn-lt"/>
              </a:rPr>
              <a:t>步</a:t>
            </a:r>
          </a:p>
        </p:txBody>
      </p:sp>
      <p:sp>
        <p:nvSpPr>
          <p:cNvPr id="4" name="TextBox 35"/>
          <p:cNvSpPr txBox="1">
            <a:spLocks noChangeArrowheads="1"/>
          </p:cNvSpPr>
          <p:nvPr/>
        </p:nvSpPr>
        <p:spPr bwMode="auto">
          <a:xfrm>
            <a:off x="1559560" y="2203450"/>
            <a:ext cx="3909060" cy="3077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buClrTx/>
              <a:buSzTx/>
              <a:buFontTx/>
            </a:pPr>
            <a:r>
              <a:rPr lang="zh-CN" altLang="en-US" sz="1600" dirty="0">
                <a:solidFill>
                  <a:srgbClr val="595959"/>
                </a:solidFill>
                <a:latin typeface="微软雅黑" panose="020B0503020204020204" pitchFamily="34" charset="-122"/>
                <a:ea typeface="微软雅黑" panose="020B0503020204020204" pitchFamily="34" charset="-122"/>
              </a:rPr>
              <a:t>在输入3个正数的基础上，判断3个数是否能构成三角形，可以将输入情况划分为</a:t>
            </a:r>
            <a:r>
              <a:rPr lang="zh-CN" altLang="en-US" sz="1600" dirty="0">
                <a:solidFill>
                  <a:srgbClr val="0070C0"/>
                </a:solidFill>
                <a:latin typeface="微软雅黑" panose="020B0503020204020204" pitchFamily="34" charset="-122"/>
                <a:ea typeface="微软雅黑" panose="020B0503020204020204" pitchFamily="34" charset="-122"/>
              </a:rPr>
              <a:t>1个有效等价类</a:t>
            </a:r>
            <a:r>
              <a:rPr lang="zh-CN" altLang="en-US" sz="1600" dirty="0">
                <a:solidFill>
                  <a:srgbClr val="595959"/>
                </a:solidFill>
                <a:latin typeface="微软雅黑" panose="020B0503020204020204" pitchFamily="34" charset="-122"/>
                <a:ea typeface="微软雅黑" panose="020B0503020204020204" pitchFamily="34" charset="-122"/>
              </a:rPr>
              <a:t>和</a:t>
            </a:r>
            <a:r>
              <a:rPr lang="zh-CN" altLang="en-US" sz="1600" dirty="0">
                <a:solidFill>
                  <a:srgbClr val="0070C0"/>
                </a:solidFill>
                <a:latin typeface="微软雅黑" panose="020B0503020204020204" pitchFamily="34" charset="-122"/>
                <a:ea typeface="微软雅黑" panose="020B0503020204020204" pitchFamily="34" charset="-122"/>
              </a:rPr>
              <a:t>1个无效等价类</a:t>
            </a:r>
            <a:r>
              <a:rPr lang="zh-CN" altLang="en-US" sz="1600" dirty="0">
                <a:solidFill>
                  <a:srgbClr val="595959"/>
                </a:solidFill>
                <a:latin typeface="微软雅黑" panose="020B0503020204020204" pitchFamily="34" charset="-122"/>
                <a:ea typeface="微软雅黑" panose="020B0503020204020204" pitchFamily="34" charset="-122"/>
              </a:rPr>
              <a:t>，具体如下。</a:t>
            </a:r>
          </a:p>
          <a:p>
            <a:pPr marL="285750" indent="-285750" algn="just">
              <a:lnSpc>
                <a:spcPct val="150000"/>
              </a:lnSpc>
              <a:buClrTx/>
              <a:buSzTx/>
              <a:buFont typeface="Wingdings" panose="05000000000000000000" charset="0"/>
              <a:buChar char="l"/>
            </a:pPr>
            <a:r>
              <a:rPr lang="zh-CN" altLang="en-US" sz="1600" dirty="0">
                <a:solidFill>
                  <a:srgbClr val="595959"/>
                </a:solidFill>
                <a:latin typeface="微软雅黑" panose="020B0503020204020204" pitchFamily="34" charset="-122"/>
                <a:ea typeface="微软雅黑" panose="020B0503020204020204" pitchFamily="34" charset="-122"/>
              </a:rPr>
              <a:t>有效等价类：任意2个数之和大于</a:t>
            </a:r>
            <a:r>
              <a:rPr lang="zh-CN" altLang="en-US" sz="1600">
                <a:solidFill>
                  <a:srgbClr val="595959"/>
                </a:solidFill>
                <a:latin typeface="微软雅黑" panose="020B0503020204020204" pitchFamily="34" charset="-122"/>
                <a:ea typeface="微软雅黑" panose="020B0503020204020204" pitchFamily="34" charset="-122"/>
              </a:rPr>
              <a:t>第3个数。</a:t>
            </a:r>
            <a:endParaRPr lang="zh-CN" altLang="en-US" sz="1600" dirty="0">
              <a:solidFill>
                <a:srgbClr val="595959"/>
              </a:solidFill>
              <a:latin typeface="微软雅黑" panose="020B0503020204020204" pitchFamily="34" charset="-122"/>
              <a:ea typeface="微软雅黑" panose="020B0503020204020204" pitchFamily="34" charset="-122"/>
            </a:endParaRPr>
          </a:p>
          <a:p>
            <a:pPr marL="285750" indent="-285750" algn="just">
              <a:lnSpc>
                <a:spcPct val="150000"/>
              </a:lnSpc>
              <a:buClrTx/>
              <a:buSzTx/>
              <a:buFont typeface="Wingdings" panose="05000000000000000000" charset="0"/>
              <a:buChar char="l"/>
            </a:pPr>
            <a:r>
              <a:rPr lang="zh-CN" altLang="en-US" sz="1600" dirty="0">
                <a:solidFill>
                  <a:srgbClr val="595959"/>
                </a:solidFill>
                <a:latin typeface="微软雅黑" panose="020B0503020204020204" pitchFamily="34" charset="-122"/>
                <a:ea typeface="微软雅黑" panose="020B0503020204020204" pitchFamily="34" charset="-122"/>
              </a:rPr>
              <a:t>无效等价类：其中2个数之和小于等于</a:t>
            </a:r>
            <a:r>
              <a:rPr lang="zh-CN" altLang="en-US" sz="1600">
                <a:solidFill>
                  <a:srgbClr val="595959"/>
                </a:solidFill>
                <a:latin typeface="微软雅黑" panose="020B0503020204020204" pitchFamily="34" charset="-122"/>
                <a:ea typeface="微软雅黑" panose="020B0503020204020204" pitchFamily="34" charset="-122"/>
              </a:rPr>
              <a:t>第3个数。</a:t>
            </a:r>
            <a:endParaRPr lang="zh-CN" altLang="en-US" sz="1600" dirty="0">
              <a:solidFill>
                <a:srgbClr val="595959"/>
              </a:solidFill>
              <a:latin typeface="微软雅黑" panose="020B0503020204020204" pitchFamily="34" charset="-122"/>
              <a:ea typeface="微软雅黑" panose="020B0503020204020204" pitchFamily="34" charset="-122"/>
            </a:endParaRPr>
          </a:p>
        </p:txBody>
      </p:sp>
      <p:sp>
        <p:nvSpPr>
          <p:cNvPr id="8" name="原创设计师QQ598969553          _3"/>
          <p:cNvSpPr/>
          <p:nvPr/>
        </p:nvSpPr>
        <p:spPr>
          <a:xfrm>
            <a:off x="6671310" y="1842770"/>
            <a:ext cx="4469130" cy="3804920"/>
          </a:xfrm>
          <a:prstGeom prst="roundRect">
            <a:avLst>
              <a:gd name="adj" fmla="val 9083"/>
            </a:avLst>
          </a:prstGeom>
          <a:noFill/>
          <a:ln>
            <a:solidFill>
              <a:srgbClr val="ADBAC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n-ea"/>
              <a:sym typeface="+mn-lt"/>
            </a:endParaRPr>
          </a:p>
        </p:txBody>
      </p:sp>
      <p:sp>
        <p:nvSpPr>
          <p:cNvPr id="9" name="原创设计师QQ598969553          _6"/>
          <p:cNvSpPr/>
          <p:nvPr/>
        </p:nvSpPr>
        <p:spPr>
          <a:xfrm>
            <a:off x="7087343" y="1582859"/>
            <a:ext cx="1656184" cy="519694"/>
          </a:xfrm>
          <a:prstGeom prst="roundRect">
            <a:avLst/>
          </a:prstGeom>
          <a:solidFill>
            <a:srgbClr val="0070C0"/>
          </a:solidFill>
          <a:ln>
            <a:noFill/>
          </a:ln>
          <a:effectLst>
            <a:outerShdw blurRad="101600" dist="762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rIns="182880" rtlCol="0" anchor="ctr" anchorCtr="0"/>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1450340"/>
            <a:r>
              <a:rPr lang="zh-CN" altLang="en-US" sz="2000">
                <a:solidFill>
                  <a:schemeClr val="bg1"/>
                </a:solidFill>
                <a:latin typeface="微软雅黑" panose="020B0503020204020204" pitchFamily="34" charset="-122"/>
                <a:ea typeface="微软雅黑" panose="020B0503020204020204" pitchFamily="34" charset="-122"/>
                <a:cs typeface="+mn-ea"/>
                <a:sym typeface="+mn-lt"/>
              </a:rPr>
              <a:t>第</a:t>
            </a:r>
            <a:r>
              <a:rPr lang="en-US" altLang="zh-CN" sz="2000">
                <a:solidFill>
                  <a:schemeClr val="bg1"/>
                </a:solidFill>
                <a:latin typeface="微软雅黑" panose="020B0503020204020204" pitchFamily="34" charset="-122"/>
                <a:ea typeface="微软雅黑" panose="020B0503020204020204" pitchFamily="34" charset="-122"/>
                <a:cs typeface="+mn-ea"/>
                <a:sym typeface="+mn-lt"/>
              </a:rPr>
              <a:t>4</a:t>
            </a:r>
            <a:r>
              <a:rPr lang="zh-CN" altLang="en-US" sz="2000">
                <a:solidFill>
                  <a:schemeClr val="bg1"/>
                </a:solidFill>
                <a:latin typeface="微软雅黑" panose="020B0503020204020204" pitchFamily="34" charset="-122"/>
                <a:ea typeface="微软雅黑" panose="020B0503020204020204" pitchFamily="34" charset="-122"/>
                <a:cs typeface="+mn-ea"/>
                <a:sym typeface="+mn-lt"/>
              </a:rPr>
              <a:t>步</a:t>
            </a:r>
          </a:p>
        </p:txBody>
      </p:sp>
      <p:sp>
        <p:nvSpPr>
          <p:cNvPr id="10" name="TextBox 35"/>
          <p:cNvSpPr txBox="1">
            <a:spLocks noChangeArrowheads="1"/>
          </p:cNvSpPr>
          <p:nvPr/>
        </p:nvSpPr>
        <p:spPr bwMode="auto">
          <a:xfrm>
            <a:off x="6959600" y="2202815"/>
            <a:ext cx="3909060" cy="23390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buClrTx/>
              <a:buSzTx/>
              <a:buFontTx/>
            </a:pPr>
            <a:r>
              <a:rPr lang="zh-CN" altLang="en-US" sz="1600" dirty="0">
                <a:solidFill>
                  <a:srgbClr val="595959"/>
                </a:solidFill>
                <a:latin typeface="微软雅黑" panose="020B0503020204020204" pitchFamily="34" charset="-122"/>
                <a:ea typeface="微软雅黑" panose="020B0503020204020204" pitchFamily="34" charset="-122"/>
                <a:sym typeface="+mn-ea"/>
              </a:rPr>
              <a:t>在3个数构成三角形的基础上，判断3个数是否能构成等腰三角形，可以将输入情况划分成</a:t>
            </a:r>
            <a:r>
              <a:rPr lang="zh-CN" altLang="en-US" sz="1600" dirty="0">
                <a:solidFill>
                  <a:srgbClr val="0070C0"/>
                </a:solidFill>
                <a:latin typeface="微软雅黑" panose="020B0503020204020204" pitchFamily="34" charset="-122"/>
                <a:ea typeface="微软雅黑" panose="020B0503020204020204" pitchFamily="34" charset="-122"/>
                <a:sym typeface="+mn-ea"/>
              </a:rPr>
              <a:t>1个</a:t>
            </a:r>
            <a:r>
              <a:rPr lang="zh-CN" altLang="en-US" sz="1600">
                <a:solidFill>
                  <a:srgbClr val="0070C0"/>
                </a:solidFill>
                <a:latin typeface="微软雅黑" panose="020B0503020204020204" pitchFamily="34" charset="-122"/>
                <a:ea typeface="微软雅黑" panose="020B0503020204020204" pitchFamily="34" charset="-122"/>
                <a:sym typeface="+mn-ea"/>
              </a:rPr>
              <a:t>有效等价类</a:t>
            </a:r>
            <a:r>
              <a:rPr lang="zh-CN" altLang="en-US" sz="1600">
                <a:solidFill>
                  <a:srgbClr val="595959"/>
                </a:solidFill>
                <a:latin typeface="微软雅黑" panose="020B0503020204020204" pitchFamily="34" charset="-122"/>
                <a:ea typeface="微软雅黑" panose="020B0503020204020204" pitchFamily="34" charset="-122"/>
                <a:sym typeface="+mn-ea"/>
              </a:rPr>
              <a:t>和</a:t>
            </a:r>
            <a:r>
              <a:rPr lang="en-US" altLang="zh-CN" sz="1600">
                <a:solidFill>
                  <a:srgbClr val="0070C0"/>
                </a:solidFill>
                <a:latin typeface="微软雅黑" panose="020B0503020204020204" pitchFamily="34" charset="-122"/>
                <a:ea typeface="微软雅黑" panose="020B0503020204020204" pitchFamily="34" charset="-122"/>
                <a:sym typeface="+mn-ea"/>
              </a:rPr>
              <a:t>1</a:t>
            </a:r>
            <a:r>
              <a:rPr lang="zh-CN" altLang="en-US" sz="1600">
                <a:solidFill>
                  <a:srgbClr val="0070C0"/>
                </a:solidFill>
                <a:latin typeface="微软雅黑" panose="020B0503020204020204" pitchFamily="34" charset="-122"/>
                <a:ea typeface="微软雅黑" panose="020B0503020204020204" pitchFamily="34" charset="-122"/>
                <a:sym typeface="+mn-ea"/>
              </a:rPr>
              <a:t>个无效</a:t>
            </a:r>
            <a:r>
              <a:rPr lang="zh-CN" altLang="en-US" sz="1600" dirty="0">
                <a:solidFill>
                  <a:srgbClr val="0070C0"/>
                </a:solidFill>
                <a:latin typeface="微软雅黑" panose="020B0503020204020204" pitchFamily="34" charset="-122"/>
                <a:ea typeface="微软雅黑" panose="020B0503020204020204" pitchFamily="34" charset="-122"/>
                <a:sym typeface="+mn-ea"/>
              </a:rPr>
              <a:t>等价类</a:t>
            </a:r>
            <a:r>
              <a:rPr lang="zh-CN" altLang="en-US" sz="1600" dirty="0">
                <a:solidFill>
                  <a:srgbClr val="595959"/>
                </a:solidFill>
                <a:latin typeface="微软雅黑" panose="020B0503020204020204" pitchFamily="34" charset="-122"/>
                <a:ea typeface="微软雅黑" panose="020B0503020204020204" pitchFamily="34" charset="-122"/>
                <a:sym typeface="+mn-ea"/>
              </a:rPr>
              <a:t>。</a:t>
            </a:r>
          </a:p>
          <a:p>
            <a:pPr marL="285750" indent="-285750" algn="just">
              <a:lnSpc>
                <a:spcPct val="150000"/>
              </a:lnSpc>
              <a:buClrTx/>
              <a:buSzTx/>
              <a:buFont typeface="Wingdings" panose="05000000000000000000" charset="0"/>
              <a:buChar char="l"/>
            </a:pPr>
            <a:r>
              <a:rPr lang="zh-CN" altLang="en-US" sz="1600" dirty="0">
                <a:solidFill>
                  <a:srgbClr val="595959"/>
                </a:solidFill>
                <a:latin typeface="微软雅黑" panose="020B0503020204020204" pitchFamily="34" charset="-122"/>
                <a:ea typeface="微软雅黑" panose="020B0503020204020204" pitchFamily="34" charset="-122"/>
              </a:rPr>
              <a:t>有效等价类：</a:t>
            </a:r>
            <a:r>
              <a:rPr lang="zh-CN" altLang="en-US" sz="1600">
                <a:solidFill>
                  <a:srgbClr val="595959"/>
                </a:solidFill>
                <a:latin typeface="微软雅黑" panose="020B0503020204020204" pitchFamily="34" charset="-122"/>
                <a:ea typeface="微软雅黑" panose="020B0503020204020204" pitchFamily="34" charset="-122"/>
              </a:rPr>
              <a:t>其中有</a:t>
            </a:r>
            <a:r>
              <a:rPr lang="en-US" altLang="zh-CN" sz="1600">
                <a:solidFill>
                  <a:srgbClr val="595959"/>
                </a:solidFill>
                <a:latin typeface="微软雅黑" panose="020B0503020204020204" pitchFamily="34" charset="-122"/>
                <a:ea typeface="微软雅黑" panose="020B0503020204020204" pitchFamily="34" charset="-122"/>
              </a:rPr>
              <a:t>2</a:t>
            </a:r>
            <a:r>
              <a:rPr lang="zh-CN" altLang="en-US" sz="1600">
                <a:solidFill>
                  <a:srgbClr val="595959"/>
                </a:solidFill>
                <a:latin typeface="微软雅黑" panose="020B0503020204020204" pitchFamily="34" charset="-122"/>
                <a:ea typeface="微软雅黑" panose="020B0503020204020204" pitchFamily="34" charset="-122"/>
              </a:rPr>
              <a:t>个数相等。</a:t>
            </a:r>
            <a:endParaRPr lang="zh-CN" altLang="en-US" sz="1600" dirty="0">
              <a:solidFill>
                <a:srgbClr val="595959"/>
              </a:solidFill>
              <a:latin typeface="微软雅黑" panose="020B0503020204020204" pitchFamily="34" charset="-122"/>
              <a:ea typeface="微软雅黑" panose="020B0503020204020204" pitchFamily="34" charset="-122"/>
            </a:endParaRPr>
          </a:p>
          <a:p>
            <a:pPr marL="285750" indent="-285750" algn="just">
              <a:lnSpc>
                <a:spcPct val="150000"/>
              </a:lnSpc>
              <a:buClrTx/>
              <a:buSzTx/>
              <a:buFont typeface="Wingdings" panose="05000000000000000000" charset="0"/>
              <a:buChar char="l"/>
            </a:pPr>
            <a:r>
              <a:rPr lang="zh-CN" altLang="en-US" sz="1600" dirty="0">
                <a:solidFill>
                  <a:srgbClr val="595959"/>
                </a:solidFill>
                <a:latin typeface="微软雅黑" panose="020B0503020204020204" pitchFamily="34" charset="-122"/>
                <a:ea typeface="微软雅黑" panose="020B0503020204020204" pitchFamily="34" charset="-122"/>
              </a:rPr>
              <a:t>无效等价类：3个数均不</a:t>
            </a:r>
            <a:r>
              <a:rPr lang="zh-CN" altLang="en-US" sz="1600">
                <a:solidFill>
                  <a:srgbClr val="595959"/>
                </a:solidFill>
                <a:latin typeface="微软雅黑" panose="020B0503020204020204" pitchFamily="34" charset="-122"/>
                <a:ea typeface="微软雅黑" panose="020B0503020204020204" pitchFamily="34" charset="-122"/>
              </a:rPr>
              <a:t>相等。</a:t>
            </a:r>
            <a:endParaRPr lang="zh-CN" altLang="en-US" sz="1600" dirty="0">
              <a:solidFill>
                <a:srgbClr val="595959"/>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143635" y="266700"/>
            <a:ext cx="644271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2.1.3	实例二：三角形问题的等价类划分</a:t>
            </a:r>
          </a:p>
        </p:txBody>
      </p:sp>
      <p:sp>
        <p:nvSpPr>
          <p:cNvPr id="37" name="原创设计师QQ598969553          _3"/>
          <p:cNvSpPr/>
          <p:nvPr/>
        </p:nvSpPr>
        <p:spPr>
          <a:xfrm>
            <a:off x="1560195" y="1845310"/>
            <a:ext cx="4469130" cy="3331210"/>
          </a:xfrm>
          <a:prstGeom prst="roundRect">
            <a:avLst>
              <a:gd name="adj" fmla="val 9083"/>
            </a:avLst>
          </a:prstGeom>
          <a:noFill/>
          <a:ln>
            <a:solidFill>
              <a:srgbClr val="ADBAC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n-ea"/>
              <a:sym typeface="+mn-lt"/>
            </a:endParaRPr>
          </a:p>
        </p:txBody>
      </p:sp>
      <p:sp>
        <p:nvSpPr>
          <p:cNvPr id="38" name="原创设计师QQ598969553          _6"/>
          <p:cNvSpPr/>
          <p:nvPr/>
        </p:nvSpPr>
        <p:spPr>
          <a:xfrm>
            <a:off x="1976228" y="1585399"/>
            <a:ext cx="1656184" cy="519694"/>
          </a:xfrm>
          <a:prstGeom prst="roundRect">
            <a:avLst/>
          </a:prstGeom>
          <a:solidFill>
            <a:srgbClr val="0070C0"/>
          </a:solidFill>
          <a:ln>
            <a:noFill/>
          </a:ln>
          <a:effectLst>
            <a:outerShdw blurRad="101600" dist="762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rIns="182880" rtlCol="0" anchor="ctr" anchorCtr="0"/>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1450340"/>
            <a:r>
              <a:rPr lang="zh-CN" altLang="en-US" sz="2000">
                <a:solidFill>
                  <a:schemeClr val="bg1"/>
                </a:solidFill>
                <a:latin typeface="微软雅黑" panose="020B0503020204020204" pitchFamily="34" charset="-122"/>
                <a:ea typeface="微软雅黑" panose="020B0503020204020204" pitchFamily="34" charset="-122"/>
                <a:cs typeface="+mn-ea"/>
                <a:sym typeface="+mn-lt"/>
              </a:rPr>
              <a:t>第</a:t>
            </a:r>
            <a:r>
              <a:rPr lang="en-US" altLang="zh-CN" sz="2000">
                <a:solidFill>
                  <a:schemeClr val="bg1"/>
                </a:solidFill>
                <a:latin typeface="微软雅黑" panose="020B0503020204020204" pitchFamily="34" charset="-122"/>
                <a:ea typeface="微软雅黑" panose="020B0503020204020204" pitchFamily="34" charset="-122"/>
                <a:cs typeface="+mn-ea"/>
                <a:sym typeface="+mn-lt"/>
              </a:rPr>
              <a:t>5</a:t>
            </a:r>
            <a:r>
              <a:rPr lang="zh-CN" altLang="en-US" sz="2000">
                <a:solidFill>
                  <a:schemeClr val="bg1"/>
                </a:solidFill>
                <a:latin typeface="微软雅黑" panose="020B0503020204020204" pitchFamily="34" charset="-122"/>
                <a:ea typeface="微软雅黑" panose="020B0503020204020204" pitchFamily="34" charset="-122"/>
                <a:cs typeface="+mn-ea"/>
                <a:sym typeface="+mn-lt"/>
              </a:rPr>
              <a:t>步</a:t>
            </a:r>
          </a:p>
        </p:txBody>
      </p:sp>
      <p:sp>
        <p:nvSpPr>
          <p:cNvPr id="4" name="TextBox 35"/>
          <p:cNvSpPr txBox="1">
            <a:spLocks noChangeArrowheads="1"/>
          </p:cNvSpPr>
          <p:nvPr/>
        </p:nvSpPr>
        <p:spPr bwMode="auto">
          <a:xfrm>
            <a:off x="1848485" y="2205355"/>
            <a:ext cx="3909060" cy="2336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buClrTx/>
              <a:buSzTx/>
              <a:buFontTx/>
            </a:pPr>
            <a:r>
              <a:rPr lang="zh-CN" altLang="en-US" sz="1600" dirty="0">
                <a:solidFill>
                  <a:srgbClr val="595959"/>
                </a:solidFill>
                <a:latin typeface="微软雅黑" panose="020B0503020204020204" pitchFamily="34" charset="-122"/>
                <a:ea typeface="微软雅黑" panose="020B0503020204020204" pitchFamily="34" charset="-122"/>
              </a:rPr>
              <a:t>在构成等腰三角形的基础上，判断这3个数能否构成等边三角形，可以将输入情况划分为</a:t>
            </a:r>
            <a:r>
              <a:rPr lang="zh-CN" altLang="en-US" sz="1600" dirty="0">
                <a:solidFill>
                  <a:srgbClr val="0070C0"/>
                </a:solidFill>
                <a:latin typeface="微软雅黑" panose="020B0503020204020204" pitchFamily="34" charset="-122"/>
                <a:ea typeface="微软雅黑" panose="020B0503020204020204" pitchFamily="34" charset="-122"/>
              </a:rPr>
              <a:t>1个有效等价类</a:t>
            </a:r>
            <a:r>
              <a:rPr lang="zh-CN" altLang="en-US" sz="1600" dirty="0">
                <a:solidFill>
                  <a:srgbClr val="595959"/>
                </a:solidFill>
                <a:latin typeface="微软雅黑" panose="020B0503020204020204" pitchFamily="34" charset="-122"/>
                <a:ea typeface="微软雅黑" panose="020B0503020204020204" pitchFamily="34" charset="-122"/>
              </a:rPr>
              <a:t>和</a:t>
            </a:r>
            <a:r>
              <a:rPr lang="zh-CN" altLang="en-US" sz="1600" dirty="0">
                <a:solidFill>
                  <a:srgbClr val="0070C0"/>
                </a:solidFill>
                <a:latin typeface="微软雅黑" panose="020B0503020204020204" pitchFamily="34" charset="-122"/>
                <a:ea typeface="微软雅黑" panose="020B0503020204020204" pitchFamily="34" charset="-122"/>
              </a:rPr>
              <a:t>1个无效等价类</a:t>
            </a:r>
            <a:r>
              <a:rPr lang="zh-CN" altLang="en-US" sz="1600" dirty="0">
                <a:solidFill>
                  <a:srgbClr val="595959"/>
                </a:solidFill>
                <a:latin typeface="微软雅黑" panose="020B0503020204020204" pitchFamily="34" charset="-122"/>
                <a:ea typeface="微软雅黑" panose="020B0503020204020204" pitchFamily="34" charset="-122"/>
              </a:rPr>
              <a:t>，具体如下。</a:t>
            </a:r>
          </a:p>
          <a:p>
            <a:pPr marL="285750" indent="-285750" algn="just">
              <a:lnSpc>
                <a:spcPct val="150000"/>
              </a:lnSpc>
              <a:buClrTx/>
              <a:buSzTx/>
              <a:buFont typeface="Wingdings" panose="05000000000000000000" charset="0"/>
              <a:buChar char="l"/>
            </a:pPr>
            <a:r>
              <a:rPr lang="zh-CN" altLang="en-US" sz="1600" dirty="0">
                <a:solidFill>
                  <a:srgbClr val="595959"/>
                </a:solidFill>
                <a:latin typeface="微软雅黑" panose="020B0503020204020204" pitchFamily="34" charset="-122"/>
                <a:ea typeface="微软雅黑" panose="020B0503020204020204" pitchFamily="34" charset="-122"/>
              </a:rPr>
              <a:t>有效等价类：3</a:t>
            </a:r>
            <a:r>
              <a:rPr lang="zh-CN" altLang="en-US" sz="1600">
                <a:solidFill>
                  <a:srgbClr val="595959"/>
                </a:solidFill>
                <a:latin typeface="微软雅黑" panose="020B0503020204020204" pitchFamily="34" charset="-122"/>
                <a:ea typeface="微软雅黑" panose="020B0503020204020204" pitchFamily="34" charset="-122"/>
              </a:rPr>
              <a:t>个数相等。</a:t>
            </a:r>
            <a:endParaRPr lang="zh-CN" altLang="en-US" sz="1600" dirty="0">
              <a:solidFill>
                <a:srgbClr val="595959"/>
              </a:solidFill>
              <a:latin typeface="微软雅黑" panose="020B0503020204020204" pitchFamily="34" charset="-122"/>
              <a:ea typeface="微软雅黑" panose="020B0503020204020204" pitchFamily="34" charset="-122"/>
            </a:endParaRPr>
          </a:p>
          <a:p>
            <a:pPr marL="285750" indent="-285750" algn="just">
              <a:lnSpc>
                <a:spcPct val="150000"/>
              </a:lnSpc>
              <a:buClrTx/>
              <a:buSzTx/>
              <a:buFont typeface="Wingdings" panose="05000000000000000000" charset="0"/>
              <a:buChar char="l"/>
            </a:pPr>
            <a:r>
              <a:rPr lang="zh-CN" altLang="en-US" sz="1600" dirty="0">
                <a:solidFill>
                  <a:srgbClr val="595959"/>
                </a:solidFill>
                <a:latin typeface="微软雅黑" panose="020B0503020204020204" pitchFamily="34" charset="-122"/>
                <a:ea typeface="微软雅黑" panose="020B0503020204020204" pitchFamily="34" charset="-122"/>
              </a:rPr>
              <a:t>无效等价类：3个数不相等。</a:t>
            </a:r>
          </a:p>
        </p:txBody>
      </p:sp>
      <p:pic>
        <p:nvPicPr>
          <p:cNvPr id="16" name="Picture 2" descr="C:\Users\Administrator\Desktop\ppt展示模板-8.png"/>
          <p:cNvPicPr>
            <a:picLocks noChangeAspect="1" noChangeArrowheads="1"/>
          </p:cNvPicPr>
          <p:nvPr/>
        </p:nvPicPr>
        <p:blipFill>
          <a:blip r:embed="rId3"/>
          <a:srcRect/>
          <a:stretch>
            <a:fillRect/>
          </a:stretch>
        </p:blipFill>
        <p:spPr bwMode="auto">
          <a:xfrm>
            <a:off x="6671414" y="1916282"/>
            <a:ext cx="5059808" cy="3044254"/>
          </a:xfrm>
          <a:prstGeom prst="rect">
            <a:avLst/>
          </a:prstGeom>
          <a:noFill/>
          <a:extLst>
            <a:ext uri="{909E8E84-426E-40DD-AFC4-6F175D3DCCD1}">
              <a14:hiddenFill xmlns:a14="http://schemas.microsoft.com/office/drawing/2010/main">
                <a:solidFill>
                  <a:srgbClr val="FFFFFF"/>
                </a:solidFill>
              </a14:hiddenFill>
            </a:ext>
          </a:extLst>
        </p:spPr>
      </p:pic>
      <p:sp>
        <p:nvSpPr>
          <p:cNvPr id="17" name="矩形 16"/>
          <p:cNvSpPr/>
          <p:nvPr/>
        </p:nvSpPr>
        <p:spPr>
          <a:xfrm>
            <a:off x="7364408" y="2292422"/>
            <a:ext cx="3665189" cy="2112881"/>
          </a:xfrm>
          <a:prstGeom prst="rect">
            <a:avLst/>
          </a:prstGeom>
          <a:blipFill>
            <a:blip r:embed="rId4" cstate="screen"/>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00">
              <a:latin typeface="Arial" panose="020B0604020202020204" pitchFamily="34" charset="0"/>
              <a:ea typeface="思源黑体 CN Regular" panose="020B0500000000000000" pitchFamily="34" charset="-122"/>
              <a:cs typeface="+mn-ea"/>
              <a:sym typeface="Arial" panose="020B0604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p:nvPr>
            <p:custDataLst>
              <p:tags r:id="rId1"/>
            </p:custDataLst>
            <p:extLst>
              <p:ext uri="{D42A27DB-BD31-4B8C-83A1-F6EECF244321}">
                <p14:modId xmlns:p14="http://schemas.microsoft.com/office/powerpoint/2010/main" val="872261429"/>
              </p:ext>
            </p:extLst>
          </p:nvPr>
        </p:nvGraphicFramePr>
        <p:xfrm>
          <a:off x="1531328" y="1701794"/>
          <a:ext cx="9144181" cy="4773041"/>
        </p:xfrm>
        <a:graphic>
          <a:graphicData uri="http://schemas.openxmlformats.org/drawingml/2006/table">
            <a:tbl>
              <a:tblPr firstRow="1" bandRow="1">
                <a:tableStyleId>{5C22544A-7EE6-4342-B048-85BDC9FD1C3A}</a:tableStyleId>
              </a:tblPr>
              <a:tblGrid>
                <a:gridCol w="1966595">
                  <a:extLst>
                    <a:ext uri="{9D8B030D-6E8A-4147-A177-3AD203B41FA5}">
                      <a16:colId xmlns:a16="http://schemas.microsoft.com/office/drawing/2014/main" val="20000"/>
                    </a:ext>
                  </a:extLst>
                </a:gridCol>
                <a:gridCol w="1833880">
                  <a:extLst>
                    <a:ext uri="{9D8B030D-6E8A-4147-A177-3AD203B41FA5}">
                      <a16:colId xmlns:a16="http://schemas.microsoft.com/office/drawing/2014/main" val="20001"/>
                    </a:ext>
                  </a:extLst>
                </a:gridCol>
                <a:gridCol w="1123403">
                  <a:extLst>
                    <a:ext uri="{9D8B030D-6E8A-4147-A177-3AD203B41FA5}">
                      <a16:colId xmlns:a16="http://schemas.microsoft.com/office/drawing/2014/main" val="20002"/>
                    </a:ext>
                  </a:extLst>
                </a:gridCol>
                <a:gridCol w="3105062">
                  <a:extLst>
                    <a:ext uri="{9D8B030D-6E8A-4147-A177-3AD203B41FA5}">
                      <a16:colId xmlns:a16="http://schemas.microsoft.com/office/drawing/2014/main" val="20003"/>
                    </a:ext>
                  </a:extLst>
                </a:gridCol>
                <a:gridCol w="1115241">
                  <a:extLst>
                    <a:ext uri="{9D8B030D-6E8A-4147-A177-3AD203B41FA5}">
                      <a16:colId xmlns:a16="http://schemas.microsoft.com/office/drawing/2014/main" val="20004"/>
                    </a:ext>
                  </a:extLst>
                </a:gridCol>
              </a:tblGrid>
              <a:tr h="491490">
                <a:tc>
                  <a:txBody>
                    <a:bodyPr/>
                    <a:lstStyle/>
                    <a:p>
                      <a:pPr algn="ctr">
                        <a:lnSpc>
                          <a:spcPct val="90000"/>
                        </a:lnSpc>
                        <a:buNone/>
                      </a:pPr>
                      <a:r>
                        <a:rPr lang="zh-CN" altLang="en-US" sz="1800" b="1">
                          <a:latin typeface="微软雅黑" panose="020B0503020204020204" pitchFamily="34" charset="-122"/>
                          <a:ea typeface="微软雅黑" panose="020B0503020204020204" pitchFamily="34" charset="-122"/>
                        </a:rPr>
                        <a:t>要求</a:t>
                      </a:r>
                    </a:p>
                  </a:txBody>
                  <a:tcPr anchor="ctr"/>
                </a:tc>
                <a:tc>
                  <a:txBody>
                    <a:bodyPr/>
                    <a:lstStyle/>
                    <a:p>
                      <a:pPr algn="ctr">
                        <a:lnSpc>
                          <a:spcPct val="90000"/>
                        </a:lnSpc>
                        <a:buNone/>
                      </a:pPr>
                      <a:r>
                        <a:rPr lang="zh-CN" altLang="en-US" sz="1800">
                          <a:latin typeface="微软雅黑" panose="020B0503020204020204" pitchFamily="34" charset="-122"/>
                          <a:ea typeface="微软雅黑" panose="020B0503020204020204" pitchFamily="34" charset="-122"/>
                        </a:rPr>
                        <a:t>有效等价类</a:t>
                      </a:r>
                    </a:p>
                  </a:txBody>
                  <a:tcPr anchor="ctr"/>
                </a:tc>
                <a:tc>
                  <a:txBody>
                    <a:bodyPr/>
                    <a:lstStyle/>
                    <a:p>
                      <a:pPr marL="0" marR="0" lvl="0" indent="0" algn="ctr" defTabSz="1219200" rtl="0" eaLnBrk="1" fontAlgn="auto" latinLnBrk="0" hangingPunct="1">
                        <a:lnSpc>
                          <a:spcPct val="90000"/>
                        </a:lnSpc>
                        <a:spcBef>
                          <a:spcPts val="0"/>
                        </a:spcBef>
                        <a:spcAft>
                          <a:spcPts val="0"/>
                        </a:spcAft>
                        <a:buClrTx/>
                        <a:buSzTx/>
                        <a:buFontTx/>
                        <a:buNone/>
                        <a:defRPr/>
                      </a:pPr>
                      <a:r>
                        <a:rPr lang="zh-CN" altLang="en-US" sz="1800" dirty="0">
                          <a:latin typeface="微软雅黑" panose="020B0503020204020204" pitchFamily="34" charset="-122"/>
                          <a:ea typeface="微软雅黑" panose="020B0503020204020204" pitchFamily="34" charset="-122"/>
                        </a:rPr>
                        <a:t>有效等价类编号</a:t>
                      </a:r>
                    </a:p>
                  </a:txBody>
                  <a:tcPr anchor="ctr"/>
                </a:tc>
                <a:tc>
                  <a:txBody>
                    <a:bodyPr/>
                    <a:lstStyle/>
                    <a:p>
                      <a:pPr algn="ctr">
                        <a:lnSpc>
                          <a:spcPct val="90000"/>
                        </a:lnSpc>
                        <a:buNone/>
                      </a:pPr>
                      <a:r>
                        <a:rPr lang="zh-CN" altLang="en-US" sz="1800" dirty="0">
                          <a:latin typeface="微软雅黑" panose="020B0503020204020204" pitchFamily="34" charset="-122"/>
                          <a:ea typeface="微软雅黑" panose="020B0503020204020204" pitchFamily="34" charset="-122"/>
                        </a:rPr>
                        <a:t>无效等价类</a:t>
                      </a:r>
                    </a:p>
                  </a:txBody>
                  <a:tcPr anchor="ctr"/>
                </a:tc>
                <a:tc>
                  <a:txBody>
                    <a:bodyPr/>
                    <a:lstStyle/>
                    <a:p>
                      <a:pPr marL="0" marR="0" lvl="0" indent="0" algn="ctr" defTabSz="1219200" rtl="0" eaLnBrk="1" fontAlgn="auto" latinLnBrk="0" hangingPunct="1">
                        <a:lnSpc>
                          <a:spcPct val="90000"/>
                        </a:lnSpc>
                        <a:spcBef>
                          <a:spcPts val="0"/>
                        </a:spcBef>
                        <a:spcAft>
                          <a:spcPts val="0"/>
                        </a:spcAft>
                        <a:buClrTx/>
                        <a:buSzTx/>
                        <a:buFontTx/>
                        <a:buNone/>
                        <a:defRPr/>
                      </a:pPr>
                      <a:r>
                        <a:rPr lang="zh-CN" altLang="en-US" sz="1800">
                          <a:latin typeface="微软雅黑" panose="020B0503020204020204" pitchFamily="34" charset="-122"/>
                          <a:ea typeface="微软雅黑" panose="020B0503020204020204" pitchFamily="34" charset="-122"/>
                        </a:rPr>
                        <a:t>无效等价类编号</a:t>
                      </a:r>
                    </a:p>
                  </a:txBody>
                  <a:tcPr anchor="ctr"/>
                </a:tc>
                <a:extLst>
                  <a:ext uri="{0D108BD9-81ED-4DB2-BD59-A6C34878D82A}">
                    <a16:rowId xmlns:a16="http://schemas.microsoft.com/office/drawing/2014/main" val="10000"/>
                  </a:ext>
                </a:extLst>
              </a:tr>
              <a:tr h="381000">
                <a:tc rowSpan="4">
                  <a:txBody>
                    <a:bodyPr/>
                    <a:lstStyle/>
                    <a:p>
                      <a:pPr algn="l">
                        <a:buClrTx/>
                        <a:buSzTx/>
                        <a:buFontTx/>
                        <a:buNone/>
                      </a:pPr>
                      <a:r>
                        <a:rPr lang="zh-CN" altLang="en-US" sz="1600" kern="1200">
                          <a:solidFill>
                            <a:srgbClr val="595959"/>
                          </a:solidFill>
                          <a:latin typeface="微软雅黑" panose="020B0503020204020204" pitchFamily="34" charset="-122"/>
                          <a:ea typeface="微软雅黑" panose="020B0503020204020204" pitchFamily="34" charset="-122"/>
                          <a:cs typeface="+mn-cs"/>
                        </a:rPr>
                        <a:t>输入3个数</a:t>
                      </a:r>
                    </a:p>
                  </a:txBody>
                  <a:tcPr anchor="ctr"/>
                </a:tc>
                <a:tc rowSpan="4">
                  <a:txBody>
                    <a:bodyPr/>
                    <a:lstStyle/>
                    <a:p>
                      <a:pPr algn="l">
                        <a:buClrTx/>
                        <a:buSzTx/>
                        <a:buFontTx/>
                        <a:buNone/>
                      </a:pPr>
                      <a:r>
                        <a:rPr lang="zh-CN" altLang="en-US" sz="1600" kern="1200">
                          <a:solidFill>
                            <a:srgbClr val="595959"/>
                          </a:solidFill>
                          <a:latin typeface="微软雅黑" panose="020B0503020204020204" pitchFamily="34" charset="-122"/>
                          <a:ea typeface="微软雅黑" panose="020B0503020204020204" pitchFamily="34" charset="-122"/>
                          <a:cs typeface="+mn-cs"/>
                        </a:rPr>
                        <a:t>输入3个数</a:t>
                      </a:r>
                    </a:p>
                  </a:txBody>
                  <a:tcPr anchor="ctr"/>
                </a:tc>
                <a:tc rowSpan="4">
                  <a:txBody>
                    <a:bodyPr/>
                    <a:lstStyle/>
                    <a:p>
                      <a:pPr algn="ctr">
                        <a:buClrTx/>
                        <a:buSzTx/>
                        <a:buFontTx/>
                        <a:buNone/>
                      </a:pPr>
                      <a:r>
                        <a:rPr lang="en-US" altLang="zh-CN" sz="1600" kern="1200">
                          <a:solidFill>
                            <a:srgbClr val="595959"/>
                          </a:solidFill>
                          <a:latin typeface="微软雅黑" panose="020B0503020204020204" pitchFamily="34" charset="-122"/>
                          <a:ea typeface="微软雅黑" panose="020B0503020204020204" pitchFamily="34" charset="-122"/>
                          <a:cs typeface="+mn-cs"/>
                        </a:rPr>
                        <a:t>1</a:t>
                      </a:r>
                    </a:p>
                  </a:txBody>
                  <a:tcPr anchor="ctr"/>
                </a:tc>
                <a:tc>
                  <a:txBody>
                    <a:bodyPr/>
                    <a:lstStyle/>
                    <a:p>
                      <a:pPr algn="l">
                        <a:buClrTx/>
                        <a:buSzTx/>
                        <a:buFontTx/>
                        <a:buNone/>
                      </a:pPr>
                      <a:r>
                        <a:rPr lang="zh-CN" altLang="en-US" sz="1600" kern="1200">
                          <a:solidFill>
                            <a:srgbClr val="595959"/>
                          </a:solidFill>
                          <a:latin typeface="微软雅黑" panose="020B0503020204020204" pitchFamily="34" charset="-122"/>
                          <a:ea typeface="微软雅黑" panose="020B0503020204020204" pitchFamily="34" charset="-122"/>
                          <a:cs typeface="+mn-cs"/>
                        </a:rPr>
                        <a:t>输入0个数</a:t>
                      </a:r>
                    </a:p>
                  </a:txBody>
                  <a:tcPr anchor="ctr"/>
                </a:tc>
                <a:tc>
                  <a:txBody>
                    <a:bodyPr/>
                    <a:lstStyle/>
                    <a:p>
                      <a:pPr algn="ctr">
                        <a:buClrTx/>
                        <a:buSzTx/>
                        <a:buFontTx/>
                        <a:buNone/>
                      </a:pPr>
                      <a:r>
                        <a:rPr lang="en-US" altLang="zh-CN" sz="1600" kern="1200">
                          <a:solidFill>
                            <a:srgbClr val="595959"/>
                          </a:solidFill>
                          <a:latin typeface="微软雅黑" panose="020B0503020204020204" pitchFamily="34" charset="-122"/>
                          <a:ea typeface="微软雅黑" panose="020B0503020204020204" pitchFamily="34" charset="-122"/>
                          <a:cs typeface="+mn-cs"/>
                        </a:rPr>
                        <a:t>2</a:t>
                      </a:r>
                    </a:p>
                  </a:txBody>
                  <a:tcPr anchor="ctr"/>
                </a:tc>
                <a:extLst>
                  <a:ext uri="{0D108BD9-81ED-4DB2-BD59-A6C34878D82A}">
                    <a16:rowId xmlns:a16="http://schemas.microsoft.com/office/drawing/2014/main" val="10001"/>
                  </a:ext>
                </a:extLst>
              </a:tr>
              <a:tr h="309880">
                <a:tc vMerge="1">
                  <a:txBody>
                    <a:bodyPr/>
                    <a:lstStyle/>
                    <a:p>
                      <a:endParaRPr lang="zh-CN"/>
                    </a:p>
                  </a:txBody>
                  <a:tcPr anchor="ctr"/>
                </a:tc>
                <a:tc vMerge="1">
                  <a:txBody>
                    <a:bodyPr/>
                    <a:lstStyle/>
                    <a:p>
                      <a:endParaRPr lang="zh-CN"/>
                    </a:p>
                  </a:txBody>
                  <a:tcPr anchor="ctr"/>
                </a:tc>
                <a:tc vMerge="1">
                  <a:txBody>
                    <a:bodyPr/>
                    <a:lstStyle/>
                    <a:p>
                      <a:endParaRPr lang="zh-CN"/>
                    </a:p>
                  </a:txBody>
                  <a:tcPr anchor="ctr"/>
                </a:tc>
                <a:tc>
                  <a:txBody>
                    <a:bodyPr/>
                    <a:lstStyle/>
                    <a:p>
                      <a:pPr>
                        <a:buNone/>
                      </a:pPr>
                      <a:r>
                        <a:rPr lang="zh-CN" altLang="en-US" sz="1600" kern="1200">
                          <a:solidFill>
                            <a:srgbClr val="595959"/>
                          </a:solidFill>
                          <a:latin typeface="微软雅黑" panose="020B0503020204020204" pitchFamily="34" charset="-122"/>
                          <a:ea typeface="微软雅黑" panose="020B0503020204020204" pitchFamily="34" charset="-122"/>
                          <a:cs typeface="+mn-cs"/>
                        </a:rPr>
                        <a:t>只输入1个数</a:t>
                      </a:r>
                    </a:p>
                  </a:txBody>
                  <a:tcPr anchor="ctr"/>
                </a:tc>
                <a:tc>
                  <a:txBody>
                    <a:bodyPr/>
                    <a:lstStyle/>
                    <a:p>
                      <a:pPr algn="ctr">
                        <a:buNone/>
                      </a:pPr>
                      <a:r>
                        <a:rPr lang="en-US" altLang="zh-CN" sz="1600" kern="1200">
                          <a:solidFill>
                            <a:srgbClr val="595959"/>
                          </a:solidFill>
                          <a:latin typeface="微软雅黑" panose="020B0503020204020204" pitchFamily="34" charset="-122"/>
                          <a:ea typeface="微软雅黑" panose="020B0503020204020204" pitchFamily="34" charset="-122"/>
                          <a:cs typeface="+mn-cs"/>
                        </a:rPr>
                        <a:t>3</a:t>
                      </a:r>
                    </a:p>
                  </a:txBody>
                  <a:tcPr anchor="ctr"/>
                </a:tc>
                <a:extLst>
                  <a:ext uri="{0D108BD9-81ED-4DB2-BD59-A6C34878D82A}">
                    <a16:rowId xmlns:a16="http://schemas.microsoft.com/office/drawing/2014/main" val="10002"/>
                  </a:ext>
                </a:extLst>
              </a:tr>
              <a:tr h="357505">
                <a:tc vMerge="1">
                  <a:txBody>
                    <a:bodyPr/>
                    <a:lstStyle/>
                    <a:p>
                      <a:endParaRPr lang="zh-CN"/>
                    </a:p>
                  </a:txBody>
                  <a:tcPr anchor="ctr"/>
                </a:tc>
                <a:tc vMerge="1">
                  <a:txBody>
                    <a:bodyPr/>
                    <a:lstStyle/>
                    <a:p>
                      <a:endParaRPr lang="zh-CN"/>
                    </a:p>
                  </a:txBody>
                  <a:tcPr anchor="ctr"/>
                </a:tc>
                <a:tc vMerge="1">
                  <a:txBody>
                    <a:bodyPr/>
                    <a:lstStyle/>
                    <a:p>
                      <a:endParaRPr lang="zh-CN"/>
                    </a:p>
                  </a:txBody>
                  <a:tcPr anchor="ctr"/>
                </a:tc>
                <a:tc>
                  <a:txBody>
                    <a:bodyPr/>
                    <a:lstStyle/>
                    <a:p>
                      <a:pPr>
                        <a:buNone/>
                      </a:pPr>
                      <a:r>
                        <a:rPr lang="zh-CN" altLang="en-US" sz="1600" kern="1200">
                          <a:solidFill>
                            <a:srgbClr val="595959"/>
                          </a:solidFill>
                          <a:latin typeface="微软雅黑" panose="020B0503020204020204" pitchFamily="34" charset="-122"/>
                          <a:ea typeface="微软雅黑" panose="020B0503020204020204" pitchFamily="34" charset="-122"/>
                          <a:cs typeface="+mn-cs"/>
                        </a:rPr>
                        <a:t>只输入2个数</a:t>
                      </a:r>
                    </a:p>
                  </a:txBody>
                  <a:tcPr anchor="ctr"/>
                </a:tc>
                <a:tc>
                  <a:txBody>
                    <a:bodyPr/>
                    <a:lstStyle/>
                    <a:p>
                      <a:pPr algn="ctr">
                        <a:buNone/>
                      </a:pPr>
                      <a:r>
                        <a:rPr lang="en-US" altLang="zh-CN" sz="1600" kern="1200">
                          <a:solidFill>
                            <a:srgbClr val="595959"/>
                          </a:solidFill>
                          <a:latin typeface="微软雅黑" panose="020B0503020204020204" pitchFamily="34" charset="-122"/>
                          <a:ea typeface="微软雅黑" panose="020B0503020204020204" pitchFamily="34" charset="-122"/>
                          <a:cs typeface="+mn-cs"/>
                        </a:rPr>
                        <a:t>4</a:t>
                      </a:r>
                    </a:p>
                  </a:txBody>
                  <a:tcPr anchor="ctr"/>
                </a:tc>
                <a:extLst>
                  <a:ext uri="{0D108BD9-81ED-4DB2-BD59-A6C34878D82A}">
                    <a16:rowId xmlns:a16="http://schemas.microsoft.com/office/drawing/2014/main" val="10003"/>
                  </a:ext>
                </a:extLst>
              </a:tr>
              <a:tr h="184150">
                <a:tc vMerge="1">
                  <a:txBody>
                    <a:bodyPr/>
                    <a:lstStyle/>
                    <a:p>
                      <a:endParaRPr lang="zh-CN"/>
                    </a:p>
                  </a:txBody>
                  <a:tcPr anchor="ctr"/>
                </a:tc>
                <a:tc vMerge="1">
                  <a:txBody>
                    <a:bodyPr/>
                    <a:lstStyle/>
                    <a:p>
                      <a:endParaRPr lang="zh-CN"/>
                    </a:p>
                  </a:txBody>
                  <a:tcPr anchor="ctr"/>
                </a:tc>
                <a:tc vMerge="1">
                  <a:txBody>
                    <a:bodyPr/>
                    <a:lstStyle/>
                    <a:p>
                      <a:endParaRPr lang="zh-CN"/>
                    </a:p>
                  </a:txBody>
                  <a:tcPr anchor="ctr"/>
                </a:tc>
                <a:tc>
                  <a:txBody>
                    <a:bodyPr/>
                    <a:lstStyle/>
                    <a:p>
                      <a:pPr>
                        <a:buNone/>
                      </a:pPr>
                      <a:r>
                        <a:rPr lang="zh-CN" altLang="en-US" sz="1600" kern="1200">
                          <a:solidFill>
                            <a:srgbClr val="595959"/>
                          </a:solidFill>
                          <a:latin typeface="微软雅黑" panose="020B0503020204020204" pitchFamily="34" charset="-122"/>
                          <a:ea typeface="微软雅黑" panose="020B0503020204020204" pitchFamily="34" charset="-122"/>
                          <a:cs typeface="+mn-cs"/>
                        </a:rPr>
                        <a:t>输入超过3个数</a:t>
                      </a:r>
                    </a:p>
                  </a:txBody>
                  <a:tcPr anchor="ctr"/>
                </a:tc>
                <a:tc>
                  <a:txBody>
                    <a:bodyPr/>
                    <a:lstStyle/>
                    <a:p>
                      <a:pPr algn="ctr">
                        <a:buNone/>
                      </a:pPr>
                      <a:r>
                        <a:rPr lang="en-US" altLang="zh-CN" sz="1600" kern="1200">
                          <a:solidFill>
                            <a:srgbClr val="595959"/>
                          </a:solidFill>
                          <a:latin typeface="微软雅黑" panose="020B0503020204020204" pitchFamily="34" charset="-122"/>
                          <a:ea typeface="微软雅黑" panose="020B0503020204020204" pitchFamily="34" charset="-122"/>
                          <a:cs typeface="+mn-cs"/>
                        </a:rPr>
                        <a:t>5</a:t>
                      </a:r>
                    </a:p>
                  </a:txBody>
                  <a:tcPr anchor="ctr"/>
                </a:tc>
                <a:extLst>
                  <a:ext uri="{0D108BD9-81ED-4DB2-BD59-A6C34878D82A}">
                    <a16:rowId xmlns:a16="http://schemas.microsoft.com/office/drawing/2014/main" val="10004"/>
                  </a:ext>
                </a:extLst>
              </a:tr>
              <a:tr h="367665">
                <a:tc rowSpan="3">
                  <a:txBody>
                    <a:bodyPr/>
                    <a:lstStyle/>
                    <a:p>
                      <a:pPr algn="l">
                        <a:buNone/>
                      </a:pPr>
                      <a:r>
                        <a:rPr lang="zh-CN" altLang="en-US" sz="1600" kern="1200">
                          <a:solidFill>
                            <a:srgbClr val="595959"/>
                          </a:solidFill>
                          <a:latin typeface="微软雅黑" panose="020B0503020204020204" pitchFamily="34" charset="-122"/>
                          <a:ea typeface="微软雅黑" panose="020B0503020204020204" pitchFamily="34" charset="-122"/>
                          <a:cs typeface="+mn-cs"/>
                        </a:rPr>
                        <a:t>3个数是否都是正数</a:t>
                      </a:r>
                    </a:p>
                  </a:txBody>
                  <a:tcPr anchor="ctr"/>
                </a:tc>
                <a:tc rowSpan="3">
                  <a:txBody>
                    <a:bodyPr/>
                    <a:lstStyle/>
                    <a:p>
                      <a:pPr>
                        <a:buNone/>
                      </a:pPr>
                      <a:r>
                        <a:rPr lang="zh-CN" altLang="en-US" sz="1600" kern="1200">
                          <a:solidFill>
                            <a:srgbClr val="595959"/>
                          </a:solidFill>
                          <a:latin typeface="微软雅黑" panose="020B0503020204020204" pitchFamily="34" charset="-122"/>
                          <a:ea typeface="微软雅黑" panose="020B0503020204020204" pitchFamily="34" charset="-122"/>
                          <a:cs typeface="+mn-cs"/>
                        </a:rPr>
                        <a:t>3个数都是正数</a:t>
                      </a:r>
                    </a:p>
                  </a:txBody>
                  <a:tcPr anchor="ctr"/>
                </a:tc>
                <a:tc rowSpan="3">
                  <a:txBody>
                    <a:bodyPr/>
                    <a:lstStyle/>
                    <a:p>
                      <a:pPr algn="ctr">
                        <a:buNone/>
                      </a:pPr>
                      <a:r>
                        <a:rPr lang="en-US" altLang="zh-CN" sz="1600" kern="1200">
                          <a:solidFill>
                            <a:srgbClr val="595959"/>
                          </a:solidFill>
                          <a:latin typeface="微软雅黑" panose="020B0503020204020204" pitchFamily="34" charset="-122"/>
                          <a:ea typeface="微软雅黑" panose="020B0503020204020204" pitchFamily="34" charset="-122"/>
                          <a:cs typeface="+mn-cs"/>
                        </a:rPr>
                        <a:t>6</a:t>
                      </a:r>
                    </a:p>
                  </a:txBody>
                  <a:tcPr anchor="ctr"/>
                </a:tc>
                <a:tc>
                  <a:txBody>
                    <a:bodyPr/>
                    <a:lstStyle/>
                    <a:p>
                      <a:pPr>
                        <a:buNone/>
                      </a:pPr>
                      <a:r>
                        <a:rPr lang="zh-CN" altLang="en-US" sz="1600" kern="1200">
                          <a:solidFill>
                            <a:srgbClr val="595959"/>
                          </a:solidFill>
                          <a:latin typeface="微软雅黑" panose="020B0503020204020204" pitchFamily="34" charset="-122"/>
                          <a:ea typeface="微软雅黑" panose="020B0503020204020204" pitchFamily="34" charset="-122"/>
                          <a:cs typeface="+mn-cs"/>
                        </a:rPr>
                        <a:t>有1个数小于等于0</a:t>
                      </a:r>
                    </a:p>
                  </a:txBody>
                  <a:tcPr anchor="ctr"/>
                </a:tc>
                <a:tc>
                  <a:txBody>
                    <a:bodyPr/>
                    <a:lstStyle/>
                    <a:p>
                      <a:pPr algn="ctr">
                        <a:buNone/>
                      </a:pPr>
                      <a:r>
                        <a:rPr lang="en-US" altLang="zh-CN" sz="1600" kern="1200">
                          <a:solidFill>
                            <a:srgbClr val="595959"/>
                          </a:solidFill>
                          <a:latin typeface="微软雅黑" panose="020B0503020204020204" pitchFamily="34" charset="-122"/>
                          <a:ea typeface="微软雅黑" panose="020B0503020204020204" pitchFamily="34" charset="-122"/>
                          <a:cs typeface="+mn-cs"/>
                        </a:rPr>
                        <a:t>7</a:t>
                      </a:r>
                    </a:p>
                  </a:txBody>
                  <a:tcPr anchor="ctr"/>
                </a:tc>
                <a:extLst>
                  <a:ext uri="{0D108BD9-81ED-4DB2-BD59-A6C34878D82A}">
                    <a16:rowId xmlns:a16="http://schemas.microsoft.com/office/drawing/2014/main" val="10005"/>
                  </a:ext>
                </a:extLst>
              </a:tr>
              <a:tr h="299720">
                <a:tc vMerge="1">
                  <a:txBody>
                    <a:bodyPr/>
                    <a:lstStyle/>
                    <a:p>
                      <a:endParaRPr lang="zh-CN"/>
                    </a:p>
                  </a:txBody>
                  <a:tcPr anchor="ctr"/>
                </a:tc>
                <a:tc vMerge="1">
                  <a:txBody>
                    <a:bodyPr/>
                    <a:lstStyle/>
                    <a:p>
                      <a:endParaRPr lang="zh-CN"/>
                    </a:p>
                  </a:txBody>
                  <a:tcPr anchor="ctr"/>
                </a:tc>
                <a:tc vMerge="1">
                  <a:txBody>
                    <a:bodyPr/>
                    <a:lstStyle/>
                    <a:p>
                      <a:endParaRPr lang="zh-CN"/>
                    </a:p>
                  </a:txBody>
                  <a:tcPr anchor="ctr"/>
                </a:tc>
                <a:tc>
                  <a:txBody>
                    <a:bodyPr/>
                    <a:lstStyle/>
                    <a:p>
                      <a:pPr>
                        <a:buNone/>
                      </a:pPr>
                      <a:r>
                        <a:rPr lang="zh-CN" altLang="en-US" sz="1600" kern="1200">
                          <a:solidFill>
                            <a:srgbClr val="595959"/>
                          </a:solidFill>
                          <a:latin typeface="微软雅黑" panose="020B0503020204020204" pitchFamily="34" charset="-122"/>
                          <a:ea typeface="微软雅黑" panose="020B0503020204020204" pitchFamily="34" charset="-122"/>
                          <a:cs typeface="+mn-cs"/>
                        </a:rPr>
                        <a:t>有2个数小于等于0</a:t>
                      </a:r>
                    </a:p>
                  </a:txBody>
                  <a:tcPr anchor="ctr"/>
                </a:tc>
                <a:tc>
                  <a:txBody>
                    <a:bodyPr/>
                    <a:lstStyle/>
                    <a:p>
                      <a:pPr algn="ctr">
                        <a:buNone/>
                      </a:pPr>
                      <a:r>
                        <a:rPr lang="en-US" altLang="zh-CN" sz="1600" kern="1200">
                          <a:solidFill>
                            <a:srgbClr val="595959"/>
                          </a:solidFill>
                          <a:latin typeface="微软雅黑" panose="020B0503020204020204" pitchFamily="34" charset="-122"/>
                          <a:ea typeface="微软雅黑" panose="020B0503020204020204" pitchFamily="34" charset="-122"/>
                          <a:cs typeface="+mn-cs"/>
                        </a:rPr>
                        <a:t>8</a:t>
                      </a:r>
                    </a:p>
                  </a:txBody>
                  <a:tcPr anchor="ctr"/>
                </a:tc>
                <a:extLst>
                  <a:ext uri="{0D108BD9-81ED-4DB2-BD59-A6C34878D82A}">
                    <a16:rowId xmlns:a16="http://schemas.microsoft.com/office/drawing/2014/main" val="10006"/>
                  </a:ext>
                </a:extLst>
              </a:tr>
              <a:tr h="338455">
                <a:tc vMerge="1">
                  <a:txBody>
                    <a:bodyPr/>
                    <a:lstStyle/>
                    <a:p>
                      <a:endParaRPr lang="zh-CN"/>
                    </a:p>
                  </a:txBody>
                  <a:tcPr anchor="ctr"/>
                </a:tc>
                <a:tc vMerge="1">
                  <a:txBody>
                    <a:bodyPr/>
                    <a:lstStyle/>
                    <a:p>
                      <a:endParaRPr lang="zh-CN"/>
                    </a:p>
                  </a:txBody>
                  <a:tcPr anchor="ctr"/>
                </a:tc>
                <a:tc vMerge="1">
                  <a:txBody>
                    <a:bodyPr/>
                    <a:lstStyle/>
                    <a:p>
                      <a:endParaRPr lang="zh-CN"/>
                    </a:p>
                  </a:txBody>
                  <a:tcPr anchor="ctr"/>
                </a:tc>
                <a:tc>
                  <a:txBody>
                    <a:bodyPr/>
                    <a:lstStyle/>
                    <a:p>
                      <a:pPr>
                        <a:buNone/>
                      </a:pPr>
                      <a:r>
                        <a:rPr lang="zh-CN" altLang="en-US" sz="1600" kern="1200">
                          <a:solidFill>
                            <a:srgbClr val="595959"/>
                          </a:solidFill>
                          <a:latin typeface="微软雅黑" panose="020B0503020204020204" pitchFamily="34" charset="-122"/>
                          <a:ea typeface="微软雅黑" panose="020B0503020204020204" pitchFamily="34" charset="-122"/>
                          <a:cs typeface="+mn-cs"/>
                        </a:rPr>
                        <a:t>3个数都小于等于0</a:t>
                      </a:r>
                    </a:p>
                  </a:txBody>
                  <a:tcPr anchor="ctr"/>
                </a:tc>
                <a:tc>
                  <a:txBody>
                    <a:bodyPr/>
                    <a:lstStyle/>
                    <a:p>
                      <a:pPr algn="ctr">
                        <a:buNone/>
                      </a:pPr>
                      <a:r>
                        <a:rPr lang="en-US" altLang="zh-CN" sz="1600" kern="1200">
                          <a:solidFill>
                            <a:srgbClr val="595959"/>
                          </a:solidFill>
                          <a:latin typeface="微软雅黑" panose="020B0503020204020204" pitchFamily="34" charset="-122"/>
                          <a:ea typeface="微软雅黑" panose="020B0503020204020204" pitchFamily="34" charset="-122"/>
                          <a:cs typeface="+mn-cs"/>
                        </a:rPr>
                        <a:t>9</a:t>
                      </a:r>
                    </a:p>
                  </a:txBody>
                  <a:tcPr anchor="ctr"/>
                </a:tc>
                <a:extLst>
                  <a:ext uri="{0D108BD9-81ED-4DB2-BD59-A6C34878D82A}">
                    <a16:rowId xmlns:a16="http://schemas.microsoft.com/office/drawing/2014/main" val="10007"/>
                  </a:ext>
                </a:extLst>
              </a:tr>
              <a:tr h="502920">
                <a:tc>
                  <a:txBody>
                    <a:bodyPr/>
                    <a:lstStyle/>
                    <a:p>
                      <a:pPr algn="l">
                        <a:buNone/>
                      </a:pPr>
                      <a:r>
                        <a:rPr lang="zh-CN" altLang="en-US" sz="1600" kern="1200">
                          <a:solidFill>
                            <a:srgbClr val="595959"/>
                          </a:solidFill>
                          <a:latin typeface="微软雅黑" panose="020B0503020204020204" pitchFamily="34" charset="-122"/>
                          <a:ea typeface="微软雅黑" panose="020B0503020204020204" pitchFamily="34" charset="-122"/>
                          <a:cs typeface="+mn-cs"/>
                        </a:rPr>
                        <a:t>3个数是否能构成三角形</a:t>
                      </a:r>
                    </a:p>
                  </a:txBody>
                  <a:tcPr anchor="ctr"/>
                </a:tc>
                <a:tc>
                  <a:txBody>
                    <a:bodyPr/>
                    <a:lstStyle/>
                    <a:p>
                      <a:pPr>
                        <a:buNone/>
                      </a:pPr>
                      <a:r>
                        <a:rPr lang="zh-CN" altLang="en-US" sz="1600" kern="1200">
                          <a:solidFill>
                            <a:srgbClr val="595959"/>
                          </a:solidFill>
                          <a:latin typeface="微软雅黑" panose="020B0503020204020204" pitchFamily="34" charset="-122"/>
                          <a:ea typeface="微软雅黑" panose="020B0503020204020204" pitchFamily="34" charset="-122"/>
                          <a:cs typeface="+mn-cs"/>
                        </a:rPr>
                        <a:t>任意2个数之和大于第3个数</a:t>
                      </a:r>
                    </a:p>
                  </a:txBody>
                  <a:tcPr anchor="ctr"/>
                </a:tc>
                <a:tc>
                  <a:txBody>
                    <a:bodyPr/>
                    <a:lstStyle/>
                    <a:p>
                      <a:pPr algn="ctr">
                        <a:buNone/>
                      </a:pPr>
                      <a:r>
                        <a:rPr lang="en-US" altLang="zh-CN" sz="1600" kern="1200">
                          <a:solidFill>
                            <a:srgbClr val="595959"/>
                          </a:solidFill>
                          <a:latin typeface="微软雅黑" panose="020B0503020204020204" pitchFamily="34" charset="-122"/>
                          <a:ea typeface="微软雅黑" panose="020B0503020204020204" pitchFamily="34" charset="-122"/>
                          <a:cs typeface="+mn-cs"/>
                        </a:rPr>
                        <a:t>10</a:t>
                      </a:r>
                    </a:p>
                  </a:txBody>
                  <a:tcPr anchor="ctr"/>
                </a:tc>
                <a:tc>
                  <a:txBody>
                    <a:bodyPr/>
                    <a:lstStyle/>
                    <a:p>
                      <a:pPr>
                        <a:buNone/>
                      </a:pPr>
                      <a:r>
                        <a:rPr lang="zh-CN" altLang="en-US" sz="1600" kern="1200">
                          <a:solidFill>
                            <a:srgbClr val="595959"/>
                          </a:solidFill>
                          <a:latin typeface="微软雅黑" panose="020B0503020204020204" pitchFamily="34" charset="-122"/>
                          <a:ea typeface="微软雅黑" panose="020B0503020204020204" pitchFamily="34" charset="-122"/>
                          <a:cs typeface="+mn-cs"/>
                        </a:rPr>
                        <a:t>其中2个数之和小于等于第3个数</a:t>
                      </a:r>
                    </a:p>
                  </a:txBody>
                  <a:tcPr anchor="ctr"/>
                </a:tc>
                <a:tc>
                  <a:txBody>
                    <a:bodyPr/>
                    <a:lstStyle/>
                    <a:p>
                      <a:pPr algn="ctr">
                        <a:buNone/>
                      </a:pPr>
                      <a:r>
                        <a:rPr lang="en-US" altLang="zh-CN" sz="1600" kern="1200">
                          <a:solidFill>
                            <a:srgbClr val="595959"/>
                          </a:solidFill>
                          <a:latin typeface="微软雅黑" panose="020B0503020204020204" pitchFamily="34" charset="-122"/>
                          <a:ea typeface="微软雅黑" panose="020B0503020204020204" pitchFamily="34" charset="-122"/>
                          <a:cs typeface="+mn-cs"/>
                        </a:rPr>
                        <a:t>11</a:t>
                      </a:r>
                    </a:p>
                  </a:txBody>
                  <a:tcPr anchor="ctr"/>
                </a:tc>
                <a:extLst>
                  <a:ext uri="{0D108BD9-81ED-4DB2-BD59-A6C34878D82A}">
                    <a16:rowId xmlns:a16="http://schemas.microsoft.com/office/drawing/2014/main" val="10008"/>
                  </a:ext>
                </a:extLst>
              </a:tr>
              <a:tr h="464185">
                <a:tc>
                  <a:txBody>
                    <a:bodyPr/>
                    <a:lstStyle/>
                    <a:p>
                      <a:pPr algn="l">
                        <a:buNone/>
                      </a:pPr>
                      <a:r>
                        <a:rPr lang="zh-CN" altLang="en-US" sz="1600" kern="1200">
                          <a:solidFill>
                            <a:srgbClr val="595959"/>
                          </a:solidFill>
                          <a:latin typeface="微软雅黑" panose="020B0503020204020204" pitchFamily="34" charset="-122"/>
                          <a:ea typeface="微软雅黑" panose="020B0503020204020204" pitchFamily="34" charset="-122"/>
                          <a:cs typeface="+mn-cs"/>
                        </a:rPr>
                        <a:t>3个数是否能构成等腰三角形</a:t>
                      </a:r>
                    </a:p>
                  </a:txBody>
                  <a:tcPr anchor="ctr"/>
                </a:tc>
                <a:tc>
                  <a:txBody>
                    <a:bodyPr/>
                    <a:lstStyle/>
                    <a:p>
                      <a:pPr>
                        <a:buNone/>
                      </a:pPr>
                      <a:r>
                        <a:rPr lang="zh-CN" altLang="en-US" sz="1600" kern="1200">
                          <a:solidFill>
                            <a:srgbClr val="595959"/>
                          </a:solidFill>
                          <a:latin typeface="微软雅黑" panose="020B0503020204020204" pitchFamily="34" charset="-122"/>
                          <a:ea typeface="微软雅黑" panose="020B0503020204020204" pitchFamily="34" charset="-122"/>
                          <a:cs typeface="+mn-cs"/>
                        </a:rPr>
                        <a:t>其中有2个数相等，a=b|a=c|b=c</a:t>
                      </a:r>
                    </a:p>
                  </a:txBody>
                  <a:tcPr anchor="ctr"/>
                </a:tc>
                <a:tc>
                  <a:txBody>
                    <a:bodyPr/>
                    <a:lstStyle/>
                    <a:p>
                      <a:pPr algn="ctr">
                        <a:buNone/>
                      </a:pPr>
                      <a:r>
                        <a:rPr lang="en-US" altLang="zh-CN" sz="1600" kern="1200">
                          <a:solidFill>
                            <a:srgbClr val="595959"/>
                          </a:solidFill>
                          <a:latin typeface="微软雅黑" panose="020B0503020204020204" pitchFamily="34" charset="-122"/>
                          <a:ea typeface="微软雅黑" panose="020B0503020204020204" pitchFamily="34" charset="-122"/>
                          <a:cs typeface="+mn-cs"/>
                        </a:rPr>
                        <a:t>12</a:t>
                      </a:r>
                    </a:p>
                  </a:txBody>
                  <a:tcPr anchor="ctr"/>
                </a:tc>
                <a:tc>
                  <a:txBody>
                    <a:bodyPr/>
                    <a:lstStyle/>
                    <a:p>
                      <a:pPr>
                        <a:buNone/>
                      </a:pPr>
                      <a:r>
                        <a:rPr lang="zh-CN" altLang="en-US" sz="1600" kern="1200">
                          <a:solidFill>
                            <a:srgbClr val="595959"/>
                          </a:solidFill>
                          <a:latin typeface="微软雅黑" panose="020B0503020204020204" pitchFamily="34" charset="-122"/>
                          <a:ea typeface="微软雅黑" panose="020B0503020204020204" pitchFamily="34" charset="-122"/>
                          <a:cs typeface="+mn-cs"/>
                        </a:rPr>
                        <a:t>3个数均不相等</a:t>
                      </a:r>
                    </a:p>
                  </a:txBody>
                  <a:tcPr anchor="ctr"/>
                </a:tc>
                <a:tc>
                  <a:txBody>
                    <a:bodyPr/>
                    <a:lstStyle/>
                    <a:p>
                      <a:pPr algn="ctr">
                        <a:buNone/>
                      </a:pPr>
                      <a:r>
                        <a:rPr lang="en-US" altLang="zh-CN" sz="1600" kern="1200">
                          <a:solidFill>
                            <a:srgbClr val="595959"/>
                          </a:solidFill>
                          <a:latin typeface="微软雅黑" panose="020B0503020204020204" pitchFamily="34" charset="-122"/>
                          <a:ea typeface="微软雅黑" panose="020B0503020204020204" pitchFamily="34" charset="-122"/>
                          <a:cs typeface="+mn-cs"/>
                        </a:rPr>
                        <a:t>13</a:t>
                      </a:r>
                    </a:p>
                  </a:txBody>
                  <a:tcPr anchor="ctr"/>
                </a:tc>
                <a:extLst>
                  <a:ext uri="{0D108BD9-81ED-4DB2-BD59-A6C34878D82A}">
                    <a16:rowId xmlns:a16="http://schemas.microsoft.com/office/drawing/2014/main" val="10009"/>
                  </a:ext>
                </a:extLst>
              </a:tr>
              <a:tr h="434975">
                <a:tc>
                  <a:txBody>
                    <a:bodyPr/>
                    <a:lstStyle/>
                    <a:p>
                      <a:pPr algn="l">
                        <a:buNone/>
                      </a:pPr>
                      <a:r>
                        <a:rPr lang="zh-CN" altLang="en-US" sz="1600" kern="1200">
                          <a:solidFill>
                            <a:srgbClr val="595959"/>
                          </a:solidFill>
                          <a:latin typeface="微软雅黑" panose="020B0503020204020204" pitchFamily="34" charset="-122"/>
                          <a:ea typeface="微软雅黑" panose="020B0503020204020204" pitchFamily="34" charset="-122"/>
                          <a:cs typeface="+mn-cs"/>
                        </a:rPr>
                        <a:t>3个数是否能构成等边三角形</a:t>
                      </a:r>
                    </a:p>
                  </a:txBody>
                  <a:tcPr anchor="ctr"/>
                </a:tc>
                <a:tc>
                  <a:txBody>
                    <a:bodyPr/>
                    <a:lstStyle/>
                    <a:p>
                      <a:pPr>
                        <a:buNone/>
                      </a:pPr>
                      <a:r>
                        <a:rPr lang="en-US" altLang="zh-CN" sz="1600" kern="1200">
                          <a:solidFill>
                            <a:srgbClr val="595959"/>
                          </a:solidFill>
                          <a:latin typeface="微软雅黑" panose="020B0503020204020204" pitchFamily="34" charset="-122"/>
                          <a:ea typeface="微软雅黑" panose="020B0503020204020204" pitchFamily="34" charset="-122"/>
                          <a:cs typeface="+mn-cs"/>
                        </a:rPr>
                        <a:t>3</a:t>
                      </a:r>
                      <a:r>
                        <a:rPr lang="zh-CN" altLang="en-US" sz="1600" kern="1200">
                          <a:solidFill>
                            <a:srgbClr val="595959"/>
                          </a:solidFill>
                          <a:latin typeface="微软雅黑" panose="020B0503020204020204" pitchFamily="34" charset="-122"/>
                          <a:ea typeface="微软雅黑" panose="020B0503020204020204" pitchFamily="34" charset="-122"/>
                          <a:cs typeface="+mn-cs"/>
                        </a:rPr>
                        <a:t>个数相等， a=b=c</a:t>
                      </a:r>
                    </a:p>
                  </a:txBody>
                  <a:tcPr anchor="ctr"/>
                </a:tc>
                <a:tc>
                  <a:txBody>
                    <a:bodyPr/>
                    <a:lstStyle/>
                    <a:p>
                      <a:pPr algn="ctr">
                        <a:buNone/>
                      </a:pPr>
                      <a:r>
                        <a:rPr lang="en-US" altLang="zh-CN" sz="1600" kern="1200">
                          <a:solidFill>
                            <a:srgbClr val="595959"/>
                          </a:solidFill>
                          <a:latin typeface="微软雅黑" panose="020B0503020204020204" pitchFamily="34" charset="-122"/>
                          <a:ea typeface="微软雅黑" panose="020B0503020204020204" pitchFamily="34" charset="-122"/>
                          <a:cs typeface="+mn-cs"/>
                        </a:rPr>
                        <a:t>14</a:t>
                      </a:r>
                    </a:p>
                  </a:txBody>
                  <a:tcPr anchor="ctr"/>
                </a:tc>
                <a:tc>
                  <a:txBody>
                    <a:bodyPr/>
                    <a:lstStyle/>
                    <a:p>
                      <a:pPr>
                        <a:buNone/>
                      </a:pPr>
                      <a:r>
                        <a:rPr lang="zh-CN" altLang="en-US" sz="1600" kern="1200">
                          <a:solidFill>
                            <a:srgbClr val="595959"/>
                          </a:solidFill>
                          <a:latin typeface="微软雅黑" panose="020B0503020204020204" pitchFamily="34" charset="-122"/>
                          <a:ea typeface="微软雅黑" panose="020B0503020204020204" pitchFamily="34" charset="-122"/>
                          <a:cs typeface="+mn-cs"/>
                        </a:rPr>
                        <a:t>3个数不相等</a:t>
                      </a:r>
                    </a:p>
                  </a:txBody>
                  <a:tcPr anchor="ctr"/>
                </a:tc>
                <a:tc>
                  <a:txBody>
                    <a:bodyPr/>
                    <a:lstStyle/>
                    <a:p>
                      <a:pPr algn="ctr">
                        <a:buNone/>
                      </a:pPr>
                      <a:r>
                        <a:rPr lang="en-US" altLang="zh-CN" sz="1600" kern="1200" dirty="0">
                          <a:solidFill>
                            <a:srgbClr val="595959"/>
                          </a:solidFill>
                          <a:latin typeface="微软雅黑" panose="020B0503020204020204" pitchFamily="34" charset="-122"/>
                          <a:ea typeface="微软雅黑" panose="020B0503020204020204" pitchFamily="34" charset="-122"/>
                          <a:cs typeface="+mn-cs"/>
                        </a:rPr>
                        <a:t>15</a:t>
                      </a:r>
                    </a:p>
                  </a:txBody>
                  <a:tcPr anchor="ctr"/>
                </a:tc>
                <a:extLst>
                  <a:ext uri="{0D108BD9-81ED-4DB2-BD59-A6C34878D82A}">
                    <a16:rowId xmlns:a16="http://schemas.microsoft.com/office/drawing/2014/main" val="10010"/>
                  </a:ext>
                </a:extLst>
              </a:tr>
            </a:tbl>
          </a:graphicData>
        </a:graphic>
      </p:graphicFrame>
      <p:sp>
        <p:nvSpPr>
          <p:cNvPr id="16" name="TextBox 35"/>
          <p:cNvSpPr txBox="1">
            <a:spLocks noChangeArrowheads="1"/>
          </p:cNvSpPr>
          <p:nvPr/>
        </p:nvSpPr>
        <p:spPr bwMode="auto">
          <a:xfrm>
            <a:off x="1143634" y="821055"/>
            <a:ext cx="9919571" cy="1053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no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indent="457200" algn="just">
              <a:lnSpc>
                <a:spcPct val="150000"/>
              </a:lnSpc>
              <a:buClrTx/>
              <a:buSzTx/>
              <a:buFontTx/>
            </a:pPr>
            <a:r>
              <a:rPr lang="zh-CN" altLang="en-US" sz="1800" dirty="0">
                <a:solidFill>
                  <a:srgbClr val="595959"/>
                </a:solidFill>
                <a:latin typeface="微软雅黑" panose="020B0503020204020204" pitchFamily="34" charset="-122"/>
                <a:ea typeface="微软雅黑" panose="020B0503020204020204" pitchFamily="34" charset="-122"/>
              </a:rPr>
              <a:t>在前面分析中，一共将三角形程序的输入划分为了15个等价类，下面分别为</a:t>
            </a:r>
            <a:r>
              <a:rPr lang="zh-CN" altLang="en-US" sz="1800" dirty="0">
                <a:solidFill>
                  <a:srgbClr val="0070C0"/>
                </a:solidFill>
                <a:latin typeface="微软雅黑" panose="020B0503020204020204" pitchFamily="34" charset="-122"/>
                <a:ea typeface="微软雅黑" panose="020B0503020204020204" pitchFamily="34" charset="-122"/>
              </a:rPr>
              <a:t>等价类编号</a:t>
            </a:r>
            <a:r>
              <a:rPr lang="zh-CN" altLang="en-US" sz="1800" dirty="0">
                <a:solidFill>
                  <a:srgbClr val="595959"/>
                </a:solidFill>
                <a:latin typeface="微软雅黑" panose="020B0503020204020204" pitchFamily="34" charset="-122"/>
                <a:ea typeface="微软雅黑" panose="020B0503020204020204" pitchFamily="34" charset="-122"/>
              </a:rPr>
              <a:t>，并</a:t>
            </a:r>
            <a:r>
              <a:rPr lang="zh-CN" altLang="en-US" sz="1800" dirty="0">
                <a:solidFill>
                  <a:srgbClr val="0070C0"/>
                </a:solidFill>
                <a:latin typeface="微软雅黑" panose="020B0503020204020204" pitchFamily="34" charset="-122"/>
                <a:ea typeface="微软雅黑" panose="020B0503020204020204" pitchFamily="34" charset="-122"/>
              </a:rPr>
              <a:t>建立等价类表</a:t>
            </a:r>
            <a:r>
              <a:rPr lang="zh-CN" altLang="en-US" sz="1800" dirty="0">
                <a:solidFill>
                  <a:srgbClr val="595959"/>
                </a:solidFill>
                <a:latin typeface="微软雅黑" panose="020B0503020204020204" pitchFamily="34" charset="-122"/>
                <a:ea typeface="微软雅黑" panose="020B0503020204020204" pitchFamily="34" charset="-122"/>
              </a:rPr>
              <a:t>，</a:t>
            </a:r>
            <a:r>
              <a:rPr lang="zh-CN" altLang="en-US" sz="1800" dirty="0">
                <a:solidFill>
                  <a:srgbClr val="0070C0"/>
                </a:solidFill>
                <a:latin typeface="微软雅黑" panose="020B0503020204020204" pitchFamily="34" charset="-122"/>
                <a:ea typeface="微软雅黑" panose="020B0503020204020204" pitchFamily="34" charset="-122"/>
              </a:rPr>
              <a:t>三角形程序输入的等价类表</a:t>
            </a:r>
            <a:r>
              <a:rPr lang="zh-CN" altLang="en-US" sz="1800" dirty="0">
                <a:solidFill>
                  <a:srgbClr val="595959"/>
                </a:solidFill>
                <a:latin typeface="微软雅黑" panose="020B0503020204020204" pitchFamily="34" charset="-122"/>
                <a:ea typeface="微软雅黑" panose="020B0503020204020204" pitchFamily="34" charset="-122"/>
              </a:rPr>
              <a:t>如下表所示。</a:t>
            </a:r>
          </a:p>
        </p:txBody>
      </p:sp>
      <p:sp>
        <p:nvSpPr>
          <p:cNvPr id="3" name="Title 1"/>
          <p:cNvSpPr txBox="1"/>
          <p:nvPr/>
        </p:nvSpPr>
        <p:spPr>
          <a:xfrm>
            <a:off x="1143635" y="266700"/>
            <a:ext cx="644271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2.1.3	实例二：三角形问题的等价类划分</a:t>
            </a: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35"/>
          <p:cNvSpPr txBox="1">
            <a:spLocks noChangeArrowheads="1"/>
          </p:cNvSpPr>
          <p:nvPr/>
        </p:nvSpPr>
        <p:spPr bwMode="auto">
          <a:xfrm>
            <a:off x="1127125" y="837565"/>
            <a:ext cx="9710420" cy="1356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no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indent="457200" algn="just">
              <a:lnSpc>
                <a:spcPct val="150000"/>
              </a:lnSpc>
              <a:buClrTx/>
              <a:buSzTx/>
              <a:buFontTx/>
            </a:pPr>
            <a:r>
              <a:rPr lang="zh-CN" altLang="en-US" sz="1800" dirty="0">
                <a:solidFill>
                  <a:srgbClr val="595959"/>
                </a:solidFill>
                <a:latin typeface="微软雅黑" panose="020B0503020204020204" pitchFamily="34" charset="-122"/>
                <a:ea typeface="微软雅黑" panose="020B0503020204020204" pitchFamily="34" charset="-122"/>
              </a:rPr>
              <a:t>下面根据三角形输入等价类表，设计测试用例覆盖等价类。首先设计覆盖有效等价类的测试用例，在设计时，既要考虑测试输入情况的全面性，又要考虑对有效等价类的覆盖情况，</a:t>
            </a:r>
            <a:r>
              <a:rPr lang="zh-CN" altLang="en-US" sz="1800" dirty="0">
                <a:solidFill>
                  <a:srgbClr val="0070C0"/>
                </a:solidFill>
                <a:latin typeface="微软雅黑" panose="020B0503020204020204" pitchFamily="34" charset="-122"/>
                <a:ea typeface="微软雅黑" panose="020B0503020204020204" pitchFamily="34" charset="-122"/>
              </a:rPr>
              <a:t>覆盖有效等价类的测试用例</a:t>
            </a:r>
            <a:r>
              <a:rPr lang="zh-CN" altLang="en-US" sz="1800" dirty="0">
                <a:solidFill>
                  <a:srgbClr val="595959"/>
                </a:solidFill>
                <a:latin typeface="微软雅黑" panose="020B0503020204020204" pitchFamily="34" charset="-122"/>
                <a:ea typeface="微软雅黑" panose="020B0503020204020204" pitchFamily="34" charset="-122"/>
              </a:rPr>
              <a:t>如下表所示。</a:t>
            </a:r>
          </a:p>
          <a:p>
            <a:pPr algn="just">
              <a:lnSpc>
                <a:spcPct val="150000"/>
              </a:lnSpc>
              <a:buClrTx/>
              <a:buSzTx/>
              <a:buFontTx/>
            </a:pPr>
            <a:endParaRPr lang="zh-CN" altLang="en-US" sz="1800" dirty="0">
              <a:solidFill>
                <a:srgbClr val="595959"/>
              </a:solidFill>
              <a:latin typeface="微软雅黑" panose="020B0503020204020204" pitchFamily="34" charset="-122"/>
              <a:ea typeface="微软雅黑" panose="020B0503020204020204" pitchFamily="34" charset="-122"/>
            </a:endParaRPr>
          </a:p>
        </p:txBody>
      </p:sp>
      <p:sp>
        <p:nvSpPr>
          <p:cNvPr id="3" name="Title 1"/>
          <p:cNvSpPr txBox="1"/>
          <p:nvPr/>
        </p:nvSpPr>
        <p:spPr>
          <a:xfrm>
            <a:off x="1143635" y="266700"/>
            <a:ext cx="644271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2.1.3	实例二：三角形问题的等价类划分</a:t>
            </a:r>
          </a:p>
        </p:txBody>
      </p:sp>
      <p:graphicFrame>
        <p:nvGraphicFramePr>
          <p:cNvPr id="2" name="表格 1"/>
          <p:cNvGraphicFramePr/>
          <p:nvPr>
            <p:custDataLst>
              <p:tags r:id="rId1"/>
            </p:custDataLst>
          </p:nvPr>
        </p:nvGraphicFramePr>
        <p:xfrm>
          <a:off x="2871470" y="2637155"/>
          <a:ext cx="6221730" cy="2909570"/>
        </p:xfrm>
        <a:graphic>
          <a:graphicData uri="http://schemas.openxmlformats.org/drawingml/2006/table">
            <a:tbl>
              <a:tblPr firstRow="1" bandRow="1">
                <a:tableStyleId>{5C22544A-7EE6-4342-B048-85BDC9FD1C3A}</a:tableStyleId>
              </a:tblPr>
              <a:tblGrid>
                <a:gridCol w="1826260">
                  <a:extLst>
                    <a:ext uri="{9D8B030D-6E8A-4147-A177-3AD203B41FA5}">
                      <a16:colId xmlns:a16="http://schemas.microsoft.com/office/drawing/2014/main" val="20000"/>
                    </a:ext>
                  </a:extLst>
                </a:gridCol>
                <a:gridCol w="1760220">
                  <a:extLst>
                    <a:ext uri="{9D8B030D-6E8A-4147-A177-3AD203B41FA5}">
                      <a16:colId xmlns:a16="http://schemas.microsoft.com/office/drawing/2014/main" val="20001"/>
                    </a:ext>
                  </a:extLst>
                </a:gridCol>
                <a:gridCol w="2635250">
                  <a:extLst>
                    <a:ext uri="{9D8B030D-6E8A-4147-A177-3AD203B41FA5}">
                      <a16:colId xmlns:a16="http://schemas.microsoft.com/office/drawing/2014/main" val="20002"/>
                    </a:ext>
                  </a:extLst>
                </a:gridCol>
              </a:tblGrid>
              <a:tr h="613410">
                <a:tc>
                  <a:txBody>
                    <a:bodyPr/>
                    <a:lstStyle/>
                    <a:p>
                      <a:pPr algn="ctr">
                        <a:lnSpc>
                          <a:spcPct val="90000"/>
                        </a:lnSpc>
                        <a:buNone/>
                      </a:pPr>
                      <a:r>
                        <a:rPr lang="zh-CN" altLang="en-US" sz="1800" b="1">
                          <a:latin typeface="微软雅黑" panose="020B0503020204020204" pitchFamily="34" charset="-122"/>
                          <a:ea typeface="微软雅黑" panose="020B0503020204020204" pitchFamily="34" charset="-122"/>
                        </a:rPr>
                        <a:t>测试用例</a:t>
                      </a:r>
                    </a:p>
                  </a:txBody>
                  <a:tcPr anchor="ctr"/>
                </a:tc>
                <a:tc>
                  <a:txBody>
                    <a:bodyPr/>
                    <a:lstStyle/>
                    <a:p>
                      <a:pPr algn="ctr">
                        <a:lnSpc>
                          <a:spcPct val="90000"/>
                        </a:lnSpc>
                        <a:buNone/>
                      </a:pPr>
                      <a:r>
                        <a:rPr lang="zh-CN" altLang="en-US" sz="1800">
                          <a:latin typeface="微软雅黑" panose="020B0503020204020204" pitchFamily="34" charset="-122"/>
                          <a:ea typeface="微软雅黑" panose="020B0503020204020204" pitchFamily="34" charset="-122"/>
                        </a:rPr>
                        <a:t>输入3个数</a:t>
                      </a:r>
                    </a:p>
                  </a:txBody>
                  <a:tcPr anchor="ctr"/>
                </a:tc>
                <a:tc>
                  <a:txBody>
                    <a:bodyPr/>
                    <a:lstStyle/>
                    <a:p>
                      <a:pPr algn="ctr">
                        <a:lnSpc>
                          <a:spcPct val="90000"/>
                        </a:lnSpc>
                        <a:buNone/>
                      </a:pPr>
                      <a:r>
                        <a:rPr lang="zh-CN" altLang="en-US" sz="1800">
                          <a:latin typeface="微软雅黑" panose="020B0503020204020204" pitchFamily="34" charset="-122"/>
                          <a:ea typeface="微软雅黑" panose="020B0503020204020204" pitchFamily="34" charset="-122"/>
                        </a:rPr>
                        <a:t>覆盖有效等价类的编号</a:t>
                      </a:r>
                    </a:p>
                  </a:txBody>
                  <a:tcPr anchor="ctr"/>
                </a:tc>
                <a:extLst>
                  <a:ext uri="{0D108BD9-81ED-4DB2-BD59-A6C34878D82A}">
                    <a16:rowId xmlns:a16="http://schemas.microsoft.com/office/drawing/2014/main" val="10000"/>
                  </a:ext>
                </a:extLst>
              </a:tr>
              <a:tr h="598805">
                <a:tc>
                  <a:txBody>
                    <a:bodyPr/>
                    <a:lstStyle/>
                    <a:p>
                      <a:pPr algn="ctr">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test1</a:t>
                      </a:r>
                    </a:p>
                  </a:txBody>
                  <a:tcPr anchor="ctr"/>
                </a:tc>
                <a:tc>
                  <a:txBody>
                    <a:bodyPr/>
                    <a:lstStyle/>
                    <a:p>
                      <a:pPr algn="ctr">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1  2  3</a:t>
                      </a:r>
                    </a:p>
                  </a:txBody>
                  <a:tcPr anchor="ctr"/>
                </a:tc>
                <a:tc>
                  <a:txBody>
                    <a:bodyPr/>
                    <a:lstStyle/>
                    <a:p>
                      <a:pPr algn="l">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1  6</a:t>
                      </a:r>
                    </a:p>
                  </a:txBody>
                  <a:tcPr anchor="ctr"/>
                </a:tc>
                <a:extLst>
                  <a:ext uri="{0D108BD9-81ED-4DB2-BD59-A6C34878D82A}">
                    <a16:rowId xmlns:a16="http://schemas.microsoft.com/office/drawing/2014/main" val="10001"/>
                  </a:ext>
                </a:extLst>
              </a:tr>
              <a:tr h="558165">
                <a:tc>
                  <a:txBody>
                    <a:bodyPr/>
                    <a:lstStyle/>
                    <a:p>
                      <a:pPr algn="ctr">
                        <a:buClrTx/>
                        <a:buSzTx/>
                        <a:buFontTx/>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test</a:t>
                      </a:r>
                      <a:r>
                        <a:rPr lang="en-US" altLang="zh-CN" sz="1800" kern="1200">
                          <a:solidFill>
                            <a:srgbClr val="595959"/>
                          </a:solidFill>
                          <a:latin typeface="微软雅黑" panose="020B0503020204020204" pitchFamily="34" charset="-122"/>
                          <a:ea typeface="微软雅黑" panose="020B0503020204020204" pitchFamily="34" charset="-122"/>
                          <a:cs typeface="+mn-cs"/>
                        </a:rPr>
                        <a:t>2</a:t>
                      </a:r>
                    </a:p>
                  </a:txBody>
                  <a:tcPr anchor="ctr"/>
                </a:tc>
                <a:tc>
                  <a:txBody>
                    <a:bodyPr/>
                    <a:lstStyle/>
                    <a:p>
                      <a:pPr algn="ctr">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3  4  5</a:t>
                      </a:r>
                    </a:p>
                  </a:txBody>
                  <a:tcPr anchor="ctr"/>
                </a:tc>
                <a:tc>
                  <a:txBody>
                    <a:bodyPr/>
                    <a:lstStyle/>
                    <a:p>
                      <a:pPr algn="l">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1  6  10</a:t>
                      </a:r>
                    </a:p>
                  </a:txBody>
                  <a:tcPr anchor="ctr"/>
                </a:tc>
                <a:extLst>
                  <a:ext uri="{0D108BD9-81ED-4DB2-BD59-A6C34878D82A}">
                    <a16:rowId xmlns:a16="http://schemas.microsoft.com/office/drawing/2014/main" val="10002"/>
                  </a:ext>
                </a:extLst>
              </a:tr>
              <a:tr h="565150">
                <a:tc>
                  <a:txBody>
                    <a:bodyPr/>
                    <a:lstStyle/>
                    <a:p>
                      <a:pPr algn="ctr">
                        <a:buClrTx/>
                        <a:buSzTx/>
                        <a:buFontTx/>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test</a:t>
                      </a:r>
                      <a:r>
                        <a:rPr lang="en-US" altLang="zh-CN" sz="1800" kern="1200">
                          <a:solidFill>
                            <a:srgbClr val="595959"/>
                          </a:solidFill>
                          <a:latin typeface="微软雅黑" panose="020B0503020204020204" pitchFamily="34" charset="-122"/>
                          <a:ea typeface="微软雅黑" panose="020B0503020204020204" pitchFamily="34" charset="-122"/>
                          <a:cs typeface="+mn-cs"/>
                        </a:rPr>
                        <a:t>3</a:t>
                      </a:r>
                    </a:p>
                  </a:txBody>
                  <a:tcPr anchor="ctr"/>
                </a:tc>
                <a:tc>
                  <a:txBody>
                    <a:bodyPr/>
                    <a:lstStyle/>
                    <a:p>
                      <a:pPr algn="ctr">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6  6  8</a:t>
                      </a:r>
                    </a:p>
                  </a:txBody>
                  <a:tcPr anchor="ctr"/>
                </a:tc>
                <a:tc>
                  <a:txBody>
                    <a:bodyPr/>
                    <a:lstStyle/>
                    <a:p>
                      <a:pPr algn="l">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1  6  10  12</a:t>
                      </a:r>
                    </a:p>
                  </a:txBody>
                  <a:tcPr anchor="ctr"/>
                </a:tc>
                <a:extLst>
                  <a:ext uri="{0D108BD9-81ED-4DB2-BD59-A6C34878D82A}">
                    <a16:rowId xmlns:a16="http://schemas.microsoft.com/office/drawing/2014/main" val="10003"/>
                  </a:ext>
                </a:extLst>
              </a:tr>
              <a:tr h="574040">
                <a:tc>
                  <a:txBody>
                    <a:bodyPr/>
                    <a:lstStyle/>
                    <a:p>
                      <a:pPr algn="ctr">
                        <a:buClrTx/>
                        <a:buSzTx/>
                        <a:buFontTx/>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test</a:t>
                      </a:r>
                      <a:r>
                        <a:rPr lang="en-US" altLang="zh-CN" sz="1800" kern="1200">
                          <a:solidFill>
                            <a:srgbClr val="595959"/>
                          </a:solidFill>
                          <a:latin typeface="微软雅黑" panose="020B0503020204020204" pitchFamily="34" charset="-122"/>
                          <a:ea typeface="微软雅黑" panose="020B0503020204020204" pitchFamily="34" charset="-122"/>
                          <a:cs typeface="+mn-cs"/>
                        </a:rPr>
                        <a:t>4</a:t>
                      </a:r>
                    </a:p>
                  </a:txBody>
                  <a:tcPr anchor="ctr"/>
                </a:tc>
                <a:tc>
                  <a:txBody>
                    <a:bodyPr/>
                    <a:lstStyle/>
                    <a:p>
                      <a:pPr algn="ctr">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6  6  6</a:t>
                      </a:r>
                    </a:p>
                  </a:txBody>
                  <a:tcPr anchor="ctr"/>
                </a:tc>
                <a:tc>
                  <a:txBody>
                    <a:bodyPr/>
                    <a:lstStyle/>
                    <a:p>
                      <a:pPr algn="l">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1  6  10  12  14</a:t>
                      </a:r>
                    </a:p>
                  </a:txBody>
                  <a:tcPr anchor="ctr"/>
                </a:tc>
                <a:extLst>
                  <a:ext uri="{0D108BD9-81ED-4DB2-BD59-A6C34878D82A}">
                    <a16:rowId xmlns:a16="http://schemas.microsoft.com/office/drawing/2014/main" val="10004"/>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35"/>
          <p:cNvSpPr txBox="1">
            <a:spLocks noChangeArrowheads="1"/>
          </p:cNvSpPr>
          <p:nvPr/>
        </p:nvSpPr>
        <p:spPr bwMode="auto">
          <a:xfrm>
            <a:off x="1127124" y="837565"/>
            <a:ext cx="9792081" cy="109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no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buClrTx/>
              <a:buSzTx/>
              <a:buFontTx/>
            </a:pPr>
            <a:r>
              <a:rPr lang="zh-CN" altLang="en-US" sz="1800" dirty="0">
                <a:solidFill>
                  <a:srgbClr val="595959"/>
                </a:solidFill>
                <a:latin typeface="微软雅黑" panose="020B0503020204020204" pitchFamily="34" charset="-122"/>
                <a:ea typeface="微软雅黑" panose="020B0503020204020204" pitchFamily="34" charset="-122"/>
                <a:sym typeface="+mn-ea"/>
              </a:rPr>
              <a:t>覆盖有效等价类的测试用例</a:t>
            </a:r>
            <a:r>
              <a:rPr lang="zh-CN" altLang="en-US" sz="1800" dirty="0">
                <a:solidFill>
                  <a:srgbClr val="595959"/>
                </a:solidFill>
                <a:latin typeface="微软雅黑" panose="020B0503020204020204" pitchFamily="34" charset="-122"/>
                <a:ea typeface="微软雅黑" panose="020B0503020204020204" pitchFamily="34" charset="-122"/>
              </a:rPr>
              <a:t>表设计了4个测试用例覆盖了全部的有效等价类，无效等价类测试用例的设计原则与有效等价类测试用例的设计原则相同，</a:t>
            </a:r>
            <a:r>
              <a:rPr lang="zh-CN" altLang="en-US" sz="1800" dirty="0">
                <a:solidFill>
                  <a:srgbClr val="0070C0"/>
                </a:solidFill>
                <a:latin typeface="微软雅黑" panose="020B0503020204020204" pitchFamily="34" charset="-122"/>
                <a:ea typeface="微软雅黑" panose="020B0503020204020204" pitchFamily="34" charset="-122"/>
              </a:rPr>
              <a:t>覆盖无效等价类的测试用例</a:t>
            </a:r>
            <a:r>
              <a:rPr lang="zh-CN" altLang="en-US" sz="1800" dirty="0">
                <a:solidFill>
                  <a:srgbClr val="595959"/>
                </a:solidFill>
                <a:latin typeface="微软雅黑" panose="020B0503020204020204" pitchFamily="34" charset="-122"/>
                <a:ea typeface="微软雅黑" panose="020B0503020204020204" pitchFamily="34" charset="-122"/>
              </a:rPr>
              <a:t>如下表所示。</a:t>
            </a:r>
          </a:p>
        </p:txBody>
      </p:sp>
      <p:sp>
        <p:nvSpPr>
          <p:cNvPr id="3" name="Title 1"/>
          <p:cNvSpPr txBox="1"/>
          <p:nvPr/>
        </p:nvSpPr>
        <p:spPr>
          <a:xfrm>
            <a:off x="1143635" y="266700"/>
            <a:ext cx="644271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2.1.3	实例二：三角形问题的等价类划分</a:t>
            </a:r>
          </a:p>
        </p:txBody>
      </p:sp>
      <p:graphicFrame>
        <p:nvGraphicFramePr>
          <p:cNvPr id="2" name="表格 1"/>
          <p:cNvGraphicFramePr/>
          <p:nvPr>
            <p:custDataLst>
              <p:tags r:id="rId1"/>
            </p:custDataLst>
          </p:nvPr>
        </p:nvGraphicFramePr>
        <p:xfrm>
          <a:off x="2855595" y="1917700"/>
          <a:ext cx="6221730" cy="4779010"/>
        </p:xfrm>
        <a:graphic>
          <a:graphicData uri="http://schemas.openxmlformats.org/drawingml/2006/table">
            <a:tbl>
              <a:tblPr firstRow="1" bandRow="1">
                <a:tableStyleId>{5C22544A-7EE6-4342-B048-85BDC9FD1C3A}</a:tableStyleId>
              </a:tblPr>
              <a:tblGrid>
                <a:gridCol w="1826260">
                  <a:extLst>
                    <a:ext uri="{9D8B030D-6E8A-4147-A177-3AD203B41FA5}">
                      <a16:colId xmlns:a16="http://schemas.microsoft.com/office/drawing/2014/main" val="20000"/>
                    </a:ext>
                  </a:extLst>
                </a:gridCol>
                <a:gridCol w="1760220">
                  <a:extLst>
                    <a:ext uri="{9D8B030D-6E8A-4147-A177-3AD203B41FA5}">
                      <a16:colId xmlns:a16="http://schemas.microsoft.com/office/drawing/2014/main" val="20001"/>
                    </a:ext>
                  </a:extLst>
                </a:gridCol>
                <a:gridCol w="2635250">
                  <a:extLst>
                    <a:ext uri="{9D8B030D-6E8A-4147-A177-3AD203B41FA5}">
                      <a16:colId xmlns:a16="http://schemas.microsoft.com/office/drawing/2014/main" val="20002"/>
                    </a:ext>
                  </a:extLst>
                </a:gridCol>
              </a:tblGrid>
              <a:tr h="584200">
                <a:tc>
                  <a:txBody>
                    <a:bodyPr/>
                    <a:lstStyle/>
                    <a:p>
                      <a:pPr algn="ctr">
                        <a:lnSpc>
                          <a:spcPct val="90000"/>
                        </a:lnSpc>
                        <a:buNone/>
                      </a:pPr>
                      <a:r>
                        <a:rPr lang="zh-CN" altLang="en-US" sz="1800" b="1">
                          <a:latin typeface="微软雅黑" panose="020B0503020204020204" pitchFamily="34" charset="-122"/>
                          <a:ea typeface="微软雅黑" panose="020B0503020204020204" pitchFamily="34" charset="-122"/>
                        </a:rPr>
                        <a:t>测试用例</a:t>
                      </a:r>
                    </a:p>
                  </a:txBody>
                  <a:tcPr anchor="ctr"/>
                </a:tc>
                <a:tc>
                  <a:txBody>
                    <a:bodyPr/>
                    <a:lstStyle/>
                    <a:p>
                      <a:pPr algn="ctr">
                        <a:lnSpc>
                          <a:spcPct val="90000"/>
                        </a:lnSpc>
                        <a:buNone/>
                      </a:pPr>
                      <a:r>
                        <a:rPr lang="zh-CN" altLang="en-US" sz="1800">
                          <a:latin typeface="微软雅黑" panose="020B0503020204020204" pitchFamily="34" charset="-122"/>
                          <a:ea typeface="微软雅黑" panose="020B0503020204020204" pitchFamily="34" charset="-122"/>
                        </a:rPr>
                        <a:t>输入数值</a:t>
                      </a:r>
                    </a:p>
                  </a:txBody>
                  <a:tcPr anchor="ctr"/>
                </a:tc>
                <a:tc>
                  <a:txBody>
                    <a:bodyPr/>
                    <a:lstStyle/>
                    <a:p>
                      <a:pPr algn="ctr">
                        <a:lnSpc>
                          <a:spcPct val="90000"/>
                        </a:lnSpc>
                        <a:buNone/>
                      </a:pPr>
                      <a:r>
                        <a:rPr lang="zh-CN" altLang="en-US" sz="1800">
                          <a:latin typeface="微软雅黑" panose="020B0503020204020204" pitchFamily="34" charset="-122"/>
                          <a:ea typeface="微软雅黑" panose="020B0503020204020204" pitchFamily="34" charset="-122"/>
                        </a:rPr>
                        <a:t>覆盖无效等价类的编号</a:t>
                      </a:r>
                    </a:p>
                  </a:txBody>
                  <a:tcPr anchor="ctr"/>
                </a:tc>
                <a:extLst>
                  <a:ext uri="{0D108BD9-81ED-4DB2-BD59-A6C34878D82A}">
                    <a16:rowId xmlns:a16="http://schemas.microsoft.com/office/drawing/2014/main" val="10000"/>
                  </a:ext>
                </a:extLst>
              </a:tr>
              <a:tr h="434975">
                <a:tc>
                  <a:txBody>
                    <a:bodyPr/>
                    <a:lstStyle/>
                    <a:p>
                      <a:pPr algn="ctr">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test1</a:t>
                      </a:r>
                    </a:p>
                  </a:txBody>
                  <a:tcPr anchor="ctr"/>
                </a:tc>
                <a:tc>
                  <a:txBody>
                    <a:bodyPr/>
                    <a:lstStyle/>
                    <a:p>
                      <a:pPr algn="ctr">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-1  -1  -1</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9</a:t>
                      </a:r>
                    </a:p>
                  </a:txBody>
                  <a:tcPr anchor="ctr"/>
                </a:tc>
                <a:extLst>
                  <a:ext uri="{0D108BD9-81ED-4DB2-BD59-A6C34878D82A}">
                    <a16:rowId xmlns:a16="http://schemas.microsoft.com/office/drawing/2014/main" val="10001"/>
                  </a:ext>
                </a:extLst>
              </a:tr>
              <a:tr h="384175">
                <a:tc>
                  <a:txBody>
                    <a:bodyPr/>
                    <a:lstStyle/>
                    <a:p>
                      <a:pPr algn="ctr">
                        <a:buClrTx/>
                        <a:buSzTx/>
                        <a:buFontTx/>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test</a:t>
                      </a:r>
                      <a:r>
                        <a:rPr lang="en-US" altLang="zh-CN" sz="1800" kern="1200">
                          <a:solidFill>
                            <a:srgbClr val="595959"/>
                          </a:solidFill>
                          <a:latin typeface="微软雅黑" panose="020B0503020204020204" pitchFamily="34" charset="-122"/>
                          <a:ea typeface="微软雅黑" panose="020B0503020204020204" pitchFamily="34" charset="-122"/>
                          <a:cs typeface="+mn-cs"/>
                        </a:rPr>
                        <a:t>2</a:t>
                      </a:r>
                    </a:p>
                  </a:txBody>
                  <a:tcPr anchor="ctr"/>
                </a:tc>
                <a:tc>
                  <a:txBody>
                    <a:bodyPr/>
                    <a:lstStyle/>
                    <a:p>
                      <a:pPr algn="ctr">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-1  -1  5</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8</a:t>
                      </a:r>
                    </a:p>
                  </a:txBody>
                  <a:tcPr anchor="ctr"/>
                </a:tc>
                <a:extLst>
                  <a:ext uri="{0D108BD9-81ED-4DB2-BD59-A6C34878D82A}">
                    <a16:rowId xmlns:a16="http://schemas.microsoft.com/office/drawing/2014/main" val="10002"/>
                  </a:ext>
                </a:extLst>
              </a:tr>
              <a:tr h="422275">
                <a:tc>
                  <a:txBody>
                    <a:bodyPr/>
                    <a:lstStyle/>
                    <a:p>
                      <a:pPr algn="ctr">
                        <a:buClrTx/>
                        <a:buSzTx/>
                        <a:buFontTx/>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test</a:t>
                      </a:r>
                      <a:r>
                        <a:rPr lang="en-US" altLang="zh-CN" sz="1800" kern="1200">
                          <a:solidFill>
                            <a:srgbClr val="595959"/>
                          </a:solidFill>
                          <a:latin typeface="微软雅黑" panose="020B0503020204020204" pitchFamily="34" charset="-122"/>
                          <a:ea typeface="微软雅黑" panose="020B0503020204020204" pitchFamily="34" charset="-122"/>
                          <a:cs typeface="+mn-cs"/>
                        </a:rPr>
                        <a:t>3</a:t>
                      </a:r>
                    </a:p>
                  </a:txBody>
                  <a:tcPr anchor="ctr"/>
                </a:tc>
                <a:tc>
                  <a:txBody>
                    <a:bodyPr/>
                    <a:lstStyle/>
                    <a:p>
                      <a:pPr algn="ctr">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-1   4  5</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7</a:t>
                      </a:r>
                    </a:p>
                  </a:txBody>
                  <a:tcPr anchor="ctr"/>
                </a:tc>
                <a:extLst>
                  <a:ext uri="{0D108BD9-81ED-4DB2-BD59-A6C34878D82A}">
                    <a16:rowId xmlns:a16="http://schemas.microsoft.com/office/drawing/2014/main" val="10003"/>
                  </a:ext>
                </a:extLst>
              </a:tr>
              <a:tr h="422275">
                <a:tc>
                  <a:txBody>
                    <a:bodyPr/>
                    <a:lstStyle/>
                    <a:p>
                      <a:pPr algn="ctr">
                        <a:buClrTx/>
                        <a:buSzTx/>
                        <a:buFontTx/>
                        <a:buNone/>
                      </a:pPr>
                      <a:r>
                        <a:rPr lang="zh-CN" altLang="en-US" sz="1800" kern="1200">
                          <a:solidFill>
                            <a:srgbClr val="595959"/>
                          </a:solidFill>
                          <a:latin typeface="微软雅黑" panose="020B0503020204020204" pitchFamily="34" charset="-122"/>
                          <a:ea typeface="微软雅黑" panose="020B0503020204020204" pitchFamily="34" charset="-122"/>
                          <a:cs typeface="+mn-cs"/>
                          <a:sym typeface="+mn-ea"/>
                        </a:rPr>
                        <a:t>test</a:t>
                      </a:r>
                      <a:r>
                        <a:rPr lang="en-US" altLang="zh-CN" sz="1800" kern="1200">
                          <a:solidFill>
                            <a:srgbClr val="595959"/>
                          </a:solidFill>
                          <a:latin typeface="微软雅黑" panose="020B0503020204020204" pitchFamily="34" charset="-122"/>
                          <a:ea typeface="微软雅黑" panose="020B0503020204020204" pitchFamily="34" charset="-122"/>
                          <a:cs typeface="+mn-cs"/>
                          <a:sym typeface="+mn-ea"/>
                        </a:rPr>
                        <a:t>4</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输入0个数据</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2</a:t>
                      </a:r>
                    </a:p>
                  </a:txBody>
                  <a:tcPr anchor="ctr"/>
                </a:tc>
                <a:extLst>
                  <a:ext uri="{0D108BD9-81ED-4DB2-BD59-A6C34878D82A}">
                    <a16:rowId xmlns:a16="http://schemas.microsoft.com/office/drawing/2014/main" val="10004"/>
                  </a:ext>
                </a:extLst>
              </a:tr>
              <a:tr h="422275">
                <a:tc>
                  <a:txBody>
                    <a:bodyPr/>
                    <a:lstStyle/>
                    <a:p>
                      <a:pPr algn="ctr">
                        <a:buClrTx/>
                        <a:buSzTx/>
                        <a:buFontTx/>
                        <a:buNone/>
                      </a:pPr>
                      <a:r>
                        <a:rPr lang="zh-CN" altLang="en-US" sz="1800" kern="1200">
                          <a:solidFill>
                            <a:srgbClr val="595959"/>
                          </a:solidFill>
                          <a:latin typeface="微软雅黑" panose="020B0503020204020204" pitchFamily="34" charset="-122"/>
                          <a:ea typeface="微软雅黑" panose="020B0503020204020204" pitchFamily="34" charset="-122"/>
                          <a:cs typeface="+mn-cs"/>
                          <a:sym typeface="+mn-ea"/>
                        </a:rPr>
                        <a:t>test</a:t>
                      </a:r>
                      <a:r>
                        <a:rPr lang="en-US" altLang="zh-CN" sz="1800" kern="1200">
                          <a:solidFill>
                            <a:srgbClr val="595959"/>
                          </a:solidFill>
                          <a:latin typeface="微软雅黑" panose="020B0503020204020204" pitchFamily="34" charset="-122"/>
                          <a:ea typeface="微软雅黑" panose="020B0503020204020204" pitchFamily="34" charset="-122"/>
                          <a:cs typeface="+mn-cs"/>
                          <a:sym typeface="+mn-ea"/>
                        </a:rPr>
                        <a:t>5</a:t>
                      </a:r>
                    </a:p>
                  </a:txBody>
                  <a:tcPr anchor="ctr"/>
                </a:tc>
                <a:tc>
                  <a:txBody>
                    <a:bodyPr/>
                    <a:lstStyle/>
                    <a:p>
                      <a:pPr algn="ctr">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1</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3</a:t>
                      </a:r>
                    </a:p>
                  </a:txBody>
                  <a:tcPr anchor="ctr"/>
                </a:tc>
                <a:extLst>
                  <a:ext uri="{0D108BD9-81ED-4DB2-BD59-A6C34878D82A}">
                    <a16:rowId xmlns:a16="http://schemas.microsoft.com/office/drawing/2014/main" val="10005"/>
                  </a:ext>
                </a:extLst>
              </a:tr>
              <a:tr h="422275">
                <a:tc>
                  <a:txBody>
                    <a:bodyPr/>
                    <a:lstStyle/>
                    <a:p>
                      <a:pPr algn="ctr">
                        <a:buClrTx/>
                        <a:buSzTx/>
                        <a:buFontTx/>
                        <a:buNone/>
                      </a:pPr>
                      <a:r>
                        <a:rPr lang="zh-CN" altLang="en-US" sz="1800" kern="1200">
                          <a:solidFill>
                            <a:srgbClr val="595959"/>
                          </a:solidFill>
                          <a:latin typeface="微软雅黑" panose="020B0503020204020204" pitchFamily="34" charset="-122"/>
                          <a:ea typeface="微软雅黑" panose="020B0503020204020204" pitchFamily="34" charset="-122"/>
                          <a:cs typeface="+mn-cs"/>
                          <a:sym typeface="+mn-ea"/>
                        </a:rPr>
                        <a:t>test</a:t>
                      </a:r>
                      <a:r>
                        <a:rPr lang="en-US" altLang="zh-CN" sz="1800" kern="1200">
                          <a:solidFill>
                            <a:srgbClr val="595959"/>
                          </a:solidFill>
                          <a:latin typeface="微软雅黑" panose="020B0503020204020204" pitchFamily="34" charset="-122"/>
                          <a:ea typeface="微软雅黑" panose="020B0503020204020204" pitchFamily="34" charset="-122"/>
                          <a:cs typeface="+mn-cs"/>
                          <a:sym typeface="+mn-ea"/>
                        </a:rPr>
                        <a:t>6</a:t>
                      </a:r>
                    </a:p>
                  </a:txBody>
                  <a:tcPr anchor="ctr"/>
                </a:tc>
                <a:tc>
                  <a:txBody>
                    <a:bodyPr/>
                    <a:lstStyle/>
                    <a:p>
                      <a:pPr algn="ctr">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1   2</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4</a:t>
                      </a:r>
                    </a:p>
                  </a:txBody>
                  <a:tcPr anchor="ctr"/>
                </a:tc>
                <a:extLst>
                  <a:ext uri="{0D108BD9-81ED-4DB2-BD59-A6C34878D82A}">
                    <a16:rowId xmlns:a16="http://schemas.microsoft.com/office/drawing/2014/main" val="10006"/>
                  </a:ext>
                </a:extLst>
              </a:tr>
              <a:tr h="422275">
                <a:tc>
                  <a:txBody>
                    <a:bodyPr/>
                    <a:lstStyle/>
                    <a:p>
                      <a:pPr algn="ctr">
                        <a:buClrTx/>
                        <a:buSzTx/>
                        <a:buFontTx/>
                        <a:buNone/>
                      </a:pPr>
                      <a:r>
                        <a:rPr lang="zh-CN" altLang="en-US" sz="1800" kern="1200">
                          <a:solidFill>
                            <a:srgbClr val="595959"/>
                          </a:solidFill>
                          <a:latin typeface="微软雅黑" panose="020B0503020204020204" pitchFamily="34" charset="-122"/>
                          <a:ea typeface="微软雅黑" panose="020B0503020204020204" pitchFamily="34" charset="-122"/>
                          <a:cs typeface="+mn-cs"/>
                          <a:sym typeface="+mn-ea"/>
                        </a:rPr>
                        <a:t>test</a:t>
                      </a:r>
                      <a:r>
                        <a:rPr lang="en-US" altLang="zh-CN" sz="1800" kern="1200">
                          <a:solidFill>
                            <a:srgbClr val="595959"/>
                          </a:solidFill>
                          <a:latin typeface="微软雅黑" panose="020B0503020204020204" pitchFamily="34" charset="-122"/>
                          <a:ea typeface="微软雅黑" panose="020B0503020204020204" pitchFamily="34" charset="-122"/>
                          <a:cs typeface="+mn-cs"/>
                          <a:sym typeface="+mn-ea"/>
                        </a:rPr>
                        <a:t>7</a:t>
                      </a:r>
                    </a:p>
                  </a:txBody>
                  <a:tcPr anchor="ctr"/>
                </a:tc>
                <a:tc>
                  <a:txBody>
                    <a:bodyPr/>
                    <a:lstStyle/>
                    <a:p>
                      <a:pPr algn="ctr">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1   3   4</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11</a:t>
                      </a:r>
                    </a:p>
                  </a:txBody>
                  <a:tcPr anchor="ctr"/>
                </a:tc>
                <a:extLst>
                  <a:ext uri="{0D108BD9-81ED-4DB2-BD59-A6C34878D82A}">
                    <a16:rowId xmlns:a16="http://schemas.microsoft.com/office/drawing/2014/main" val="10007"/>
                  </a:ext>
                </a:extLst>
              </a:tr>
              <a:tr h="422275">
                <a:tc>
                  <a:txBody>
                    <a:bodyPr/>
                    <a:lstStyle/>
                    <a:p>
                      <a:pPr algn="ctr">
                        <a:buClrTx/>
                        <a:buSzTx/>
                        <a:buFontTx/>
                        <a:buNone/>
                      </a:pPr>
                      <a:r>
                        <a:rPr lang="zh-CN" altLang="en-US" sz="1800" kern="1200">
                          <a:solidFill>
                            <a:srgbClr val="595959"/>
                          </a:solidFill>
                          <a:latin typeface="微软雅黑" panose="020B0503020204020204" pitchFamily="34" charset="-122"/>
                          <a:ea typeface="微软雅黑" panose="020B0503020204020204" pitchFamily="34" charset="-122"/>
                          <a:cs typeface="+mn-cs"/>
                          <a:sym typeface="+mn-ea"/>
                        </a:rPr>
                        <a:t>test</a:t>
                      </a:r>
                      <a:r>
                        <a:rPr lang="en-US" altLang="zh-CN" sz="1800" kern="1200">
                          <a:solidFill>
                            <a:srgbClr val="595959"/>
                          </a:solidFill>
                          <a:latin typeface="微软雅黑" panose="020B0503020204020204" pitchFamily="34" charset="-122"/>
                          <a:ea typeface="微软雅黑" panose="020B0503020204020204" pitchFamily="34" charset="-122"/>
                          <a:cs typeface="+mn-cs"/>
                          <a:sym typeface="+mn-ea"/>
                        </a:rPr>
                        <a:t>8</a:t>
                      </a:r>
                    </a:p>
                  </a:txBody>
                  <a:tcPr anchor="ctr"/>
                </a:tc>
                <a:tc>
                  <a:txBody>
                    <a:bodyPr/>
                    <a:lstStyle/>
                    <a:p>
                      <a:pPr algn="ctr">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1  2   3  4</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5</a:t>
                      </a:r>
                    </a:p>
                  </a:txBody>
                  <a:tcPr anchor="ctr"/>
                </a:tc>
                <a:extLst>
                  <a:ext uri="{0D108BD9-81ED-4DB2-BD59-A6C34878D82A}">
                    <a16:rowId xmlns:a16="http://schemas.microsoft.com/office/drawing/2014/main" val="10008"/>
                  </a:ext>
                </a:extLst>
              </a:tr>
              <a:tr h="422275">
                <a:tc>
                  <a:txBody>
                    <a:bodyPr/>
                    <a:lstStyle/>
                    <a:p>
                      <a:pPr algn="ctr">
                        <a:buClrTx/>
                        <a:buSzTx/>
                        <a:buFontTx/>
                        <a:buNone/>
                      </a:pPr>
                      <a:r>
                        <a:rPr lang="zh-CN" altLang="en-US" sz="1800" kern="1200">
                          <a:solidFill>
                            <a:srgbClr val="595959"/>
                          </a:solidFill>
                          <a:latin typeface="微软雅黑" panose="020B0503020204020204" pitchFamily="34" charset="-122"/>
                          <a:ea typeface="微软雅黑" panose="020B0503020204020204" pitchFamily="34" charset="-122"/>
                          <a:cs typeface="+mn-cs"/>
                          <a:sym typeface="+mn-ea"/>
                        </a:rPr>
                        <a:t>test</a:t>
                      </a:r>
                      <a:r>
                        <a:rPr lang="en-US" altLang="zh-CN" sz="1800" kern="1200">
                          <a:solidFill>
                            <a:srgbClr val="595959"/>
                          </a:solidFill>
                          <a:latin typeface="微软雅黑" panose="020B0503020204020204" pitchFamily="34" charset="-122"/>
                          <a:ea typeface="微软雅黑" panose="020B0503020204020204" pitchFamily="34" charset="-122"/>
                          <a:cs typeface="+mn-cs"/>
                          <a:sym typeface="+mn-ea"/>
                        </a:rPr>
                        <a:t>9</a:t>
                      </a:r>
                    </a:p>
                  </a:txBody>
                  <a:tcPr anchor="ctr"/>
                </a:tc>
                <a:tc>
                  <a:txBody>
                    <a:bodyPr/>
                    <a:lstStyle/>
                    <a:p>
                      <a:pPr algn="ctr">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3  4  5</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13</a:t>
                      </a:r>
                    </a:p>
                  </a:txBody>
                  <a:tcPr anchor="ctr"/>
                </a:tc>
                <a:extLst>
                  <a:ext uri="{0D108BD9-81ED-4DB2-BD59-A6C34878D82A}">
                    <a16:rowId xmlns:a16="http://schemas.microsoft.com/office/drawing/2014/main" val="10009"/>
                  </a:ext>
                </a:extLst>
              </a:tr>
              <a:tr h="419735">
                <a:tc>
                  <a:txBody>
                    <a:bodyPr/>
                    <a:lstStyle/>
                    <a:p>
                      <a:pPr algn="ctr">
                        <a:buClrTx/>
                        <a:buSzTx/>
                        <a:buFontTx/>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test</a:t>
                      </a:r>
                      <a:r>
                        <a:rPr lang="en-US" altLang="zh-CN" sz="1800" kern="1200">
                          <a:solidFill>
                            <a:srgbClr val="595959"/>
                          </a:solidFill>
                          <a:latin typeface="微软雅黑" panose="020B0503020204020204" pitchFamily="34" charset="-122"/>
                          <a:ea typeface="微软雅黑" panose="020B0503020204020204" pitchFamily="34" charset="-122"/>
                          <a:cs typeface="+mn-cs"/>
                        </a:rPr>
                        <a:t>10</a:t>
                      </a:r>
                    </a:p>
                  </a:txBody>
                  <a:tcPr anchor="ctr"/>
                </a:tc>
                <a:tc>
                  <a:txBody>
                    <a:bodyPr/>
                    <a:lstStyle/>
                    <a:p>
                      <a:pPr algn="ctr">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3  </a:t>
                      </a:r>
                      <a:r>
                        <a:rPr lang="en-US" altLang="zh-CN" sz="1800" kern="1200">
                          <a:solidFill>
                            <a:srgbClr val="595959"/>
                          </a:solidFill>
                          <a:latin typeface="微软雅黑" panose="020B0503020204020204" pitchFamily="34" charset="-122"/>
                          <a:ea typeface="微软雅黑" panose="020B0503020204020204" pitchFamily="34" charset="-122"/>
                          <a:cs typeface="+mn-cs"/>
                        </a:rPr>
                        <a:t>3</a:t>
                      </a:r>
                      <a:r>
                        <a:rPr lang="zh-CN" altLang="en-US" sz="1800" kern="1200">
                          <a:solidFill>
                            <a:srgbClr val="595959"/>
                          </a:solidFill>
                          <a:latin typeface="微软雅黑" panose="020B0503020204020204" pitchFamily="34" charset="-122"/>
                          <a:ea typeface="微软雅黑" panose="020B0503020204020204" pitchFamily="34" charset="-122"/>
                          <a:cs typeface="+mn-cs"/>
                        </a:rPr>
                        <a:t>  5</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15</a:t>
                      </a:r>
                    </a:p>
                  </a:txBody>
                  <a:tcPr anchor="ctr"/>
                </a:tc>
                <a:extLst>
                  <a:ext uri="{0D108BD9-81ED-4DB2-BD59-A6C34878D82A}">
                    <a16:rowId xmlns:a16="http://schemas.microsoft.com/office/drawing/2014/main" val="10010"/>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p:cNvPicPr>
            <a:picLocks noChangeAspect="1"/>
          </p:cNvPicPr>
          <p:nvPr/>
        </p:nvPicPr>
        <p:blipFill>
          <a:blip r:embed="rId3"/>
          <a:stretch>
            <a:fillRect/>
          </a:stretch>
        </p:blipFill>
        <p:spPr>
          <a:xfrm>
            <a:off x="944880" y="2215515"/>
            <a:ext cx="2797810" cy="3898265"/>
          </a:xfrm>
          <a:prstGeom prst="rect">
            <a:avLst/>
          </a:prstGeom>
        </p:spPr>
      </p:pic>
      <p:sp>
        <p:nvSpPr>
          <p:cNvPr id="13" name="椭圆形标注 12"/>
          <p:cNvSpPr/>
          <p:nvPr/>
        </p:nvSpPr>
        <p:spPr>
          <a:xfrm>
            <a:off x="2968625" y="156019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p>
        </p:txBody>
      </p:sp>
      <p:sp>
        <p:nvSpPr>
          <p:cNvPr id="14" name="TextBox 35"/>
          <p:cNvSpPr txBox="1">
            <a:spLocks noChangeArrowheads="1"/>
          </p:cNvSpPr>
          <p:nvPr/>
        </p:nvSpPr>
        <p:spPr bwMode="auto">
          <a:xfrm>
            <a:off x="3247390" y="163830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p>
        </p:txBody>
      </p:sp>
      <p:sp>
        <p:nvSpPr>
          <p:cNvPr id="15" name="TextBox 35"/>
          <p:cNvSpPr txBox="1">
            <a:spLocks noChangeArrowheads="1"/>
          </p:cNvSpPr>
          <p:nvPr/>
        </p:nvSpPr>
        <p:spPr bwMode="auto">
          <a:xfrm>
            <a:off x="5433060" y="3213735"/>
            <a:ext cx="6242685" cy="10439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defRPr/>
            </a:pPr>
            <a:r>
              <a:rPr sz="200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掌握</a:t>
            </a:r>
            <a:r>
              <a:rPr lang="zh-CN" sz="200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余额宝提现的等价类划分</a:t>
            </a:r>
            <a:r>
              <a:rPr sz="200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，能够</a:t>
            </a:r>
            <a:r>
              <a:rPr sz="2000">
                <a:solidFill>
                  <a:srgbClr val="0070C0"/>
                </a:solidFill>
                <a:latin typeface="微软雅黑" panose="020B0503020204020204" pitchFamily="34" charset="-122"/>
                <a:ea typeface="微软雅黑" panose="020B0503020204020204" pitchFamily="34" charset="-122"/>
                <a:cs typeface="+mn-ea"/>
                <a:sym typeface="字魂58号-创中黑" panose="00000500000000000000" pitchFamily="2" charset="-122"/>
              </a:rPr>
              <a:t>对余额宝的提现功能进行测试</a:t>
            </a:r>
          </a:p>
        </p:txBody>
      </p:sp>
      <p:grpSp>
        <p:nvGrpSpPr>
          <p:cNvPr id="19" name="组合 18"/>
          <p:cNvGrpSpPr/>
          <p:nvPr/>
        </p:nvGrpSpPr>
        <p:grpSpPr>
          <a:xfrm>
            <a:off x="4949825" y="3540125"/>
            <a:ext cx="445770" cy="405130"/>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Title 1"/>
          <p:cNvSpPr txBox="1"/>
          <p:nvPr/>
        </p:nvSpPr>
        <p:spPr>
          <a:xfrm>
            <a:off x="1143635" y="266700"/>
            <a:ext cx="644271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2.1.4	实例三：余额宝提现的等价类划分</a:t>
            </a: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原创设计师QQ598969553          _3"/>
          <p:cNvSpPr/>
          <p:nvPr/>
        </p:nvSpPr>
        <p:spPr>
          <a:xfrm>
            <a:off x="1860550" y="1611630"/>
            <a:ext cx="8234680" cy="3218180"/>
          </a:xfrm>
          <a:prstGeom prst="roundRect">
            <a:avLst>
              <a:gd name="adj" fmla="val 9083"/>
            </a:avLst>
          </a:prstGeom>
          <a:noFill/>
          <a:ln>
            <a:solidFill>
              <a:srgbClr val="ADBAC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n-ea"/>
              <a:sym typeface="+mn-lt"/>
            </a:endParaRPr>
          </a:p>
        </p:txBody>
      </p:sp>
      <p:sp>
        <p:nvSpPr>
          <p:cNvPr id="38" name="原创设计师QQ598969553          _6"/>
          <p:cNvSpPr/>
          <p:nvPr/>
        </p:nvSpPr>
        <p:spPr>
          <a:xfrm>
            <a:off x="2279206" y="1351783"/>
            <a:ext cx="1656184" cy="519694"/>
          </a:xfrm>
          <a:prstGeom prst="roundRect">
            <a:avLst/>
          </a:prstGeom>
          <a:solidFill>
            <a:srgbClr val="0070C0"/>
          </a:solidFill>
          <a:ln>
            <a:noFill/>
          </a:ln>
          <a:effectLst>
            <a:outerShdw blurRad="101600" dist="762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rIns="182880" rtlCol="0" anchor="ctr" anchorCtr="0"/>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1450340"/>
            <a:r>
              <a:rPr lang="zh-CN" altLang="en-US" sz="2000">
                <a:solidFill>
                  <a:schemeClr val="bg1"/>
                </a:solidFill>
                <a:latin typeface="微软雅黑" panose="020B0503020204020204" pitchFamily="34" charset="-122"/>
                <a:ea typeface="微软雅黑" panose="020B0503020204020204" pitchFamily="34" charset="-122"/>
                <a:cs typeface="+mn-ea"/>
                <a:sym typeface="+mn-lt"/>
              </a:rPr>
              <a:t>案例描述</a:t>
            </a:r>
          </a:p>
        </p:txBody>
      </p:sp>
      <p:sp>
        <p:nvSpPr>
          <p:cNvPr id="4" name="TextBox 35"/>
          <p:cNvSpPr txBox="1">
            <a:spLocks noChangeArrowheads="1"/>
          </p:cNvSpPr>
          <p:nvPr/>
        </p:nvSpPr>
        <p:spPr bwMode="auto">
          <a:xfrm>
            <a:off x="2148840" y="1971675"/>
            <a:ext cx="7571105" cy="23770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buClrTx/>
              <a:buSzTx/>
              <a:buFontTx/>
            </a:pPr>
            <a:r>
              <a:rPr lang="zh-CN" altLang="en-US" sz="2000" dirty="0">
                <a:solidFill>
                  <a:srgbClr val="595959"/>
                </a:solidFill>
                <a:latin typeface="微软雅黑" panose="020B0503020204020204" pitchFamily="34" charset="-122"/>
                <a:ea typeface="微软雅黑" panose="020B0503020204020204" pitchFamily="34" charset="-122"/>
              </a:rPr>
              <a:t>余额宝是一个余额增值服务和活期资金管理服务产品，可以把一些零钱存入余额宝产生利息，也可以将余额宝中的钱提现。</a:t>
            </a:r>
            <a:r>
              <a:rPr lang="zh-CN" altLang="en-US" sz="2000" dirty="0">
                <a:solidFill>
                  <a:srgbClr val="0070C0"/>
                </a:solidFill>
                <a:latin typeface="微软雅黑" panose="020B0503020204020204" pitchFamily="34" charset="-122"/>
                <a:ea typeface="微软雅黑" panose="020B0503020204020204" pitchFamily="34" charset="-122"/>
              </a:rPr>
              <a:t>余额宝</a:t>
            </a:r>
            <a:r>
              <a:rPr lang="zh-CN" altLang="en-US" sz="2000" dirty="0">
                <a:solidFill>
                  <a:srgbClr val="595959"/>
                </a:solidFill>
                <a:latin typeface="微软雅黑" panose="020B0503020204020204" pitchFamily="34" charset="-122"/>
                <a:ea typeface="微软雅黑" panose="020B0503020204020204" pitchFamily="34" charset="-122"/>
              </a:rPr>
              <a:t>的</a:t>
            </a:r>
            <a:r>
              <a:rPr lang="zh-CN" altLang="en-US" sz="2000" dirty="0">
                <a:solidFill>
                  <a:srgbClr val="0070C0"/>
                </a:solidFill>
                <a:latin typeface="微软雅黑" panose="020B0503020204020204" pitchFamily="34" charset="-122"/>
                <a:ea typeface="微软雅黑" panose="020B0503020204020204" pitchFamily="34" charset="-122"/>
              </a:rPr>
              <a:t>提现方式有2种</a:t>
            </a:r>
            <a:r>
              <a:rPr lang="zh-CN" altLang="en-US" sz="2000" dirty="0">
                <a:solidFill>
                  <a:srgbClr val="595959"/>
                </a:solidFill>
                <a:latin typeface="微软雅黑" panose="020B0503020204020204" pitchFamily="34" charset="-122"/>
                <a:ea typeface="微软雅黑" panose="020B0503020204020204" pitchFamily="34" charset="-122"/>
              </a:rPr>
              <a:t>：</a:t>
            </a:r>
            <a:r>
              <a:rPr lang="zh-CN" altLang="en-US" sz="2000" dirty="0">
                <a:solidFill>
                  <a:srgbClr val="0070C0"/>
                </a:solidFill>
                <a:latin typeface="微软雅黑" panose="020B0503020204020204" pitchFamily="34" charset="-122"/>
                <a:ea typeface="微软雅黑" panose="020B0503020204020204" pitchFamily="34" charset="-122"/>
              </a:rPr>
              <a:t>快速到账（2小时）</a:t>
            </a:r>
            <a:r>
              <a:rPr lang="zh-CN" altLang="en-US" sz="2000" dirty="0">
                <a:solidFill>
                  <a:srgbClr val="595959"/>
                </a:solidFill>
                <a:latin typeface="微软雅黑" panose="020B0503020204020204" pitchFamily="34" charset="-122"/>
                <a:ea typeface="微软雅黑" panose="020B0503020204020204" pitchFamily="34" charset="-122"/>
              </a:rPr>
              <a:t>，每日最高提现额度为10000元；</a:t>
            </a:r>
            <a:r>
              <a:rPr lang="zh-CN" altLang="en-US" sz="2000" dirty="0">
                <a:solidFill>
                  <a:srgbClr val="0070C0"/>
                </a:solidFill>
                <a:latin typeface="微软雅黑" panose="020B0503020204020204" pitchFamily="34" charset="-122"/>
                <a:ea typeface="微软雅黑" panose="020B0503020204020204" pitchFamily="34" charset="-122"/>
              </a:rPr>
              <a:t>普通到账</a:t>
            </a:r>
            <a:r>
              <a:rPr lang="zh-CN" altLang="en-US" sz="2000" dirty="0">
                <a:solidFill>
                  <a:srgbClr val="595959"/>
                </a:solidFill>
                <a:latin typeface="微软雅黑" panose="020B0503020204020204" pitchFamily="34" charset="-122"/>
                <a:ea typeface="微软雅黑" panose="020B0503020204020204" pitchFamily="34" charset="-122"/>
              </a:rPr>
              <a:t>，可提取金额为余额宝中的最大余额，但到账时间会慢一些。</a:t>
            </a:r>
          </a:p>
        </p:txBody>
      </p:sp>
      <p:sp>
        <p:nvSpPr>
          <p:cNvPr id="2" name="Title 1"/>
          <p:cNvSpPr txBox="1"/>
          <p:nvPr/>
        </p:nvSpPr>
        <p:spPr>
          <a:xfrm>
            <a:off x="1143635" y="266700"/>
            <a:ext cx="644271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2.1.4	实例三：余额宝提现的等价类划分</a:t>
            </a: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原创设计师QQ598969553          _3"/>
          <p:cNvSpPr/>
          <p:nvPr/>
        </p:nvSpPr>
        <p:spPr>
          <a:xfrm>
            <a:off x="1271270" y="2273935"/>
            <a:ext cx="4469130" cy="3007360"/>
          </a:xfrm>
          <a:prstGeom prst="roundRect">
            <a:avLst>
              <a:gd name="adj" fmla="val 9083"/>
            </a:avLst>
          </a:prstGeom>
          <a:noFill/>
          <a:ln>
            <a:solidFill>
              <a:srgbClr val="ADBAC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n-ea"/>
              <a:sym typeface="+mn-lt"/>
            </a:endParaRPr>
          </a:p>
        </p:txBody>
      </p:sp>
      <p:sp>
        <p:nvSpPr>
          <p:cNvPr id="38" name="原创设计师QQ598969553          _6"/>
          <p:cNvSpPr/>
          <p:nvPr/>
        </p:nvSpPr>
        <p:spPr>
          <a:xfrm>
            <a:off x="1687303" y="2014024"/>
            <a:ext cx="1656184" cy="519694"/>
          </a:xfrm>
          <a:prstGeom prst="roundRect">
            <a:avLst/>
          </a:prstGeom>
          <a:solidFill>
            <a:srgbClr val="0070C0"/>
          </a:solidFill>
          <a:ln>
            <a:noFill/>
          </a:ln>
          <a:effectLst>
            <a:outerShdw blurRad="101600" dist="762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rIns="182880" rtlCol="0" anchor="ctr" anchorCtr="0"/>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1450340"/>
            <a:r>
              <a:rPr lang="en-US" altLang="zh-CN" sz="2000">
                <a:solidFill>
                  <a:schemeClr val="bg1"/>
                </a:solidFill>
                <a:latin typeface="微软雅黑" panose="020B0503020204020204" pitchFamily="34" charset="-122"/>
                <a:ea typeface="微软雅黑" panose="020B0503020204020204" pitchFamily="34" charset="-122"/>
                <a:cs typeface="+mn-ea"/>
                <a:sym typeface="+mn-lt"/>
              </a:rPr>
              <a:t>1.</a:t>
            </a:r>
            <a:r>
              <a:rPr lang="zh-CN" altLang="en-US" sz="2000">
                <a:solidFill>
                  <a:schemeClr val="bg1"/>
                </a:solidFill>
                <a:latin typeface="微软雅黑" panose="020B0503020204020204" pitchFamily="34" charset="-122"/>
                <a:ea typeface="微软雅黑" panose="020B0503020204020204" pitchFamily="34" charset="-122"/>
                <a:cs typeface="+mn-ea"/>
                <a:sym typeface="+mn-lt"/>
              </a:rPr>
              <a:t>快速到账</a:t>
            </a:r>
          </a:p>
        </p:txBody>
      </p:sp>
      <p:sp>
        <p:nvSpPr>
          <p:cNvPr id="4" name="TextBox 35"/>
          <p:cNvSpPr txBox="1">
            <a:spLocks noChangeArrowheads="1"/>
          </p:cNvSpPr>
          <p:nvPr/>
        </p:nvSpPr>
        <p:spPr bwMode="auto">
          <a:xfrm>
            <a:off x="1559560" y="2633980"/>
            <a:ext cx="4031646" cy="23390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buClrTx/>
              <a:buSzTx/>
              <a:buFontTx/>
            </a:pPr>
            <a:r>
              <a:rPr lang="zh-CN" altLang="en-US" sz="1600" dirty="0">
                <a:solidFill>
                  <a:srgbClr val="595959"/>
                </a:solidFill>
                <a:latin typeface="微软雅黑" panose="020B0503020204020204" pitchFamily="34" charset="-122"/>
                <a:ea typeface="微软雅黑" panose="020B0503020204020204" pitchFamily="34" charset="-122"/>
              </a:rPr>
              <a:t>如果选择快速到账，则可将提现功能划分为</a:t>
            </a:r>
            <a:r>
              <a:rPr lang="zh-CN" altLang="en-US" sz="1600" dirty="0">
                <a:solidFill>
                  <a:srgbClr val="0070C0"/>
                </a:solidFill>
                <a:latin typeface="微软雅黑" panose="020B0503020204020204" pitchFamily="34" charset="-122"/>
                <a:ea typeface="微软雅黑" panose="020B0503020204020204" pitchFamily="34" charset="-122"/>
              </a:rPr>
              <a:t>1个</a:t>
            </a:r>
            <a:r>
              <a:rPr lang="zh-CN" altLang="en-US" sz="1600">
                <a:solidFill>
                  <a:srgbClr val="0070C0"/>
                </a:solidFill>
                <a:latin typeface="微软雅黑" panose="020B0503020204020204" pitchFamily="34" charset="-122"/>
                <a:ea typeface="微软雅黑" panose="020B0503020204020204" pitchFamily="34" charset="-122"/>
              </a:rPr>
              <a:t>有效等价类</a:t>
            </a:r>
            <a:r>
              <a:rPr lang="zh-CN" altLang="en-US" sz="1600" dirty="0">
                <a:solidFill>
                  <a:srgbClr val="595959"/>
                </a:solidFill>
                <a:latin typeface="微软雅黑" panose="020B0503020204020204" pitchFamily="34" charset="-122"/>
                <a:ea typeface="微软雅黑" panose="020B0503020204020204" pitchFamily="34" charset="-122"/>
              </a:rPr>
              <a:t>和</a:t>
            </a:r>
            <a:r>
              <a:rPr lang="zh-CN" altLang="en-US" sz="1600">
                <a:solidFill>
                  <a:srgbClr val="0070C0"/>
                </a:solidFill>
                <a:latin typeface="微软雅黑" panose="020B0503020204020204" pitchFamily="34" charset="-122"/>
                <a:ea typeface="微软雅黑" panose="020B0503020204020204" pitchFamily="34" charset="-122"/>
              </a:rPr>
              <a:t>2</a:t>
            </a:r>
            <a:r>
              <a:rPr lang="zh-CN" altLang="en-US" sz="1600" dirty="0">
                <a:solidFill>
                  <a:srgbClr val="0070C0"/>
                </a:solidFill>
                <a:latin typeface="微软雅黑" panose="020B0503020204020204" pitchFamily="34" charset="-122"/>
                <a:ea typeface="微软雅黑" panose="020B0503020204020204" pitchFamily="34" charset="-122"/>
              </a:rPr>
              <a:t>个无效等价类</a:t>
            </a:r>
            <a:r>
              <a:rPr lang="zh-CN" altLang="en-US" sz="1600" dirty="0">
                <a:solidFill>
                  <a:srgbClr val="595959"/>
                </a:solidFill>
                <a:latin typeface="微软雅黑" panose="020B0503020204020204" pitchFamily="34" charset="-122"/>
                <a:ea typeface="微软雅黑" panose="020B0503020204020204" pitchFamily="34" charset="-122"/>
              </a:rPr>
              <a:t>，具体如下。</a:t>
            </a:r>
          </a:p>
          <a:p>
            <a:pPr marL="285750" indent="-285750" algn="just">
              <a:lnSpc>
                <a:spcPct val="150000"/>
              </a:lnSpc>
              <a:buClrTx/>
              <a:buSzTx/>
              <a:buFont typeface="Wingdings" panose="05000000000000000000" charset="0"/>
              <a:buChar char="l"/>
            </a:pPr>
            <a:r>
              <a:rPr lang="zh-CN" altLang="en-US" sz="1600" dirty="0">
                <a:solidFill>
                  <a:srgbClr val="595959"/>
                </a:solidFill>
                <a:latin typeface="微软雅黑" panose="020B0503020204020204" pitchFamily="34" charset="-122"/>
                <a:ea typeface="微软雅黑" panose="020B0503020204020204" pitchFamily="34" charset="-122"/>
              </a:rPr>
              <a:t>有效等价类</a:t>
            </a:r>
            <a:r>
              <a:rPr lang="zh-CN" altLang="en-US" sz="1600">
                <a:solidFill>
                  <a:srgbClr val="595959"/>
                </a:solidFill>
                <a:latin typeface="微软雅黑" panose="020B0503020204020204" pitchFamily="34" charset="-122"/>
                <a:ea typeface="微软雅黑" panose="020B0503020204020204" pitchFamily="34" charset="-122"/>
              </a:rPr>
              <a:t>：0元&lt;</a:t>
            </a:r>
            <a:r>
              <a:rPr lang="zh-CN" altLang="en-US" sz="1600" dirty="0">
                <a:solidFill>
                  <a:srgbClr val="595959"/>
                </a:solidFill>
                <a:latin typeface="微软雅黑" panose="020B0503020204020204" pitchFamily="34" charset="-122"/>
                <a:ea typeface="微软雅黑" panose="020B0503020204020204" pitchFamily="34" charset="-122"/>
              </a:rPr>
              <a:t>提现金额≤10000元。</a:t>
            </a:r>
          </a:p>
          <a:p>
            <a:pPr marL="285750" indent="-285750" algn="just">
              <a:lnSpc>
                <a:spcPct val="150000"/>
              </a:lnSpc>
              <a:buClrTx/>
              <a:buSzTx/>
              <a:buFont typeface="Wingdings" panose="05000000000000000000" charset="0"/>
              <a:buChar char="l"/>
            </a:pPr>
            <a:r>
              <a:rPr lang="zh-CN" altLang="en-US" sz="1600" dirty="0">
                <a:solidFill>
                  <a:srgbClr val="595959"/>
                </a:solidFill>
                <a:latin typeface="微软雅黑" panose="020B0503020204020204" pitchFamily="34" charset="-122"/>
                <a:ea typeface="微软雅黑" panose="020B0503020204020204" pitchFamily="34" charset="-122"/>
              </a:rPr>
              <a:t>无效等价类：提现金额</a:t>
            </a:r>
            <a:r>
              <a:rPr lang="zh-CN" altLang="en-US" sz="1600">
                <a:solidFill>
                  <a:srgbClr val="595959"/>
                </a:solidFill>
                <a:latin typeface="微软雅黑" panose="020B0503020204020204" pitchFamily="34" charset="-122"/>
                <a:ea typeface="微软雅黑" panose="020B0503020204020204" pitchFamily="34" charset="-122"/>
              </a:rPr>
              <a:t>≤0元。</a:t>
            </a:r>
            <a:endParaRPr lang="zh-CN" altLang="en-US" sz="1600" dirty="0">
              <a:solidFill>
                <a:srgbClr val="595959"/>
              </a:solidFill>
              <a:latin typeface="微软雅黑" panose="020B0503020204020204" pitchFamily="34" charset="-122"/>
              <a:ea typeface="微软雅黑" panose="020B0503020204020204" pitchFamily="34" charset="-122"/>
            </a:endParaRPr>
          </a:p>
          <a:p>
            <a:pPr marL="285750" indent="-285750" algn="just">
              <a:lnSpc>
                <a:spcPct val="150000"/>
              </a:lnSpc>
              <a:buClrTx/>
              <a:buSzTx/>
              <a:buFont typeface="Wingdings" panose="05000000000000000000" charset="0"/>
              <a:buChar char="l"/>
            </a:pPr>
            <a:r>
              <a:rPr lang="zh-CN" altLang="en-US" sz="1600" dirty="0">
                <a:solidFill>
                  <a:srgbClr val="595959"/>
                </a:solidFill>
                <a:latin typeface="微软雅黑" panose="020B0503020204020204" pitchFamily="34" charset="-122"/>
                <a:ea typeface="微软雅黑" panose="020B0503020204020204" pitchFamily="34" charset="-122"/>
              </a:rPr>
              <a:t>无效等价类：提现金额&gt;10000</a:t>
            </a:r>
            <a:r>
              <a:rPr lang="zh-CN" altLang="en-US" sz="1600">
                <a:solidFill>
                  <a:srgbClr val="595959"/>
                </a:solidFill>
                <a:latin typeface="微软雅黑" panose="020B0503020204020204" pitchFamily="34" charset="-122"/>
                <a:ea typeface="微软雅黑" panose="020B0503020204020204" pitchFamily="34" charset="-122"/>
              </a:rPr>
              <a:t>元。</a:t>
            </a:r>
            <a:endParaRPr lang="zh-CN" altLang="en-US" sz="1600" dirty="0">
              <a:solidFill>
                <a:srgbClr val="595959"/>
              </a:solidFill>
              <a:latin typeface="微软雅黑" panose="020B0503020204020204" pitchFamily="34" charset="-122"/>
              <a:ea typeface="微软雅黑" panose="020B0503020204020204" pitchFamily="34" charset="-122"/>
            </a:endParaRPr>
          </a:p>
        </p:txBody>
      </p:sp>
      <p:sp>
        <p:nvSpPr>
          <p:cNvPr id="8" name="原创设计师QQ598969553          _3"/>
          <p:cNvSpPr/>
          <p:nvPr/>
        </p:nvSpPr>
        <p:spPr>
          <a:xfrm>
            <a:off x="6671310" y="2273300"/>
            <a:ext cx="4469130" cy="3066415"/>
          </a:xfrm>
          <a:prstGeom prst="roundRect">
            <a:avLst>
              <a:gd name="adj" fmla="val 9083"/>
            </a:avLst>
          </a:prstGeom>
          <a:noFill/>
          <a:ln>
            <a:solidFill>
              <a:srgbClr val="ADBAC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n-ea"/>
              <a:sym typeface="+mn-lt"/>
            </a:endParaRPr>
          </a:p>
        </p:txBody>
      </p:sp>
      <p:sp>
        <p:nvSpPr>
          <p:cNvPr id="9" name="原创设计师QQ598969553          _6"/>
          <p:cNvSpPr/>
          <p:nvPr/>
        </p:nvSpPr>
        <p:spPr>
          <a:xfrm>
            <a:off x="7087343" y="2013389"/>
            <a:ext cx="1656184" cy="519694"/>
          </a:xfrm>
          <a:prstGeom prst="roundRect">
            <a:avLst/>
          </a:prstGeom>
          <a:solidFill>
            <a:srgbClr val="0070C0"/>
          </a:solidFill>
          <a:ln>
            <a:noFill/>
          </a:ln>
          <a:effectLst>
            <a:outerShdw blurRad="101600" dist="762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rIns="182880" rtlCol="0" anchor="ctr" anchorCtr="0"/>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1450340"/>
            <a:r>
              <a:rPr lang="en-US" altLang="zh-CN" sz="2000">
                <a:solidFill>
                  <a:schemeClr val="bg1"/>
                </a:solidFill>
                <a:latin typeface="微软雅黑" panose="020B0503020204020204" pitchFamily="34" charset="-122"/>
                <a:ea typeface="微软雅黑" panose="020B0503020204020204" pitchFamily="34" charset="-122"/>
                <a:cs typeface="+mn-ea"/>
                <a:sym typeface="+mn-lt"/>
              </a:rPr>
              <a:t>2.</a:t>
            </a:r>
            <a:r>
              <a:rPr lang="zh-CN" altLang="en-US" sz="2000">
                <a:solidFill>
                  <a:schemeClr val="bg1"/>
                </a:solidFill>
                <a:latin typeface="微软雅黑" panose="020B0503020204020204" pitchFamily="34" charset="-122"/>
                <a:ea typeface="微软雅黑" panose="020B0503020204020204" pitchFamily="34" charset="-122"/>
                <a:cs typeface="+mn-ea"/>
                <a:sym typeface="+mn-lt"/>
              </a:rPr>
              <a:t>普通到账</a:t>
            </a:r>
          </a:p>
        </p:txBody>
      </p:sp>
      <p:sp>
        <p:nvSpPr>
          <p:cNvPr id="10" name="TextBox 35"/>
          <p:cNvSpPr txBox="1">
            <a:spLocks noChangeArrowheads="1"/>
          </p:cNvSpPr>
          <p:nvPr/>
        </p:nvSpPr>
        <p:spPr bwMode="auto">
          <a:xfrm>
            <a:off x="6959600" y="2633345"/>
            <a:ext cx="3909060" cy="23390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buClrTx/>
              <a:buSzTx/>
              <a:buFontTx/>
            </a:pPr>
            <a:r>
              <a:rPr lang="zh-CN" altLang="en-US" sz="1600" dirty="0">
                <a:solidFill>
                  <a:srgbClr val="595959"/>
                </a:solidFill>
                <a:latin typeface="微软雅黑" panose="020B0503020204020204" pitchFamily="34" charset="-122"/>
                <a:ea typeface="微软雅黑" panose="020B0503020204020204" pitchFamily="34" charset="-122"/>
                <a:sym typeface="+mn-ea"/>
              </a:rPr>
              <a:t>如果选择普通到账，则可将提现功能划分为</a:t>
            </a:r>
            <a:r>
              <a:rPr lang="zh-CN" altLang="en-US" sz="1600" dirty="0">
                <a:solidFill>
                  <a:srgbClr val="0070C0"/>
                </a:solidFill>
                <a:latin typeface="微软雅黑" panose="020B0503020204020204" pitchFamily="34" charset="-122"/>
                <a:ea typeface="微软雅黑" panose="020B0503020204020204" pitchFamily="34" charset="-122"/>
                <a:sym typeface="+mn-ea"/>
              </a:rPr>
              <a:t>1个</a:t>
            </a:r>
            <a:r>
              <a:rPr lang="zh-CN" altLang="en-US" sz="1600">
                <a:solidFill>
                  <a:srgbClr val="0070C0"/>
                </a:solidFill>
                <a:latin typeface="微软雅黑" panose="020B0503020204020204" pitchFamily="34" charset="-122"/>
                <a:ea typeface="微软雅黑" panose="020B0503020204020204" pitchFamily="34" charset="-122"/>
                <a:sym typeface="+mn-ea"/>
              </a:rPr>
              <a:t>有效等价类</a:t>
            </a:r>
            <a:r>
              <a:rPr lang="zh-CN" altLang="en-US" sz="1600" dirty="0">
                <a:solidFill>
                  <a:srgbClr val="595959"/>
                </a:solidFill>
                <a:latin typeface="微软雅黑" panose="020B0503020204020204" pitchFamily="34" charset="-122"/>
                <a:ea typeface="微软雅黑" panose="020B0503020204020204" pitchFamily="34" charset="-122"/>
                <a:sym typeface="+mn-ea"/>
              </a:rPr>
              <a:t>和</a:t>
            </a:r>
            <a:r>
              <a:rPr lang="zh-CN" altLang="en-US" sz="1600">
                <a:solidFill>
                  <a:srgbClr val="0070C0"/>
                </a:solidFill>
                <a:latin typeface="微软雅黑" panose="020B0503020204020204" pitchFamily="34" charset="-122"/>
                <a:ea typeface="微软雅黑" panose="020B0503020204020204" pitchFamily="34" charset="-122"/>
                <a:sym typeface="+mn-ea"/>
              </a:rPr>
              <a:t>2</a:t>
            </a:r>
            <a:r>
              <a:rPr lang="zh-CN" altLang="en-US" sz="1600" dirty="0">
                <a:solidFill>
                  <a:srgbClr val="0070C0"/>
                </a:solidFill>
                <a:latin typeface="微软雅黑" panose="020B0503020204020204" pitchFamily="34" charset="-122"/>
                <a:ea typeface="微软雅黑" panose="020B0503020204020204" pitchFamily="34" charset="-122"/>
                <a:sym typeface="+mn-ea"/>
              </a:rPr>
              <a:t>个无效等价类</a:t>
            </a:r>
            <a:r>
              <a:rPr lang="zh-CN" altLang="en-US" sz="1600" dirty="0">
                <a:solidFill>
                  <a:srgbClr val="595959"/>
                </a:solidFill>
                <a:latin typeface="微软雅黑" panose="020B0503020204020204" pitchFamily="34" charset="-122"/>
                <a:ea typeface="微软雅黑" panose="020B0503020204020204" pitchFamily="34" charset="-122"/>
                <a:sym typeface="+mn-ea"/>
              </a:rPr>
              <a:t>，具体如下。</a:t>
            </a:r>
          </a:p>
          <a:p>
            <a:pPr marL="285750" indent="-285750" algn="just">
              <a:lnSpc>
                <a:spcPct val="150000"/>
              </a:lnSpc>
              <a:buClrTx/>
              <a:buSzTx/>
              <a:buFont typeface="Wingdings" panose="05000000000000000000" charset="0"/>
              <a:buChar char="l"/>
            </a:pPr>
            <a:r>
              <a:rPr lang="zh-CN" altLang="en-US" sz="1600" dirty="0">
                <a:solidFill>
                  <a:srgbClr val="595959"/>
                </a:solidFill>
                <a:latin typeface="微软雅黑" panose="020B0503020204020204" pitchFamily="34" charset="-122"/>
                <a:ea typeface="微软雅黑" panose="020B0503020204020204" pitchFamily="34" charset="-122"/>
                <a:sym typeface="+mn-ea"/>
              </a:rPr>
              <a:t>有效等价类</a:t>
            </a:r>
            <a:r>
              <a:rPr lang="zh-CN" altLang="en-US" sz="1600">
                <a:solidFill>
                  <a:srgbClr val="595959"/>
                </a:solidFill>
                <a:latin typeface="微软雅黑" panose="020B0503020204020204" pitchFamily="34" charset="-122"/>
                <a:ea typeface="微软雅黑" panose="020B0503020204020204" pitchFamily="34" charset="-122"/>
                <a:sym typeface="+mn-ea"/>
              </a:rPr>
              <a:t>：0元&lt;</a:t>
            </a:r>
            <a:r>
              <a:rPr lang="zh-CN" altLang="en-US" sz="1600" dirty="0">
                <a:solidFill>
                  <a:srgbClr val="595959"/>
                </a:solidFill>
                <a:latin typeface="微软雅黑" panose="020B0503020204020204" pitchFamily="34" charset="-122"/>
                <a:ea typeface="微软雅黑" panose="020B0503020204020204" pitchFamily="34" charset="-122"/>
                <a:sym typeface="+mn-ea"/>
              </a:rPr>
              <a:t>提现金额≤余额。</a:t>
            </a:r>
          </a:p>
          <a:p>
            <a:pPr marL="285750" indent="-285750" algn="just">
              <a:lnSpc>
                <a:spcPct val="150000"/>
              </a:lnSpc>
              <a:buClrTx/>
              <a:buSzTx/>
              <a:buFont typeface="Wingdings" panose="05000000000000000000" charset="0"/>
              <a:buChar char="l"/>
            </a:pPr>
            <a:r>
              <a:rPr lang="zh-CN" altLang="en-US" sz="1600" dirty="0">
                <a:solidFill>
                  <a:srgbClr val="595959"/>
                </a:solidFill>
                <a:latin typeface="微软雅黑" panose="020B0503020204020204" pitchFamily="34" charset="-122"/>
                <a:ea typeface="微软雅黑" panose="020B0503020204020204" pitchFamily="34" charset="-122"/>
                <a:sym typeface="+mn-ea"/>
              </a:rPr>
              <a:t>无效等价类：提现金额</a:t>
            </a:r>
            <a:r>
              <a:rPr lang="zh-CN" altLang="en-US" sz="1600">
                <a:solidFill>
                  <a:srgbClr val="595959"/>
                </a:solidFill>
                <a:latin typeface="微软雅黑" panose="020B0503020204020204" pitchFamily="34" charset="-122"/>
                <a:ea typeface="微软雅黑" panose="020B0503020204020204" pitchFamily="34" charset="-122"/>
                <a:sym typeface="+mn-ea"/>
              </a:rPr>
              <a:t>≤0元。</a:t>
            </a:r>
            <a:endParaRPr lang="zh-CN" altLang="en-US" sz="1600" dirty="0">
              <a:solidFill>
                <a:srgbClr val="595959"/>
              </a:solidFill>
              <a:latin typeface="微软雅黑" panose="020B0503020204020204" pitchFamily="34" charset="-122"/>
              <a:ea typeface="微软雅黑" panose="020B0503020204020204" pitchFamily="34" charset="-122"/>
              <a:sym typeface="+mn-ea"/>
            </a:endParaRPr>
          </a:p>
          <a:p>
            <a:pPr marL="285750" indent="-285750" algn="just">
              <a:lnSpc>
                <a:spcPct val="150000"/>
              </a:lnSpc>
              <a:buClrTx/>
              <a:buSzTx/>
              <a:buFont typeface="Wingdings" panose="05000000000000000000" charset="0"/>
              <a:buChar char="l"/>
            </a:pPr>
            <a:r>
              <a:rPr lang="zh-CN" altLang="en-US" sz="1600" dirty="0">
                <a:solidFill>
                  <a:srgbClr val="595959"/>
                </a:solidFill>
                <a:latin typeface="微软雅黑" panose="020B0503020204020204" pitchFamily="34" charset="-122"/>
                <a:ea typeface="微软雅黑" panose="020B0503020204020204" pitchFamily="34" charset="-122"/>
                <a:sym typeface="+mn-ea"/>
              </a:rPr>
              <a:t>无效等价类：提现金额&gt;</a:t>
            </a:r>
            <a:r>
              <a:rPr lang="zh-CN" altLang="en-US" sz="1600">
                <a:solidFill>
                  <a:srgbClr val="595959"/>
                </a:solidFill>
                <a:latin typeface="微软雅黑" panose="020B0503020204020204" pitchFamily="34" charset="-122"/>
                <a:ea typeface="微软雅黑" panose="020B0503020204020204" pitchFamily="34" charset="-122"/>
                <a:sym typeface="+mn-ea"/>
              </a:rPr>
              <a:t>余额</a:t>
            </a:r>
            <a:r>
              <a:rPr lang="zh-CN" altLang="en-US" sz="1600">
                <a:solidFill>
                  <a:srgbClr val="595959"/>
                </a:solidFill>
                <a:latin typeface="微软雅黑" panose="020B0503020204020204" pitchFamily="34" charset="-122"/>
                <a:ea typeface="微软雅黑" panose="020B0503020204020204" pitchFamily="34" charset="-122"/>
              </a:rPr>
              <a:t>。</a:t>
            </a:r>
            <a:endParaRPr lang="zh-CN" altLang="en-US" sz="1600" dirty="0">
              <a:solidFill>
                <a:srgbClr val="595959"/>
              </a:solidFill>
              <a:latin typeface="微软雅黑" panose="020B0503020204020204" pitchFamily="34" charset="-122"/>
              <a:ea typeface="微软雅黑" panose="020B0503020204020204" pitchFamily="34" charset="-122"/>
            </a:endParaRPr>
          </a:p>
        </p:txBody>
      </p:sp>
      <p:sp>
        <p:nvSpPr>
          <p:cNvPr id="2" name="Title 1"/>
          <p:cNvSpPr txBox="1"/>
          <p:nvPr/>
        </p:nvSpPr>
        <p:spPr>
          <a:xfrm>
            <a:off x="1143635" y="266700"/>
            <a:ext cx="644271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2.1.4	实例三：余额宝提现的等价类划分</a:t>
            </a:r>
          </a:p>
        </p:txBody>
      </p:sp>
      <p:sp>
        <p:nvSpPr>
          <p:cNvPr id="16" name="TextBox 35"/>
          <p:cNvSpPr txBox="1">
            <a:spLocks noChangeArrowheads="1"/>
          </p:cNvSpPr>
          <p:nvPr/>
        </p:nvSpPr>
        <p:spPr bwMode="auto">
          <a:xfrm>
            <a:off x="1127125" y="909320"/>
            <a:ext cx="9710420" cy="708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no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buClrTx/>
              <a:buSzTx/>
              <a:buFontTx/>
            </a:pPr>
            <a:r>
              <a:rPr lang="zh-CN" altLang="en-US" sz="1800" dirty="0">
                <a:solidFill>
                  <a:srgbClr val="595959"/>
                </a:solidFill>
                <a:latin typeface="微软雅黑" panose="020B0503020204020204" pitchFamily="34" charset="-122"/>
                <a:ea typeface="微软雅黑" panose="020B0503020204020204" pitchFamily="34" charset="-122"/>
              </a:rPr>
              <a:t>对余额宝的提现功能进行测试，首先</a:t>
            </a:r>
            <a:r>
              <a:rPr lang="zh-CN" altLang="en-US" sz="1800" dirty="0">
                <a:solidFill>
                  <a:srgbClr val="0070C0"/>
                </a:solidFill>
                <a:latin typeface="微软雅黑" panose="020B0503020204020204" pitchFamily="34" charset="-122"/>
                <a:ea typeface="微软雅黑" panose="020B0503020204020204" pitchFamily="34" charset="-122"/>
              </a:rPr>
              <a:t>对余额宝</a:t>
            </a:r>
            <a:r>
              <a:rPr lang="zh-CN" altLang="en-US" sz="1800">
                <a:solidFill>
                  <a:srgbClr val="0070C0"/>
                </a:solidFill>
                <a:latin typeface="微软雅黑" panose="020B0503020204020204" pitchFamily="34" charset="-122"/>
                <a:ea typeface="微软雅黑" panose="020B0503020204020204" pitchFamily="34" charset="-122"/>
              </a:rPr>
              <a:t>提现功能进行</a:t>
            </a:r>
            <a:r>
              <a:rPr lang="zh-CN" altLang="en-US" sz="1800" dirty="0">
                <a:solidFill>
                  <a:srgbClr val="0070C0"/>
                </a:solidFill>
                <a:latin typeface="微软雅黑" panose="020B0503020204020204" pitchFamily="34" charset="-122"/>
                <a:ea typeface="微软雅黑" panose="020B0503020204020204" pitchFamily="34" charset="-122"/>
              </a:rPr>
              <a:t>等价类划分</a:t>
            </a:r>
            <a:r>
              <a:rPr lang="zh-CN" altLang="en-US" sz="1800" dirty="0">
                <a:solidFill>
                  <a:srgbClr val="595959"/>
                </a:solidFill>
                <a:latin typeface="微软雅黑" panose="020B0503020204020204" pitchFamily="34" charset="-122"/>
                <a:ea typeface="微软雅黑" panose="020B0503020204020204" pitchFamily="34" charset="-122"/>
              </a:rPr>
              <a:t>。</a:t>
            </a: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35"/>
          <p:cNvSpPr txBox="1">
            <a:spLocks noChangeArrowheads="1"/>
          </p:cNvSpPr>
          <p:nvPr/>
        </p:nvSpPr>
        <p:spPr bwMode="auto">
          <a:xfrm>
            <a:off x="1127125" y="837565"/>
            <a:ext cx="9710420" cy="948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no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buClrTx/>
              <a:buSzTx/>
              <a:buFontTx/>
            </a:pPr>
            <a:r>
              <a:rPr lang="zh-CN" altLang="en-US" sz="1800" dirty="0">
                <a:solidFill>
                  <a:srgbClr val="595959"/>
                </a:solidFill>
                <a:latin typeface="微软雅黑" panose="020B0503020204020204" pitchFamily="34" charset="-122"/>
                <a:ea typeface="微软雅黑" panose="020B0503020204020204" pitchFamily="34" charset="-122"/>
              </a:rPr>
              <a:t>根据前面分析，余额宝提现功能一共可划分为6个等价类，</a:t>
            </a:r>
            <a:r>
              <a:rPr lang="zh-CN" altLang="en-US" sz="1800" dirty="0">
                <a:solidFill>
                  <a:srgbClr val="0070C0"/>
                </a:solidFill>
                <a:latin typeface="微软雅黑" panose="020B0503020204020204" pitchFamily="34" charset="-122"/>
                <a:ea typeface="微软雅黑" panose="020B0503020204020204" pitchFamily="34" charset="-122"/>
              </a:rPr>
              <a:t>余额宝提现功能的等价类表</a:t>
            </a:r>
            <a:r>
              <a:rPr lang="zh-CN" altLang="en-US" sz="1800" dirty="0">
                <a:solidFill>
                  <a:srgbClr val="595959"/>
                </a:solidFill>
                <a:latin typeface="微软雅黑" panose="020B0503020204020204" pitchFamily="34" charset="-122"/>
                <a:ea typeface="微软雅黑" panose="020B0503020204020204" pitchFamily="34" charset="-122"/>
              </a:rPr>
              <a:t>如下表所示。</a:t>
            </a:r>
          </a:p>
          <a:p>
            <a:pPr algn="just">
              <a:lnSpc>
                <a:spcPct val="150000"/>
              </a:lnSpc>
              <a:buClrTx/>
              <a:buSzTx/>
              <a:buFontTx/>
            </a:pPr>
            <a:endParaRPr lang="zh-CN" altLang="en-US" sz="1800" dirty="0">
              <a:solidFill>
                <a:srgbClr val="595959"/>
              </a:solidFill>
              <a:latin typeface="微软雅黑" panose="020B0503020204020204" pitchFamily="34" charset="-122"/>
              <a:ea typeface="微软雅黑" panose="020B0503020204020204" pitchFamily="34" charset="-122"/>
            </a:endParaRPr>
          </a:p>
        </p:txBody>
      </p:sp>
      <p:graphicFrame>
        <p:nvGraphicFramePr>
          <p:cNvPr id="2" name="表格 1"/>
          <p:cNvGraphicFramePr/>
          <p:nvPr>
            <p:custDataLst>
              <p:tags r:id="rId1"/>
            </p:custDataLst>
          </p:nvPr>
        </p:nvGraphicFramePr>
        <p:xfrm>
          <a:off x="2279015" y="1989455"/>
          <a:ext cx="8119745" cy="3347720"/>
        </p:xfrm>
        <a:graphic>
          <a:graphicData uri="http://schemas.openxmlformats.org/drawingml/2006/table">
            <a:tbl>
              <a:tblPr firstRow="1" bandRow="1">
                <a:tableStyleId>{5C22544A-7EE6-4342-B048-85BDC9FD1C3A}</a:tableStyleId>
              </a:tblPr>
              <a:tblGrid>
                <a:gridCol w="1152191">
                  <a:extLst>
                    <a:ext uri="{9D8B030D-6E8A-4147-A177-3AD203B41FA5}">
                      <a16:colId xmlns:a16="http://schemas.microsoft.com/office/drawing/2014/main" val="20000"/>
                    </a:ext>
                  </a:extLst>
                </a:gridCol>
                <a:gridCol w="2808000">
                  <a:extLst>
                    <a:ext uri="{9D8B030D-6E8A-4147-A177-3AD203B41FA5}">
                      <a16:colId xmlns:a16="http://schemas.microsoft.com/office/drawing/2014/main" val="20001"/>
                    </a:ext>
                  </a:extLst>
                </a:gridCol>
                <a:gridCol w="813104">
                  <a:extLst>
                    <a:ext uri="{9D8B030D-6E8A-4147-A177-3AD203B41FA5}">
                      <a16:colId xmlns:a16="http://schemas.microsoft.com/office/drawing/2014/main" val="20002"/>
                    </a:ext>
                  </a:extLst>
                </a:gridCol>
                <a:gridCol w="2225040">
                  <a:extLst>
                    <a:ext uri="{9D8B030D-6E8A-4147-A177-3AD203B41FA5}">
                      <a16:colId xmlns:a16="http://schemas.microsoft.com/office/drawing/2014/main" val="20003"/>
                    </a:ext>
                  </a:extLst>
                </a:gridCol>
                <a:gridCol w="1121410">
                  <a:extLst>
                    <a:ext uri="{9D8B030D-6E8A-4147-A177-3AD203B41FA5}">
                      <a16:colId xmlns:a16="http://schemas.microsoft.com/office/drawing/2014/main" val="20004"/>
                    </a:ext>
                  </a:extLst>
                </a:gridCol>
              </a:tblGrid>
              <a:tr h="715010">
                <a:tc>
                  <a:txBody>
                    <a:bodyPr/>
                    <a:lstStyle/>
                    <a:p>
                      <a:pPr algn="ctr">
                        <a:lnSpc>
                          <a:spcPct val="90000"/>
                        </a:lnSpc>
                        <a:buNone/>
                      </a:pPr>
                      <a:r>
                        <a:rPr lang="zh-CN" altLang="en-US" sz="1800" b="1">
                          <a:latin typeface="微软雅黑" panose="020B0503020204020204" pitchFamily="34" charset="-122"/>
                          <a:ea typeface="微软雅黑" panose="020B0503020204020204" pitchFamily="34" charset="-122"/>
                        </a:rPr>
                        <a:t>功能</a:t>
                      </a:r>
                    </a:p>
                  </a:txBody>
                  <a:tcPr anchor="ctr"/>
                </a:tc>
                <a:tc>
                  <a:txBody>
                    <a:bodyPr/>
                    <a:lstStyle/>
                    <a:p>
                      <a:pPr algn="ctr">
                        <a:lnSpc>
                          <a:spcPct val="90000"/>
                        </a:lnSpc>
                        <a:buNone/>
                      </a:pPr>
                      <a:r>
                        <a:rPr lang="zh-CN" altLang="en-US" sz="1800">
                          <a:latin typeface="微软雅黑" panose="020B0503020204020204" pitchFamily="34" charset="-122"/>
                          <a:ea typeface="微软雅黑" panose="020B0503020204020204" pitchFamily="34" charset="-122"/>
                        </a:rPr>
                        <a:t>有效等价类</a:t>
                      </a:r>
                    </a:p>
                  </a:txBody>
                  <a:tcPr anchor="ctr"/>
                </a:tc>
                <a:tc>
                  <a:txBody>
                    <a:bodyPr/>
                    <a:lstStyle/>
                    <a:p>
                      <a:pPr algn="ctr">
                        <a:lnSpc>
                          <a:spcPct val="90000"/>
                        </a:lnSpc>
                        <a:buNone/>
                      </a:pPr>
                      <a:r>
                        <a:rPr lang="zh-CN" altLang="en-US" sz="1800">
                          <a:latin typeface="微软雅黑" panose="020B0503020204020204" pitchFamily="34" charset="-122"/>
                          <a:ea typeface="微软雅黑" panose="020B0503020204020204" pitchFamily="34" charset="-122"/>
                        </a:rPr>
                        <a:t>编号</a:t>
                      </a:r>
                    </a:p>
                  </a:txBody>
                  <a:tcPr anchor="ctr"/>
                </a:tc>
                <a:tc>
                  <a:txBody>
                    <a:bodyPr/>
                    <a:lstStyle/>
                    <a:p>
                      <a:pPr algn="ctr">
                        <a:lnSpc>
                          <a:spcPct val="90000"/>
                        </a:lnSpc>
                        <a:buNone/>
                      </a:pPr>
                      <a:r>
                        <a:rPr lang="zh-CN" altLang="en-US" sz="1800">
                          <a:latin typeface="微软雅黑" panose="020B0503020204020204" pitchFamily="34" charset="-122"/>
                          <a:ea typeface="微软雅黑" panose="020B0503020204020204" pitchFamily="34" charset="-122"/>
                          <a:sym typeface="+mn-ea"/>
                        </a:rPr>
                        <a:t>无效等价类</a:t>
                      </a:r>
                      <a:endParaRPr lang="zh-CN" altLang="en-US" sz="1800">
                        <a:latin typeface="微软雅黑" panose="020B0503020204020204" pitchFamily="34" charset="-122"/>
                        <a:ea typeface="微软雅黑" panose="020B0503020204020204" pitchFamily="34" charset="-122"/>
                      </a:endParaRPr>
                    </a:p>
                  </a:txBody>
                  <a:tcPr anchor="ctr"/>
                </a:tc>
                <a:tc>
                  <a:txBody>
                    <a:bodyPr/>
                    <a:lstStyle/>
                    <a:p>
                      <a:pPr algn="ctr">
                        <a:lnSpc>
                          <a:spcPct val="90000"/>
                        </a:lnSpc>
                        <a:buNone/>
                      </a:pPr>
                      <a:r>
                        <a:rPr lang="zh-CN" altLang="en-US" sz="1800">
                          <a:latin typeface="微软雅黑" panose="020B0503020204020204" pitchFamily="34" charset="-122"/>
                          <a:ea typeface="微软雅黑" panose="020B0503020204020204" pitchFamily="34" charset="-122"/>
                        </a:rPr>
                        <a:t>编号</a:t>
                      </a:r>
                    </a:p>
                  </a:txBody>
                  <a:tcPr anchor="ctr"/>
                </a:tc>
                <a:extLst>
                  <a:ext uri="{0D108BD9-81ED-4DB2-BD59-A6C34878D82A}">
                    <a16:rowId xmlns:a16="http://schemas.microsoft.com/office/drawing/2014/main" val="10000"/>
                  </a:ext>
                </a:extLst>
              </a:tr>
              <a:tr h="687070">
                <a:tc rowSpan="2">
                  <a:txBody>
                    <a:bodyPr/>
                    <a:lstStyle/>
                    <a:p>
                      <a:pPr algn="ctr">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快速到账</a:t>
                      </a:r>
                    </a:p>
                  </a:txBody>
                  <a:tcPr anchor="ctr"/>
                </a:tc>
                <a:tc rowSpan="2">
                  <a:txBody>
                    <a:bodyPr/>
                    <a:lstStyle/>
                    <a:p>
                      <a:pPr algn="ctr">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0元&lt;提现金额≤10000元</a:t>
                      </a:r>
                    </a:p>
                  </a:txBody>
                  <a:tcPr anchor="ctr"/>
                </a:tc>
                <a:tc rowSpan="2">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1</a:t>
                      </a:r>
                    </a:p>
                  </a:txBody>
                  <a:tcPr anchor="ctr"/>
                </a:tc>
                <a:tc>
                  <a:txBody>
                    <a:bodyPr/>
                    <a:lstStyle/>
                    <a:p>
                      <a:pPr algn="l">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提现金额≤ 0</a:t>
                      </a:r>
                      <a:r>
                        <a:rPr lang="zh-CN" altLang="en-US" sz="1800" kern="1200">
                          <a:solidFill>
                            <a:srgbClr val="595959"/>
                          </a:solidFill>
                          <a:latin typeface="微软雅黑" panose="020B0503020204020204" pitchFamily="34" charset="-122"/>
                          <a:ea typeface="微软雅黑" panose="020B0503020204020204" pitchFamily="34" charset="-122"/>
                          <a:cs typeface="+mn-cs"/>
                        </a:rPr>
                        <a:t>元</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2</a:t>
                      </a:r>
                    </a:p>
                  </a:txBody>
                  <a:tcPr anchor="ctr"/>
                </a:tc>
                <a:extLst>
                  <a:ext uri="{0D108BD9-81ED-4DB2-BD59-A6C34878D82A}">
                    <a16:rowId xmlns:a16="http://schemas.microsoft.com/office/drawing/2014/main" val="10001"/>
                  </a:ext>
                </a:extLst>
              </a:tr>
              <a:tr h="645160">
                <a:tc vMerge="1">
                  <a:txBody>
                    <a:bodyPr/>
                    <a:lstStyle/>
                    <a:p>
                      <a:endParaRPr lang="zh-CN"/>
                    </a:p>
                  </a:txBody>
                  <a:tcPr anchor="ctr"/>
                </a:tc>
                <a:tc vMerge="1">
                  <a:txBody>
                    <a:bodyPr/>
                    <a:lstStyle/>
                    <a:p>
                      <a:endParaRPr lang="zh-CN"/>
                    </a:p>
                  </a:txBody>
                  <a:tcPr anchor="ctr"/>
                </a:tc>
                <a:tc vMerge="1">
                  <a:txBody>
                    <a:bodyPr/>
                    <a:lstStyle/>
                    <a:p>
                      <a:endParaRPr lang="zh-CN"/>
                    </a:p>
                  </a:txBody>
                  <a:tcPr anchor="ctr"/>
                </a:tc>
                <a:tc>
                  <a:txBody>
                    <a:bodyPr/>
                    <a:lstStyle/>
                    <a:p>
                      <a:pPr algn="l">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提现金额&gt;10000元</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3</a:t>
                      </a:r>
                    </a:p>
                  </a:txBody>
                  <a:tcPr anchor="ctr"/>
                </a:tc>
                <a:extLst>
                  <a:ext uri="{0D108BD9-81ED-4DB2-BD59-A6C34878D82A}">
                    <a16:rowId xmlns:a16="http://schemas.microsoft.com/office/drawing/2014/main" val="10002"/>
                  </a:ext>
                </a:extLst>
              </a:tr>
              <a:tr h="644525">
                <a:tc rowSpan="2">
                  <a:txBody>
                    <a:bodyPr/>
                    <a:lstStyle/>
                    <a:p>
                      <a:pPr algn="ctr">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普通到账</a:t>
                      </a:r>
                    </a:p>
                  </a:txBody>
                  <a:tcPr anchor="ctr"/>
                </a:tc>
                <a:tc rowSpan="2">
                  <a:txBody>
                    <a:bodyPr/>
                    <a:lstStyle/>
                    <a:p>
                      <a:pPr algn="ctr">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0&lt;提现金额≤余额</a:t>
                      </a:r>
                    </a:p>
                  </a:txBody>
                  <a:tcPr anchor="ctr"/>
                </a:tc>
                <a:tc rowSpan="2">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4</a:t>
                      </a:r>
                    </a:p>
                  </a:txBody>
                  <a:tcPr anchor="ctr"/>
                </a:tc>
                <a:tc>
                  <a:txBody>
                    <a:bodyPr/>
                    <a:lstStyle/>
                    <a:p>
                      <a:pPr algn="l">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提现金额≤ 0</a:t>
                      </a:r>
                      <a:r>
                        <a:rPr lang="zh-CN" altLang="en-US" sz="1800" kern="1200">
                          <a:solidFill>
                            <a:srgbClr val="595959"/>
                          </a:solidFill>
                          <a:latin typeface="微软雅黑" panose="020B0503020204020204" pitchFamily="34" charset="-122"/>
                          <a:ea typeface="微软雅黑" panose="020B0503020204020204" pitchFamily="34" charset="-122"/>
                          <a:cs typeface="+mn-cs"/>
                        </a:rPr>
                        <a:t>元</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5</a:t>
                      </a:r>
                    </a:p>
                  </a:txBody>
                  <a:tcPr anchor="ctr"/>
                </a:tc>
                <a:extLst>
                  <a:ext uri="{0D108BD9-81ED-4DB2-BD59-A6C34878D82A}">
                    <a16:rowId xmlns:a16="http://schemas.microsoft.com/office/drawing/2014/main" val="10003"/>
                  </a:ext>
                </a:extLst>
              </a:tr>
              <a:tr h="655955">
                <a:tc vMerge="1">
                  <a:txBody>
                    <a:bodyPr/>
                    <a:lstStyle/>
                    <a:p>
                      <a:endParaRPr lang="zh-CN"/>
                    </a:p>
                  </a:txBody>
                  <a:tcPr anchor="ctr"/>
                </a:tc>
                <a:tc vMerge="1">
                  <a:txBody>
                    <a:bodyPr/>
                    <a:lstStyle/>
                    <a:p>
                      <a:endParaRPr lang="zh-CN"/>
                    </a:p>
                  </a:txBody>
                  <a:tcPr anchor="ctr"/>
                </a:tc>
                <a:tc vMerge="1">
                  <a:txBody>
                    <a:bodyPr/>
                    <a:lstStyle/>
                    <a:p>
                      <a:endParaRPr lang="zh-CN"/>
                    </a:p>
                  </a:txBody>
                  <a:tcPr anchor="ctr"/>
                </a:tc>
                <a:tc>
                  <a:txBody>
                    <a:bodyPr/>
                    <a:lstStyle/>
                    <a:p>
                      <a:pPr algn="l">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提现金额&gt;余额</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6</a:t>
                      </a:r>
                    </a:p>
                  </a:txBody>
                  <a:tcPr anchor="ctr"/>
                </a:tc>
                <a:extLst>
                  <a:ext uri="{0D108BD9-81ED-4DB2-BD59-A6C34878D82A}">
                    <a16:rowId xmlns:a16="http://schemas.microsoft.com/office/drawing/2014/main" val="10004"/>
                  </a:ext>
                </a:extLst>
              </a:tr>
            </a:tbl>
          </a:graphicData>
        </a:graphic>
      </p:graphicFrame>
      <p:sp>
        <p:nvSpPr>
          <p:cNvPr id="4" name="Title 1"/>
          <p:cNvSpPr txBox="1"/>
          <p:nvPr/>
        </p:nvSpPr>
        <p:spPr>
          <a:xfrm>
            <a:off x="1143635" y="266700"/>
            <a:ext cx="644271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2.1.4	实例三：余额宝提现的等价类划分</a:t>
            </a: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35"/>
          <p:cNvSpPr txBox="1">
            <a:spLocks noChangeArrowheads="1"/>
          </p:cNvSpPr>
          <p:nvPr/>
        </p:nvSpPr>
        <p:spPr bwMode="auto">
          <a:xfrm>
            <a:off x="1127125" y="837565"/>
            <a:ext cx="9710420" cy="6375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no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buClrTx/>
              <a:buSzTx/>
              <a:buFontTx/>
            </a:pPr>
            <a:r>
              <a:rPr lang="zh-CN" altLang="en-US" sz="1800" dirty="0">
                <a:solidFill>
                  <a:srgbClr val="0070C0"/>
                </a:solidFill>
                <a:latin typeface="微软雅黑" panose="020B0503020204020204" pitchFamily="34" charset="-122"/>
                <a:ea typeface="微软雅黑" panose="020B0503020204020204" pitchFamily="34" charset="-122"/>
              </a:rPr>
              <a:t>细分后的余额宝提现功能等价类表</a:t>
            </a:r>
            <a:r>
              <a:rPr lang="zh-CN" altLang="en-US" sz="1800" dirty="0">
                <a:solidFill>
                  <a:srgbClr val="595959"/>
                </a:solidFill>
                <a:latin typeface="微软雅黑" panose="020B0503020204020204" pitchFamily="34" charset="-122"/>
                <a:ea typeface="微软雅黑" panose="020B0503020204020204" pitchFamily="34" charset="-122"/>
              </a:rPr>
              <a:t>如下表所示。</a:t>
            </a:r>
          </a:p>
        </p:txBody>
      </p:sp>
      <p:graphicFrame>
        <p:nvGraphicFramePr>
          <p:cNvPr id="2" name="表格 1"/>
          <p:cNvGraphicFramePr/>
          <p:nvPr>
            <p:custDataLst>
              <p:tags r:id="rId1"/>
            </p:custDataLst>
          </p:nvPr>
        </p:nvGraphicFramePr>
        <p:xfrm>
          <a:off x="1806362" y="1629794"/>
          <a:ext cx="8464844" cy="4558030"/>
        </p:xfrm>
        <a:graphic>
          <a:graphicData uri="http://schemas.openxmlformats.org/drawingml/2006/table">
            <a:tbl>
              <a:tblPr firstRow="1" bandRow="1">
                <a:tableStyleId>{5C22544A-7EE6-4342-B048-85BDC9FD1C3A}</a:tableStyleId>
              </a:tblPr>
              <a:tblGrid>
                <a:gridCol w="1323340">
                  <a:extLst>
                    <a:ext uri="{9D8B030D-6E8A-4147-A177-3AD203B41FA5}">
                      <a16:colId xmlns:a16="http://schemas.microsoft.com/office/drawing/2014/main" val="20000"/>
                    </a:ext>
                  </a:extLst>
                </a:gridCol>
                <a:gridCol w="3068606">
                  <a:extLst>
                    <a:ext uri="{9D8B030D-6E8A-4147-A177-3AD203B41FA5}">
                      <a16:colId xmlns:a16="http://schemas.microsoft.com/office/drawing/2014/main" val="20001"/>
                    </a:ext>
                  </a:extLst>
                </a:gridCol>
                <a:gridCol w="1008000">
                  <a:extLst>
                    <a:ext uri="{9D8B030D-6E8A-4147-A177-3AD203B41FA5}">
                      <a16:colId xmlns:a16="http://schemas.microsoft.com/office/drawing/2014/main" val="20002"/>
                    </a:ext>
                  </a:extLst>
                </a:gridCol>
                <a:gridCol w="2200898">
                  <a:extLst>
                    <a:ext uri="{9D8B030D-6E8A-4147-A177-3AD203B41FA5}">
                      <a16:colId xmlns:a16="http://schemas.microsoft.com/office/drawing/2014/main" val="20003"/>
                    </a:ext>
                  </a:extLst>
                </a:gridCol>
                <a:gridCol w="864000">
                  <a:extLst>
                    <a:ext uri="{9D8B030D-6E8A-4147-A177-3AD203B41FA5}">
                      <a16:colId xmlns:a16="http://schemas.microsoft.com/office/drawing/2014/main" val="20004"/>
                    </a:ext>
                  </a:extLst>
                </a:gridCol>
              </a:tblGrid>
              <a:tr h="715010">
                <a:tc>
                  <a:txBody>
                    <a:bodyPr/>
                    <a:lstStyle/>
                    <a:p>
                      <a:pPr algn="ctr">
                        <a:lnSpc>
                          <a:spcPct val="90000"/>
                        </a:lnSpc>
                        <a:buNone/>
                      </a:pPr>
                      <a:r>
                        <a:rPr lang="zh-CN" altLang="en-US" sz="1800" b="1">
                          <a:latin typeface="微软雅黑" panose="020B0503020204020204" pitchFamily="34" charset="-122"/>
                          <a:ea typeface="微软雅黑" panose="020B0503020204020204" pitchFamily="34" charset="-122"/>
                        </a:rPr>
                        <a:t>功能</a:t>
                      </a:r>
                    </a:p>
                  </a:txBody>
                  <a:tcPr anchor="ctr"/>
                </a:tc>
                <a:tc>
                  <a:txBody>
                    <a:bodyPr/>
                    <a:lstStyle/>
                    <a:p>
                      <a:pPr algn="ctr">
                        <a:lnSpc>
                          <a:spcPct val="90000"/>
                        </a:lnSpc>
                        <a:buNone/>
                      </a:pPr>
                      <a:r>
                        <a:rPr lang="zh-CN" altLang="en-US" sz="1800">
                          <a:latin typeface="微软雅黑" panose="020B0503020204020204" pitchFamily="34" charset="-122"/>
                          <a:ea typeface="微软雅黑" panose="020B0503020204020204" pitchFamily="34" charset="-122"/>
                        </a:rPr>
                        <a:t>有效等价类</a:t>
                      </a:r>
                    </a:p>
                  </a:txBody>
                  <a:tcPr anchor="ctr"/>
                </a:tc>
                <a:tc>
                  <a:txBody>
                    <a:bodyPr/>
                    <a:lstStyle/>
                    <a:p>
                      <a:pPr algn="ctr">
                        <a:lnSpc>
                          <a:spcPct val="90000"/>
                        </a:lnSpc>
                        <a:buNone/>
                      </a:pPr>
                      <a:r>
                        <a:rPr lang="zh-CN" altLang="en-US" sz="1800">
                          <a:latin typeface="微软雅黑" panose="020B0503020204020204" pitchFamily="34" charset="-122"/>
                          <a:ea typeface="微软雅黑" panose="020B0503020204020204" pitchFamily="34" charset="-122"/>
                        </a:rPr>
                        <a:t>编号</a:t>
                      </a:r>
                    </a:p>
                  </a:txBody>
                  <a:tcPr anchor="ctr"/>
                </a:tc>
                <a:tc>
                  <a:txBody>
                    <a:bodyPr/>
                    <a:lstStyle/>
                    <a:p>
                      <a:pPr algn="ctr">
                        <a:lnSpc>
                          <a:spcPct val="90000"/>
                        </a:lnSpc>
                        <a:buNone/>
                      </a:pPr>
                      <a:r>
                        <a:rPr lang="zh-CN" altLang="en-US" sz="1800">
                          <a:latin typeface="微软雅黑" panose="020B0503020204020204" pitchFamily="34" charset="-122"/>
                          <a:ea typeface="微软雅黑" panose="020B0503020204020204" pitchFamily="34" charset="-122"/>
                          <a:sym typeface="+mn-ea"/>
                        </a:rPr>
                        <a:t>无效等价类</a:t>
                      </a:r>
                      <a:endParaRPr lang="zh-CN" altLang="en-US" sz="1800">
                        <a:latin typeface="微软雅黑" panose="020B0503020204020204" pitchFamily="34" charset="-122"/>
                        <a:ea typeface="微软雅黑" panose="020B0503020204020204" pitchFamily="34" charset="-122"/>
                      </a:endParaRPr>
                    </a:p>
                  </a:txBody>
                  <a:tcPr anchor="ctr"/>
                </a:tc>
                <a:tc>
                  <a:txBody>
                    <a:bodyPr/>
                    <a:lstStyle/>
                    <a:p>
                      <a:pPr algn="ctr">
                        <a:lnSpc>
                          <a:spcPct val="90000"/>
                        </a:lnSpc>
                        <a:buNone/>
                      </a:pPr>
                      <a:r>
                        <a:rPr lang="zh-CN" altLang="en-US" sz="1800">
                          <a:latin typeface="微软雅黑" panose="020B0503020204020204" pitchFamily="34" charset="-122"/>
                          <a:ea typeface="微软雅黑" panose="020B0503020204020204" pitchFamily="34" charset="-122"/>
                        </a:rPr>
                        <a:t>编号</a:t>
                      </a:r>
                    </a:p>
                  </a:txBody>
                  <a:tcPr anchor="ctr"/>
                </a:tc>
                <a:extLst>
                  <a:ext uri="{0D108BD9-81ED-4DB2-BD59-A6C34878D82A}">
                    <a16:rowId xmlns:a16="http://schemas.microsoft.com/office/drawing/2014/main" val="10000"/>
                  </a:ext>
                </a:extLst>
              </a:tr>
              <a:tr h="687070">
                <a:tc rowSpan="2">
                  <a:txBody>
                    <a:bodyPr/>
                    <a:lstStyle/>
                    <a:p>
                      <a:pPr algn="ctr">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快速到账</a:t>
                      </a:r>
                    </a:p>
                    <a:p>
                      <a:pPr algn="ctr">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（第1次）</a:t>
                      </a:r>
                    </a:p>
                  </a:txBody>
                  <a:tcPr anchor="ctr"/>
                </a:tc>
                <a:tc rowSpan="2">
                  <a:txBody>
                    <a:bodyPr/>
                    <a:lstStyle/>
                    <a:p>
                      <a:pPr algn="ctr">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0元&lt;提现金额&lt;=10000元</a:t>
                      </a:r>
                    </a:p>
                  </a:txBody>
                  <a:tcPr anchor="ctr"/>
                </a:tc>
                <a:tc rowSpan="2">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1</a:t>
                      </a:r>
                    </a:p>
                  </a:txBody>
                  <a:tcPr anchor="ctr"/>
                </a:tc>
                <a:tc>
                  <a:txBody>
                    <a:bodyPr/>
                    <a:lstStyle/>
                    <a:p>
                      <a:pPr algn="l">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提现金额≤ 0</a:t>
                      </a:r>
                      <a:r>
                        <a:rPr lang="zh-CN" altLang="en-US" sz="1800" kern="1200">
                          <a:solidFill>
                            <a:srgbClr val="595959"/>
                          </a:solidFill>
                          <a:latin typeface="微软雅黑" panose="020B0503020204020204" pitchFamily="34" charset="-122"/>
                          <a:ea typeface="微软雅黑" panose="020B0503020204020204" pitchFamily="34" charset="-122"/>
                          <a:cs typeface="+mn-cs"/>
                        </a:rPr>
                        <a:t>元</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2</a:t>
                      </a:r>
                    </a:p>
                  </a:txBody>
                  <a:tcPr anchor="ctr"/>
                </a:tc>
                <a:extLst>
                  <a:ext uri="{0D108BD9-81ED-4DB2-BD59-A6C34878D82A}">
                    <a16:rowId xmlns:a16="http://schemas.microsoft.com/office/drawing/2014/main" val="10001"/>
                  </a:ext>
                </a:extLst>
              </a:tr>
              <a:tr h="645160">
                <a:tc vMerge="1">
                  <a:txBody>
                    <a:bodyPr/>
                    <a:lstStyle/>
                    <a:p>
                      <a:endParaRPr lang="zh-CN"/>
                    </a:p>
                  </a:txBody>
                  <a:tcPr anchor="ctr"/>
                </a:tc>
                <a:tc vMerge="1">
                  <a:txBody>
                    <a:bodyPr/>
                    <a:lstStyle/>
                    <a:p>
                      <a:endParaRPr lang="zh-CN"/>
                    </a:p>
                  </a:txBody>
                  <a:tcPr anchor="ctr"/>
                </a:tc>
                <a:tc vMerge="1">
                  <a:txBody>
                    <a:bodyPr/>
                    <a:lstStyle/>
                    <a:p>
                      <a:endParaRPr lang="zh-CN"/>
                    </a:p>
                  </a:txBody>
                  <a:tcPr anchor="ctr"/>
                </a:tc>
                <a:tc>
                  <a:txBody>
                    <a:bodyPr/>
                    <a:lstStyle/>
                    <a:p>
                      <a:pPr algn="l">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提现金额&gt;10000</a:t>
                      </a:r>
                      <a:r>
                        <a:rPr lang="zh-CN" altLang="en-US" sz="1800" kern="1200">
                          <a:solidFill>
                            <a:srgbClr val="595959"/>
                          </a:solidFill>
                          <a:latin typeface="微软雅黑" panose="020B0503020204020204" pitchFamily="34" charset="-122"/>
                          <a:ea typeface="微软雅黑" panose="020B0503020204020204" pitchFamily="34" charset="-122"/>
                          <a:cs typeface="+mn-cs"/>
                        </a:rPr>
                        <a:t>元</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3</a:t>
                      </a:r>
                    </a:p>
                  </a:txBody>
                  <a:tcPr anchor="ctr"/>
                </a:tc>
                <a:extLst>
                  <a:ext uri="{0D108BD9-81ED-4DB2-BD59-A6C34878D82A}">
                    <a16:rowId xmlns:a16="http://schemas.microsoft.com/office/drawing/2014/main" val="10002"/>
                  </a:ext>
                </a:extLst>
              </a:tr>
              <a:tr h="644525">
                <a:tc rowSpan="2">
                  <a:txBody>
                    <a:bodyPr/>
                    <a:lstStyle/>
                    <a:p>
                      <a:pPr algn="ctr">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快速到账</a:t>
                      </a:r>
                    </a:p>
                    <a:p>
                      <a:pPr algn="ctr">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（第n次）</a:t>
                      </a:r>
                    </a:p>
                  </a:txBody>
                  <a:tcPr anchor="ctr"/>
                </a:tc>
                <a:tc rowSpan="2">
                  <a:txBody>
                    <a:bodyPr/>
                    <a:lstStyle/>
                    <a:p>
                      <a:pPr algn="l">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0元&lt;提现金</a:t>
                      </a:r>
                      <a:r>
                        <a:rPr lang="zh-CN" altLang="en-US" sz="1800" kern="1200">
                          <a:solidFill>
                            <a:srgbClr val="595959"/>
                          </a:solidFill>
                          <a:latin typeface="微软雅黑" panose="020B0503020204020204" pitchFamily="34" charset="-122"/>
                          <a:ea typeface="微软雅黑" panose="020B0503020204020204" pitchFamily="34" charset="-122"/>
                          <a:cs typeface="+mn-cs"/>
                          <a:sym typeface="+mn-ea"/>
                        </a:rPr>
                        <a:t>额</a:t>
                      </a:r>
                      <a:r>
                        <a:rPr lang="zh-CN" altLang="en-US" sz="1800" kern="1200">
                          <a:solidFill>
                            <a:srgbClr val="595959"/>
                          </a:solidFill>
                          <a:latin typeface="微软雅黑" panose="020B0503020204020204" pitchFamily="34" charset="-122"/>
                          <a:ea typeface="微软雅黑" panose="020B0503020204020204" pitchFamily="34" charset="-122"/>
                          <a:cs typeface="+mn-cs"/>
                        </a:rPr>
                        <a:t>&lt;=10000-已提现金额</a:t>
                      </a:r>
                    </a:p>
                  </a:txBody>
                  <a:tcPr anchor="ctr"/>
                </a:tc>
                <a:tc rowSpan="2">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7</a:t>
                      </a:r>
                    </a:p>
                  </a:txBody>
                  <a:tcPr anchor="ctr"/>
                </a:tc>
                <a:tc>
                  <a:txBody>
                    <a:bodyPr/>
                    <a:lstStyle/>
                    <a:p>
                      <a:pPr algn="l">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提现金额≤ 0</a:t>
                      </a:r>
                      <a:r>
                        <a:rPr lang="zh-CN" altLang="en-US" sz="1800" kern="1200">
                          <a:solidFill>
                            <a:srgbClr val="595959"/>
                          </a:solidFill>
                          <a:latin typeface="微软雅黑" panose="020B0503020204020204" pitchFamily="34" charset="-122"/>
                          <a:ea typeface="微软雅黑" panose="020B0503020204020204" pitchFamily="34" charset="-122"/>
                          <a:cs typeface="+mn-cs"/>
                        </a:rPr>
                        <a:t>元</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8</a:t>
                      </a:r>
                    </a:p>
                  </a:txBody>
                  <a:tcPr anchor="ctr"/>
                </a:tc>
                <a:extLst>
                  <a:ext uri="{0D108BD9-81ED-4DB2-BD59-A6C34878D82A}">
                    <a16:rowId xmlns:a16="http://schemas.microsoft.com/office/drawing/2014/main" val="10003"/>
                  </a:ext>
                </a:extLst>
              </a:tr>
              <a:tr h="655955">
                <a:tc vMerge="1">
                  <a:txBody>
                    <a:bodyPr/>
                    <a:lstStyle/>
                    <a:p>
                      <a:endParaRPr lang="zh-CN"/>
                    </a:p>
                  </a:txBody>
                  <a:tcPr anchor="ctr"/>
                </a:tc>
                <a:tc vMerge="1">
                  <a:txBody>
                    <a:bodyPr/>
                    <a:lstStyle/>
                    <a:p>
                      <a:endParaRPr lang="zh-CN"/>
                    </a:p>
                  </a:txBody>
                  <a:tcPr anchor="ctr"/>
                </a:tc>
                <a:tc vMerge="1">
                  <a:txBody>
                    <a:bodyPr/>
                    <a:lstStyle/>
                    <a:p>
                      <a:endParaRPr lang="zh-CN"/>
                    </a:p>
                  </a:txBody>
                  <a:tcPr anchor="ctr"/>
                </a:tc>
                <a:tc>
                  <a:txBody>
                    <a:bodyPr/>
                    <a:lstStyle/>
                    <a:p>
                      <a:pPr algn="l">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提现金额&gt;10000-已提现金额</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9</a:t>
                      </a:r>
                    </a:p>
                  </a:txBody>
                  <a:tcPr anchor="ctr"/>
                </a:tc>
                <a:extLst>
                  <a:ext uri="{0D108BD9-81ED-4DB2-BD59-A6C34878D82A}">
                    <a16:rowId xmlns:a16="http://schemas.microsoft.com/office/drawing/2014/main" val="10004"/>
                  </a:ext>
                </a:extLst>
              </a:tr>
              <a:tr h="572135">
                <a:tc rowSpan="3">
                  <a:txBody>
                    <a:bodyPr/>
                    <a:lstStyle/>
                    <a:p>
                      <a:pPr algn="ctr">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sym typeface="+mn-ea"/>
                        </a:rPr>
                        <a:t>普通到账</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rowSpan="3">
                  <a:txBody>
                    <a:bodyPr/>
                    <a:lstStyle/>
                    <a:p>
                      <a:pPr algn="ctr">
                        <a:buNone/>
                      </a:pPr>
                      <a:r>
                        <a:rPr lang="zh-CN" altLang="en-US" sz="1800" kern="1200">
                          <a:solidFill>
                            <a:srgbClr val="595959"/>
                          </a:solidFill>
                          <a:latin typeface="微软雅黑" panose="020B0503020204020204" pitchFamily="34" charset="-122"/>
                          <a:ea typeface="微软雅黑" panose="020B0503020204020204" pitchFamily="34" charset="-122"/>
                          <a:cs typeface="+mn-cs"/>
                          <a:sym typeface="+mn-ea"/>
                        </a:rPr>
                        <a:t>0元&lt;提现金额≤余额</a:t>
                      </a:r>
                      <a:endParaRPr lang="zh-CN" altLang="en-US" sz="1800" kern="1200">
                        <a:solidFill>
                          <a:srgbClr val="595959"/>
                        </a:solidFill>
                        <a:latin typeface="微软雅黑" panose="020B0503020204020204" pitchFamily="34" charset="-122"/>
                        <a:ea typeface="微软雅黑" panose="020B0503020204020204" pitchFamily="34" charset="-122"/>
                        <a:cs typeface="+mn-cs"/>
                      </a:endParaRPr>
                    </a:p>
                  </a:txBody>
                  <a:tcPr anchor="ctr"/>
                </a:tc>
                <a:tc rowSpan="3">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sym typeface="+mn-ea"/>
                        </a:rPr>
                        <a:t>4</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rowSpan="2">
                  <a:txBody>
                    <a:bodyPr/>
                    <a:lstStyle/>
                    <a:p>
                      <a:pPr algn="l">
                        <a:buNone/>
                      </a:pPr>
                      <a:r>
                        <a:rPr lang="en-US" altLang="zh-CN" sz="1800" kern="1200">
                          <a:solidFill>
                            <a:srgbClr val="595959"/>
                          </a:solidFill>
                          <a:latin typeface="微软雅黑" panose="020B0503020204020204" pitchFamily="34" charset="-122"/>
                          <a:ea typeface="微软雅黑" panose="020B0503020204020204" pitchFamily="34" charset="-122"/>
                          <a:cs typeface="+mn-cs"/>
                          <a:sym typeface="+mn-ea"/>
                        </a:rPr>
                        <a:t>提现金额≤ 0</a:t>
                      </a:r>
                      <a:r>
                        <a:rPr lang="zh-CN" altLang="en-US" sz="1800" kern="1200">
                          <a:solidFill>
                            <a:srgbClr val="595959"/>
                          </a:solidFill>
                          <a:latin typeface="微软雅黑" panose="020B0503020204020204" pitchFamily="34" charset="-122"/>
                          <a:ea typeface="微软雅黑" panose="020B0503020204020204" pitchFamily="34" charset="-122"/>
                          <a:cs typeface="+mn-cs"/>
                          <a:sym typeface="+mn-ea"/>
                        </a:rPr>
                        <a:t>元</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5</a:t>
                      </a:r>
                    </a:p>
                  </a:txBody>
                  <a:tcPr anchor="ctr"/>
                </a:tc>
                <a:extLst>
                  <a:ext uri="{0D108BD9-81ED-4DB2-BD59-A6C34878D82A}">
                    <a16:rowId xmlns:a16="http://schemas.microsoft.com/office/drawing/2014/main" val="10005"/>
                  </a:ext>
                </a:extLst>
              </a:tr>
              <a:tr h="0">
                <a:tc vMerge="1">
                  <a:txBody>
                    <a:bodyPr/>
                    <a:lstStyle/>
                    <a:p>
                      <a:endParaRPr lang="zh-CN"/>
                    </a:p>
                  </a:txBody>
                  <a:tcPr anchor="ctr"/>
                </a:tc>
                <a:tc vMerge="1">
                  <a:txBody>
                    <a:bodyPr/>
                    <a:lstStyle/>
                    <a:p>
                      <a:endParaRPr lang="zh-CN"/>
                    </a:p>
                  </a:txBody>
                  <a:tcPr anchor="ctr"/>
                </a:tc>
                <a:tc vMerge="1">
                  <a:txBody>
                    <a:bodyPr/>
                    <a:lstStyle/>
                    <a:p>
                      <a:endParaRPr lang="zh-CN"/>
                    </a:p>
                  </a:txBody>
                  <a:tcPr anchor="ctr"/>
                </a:tc>
                <a:tc vMerge="1">
                  <a:txBody>
                    <a:bodyPr/>
                    <a:lstStyle/>
                    <a:p>
                      <a:endParaRPr lang="zh-CN"/>
                    </a:p>
                  </a:txBody>
                  <a:tcPr anchor="ctr"/>
                </a:tc>
                <a:tc rowSpan="2">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6</a:t>
                      </a:r>
                    </a:p>
                  </a:txBody>
                  <a:tcPr anchor="ctr"/>
                </a:tc>
                <a:extLst>
                  <a:ext uri="{0D108BD9-81ED-4DB2-BD59-A6C34878D82A}">
                    <a16:rowId xmlns:a16="http://schemas.microsoft.com/office/drawing/2014/main" val="10006"/>
                  </a:ext>
                </a:extLst>
              </a:tr>
              <a:tr h="567055">
                <a:tc vMerge="1">
                  <a:txBody>
                    <a:bodyPr/>
                    <a:lstStyle/>
                    <a:p>
                      <a:endParaRPr lang="zh-CN"/>
                    </a:p>
                  </a:txBody>
                  <a:tcPr anchor="ctr"/>
                </a:tc>
                <a:tc vMerge="1">
                  <a:txBody>
                    <a:bodyPr/>
                    <a:lstStyle/>
                    <a:p>
                      <a:endParaRPr lang="zh-CN"/>
                    </a:p>
                  </a:txBody>
                  <a:tcPr anchor="ctr"/>
                </a:tc>
                <a:tc vMerge="1">
                  <a:txBody>
                    <a:bodyPr/>
                    <a:lstStyle/>
                    <a:p>
                      <a:endParaRPr lang="zh-CN"/>
                    </a:p>
                  </a:txBody>
                  <a:tcPr anchor="ctr"/>
                </a:tc>
                <a:tc>
                  <a:txBody>
                    <a:bodyPr/>
                    <a:lstStyle/>
                    <a:p>
                      <a:pPr algn="l">
                        <a:buNone/>
                      </a:pPr>
                      <a:r>
                        <a:rPr lang="en-US" altLang="zh-CN" sz="1800" kern="1200">
                          <a:solidFill>
                            <a:srgbClr val="595959"/>
                          </a:solidFill>
                          <a:latin typeface="微软雅黑" panose="020B0503020204020204" pitchFamily="34" charset="-122"/>
                          <a:ea typeface="微软雅黑" panose="020B0503020204020204" pitchFamily="34" charset="-122"/>
                          <a:cs typeface="+mn-cs"/>
                          <a:sym typeface="+mn-ea"/>
                        </a:rPr>
                        <a:t>提现金额&gt;余额</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vMerge="1">
                  <a:txBody>
                    <a:bodyPr/>
                    <a:lstStyle/>
                    <a:p>
                      <a:endParaRPr lang="zh-CN"/>
                    </a:p>
                  </a:txBody>
                  <a:tcPr anchor="ctr"/>
                </a:tc>
                <a:extLst>
                  <a:ext uri="{0D108BD9-81ED-4DB2-BD59-A6C34878D82A}">
                    <a16:rowId xmlns:a16="http://schemas.microsoft.com/office/drawing/2014/main" val="10007"/>
                  </a:ext>
                </a:extLst>
              </a:tr>
            </a:tbl>
          </a:graphicData>
        </a:graphic>
      </p:graphicFrame>
      <p:sp>
        <p:nvSpPr>
          <p:cNvPr id="4" name="Title 1"/>
          <p:cNvSpPr txBox="1"/>
          <p:nvPr/>
        </p:nvSpPr>
        <p:spPr>
          <a:xfrm>
            <a:off x="1143635" y="266700"/>
            <a:ext cx="644271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2.1.4	实例三：余额宝提现的等价类划分</a:t>
            </a: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35"/>
          <p:cNvSpPr txBox="1">
            <a:spLocks noChangeArrowheads="1"/>
          </p:cNvSpPr>
          <p:nvPr/>
        </p:nvSpPr>
        <p:spPr bwMode="auto">
          <a:xfrm>
            <a:off x="1127125" y="837565"/>
            <a:ext cx="9710420" cy="1102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no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buClrTx/>
              <a:buSzTx/>
              <a:buFontTx/>
            </a:pPr>
            <a:r>
              <a:rPr lang="zh-CN" altLang="en-US" sz="1800" dirty="0">
                <a:solidFill>
                  <a:srgbClr val="595959"/>
                </a:solidFill>
                <a:latin typeface="微软雅黑" panose="020B0503020204020204" pitchFamily="34" charset="-122"/>
                <a:ea typeface="微软雅黑" panose="020B0503020204020204" pitchFamily="34" charset="-122"/>
              </a:rPr>
              <a:t>下面根据建立的等价类表来设计测试用例进行测试，假如现在余额宝中有50000元余额，则</a:t>
            </a:r>
            <a:r>
              <a:rPr lang="zh-CN" altLang="en-US" sz="1800" dirty="0">
                <a:solidFill>
                  <a:srgbClr val="0070C0"/>
                </a:solidFill>
                <a:latin typeface="微软雅黑" panose="020B0503020204020204" pitchFamily="34" charset="-122"/>
                <a:ea typeface="微软雅黑" panose="020B0503020204020204" pitchFamily="34" charset="-122"/>
              </a:rPr>
              <a:t>覆盖有效等价类</a:t>
            </a:r>
            <a:r>
              <a:rPr lang="zh-CN" altLang="en-US" sz="1800">
                <a:solidFill>
                  <a:srgbClr val="0070C0"/>
                </a:solidFill>
                <a:latin typeface="微软雅黑" panose="020B0503020204020204" pitchFamily="34" charset="-122"/>
                <a:ea typeface="微软雅黑" panose="020B0503020204020204" pitchFamily="34" charset="-122"/>
              </a:rPr>
              <a:t>的测试用例</a:t>
            </a:r>
            <a:r>
              <a:rPr lang="zh-CN" altLang="en-US" sz="1800" dirty="0">
                <a:solidFill>
                  <a:srgbClr val="595959"/>
                </a:solidFill>
                <a:latin typeface="微软雅黑" panose="020B0503020204020204" pitchFamily="34" charset="-122"/>
                <a:ea typeface="微软雅黑" panose="020B0503020204020204" pitchFamily="34" charset="-122"/>
              </a:rPr>
              <a:t>和</a:t>
            </a:r>
            <a:r>
              <a:rPr lang="zh-CN" altLang="en-US" sz="1800">
                <a:solidFill>
                  <a:srgbClr val="0070C0"/>
                </a:solidFill>
                <a:latin typeface="微软雅黑" panose="020B0503020204020204" pitchFamily="34" charset="-122"/>
                <a:ea typeface="微软雅黑" panose="020B0503020204020204" pitchFamily="34" charset="-122"/>
              </a:rPr>
              <a:t>覆盖</a:t>
            </a:r>
            <a:r>
              <a:rPr lang="zh-CN" altLang="en-US" sz="1800" dirty="0">
                <a:solidFill>
                  <a:srgbClr val="0070C0"/>
                </a:solidFill>
                <a:latin typeface="微软雅黑" panose="020B0503020204020204" pitchFamily="34" charset="-122"/>
                <a:ea typeface="微软雅黑" panose="020B0503020204020204" pitchFamily="34" charset="-122"/>
              </a:rPr>
              <a:t>无效等价类的测试用例</a:t>
            </a:r>
            <a:r>
              <a:rPr lang="zh-CN" altLang="en-US" sz="1800" dirty="0">
                <a:solidFill>
                  <a:srgbClr val="595959"/>
                </a:solidFill>
                <a:latin typeface="微软雅黑" panose="020B0503020204020204" pitchFamily="34" charset="-122"/>
                <a:ea typeface="微软雅黑" panose="020B0503020204020204" pitchFamily="34" charset="-122"/>
              </a:rPr>
              <a:t>分别如下所示。</a:t>
            </a:r>
          </a:p>
          <a:p>
            <a:pPr algn="just">
              <a:lnSpc>
                <a:spcPct val="150000"/>
              </a:lnSpc>
              <a:buClrTx/>
              <a:buSzTx/>
              <a:buFontTx/>
            </a:pPr>
            <a:endParaRPr lang="zh-CN" altLang="en-US" sz="1800" dirty="0">
              <a:solidFill>
                <a:srgbClr val="595959"/>
              </a:solidFill>
              <a:latin typeface="微软雅黑" panose="020B0503020204020204" pitchFamily="34" charset="-122"/>
              <a:ea typeface="微软雅黑" panose="020B0503020204020204" pitchFamily="34" charset="-122"/>
            </a:endParaRPr>
          </a:p>
        </p:txBody>
      </p:sp>
      <p:graphicFrame>
        <p:nvGraphicFramePr>
          <p:cNvPr id="2" name="表格 1"/>
          <p:cNvGraphicFramePr/>
          <p:nvPr>
            <p:custDataLst>
              <p:tags r:id="rId1"/>
            </p:custDataLst>
          </p:nvPr>
        </p:nvGraphicFramePr>
        <p:xfrm>
          <a:off x="2423160" y="2565400"/>
          <a:ext cx="7541260" cy="2399665"/>
        </p:xfrm>
        <a:graphic>
          <a:graphicData uri="http://schemas.openxmlformats.org/drawingml/2006/table">
            <a:tbl>
              <a:tblPr firstRow="1" bandRow="1">
                <a:tableStyleId>{5C22544A-7EE6-4342-B048-85BDC9FD1C3A}</a:tableStyleId>
              </a:tblPr>
              <a:tblGrid>
                <a:gridCol w="1437005">
                  <a:extLst>
                    <a:ext uri="{9D8B030D-6E8A-4147-A177-3AD203B41FA5}">
                      <a16:colId xmlns:a16="http://schemas.microsoft.com/office/drawing/2014/main" val="20000"/>
                    </a:ext>
                  </a:extLst>
                </a:gridCol>
                <a:gridCol w="2011045">
                  <a:extLst>
                    <a:ext uri="{9D8B030D-6E8A-4147-A177-3AD203B41FA5}">
                      <a16:colId xmlns:a16="http://schemas.microsoft.com/office/drawing/2014/main" val="20001"/>
                    </a:ext>
                  </a:extLst>
                </a:gridCol>
                <a:gridCol w="1401445">
                  <a:extLst>
                    <a:ext uri="{9D8B030D-6E8A-4147-A177-3AD203B41FA5}">
                      <a16:colId xmlns:a16="http://schemas.microsoft.com/office/drawing/2014/main" val="20002"/>
                    </a:ext>
                  </a:extLst>
                </a:gridCol>
                <a:gridCol w="2691765">
                  <a:extLst>
                    <a:ext uri="{9D8B030D-6E8A-4147-A177-3AD203B41FA5}">
                      <a16:colId xmlns:a16="http://schemas.microsoft.com/office/drawing/2014/main" val="20003"/>
                    </a:ext>
                  </a:extLst>
                </a:gridCol>
              </a:tblGrid>
              <a:tr h="607695">
                <a:tc>
                  <a:txBody>
                    <a:bodyPr/>
                    <a:lstStyle/>
                    <a:p>
                      <a:pPr algn="ctr">
                        <a:lnSpc>
                          <a:spcPct val="90000"/>
                        </a:lnSpc>
                        <a:buNone/>
                      </a:pPr>
                      <a:r>
                        <a:rPr lang="zh-CN" altLang="en-US" sz="1800" b="1">
                          <a:latin typeface="微软雅黑" panose="020B0503020204020204" pitchFamily="34" charset="-122"/>
                          <a:ea typeface="微软雅黑" panose="020B0503020204020204" pitchFamily="34" charset="-122"/>
                        </a:rPr>
                        <a:t>测试用例</a:t>
                      </a:r>
                    </a:p>
                  </a:txBody>
                  <a:tcPr anchor="ctr"/>
                </a:tc>
                <a:tc>
                  <a:txBody>
                    <a:bodyPr/>
                    <a:lstStyle/>
                    <a:p>
                      <a:pPr algn="ctr">
                        <a:lnSpc>
                          <a:spcPct val="90000"/>
                        </a:lnSpc>
                        <a:buNone/>
                      </a:pPr>
                      <a:r>
                        <a:rPr lang="zh-CN" altLang="en-US" sz="1800">
                          <a:latin typeface="微软雅黑" panose="020B0503020204020204" pitchFamily="34" charset="-122"/>
                          <a:ea typeface="微软雅黑" panose="020B0503020204020204" pitchFamily="34" charset="-122"/>
                        </a:rPr>
                        <a:t>功能</a:t>
                      </a:r>
                    </a:p>
                  </a:txBody>
                  <a:tcPr anchor="ctr"/>
                </a:tc>
                <a:tc>
                  <a:txBody>
                    <a:bodyPr/>
                    <a:lstStyle/>
                    <a:p>
                      <a:pPr algn="ctr">
                        <a:lnSpc>
                          <a:spcPct val="90000"/>
                        </a:lnSpc>
                        <a:buNone/>
                      </a:pPr>
                      <a:r>
                        <a:rPr lang="zh-CN" altLang="en-US" sz="1800">
                          <a:latin typeface="微软雅黑" panose="020B0503020204020204" pitchFamily="34" charset="-122"/>
                          <a:ea typeface="微软雅黑" panose="020B0503020204020204" pitchFamily="34" charset="-122"/>
                        </a:rPr>
                        <a:t>金额/元</a:t>
                      </a:r>
                    </a:p>
                  </a:txBody>
                  <a:tcPr anchor="ctr"/>
                </a:tc>
                <a:tc>
                  <a:txBody>
                    <a:bodyPr/>
                    <a:lstStyle/>
                    <a:p>
                      <a:pPr algn="ctr">
                        <a:lnSpc>
                          <a:spcPct val="90000"/>
                        </a:lnSpc>
                        <a:buNone/>
                      </a:pPr>
                      <a:r>
                        <a:rPr lang="zh-CN" altLang="en-US" sz="1800">
                          <a:latin typeface="微软雅黑" panose="020B0503020204020204" pitchFamily="34" charset="-122"/>
                          <a:ea typeface="微软雅黑" panose="020B0503020204020204" pitchFamily="34" charset="-122"/>
                        </a:rPr>
                        <a:t>覆盖有效等价类编号</a:t>
                      </a:r>
                    </a:p>
                  </a:txBody>
                  <a:tcPr anchor="ctr"/>
                </a:tc>
                <a:extLst>
                  <a:ext uri="{0D108BD9-81ED-4DB2-BD59-A6C34878D82A}">
                    <a16:rowId xmlns:a16="http://schemas.microsoft.com/office/drawing/2014/main" val="10000"/>
                  </a:ext>
                </a:extLst>
              </a:tr>
              <a:tr h="592455">
                <a:tc>
                  <a:txBody>
                    <a:bodyPr/>
                    <a:lstStyle/>
                    <a:p>
                      <a:pPr algn="ctr">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test1</a:t>
                      </a:r>
                    </a:p>
                  </a:txBody>
                  <a:tcPr anchor="ctr"/>
                </a:tc>
                <a:tc>
                  <a:txBody>
                    <a:bodyPr/>
                    <a:lstStyle/>
                    <a:p>
                      <a:pPr algn="l">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快速到账（第1次）</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1000</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1</a:t>
                      </a:r>
                    </a:p>
                  </a:txBody>
                  <a:tcPr anchor="ctr"/>
                </a:tc>
                <a:extLst>
                  <a:ext uri="{0D108BD9-81ED-4DB2-BD59-A6C34878D82A}">
                    <a16:rowId xmlns:a16="http://schemas.microsoft.com/office/drawing/2014/main" val="10001"/>
                  </a:ext>
                </a:extLst>
              </a:tr>
              <a:tr h="553085">
                <a:tc>
                  <a:txBody>
                    <a:bodyPr/>
                    <a:lstStyle/>
                    <a:p>
                      <a:pPr algn="ctr">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test2</a:t>
                      </a:r>
                    </a:p>
                  </a:txBody>
                  <a:tcPr anchor="ctr"/>
                </a:tc>
                <a:tc>
                  <a:txBody>
                    <a:bodyPr/>
                    <a:lstStyle/>
                    <a:p>
                      <a:pPr algn="l">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快速到账（第n次，已提现2000元）</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7000</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7</a:t>
                      </a:r>
                    </a:p>
                  </a:txBody>
                  <a:tcPr anchor="ctr"/>
                </a:tc>
                <a:extLst>
                  <a:ext uri="{0D108BD9-81ED-4DB2-BD59-A6C34878D82A}">
                    <a16:rowId xmlns:a16="http://schemas.microsoft.com/office/drawing/2014/main" val="10002"/>
                  </a:ext>
                </a:extLst>
              </a:tr>
              <a:tr h="559435">
                <a:tc>
                  <a:txBody>
                    <a:bodyPr/>
                    <a:lstStyle/>
                    <a:p>
                      <a:pPr algn="ctr">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test3</a:t>
                      </a:r>
                    </a:p>
                  </a:txBody>
                  <a:tcPr anchor="ctr"/>
                </a:tc>
                <a:tc>
                  <a:txBody>
                    <a:bodyPr/>
                    <a:lstStyle/>
                    <a:p>
                      <a:pPr algn="l">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普通到账</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40000</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4</a:t>
                      </a:r>
                    </a:p>
                  </a:txBody>
                  <a:tcPr anchor="ctr"/>
                </a:tc>
                <a:extLst>
                  <a:ext uri="{0D108BD9-81ED-4DB2-BD59-A6C34878D82A}">
                    <a16:rowId xmlns:a16="http://schemas.microsoft.com/office/drawing/2014/main" val="10003"/>
                  </a:ext>
                </a:extLst>
              </a:tr>
            </a:tbl>
          </a:graphicData>
        </a:graphic>
      </p:graphicFrame>
      <p:sp>
        <p:nvSpPr>
          <p:cNvPr id="4" name="Title 1"/>
          <p:cNvSpPr txBox="1"/>
          <p:nvPr/>
        </p:nvSpPr>
        <p:spPr>
          <a:xfrm>
            <a:off x="1143635" y="266700"/>
            <a:ext cx="644271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2.1.4	实例三：余额宝提现的等价类划分</a:t>
            </a:r>
          </a:p>
        </p:txBody>
      </p:sp>
      <p:sp>
        <p:nvSpPr>
          <p:cNvPr id="5" name="文本框 4"/>
          <p:cNvSpPr txBox="1"/>
          <p:nvPr/>
        </p:nvSpPr>
        <p:spPr>
          <a:xfrm>
            <a:off x="4727575" y="2068830"/>
            <a:ext cx="3057525" cy="368300"/>
          </a:xfrm>
          <a:prstGeom prst="rect">
            <a:avLst/>
          </a:prstGeom>
          <a:noFill/>
        </p:spPr>
        <p:txBody>
          <a:bodyPr wrap="square" rtlCol="0" anchor="t">
            <a:spAutoFit/>
          </a:bodyPr>
          <a:lstStyle/>
          <a:p>
            <a:r>
              <a:rPr lang="zh-CN" altLang="en-US" sz="1800" dirty="0">
                <a:solidFill>
                  <a:srgbClr val="595959"/>
                </a:solidFill>
                <a:latin typeface="微软雅黑" panose="020B0503020204020204" pitchFamily="34" charset="-122"/>
                <a:ea typeface="微软雅黑" panose="020B0503020204020204" pitchFamily="34" charset="-122"/>
                <a:sym typeface="+mn-ea"/>
              </a:rPr>
              <a:t>覆盖有效等价类的测试用例</a:t>
            </a: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p:cNvGraphicFramePr/>
          <p:nvPr>
            <p:custDataLst>
              <p:tags r:id="rId1"/>
            </p:custDataLst>
          </p:nvPr>
        </p:nvGraphicFramePr>
        <p:xfrm>
          <a:off x="2350770" y="1478280"/>
          <a:ext cx="7541260" cy="3964305"/>
        </p:xfrm>
        <a:graphic>
          <a:graphicData uri="http://schemas.openxmlformats.org/drawingml/2006/table">
            <a:tbl>
              <a:tblPr firstRow="1" bandRow="1">
                <a:tableStyleId>{5C22544A-7EE6-4342-B048-85BDC9FD1C3A}</a:tableStyleId>
              </a:tblPr>
              <a:tblGrid>
                <a:gridCol w="1437005">
                  <a:extLst>
                    <a:ext uri="{9D8B030D-6E8A-4147-A177-3AD203B41FA5}">
                      <a16:colId xmlns:a16="http://schemas.microsoft.com/office/drawing/2014/main" val="20000"/>
                    </a:ext>
                  </a:extLst>
                </a:gridCol>
                <a:gridCol w="2011045">
                  <a:extLst>
                    <a:ext uri="{9D8B030D-6E8A-4147-A177-3AD203B41FA5}">
                      <a16:colId xmlns:a16="http://schemas.microsoft.com/office/drawing/2014/main" val="20001"/>
                    </a:ext>
                  </a:extLst>
                </a:gridCol>
                <a:gridCol w="1401445">
                  <a:extLst>
                    <a:ext uri="{9D8B030D-6E8A-4147-A177-3AD203B41FA5}">
                      <a16:colId xmlns:a16="http://schemas.microsoft.com/office/drawing/2014/main" val="20002"/>
                    </a:ext>
                  </a:extLst>
                </a:gridCol>
                <a:gridCol w="2691765">
                  <a:extLst>
                    <a:ext uri="{9D8B030D-6E8A-4147-A177-3AD203B41FA5}">
                      <a16:colId xmlns:a16="http://schemas.microsoft.com/office/drawing/2014/main" val="20003"/>
                    </a:ext>
                  </a:extLst>
                </a:gridCol>
              </a:tblGrid>
              <a:tr h="607695">
                <a:tc>
                  <a:txBody>
                    <a:bodyPr/>
                    <a:lstStyle/>
                    <a:p>
                      <a:pPr algn="ctr">
                        <a:lnSpc>
                          <a:spcPct val="90000"/>
                        </a:lnSpc>
                        <a:buNone/>
                      </a:pPr>
                      <a:r>
                        <a:rPr lang="zh-CN" altLang="en-US" sz="1800" b="1">
                          <a:latin typeface="微软雅黑" panose="020B0503020204020204" pitchFamily="34" charset="-122"/>
                          <a:ea typeface="微软雅黑" panose="020B0503020204020204" pitchFamily="34" charset="-122"/>
                        </a:rPr>
                        <a:t>测试用例</a:t>
                      </a:r>
                    </a:p>
                  </a:txBody>
                  <a:tcPr anchor="ctr"/>
                </a:tc>
                <a:tc>
                  <a:txBody>
                    <a:bodyPr/>
                    <a:lstStyle/>
                    <a:p>
                      <a:pPr algn="ctr">
                        <a:lnSpc>
                          <a:spcPct val="90000"/>
                        </a:lnSpc>
                        <a:buNone/>
                      </a:pPr>
                      <a:r>
                        <a:rPr lang="zh-CN" altLang="en-US" sz="1800">
                          <a:latin typeface="微软雅黑" panose="020B0503020204020204" pitchFamily="34" charset="-122"/>
                          <a:ea typeface="微软雅黑" panose="020B0503020204020204" pitchFamily="34" charset="-122"/>
                        </a:rPr>
                        <a:t>功能</a:t>
                      </a:r>
                    </a:p>
                  </a:txBody>
                  <a:tcPr anchor="ctr"/>
                </a:tc>
                <a:tc>
                  <a:txBody>
                    <a:bodyPr/>
                    <a:lstStyle/>
                    <a:p>
                      <a:pPr algn="ctr">
                        <a:lnSpc>
                          <a:spcPct val="90000"/>
                        </a:lnSpc>
                        <a:buNone/>
                      </a:pPr>
                      <a:r>
                        <a:rPr lang="zh-CN" altLang="en-US" sz="1800">
                          <a:latin typeface="微软雅黑" panose="020B0503020204020204" pitchFamily="34" charset="-122"/>
                          <a:ea typeface="微软雅黑" panose="020B0503020204020204" pitchFamily="34" charset="-122"/>
                        </a:rPr>
                        <a:t>金额/元</a:t>
                      </a:r>
                    </a:p>
                  </a:txBody>
                  <a:tcPr anchor="ctr"/>
                </a:tc>
                <a:tc>
                  <a:txBody>
                    <a:bodyPr/>
                    <a:lstStyle/>
                    <a:p>
                      <a:pPr algn="ctr">
                        <a:lnSpc>
                          <a:spcPct val="90000"/>
                        </a:lnSpc>
                        <a:buNone/>
                      </a:pPr>
                      <a:r>
                        <a:rPr lang="zh-CN" altLang="en-US" sz="1800">
                          <a:latin typeface="微软雅黑" panose="020B0503020204020204" pitchFamily="34" charset="-122"/>
                          <a:ea typeface="微软雅黑" panose="020B0503020204020204" pitchFamily="34" charset="-122"/>
                        </a:rPr>
                        <a:t>覆盖无效等价类编号</a:t>
                      </a:r>
                    </a:p>
                  </a:txBody>
                  <a:tcPr anchor="ctr"/>
                </a:tc>
                <a:extLst>
                  <a:ext uri="{0D108BD9-81ED-4DB2-BD59-A6C34878D82A}">
                    <a16:rowId xmlns:a16="http://schemas.microsoft.com/office/drawing/2014/main" val="10000"/>
                  </a:ext>
                </a:extLst>
              </a:tr>
              <a:tr h="559435">
                <a:tc>
                  <a:txBody>
                    <a:bodyPr/>
                    <a:lstStyle/>
                    <a:p>
                      <a:pPr marL="0" algn="ctr" defTabSz="1219200" rtl="0" eaLnBrk="1" latinLnBrk="0" hangingPunct="1">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sym typeface="+mn-ea"/>
                        </a:rPr>
                        <a:t>test4</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rowSpan="2">
                  <a:txBody>
                    <a:bodyPr/>
                    <a:lstStyle/>
                    <a:p>
                      <a:pPr marL="0" algn="ctr" defTabSz="1219200" rtl="0" eaLnBrk="1" latinLnBrk="0" hangingPunct="1">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快速到账（第1次）</a:t>
                      </a:r>
                    </a:p>
                  </a:txBody>
                  <a:tcPr anchor="ctr"/>
                </a:tc>
                <a:tc>
                  <a:txBody>
                    <a:bodyPr/>
                    <a:lstStyle/>
                    <a:p>
                      <a:pPr marL="0" algn="ctr"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-10000</a:t>
                      </a:r>
                    </a:p>
                  </a:txBody>
                  <a:tcPr anchor="ctr"/>
                </a:tc>
                <a:tc>
                  <a:txBody>
                    <a:bodyPr/>
                    <a:lstStyle/>
                    <a:p>
                      <a:pPr marL="0" algn="ctr"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2</a:t>
                      </a:r>
                    </a:p>
                  </a:txBody>
                  <a:tcPr anchor="ctr"/>
                </a:tc>
                <a:extLst>
                  <a:ext uri="{0D108BD9-81ED-4DB2-BD59-A6C34878D82A}">
                    <a16:rowId xmlns:a16="http://schemas.microsoft.com/office/drawing/2014/main" val="10001"/>
                  </a:ext>
                </a:extLst>
              </a:tr>
              <a:tr h="559435">
                <a:tc>
                  <a:txBody>
                    <a:bodyPr/>
                    <a:lstStyle/>
                    <a:p>
                      <a:pPr marL="0" algn="ctr" defTabSz="1219200" rtl="0" eaLnBrk="1" latinLnBrk="0" hangingPunct="1">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sym typeface="+mn-ea"/>
                        </a:rPr>
                        <a:t>test5</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vMerge="1">
                  <a:txBody>
                    <a:bodyPr/>
                    <a:lstStyle/>
                    <a:p>
                      <a:endParaRPr lang="zh-CN"/>
                    </a:p>
                  </a:txBody>
                  <a:tcPr anchor="ctr"/>
                </a:tc>
                <a:tc>
                  <a:txBody>
                    <a:bodyPr/>
                    <a:lstStyle/>
                    <a:p>
                      <a:pPr marL="0" algn="ctr"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20000</a:t>
                      </a:r>
                    </a:p>
                  </a:txBody>
                  <a:tcPr anchor="ctr"/>
                </a:tc>
                <a:tc>
                  <a:txBody>
                    <a:bodyPr/>
                    <a:lstStyle/>
                    <a:p>
                      <a:pPr marL="0" algn="ctr"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3</a:t>
                      </a:r>
                    </a:p>
                  </a:txBody>
                  <a:tcPr anchor="ctr"/>
                </a:tc>
                <a:extLst>
                  <a:ext uri="{0D108BD9-81ED-4DB2-BD59-A6C34878D82A}">
                    <a16:rowId xmlns:a16="http://schemas.microsoft.com/office/drawing/2014/main" val="10002"/>
                  </a:ext>
                </a:extLst>
              </a:tr>
              <a:tr h="559435">
                <a:tc>
                  <a:txBody>
                    <a:bodyPr/>
                    <a:lstStyle/>
                    <a:p>
                      <a:pPr marL="0" algn="ctr" defTabSz="1219200" rtl="0" eaLnBrk="1" latinLnBrk="0" hangingPunct="1">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sym typeface="+mn-ea"/>
                        </a:rPr>
                        <a:t>test6</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rowSpan="2">
                  <a:txBody>
                    <a:bodyPr/>
                    <a:lstStyle/>
                    <a:p>
                      <a:pPr marL="0" algn="ctr" defTabSz="1219200" rtl="0" eaLnBrk="1" latinLnBrk="0" hangingPunct="1">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快速到账（第n次，已提现2000）</a:t>
                      </a:r>
                    </a:p>
                  </a:txBody>
                  <a:tcPr anchor="ctr"/>
                </a:tc>
                <a:tc>
                  <a:txBody>
                    <a:bodyPr/>
                    <a:lstStyle/>
                    <a:p>
                      <a:pPr marL="0" algn="ctr"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-2000</a:t>
                      </a:r>
                    </a:p>
                  </a:txBody>
                  <a:tcPr anchor="ctr"/>
                </a:tc>
                <a:tc>
                  <a:txBody>
                    <a:bodyPr/>
                    <a:lstStyle/>
                    <a:p>
                      <a:pPr marL="0" algn="ctr"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8</a:t>
                      </a:r>
                    </a:p>
                  </a:txBody>
                  <a:tcPr anchor="ctr"/>
                </a:tc>
                <a:extLst>
                  <a:ext uri="{0D108BD9-81ED-4DB2-BD59-A6C34878D82A}">
                    <a16:rowId xmlns:a16="http://schemas.microsoft.com/office/drawing/2014/main" val="10003"/>
                  </a:ext>
                </a:extLst>
              </a:tr>
              <a:tr h="559435">
                <a:tc>
                  <a:txBody>
                    <a:bodyPr/>
                    <a:lstStyle/>
                    <a:p>
                      <a:pPr marL="0" algn="ctr" defTabSz="1219200" rtl="0" eaLnBrk="1" latinLnBrk="0" hangingPunct="1">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sym typeface="+mn-ea"/>
                        </a:rPr>
                        <a:t>test7</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vMerge="1">
                  <a:txBody>
                    <a:bodyPr/>
                    <a:lstStyle/>
                    <a:p>
                      <a:endParaRPr lang="zh-CN"/>
                    </a:p>
                  </a:txBody>
                  <a:tcPr anchor="ctr"/>
                </a:tc>
                <a:tc>
                  <a:txBody>
                    <a:bodyPr/>
                    <a:lstStyle/>
                    <a:p>
                      <a:pPr marL="0" algn="ctr"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9000</a:t>
                      </a:r>
                    </a:p>
                  </a:txBody>
                  <a:tcPr anchor="ctr"/>
                </a:tc>
                <a:tc>
                  <a:txBody>
                    <a:bodyPr/>
                    <a:lstStyle/>
                    <a:p>
                      <a:pPr marL="0" algn="ctr"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9</a:t>
                      </a:r>
                    </a:p>
                  </a:txBody>
                  <a:tcPr anchor="ctr"/>
                </a:tc>
                <a:extLst>
                  <a:ext uri="{0D108BD9-81ED-4DB2-BD59-A6C34878D82A}">
                    <a16:rowId xmlns:a16="http://schemas.microsoft.com/office/drawing/2014/main" val="10004"/>
                  </a:ext>
                </a:extLst>
              </a:tr>
              <a:tr h="559435">
                <a:tc>
                  <a:txBody>
                    <a:bodyPr/>
                    <a:lstStyle/>
                    <a:p>
                      <a:pPr marL="0" algn="ctr" defTabSz="1219200" rtl="0" eaLnBrk="1" latinLnBrk="0" hangingPunct="1">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sym typeface="+mn-ea"/>
                        </a:rPr>
                        <a:t>test8</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rowSpan="2">
                  <a:txBody>
                    <a:bodyPr/>
                    <a:lstStyle/>
                    <a:p>
                      <a:pPr marL="0" algn="ctr" defTabSz="1219200" rtl="0" eaLnBrk="1" latinLnBrk="0" hangingPunct="1">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普通到账</a:t>
                      </a:r>
                    </a:p>
                  </a:txBody>
                  <a:tcPr anchor="ctr"/>
                </a:tc>
                <a:tc>
                  <a:txBody>
                    <a:bodyPr/>
                    <a:lstStyle/>
                    <a:p>
                      <a:pPr marL="0" algn="ctr"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-3000</a:t>
                      </a:r>
                    </a:p>
                  </a:txBody>
                  <a:tcPr anchor="ctr"/>
                </a:tc>
                <a:tc>
                  <a:txBody>
                    <a:bodyPr/>
                    <a:lstStyle/>
                    <a:p>
                      <a:pPr marL="0" algn="ctr"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5</a:t>
                      </a:r>
                    </a:p>
                  </a:txBody>
                  <a:tcPr anchor="ctr"/>
                </a:tc>
                <a:extLst>
                  <a:ext uri="{0D108BD9-81ED-4DB2-BD59-A6C34878D82A}">
                    <a16:rowId xmlns:a16="http://schemas.microsoft.com/office/drawing/2014/main" val="10005"/>
                  </a:ext>
                </a:extLst>
              </a:tr>
              <a:tr h="559435">
                <a:tc>
                  <a:txBody>
                    <a:bodyPr/>
                    <a:lstStyle/>
                    <a:p>
                      <a:pPr marL="0" algn="ctr" defTabSz="1219200" rtl="0" eaLnBrk="1" latinLnBrk="0" hangingPunct="1">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sym typeface="+mn-ea"/>
                        </a:rPr>
                        <a:t>test9</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vMerge="1">
                  <a:txBody>
                    <a:bodyPr/>
                    <a:lstStyle/>
                    <a:p>
                      <a:endParaRPr lang="zh-CN"/>
                    </a:p>
                  </a:txBody>
                  <a:tcPr anchor="ctr"/>
                </a:tc>
                <a:tc>
                  <a:txBody>
                    <a:bodyPr/>
                    <a:lstStyle/>
                    <a:p>
                      <a:pPr marL="0" algn="ctr"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60000</a:t>
                      </a:r>
                    </a:p>
                  </a:txBody>
                  <a:tcPr anchor="ctr"/>
                </a:tc>
                <a:tc>
                  <a:txBody>
                    <a:bodyPr/>
                    <a:lstStyle/>
                    <a:p>
                      <a:pPr marL="0" algn="ctr"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6</a:t>
                      </a:r>
                    </a:p>
                  </a:txBody>
                  <a:tcPr anchor="ctr"/>
                </a:tc>
                <a:extLst>
                  <a:ext uri="{0D108BD9-81ED-4DB2-BD59-A6C34878D82A}">
                    <a16:rowId xmlns:a16="http://schemas.microsoft.com/office/drawing/2014/main" val="10006"/>
                  </a:ext>
                </a:extLst>
              </a:tr>
            </a:tbl>
          </a:graphicData>
        </a:graphic>
      </p:graphicFrame>
      <p:sp>
        <p:nvSpPr>
          <p:cNvPr id="4" name="Title 1"/>
          <p:cNvSpPr txBox="1"/>
          <p:nvPr/>
        </p:nvSpPr>
        <p:spPr>
          <a:xfrm>
            <a:off x="1143635" y="266700"/>
            <a:ext cx="644271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2.1.4	实例三：余额宝提现的等价类划分</a:t>
            </a:r>
          </a:p>
        </p:txBody>
      </p:sp>
      <p:sp>
        <p:nvSpPr>
          <p:cNvPr id="5" name="文本框 4"/>
          <p:cNvSpPr txBox="1"/>
          <p:nvPr/>
        </p:nvSpPr>
        <p:spPr>
          <a:xfrm>
            <a:off x="4655185" y="981710"/>
            <a:ext cx="3057525" cy="368300"/>
          </a:xfrm>
          <a:prstGeom prst="rect">
            <a:avLst/>
          </a:prstGeom>
          <a:noFill/>
        </p:spPr>
        <p:txBody>
          <a:bodyPr wrap="square" rtlCol="0" anchor="t">
            <a:spAutoFit/>
          </a:bodyPr>
          <a:lstStyle/>
          <a:p>
            <a:r>
              <a:rPr lang="zh-CN" altLang="en-US" sz="1800" dirty="0">
                <a:solidFill>
                  <a:srgbClr val="595959"/>
                </a:solidFill>
                <a:latin typeface="微软雅黑" panose="020B0503020204020204" pitchFamily="34" charset="-122"/>
                <a:ea typeface="微软雅黑" panose="020B0503020204020204" pitchFamily="34" charset="-122"/>
                <a:sym typeface="+mn-ea"/>
              </a:rPr>
              <a:t>覆盖无效等价类的测试用例</a:t>
            </a: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Box 48"/>
          <p:cNvSpPr txBox="1"/>
          <p:nvPr/>
        </p:nvSpPr>
        <p:spPr>
          <a:xfrm>
            <a:off x="3970118" y="3014256"/>
            <a:ext cx="6733001" cy="829945"/>
          </a:xfrm>
          <a:prstGeom prst="rect">
            <a:avLst/>
          </a:prstGeom>
          <a:noFill/>
        </p:spPr>
        <p:txBody>
          <a:bodyPr wrap="square" lIns="91443" tIns="45720" rIns="91443" bIns="45720" rtlCol="0">
            <a:spAutoFit/>
          </a:bodyPr>
          <a:lstStyle/>
          <a:p>
            <a:r>
              <a:rPr lang="zh-CN" altLang="en-US" sz="4800" b="1" dirty="0">
                <a:solidFill>
                  <a:srgbClr val="1369B2"/>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边界值</a:t>
            </a:r>
            <a:r>
              <a:rPr lang="zh-CN" altLang="en-US" sz="4800" b="1" dirty="0">
                <a:solidFill>
                  <a:srgbClr val="595959"/>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分析法</a:t>
            </a:r>
          </a:p>
        </p:txBody>
      </p:sp>
      <p:sp>
        <p:nvSpPr>
          <p:cNvPr id="2" name="TextBox 48"/>
          <p:cNvSpPr txBox="1"/>
          <p:nvPr/>
        </p:nvSpPr>
        <p:spPr>
          <a:xfrm>
            <a:off x="1626870" y="2809240"/>
            <a:ext cx="1734820" cy="1106805"/>
          </a:xfrm>
          <a:prstGeom prst="rect">
            <a:avLst/>
          </a:prstGeom>
          <a:noFill/>
        </p:spPr>
        <p:txBody>
          <a:bodyPr wrap="square" lIns="91443" tIns="45720" rIns="91443" bIns="45720" rtlCol="0">
            <a:spAutoFit/>
          </a:bodyPr>
          <a:lstStyle/>
          <a:p>
            <a:r>
              <a:rPr lang="en-US" altLang="en-GB" sz="6600" b="1" dirty="0">
                <a:solidFill>
                  <a:srgbClr val="FAFAFA"/>
                </a:solidFill>
                <a:latin typeface="微软雅黑" panose="020B0503020204020204" pitchFamily="34" charset="-122"/>
                <a:ea typeface="微软雅黑" panose="020B0503020204020204" pitchFamily="34" charset="-122"/>
                <a:cs typeface="+mn-ea"/>
                <a:sym typeface="+mn-lt"/>
              </a:rPr>
              <a:t>2.2</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p:cNvPicPr>
            <a:picLocks noChangeAspect="1"/>
          </p:cNvPicPr>
          <p:nvPr/>
        </p:nvPicPr>
        <p:blipFill>
          <a:blip r:embed="rId3"/>
          <a:stretch>
            <a:fillRect/>
          </a:stretch>
        </p:blipFill>
        <p:spPr>
          <a:xfrm>
            <a:off x="944880" y="2215515"/>
            <a:ext cx="2797810" cy="3898265"/>
          </a:xfrm>
          <a:prstGeom prst="rect">
            <a:avLst/>
          </a:prstGeom>
        </p:spPr>
      </p:pic>
      <p:sp>
        <p:nvSpPr>
          <p:cNvPr id="13" name="椭圆形标注 12"/>
          <p:cNvSpPr/>
          <p:nvPr/>
        </p:nvSpPr>
        <p:spPr>
          <a:xfrm>
            <a:off x="2968625" y="156019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p>
        </p:txBody>
      </p:sp>
      <p:sp>
        <p:nvSpPr>
          <p:cNvPr id="14" name="TextBox 35"/>
          <p:cNvSpPr txBox="1">
            <a:spLocks noChangeArrowheads="1"/>
          </p:cNvSpPr>
          <p:nvPr/>
        </p:nvSpPr>
        <p:spPr bwMode="auto">
          <a:xfrm>
            <a:off x="3247390" y="163830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p>
        </p:txBody>
      </p:sp>
      <p:sp>
        <p:nvSpPr>
          <p:cNvPr id="15" name="TextBox 35"/>
          <p:cNvSpPr txBox="1">
            <a:spLocks noChangeArrowheads="1"/>
          </p:cNvSpPr>
          <p:nvPr/>
        </p:nvSpPr>
        <p:spPr bwMode="auto">
          <a:xfrm>
            <a:off x="5935354" y="3213770"/>
            <a:ext cx="5669299" cy="10439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defRPr/>
            </a:pPr>
            <a:r>
              <a:rPr lang="zh-CN" sz="200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熟悉</a:t>
            </a:r>
            <a:r>
              <a:rPr sz="200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边界值分析法</a:t>
            </a:r>
            <a:r>
              <a:rPr lang="zh-CN" sz="200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的概述</a:t>
            </a:r>
            <a:r>
              <a:rPr sz="200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，能够</a:t>
            </a:r>
            <a:r>
              <a:rPr lang="zh-CN" sz="200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归纳</a:t>
            </a:r>
            <a:r>
              <a:rPr lang="zh-CN" sz="2000">
                <a:solidFill>
                  <a:srgbClr val="0070C0"/>
                </a:solidFill>
                <a:latin typeface="微软雅黑" panose="020B0503020204020204" pitchFamily="34" charset="-122"/>
                <a:ea typeface="微软雅黑" panose="020B0503020204020204" pitchFamily="34" charset="-122"/>
                <a:cs typeface="+mn-ea"/>
                <a:sym typeface="字魂58号-创中黑" panose="00000500000000000000" pitchFamily="2" charset="-122"/>
              </a:rPr>
              <a:t>什么是边界值分析法</a:t>
            </a:r>
            <a:endParaRPr lang="zh-CN" sz="2000" dirty="0">
              <a:solidFill>
                <a:srgbClr val="0070C0"/>
              </a:solidFill>
              <a:latin typeface="微软雅黑" panose="020B0503020204020204" pitchFamily="34" charset="-122"/>
              <a:ea typeface="微软雅黑" panose="020B0503020204020204" pitchFamily="34" charset="-122"/>
              <a:cs typeface="+mn-ea"/>
              <a:sym typeface="字魂58号-创中黑" panose="00000500000000000000" pitchFamily="2" charset="-122"/>
            </a:endParaRPr>
          </a:p>
        </p:txBody>
      </p:sp>
      <p:grpSp>
        <p:nvGrpSpPr>
          <p:cNvPr id="19" name="组合 18"/>
          <p:cNvGrpSpPr/>
          <p:nvPr/>
        </p:nvGrpSpPr>
        <p:grpSpPr>
          <a:xfrm>
            <a:off x="5452110" y="3540125"/>
            <a:ext cx="405130" cy="405130"/>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.1	边界值分析法概述</a:t>
            </a: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35"/>
          <p:cNvSpPr txBox="1">
            <a:spLocks noChangeArrowheads="1"/>
          </p:cNvSpPr>
          <p:nvPr/>
        </p:nvSpPr>
        <p:spPr bwMode="auto">
          <a:xfrm>
            <a:off x="4871085" y="1701165"/>
            <a:ext cx="6289675" cy="2890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indent="457200" algn="just">
              <a:lnSpc>
                <a:spcPct val="150000"/>
              </a:lnSpc>
            </a:pPr>
            <a:r>
              <a:rPr lang="zh-CN" altLang="en-US" sz="2000" dirty="0">
                <a:solidFill>
                  <a:srgbClr val="0070C0"/>
                </a:solidFill>
                <a:latin typeface="微软雅黑" panose="020B0503020204020204" pitchFamily="34" charset="-122"/>
                <a:ea typeface="微软雅黑" panose="020B0503020204020204" pitchFamily="34" charset="-122"/>
              </a:rPr>
              <a:t>边界值分析法</a:t>
            </a:r>
            <a:r>
              <a:rPr lang="zh-CN" altLang="en-US" sz="2000" dirty="0">
                <a:solidFill>
                  <a:srgbClr val="595959"/>
                </a:solidFill>
                <a:latin typeface="微软雅黑" panose="020B0503020204020204" pitchFamily="34" charset="-122"/>
                <a:ea typeface="微软雅黑" panose="020B0503020204020204" pitchFamily="34" charset="-122"/>
              </a:rPr>
              <a:t>是对软件的</a:t>
            </a:r>
            <a:r>
              <a:rPr lang="zh-CN" altLang="en-US" sz="2000" dirty="0">
                <a:solidFill>
                  <a:srgbClr val="0070C0"/>
                </a:solidFill>
                <a:latin typeface="微软雅黑" panose="020B0503020204020204" pitchFamily="34" charset="-122"/>
                <a:ea typeface="微软雅黑" panose="020B0503020204020204" pitchFamily="34" charset="-122"/>
              </a:rPr>
              <a:t>输入或输出边界进行测试的一种方法</a:t>
            </a:r>
            <a:r>
              <a:rPr lang="zh-CN" altLang="en-US" sz="2000" dirty="0">
                <a:solidFill>
                  <a:srgbClr val="595959"/>
                </a:solidFill>
                <a:latin typeface="微软雅黑" panose="020B0503020204020204" pitchFamily="34" charset="-122"/>
                <a:ea typeface="微软雅黑" panose="020B0503020204020204" pitchFamily="34" charset="-122"/>
              </a:rPr>
              <a:t>，它通常作为等价类划分法的一种</a:t>
            </a:r>
            <a:r>
              <a:rPr lang="zh-CN" altLang="en-US" sz="2000" dirty="0">
                <a:solidFill>
                  <a:srgbClr val="0075CC"/>
                </a:solidFill>
                <a:latin typeface="微软雅黑" panose="020B0503020204020204" pitchFamily="34" charset="-122"/>
                <a:ea typeface="微软雅黑" panose="020B0503020204020204" pitchFamily="34" charset="-122"/>
              </a:rPr>
              <a:t>补充测试</a:t>
            </a:r>
            <a:r>
              <a:rPr lang="zh-CN" altLang="en-US" sz="2000" dirty="0">
                <a:solidFill>
                  <a:srgbClr val="595959"/>
                </a:solidFill>
                <a:latin typeface="微软雅黑" panose="020B0503020204020204" pitchFamily="34" charset="-122"/>
                <a:ea typeface="微软雅黑" panose="020B0503020204020204" pitchFamily="34" charset="-122"/>
              </a:rPr>
              <a:t>。对于软件来说，错误经常发生在输入或输出值的关键点，即从</a:t>
            </a:r>
            <a:r>
              <a:rPr lang="zh-CN" altLang="en-US" sz="2000" dirty="0">
                <a:solidFill>
                  <a:srgbClr val="0070C0"/>
                </a:solidFill>
                <a:latin typeface="微软雅黑" panose="020B0503020204020204" pitchFamily="34" charset="-122"/>
                <a:ea typeface="微软雅黑" panose="020B0503020204020204" pitchFamily="34" charset="-122"/>
              </a:rPr>
              <a:t>符合需求到不符合需求的关键点</a:t>
            </a:r>
            <a:r>
              <a:rPr lang="zh-CN" altLang="en-US" sz="2000" dirty="0">
                <a:solidFill>
                  <a:srgbClr val="595959"/>
                </a:solidFill>
                <a:latin typeface="微软雅黑" panose="020B0503020204020204" pitchFamily="34" charset="-122"/>
                <a:ea typeface="微软雅黑" panose="020B0503020204020204" pitchFamily="34" charset="-122"/>
              </a:rPr>
              <a:t>，因此</a:t>
            </a:r>
            <a:r>
              <a:rPr lang="zh-CN" altLang="en-US" sz="2000" dirty="0">
                <a:solidFill>
                  <a:srgbClr val="0070C0"/>
                </a:solidFill>
                <a:latin typeface="微软雅黑" panose="020B0503020204020204" pitchFamily="34" charset="-122"/>
                <a:ea typeface="微软雅黑" panose="020B0503020204020204" pitchFamily="34" charset="-122"/>
              </a:rPr>
              <a:t>边界值分析法在等价类的边界上执行软件测试工作</a:t>
            </a:r>
            <a:r>
              <a:rPr lang="zh-CN" altLang="en-US" sz="2000" dirty="0">
                <a:solidFill>
                  <a:srgbClr val="595959"/>
                </a:solidFill>
                <a:latin typeface="微软雅黑" panose="020B0503020204020204" pitchFamily="34" charset="-122"/>
                <a:ea typeface="微软雅黑" panose="020B0503020204020204" pitchFamily="34" charset="-122"/>
              </a:rPr>
              <a:t>，它的所有测试用例都是在等价类的边界处设计的。</a:t>
            </a:r>
          </a:p>
        </p:txBody>
      </p:sp>
      <p:pic>
        <p:nvPicPr>
          <p:cNvPr id="33" name="图片 32"/>
          <p:cNvPicPr>
            <a:picLocks noChangeAspect="1"/>
          </p:cNvPicPr>
          <p:nvPr/>
        </p:nvPicPr>
        <p:blipFill>
          <a:blip r:embed="rId3"/>
          <a:stretch>
            <a:fillRect/>
          </a:stretch>
        </p:blipFill>
        <p:spPr>
          <a:xfrm>
            <a:off x="839386" y="1413456"/>
            <a:ext cx="3715858" cy="4006159"/>
          </a:xfrm>
          <a:prstGeom prst="rect">
            <a:avLst/>
          </a:prstGeom>
        </p:spPr>
      </p:pic>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.1	边界值分析法概述</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35"/>
          <p:cNvSpPr txBox="1">
            <a:spLocks noChangeArrowheads="1"/>
          </p:cNvSpPr>
          <p:nvPr/>
        </p:nvSpPr>
        <p:spPr bwMode="auto">
          <a:xfrm>
            <a:off x="4411345" y="1413510"/>
            <a:ext cx="7098030" cy="4229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indent="457200" algn="just">
              <a:lnSpc>
                <a:spcPct val="150000"/>
              </a:lnSpc>
              <a:buClrTx/>
              <a:buSzTx/>
              <a:buFontTx/>
            </a:pPr>
            <a:r>
              <a:rPr lang="zh-CN" altLang="en-US" sz="1800" dirty="0">
                <a:solidFill>
                  <a:srgbClr val="595959"/>
                </a:solidFill>
                <a:latin typeface="微软雅黑" panose="020B0503020204020204" pitchFamily="34" charset="-122"/>
                <a:ea typeface="微软雅黑" panose="020B0503020204020204" pitchFamily="34" charset="-122"/>
              </a:rPr>
              <a:t>在等价类划分法中，无论是输入值还是输出值，都会有多个边界，而</a:t>
            </a:r>
            <a:r>
              <a:rPr lang="zh-CN" altLang="en-US" sz="1800" dirty="0">
                <a:solidFill>
                  <a:srgbClr val="0070C0"/>
                </a:solidFill>
                <a:latin typeface="微软雅黑" panose="020B0503020204020204" pitchFamily="34" charset="-122"/>
                <a:ea typeface="微软雅黑" panose="020B0503020204020204" pitchFamily="34" charset="-122"/>
              </a:rPr>
              <a:t>边界值分析法是在</a:t>
            </a:r>
            <a:r>
              <a:rPr lang="zh-CN" altLang="en-US" sz="1800" dirty="0">
                <a:solidFill>
                  <a:srgbClr val="595959"/>
                </a:solidFill>
                <a:latin typeface="微软雅黑" panose="020B0503020204020204" pitchFamily="34" charset="-122"/>
                <a:ea typeface="微软雅黑" panose="020B0503020204020204" pitchFamily="34" charset="-122"/>
              </a:rPr>
              <a:t>这些</a:t>
            </a:r>
            <a:r>
              <a:rPr lang="zh-CN" altLang="en-US" sz="1800" dirty="0">
                <a:solidFill>
                  <a:srgbClr val="0070C0"/>
                </a:solidFill>
                <a:latin typeface="微软雅黑" panose="020B0503020204020204" pitchFamily="34" charset="-122"/>
                <a:ea typeface="微软雅黑" panose="020B0503020204020204" pitchFamily="34" charset="-122"/>
              </a:rPr>
              <a:t>边界附近寻找某些点作为测试值</a:t>
            </a:r>
            <a:r>
              <a:rPr lang="zh-CN" altLang="en-US" sz="1800" dirty="0">
                <a:solidFill>
                  <a:srgbClr val="595959"/>
                </a:solidFill>
                <a:latin typeface="微软雅黑" panose="020B0503020204020204" pitchFamily="34" charset="-122"/>
                <a:ea typeface="微软雅黑" panose="020B0503020204020204" pitchFamily="34" charset="-122"/>
              </a:rPr>
              <a:t>，而不是在等价类内部选择测试值。在使用边界值分析法时，可以通过</a:t>
            </a:r>
            <a:r>
              <a:rPr lang="zh-CN" altLang="en-US" sz="1800" dirty="0">
                <a:solidFill>
                  <a:srgbClr val="0070C0"/>
                </a:solidFill>
                <a:latin typeface="微软雅黑" panose="020B0503020204020204" pitchFamily="34" charset="-122"/>
                <a:ea typeface="微软雅黑" panose="020B0503020204020204" pitchFamily="34" charset="-122"/>
              </a:rPr>
              <a:t>确定边界的3个点来设计测试用例</a:t>
            </a:r>
            <a:r>
              <a:rPr lang="zh-CN" altLang="en-US" sz="1800" dirty="0">
                <a:solidFill>
                  <a:srgbClr val="595959"/>
                </a:solidFill>
                <a:latin typeface="微软雅黑" panose="020B0503020204020204" pitchFamily="34" charset="-122"/>
                <a:ea typeface="微软雅黑" panose="020B0503020204020204" pitchFamily="34" charset="-122"/>
              </a:rPr>
              <a:t>，这3个点分别是</a:t>
            </a:r>
            <a:r>
              <a:rPr lang="zh-CN" altLang="en-US" sz="1800" dirty="0">
                <a:solidFill>
                  <a:srgbClr val="0070C0"/>
                </a:solidFill>
                <a:latin typeface="微软雅黑" panose="020B0503020204020204" pitchFamily="34" charset="-122"/>
                <a:ea typeface="微软雅黑" panose="020B0503020204020204" pitchFamily="34" charset="-122"/>
              </a:rPr>
              <a:t>上点</a:t>
            </a:r>
            <a:r>
              <a:rPr lang="zh-CN" altLang="en-US" sz="1800" dirty="0">
                <a:solidFill>
                  <a:srgbClr val="595959"/>
                </a:solidFill>
                <a:latin typeface="微软雅黑" panose="020B0503020204020204" pitchFamily="34" charset="-122"/>
                <a:ea typeface="微软雅黑" panose="020B0503020204020204" pitchFamily="34" charset="-122"/>
              </a:rPr>
              <a:t>、</a:t>
            </a:r>
            <a:r>
              <a:rPr lang="zh-CN" altLang="en-US" sz="1800" dirty="0">
                <a:solidFill>
                  <a:srgbClr val="0070C0"/>
                </a:solidFill>
                <a:latin typeface="微软雅黑" panose="020B0503020204020204" pitchFamily="34" charset="-122"/>
                <a:ea typeface="微软雅黑" panose="020B0503020204020204" pitchFamily="34" charset="-122"/>
              </a:rPr>
              <a:t>离点</a:t>
            </a:r>
            <a:r>
              <a:rPr lang="zh-CN" altLang="en-US" sz="1800" dirty="0">
                <a:solidFill>
                  <a:srgbClr val="595959"/>
                </a:solidFill>
                <a:latin typeface="微软雅黑" panose="020B0503020204020204" pitchFamily="34" charset="-122"/>
                <a:ea typeface="微软雅黑" panose="020B0503020204020204" pitchFamily="34" charset="-122"/>
              </a:rPr>
              <a:t>和</a:t>
            </a:r>
            <a:r>
              <a:rPr lang="zh-CN" altLang="en-US" sz="1800" dirty="0">
                <a:solidFill>
                  <a:srgbClr val="0070C0"/>
                </a:solidFill>
                <a:latin typeface="微软雅黑" panose="020B0503020204020204" pitchFamily="34" charset="-122"/>
                <a:ea typeface="微软雅黑" panose="020B0503020204020204" pitchFamily="34" charset="-122"/>
              </a:rPr>
              <a:t>内点</a:t>
            </a:r>
            <a:r>
              <a:rPr lang="zh-CN" altLang="en-US" sz="1800" dirty="0">
                <a:solidFill>
                  <a:srgbClr val="595959"/>
                </a:solidFill>
                <a:latin typeface="微软雅黑" panose="020B0503020204020204" pitchFamily="34" charset="-122"/>
                <a:ea typeface="微软雅黑" panose="020B0503020204020204" pitchFamily="34" charset="-122"/>
              </a:rPr>
              <a:t>。上点是指边界上的点，离点是指距离边界最近的点，内点是指需求给定范围内的点。</a:t>
            </a:r>
            <a:endParaRPr lang="en-US" altLang="zh-CN" sz="1800" dirty="0">
              <a:solidFill>
                <a:srgbClr val="595959"/>
              </a:solidFill>
              <a:latin typeface="微软雅黑" panose="020B0503020204020204" pitchFamily="34" charset="-122"/>
              <a:ea typeface="微软雅黑" panose="020B0503020204020204" pitchFamily="34" charset="-122"/>
            </a:endParaRPr>
          </a:p>
          <a:p>
            <a:pPr indent="457200">
              <a:lnSpc>
                <a:spcPct val="150000"/>
              </a:lnSpc>
            </a:pPr>
            <a:r>
              <a:rPr lang="zh-CN" altLang="en-US" sz="1800" dirty="0">
                <a:solidFill>
                  <a:srgbClr val="595959"/>
                </a:solidFill>
                <a:latin typeface="微软雅黑" panose="020B0503020204020204" pitchFamily="34" charset="-122"/>
                <a:ea typeface="微软雅黑" panose="020B0503020204020204" pitchFamily="34" charset="-122"/>
              </a:rPr>
              <a:t>边界值分析方法与等价类划分方法的区别是：边界值分析不是从某等价类中随便挑一个作为代表，而是使</a:t>
            </a:r>
            <a:r>
              <a:rPr lang="zh-CN" altLang="en-US" sz="1800" dirty="0">
                <a:solidFill>
                  <a:srgbClr val="0075CC"/>
                </a:solidFill>
                <a:latin typeface="微软雅黑" panose="020B0503020204020204" pitchFamily="34" charset="-122"/>
                <a:ea typeface="微软雅黑" panose="020B0503020204020204" pitchFamily="34" charset="-122"/>
              </a:rPr>
              <a:t>这个等价类的每个边界都要作为测试条件</a:t>
            </a:r>
            <a:r>
              <a:rPr lang="zh-CN" altLang="en-US" sz="1800" dirty="0">
                <a:solidFill>
                  <a:srgbClr val="595959"/>
                </a:solidFill>
                <a:latin typeface="微软雅黑" panose="020B0503020204020204" pitchFamily="34" charset="-122"/>
                <a:ea typeface="微软雅黑" panose="020B0503020204020204" pitchFamily="34" charset="-122"/>
              </a:rPr>
              <a:t>；另外，边界值分析不仅</a:t>
            </a:r>
            <a:r>
              <a:rPr lang="zh-CN" altLang="en-US" sz="1800" dirty="0">
                <a:solidFill>
                  <a:srgbClr val="0075CC"/>
                </a:solidFill>
                <a:latin typeface="微软雅黑" panose="020B0503020204020204" pitchFamily="34" charset="-122"/>
                <a:ea typeface="微软雅黑" panose="020B0503020204020204" pitchFamily="34" charset="-122"/>
              </a:rPr>
              <a:t>考虑输入条件边界</a:t>
            </a:r>
            <a:r>
              <a:rPr lang="zh-CN" altLang="en-US" sz="1800" dirty="0">
                <a:solidFill>
                  <a:srgbClr val="595959"/>
                </a:solidFill>
                <a:latin typeface="微软雅黑" panose="020B0503020204020204" pitchFamily="34" charset="-122"/>
                <a:ea typeface="微软雅黑" panose="020B0503020204020204" pitchFamily="34" charset="-122"/>
              </a:rPr>
              <a:t>，还要考虑</a:t>
            </a:r>
            <a:r>
              <a:rPr lang="zh-CN" altLang="en-US" sz="1800" dirty="0">
                <a:solidFill>
                  <a:srgbClr val="0075CC"/>
                </a:solidFill>
                <a:latin typeface="微软雅黑" panose="020B0503020204020204" pitchFamily="34" charset="-122"/>
                <a:ea typeface="微软雅黑" panose="020B0503020204020204" pitchFamily="34" charset="-122"/>
              </a:rPr>
              <a:t>输出域边界</a:t>
            </a:r>
            <a:r>
              <a:rPr lang="zh-CN" altLang="en-US" sz="1800" dirty="0">
                <a:solidFill>
                  <a:srgbClr val="595959"/>
                </a:solidFill>
                <a:latin typeface="微软雅黑" panose="020B0503020204020204" pitchFamily="34" charset="-122"/>
                <a:ea typeface="微软雅黑" panose="020B0503020204020204" pitchFamily="34" charset="-122"/>
              </a:rPr>
              <a:t>产生的测试情况。</a:t>
            </a:r>
          </a:p>
        </p:txBody>
      </p:sp>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.1	边界值分析法概述</a:t>
            </a:r>
          </a:p>
        </p:txBody>
      </p:sp>
      <p:pic>
        <p:nvPicPr>
          <p:cNvPr id="2" name="图片 1"/>
          <p:cNvPicPr>
            <a:picLocks noChangeAspect="1"/>
          </p:cNvPicPr>
          <p:nvPr/>
        </p:nvPicPr>
        <p:blipFill>
          <a:blip r:embed="rId3"/>
          <a:stretch>
            <a:fillRect/>
          </a:stretch>
        </p:blipFill>
        <p:spPr>
          <a:xfrm>
            <a:off x="695241" y="1413456"/>
            <a:ext cx="3715858" cy="4006159"/>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D27748-702B-416E-CB02-7025447B3BA0}"/>
            </a:ext>
          </a:extLst>
        </p:cNvPr>
        <p:cNvGrpSpPr/>
        <p:nvPr/>
      </p:nvGrpSpPr>
      <p:grpSpPr>
        <a:xfrm>
          <a:off x="0" y="0"/>
          <a:ext cx="0" cy="0"/>
          <a:chOff x="0" y="0"/>
          <a:chExt cx="0" cy="0"/>
        </a:xfrm>
      </p:grpSpPr>
      <p:sp>
        <p:nvSpPr>
          <p:cNvPr id="47" name="TextBox 35">
            <a:extLst>
              <a:ext uri="{FF2B5EF4-FFF2-40B4-BE49-F238E27FC236}">
                <a16:creationId xmlns:a16="http://schemas.microsoft.com/office/drawing/2014/main" id="{02E8DA24-4B33-811A-5932-7AF8A4276AB6}"/>
              </a:ext>
            </a:extLst>
          </p:cNvPr>
          <p:cNvSpPr txBox="1">
            <a:spLocks noChangeArrowheads="1"/>
          </p:cNvSpPr>
          <p:nvPr/>
        </p:nvSpPr>
        <p:spPr bwMode="auto">
          <a:xfrm>
            <a:off x="912364" y="1413794"/>
            <a:ext cx="10365684" cy="4644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indent="457200">
              <a:lnSpc>
                <a:spcPct val="150000"/>
              </a:lnSpc>
            </a:pPr>
            <a:r>
              <a:rPr lang="zh-CN" altLang="en-US" sz="1800" dirty="0">
                <a:solidFill>
                  <a:srgbClr val="595959"/>
                </a:solidFill>
                <a:latin typeface="微软雅黑" panose="020B0503020204020204" pitchFamily="34" charset="-122"/>
                <a:ea typeface="微软雅黑" panose="020B0503020204020204" pitchFamily="34" charset="-122"/>
              </a:rPr>
              <a:t>按照测试数据的有效性，将边界值分析法分为</a:t>
            </a:r>
            <a:r>
              <a:rPr lang="zh-CN" altLang="en-US" sz="1800" dirty="0">
                <a:solidFill>
                  <a:srgbClr val="0075CC"/>
                </a:solidFill>
                <a:latin typeface="微软雅黑" panose="020B0503020204020204" pitchFamily="34" charset="-122"/>
                <a:ea typeface="微软雅黑" panose="020B0503020204020204" pitchFamily="34" charset="-122"/>
              </a:rPr>
              <a:t>标准边界值测试</a:t>
            </a:r>
            <a:r>
              <a:rPr lang="zh-CN" altLang="en-US" sz="1800" dirty="0">
                <a:solidFill>
                  <a:srgbClr val="595959"/>
                </a:solidFill>
                <a:latin typeface="微软雅黑" panose="020B0503020204020204" pitchFamily="34" charset="-122"/>
                <a:ea typeface="微软雅黑" panose="020B0503020204020204" pitchFamily="34" charset="-122"/>
              </a:rPr>
              <a:t>和</a:t>
            </a:r>
            <a:r>
              <a:rPr lang="zh-CN" altLang="en-US" sz="1800" dirty="0">
                <a:solidFill>
                  <a:srgbClr val="0075CC"/>
                </a:solidFill>
                <a:latin typeface="微软雅黑" panose="020B0503020204020204" pitchFamily="34" charset="-122"/>
                <a:ea typeface="微软雅黑" panose="020B0503020204020204" pitchFamily="34" charset="-122"/>
              </a:rPr>
              <a:t>健壮边界值测试</a:t>
            </a:r>
            <a:r>
              <a:rPr lang="zh-CN" altLang="en-US" sz="1800" dirty="0">
                <a:solidFill>
                  <a:srgbClr val="595959"/>
                </a:solidFill>
                <a:latin typeface="微软雅黑" panose="020B0503020204020204" pitchFamily="34" charset="-122"/>
                <a:ea typeface="微软雅黑" panose="020B0503020204020204" pitchFamily="34" charset="-122"/>
              </a:rPr>
              <a:t>。</a:t>
            </a:r>
          </a:p>
          <a:p>
            <a:pPr indent="457200">
              <a:lnSpc>
                <a:spcPct val="150000"/>
              </a:lnSpc>
            </a:pPr>
            <a:r>
              <a:rPr lang="zh-CN" altLang="en-US" sz="1800" dirty="0">
                <a:solidFill>
                  <a:srgbClr val="595959"/>
                </a:solidFill>
                <a:latin typeface="微软雅黑" panose="020B0503020204020204" pitchFamily="34" charset="-122"/>
                <a:ea typeface="微软雅黑" panose="020B0503020204020204" pitchFamily="34" charset="-122"/>
              </a:rPr>
              <a:t>（</a:t>
            </a:r>
            <a:r>
              <a:rPr lang="en-US" altLang="zh-CN" sz="1800" dirty="0">
                <a:solidFill>
                  <a:srgbClr val="595959"/>
                </a:solidFill>
                <a:latin typeface="微软雅黑" panose="020B0503020204020204" pitchFamily="34" charset="-122"/>
                <a:ea typeface="微软雅黑" panose="020B0503020204020204" pitchFamily="34" charset="-122"/>
              </a:rPr>
              <a:t>1</a:t>
            </a:r>
            <a:r>
              <a:rPr lang="zh-CN" altLang="en-US" sz="1800" dirty="0">
                <a:solidFill>
                  <a:srgbClr val="595959"/>
                </a:solidFill>
                <a:latin typeface="微软雅黑" panose="020B0503020204020204" pitchFamily="34" charset="-122"/>
                <a:ea typeface="微软雅黑" panose="020B0503020204020204" pitchFamily="34" charset="-122"/>
              </a:rPr>
              <a:t>）标准边界值测试只考虑</a:t>
            </a:r>
            <a:r>
              <a:rPr lang="zh-CN" altLang="en-US" sz="1800" dirty="0">
                <a:solidFill>
                  <a:srgbClr val="0075CC"/>
                </a:solidFill>
                <a:latin typeface="微软雅黑" panose="020B0503020204020204" pitchFamily="34" charset="-122"/>
                <a:ea typeface="微软雅黑" panose="020B0503020204020204" pitchFamily="34" charset="-122"/>
              </a:rPr>
              <a:t>有效数据范围内的边界值</a:t>
            </a:r>
            <a:r>
              <a:rPr lang="zh-CN" altLang="en-US" sz="1800" dirty="0">
                <a:solidFill>
                  <a:srgbClr val="595959"/>
                </a:solidFill>
                <a:latin typeface="微软雅黑" panose="020B0503020204020204" pitchFamily="34" charset="-122"/>
                <a:ea typeface="微软雅黑" panose="020B0503020204020204" pitchFamily="34" charset="-122"/>
              </a:rPr>
              <a:t>。</a:t>
            </a:r>
          </a:p>
          <a:p>
            <a:pPr indent="457200">
              <a:lnSpc>
                <a:spcPct val="150000"/>
              </a:lnSpc>
            </a:pPr>
            <a:r>
              <a:rPr lang="zh-CN" altLang="en-US" sz="1800" dirty="0">
                <a:solidFill>
                  <a:srgbClr val="595959"/>
                </a:solidFill>
                <a:latin typeface="微软雅黑" panose="020B0503020204020204" pitchFamily="34" charset="-122"/>
                <a:ea typeface="微软雅黑" panose="020B0503020204020204" pitchFamily="34" charset="-122"/>
              </a:rPr>
              <a:t>       对于一个有</a:t>
            </a:r>
            <a:r>
              <a:rPr lang="en-US" altLang="zh-CN" sz="1800" dirty="0">
                <a:solidFill>
                  <a:srgbClr val="0075CC"/>
                </a:solidFill>
                <a:latin typeface="微软雅黑" panose="020B0503020204020204" pitchFamily="34" charset="-122"/>
                <a:ea typeface="微软雅黑" panose="020B0503020204020204" pitchFamily="34" charset="-122"/>
              </a:rPr>
              <a:t>n</a:t>
            </a:r>
            <a:r>
              <a:rPr lang="zh-CN" altLang="en-US" sz="1800" dirty="0">
                <a:solidFill>
                  <a:srgbClr val="595959"/>
                </a:solidFill>
                <a:latin typeface="微软雅黑" panose="020B0503020204020204" pitchFamily="34" charset="-122"/>
                <a:ea typeface="微软雅黑" panose="020B0503020204020204" pitchFamily="34" charset="-122"/>
              </a:rPr>
              <a:t>个变量的程序，保留其中一个变量，其取值为最小值</a:t>
            </a:r>
            <a:r>
              <a:rPr lang="en-US" altLang="zh-CN" sz="1800" dirty="0">
                <a:solidFill>
                  <a:srgbClr val="595959"/>
                </a:solidFill>
                <a:latin typeface="微软雅黑" panose="020B0503020204020204" pitchFamily="34" charset="-122"/>
                <a:ea typeface="微软雅黑" panose="020B0503020204020204" pitchFamily="34" charset="-122"/>
              </a:rPr>
              <a:t>(Min)</a:t>
            </a:r>
            <a:r>
              <a:rPr lang="zh-CN" altLang="en-US" sz="1800" dirty="0">
                <a:solidFill>
                  <a:srgbClr val="595959"/>
                </a:solidFill>
                <a:latin typeface="微软雅黑" panose="020B0503020204020204" pitchFamily="34" charset="-122"/>
                <a:ea typeface="微软雅黑" panose="020B0503020204020204" pitchFamily="34" charset="-122"/>
              </a:rPr>
              <a:t>、略高于最小值</a:t>
            </a:r>
            <a:r>
              <a:rPr lang="en-US" altLang="zh-CN" sz="1800" dirty="0">
                <a:solidFill>
                  <a:srgbClr val="595959"/>
                </a:solidFill>
                <a:latin typeface="微软雅黑" panose="020B0503020204020204" pitchFamily="34" charset="-122"/>
                <a:ea typeface="微软雅黑" panose="020B0503020204020204" pitchFamily="34" charset="-122"/>
              </a:rPr>
              <a:t>(Min+)</a:t>
            </a:r>
            <a:r>
              <a:rPr lang="zh-CN" altLang="en-US" sz="1800" dirty="0">
                <a:solidFill>
                  <a:srgbClr val="595959"/>
                </a:solidFill>
                <a:latin typeface="微软雅黑" panose="020B0503020204020204" pitchFamily="34" charset="-122"/>
                <a:ea typeface="微软雅黑" panose="020B0503020204020204" pitchFamily="34" charset="-122"/>
              </a:rPr>
              <a:t>、正常值</a:t>
            </a:r>
            <a:r>
              <a:rPr lang="en-US" altLang="zh-CN" sz="1800" dirty="0">
                <a:solidFill>
                  <a:srgbClr val="595959"/>
                </a:solidFill>
                <a:latin typeface="微软雅黑" panose="020B0503020204020204" pitchFamily="34" charset="-122"/>
                <a:ea typeface="微软雅黑" panose="020B0503020204020204" pitchFamily="34" charset="-122"/>
              </a:rPr>
              <a:t>(Normal)</a:t>
            </a:r>
            <a:r>
              <a:rPr lang="zh-CN" altLang="en-US" sz="1800" dirty="0">
                <a:solidFill>
                  <a:srgbClr val="595959"/>
                </a:solidFill>
                <a:latin typeface="微软雅黑" panose="020B0503020204020204" pitchFamily="34" charset="-122"/>
                <a:ea typeface="微软雅黑" panose="020B0503020204020204" pitchFamily="34" charset="-122"/>
              </a:rPr>
              <a:t>、略低于最大值</a:t>
            </a:r>
            <a:r>
              <a:rPr lang="en-US" altLang="zh-CN" sz="1800" dirty="0">
                <a:solidFill>
                  <a:srgbClr val="595959"/>
                </a:solidFill>
                <a:latin typeface="微软雅黑" panose="020B0503020204020204" pitchFamily="34" charset="-122"/>
                <a:ea typeface="微软雅黑" panose="020B0503020204020204" pitchFamily="34" charset="-122"/>
              </a:rPr>
              <a:t>(Max-)</a:t>
            </a:r>
            <a:r>
              <a:rPr lang="zh-CN" altLang="en-US" sz="1800" dirty="0">
                <a:solidFill>
                  <a:srgbClr val="595959"/>
                </a:solidFill>
                <a:latin typeface="微软雅黑" panose="020B0503020204020204" pitchFamily="34" charset="-122"/>
                <a:ea typeface="微软雅黑" panose="020B0503020204020204" pitchFamily="34" charset="-122"/>
              </a:rPr>
              <a:t>、最大值</a:t>
            </a:r>
            <a:r>
              <a:rPr lang="en-US" altLang="zh-CN" sz="1800" dirty="0">
                <a:solidFill>
                  <a:srgbClr val="595959"/>
                </a:solidFill>
                <a:latin typeface="微软雅黑" panose="020B0503020204020204" pitchFamily="34" charset="-122"/>
                <a:ea typeface="微软雅黑" panose="020B0503020204020204" pitchFamily="34" charset="-122"/>
              </a:rPr>
              <a:t>(Max)</a:t>
            </a:r>
            <a:r>
              <a:rPr lang="zh-CN" altLang="en-US" sz="1800" dirty="0">
                <a:solidFill>
                  <a:srgbClr val="595959"/>
                </a:solidFill>
                <a:latin typeface="微软雅黑" panose="020B0503020204020204" pitchFamily="34" charset="-122"/>
                <a:ea typeface="微软雅黑" panose="020B0503020204020204" pitchFamily="34" charset="-122"/>
              </a:rPr>
              <a:t>，让其余变量取正常值，标准边界值分析测试程序会产生</a:t>
            </a:r>
            <a:r>
              <a:rPr lang="en-US" altLang="zh-CN" sz="1800" dirty="0">
                <a:solidFill>
                  <a:srgbClr val="0075CC"/>
                </a:solidFill>
                <a:latin typeface="微软雅黑" panose="020B0503020204020204" pitchFamily="34" charset="-122"/>
                <a:ea typeface="微软雅黑" panose="020B0503020204020204" pitchFamily="34" charset="-122"/>
              </a:rPr>
              <a:t>4n+1</a:t>
            </a:r>
            <a:r>
              <a:rPr lang="zh-CN" altLang="en-US" sz="1800" dirty="0">
                <a:solidFill>
                  <a:srgbClr val="595959"/>
                </a:solidFill>
                <a:latin typeface="微软雅黑" panose="020B0503020204020204" pitchFamily="34" charset="-122"/>
                <a:ea typeface="微软雅黑" panose="020B0503020204020204" pitchFamily="34" charset="-122"/>
              </a:rPr>
              <a:t>个测试用例。</a:t>
            </a:r>
          </a:p>
          <a:p>
            <a:pPr indent="457200">
              <a:lnSpc>
                <a:spcPct val="150000"/>
              </a:lnSpc>
            </a:pPr>
            <a:r>
              <a:rPr lang="zh-CN" altLang="en-US" sz="1800" dirty="0">
                <a:solidFill>
                  <a:srgbClr val="595959"/>
                </a:solidFill>
                <a:latin typeface="微软雅黑" panose="020B0503020204020204" pitchFamily="34" charset="-122"/>
                <a:ea typeface="微软雅黑" panose="020B0503020204020204" pitchFamily="34" charset="-122"/>
              </a:rPr>
              <a:t>（</a:t>
            </a:r>
            <a:r>
              <a:rPr lang="en-US" altLang="zh-CN" sz="1800" dirty="0">
                <a:solidFill>
                  <a:srgbClr val="595959"/>
                </a:solidFill>
                <a:latin typeface="微软雅黑" panose="020B0503020204020204" pitchFamily="34" charset="-122"/>
                <a:ea typeface="微软雅黑" panose="020B0503020204020204" pitchFamily="34" charset="-122"/>
              </a:rPr>
              <a:t>2</a:t>
            </a:r>
            <a:r>
              <a:rPr lang="zh-CN" altLang="en-US" sz="1800" dirty="0">
                <a:solidFill>
                  <a:srgbClr val="595959"/>
                </a:solidFill>
                <a:latin typeface="微软雅黑" panose="020B0503020204020204" pitchFamily="34" charset="-122"/>
                <a:ea typeface="微软雅黑" panose="020B0503020204020204" pitchFamily="34" charset="-122"/>
              </a:rPr>
              <a:t>）健壮边界值测试会考虑</a:t>
            </a:r>
            <a:r>
              <a:rPr lang="zh-CN" altLang="en-US" sz="1800" dirty="0">
                <a:solidFill>
                  <a:srgbClr val="0075CC"/>
                </a:solidFill>
                <a:latin typeface="微软雅黑" panose="020B0503020204020204" pitchFamily="34" charset="-122"/>
                <a:ea typeface="微软雅黑" panose="020B0503020204020204" pitchFamily="34" charset="-122"/>
              </a:rPr>
              <a:t>有效和无效数据范围内的边界值</a:t>
            </a:r>
            <a:r>
              <a:rPr lang="zh-CN" altLang="en-US" sz="1800" dirty="0">
                <a:solidFill>
                  <a:srgbClr val="595959"/>
                </a:solidFill>
                <a:latin typeface="微软雅黑" panose="020B0503020204020204" pitchFamily="34" charset="-122"/>
                <a:ea typeface="微软雅黑" panose="020B0503020204020204" pitchFamily="34" charset="-122"/>
              </a:rPr>
              <a:t>。</a:t>
            </a:r>
          </a:p>
          <a:p>
            <a:pPr indent="457200">
              <a:lnSpc>
                <a:spcPct val="150000"/>
              </a:lnSpc>
            </a:pPr>
            <a:r>
              <a:rPr lang="zh-CN" altLang="en-US" sz="1800" dirty="0">
                <a:solidFill>
                  <a:srgbClr val="595959"/>
                </a:solidFill>
                <a:latin typeface="微软雅黑" panose="020B0503020204020204" pitchFamily="34" charset="-122"/>
                <a:ea typeface="微软雅黑" panose="020B0503020204020204" pitchFamily="34" charset="-122"/>
              </a:rPr>
              <a:t>       因此，对于一个含有</a:t>
            </a:r>
            <a:r>
              <a:rPr lang="en-US" altLang="zh-CN" sz="1800" dirty="0">
                <a:solidFill>
                  <a:srgbClr val="0075CC"/>
                </a:solidFill>
                <a:latin typeface="微软雅黑" panose="020B0503020204020204" pitchFamily="34" charset="-122"/>
                <a:ea typeface="微软雅黑" panose="020B0503020204020204" pitchFamily="34" charset="-122"/>
              </a:rPr>
              <a:t>n</a:t>
            </a:r>
            <a:r>
              <a:rPr lang="zh-CN" altLang="en-US" sz="1800" dirty="0">
                <a:solidFill>
                  <a:srgbClr val="595959"/>
                </a:solidFill>
                <a:latin typeface="微软雅黑" panose="020B0503020204020204" pitchFamily="34" charset="-122"/>
                <a:ea typeface="微软雅黑" panose="020B0503020204020204" pitchFamily="34" charset="-122"/>
              </a:rPr>
              <a:t>个变量的程序，保留其中一个变量，其取值为，其取值为略低于最小值</a:t>
            </a:r>
            <a:r>
              <a:rPr lang="en-US" altLang="zh-CN" sz="1800" dirty="0">
                <a:solidFill>
                  <a:srgbClr val="595959"/>
                </a:solidFill>
                <a:latin typeface="微软雅黑" panose="020B0503020204020204" pitchFamily="34" charset="-122"/>
                <a:ea typeface="微软雅黑" panose="020B0503020204020204" pitchFamily="34" charset="-122"/>
              </a:rPr>
              <a:t>(Min-)</a:t>
            </a:r>
            <a:r>
              <a:rPr lang="zh-CN" altLang="en-US" sz="1800" dirty="0">
                <a:solidFill>
                  <a:srgbClr val="595959"/>
                </a:solidFill>
                <a:latin typeface="微软雅黑" panose="020B0503020204020204" pitchFamily="34" charset="-122"/>
                <a:ea typeface="微软雅黑" panose="020B0503020204020204" pitchFamily="34" charset="-122"/>
              </a:rPr>
              <a:t>、最小值</a:t>
            </a:r>
            <a:r>
              <a:rPr lang="en-US" altLang="zh-CN" sz="1800" dirty="0">
                <a:solidFill>
                  <a:srgbClr val="595959"/>
                </a:solidFill>
                <a:latin typeface="微软雅黑" panose="020B0503020204020204" pitchFamily="34" charset="-122"/>
                <a:ea typeface="微软雅黑" panose="020B0503020204020204" pitchFamily="34" charset="-122"/>
              </a:rPr>
              <a:t>(Min)</a:t>
            </a:r>
            <a:r>
              <a:rPr lang="zh-CN" altLang="en-US" sz="1800" dirty="0">
                <a:solidFill>
                  <a:srgbClr val="595959"/>
                </a:solidFill>
                <a:latin typeface="微软雅黑" panose="020B0503020204020204" pitchFamily="34" charset="-122"/>
                <a:ea typeface="微软雅黑" panose="020B0503020204020204" pitchFamily="34" charset="-122"/>
              </a:rPr>
              <a:t>、略高于最小值</a:t>
            </a:r>
            <a:r>
              <a:rPr lang="en-US" altLang="zh-CN" sz="1800" dirty="0">
                <a:solidFill>
                  <a:srgbClr val="595959"/>
                </a:solidFill>
                <a:latin typeface="微软雅黑" panose="020B0503020204020204" pitchFamily="34" charset="-122"/>
                <a:ea typeface="微软雅黑" panose="020B0503020204020204" pitchFamily="34" charset="-122"/>
              </a:rPr>
              <a:t>(Min+)</a:t>
            </a:r>
            <a:r>
              <a:rPr lang="zh-CN" altLang="en-US" sz="1800" dirty="0">
                <a:solidFill>
                  <a:srgbClr val="595959"/>
                </a:solidFill>
                <a:latin typeface="微软雅黑" panose="020B0503020204020204" pitchFamily="34" charset="-122"/>
                <a:ea typeface="微软雅黑" panose="020B0503020204020204" pitchFamily="34" charset="-122"/>
              </a:rPr>
              <a:t>、正常值</a:t>
            </a:r>
            <a:r>
              <a:rPr lang="en-US" altLang="zh-CN" sz="1800" dirty="0">
                <a:solidFill>
                  <a:srgbClr val="595959"/>
                </a:solidFill>
                <a:latin typeface="微软雅黑" panose="020B0503020204020204" pitchFamily="34" charset="-122"/>
                <a:ea typeface="微软雅黑" panose="020B0503020204020204" pitchFamily="34" charset="-122"/>
              </a:rPr>
              <a:t>(Normal)</a:t>
            </a:r>
            <a:r>
              <a:rPr lang="zh-CN" altLang="en-US" sz="1800" dirty="0">
                <a:solidFill>
                  <a:srgbClr val="595959"/>
                </a:solidFill>
                <a:latin typeface="微软雅黑" panose="020B0503020204020204" pitchFamily="34" charset="-122"/>
                <a:ea typeface="微软雅黑" panose="020B0503020204020204" pitchFamily="34" charset="-122"/>
              </a:rPr>
              <a:t>、略低于最大值</a:t>
            </a:r>
            <a:r>
              <a:rPr lang="en-US" altLang="zh-CN" sz="1800" dirty="0">
                <a:solidFill>
                  <a:srgbClr val="595959"/>
                </a:solidFill>
                <a:latin typeface="微软雅黑" panose="020B0503020204020204" pitchFamily="34" charset="-122"/>
                <a:ea typeface="微软雅黑" panose="020B0503020204020204" pitchFamily="34" charset="-122"/>
              </a:rPr>
              <a:t>(Max-)</a:t>
            </a:r>
            <a:r>
              <a:rPr lang="zh-CN" altLang="en-US" sz="1800" dirty="0">
                <a:solidFill>
                  <a:srgbClr val="595959"/>
                </a:solidFill>
                <a:latin typeface="微软雅黑" panose="020B0503020204020204" pitchFamily="34" charset="-122"/>
                <a:ea typeface="微软雅黑" panose="020B0503020204020204" pitchFamily="34" charset="-122"/>
              </a:rPr>
              <a:t>、最大值</a:t>
            </a:r>
            <a:r>
              <a:rPr lang="en-US" altLang="zh-CN" sz="1800" dirty="0">
                <a:solidFill>
                  <a:srgbClr val="595959"/>
                </a:solidFill>
                <a:latin typeface="微软雅黑" panose="020B0503020204020204" pitchFamily="34" charset="-122"/>
                <a:ea typeface="微软雅黑" panose="020B0503020204020204" pitchFamily="34" charset="-122"/>
              </a:rPr>
              <a:t>(Max)</a:t>
            </a:r>
            <a:r>
              <a:rPr lang="zh-CN" altLang="en-US" sz="1800" dirty="0">
                <a:solidFill>
                  <a:srgbClr val="595959"/>
                </a:solidFill>
                <a:latin typeface="微软雅黑" panose="020B0503020204020204" pitchFamily="34" charset="-122"/>
                <a:ea typeface="微软雅黑" panose="020B0503020204020204" pitchFamily="34" charset="-122"/>
              </a:rPr>
              <a:t>，略高于最大值</a:t>
            </a:r>
            <a:r>
              <a:rPr lang="en-US" altLang="zh-CN" sz="1800" dirty="0">
                <a:solidFill>
                  <a:srgbClr val="595959"/>
                </a:solidFill>
                <a:latin typeface="微软雅黑" panose="020B0503020204020204" pitchFamily="34" charset="-122"/>
                <a:ea typeface="微软雅黑" panose="020B0503020204020204" pitchFamily="34" charset="-122"/>
              </a:rPr>
              <a:t>(Max+)</a:t>
            </a:r>
            <a:r>
              <a:rPr lang="zh-CN" altLang="en-US" sz="1800" dirty="0">
                <a:solidFill>
                  <a:srgbClr val="595959"/>
                </a:solidFill>
                <a:latin typeface="微软雅黑" panose="020B0503020204020204" pitchFamily="34" charset="-122"/>
                <a:ea typeface="微软雅黑" panose="020B0503020204020204" pitchFamily="34" charset="-122"/>
              </a:rPr>
              <a:t>，让其余变量取正常值，健壮边界值分析测试程序会产生</a:t>
            </a:r>
            <a:r>
              <a:rPr lang="en-US" altLang="zh-CN" sz="1800" dirty="0">
                <a:solidFill>
                  <a:srgbClr val="0075CC"/>
                </a:solidFill>
                <a:latin typeface="微软雅黑" panose="020B0503020204020204" pitchFamily="34" charset="-122"/>
                <a:ea typeface="微软雅黑" panose="020B0503020204020204" pitchFamily="34" charset="-122"/>
              </a:rPr>
              <a:t>6n+1</a:t>
            </a:r>
            <a:r>
              <a:rPr lang="zh-CN" altLang="en-US" sz="1800" dirty="0">
                <a:solidFill>
                  <a:srgbClr val="595959"/>
                </a:solidFill>
                <a:latin typeface="微软雅黑" panose="020B0503020204020204" pitchFamily="34" charset="-122"/>
                <a:ea typeface="微软雅黑" panose="020B0503020204020204" pitchFamily="34" charset="-122"/>
              </a:rPr>
              <a:t>个测试用例。</a:t>
            </a:r>
          </a:p>
          <a:p>
            <a:pPr indent="457200">
              <a:lnSpc>
                <a:spcPct val="150000"/>
              </a:lnSpc>
            </a:pPr>
            <a:endParaRPr lang="zh-CN" altLang="en-US" sz="1800" dirty="0">
              <a:solidFill>
                <a:srgbClr val="595959"/>
              </a:solidFill>
              <a:latin typeface="微软雅黑" panose="020B0503020204020204" pitchFamily="34" charset="-122"/>
              <a:ea typeface="微软雅黑" panose="020B0503020204020204" pitchFamily="34" charset="-122"/>
            </a:endParaRPr>
          </a:p>
        </p:txBody>
      </p:sp>
      <p:sp>
        <p:nvSpPr>
          <p:cNvPr id="31" name="Title 1">
            <a:extLst>
              <a:ext uri="{FF2B5EF4-FFF2-40B4-BE49-F238E27FC236}">
                <a16:creationId xmlns:a16="http://schemas.microsoft.com/office/drawing/2014/main" id="{D41D2DE6-6E2E-6432-6A27-12522CC2C8F5}"/>
              </a:ext>
            </a:extLst>
          </p:cNvPr>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.1	边界值分析法概述</a:t>
            </a:r>
          </a:p>
        </p:txBody>
      </p:sp>
    </p:spTree>
    <p:extLst>
      <p:ext uri="{BB962C8B-B14F-4D97-AF65-F5344CB8AC3E}">
        <p14:creationId xmlns:p14="http://schemas.microsoft.com/office/powerpoint/2010/main" val="207736749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35"/>
          <p:cNvSpPr txBox="1">
            <a:spLocks noChangeArrowheads="1"/>
          </p:cNvSpPr>
          <p:nvPr/>
        </p:nvSpPr>
        <p:spPr bwMode="auto">
          <a:xfrm>
            <a:off x="1127125" y="837565"/>
            <a:ext cx="9710420" cy="1440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no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indent="457200" algn="just">
              <a:lnSpc>
                <a:spcPct val="150000"/>
              </a:lnSpc>
              <a:buClrTx/>
              <a:buSzTx/>
              <a:buFontTx/>
            </a:pPr>
            <a:r>
              <a:rPr lang="zh-CN" altLang="en-US" sz="1800" dirty="0">
                <a:solidFill>
                  <a:srgbClr val="595959"/>
                </a:solidFill>
                <a:latin typeface="微软雅黑" panose="020B0503020204020204" pitchFamily="34" charset="-122"/>
                <a:ea typeface="微软雅黑" panose="020B0503020204020204" pitchFamily="34" charset="-122"/>
              </a:rPr>
              <a:t>例如，输入条件规定取值范围为1~100，则可以</a:t>
            </a:r>
            <a:r>
              <a:rPr lang="zh-CN" altLang="en-US" sz="1800" dirty="0">
                <a:solidFill>
                  <a:srgbClr val="0070C0"/>
                </a:solidFill>
                <a:latin typeface="微软雅黑" panose="020B0503020204020204" pitchFamily="34" charset="-122"/>
                <a:ea typeface="微软雅黑" panose="020B0503020204020204" pitchFamily="34" charset="-122"/>
              </a:rPr>
              <a:t>选取1、</a:t>
            </a:r>
            <a:r>
              <a:rPr lang="en-US" altLang="zh-CN" sz="1800" dirty="0">
                <a:solidFill>
                  <a:srgbClr val="0070C0"/>
                </a:solidFill>
                <a:latin typeface="微软雅黑" panose="020B0503020204020204" pitchFamily="34" charset="-122"/>
                <a:ea typeface="微软雅黑" panose="020B0503020204020204" pitchFamily="34" charset="-122"/>
              </a:rPr>
              <a:t>2</a:t>
            </a:r>
            <a:r>
              <a:rPr lang="zh-CN" altLang="en-US" sz="1800" dirty="0">
                <a:solidFill>
                  <a:srgbClr val="0070C0"/>
                </a:solidFill>
                <a:latin typeface="微软雅黑" panose="020B0503020204020204" pitchFamily="34" charset="-122"/>
                <a:ea typeface="微软雅黑" panose="020B0503020204020204" pitchFamily="34" charset="-122"/>
              </a:rPr>
              <a:t>、50、99和100作为测试值</a:t>
            </a:r>
            <a:r>
              <a:rPr lang="zh-CN" altLang="en-US" sz="1800" dirty="0">
                <a:solidFill>
                  <a:srgbClr val="595959"/>
                </a:solidFill>
                <a:latin typeface="微软雅黑" panose="020B0503020204020204" pitchFamily="34" charset="-122"/>
                <a:ea typeface="微软雅黑" panose="020B0503020204020204" pitchFamily="34" charset="-122"/>
              </a:rPr>
              <a:t>。如果</a:t>
            </a:r>
            <a:r>
              <a:rPr lang="zh-CN" altLang="en-US" sz="1800" dirty="0">
                <a:solidFill>
                  <a:srgbClr val="0070C0"/>
                </a:solidFill>
                <a:latin typeface="微软雅黑" panose="020B0503020204020204" pitchFamily="34" charset="-122"/>
                <a:ea typeface="微软雅黑" panose="020B0503020204020204" pitchFamily="34" charset="-122"/>
              </a:rPr>
              <a:t>选取7个测试值</a:t>
            </a:r>
            <a:r>
              <a:rPr lang="zh-CN" altLang="en-US" sz="1800" dirty="0">
                <a:solidFill>
                  <a:srgbClr val="595959"/>
                </a:solidFill>
                <a:latin typeface="微软雅黑" panose="020B0503020204020204" pitchFamily="34" charset="-122"/>
                <a:ea typeface="微软雅黑" panose="020B0503020204020204" pitchFamily="34" charset="-122"/>
              </a:rPr>
              <a:t>，则在取值范围两侧再各选取一个测试值，</a:t>
            </a:r>
            <a:r>
              <a:rPr lang="zh-CN" altLang="en-US" sz="1800" dirty="0">
                <a:solidFill>
                  <a:srgbClr val="0070C0"/>
                </a:solidFill>
                <a:latin typeface="微软雅黑" panose="020B0503020204020204" pitchFamily="34" charset="-122"/>
                <a:ea typeface="微软雅黑" panose="020B0503020204020204" pitchFamily="34" charset="-122"/>
              </a:rPr>
              <a:t>可选取0、1、</a:t>
            </a:r>
            <a:r>
              <a:rPr lang="en-US" altLang="zh-CN" sz="1800" dirty="0">
                <a:solidFill>
                  <a:srgbClr val="0070C0"/>
                </a:solidFill>
                <a:latin typeface="微软雅黑" panose="020B0503020204020204" pitchFamily="34" charset="-122"/>
                <a:ea typeface="微软雅黑" panose="020B0503020204020204" pitchFamily="34" charset="-122"/>
              </a:rPr>
              <a:t>2</a:t>
            </a:r>
            <a:r>
              <a:rPr lang="zh-CN" altLang="en-US" sz="1800" dirty="0">
                <a:solidFill>
                  <a:srgbClr val="0070C0"/>
                </a:solidFill>
                <a:latin typeface="微软雅黑" panose="020B0503020204020204" pitchFamily="34" charset="-122"/>
                <a:ea typeface="微软雅黑" panose="020B0503020204020204" pitchFamily="34" charset="-122"/>
              </a:rPr>
              <a:t>、50、99、100和101作为测试值</a:t>
            </a:r>
            <a:r>
              <a:rPr lang="zh-CN" altLang="en-US" sz="1800" dirty="0">
                <a:solidFill>
                  <a:srgbClr val="595959"/>
                </a:solidFill>
                <a:latin typeface="微软雅黑" panose="020B0503020204020204" pitchFamily="34" charset="-122"/>
                <a:ea typeface="微软雅黑" panose="020B0503020204020204" pitchFamily="34" charset="-122"/>
              </a:rPr>
              <a:t>，1~100边界值选取如下表所示。</a:t>
            </a:r>
          </a:p>
        </p:txBody>
      </p:sp>
      <p:graphicFrame>
        <p:nvGraphicFramePr>
          <p:cNvPr id="2" name="表格 1"/>
          <p:cNvGraphicFramePr/>
          <p:nvPr>
            <p:custDataLst>
              <p:tags r:id="rId1"/>
            </p:custDataLst>
            <p:extLst>
              <p:ext uri="{D42A27DB-BD31-4B8C-83A1-F6EECF244321}">
                <p14:modId xmlns:p14="http://schemas.microsoft.com/office/powerpoint/2010/main" val="3977915106"/>
              </p:ext>
            </p:extLst>
          </p:nvPr>
        </p:nvGraphicFramePr>
        <p:xfrm>
          <a:off x="1991360" y="3140710"/>
          <a:ext cx="8326125" cy="2371090"/>
        </p:xfrm>
        <a:graphic>
          <a:graphicData uri="http://schemas.openxmlformats.org/drawingml/2006/table">
            <a:tbl>
              <a:tblPr firstRow="1" bandRow="1">
                <a:tableStyleId>{5C22544A-7EE6-4342-B048-85BDC9FD1C3A}</a:tableStyleId>
              </a:tblPr>
              <a:tblGrid>
                <a:gridCol w="1925955">
                  <a:extLst>
                    <a:ext uri="{9D8B030D-6E8A-4147-A177-3AD203B41FA5}">
                      <a16:colId xmlns:a16="http://schemas.microsoft.com/office/drawing/2014/main" val="20000"/>
                    </a:ext>
                  </a:extLst>
                </a:gridCol>
                <a:gridCol w="914310">
                  <a:extLst>
                    <a:ext uri="{9D8B030D-6E8A-4147-A177-3AD203B41FA5}">
                      <a16:colId xmlns:a16="http://schemas.microsoft.com/office/drawing/2014/main" val="20001"/>
                    </a:ext>
                  </a:extLst>
                </a:gridCol>
                <a:gridCol w="393791">
                  <a:extLst>
                    <a:ext uri="{9D8B030D-6E8A-4147-A177-3AD203B41FA5}">
                      <a16:colId xmlns:a16="http://schemas.microsoft.com/office/drawing/2014/main" val="20002"/>
                    </a:ext>
                  </a:extLst>
                </a:gridCol>
                <a:gridCol w="520519">
                  <a:extLst>
                    <a:ext uri="{9D8B030D-6E8A-4147-A177-3AD203B41FA5}">
                      <a16:colId xmlns:a16="http://schemas.microsoft.com/office/drawing/2014/main" val="20003"/>
                    </a:ext>
                  </a:extLst>
                </a:gridCol>
                <a:gridCol w="770437">
                  <a:extLst>
                    <a:ext uri="{9D8B030D-6E8A-4147-A177-3AD203B41FA5}">
                      <a16:colId xmlns:a16="http://schemas.microsoft.com/office/drawing/2014/main" val="20004"/>
                    </a:ext>
                  </a:extLst>
                </a:gridCol>
                <a:gridCol w="143873">
                  <a:extLst>
                    <a:ext uri="{9D8B030D-6E8A-4147-A177-3AD203B41FA5}">
                      <a16:colId xmlns:a16="http://schemas.microsoft.com/office/drawing/2014/main" val="20005"/>
                    </a:ext>
                  </a:extLst>
                </a:gridCol>
                <a:gridCol w="914310">
                  <a:extLst>
                    <a:ext uri="{9D8B030D-6E8A-4147-A177-3AD203B41FA5}">
                      <a16:colId xmlns:a16="http://schemas.microsoft.com/office/drawing/2014/main" val="20006"/>
                    </a:ext>
                  </a:extLst>
                </a:gridCol>
                <a:gridCol w="259443">
                  <a:extLst>
                    <a:ext uri="{9D8B030D-6E8A-4147-A177-3AD203B41FA5}">
                      <a16:colId xmlns:a16="http://schemas.microsoft.com/office/drawing/2014/main" val="20007"/>
                    </a:ext>
                  </a:extLst>
                </a:gridCol>
                <a:gridCol w="654867">
                  <a:extLst>
                    <a:ext uri="{9D8B030D-6E8A-4147-A177-3AD203B41FA5}">
                      <a16:colId xmlns:a16="http://schemas.microsoft.com/office/drawing/2014/main" val="20008"/>
                    </a:ext>
                  </a:extLst>
                </a:gridCol>
                <a:gridCol w="587194">
                  <a:extLst>
                    <a:ext uri="{9D8B030D-6E8A-4147-A177-3AD203B41FA5}">
                      <a16:colId xmlns:a16="http://schemas.microsoft.com/office/drawing/2014/main" val="20009"/>
                    </a:ext>
                  </a:extLst>
                </a:gridCol>
                <a:gridCol w="327116">
                  <a:extLst>
                    <a:ext uri="{9D8B030D-6E8A-4147-A177-3AD203B41FA5}">
                      <a16:colId xmlns:a16="http://schemas.microsoft.com/office/drawing/2014/main" val="20010"/>
                    </a:ext>
                  </a:extLst>
                </a:gridCol>
                <a:gridCol w="914310">
                  <a:extLst>
                    <a:ext uri="{9D8B030D-6E8A-4147-A177-3AD203B41FA5}">
                      <a16:colId xmlns:a16="http://schemas.microsoft.com/office/drawing/2014/main" val="20011"/>
                    </a:ext>
                  </a:extLst>
                </a:gridCol>
              </a:tblGrid>
              <a:tr h="821690">
                <a:tc>
                  <a:txBody>
                    <a:bodyPr/>
                    <a:lstStyle/>
                    <a:p>
                      <a:pPr algn="ctr">
                        <a:lnSpc>
                          <a:spcPct val="90000"/>
                        </a:lnSpc>
                        <a:buNone/>
                      </a:pPr>
                      <a:r>
                        <a:rPr lang="zh-CN" altLang="en-US" sz="1800" b="1">
                          <a:latin typeface="微软雅黑" panose="020B0503020204020204" pitchFamily="34" charset="-122"/>
                          <a:ea typeface="微软雅黑" panose="020B0503020204020204" pitchFamily="34" charset="-122"/>
                        </a:rPr>
                        <a:t>选取方案</a:t>
                      </a:r>
                    </a:p>
                  </a:txBody>
                  <a:tcPr anchor="ctr"/>
                </a:tc>
                <a:tc gridSpan="11">
                  <a:txBody>
                    <a:bodyPr/>
                    <a:lstStyle/>
                    <a:p>
                      <a:pPr algn="ctr">
                        <a:lnSpc>
                          <a:spcPct val="90000"/>
                        </a:lnSpc>
                        <a:buNone/>
                      </a:pPr>
                      <a:r>
                        <a:rPr lang="zh-CN" altLang="en-US" sz="1800">
                          <a:latin typeface="微软雅黑" panose="020B0503020204020204" pitchFamily="34" charset="-122"/>
                          <a:ea typeface="微软雅黑" panose="020B0503020204020204" pitchFamily="34" charset="-122"/>
                        </a:rPr>
                        <a:t>选取数据</a:t>
                      </a:r>
                    </a:p>
                  </a:txBody>
                  <a:tcPr anchor="ctr"/>
                </a:tc>
                <a:tc hMerge="1">
                  <a:txBody>
                    <a:bodyPr/>
                    <a:lstStyle/>
                    <a:p>
                      <a:endParaRPr lang="zh-CN"/>
                    </a:p>
                  </a:txBody>
                  <a:tcPr anchor="ctr"/>
                </a:tc>
                <a:tc hMerge="1">
                  <a:txBody>
                    <a:bodyPr/>
                    <a:lstStyle/>
                    <a:p>
                      <a:endParaRPr lang="zh-CN"/>
                    </a:p>
                  </a:txBody>
                  <a:tcPr anchor="ctr"/>
                </a:tc>
                <a:tc hMerge="1">
                  <a:txBody>
                    <a:bodyPr/>
                    <a:lstStyle/>
                    <a:p>
                      <a:endParaRPr lang="zh-CN"/>
                    </a:p>
                  </a:txBody>
                  <a:tcPr anchor="ctr"/>
                </a:tc>
                <a:tc hMerge="1">
                  <a:txBody>
                    <a:bodyPr/>
                    <a:lstStyle/>
                    <a:p>
                      <a:endParaRPr lang="zh-CN"/>
                    </a:p>
                  </a:txBody>
                  <a:tcPr anchor="ctr"/>
                </a:tc>
                <a:tc hMerge="1">
                  <a:txBody>
                    <a:bodyPr/>
                    <a:lstStyle/>
                    <a:p>
                      <a:endParaRPr lang="zh-CN"/>
                    </a:p>
                  </a:txBody>
                  <a:tcPr anchor="ctr"/>
                </a:tc>
                <a:tc hMerge="1">
                  <a:txBody>
                    <a:bodyPr/>
                    <a:lstStyle/>
                    <a:p>
                      <a:endParaRPr lang="zh-CN"/>
                    </a:p>
                  </a:txBody>
                  <a:tcPr anchor="ctr"/>
                </a:tc>
                <a:tc hMerge="1">
                  <a:txBody>
                    <a:bodyPr/>
                    <a:lstStyle/>
                    <a:p>
                      <a:endParaRPr lang="zh-CN"/>
                    </a:p>
                  </a:txBody>
                  <a:tcPr anchor="ctr"/>
                </a:tc>
                <a:tc hMerge="1">
                  <a:txBody>
                    <a:bodyPr/>
                    <a:lstStyle/>
                    <a:p>
                      <a:endParaRPr lang="zh-CN"/>
                    </a:p>
                  </a:txBody>
                  <a:tcPr anchor="ctr"/>
                </a:tc>
                <a:tc hMerge="1">
                  <a:txBody>
                    <a:bodyPr/>
                    <a:lstStyle/>
                    <a:p>
                      <a:endParaRPr lang="zh-CN"/>
                    </a:p>
                  </a:txBody>
                  <a:tcPr anchor="ctr"/>
                </a:tc>
                <a:tc hMerge="1">
                  <a:txBody>
                    <a:bodyPr/>
                    <a:lstStyle/>
                    <a:p>
                      <a:endParaRPr lang="zh-CN"/>
                    </a:p>
                  </a:txBody>
                  <a:tcPr anchor="ctr"/>
                </a:tc>
                <a:extLst>
                  <a:ext uri="{0D108BD9-81ED-4DB2-BD59-A6C34878D82A}">
                    <a16:rowId xmlns:a16="http://schemas.microsoft.com/office/drawing/2014/main" val="10000"/>
                  </a:ext>
                </a:extLst>
              </a:tr>
              <a:tr h="801370">
                <a:tc>
                  <a:txBody>
                    <a:bodyPr/>
                    <a:lstStyle/>
                    <a:p>
                      <a:pPr algn="ctr">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选取5个值</a:t>
                      </a:r>
                    </a:p>
                  </a:txBody>
                  <a:tcPr anchor="ctr"/>
                </a:tc>
                <a:tc gridSpan="2">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1</a:t>
                      </a:r>
                    </a:p>
                  </a:txBody>
                  <a:tcPr anchor="ctr"/>
                </a:tc>
                <a:tc hMerge="1">
                  <a:txBody>
                    <a:bodyPr/>
                    <a:lstStyle/>
                    <a:p>
                      <a:endParaRPr lang="zh-CN"/>
                    </a:p>
                  </a:txBody>
                  <a:tcPr anchor="ctr"/>
                </a:tc>
                <a:tc gridSpan="2">
                  <a:txBody>
                    <a:bodyPr/>
                    <a:lstStyle/>
                    <a:p>
                      <a:pPr algn="ctr">
                        <a:buNone/>
                      </a:pPr>
                      <a:r>
                        <a:rPr lang="en-US" altLang="zh-CN" sz="1800" kern="1200" dirty="0">
                          <a:solidFill>
                            <a:srgbClr val="595959"/>
                          </a:solidFill>
                          <a:latin typeface="微软雅黑" panose="020B0503020204020204" pitchFamily="34" charset="-122"/>
                          <a:ea typeface="微软雅黑" panose="020B0503020204020204" pitchFamily="34" charset="-122"/>
                          <a:cs typeface="+mn-cs"/>
                        </a:rPr>
                        <a:t>2</a:t>
                      </a:r>
                    </a:p>
                  </a:txBody>
                  <a:tcPr anchor="ctr"/>
                </a:tc>
                <a:tc hMerge="1">
                  <a:txBody>
                    <a:bodyPr/>
                    <a:lstStyle/>
                    <a:p>
                      <a:endParaRPr lang="zh-CN"/>
                    </a:p>
                  </a:txBody>
                  <a:tcPr anchor="ctr"/>
                </a:tc>
                <a:tc gridSpan="3">
                  <a:txBody>
                    <a:bodyPr/>
                    <a:lstStyle/>
                    <a:p>
                      <a:pPr algn="ctr">
                        <a:buNone/>
                      </a:pPr>
                      <a:r>
                        <a:rPr lang="en-US" altLang="zh-CN" sz="1800" kern="1200" dirty="0">
                          <a:solidFill>
                            <a:srgbClr val="595959"/>
                          </a:solidFill>
                          <a:latin typeface="微软雅黑" panose="020B0503020204020204" pitchFamily="34" charset="-122"/>
                          <a:ea typeface="微软雅黑" panose="020B0503020204020204" pitchFamily="34" charset="-122"/>
                          <a:cs typeface="+mn-cs"/>
                        </a:rPr>
                        <a:t>50</a:t>
                      </a:r>
                    </a:p>
                  </a:txBody>
                  <a:tcPr anchor="ctr"/>
                </a:tc>
                <a:tc hMerge="1">
                  <a:txBody>
                    <a:bodyPr/>
                    <a:lstStyle/>
                    <a:p>
                      <a:endParaRPr lang="zh-CN"/>
                    </a:p>
                  </a:txBody>
                  <a:tcPr anchor="ctr"/>
                </a:tc>
                <a:tc hMerge="1">
                  <a:txBody>
                    <a:bodyPr/>
                    <a:lstStyle/>
                    <a:p>
                      <a:endParaRPr lang="zh-CN"/>
                    </a:p>
                  </a:txBody>
                  <a:tcPr anchor="ctr"/>
                </a:tc>
                <a:tc gridSpan="2">
                  <a:txBody>
                    <a:bodyPr/>
                    <a:lstStyle/>
                    <a:p>
                      <a:pPr algn="ctr">
                        <a:buNone/>
                      </a:pPr>
                      <a:r>
                        <a:rPr lang="en-US" altLang="zh-CN" sz="1800" kern="1200" dirty="0">
                          <a:solidFill>
                            <a:srgbClr val="595959"/>
                          </a:solidFill>
                          <a:latin typeface="微软雅黑" panose="020B0503020204020204" pitchFamily="34" charset="-122"/>
                          <a:ea typeface="微软雅黑" panose="020B0503020204020204" pitchFamily="34" charset="-122"/>
                          <a:cs typeface="+mn-cs"/>
                        </a:rPr>
                        <a:t>99</a:t>
                      </a:r>
                    </a:p>
                  </a:txBody>
                  <a:tcPr anchor="ctr"/>
                </a:tc>
                <a:tc hMerge="1">
                  <a:txBody>
                    <a:bodyPr/>
                    <a:lstStyle/>
                    <a:p>
                      <a:endParaRPr lang="zh-CN"/>
                    </a:p>
                  </a:txBody>
                  <a:tcPr anchor="ctr"/>
                </a:tc>
                <a:tc gridSpan="2">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100</a:t>
                      </a:r>
                    </a:p>
                  </a:txBody>
                  <a:tcPr anchor="ctr"/>
                </a:tc>
                <a:tc hMerge="1">
                  <a:txBody>
                    <a:bodyPr/>
                    <a:lstStyle/>
                    <a:p>
                      <a:endParaRPr lang="zh-CN"/>
                    </a:p>
                  </a:txBody>
                  <a:tcPr anchor="ctr"/>
                </a:tc>
                <a:extLst>
                  <a:ext uri="{0D108BD9-81ED-4DB2-BD59-A6C34878D82A}">
                    <a16:rowId xmlns:a16="http://schemas.microsoft.com/office/drawing/2014/main" val="10001"/>
                  </a:ext>
                </a:extLst>
              </a:tr>
              <a:tr h="748030">
                <a:tc>
                  <a:txBody>
                    <a:bodyPr/>
                    <a:lstStyle/>
                    <a:p>
                      <a:pPr algn="ctr">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选取7个值</a:t>
                      </a:r>
                    </a:p>
                  </a:txBody>
                  <a:tcPr anchor="ctr"/>
                </a:tc>
                <a:tc>
                  <a:txBody>
                    <a:bodyPr/>
                    <a:lstStyle/>
                    <a:p>
                      <a:pPr algn="ctr">
                        <a:buNone/>
                      </a:pPr>
                      <a:r>
                        <a:rPr lang="en-US" altLang="zh-CN" sz="1800" kern="1200" dirty="0">
                          <a:solidFill>
                            <a:srgbClr val="595959"/>
                          </a:solidFill>
                          <a:latin typeface="微软雅黑" panose="020B0503020204020204" pitchFamily="34" charset="-122"/>
                          <a:ea typeface="微软雅黑" panose="020B0503020204020204" pitchFamily="34" charset="-122"/>
                          <a:cs typeface="+mn-cs"/>
                        </a:rPr>
                        <a:t>0</a:t>
                      </a:r>
                    </a:p>
                  </a:txBody>
                  <a:tcPr anchor="ctr"/>
                </a:tc>
                <a:tc gridSpan="2">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1</a:t>
                      </a:r>
                    </a:p>
                  </a:txBody>
                  <a:tcPr anchor="ctr"/>
                </a:tc>
                <a:tc hMerge="1">
                  <a:txBody>
                    <a:bodyPr/>
                    <a:lstStyle/>
                    <a:p>
                      <a:endParaRPr lang="zh-CN"/>
                    </a:p>
                  </a:txBody>
                  <a:tcPr anchor="ctr"/>
                </a:tc>
                <a:tc gridSpan="2">
                  <a:txBody>
                    <a:bodyPr/>
                    <a:lstStyle/>
                    <a:p>
                      <a:pPr algn="ctr">
                        <a:buNone/>
                      </a:pPr>
                      <a:r>
                        <a:rPr lang="en-US" altLang="zh-CN" sz="1800" kern="1200" dirty="0">
                          <a:solidFill>
                            <a:srgbClr val="595959"/>
                          </a:solidFill>
                          <a:latin typeface="微软雅黑" panose="020B0503020204020204" pitchFamily="34" charset="-122"/>
                          <a:ea typeface="微软雅黑" panose="020B0503020204020204" pitchFamily="34" charset="-122"/>
                          <a:cs typeface="+mn-cs"/>
                        </a:rPr>
                        <a:t>2</a:t>
                      </a:r>
                    </a:p>
                  </a:txBody>
                  <a:tcPr anchor="ctr"/>
                </a:tc>
                <a:tc hMerge="1">
                  <a:txBody>
                    <a:bodyPr/>
                    <a:lstStyle/>
                    <a:p>
                      <a:endParaRPr lang="zh-CN"/>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50</a:t>
                      </a:r>
                    </a:p>
                  </a:txBody>
                  <a:tcPr anchor="ctr"/>
                </a:tc>
                <a:tc gridSpan="2">
                  <a:txBody>
                    <a:bodyPr/>
                    <a:lstStyle/>
                    <a:p>
                      <a:pPr algn="ctr">
                        <a:buNone/>
                      </a:pPr>
                      <a:r>
                        <a:rPr lang="en-US" altLang="zh-CN" sz="1800" kern="1200" dirty="0">
                          <a:solidFill>
                            <a:srgbClr val="595959"/>
                          </a:solidFill>
                          <a:latin typeface="微软雅黑" panose="020B0503020204020204" pitchFamily="34" charset="-122"/>
                          <a:ea typeface="微软雅黑" panose="020B0503020204020204" pitchFamily="34" charset="-122"/>
                          <a:cs typeface="+mn-cs"/>
                        </a:rPr>
                        <a:t>99</a:t>
                      </a:r>
                    </a:p>
                  </a:txBody>
                  <a:tcPr anchor="ctr"/>
                </a:tc>
                <a:tc hMerge="1">
                  <a:txBody>
                    <a:bodyPr/>
                    <a:lstStyle/>
                    <a:p>
                      <a:endParaRPr lang="zh-CN"/>
                    </a:p>
                  </a:txBody>
                  <a:tcPr anchor="ctr"/>
                </a:tc>
                <a:tc gridSpan="2">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100</a:t>
                      </a:r>
                    </a:p>
                  </a:txBody>
                  <a:tcPr anchor="ctr"/>
                </a:tc>
                <a:tc hMerge="1">
                  <a:txBody>
                    <a:bodyPr/>
                    <a:lstStyle/>
                    <a:p>
                      <a:endParaRPr lang="zh-CN"/>
                    </a:p>
                  </a:txBody>
                  <a:tcPr anchor="ctr"/>
                </a:tc>
                <a:tc>
                  <a:txBody>
                    <a:bodyPr/>
                    <a:lstStyle/>
                    <a:p>
                      <a:pPr algn="ctr">
                        <a:buNone/>
                      </a:pPr>
                      <a:r>
                        <a:rPr lang="en-US" altLang="zh-CN" sz="1800" kern="1200" dirty="0">
                          <a:solidFill>
                            <a:srgbClr val="595959"/>
                          </a:solidFill>
                          <a:latin typeface="微软雅黑" panose="020B0503020204020204" pitchFamily="34" charset="-122"/>
                          <a:ea typeface="微软雅黑" panose="020B0503020204020204" pitchFamily="34" charset="-122"/>
                          <a:cs typeface="+mn-cs"/>
                        </a:rPr>
                        <a:t>101</a:t>
                      </a:r>
                    </a:p>
                  </a:txBody>
                  <a:tcPr anchor="ctr"/>
                </a:tc>
                <a:extLst>
                  <a:ext uri="{0D108BD9-81ED-4DB2-BD59-A6C34878D82A}">
                    <a16:rowId xmlns:a16="http://schemas.microsoft.com/office/drawing/2014/main" val="10002"/>
                  </a:ext>
                </a:extLst>
              </a:tr>
            </a:tbl>
          </a:graphicData>
        </a:graphic>
      </p:graphicFrame>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.1	边界值分析法概述</a:t>
            </a: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EFD435-B0E5-2CA9-2F41-C86D6D676BAF}"/>
            </a:ext>
          </a:extLst>
        </p:cNvPr>
        <p:cNvGrpSpPr/>
        <p:nvPr/>
      </p:nvGrpSpPr>
      <p:grpSpPr>
        <a:xfrm>
          <a:off x="0" y="0"/>
          <a:ext cx="0" cy="0"/>
          <a:chOff x="0" y="0"/>
          <a:chExt cx="0" cy="0"/>
        </a:xfrm>
      </p:grpSpPr>
      <p:sp>
        <p:nvSpPr>
          <p:cNvPr id="47" name="TextBox 35">
            <a:extLst>
              <a:ext uri="{FF2B5EF4-FFF2-40B4-BE49-F238E27FC236}">
                <a16:creationId xmlns:a16="http://schemas.microsoft.com/office/drawing/2014/main" id="{E6A51648-5612-9CFC-B65A-AA78340223E9}"/>
              </a:ext>
            </a:extLst>
          </p:cNvPr>
          <p:cNvSpPr txBox="1">
            <a:spLocks noChangeArrowheads="1"/>
          </p:cNvSpPr>
          <p:nvPr/>
        </p:nvSpPr>
        <p:spPr bwMode="auto">
          <a:xfrm>
            <a:off x="912364" y="1413794"/>
            <a:ext cx="10365684" cy="4229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indent="457200">
              <a:lnSpc>
                <a:spcPct val="150000"/>
              </a:lnSpc>
            </a:pPr>
            <a:r>
              <a:rPr lang="zh-CN" altLang="en-US" sz="1800" dirty="0">
                <a:solidFill>
                  <a:srgbClr val="595959"/>
                </a:solidFill>
                <a:latin typeface="微软雅黑" panose="020B0503020204020204" pitchFamily="34" charset="-122"/>
                <a:ea typeface="微软雅黑" panose="020B0503020204020204" pitchFamily="34" charset="-122"/>
              </a:rPr>
              <a:t>（</a:t>
            </a:r>
            <a:r>
              <a:rPr lang="en-US" altLang="zh-CN" sz="1800" dirty="0">
                <a:solidFill>
                  <a:srgbClr val="595959"/>
                </a:solidFill>
                <a:latin typeface="微软雅黑" panose="020B0503020204020204" pitchFamily="34" charset="-122"/>
                <a:ea typeface="微软雅黑" panose="020B0503020204020204" pitchFamily="34" charset="-122"/>
              </a:rPr>
              <a:t>1</a:t>
            </a:r>
            <a:r>
              <a:rPr lang="zh-CN" altLang="en-US" sz="1800" dirty="0">
                <a:solidFill>
                  <a:srgbClr val="595959"/>
                </a:solidFill>
                <a:latin typeface="微软雅黑" panose="020B0503020204020204" pitchFamily="34" charset="-122"/>
                <a:ea typeface="微软雅黑" panose="020B0503020204020204" pitchFamily="34" charset="-122"/>
              </a:rPr>
              <a:t>）如果输入条件规定了</a:t>
            </a:r>
            <a:r>
              <a:rPr lang="zh-CN" altLang="en-US" sz="1800" dirty="0">
                <a:solidFill>
                  <a:srgbClr val="0075CC"/>
                </a:solidFill>
                <a:latin typeface="微软雅黑" panose="020B0503020204020204" pitchFamily="34" charset="-122"/>
                <a:ea typeface="微软雅黑" panose="020B0503020204020204" pitchFamily="34" charset="-122"/>
              </a:rPr>
              <a:t>值的范围</a:t>
            </a:r>
            <a:r>
              <a:rPr lang="zh-CN" altLang="en-US" sz="1800" dirty="0">
                <a:solidFill>
                  <a:srgbClr val="595959"/>
                </a:solidFill>
                <a:latin typeface="微软雅黑" panose="020B0503020204020204" pitchFamily="34" charset="-122"/>
                <a:ea typeface="微软雅黑" panose="020B0503020204020204" pitchFamily="34" charset="-122"/>
              </a:rPr>
              <a:t>，则应选取</a:t>
            </a:r>
            <a:r>
              <a:rPr lang="zh-CN" altLang="en-US" sz="1800" dirty="0">
                <a:solidFill>
                  <a:srgbClr val="0075CC"/>
                </a:solidFill>
                <a:latin typeface="微软雅黑" panose="020B0503020204020204" pitchFamily="34" charset="-122"/>
                <a:ea typeface="微软雅黑" panose="020B0503020204020204" pitchFamily="34" charset="-122"/>
              </a:rPr>
              <a:t>刚达到范围边界的值</a:t>
            </a:r>
            <a:r>
              <a:rPr lang="zh-CN" altLang="en-US" sz="1800" dirty="0">
                <a:solidFill>
                  <a:srgbClr val="595959"/>
                </a:solidFill>
                <a:latin typeface="微软雅黑" panose="020B0503020204020204" pitchFamily="34" charset="-122"/>
                <a:ea typeface="微软雅黑" panose="020B0503020204020204" pitchFamily="34" charset="-122"/>
              </a:rPr>
              <a:t>，以及</a:t>
            </a:r>
            <a:r>
              <a:rPr lang="zh-CN" altLang="en-US" sz="1800" dirty="0">
                <a:solidFill>
                  <a:srgbClr val="0075CC"/>
                </a:solidFill>
                <a:latin typeface="微软雅黑" panose="020B0503020204020204" pitchFamily="34" charset="-122"/>
                <a:ea typeface="微软雅黑" panose="020B0503020204020204" pitchFamily="34" charset="-122"/>
              </a:rPr>
              <a:t>刚刚超越边界的值</a:t>
            </a:r>
            <a:r>
              <a:rPr lang="zh-CN" altLang="en-US" sz="1800" dirty="0">
                <a:solidFill>
                  <a:srgbClr val="595959"/>
                </a:solidFill>
                <a:latin typeface="微软雅黑" panose="020B0503020204020204" pitchFamily="34" charset="-122"/>
                <a:ea typeface="微软雅黑" panose="020B0503020204020204" pitchFamily="34" charset="-122"/>
              </a:rPr>
              <a:t>作为测试输入数据。</a:t>
            </a:r>
          </a:p>
          <a:p>
            <a:pPr indent="457200">
              <a:lnSpc>
                <a:spcPct val="150000"/>
              </a:lnSpc>
            </a:pPr>
            <a:r>
              <a:rPr lang="zh-CN" altLang="en-US" sz="1800" dirty="0">
                <a:solidFill>
                  <a:srgbClr val="595959"/>
                </a:solidFill>
                <a:latin typeface="微软雅黑" panose="020B0503020204020204" pitchFamily="34" charset="-122"/>
                <a:ea typeface="微软雅黑" panose="020B0503020204020204" pitchFamily="34" charset="-122"/>
              </a:rPr>
              <a:t>（</a:t>
            </a:r>
            <a:r>
              <a:rPr lang="en-US" altLang="zh-CN" sz="1800" dirty="0">
                <a:solidFill>
                  <a:srgbClr val="595959"/>
                </a:solidFill>
                <a:latin typeface="微软雅黑" panose="020B0503020204020204" pitchFamily="34" charset="-122"/>
                <a:ea typeface="微软雅黑" panose="020B0503020204020204" pitchFamily="34" charset="-122"/>
              </a:rPr>
              <a:t>2</a:t>
            </a:r>
            <a:r>
              <a:rPr lang="zh-CN" altLang="en-US" sz="1800" dirty="0">
                <a:solidFill>
                  <a:srgbClr val="595959"/>
                </a:solidFill>
                <a:latin typeface="微软雅黑" panose="020B0503020204020204" pitchFamily="34" charset="-122"/>
                <a:ea typeface="微软雅黑" panose="020B0503020204020204" pitchFamily="34" charset="-122"/>
              </a:rPr>
              <a:t>）如果输入条件规定了</a:t>
            </a:r>
            <a:r>
              <a:rPr lang="zh-CN" altLang="en-US" sz="1800" dirty="0">
                <a:solidFill>
                  <a:srgbClr val="0075CC"/>
                </a:solidFill>
                <a:latin typeface="微软雅黑" panose="020B0503020204020204" pitchFamily="34" charset="-122"/>
                <a:ea typeface="微软雅黑" panose="020B0503020204020204" pitchFamily="34" charset="-122"/>
              </a:rPr>
              <a:t>值的个数</a:t>
            </a:r>
            <a:r>
              <a:rPr lang="zh-CN" altLang="en-US" sz="1800" dirty="0">
                <a:solidFill>
                  <a:srgbClr val="595959"/>
                </a:solidFill>
                <a:latin typeface="微软雅黑" panose="020B0503020204020204" pitchFamily="34" charset="-122"/>
                <a:ea typeface="微软雅黑" panose="020B0503020204020204" pitchFamily="34" charset="-122"/>
              </a:rPr>
              <a:t>，则用</a:t>
            </a:r>
            <a:r>
              <a:rPr lang="zh-CN" altLang="en-US" sz="1800" dirty="0">
                <a:solidFill>
                  <a:srgbClr val="0075CC"/>
                </a:solidFill>
                <a:latin typeface="微软雅黑" panose="020B0503020204020204" pitchFamily="34" charset="-122"/>
                <a:ea typeface="微软雅黑" panose="020B0503020204020204" pitchFamily="34" charset="-122"/>
              </a:rPr>
              <a:t>略低于最小值</a:t>
            </a:r>
            <a:r>
              <a:rPr lang="en-US" altLang="zh-CN" sz="1800" dirty="0">
                <a:solidFill>
                  <a:srgbClr val="0075CC"/>
                </a:solidFill>
                <a:latin typeface="微软雅黑" panose="020B0503020204020204" pitchFamily="34" charset="-122"/>
                <a:ea typeface="微软雅黑" panose="020B0503020204020204" pitchFamily="34" charset="-122"/>
              </a:rPr>
              <a:t>(Min-)</a:t>
            </a:r>
            <a:r>
              <a:rPr lang="zh-CN" altLang="en-US" sz="1800" dirty="0">
                <a:solidFill>
                  <a:srgbClr val="0075CC"/>
                </a:solidFill>
                <a:latin typeface="微软雅黑" panose="020B0503020204020204" pitchFamily="34" charset="-122"/>
                <a:ea typeface="微软雅黑" panose="020B0503020204020204" pitchFamily="34" charset="-122"/>
              </a:rPr>
              <a:t>、最小值</a:t>
            </a:r>
            <a:r>
              <a:rPr lang="en-US" altLang="zh-CN" sz="1800" dirty="0">
                <a:solidFill>
                  <a:srgbClr val="0075CC"/>
                </a:solidFill>
                <a:latin typeface="微软雅黑" panose="020B0503020204020204" pitchFamily="34" charset="-122"/>
                <a:ea typeface="微软雅黑" panose="020B0503020204020204" pitchFamily="34" charset="-122"/>
              </a:rPr>
              <a:t>(Min)</a:t>
            </a:r>
            <a:r>
              <a:rPr lang="zh-CN" altLang="en-US" sz="1800" dirty="0">
                <a:solidFill>
                  <a:srgbClr val="0075CC"/>
                </a:solidFill>
                <a:latin typeface="微软雅黑" panose="020B0503020204020204" pitchFamily="34" charset="-122"/>
                <a:ea typeface="微软雅黑" panose="020B0503020204020204" pitchFamily="34" charset="-122"/>
              </a:rPr>
              <a:t>、略高于最小值</a:t>
            </a:r>
            <a:r>
              <a:rPr lang="en-US" altLang="zh-CN" sz="1800" dirty="0">
                <a:solidFill>
                  <a:srgbClr val="0075CC"/>
                </a:solidFill>
                <a:latin typeface="微软雅黑" panose="020B0503020204020204" pitchFamily="34" charset="-122"/>
                <a:ea typeface="微软雅黑" panose="020B0503020204020204" pitchFamily="34" charset="-122"/>
              </a:rPr>
              <a:t>(Min+)</a:t>
            </a:r>
            <a:r>
              <a:rPr lang="zh-CN" altLang="en-US" sz="1800" dirty="0">
                <a:solidFill>
                  <a:srgbClr val="0075CC"/>
                </a:solidFill>
                <a:latin typeface="微软雅黑" panose="020B0503020204020204" pitchFamily="34" charset="-122"/>
                <a:ea typeface="微软雅黑" panose="020B0503020204020204" pitchFamily="34" charset="-122"/>
              </a:rPr>
              <a:t>、正常值</a:t>
            </a:r>
            <a:r>
              <a:rPr lang="en-US" altLang="zh-CN" sz="1800" dirty="0">
                <a:solidFill>
                  <a:srgbClr val="0075CC"/>
                </a:solidFill>
                <a:latin typeface="微软雅黑" panose="020B0503020204020204" pitchFamily="34" charset="-122"/>
                <a:ea typeface="微软雅黑" panose="020B0503020204020204" pitchFamily="34" charset="-122"/>
              </a:rPr>
              <a:t>(Normal)</a:t>
            </a:r>
            <a:r>
              <a:rPr lang="zh-CN" altLang="en-US" sz="1800" dirty="0">
                <a:solidFill>
                  <a:srgbClr val="0075CC"/>
                </a:solidFill>
                <a:latin typeface="微软雅黑" panose="020B0503020204020204" pitchFamily="34" charset="-122"/>
                <a:ea typeface="微软雅黑" panose="020B0503020204020204" pitchFamily="34" charset="-122"/>
              </a:rPr>
              <a:t>、略低于最大值</a:t>
            </a:r>
            <a:r>
              <a:rPr lang="en-US" altLang="zh-CN" sz="1800" dirty="0">
                <a:solidFill>
                  <a:srgbClr val="0075CC"/>
                </a:solidFill>
                <a:latin typeface="微软雅黑" panose="020B0503020204020204" pitchFamily="34" charset="-122"/>
                <a:ea typeface="微软雅黑" panose="020B0503020204020204" pitchFamily="34" charset="-122"/>
              </a:rPr>
              <a:t>(Max-)</a:t>
            </a:r>
            <a:r>
              <a:rPr lang="zh-CN" altLang="en-US" sz="1800" dirty="0">
                <a:solidFill>
                  <a:srgbClr val="0075CC"/>
                </a:solidFill>
                <a:latin typeface="微软雅黑" panose="020B0503020204020204" pitchFamily="34" charset="-122"/>
                <a:ea typeface="微软雅黑" panose="020B0503020204020204" pitchFamily="34" charset="-122"/>
              </a:rPr>
              <a:t>、最大值</a:t>
            </a:r>
            <a:r>
              <a:rPr lang="en-US" altLang="zh-CN" sz="1800" dirty="0">
                <a:solidFill>
                  <a:srgbClr val="0075CC"/>
                </a:solidFill>
                <a:latin typeface="微软雅黑" panose="020B0503020204020204" pitchFamily="34" charset="-122"/>
                <a:ea typeface="微软雅黑" panose="020B0503020204020204" pitchFamily="34" charset="-122"/>
              </a:rPr>
              <a:t>(Max)</a:t>
            </a:r>
            <a:r>
              <a:rPr lang="zh-CN" altLang="en-US" sz="1800" dirty="0">
                <a:solidFill>
                  <a:srgbClr val="0075CC"/>
                </a:solidFill>
                <a:latin typeface="微软雅黑" panose="020B0503020204020204" pitchFamily="34" charset="-122"/>
                <a:ea typeface="微软雅黑" panose="020B0503020204020204" pitchFamily="34" charset="-122"/>
              </a:rPr>
              <a:t>、略高于最大值</a:t>
            </a:r>
            <a:r>
              <a:rPr lang="en-US" altLang="zh-CN" sz="1800" dirty="0">
                <a:solidFill>
                  <a:srgbClr val="0075CC"/>
                </a:solidFill>
                <a:latin typeface="微软雅黑" panose="020B0503020204020204" pitchFamily="34" charset="-122"/>
                <a:ea typeface="微软雅黑" panose="020B0503020204020204" pitchFamily="34" charset="-122"/>
              </a:rPr>
              <a:t>(Max+)</a:t>
            </a:r>
            <a:r>
              <a:rPr lang="zh-CN" altLang="en-US" sz="1800" dirty="0">
                <a:solidFill>
                  <a:srgbClr val="595959"/>
                </a:solidFill>
                <a:latin typeface="微软雅黑" panose="020B0503020204020204" pitchFamily="34" charset="-122"/>
                <a:ea typeface="微软雅黑" panose="020B0503020204020204" pitchFamily="34" charset="-122"/>
              </a:rPr>
              <a:t>作为测试数据。</a:t>
            </a:r>
            <a:endParaRPr lang="en-US" altLang="zh-CN" sz="1800" dirty="0">
              <a:solidFill>
                <a:srgbClr val="595959"/>
              </a:solidFill>
              <a:latin typeface="微软雅黑" panose="020B0503020204020204" pitchFamily="34" charset="-122"/>
              <a:ea typeface="微软雅黑" panose="020B0503020204020204" pitchFamily="34" charset="-122"/>
            </a:endParaRPr>
          </a:p>
          <a:p>
            <a:pPr indent="457200">
              <a:lnSpc>
                <a:spcPct val="150000"/>
              </a:lnSpc>
            </a:pPr>
            <a:r>
              <a:rPr lang="zh-CN" altLang="en-US" sz="1800" dirty="0">
                <a:solidFill>
                  <a:srgbClr val="595959"/>
                </a:solidFill>
                <a:latin typeface="微软雅黑" panose="020B0503020204020204" pitchFamily="34" charset="-122"/>
                <a:ea typeface="微软雅黑" panose="020B0503020204020204" pitchFamily="34" charset="-122"/>
              </a:rPr>
              <a:t>（</a:t>
            </a:r>
            <a:r>
              <a:rPr lang="en-US" altLang="zh-CN" sz="1800" dirty="0">
                <a:solidFill>
                  <a:srgbClr val="595959"/>
                </a:solidFill>
                <a:latin typeface="微软雅黑" panose="020B0503020204020204" pitchFamily="34" charset="-122"/>
                <a:ea typeface="微软雅黑" panose="020B0503020204020204" pitchFamily="34" charset="-122"/>
              </a:rPr>
              <a:t>3</a:t>
            </a:r>
            <a:r>
              <a:rPr lang="zh-CN" altLang="en-US" sz="1800" dirty="0">
                <a:solidFill>
                  <a:srgbClr val="595959"/>
                </a:solidFill>
                <a:latin typeface="微软雅黑" panose="020B0503020204020204" pitchFamily="34" charset="-122"/>
                <a:ea typeface="微软雅黑" panose="020B0503020204020204" pitchFamily="34" charset="-122"/>
              </a:rPr>
              <a:t>）将原则</a:t>
            </a:r>
            <a:r>
              <a:rPr lang="en-US" altLang="zh-CN" sz="1800" dirty="0">
                <a:solidFill>
                  <a:srgbClr val="595959"/>
                </a:solidFill>
                <a:latin typeface="微软雅黑" panose="020B0503020204020204" pitchFamily="34" charset="-122"/>
                <a:ea typeface="微软雅黑" panose="020B0503020204020204" pitchFamily="34" charset="-122"/>
              </a:rPr>
              <a:t>(1)</a:t>
            </a:r>
            <a:r>
              <a:rPr lang="zh-CN" altLang="en-US" sz="1800" dirty="0">
                <a:solidFill>
                  <a:srgbClr val="595959"/>
                </a:solidFill>
                <a:latin typeface="微软雅黑" panose="020B0503020204020204" pitchFamily="34" charset="-122"/>
                <a:ea typeface="微软雅黑" panose="020B0503020204020204" pitchFamily="34" charset="-122"/>
              </a:rPr>
              <a:t>和</a:t>
            </a:r>
            <a:r>
              <a:rPr lang="en-US" altLang="zh-CN" sz="1800" dirty="0">
                <a:solidFill>
                  <a:srgbClr val="595959"/>
                </a:solidFill>
                <a:latin typeface="微软雅黑" panose="020B0503020204020204" pitchFamily="34" charset="-122"/>
                <a:ea typeface="微软雅黑" panose="020B0503020204020204" pitchFamily="34" charset="-122"/>
              </a:rPr>
              <a:t>(2)</a:t>
            </a:r>
            <a:r>
              <a:rPr lang="zh-CN" altLang="en-US" sz="1800" dirty="0">
                <a:solidFill>
                  <a:srgbClr val="595959"/>
                </a:solidFill>
                <a:latin typeface="微软雅黑" panose="020B0503020204020204" pitchFamily="34" charset="-122"/>
                <a:ea typeface="微软雅黑" panose="020B0503020204020204" pitchFamily="34" charset="-122"/>
              </a:rPr>
              <a:t>应用于输出条件，即</a:t>
            </a:r>
            <a:r>
              <a:rPr lang="zh-CN" altLang="en-US" sz="1800" dirty="0">
                <a:solidFill>
                  <a:srgbClr val="0075CC"/>
                </a:solidFill>
                <a:latin typeface="微软雅黑" panose="020B0503020204020204" pitchFamily="34" charset="-122"/>
                <a:ea typeface="微软雅黑" panose="020B0503020204020204" pitchFamily="34" charset="-122"/>
              </a:rPr>
              <a:t>设计测试用例使输出值达到边界值及其左右的值</a:t>
            </a:r>
            <a:r>
              <a:rPr lang="zh-CN" altLang="en-US" sz="1800" dirty="0">
                <a:solidFill>
                  <a:srgbClr val="595959"/>
                </a:solidFill>
                <a:latin typeface="微软雅黑" panose="020B0503020204020204" pitchFamily="34" charset="-122"/>
                <a:ea typeface="微软雅黑" panose="020B0503020204020204" pitchFamily="34" charset="-122"/>
              </a:rPr>
              <a:t>。</a:t>
            </a:r>
          </a:p>
          <a:p>
            <a:pPr indent="457200">
              <a:lnSpc>
                <a:spcPct val="150000"/>
              </a:lnSpc>
            </a:pPr>
            <a:r>
              <a:rPr lang="zh-CN" altLang="en-US" sz="1800" dirty="0">
                <a:solidFill>
                  <a:srgbClr val="595959"/>
                </a:solidFill>
                <a:latin typeface="微软雅黑" panose="020B0503020204020204" pitchFamily="34" charset="-122"/>
                <a:ea typeface="微软雅黑" panose="020B0503020204020204" pitchFamily="34" charset="-122"/>
              </a:rPr>
              <a:t>（</a:t>
            </a:r>
            <a:r>
              <a:rPr lang="en-US" altLang="zh-CN" sz="1800" dirty="0">
                <a:solidFill>
                  <a:srgbClr val="595959"/>
                </a:solidFill>
                <a:latin typeface="微软雅黑" panose="020B0503020204020204" pitchFamily="34" charset="-122"/>
                <a:ea typeface="微软雅黑" panose="020B0503020204020204" pitchFamily="34" charset="-122"/>
              </a:rPr>
              <a:t>4</a:t>
            </a:r>
            <a:r>
              <a:rPr lang="zh-CN" altLang="en-US" sz="1800" dirty="0">
                <a:solidFill>
                  <a:srgbClr val="595959"/>
                </a:solidFill>
                <a:latin typeface="微软雅黑" panose="020B0503020204020204" pitchFamily="34" charset="-122"/>
                <a:ea typeface="微软雅黑" panose="020B0503020204020204" pitchFamily="34" charset="-122"/>
              </a:rPr>
              <a:t>）如果程序的规格说明给出的输入域或输出域是</a:t>
            </a:r>
            <a:r>
              <a:rPr lang="zh-CN" altLang="en-US" sz="1800" dirty="0">
                <a:solidFill>
                  <a:srgbClr val="0075CC"/>
                </a:solidFill>
                <a:latin typeface="微软雅黑" panose="020B0503020204020204" pitchFamily="34" charset="-122"/>
                <a:ea typeface="微软雅黑" panose="020B0503020204020204" pitchFamily="34" charset="-122"/>
              </a:rPr>
              <a:t>有序集合</a:t>
            </a:r>
            <a:r>
              <a:rPr lang="en-US" altLang="zh-CN" sz="1800" dirty="0">
                <a:solidFill>
                  <a:srgbClr val="595959"/>
                </a:solidFill>
                <a:latin typeface="微软雅黑" panose="020B0503020204020204" pitchFamily="34" charset="-122"/>
                <a:ea typeface="微软雅黑" panose="020B0503020204020204" pitchFamily="34" charset="-122"/>
              </a:rPr>
              <a:t>(</a:t>
            </a:r>
            <a:r>
              <a:rPr lang="zh-CN" altLang="en-US" sz="1800" dirty="0">
                <a:solidFill>
                  <a:srgbClr val="595959"/>
                </a:solidFill>
                <a:latin typeface="微软雅黑" panose="020B0503020204020204" pitchFamily="34" charset="-122"/>
                <a:ea typeface="微软雅黑" panose="020B0503020204020204" pitchFamily="34" charset="-122"/>
              </a:rPr>
              <a:t>如有序表、顺序文件等</a:t>
            </a:r>
            <a:r>
              <a:rPr lang="en-US" altLang="zh-CN" sz="1800" dirty="0">
                <a:solidFill>
                  <a:srgbClr val="595959"/>
                </a:solidFill>
                <a:latin typeface="微软雅黑" panose="020B0503020204020204" pitchFamily="34" charset="-122"/>
                <a:ea typeface="微软雅黑" panose="020B0503020204020204" pitchFamily="34" charset="-122"/>
              </a:rPr>
              <a:t>)</a:t>
            </a:r>
            <a:r>
              <a:rPr lang="zh-CN" altLang="en-US" sz="1800" dirty="0">
                <a:solidFill>
                  <a:srgbClr val="595959"/>
                </a:solidFill>
                <a:latin typeface="微软雅黑" panose="020B0503020204020204" pitchFamily="34" charset="-122"/>
                <a:ea typeface="微软雅黑" panose="020B0503020204020204" pitchFamily="34" charset="-122"/>
              </a:rPr>
              <a:t>，则应选取</a:t>
            </a:r>
            <a:r>
              <a:rPr lang="zh-CN" altLang="en-US" sz="1800" dirty="0">
                <a:solidFill>
                  <a:srgbClr val="0075CC"/>
                </a:solidFill>
                <a:latin typeface="微软雅黑" panose="020B0503020204020204" pitchFamily="34" charset="-122"/>
                <a:ea typeface="微软雅黑" panose="020B0503020204020204" pitchFamily="34" charset="-122"/>
              </a:rPr>
              <a:t>集合的第一个和最后一个元素</a:t>
            </a:r>
            <a:r>
              <a:rPr lang="zh-CN" altLang="en-US" sz="1800" dirty="0">
                <a:solidFill>
                  <a:srgbClr val="595959"/>
                </a:solidFill>
                <a:latin typeface="微软雅黑" panose="020B0503020204020204" pitchFamily="34" charset="-122"/>
                <a:ea typeface="微软雅黑" panose="020B0503020204020204" pitchFamily="34" charset="-122"/>
              </a:rPr>
              <a:t>作为测试用例</a:t>
            </a:r>
          </a:p>
          <a:p>
            <a:pPr indent="457200">
              <a:lnSpc>
                <a:spcPct val="150000"/>
              </a:lnSpc>
            </a:pPr>
            <a:r>
              <a:rPr lang="zh-CN" altLang="en-US" sz="1800" dirty="0">
                <a:solidFill>
                  <a:srgbClr val="595959"/>
                </a:solidFill>
                <a:latin typeface="微软雅黑" panose="020B0503020204020204" pitchFamily="34" charset="-122"/>
                <a:ea typeface="微软雅黑" panose="020B0503020204020204" pitchFamily="34" charset="-122"/>
              </a:rPr>
              <a:t>（</a:t>
            </a:r>
            <a:r>
              <a:rPr lang="en-US" altLang="zh-CN" sz="1800" dirty="0">
                <a:solidFill>
                  <a:srgbClr val="595959"/>
                </a:solidFill>
                <a:latin typeface="微软雅黑" panose="020B0503020204020204" pitchFamily="34" charset="-122"/>
                <a:ea typeface="微软雅黑" panose="020B0503020204020204" pitchFamily="34" charset="-122"/>
              </a:rPr>
              <a:t>5</a:t>
            </a:r>
            <a:r>
              <a:rPr lang="zh-CN" altLang="en-US" sz="1800" dirty="0">
                <a:solidFill>
                  <a:srgbClr val="595959"/>
                </a:solidFill>
                <a:latin typeface="微软雅黑" panose="020B0503020204020204" pitchFamily="34" charset="-122"/>
                <a:ea typeface="微软雅黑" panose="020B0503020204020204" pitchFamily="34" charset="-122"/>
              </a:rPr>
              <a:t>）如果程序用了一个</a:t>
            </a:r>
            <a:r>
              <a:rPr lang="zh-CN" altLang="en-US" sz="1800" dirty="0">
                <a:solidFill>
                  <a:srgbClr val="0075CC"/>
                </a:solidFill>
                <a:latin typeface="微软雅黑" panose="020B0503020204020204" pitchFamily="34" charset="-122"/>
                <a:ea typeface="微软雅黑" panose="020B0503020204020204" pitchFamily="34" charset="-122"/>
              </a:rPr>
              <a:t>内部结构</a:t>
            </a:r>
            <a:r>
              <a:rPr lang="zh-CN" altLang="en-US" sz="1800" dirty="0">
                <a:solidFill>
                  <a:srgbClr val="595959"/>
                </a:solidFill>
                <a:latin typeface="微软雅黑" panose="020B0503020204020204" pitchFamily="34" charset="-122"/>
                <a:ea typeface="微软雅黑" panose="020B0503020204020204" pitchFamily="34" charset="-122"/>
              </a:rPr>
              <a:t>，应取这个</a:t>
            </a:r>
            <a:r>
              <a:rPr lang="zh-CN" altLang="en-US" sz="1800" dirty="0">
                <a:solidFill>
                  <a:srgbClr val="0075CC"/>
                </a:solidFill>
                <a:latin typeface="微软雅黑" panose="020B0503020204020204" pitchFamily="34" charset="-122"/>
                <a:ea typeface="微软雅黑" panose="020B0503020204020204" pitchFamily="34" charset="-122"/>
              </a:rPr>
              <a:t>内部数据结构的边界值</a:t>
            </a:r>
            <a:r>
              <a:rPr lang="zh-CN" altLang="en-US" sz="1800" dirty="0">
                <a:solidFill>
                  <a:srgbClr val="595959"/>
                </a:solidFill>
                <a:latin typeface="微软雅黑" panose="020B0503020204020204" pitchFamily="34" charset="-122"/>
                <a:ea typeface="微软雅黑" panose="020B0503020204020204" pitchFamily="34" charset="-122"/>
              </a:rPr>
              <a:t>作为测试用例。</a:t>
            </a:r>
          </a:p>
          <a:p>
            <a:pPr indent="457200">
              <a:lnSpc>
                <a:spcPct val="150000"/>
              </a:lnSpc>
            </a:pPr>
            <a:r>
              <a:rPr lang="zh-CN" altLang="en-US" sz="1800" dirty="0">
                <a:solidFill>
                  <a:srgbClr val="595959"/>
                </a:solidFill>
                <a:latin typeface="微软雅黑" panose="020B0503020204020204" pitchFamily="34" charset="-122"/>
                <a:ea typeface="微软雅黑" panose="020B0503020204020204" pitchFamily="34" charset="-122"/>
              </a:rPr>
              <a:t>（</a:t>
            </a:r>
            <a:r>
              <a:rPr lang="en-US" altLang="zh-CN" sz="1800" dirty="0">
                <a:solidFill>
                  <a:srgbClr val="595959"/>
                </a:solidFill>
                <a:latin typeface="微软雅黑" panose="020B0503020204020204" pitchFamily="34" charset="-122"/>
                <a:ea typeface="微软雅黑" panose="020B0503020204020204" pitchFamily="34" charset="-122"/>
              </a:rPr>
              <a:t>6</a:t>
            </a:r>
            <a:r>
              <a:rPr lang="zh-CN" altLang="en-US" sz="1800" dirty="0">
                <a:solidFill>
                  <a:srgbClr val="595959"/>
                </a:solidFill>
                <a:latin typeface="微软雅黑" panose="020B0503020204020204" pitchFamily="34" charset="-122"/>
                <a:ea typeface="微软雅黑" panose="020B0503020204020204" pitchFamily="34" charset="-122"/>
              </a:rPr>
              <a:t>）分析规格说明，找出</a:t>
            </a:r>
            <a:r>
              <a:rPr lang="zh-CN" altLang="en-US" sz="1800" dirty="0">
                <a:solidFill>
                  <a:srgbClr val="0075CC"/>
                </a:solidFill>
                <a:latin typeface="微软雅黑" panose="020B0503020204020204" pitchFamily="34" charset="-122"/>
                <a:ea typeface="微软雅黑" panose="020B0503020204020204" pitchFamily="34" charset="-122"/>
              </a:rPr>
              <a:t>其他可能的边界条件</a:t>
            </a:r>
            <a:r>
              <a:rPr lang="zh-CN" altLang="en-US" sz="1800" dirty="0">
                <a:solidFill>
                  <a:srgbClr val="595959"/>
                </a:solidFill>
                <a:latin typeface="微软雅黑" panose="020B0503020204020204" pitchFamily="34" charset="-122"/>
                <a:ea typeface="微软雅黑" panose="020B0503020204020204" pitchFamily="34" charset="-122"/>
              </a:rPr>
              <a:t>。</a:t>
            </a:r>
          </a:p>
        </p:txBody>
      </p:sp>
      <p:sp>
        <p:nvSpPr>
          <p:cNvPr id="31" name="Title 1">
            <a:extLst>
              <a:ext uri="{FF2B5EF4-FFF2-40B4-BE49-F238E27FC236}">
                <a16:creationId xmlns:a16="http://schemas.microsoft.com/office/drawing/2014/main" id="{2873A9BC-4FE9-3E7E-2BA2-F8A9212E3170}"/>
              </a:ext>
            </a:extLst>
          </p:cNvPr>
          <p:cNvSpPr txBox="1"/>
          <p:nvPr/>
        </p:nvSpPr>
        <p:spPr>
          <a:xfrm>
            <a:off x="1143690" y="266995"/>
            <a:ext cx="5167515"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边界值分析方法设计测试用例原则</a:t>
            </a:r>
          </a:p>
        </p:txBody>
      </p:sp>
    </p:spTree>
    <p:extLst>
      <p:ext uri="{BB962C8B-B14F-4D97-AF65-F5344CB8AC3E}">
        <p14:creationId xmlns:p14="http://schemas.microsoft.com/office/powerpoint/2010/main" val="348663526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35"/>
          <p:cNvSpPr txBox="1">
            <a:spLocks noChangeArrowheads="1"/>
          </p:cNvSpPr>
          <p:nvPr/>
        </p:nvSpPr>
        <p:spPr bwMode="auto">
          <a:xfrm>
            <a:off x="911225" y="1053465"/>
            <a:ext cx="9952990" cy="40472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indent="457200" algn="just">
              <a:lnSpc>
                <a:spcPct val="150000"/>
              </a:lnSpc>
              <a:buClrTx/>
              <a:buSzTx/>
              <a:buFontTx/>
            </a:pPr>
            <a:r>
              <a:rPr lang="zh-CN" altLang="en-US" sz="2000" dirty="0">
                <a:solidFill>
                  <a:srgbClr val="595959"/>
                </a:solidFill>
                <a:latin typeface="微软雅黑" panose="020B0503020204020204" pitchFamily="34" charset="-122"/>
                <a:ea typeface="微软雅黑" panose="020B0503020204020204" pitchFamily="34" charset="-122"/>
              </a:rPr>
              <a:t>在前面，使用等价类划分法设计了QQ账号的测试用例。在实际的测试工作中，通常有大量的缺陷出现在输入或输出范围的边界上，而不是出现在输入或输出范围的内部，下面针对</a:t>
            </a:r>
            <a:r>
              <a:rPr lang="zh-CN" altLang="en-US" sz="2000" dirty="0">
                <a:solidFill>
                  <a:srgbClr val="0070C0"/>
                </a:solidFill>
                <a:latin typeface="微软雅黑" panose="020B0503020204020204" pitchFamily="34" charset="-122"/>
                <a:ea typeface="微软雅黑" panose="020B0503020204020204" pitchFamily="34" charset="-122"/>
              </a:rPr>
              <a:t>QQ账号的边界情况来设计测试用例</a:t>
            </a:r>
            <a:r>
              <a:rPr lang="zh-CN" altLang="en-US" sz="2000" dirty="0">
                <a:solidFill>
                  <a:srgbClr val="595959"/>
                </a:solidFill>
                <a:latin typeface="微软雅黑" panose="020B0503020204020204" pitchFamily="34" charset="-122"/>
                <a:ea typeface="微软雅黑" panose="020B0503020204020204" pitchFamily="34" charset="-122"/>
              </a:rPr>
              <a:t>。</a:t>
            </a:r>
            <a:endParaRPr lang="en-US" altLang="zh-CN" sz="2000" dirty="0">
              <a:solidFill>
                <a:srgbClr val="595959"/>
              </a:solidFill>
              <a:latin typeface="微软雅黑" panose="020B0503020204020204" pitchFamily="34" charset="-122"/>
              <a:ea typeface="微软雅黑" panose="020B0503020204020204" pitchFamily="34" charset="-122"/>
            </a:endParaRPr>
          </a:p>
          <a:p>
            <a:pPr algn="just">
              <a:lnSpc>
                <a:spcPct val="150000"/>
              </a:lnSpc>
              <a:buClrTx/>
              <a:buSzTx/>
              <a:buFontTx/>
            </a:pPr>
            <a:endParaRPr lang="zh-CN" altLang="en-US" sz="2000" dirty="0">
              <a:solidFill>
                <a:srgbClr val="595959"/>
              </a:solidFill>
              <a:latin typeface="微软雅黑" panose="020B0503020204020204" pitchFamily="34" charset="-122"/>
              <a:ea typeface="微软雅黑" panose="020B0503020204020204" pitchFamily="34" charset="-122"/>
            </a:endParaRPr>
          </a:p>
          <a:p>
            <a:pPr indent="457200" algn="just">
              <a:lnSpc>
                <a:spcPct val="150000"/>
              </a:lnSpc>
              <a:buClrTx/>
              <a:buSzTx/>
              <a:buFontTx/>
            </a:pPr>
            <a:r>
              <a:rPr lang="zh-CN" altLang="en-US" sz="1800" dirty="0">
                <a:solidFill>
                  <a:srgbClr val="595959"/>
                </a:solidFill>
                <a:latin typeface="微软雅黑" panose="020B0503020204020204" pitchFamily="34" charset="-122"/>
                <a:ea typeface="微软雅黑" panose="020B0503020204020204" pitchFamily="34" charset="-122"/>
              </a:rPr>
              <a:t>通过分析需求可以知道，QQ账号要求是</a:t>
            </a:r>
            <a:r>
              <a:rPr lang="zh-CN" altLang="en-US" sz="1800" dirty="0">
                <a:solidFill>
                  <a:srgbClr val="0070C0"/>
                </a:solidFill>
                <a:latin typeface="微软雅黑" panose="020B0503020204020204" pitchFamily="34" charset="-122"/>
                <a:ea typeface="微软雅黑" panose="020B0503020204020204" pitchFamily="34" charset="-122"/>
              </a:rPr>
              <a:t>6~10位自然数</a:t>
            </a:r>
            <a:r>
              <a:rPr lang="zh-CN" altLang="en-US" sz="1800" dirty="0">
                <a:solidFill>
                  <a:srgbClr val="595959"/>
                </a:solidFill>
                <a:latin typeface="微软雅黑" panose="020B0503020204020204" pitchFamily="34" charset="-122"/>
                <a:ea typeface="微软雅黑" panose="020B0503020204020204" pitchFamily="34" charset="-122"/>
              </a:rPr>
              <a:t>，根据</a:t>
            </a:r>
            <a:r>
              <a:rPr lang="zh-CN" altLang="en-US" sz="1800" dirty="0">
                <a:solidFill>
                  <a:srgbClr val="0070C0"/>
                </a:solidFill>
                <a:latin typeface="微软雅黑" panose="020B0503020204020204" pitchFamily="34" charset="-122"/>
                <a:ea typeface="微软雅黑" panose="020B0503020204020204" pitchFamily="34" charset="-122"/>
              </a:rPr>
              <a:t>上点、离点和内点</a:t>
            </a:r>
            <a:r>
              <a:rPr lang="zh-CN" altLang="en-US" sz="1800" dirty="0">
                <a:solidFill>
                  <a:srgbClr val="595959"/>
                </a:solidFill>
                <a:latin typeface="微软雅黑" panose="020B0503020204020204" pitchFamily="34" charset="-122"/>
                <a:ea typeface="微软雅黑" panose="020B0503020204020204" pitchFamily="34" charset="-122"/>
              </a:rPr>
              <a:t>即可</a:t>
            </a:r>
            <a:r>
              <a:rPr lang="zh-CN" altLang="en-US" sz="1800" dirty="0">
                <a:solidFill>
                  <a:srgbClr val="0070C0"/>
                </a:solidFill>
                <a:latin typeface="微软雅黑" panose="020B0503020204020204" pitchFamily="34" charset="-122"/>
                <a:ea typeface="微软雅黑" panose="020B0503020204020204" pitchFamily="34" charset="-122"/>
              </a:rPr>
              <a:t>确定边界范围</a:t>
            </a:r>
            <a:r>
              <a:rPr lang="zh-CN" altLang="en-US" sz="1800" dirty="0">
                <a:solidFill>
                  <a:srgbClr val="595959"/>
                </a:solidFill>
                <a:latin typeface="微软雅黑" panose="020B0503020204020204" pitchFamily="34" charset="-122"/>
                <a:ea typeface="微软雅黑" panose="020B0503020204020204" pitchFamily="34" charset="-122"/>
              </a:rPr>
              <a:t>，具体如下。</a:t>
            </a:r>
          </a:p>
          <a:p>
            <a:pPr marL="285750" indent="-285750" algn="just">
              <a:lnSpc>
                <a:spcPct val="150000"/>
              </a:lnSpc>
              <a:buClrTx/>
              <a:buSzTx/>
              <a:buFont typeface="Wingdings" panose="05000000000000000000" charset="0"/>
              <a:buChar char="l"/>
            </a:pPr>
            <a:r>
              <a:rPr lang="zh-CN" altLang="en-US" sz="1800" dirty="0">
                <a:solidFill>
                  <a:srgbClr val="595959"/>
                </a:solidFill>
                <a:latin typeface="微软雅黑" panose="020B0503020204020204" pitchFamily="34" charset="-122"/>
                <a:ea typeface="微软雅黑" panose="020B0503020204020204" pitchFamily="34" charset="-122"/>
              </a:rPr>
              <a:t>上点：6、10。</a:t>
            </a:r>
          </a:p>
          <a:p>
            <a:pPr marL="285750" indent="-285750" algn="just">
              <a:lnSpc>
                <a:spcPct val="150000"/>
              </a:lnSpc>
              <a:buClrTx/>
              <a:buSzTx/>
              <a:buFont typeface="Wingdings" panose="05000000000000000000" charset="0"/>
              <a:buChar char="l"/>
            </a:pPr>
            <a:r>
              <a:rPr lang="zh-CN" altLang="en-US" sz="1800" dirty="0">
                <a:solidFill>
                  <a:srgbClr val="595959"/>
                </a:solidFill>
                <a:latin typeface="微软雅黑" panose="020B0503020204020204" pitchFamily="34" charset="-122"/>
                <a:ea typeface="微软雅黑" panose="020B0503020204020204" pitchFamily="34" charset="-122"/>
              </a:rPr>
              <a:t>离点：5、7、9、11。</a:t>
            </a:r>
          </a:p>
          <a:p>
            <a:pPr marL="285750" indent="-285750" algn="just">
              <a:lnSpc>
                <a:spcPct val="150000"/>
              </a:lnSpc>
              <a:buClrTx/>
              <a:buSzTx/>
              <a:buFont typeface="Wingdings" panose="05000000000000000000" charset="0"/>
              <a:buChar char="l"/>
            </a:pPr>
            <a:r>
              <a:rPr lang="zh-CN" altLang="en-US" sz="1800" dirty="0">
                <a:solidFill>
                  <a:srgbClr val="595959"/>
                </a:solidFill>
                <a:latin typeface="微软雅黑" panose="020B0503020204020204" pitchFamily="34" charset="-122"/>
                <a:ea typeface="微软雅黑" panose="020B0503020204020204" pitchFamily="34" charset="-122"/>
              </a:rPr>
              <a:t>内点：8。</a:t>
            </a:r>
          </a:p>
        </p:txBody>
      </p:sp>
      <p:sp>
        <p:nvSpPr>
          <p:cNvPr id="3" name="Title 1"/>
          <p:cNvSpPr txBox="1"/>
          <p:nvPr/>
        </p:nvSpPr>
        <p:spPr>
          <a:xfrm>
            <a:off x="1143635" y="266700"/>
            <a:ext cx="644271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2.2.2	实例一：QQ账号合法性的边界值分析</a:t>
            </a: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35"/>
          <p:cNvSpPr txBox="1">
            <a:spLocks noChangeArrowheads="1"/>
          </p:cNvSpPr>
          <p:nvPr/>
        </p:nvSpPr>
        <p:spPr bwMode="auto">
          <a:xfrm>
            <a:off x="1127125" y="909320"/>
            <a:ext cx="9710420" cy="702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no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buClrTx/>
              <a:buSzTx/>
              <a:buFontTx/>
            </a:pPr>
            <a:r>
              <a:rPr lang="zh-CN" altLang="en-US" sz="1800" dirty="0">
                <a:solidFill>
                  <a:srgbClr val="595959"/>
                </a:solidFill>
                <a:latin typeface="微软雅黑" panose="020B0503020204020204" pitchFamily="34" charset="-122"/>
                <a:ea typeface="微软雅黑" panose="020B0503020204020204" pitchFamily="34" charset="-122"/>
              </a:rPr>
              <a:t>根据上述边界范围即可设计测试用例，</a:t>
            </a:r>
            <a:r>
              <a:rPr lang="zh-CN" altLang="en-US" sz="1800" dirty="0">
                <a:solidFill>
                  <a:srgbClr val="0070C0"/>
                </a:solidFill>
                <a:latin typeface="微软雅黑" panose="020B0503020204020204" pitchFamily="34" charset="-122"/>
                <a:ea typeface="微软雅黑" panose="020B0503020204020204" pitchFamily="34" charset="-122"/>
              </a:rPr>
              <a:t>QQ账号边界值分析测试用例</a:t>
            </a:r>
            <a:r>
              <a:rPr lang="zh-CN" altLang="en-US" sz="1800" dirty="0">
                <a:solidFill>
                  <a:srgbClr val="595959"/>
                </a:solidFill>
                <a:latin typeface="微软雅黑" panose="020B0503020204020204" pitchFamily="34" charset="-122"/>
                <a:ea typeface="微软雅黑" panose="020B0503020204020204" pitchFamily="34" charset="-122"/>
              </a:rPr>
              <a:t>如下表所示。</a:t>
            </a:r>
          </a:p>
          <a:p>
            <a:pPr algn="just">
              <a:lnSpc>
                <a:spcPct val="150000"/>
              </a:lnSpc>
              <a:buClrTx/>
              <a:buSzTx/>
              <a:buFontTx/>
            </a:pPr>
            <a:endParaRPr lang="zh-CN" altLang="en-US" sz="1800" dirty="0">
              <a:solidFill>
                <a:srgbClr val="595959"/>
              </a:solidFill>
              <a:latin typeface="微软雅黑" panose="020B0503020204020204" pitchFamily="34" charset="-122"/>
              <a:ea typeface="微软雅黑" panose="020B0503020204020204" pitchFamily="34" charset="-122"/>
            </a:endParaRPr>
          </a:p>
        </p:txBody>
      </p:sp>
      <p:graphicFrame>
        <p:nvGraphicFramePr>
          <p:cNvPr id="2" name="表格 1"/>
          <p:cNvGraphicFramePr/>
          <p:nvPr>
            <p:custDataLst>
              <p:tags r:id="rId1"/>
            </p:custDataLst>
          </p:nvPr>
        </p:nvGraphicFramePr>
        <p:xfrm>
          <a:off x="2207260" y="1701165"/>
          <a:ext cx="6780979" cy="4631690"/>
        </p:xfrm>
        <a:graphic>
          <a:graphicData uri="http://schemas.openxmlformats.org/drawingml/2006/table">
            <a:tbl>
              <a:tblPr firstRow="1" bandRow="1">
                <a:tableStyleId>{5C22544A-7EE6-4342-B048-85BDC9FD1C3A}</a:tableStyleId>
              </a:tblPr>
              <a:tblGrid>
                <a:gridCol w="1799946">
                  <a:extLst>
                    <a:ext uri="{9D8B030D-6E8A-4147-A177-3AD203B41FA5}">
                      <a16:colId xmlns:a16="http://schemas.microsoft.com/office/drawing/2014/main" val="20000"/>
                    </a:ext>
                  </a:extLst>
                </a:gridCol>
                <a:gridCol w="1674774">
                  <a:extLst>
                    <a:ext uri="{9D8B030D-6E8A-4147-A177-3AD203B41FA5}">
                      <a16:colId xmlns:a16="http://schemas.microsoft.com/office/drawing/2014/main" val="20001"/>
                    </a:ext>
                  </a:extLst>
                </a:gridCol>
                <a:gridCol w="1455085">
                  <a:extLst>
                    <a:ext uri="{9D8B030D-6E8A-4147-A177-3AD203B41FA5}">
                      <a16:colId xmlns:a16="http://schemas.microsoft.com/office/drawing/2014/main" val="20002"/>
                    </a:ext>
                  </a:extLst>
                </a:gridCol>
                <a:gridCol w="1851174">
                  <a:extLst>
                    <a:ext uri="{9D8B030D-6E8A-4147-A177-3AD203B41FA5}">
                      <a16:colId xmlns:a16="http://schemas.microsoft.com/office/drawing/2014/main" val="20003"/>
                    </a:ext>
                  </a:extLst>
                </a:gridCol>
              </a:tblGrid>
              <a:tr h="613410">
                <a:tc>
                  <a:txBody>
                    <a:bodyPr/>
                    <a:lstStyle/>
                    <a:p>
                      <a:pPr algn="ctr">
                        <a:lnSpc>
                          <a:spcPct val="90000"/>
                        </a:lnSpc>
                        <a:buNone/>
                      </a:pPr>
                      <a:r>
                        <a:rPr lang="zh-CN" altLang="en-US" sz="1800" b="1">
                          <a:latin typeface="微软雅黑" panose="020B0503020204020204" pitchFamily="34" charset="-122"/>
                          <a:ea typeface="微软雅黑" panose="020B0503020204020204" pitchFamily="34" charset="-122"/>
                        </a:rPr>
                        <a:t>测试用例编号</a:t>
                      </a:r>
                    </a:p>
                  </a:txBody>
                  <a:tcPr anchor="ctr"/>
                </a:tc>
                <a:tc>
                  <a:txBody>
                    <a:bodyPr/>
                    <a:lstStyle/>
                    <a:p>
                      <a:pPr algn="ctr">
                        <a:lnSpc>
                          <a:spcPct val="90000"/>
                        </a:lnSpc>
                        <a:buNone/>
                      </a:pPr>
                      <a:r>
                        <a:rPr lang="zh-CN" altLang="en-US" sz="1800">
                          <a:latin typeface="微软雅黑" panose="020B0503020204020204" pitchFamily="34" charset="-122"/>
                          <a:ea typeface="微软雅黑" panose="020B0503020204020204" pitchFamily="34" charset="-122"/>
                        </a:rPr>
                        <a:t>测试数据</a:t>
                      </a:r>
                    </a:p>
                  </a:txBody>
                  <a:tcPr anchor="ctr"/>
                </a:tc>
                <a:tc>
                  <a:txBody>
                    <a:bodyPr/>
                    <a:lstStyle/>
                    <a:p>
                      <a:pPr algn="ctr">
                        <a:lnSpc>
                          <a:spcPct val="90000"/>
                        </a:lnSpc>
                        <a:buNone/>
                      </a:pPr>
                      <a:r>
                        <a:rPr lang="zh-CN" altLang="en-US" sz="1800">
                          <a:latin typeface="微软雅黑" panose="020B0503020204020204" pitchFamily="34" charset="-122"/>
                          <a:ea typeface="微软雅黑" panose="020B0503020204020204" pitchFamily="34" charset="-122"/>
                        </a:rPr>
                        <a:t>被测边界值</a:t>
                      </a:r>
                    </a:p>
                  </a:txBody>
                  <a:tcPr anchor="ctr"/>
                </a:tc>
                <a:tc>
                  <a:txBody>
                    <a:bodyPr/>
                    <a:lstStyle/>
                    <a:p>
                      <a:pPr algn="ctr">
                        <a:lnSpc>
                          <a:spcPct val="90000"/>
                        </a:lnSpc>
                        <a:buNone/>
                      </a:pPr>
                      <a:r>
                        <a:rPr lang="zh-CN" altLang="en-US" sz="1800">
                          <a:latin typeface="微软雅黑" panose="020B0503020204020204" pitchFamily="34" charset="-122"/>
                          <a:ea typeface="微软雅黑" panose="020B0503020204020204" pitchFamily="34" charset="-122"/>
                        </a:rPr>
                        <a:t>预期结果</a:t>
                      </a:r>
                    </a:p>
                  </a:txBody>
                  <a:tcPr anchor="ctr"/>
                </a:tc>
                <a:extLst>
                  <a:ext uri="{0D108BD9-81ED-4DB2-BD59-A6C34878D82A}">
                    <a16:rowId xmlns:a16="http://schemas.microsoft.com/office/drawing/2014/main" val="10000"/>
                  </a:ext>
                </a:extLst>
              </a:tr>
              <a:tr h="598805">
                <a:tc>
                  <a:txBody>
                    <a:bodyPr/>
                    <a:lstStyle/>
                    <a:p>
                      <a:pPr algn="ctr">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test1</a:t>
                      </a:r>
                    </a:p>
                  </a:txBody>
                  <a:tcPr anchor="ctr"/>
                </a:tc>
                <a:tc>
                  <a:txBody>
                    <a:bodyPr/>
                    <a:lstStyle/>
                    <a:p>
                      <a:pPr algn="ctr">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14725</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5</a:t>
                      </a:r>
                    </a:p>
                  </a:txBody>
                  <a:tcPr anchor="ctr"/>
                </a:tc>
                <a:tc>
                  <a:txBody>
                    <a:bodyPr/>
                    <a:lstStyle/>
                    <a:p>
                      <a:pPr algn="l">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QQ账号不合法</a:t>
                      </a:r>
                    </a:p>
                  </a:txBody>
                  <a:tcPr anchor="ctr"/>
                </a:tc>
                <a:extLst>
                  <a:ext uri="{0D108BD9-81ED-4DB2-BD59-A6C34878D82A}">
                    <a16:rowId xmlns:a16="http://schemas.microsoft.com/office/drawing/2014/main" val="10001"/>
                  </a:ext>
                </a:extLst>
              </a:tr>
              <a:tr h="558165">
                <a:tc>
                  <a:txBody>
                    <a:bodyPr/>
                    <a:lstStyle/>
                    <a:p>
                      <a:pPr algn="ctr">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test2</a:t>
                      </a:r>
                    </a:p>
                  </a:txBody>
                  <a:tcPr anchor="ctr"/>
                </a:tc>
                <a:tc>
                  <a:txBody>
                    <a:bodyPr/>
                    <a:lstStyle/>
                    <a:p>
                      <a:pPr algn="ctr">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123456</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6</a:t>
                      </a:r>
                    </a:p>
                  </a:txBody>
                  <a:tcPr anchor="ctr"/>
                </a:tc>
                <a:tc>
                  <a:txBody>
                    <a:bodyPr/>
                    <a:lstStyle/>
                    <a:p>
                      <a:pPr algn="l">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QQ账号合法</a:t>
                      </a:r>
                    </a:p>
                  </a:txBody>
                  <a:tcPr anchor="ctr"/>
                </a:tc>
                <a:extLst>
                  <a:ext uri="{0D108BD9-81ED-4DB2-BD59-A6C34878D82A}">
                    <a16:rowId xmlns:a16="http://schemas.microsoft.com/office/drawing/2014/main" val="10002"/>
                  </a:ext>
                </a:extLst>
              </a:tr>
              <a:tr h="565150">
                <a:tc>
                  <a:txBody>
                    <a:bodyPr/>
                    <a:lstStyle/>
                    <a:p>
                      <a:pPr algn="ctr">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test3</a:t>
                      </a:r>
                    </a:p>
                  </a:txBody>
                  <a:tcPr anchor="ctr"/>
                </a:tc>
                <a:tc>
                  <a:txBody>
                    <a:bodyPr/>
                    <a:lstStyle/>
                    <a:p>
                      <a:pPr algn="ctr">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1345678</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7</a:t>
                      </a:r>
                    </a:p>
                  </a:txBody>
                  <a:tcPr anchor="ctr"/>
                </a:tc>
                <a:tc>
                  <a:txBody>
                    <a:bodyPr/>
                    <a:lstStyle/>
                    <a:p>
                      <a:pPr algn="l">
                        <a:buNone/>
                      </a:pPr>
                      <a:r>
                        <a:rPr lang="en-US" altLang="zh-CN" sz="1800" kern="1200">
                          <a:solidFill>
                            <a:srgbClr val="595959"/>
                          </a:solidFill>
                          <a:latin typeface="微软雅黑" panose="020B0503020204020204" pitchFamily="34" charset="-122"/>
                          <a:ea typeface="微软雅黑" panose="020B0503020204020204" pitchFamily="34" charset="-122"/>
                          <a:cs typeface="+mn-cs"/>
                          <a:sym typeface="+mn-ea"/>
                        </a:rPr>
                        <a:t>QQ账号合法</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10003"/>
                  </a:ext>
                </a:extLst>
              </a:tr>
              <a:tr h="574040">
                <a:tc>
                  <a:txBody>
                    <a:bodyPr/>
                    <a:lstStyle/>
                    <a:p>
                      <a:pPr algn="ctr">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test4</a:t>
                      </a:r>
                    </a:p>
                  </a:txBody>
                  <a:tcPr anchor="ctr"/>
                </a:tc>
                <a:tc>
                  <a:txBody>
                    <a:bodyPr/>
                    <a:lstStyle/>
                    <a:p>
                      <a:pPr algn="ctr">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23616666</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8</a:t>
                      </a:r>
                    </a:p>
                  </a:txBody>
                  <a:tcPr anchor="ctr"/>
                </a:tc>
                <a:tc>
                  <a:txBody>
                    <a:bodyPr/>
                    <a:lstStyle/>
                    <a:p>
                      <a:pPr algn="l">
                        <a:buNone/>
                      </a:pPr>
                      <a:r>
                        <a:rPr lang="en-US" altLang="zh-CN" sz="1800" kern="1200">
                          <a:solidFill>
                            <a:srgbClr val="595959"/>
                          </a:solidFill>
                          <a:latin typeface="微软雅黑" panose="020B0503020204020204" pitchFamily="34" charset="-122"/>
                          <a:ea typeface="微软雅黑" panose="020B0503020204020204" pitchFamily="34" charset="-122"/>
                          <a:cs typeface="+mn-cs"/>
                          <a:sym typeface="+mn-ea"/>
                        </a:rPr>
                        <a:t>QQ账号合法</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10004"/>
                  </a:ext>
                </a:extLst>
              </a:tr>
              <a:tr h="574040">
                <a:tc>
                  <a:txBody>
                    <a:bodyPr/>
                    <a:lstStyle/>
                    <a:p>
                      <a:pPr algn="ctr">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test5</a:t>
                      </a:r>
                    </a:p>
                  </a:txBody>
                  <a:tcPr anchor="ctr"/>
                </a:tc>
                <a:tc>
                  <a:txBody>
                    <a:bodyPr/>
                    <a:lstStyle/>
                    <a:p>
                      <a:pPr algn="ctr">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564789100</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9</a:t>
                      </a:r>
                    </a:p>
                  </a:txBody>
                  <a:tcPr anchor="ctr"/>
                </a:tc>
                <a:tc>
                  <a:txBody>
                    <a:bodyPr/>
                    <a:lstStyle/>
                    <a:p>
                      <a:pPr algn="l">
                        <a:buNone/>
                      </a:pPr>
                      <a:r>
                        <a:rPr lang="en-US" altLang="zh-CN" sz="1800" kern="1200">
                          <a:solidFill>
                            <a:srgbClr val="595959"/>
                          </a:solidFill>
                          <a:latin typeface="微软雅黑" panose="020B0503020204020204" pitchFamily="34" charset="-122"/>
                          <a:ea typeface="微软雅黑" panose="020B0503020204020204" pitchFamily="34" charset="-122"/>
                          <a:cs typeface="+mn-cs"/>
                          <a:sym typeface="+mn-ea"/>
                        </a:rPr>
                        <a:t>QQ账号合法</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10005"/>
                  </a:ext>
                </a:extLst>
              </a:tr>
              <a:tr h="574040">
                <a:tc>
                  <a:txBody>
                    <a:bodyPr/>
                    <a:lstStyle/>
                    <a:p>
                      <a:pPr algn="ctr">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test6</a:t>
                      </a:r>
                    </a:p>
                  </a:txBody>
                  <a:tcPr anchor="ctr"/>
                </a:tc>
                <a:tc>
                  <a:txBody>
                    <a:bodyPr/>
                    <a:lstStyle/>
                    <a:p>
                      <a:pPr algn="ctr">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3316556666</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10</a:t>
                      </a:r>
                    </a:p>
                  </a:txBody>
                  <a:tcPr anchor="ctr"/>
                </a:tc>
                <a:tc>
                  <a:txBody>
                    <a:bodyPr/>
                    <a:lstStyle/>
                    <a:p>
                      <a:pPr algn="l">
                        <a:buNone/>
                      </a:pPr>
                      <a:r>
                        <a:rPr lang="en-US" altLang="zh-CN" sz="1800" kern="1200">
                          <a:solidFill>
                            <a:srgbClr val="595959"/>
                          </a:solidFill>
                          <a:latin typeface="微软雅黑" panose="020B0503020204020204" pitchFamily="34" charset="-122"/>
                          <a:ea typeface="微软雅黑" panose="020B0503020204020204" pitchFamily="34" charset="-122"/>
                          <a:cs typeface="+mn-cs"/>
                          <a:sym typeface="+mn-ea"/>
                        </a:rPr>
                        <a:t>QQ账号合法</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10006"/>
                  </a:ext>
                </a:extLst>
              </a:tr>
              <a:tr h="574040">
                <a:tc>
                  <a:txBody>
                    <a:bodyPr/>
                    <a:lstStyle/>
                    <a:p>
                      <a:pPr algn="ctr">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test7</a:t>
                      </a:r>
                    </a:p>
                  </a:txBody>
                  <a:tcPr anchor="ctr"/>
                </a:tc>
                <a:tc>
                  <a:txBody>
                    <a:bodyPr/>
                    <a:lstStyle/>
                    <a:p>
                      <a:pPr algn="ctr">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33165566897</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11</a:t>
                      </a:r>
                    </a:p>
                  </a:txBody>
                  <a:tcPr anchor="ctr"/>
                </a:tc>
                <a:tc>
                  <a:txBody>
                    <a:bodyPr/>
                    <a:lstStyle/>
                    <a:p>
                      <a:pPr algn="l">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QQ账号不合法</a:t>
                      </a:r>
                    </a:p>
                  </a:txBody>
                  <a:tcPr anchor="ctr"/>
                </a:tc>
                <a:extLst>
                  <a:ext uri="{0D108BD9-81ED-4DB2-BD59-A6C34878D82A}">
                    <a16:rowId xmlns:a16="http://schemas.microsoft.com/office/drawing/2014/main" val="10007"/>
                  </a:ext>
                </a:extLst>
              </a:tr>
            </a:tbl>
          </a:graphicData>
        </a:graphic>
      </p:graphicFrame>
      <p:sp>
        <p:nvSpPr>
          <p:cNvPr id="4" name="Title 1"/>
          <p:cNvSpPr txBox="1"/>
          <p:nvPr/>
        </p:nvSpPr>
        <p:spPr>
          <a:xfrm>
            <a:off x="1143635" y="266700"/>
            <a:ext cx="644271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2.2.2	实例一：QQ账号合法性的边界值分析</a:t>
            </a: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35"/>
          <p:cNvSpPr txBox="1">
            <a:spLocks noChangeArrowheads="1"/>
          </p:cNvSpPr>
          <p:nvPr/>
        </p:nvSpPr>
        <p:spPr bwMode="auto">
          <a:xfrm>
            <a:off x="1127125" y="909320"/>
            <a:ext cx="9710420" cy="1842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no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indent="457200" algn="just">
              <a:lnSpc>
                <a:spcPct val="150000"/>
              </a:lnSpc>
              <a:buClrTx/>
              <a:buSzTx/>
              <a:buFontTx/>
            </a:pPr>
            <a:r>
              <a:rPr lang="zh-CN" altLang="en-US" sz="1800" dirty="0">
                <a:solidFill>
                  <a:srgbClr val="595959"/>
                </a:solidFill>
                <a:latin typeface="微软雅黑" panose="020B0503020204020204" pitchFamily="34" charset="-122"/>
                <a:ea typeface="微软雅黑" panose="020B0503020204020204" pitchFamily="34" charset="-122"/>
              </a:rPr>
              <a:t>在2.1.3节中，讲解了三角形问题的等价类划分，在等价类划分中，除了要求输入数据为3个正数外，没有给出其他限制条件。如果要求三角形边长取值范围为1~100，则可以</a:t>
            </a:r>
            <a:r>
              <a:rPr lang="zh-CN" altLang="en-US" sz="1800" dirty="0">
                <a:solidFill>
                  <a:srgbClr val="0070C0"/>
                </a:solidFill>
                <a:latin typeface="微软雅黑" panose="020B0503020204020204" pitchFamily="34" charset="-122"/>
                <a:ea typeface="微软雅黑" panose="020B0503020204020204" pitchFamily="34" charset="-122"/>
              </a:rPr>
              <a:t>使用边界值分析法对三角形边界边长的边界进行测试</a:t>
            </a:r>
            <a:r>
              <a:rPr lang="zh-CN" altLang="en-US" sz="1800" dirty="0">
                <a:solidFill>
                  <a:srgbClr val="595959"/>
                </a:solidFill>
                <a:latin typeface="微软雅黑" panose="020B0503020204020204" pitchFamily="34" charset="-122"/>
                <a:ea typeface="微软雅黑" panose="020B0503020204020204" pitchFamily="34" charset="-122"/>
              </a:rPr>
              <a:t>。在设计测试用例时，分别选取1、2、50、99、100这5个值作为测试值，</a:t>
            </a:r>
            <a:r>
              <a:rPr lang="zh-CN" altLang="en-US" sz="1800" dirty="0">
                <a:solidFill>
                  <a:srgbClr val="0070C0"/>
                </a:solidFill>
                <a:latin typeface="微软雅黑" panose="020B0503020204020204" pitchFamily="34" charset="-122"/>
                <a:ea typeface="微软雅黑" panose="020B0503020204020204" pitchFamily="34" charset="-122"/>
              </a:rPr>
              <a:t>三角形边长的边界值分析测试用例</a:t>
            </a:r>
            <a:r>
              <a:rPr lang="zh-CN" altLang="en-US" sz="1800" dirty="0">
                <a:solidFill>
                  <a:srgbClr val="595959"/>
                </a:solidFill>
                <a:latin typeface="微软雅黑" panose="020B0503020204020204" pitchFamily="34" charset="-122"/>
                <a:ea typeface="微软雅黑" panose="020B0503020204020204" pitchFamily="34" charset="-122"/>
              </a:rPr>
              <a:t>如下表所示。</a:t>
            </a:r>
          </a:p>
          <a:p>
            <a:pPr algn="just">
              <a:lnSpc>
                <a:spcPct val="150000"/>
              </a:lnSpc>
              <a:buClrTx/>
              <a:buSzTx/>
              <a:buFontTx/>
            </a:pPr>
            <a:endParaRPr lang="zh-CN" altLang="en-US" sz="1800" dirty="0">
              <a:solidFill>
                <a:srgbClr val="595959"/>
              </a:solidFill>
              <a:latin typeface="微软雅黑" panose="020B0503020204020204" pitchFamily="34" charset="-122"/>
              <a:ea typeface="微软雅黑" panose="020B0503020204020204" pitchFamily="34" charset="-122"/>
            </a:endParaRPr>
          </a:p>
        </p:txBody>
      </p:sp>
      <p:graphicFrame>
        <p:nvGraphicFramePr>
          <p:cNvPr id="2" name="表格 1"/>
          <p:cNvGraphicFramePr/>
          <p:nvPr>
            <p:custDataLst>
              <p:tags r:id="rId1"/>
            </p:custDataLst>
          </p:nvPr>
        </p:nvGraphicFramePr>
        <p:xfrm>
          <a:off x="2351405" y="2925445"/>
          <a:ext cx="6780979" cy="3483610"/>
        </p:xfrm>
        <a:graphic>
          <a:graphicData uri="http://schemas.openxmlformats.org/drawingml/2006/table">
            <a:tbl>
              <a:tblPr firstRow="1" bandRow="1">
                <a:tableStyleId>{5C22544A-7EE6-4342-B048-85BDC9FD1C3A}</a:tableStyleId>
              </a:tblPr>
              <a:tblGrid>
                <a:gridCol w="1842135">
                  <a:extLst>
                    <a:ext uri="{9D8B030D-6E8A-4147-A177-3AD203B41FA5}">
                      <a16:colId xmlns:a16="http://schemas.microsoft.com/office/drawing/2014/main" val="20000"/>
                    </a:ext>
                  </a:extLst>
                </a:gridCol>
                <a:gridCol w="1632585">
                  <a:extLst>
                    <a:ext uri="{9D8B030D-6E8A-4147-A177-3AD203B41FA5}">
                      <a16:colId xmlns:a16="http://schemas.microsoft.com/office/drawing/2014/main" val="20001"/>
                    </a:ext>
                  </a:extLst>
                </a:gridCol>
                <a:gridCol w="1455085">
                  <a:extLst>
                    <a:ext uri="{9D8B030D-6E8A-4147-A177-3AD203B41FA5}">
                      <a16:colId xmlns:a16="http://schemas.microsoft.com/office/drawing/2014/main" val="20002"/>
                    </a:ext>
                  </a:extLst>
                </a:gridCol>
                <a:gridCol w="1851174">
                  <a:extLst>
                    <a:ext uri="{9D8B030D-6E8A-4147-A177-3AD203B41FA5}">
                      <a16:colId xmlns:a16="http://schemas.microsoft.com/office/drawing/2014/main" val="20003"/>
                    </a:ext>
                  </a:extLst>
                </a:gridCol>
              </a:tblGrid>
              <a:tr h="613410">
                <a:tc>
                  <a:txBody>
                    <a:bodyPr/>
                    <a:lstStyle/>
                    <a:p>
                      <a:pPr algn="ctr">
                        <a:lnSpc>
                          <a:spcPct val="90000"/>
                        </a:lnSpc>
                        <a:buNone/>
                      </a:pPr>
                      <a:r>
                        <a:rPr lang="zh-CN" altLang="en-US" sz="1800" b="1">
                          <a:latin typeface="微软雅黑" panose="020B0503020204020204" pitchFamily="34" charset="-122"/>
                          <a:ea typeface="微软雅黑" panose="020B0503020204020204" pitchFamily="34" charset="-122"/>
                        </a:rPr>
                        <a:t>测试用例</a:t>
                      </a:r>
                    </a:p>
                  </a:txBody>
                  <a:tcPr anchor="ctr"/>
                </a:tc>
                <a:tc>
                  <a:txBody>
                    <a:bodyPr/>
                    <a:lstStyle/>
                    <a:p>
                      <a:pPr algn="ctr">
                        <a:lnSpc>
                          <a:spcPct val="90000"/>
                        </a:lnSpc>
                        <a:buNone/>
                      </a:pPr>
                      <a:r>
                        <a:rPr lang="zh-CN" altLang="en-US" sz="1800">
                          <a:latin typeface="微软雅黑" panose="020B0503020204020204" pitchFamily="34" charset="-122"/>
                          <a:ea typeface="微软雅黑" panose="020B0503020204020204" pitchFamily="34" charset="-122"/>
                        </a:rPr>
                        <a:t>输入</a:t>
                      </a:r>
                      <a:r>
                        <a:rPr lang="en-US" altLang="zh-CN" sz="1800">
                          <a:latin typeface="微软雅黑" panose="020B0503020204020204" pitchFamily="34" charset="-122"/>
                          <a:ea typeface="微软雅黑" panose="020B0503020204020204" pitchFamily="34" charset="-122"/>
                        </a:rPr>
                        <a:t>3</a:t>
                      </a:r>
                      <a:r>
                        <a:rPr lang="zh-CN" altLang="en-US" sz="1800">
                          <a:latin typeface="微软雅黑" panose="020B0503020204020204" pitchFamily="34" charset="-122"/>
                          <a:ea typeface="微软雅黑" panose="020B0503020204020204" pitchFamily="34" charset="-122"/>
                        </a:rPr>
                        <a:t>个数</a:t>
                      </a:r>
                    </a:p>
                  </a:txBody>
                  <a:tcPr anchor="ctr"/>
                </a:tc>
                <a:tc>
                  <a:txBody>
                    <a:bodyPr/>
                    <a:lstStyle/>
                    <a:p>
                      <a:pPr algn="ctr">
                        <a:lnSpc>
                          <a:spcPct val="90000"/>
                        </a:lnSpc>
                        <a:buNone/>
                      </a:pPr>
                      <a:r>
                        <a:rPr lang="zh-CN" altLang="en-US" sz="1800">
                          <a:latin typeface="微软雅黑" panose="020B0503020204020204" pitchFamily="34" charset="-122"/>
                          <a:ea typeface="微软雅黑" panose="020B0503020204020204" pitchFamily="34" charset="-122"/>
                        </a:rPr>
                        <a:t>被测边界值</a:t>
                      </a:r>
                    </a:p>
                  </a:txBody>
                  <a:tcPr anchor="ctr"/>
                </a:tc>
                <a:tc>
                  <a:txBody>
                    <a:bodyPr/>
                    <a:lstStyle/>
                    <a:p>
                      <a:pPr algn="ctr">
                        <a:lnSpc>
                          <a:spcPct val="90000"/>
                        </a:lnSpc>
                        <a:buNone/>
                      </a:pPr>
                      <a:r>
                        <a:rPr lang="zh-CN" altLang="en-US" sz="1800">
                          <a:latin typeface="微软雅黑" panose="020B0503020204020204" pitchFamily="34" charset="-122"/>
                          <a:ea typeface="微软雅黑" panose="020B0503020204020204" pitchFamily="34" charset="-122"/>
                        </a:rPr>
                        <a:t>预期结果</a:t>
                      </a:r>
                    </a:p>
                  </a:txBody>
                  <a:tcPr anchor="ctr"/>
                </a:tc>
                <a:extLst>
                  <a:ext uri="{0D108BD9-81ED-4DB2-BD59-A6C34878D82A}">
                    <a16:rowId xmlns:a16="http://schemas.microsoft.com/office/drawing/2014/main" val="10000"/>
                  </a:ext>
                </a:extLst>
              </a:tr>
              <a:tr h="598805">
                <a:tc>
                  <a:txBody>
                    <a:bodyPr/>
                    <a:lstStyle/>
                    <a:p>
                      <a:pPr algn="ctr">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test1</a:t>
                      </a:r>
                    </a:p>
                  </a:txBody>
                  <a:tcPr anchor="ctr"/>
                </a:tc>
                <a:tc>
                  <a:txBody>
                    <a:bodyPr/>
                    <a:lstStyle/>
                    <a:p>
                      <a:pPr algn="ctr">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50   50   1</a:t>
                      </a:r>
                    </a:p>
                  </a:txBody>
                  <a:tcPr anchor="ctr"/>
                </a:tc>
                <a:tc rowSpan="2">
                  <a:txBody>
                    <a:bodyPr/>
                    <a:lstStyle/>
                    <a:p>
                      <a:pPr algn="ctr">
                        <a:buNone/>
                      </a:pPr>
                      <a:r>
                        <a:rPr lang="en-US" altLang="zh-CN" sz="1800" kern="1200" dirty="0">
                          <a:solidFill>
                            <a:srgbClr val="595959"/>
                          </a:solidFill>
                          <a:latin typeface="微软雅黑" panose="020B0503020204020204" pitchFamily="34" charset="-122"/>
                          <a:ea typeface="微软雅黑" panose="020B0503020204020204" pitchFamily="34" charset="-122"/>
                          <a:cs typeface="+mn-cs"/>
                        </a:rPr>
                        <a:t>1</a:t>
                      </a:r>
                    </a:p>
                  </a:txBody>
                  <a:tcPr anchor="ctr"/>
                </a:tc>
                <a:tc>
                  <a:txBody>
                    <a:bodyPr/>
                    <a:lstStyle/>
                    <a:p>
                      <a:pPr algn="l">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等腰三角形</a:t>
                      </a:r>
                    </a:p>
                  </a:txBody>
                  <a:tcPr anchor="ctr"/>
                </a:tc>
                <a:extLst>
                  <a:ext uri="{0D108BD9-81ED-4DB2-BD59-A6C34878D82A}">
                    <a16:rowId xmlns:a16="http://schemas.microsoft.com/office/drawing/2014/main" val="10001"/>
                  </a:ext>
                </a:extLst>
              </a:tr>
              <a:tr h="558165">
                <a:tc>
                  <a:txBody>
                    <a:bodyPr/>
                    <a:lstStyle/>
                    <a:p>
                      <a:pPr algn="ctr">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test2</a:t>
                      </a:r>
                    </a:p>
                  </a:txBody>
                  <a:tcPr anchor="ctr"/>
                </a:tc>
                <a:tc>
                  <a:txBody>
                    <a:bodyPr/>
                    <a:lstStyle/>
                    <a:p>
                      <a:pPr algn="ctr">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50   50   2</a:t>
                      </a:r>
                    </a:p>
                  </a:txBody>
                  <a:tcPr anchor="ctr"/>
                </a:tc>
                <a:tc vMerge="1">
                  <a:txBody>
                    <a:bodyPr/>
                    <a:lstStyle/>
                    <a:p>
                      <a:endParaRPr lang="zh-CN"/>
                    </a:p>
                  </a:txBody>
                  <a:tcPr anchor="ctr"/>
                </a:tc>
                <a:tc>
                  <a:txBody>
                    <a:bodyPr/>
                    <a:lstStyle/>
                    <a:p>
                      <a:pPr algn="l">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等腰三角形</a:t>
                      </a:r>
                    </a:p>
                  </a:txBody>
                  <a:tcPr anchor="ctr"/>
                </a:tc>
                <a:extLst>
                  <a:ext uri="{0D108BD9-81ED-4DB2-BD59-A6C34878D82A}">
                    <a16:rowId xmlns:a16="http://schemas.microsoft.com/office/drawing/2014/main" val="10002"/>
                  </a:ext>
                </a:extLst>
              </a:tr>
              <a:tr h="565150">
                <a:tc>
                  <a:txBody>
                    <a:bodyPr/>
                    <a:lstStyle/>
                    <a:p>
                      <a:pPr algn="ctr">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test3</a:t>
                      </a:r>
                    </a:p>
                  </a:txBody>
                  <a:tcPr anchor="ctr"/>
                </a:tc>
                <a:tc>
                  <a:txBody>
                    <a:bodyPr/>
                    <a:lstStyle/>
                    <a:p>
                      <a:pPr algn="ctr">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 50   50   50</a:t>
                      </a:r>
                    </a:p>
                  </a:txBody>
                  <a:tcPr anchor="ctr"/>
                </a:tc>
                <a:tc>
                  <a:txBody>
                    <a:bodyPr/>
                    <a:lstStyle/>
                    <a:p>
                      <a:pPr algn="ctr">
                        <a:buNone/>
                      </a:pPr>
                      <a:r>
                        <a:rPr lang="zh-CN" altLang="en-US" sz="1800" kern="1200" dirty="0">
                          <a:solidFill>
                            <a:srgbClr val="595959"/>
                          </a:solidFill>
                          <a:latin typeface="微软雅黑" panose="020B0503020204020204" pitchFamily="34" charset="-122"/>
                          <a:ea typeface="微软雅黑" panose="020B0503020204020204" pitchFamily="34" charset="-122"/>
                          <a:cs typeface="+mn-cs"/>
                        </a:rPr>
                        <a:t>无</a:t>
                      </a:r>
                    </a:p>
                  </a:txBody>
                  <a:tcPr anchor="ctr"/>
                </a:tc>
                <a:tc>
                  <a:txBody>
                    <a:bodyPr/>
                    <a:lstStyle/>
                    <a:p>
                      <a:pPr algn="l">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等</a:t>
                      </a:r>
                      <a:r>
                        <a:rPr lang="zh-CN" altLang="en-US" sz="1800" kern="1200">
                          <a:solidFill>
                            <a:srgbClr val="595959"/>
                          </a:solidFill>
                          <a:latin typeface="微软雅黑" panose="020B0503020204020204" pitchFamily="34" charset="-122"/>
                          <a:ea typeface="微软雅黑" panose="020B0503020204020204" pitchFamily="34" charset="-122"/>
                          <a:cs typeface="+mn-cs"/>
                        </a:rPr>
                        <a:t>边</a:t>
                      </a:r>
                      <a:r>
                        <a:rPr lang="en-US" altLang="zh-CN" sz="1800" kern="1200">
                          <a:solidFill>
                            <a:srgbClr val="595959"/>
                          </a:solidFill>
                          <a:latin typeface="微软雅黑" panose="020B0503020204020204" pitchFamily="34" charset="-122"/>
                          <a:ea typeface="微软雅黑" panose="020B0503020204020204" pitchFamily="34" charset="-122"/>
                          <a:cs typeface="+mn-cs"/>
                        </a:rPr>
                        <a:t>三角形</a:t>
                      </a:r>
                    </a:p>
                  </a:txBody>
                  <a:tcPr anchor="ctr"/>
                </a:tc>
                <a:extLst>
                  <a:ext uri="{0D108BD9-81ED-4DB2-BD59-A6C34878D82A}">
                    <a16:rowId xmlns:a16="http://schemas.microsoft.com/office/drawing/2014/main" val="10003"/>
                  </a:ext>
                </a:extLst>
              </a:tr>
              <a:tr h="574040">
                <a:tc>
                  <a:txBody>
                    <a:bodyPr/>
                    <a:lstStyle/>
                    <a:p>
                      <a:pPr algn="ctr">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test4</a:t>
                      </a:r>
                    </a:p>
                  </a:txBody>
                  <a:tcPr anchor="ctr"/>
                </a:tc>
                <a:tc>
                  <a:txBody>
                    <a:bodyPr/>
                    <a:lstStyle/>
                    <a:p>
                      <a:pPr algn="ctr">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50   50   99</a:t>
                      </a:r>
                    </a:p>
                  </a:txBody>
                  <a:tcPr anchor="ctr"/>
                </a:tc>
                <a:tc rowSpan="2">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100</a:t>
                      </a:r>
                    </a:p>
                  </a:txBody>
                  <a:tcPr anchor="ctr"/>
                </a:tc>
                <a:tc>
                  <a:txBody>
                    <a:bodyPr/>
                    <a:lstStyle/>
                    <a:p>
                      <a:pPr algn="l">
                        <a:buNone/>
                      </a:pPr>
                      <a:r>
                        <a:rPr lang="en-US" altLang="zh-CN" sz="1800" kern="1200">
                          <a:solidFill>
                            <a:srgbClr val="595959"/>
                          </a:solidFill>
                          <a:latin typeface="微软雅黑" panose="020B0503020204020204" pitchFamily="34" charset="-122"/>
                          <a:ea typeface="微软雅黑" panose="020B0503020204020204" pitchFamily="34" charset="-122"/>
                          <a:cs typeface="+mn-cs"/>
                          <a:sym typeface="+mn-ea"/>
                        </a:rPr>
                        <a:t>等腰三角形</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10004"/>
                  </a:ext>
                </a:extLst>
              </a:tr>
              <a:tr h="574040">
                <a:tc>
                  <a:txBody>
                    <a:bodyPr/>
                    <a:lstStyle/>
                    <a:p>
                      <a:pPr algn="ctr">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test5</a:t>
                      </a:r>
                    </a:p>
                  </a:txBody>
                  <a:tcPr anchor="ctr"/>
                </a:tc>
                <a:tc>
                  <a:txBody>
                    <a:bodyPr/>
                    <a:lstStyle/>
                    <a:p>
                      <a:pPr algn="ctr">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50   50   100</a:t>
                      </a:r>
                    </a:p>
                  </a:txBody>
                  <a:tcPr anchor="ctr"/>
                </a:tc>
                <a:tc vMerge="1">
                  <a:txBody>
                    <a:bodyPr/>
                    <a:lstStyle/>
                    <a:p>
                      <a:endParaRPr lang="zh-CN"/>
                    </a:p>
                  </a:txBody>
                  <a:tcPr anchor="ctr"/>
                </a:tc>
                <a:tc>
                  <a:txBody>
                    <a:bodyPr/>
                    <a:lstStyle/>
                    <a:p>
                      <a:pPr algn="l">
                        <a:buNone/>
                      </a:pPr>
                      <a:r>
                        <a:rPr lang="zh-CN" altLang="en-US" sz="1800" kern="1200" dirty="0">
                          <a:solidFill>
                            <a:srgbClr val="595959"/>
                          </a:solidFill>
                          <a:latin typeface="微软雅黑" panose="020B0503020204020204" pitchFamily="34" charset="-122"/>
                          <a:ea typeface="微软雅黑" panose="020B0503020204020204" pitchFamily="34" charset="-122"/>
                          <a:cs typeface="+mn-cs"/>
                          <a:sym typeface="+mn-ea"/>
                        </a:rPr>
                        <a:t>不构成</a:t>
                      </a:r>
                      <a:r>
                        <a:rPr lang="en-US" altLang="zh-CN" sz="1800" kern="1200" dirty="0" err="1">
                          <a:solidFill>
                            <a:srgbClr val="595959"/>
                          </a:solidFill>
                          <a:latin typeface="微软雅黑" panose="020B0503020204020204" pitchFamily="34" charset="-122"/>
                          <a:ea typeface="微软雅黑" panose="020B0503020204020204" pitchFamily="34" charset="-122"/>
                          <a:cs typeface="+mn-cs"/>
                          <a:sym typeface="+mn-ea"/>
                        </a:rPr>
                        <a:t>三角形</a:t>
                      </a:r>
                      <a:endParaRPr lang="en-US" altLang="zh-CN" sz="1800" kern="1200" dirty="0">
                        <a:solidFill>
                          <a:srgbClr val="595959"/>
                        </a:solidFill>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10005"/>
                  </a:ext>
                </a:extLst>
              </a:tr>
            </a:tbl>
          </a:graphicData>
        </a:graphic>
      </p:graphicFrame>
      <p:sp>
        <p:nvSpPr>
          <p:cNvPr id="3" name="Title 1"/>
          <p:cNvSpPr txBox="1"/>
          <p:nvPr/>
        </p:nvSpPr>
        <p:spPr>
          <a:xfrm>
            <a:off x="1143635" y="266700"/>
            <a:ext cx="644271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2.2.3	实例二：三角形问题的边界值分析</a:t>
            </a: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35"/>
          <p:cNvSpPr txBox="1">
            <a:spLocks noChangeArrowheads="1"/>
          </p:cNvSpPr>
          <p:nvPr/>
        </p:nvSpPr>
        <p:spPr bwMode="auto">
          <a:xfrm>
            <a:off x="4367530" y="1629409"/>
            <a:ext cx="6950075" cy="3790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no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indent="457200">
              <a:lnSpc>
                <a:spcPct val="150000"/>
              </a:lnSpc>
            </a:pPr>
            <a:r>
              <a:rPr lang="en-US" altLang="zh-CN" sz="1600" dirty="0">
                <a:solidFill>
                  <a:srgbClr val="595959"/>
                </a:solidFill>
                <a:latin typeface="微软雅黑" panose="020B0503020204020204" pitchFamily="34" charset="-122"/>
                <a:ea typeface="微软雅黑" panose="020B0503020204020204" pitchFamily="34" charset="-122"/>
              </a:rPr>
              <a:t>在 2.1.4 </a:t>
            </a:r>
            <a:r>
              <a:rPr lang="en-US" altLang="zh-CN" sz="1600" dirty="0" err="1">
                <a:solidFill>
                  <a:srgbClr val="595959"/>
                </a:solidFill>
                <a:latin typeface="微软雅黑" panose="020B0503020204020204" pitchFamily="34" charset="-122"/>
                <a:ea typeface="微软雅黑" panose="020B0503020204020204" pitchFamily="34" charset="-122"/>
              </a:rPr>
              <a:t>小节中，讲解了余额宝提现功能的等价类划分，余额宝快速到账的日提现额度最高为</a:t>
            </a:r>
            <a:r>
              <a:rPr lang="en-US" altLang="zh-CN" sz="1600" dirty="0">
                <a:solidFill>
                  <a:srgbClr val="595959"/>
                </a:solidFill>
                <a:latin typeface="微软雅黑" panose="020B0503020204020204" pitchFamily="34" charset="-122"/>
                <a:ea typeface="微软雅黑" panose="020B0503020204020204" pitchFamily="34" charset="-122"/>
              </a:rPr>
              <a:t> 10000 </a:t>
            </a:r>
            <a:r>
              <a:rPr lang="en-US" altLang="zh-CN" sz="1600" dirty="0" err="1">
                <a:solidFill>
                  <a:srgbClr val="595959"/>
                </a:solidFill>
                <a:latin typeface="微软雅黑" panose="020B0503020204020204" pitchFamily="34" charset="-122"/>
                <a:ea typeface="微软雅黑" panose="020B0503020204020204" pitchFamily="34" charset="-122"/>
              </a:rPr>
              <a:t>元，如果余额宝中的余额小于</a:t>
            </a:r>
            <a:r>
              <a:rPr lang="en-US" altLang="zh-CN" sz="1600" dirty="0">
                <a:solidFill>
                  <a:srgbClr val="595959"/>
                </a:solidFill>
                <a:latin typeface="微软雅黑" panose="020B0503020204020204" pitchFamily="34" charset="-122"/>
                <a:ea typeface="微软雅黑" panose="020B0503020204020204" pitchFamily="34" charset="-122"/>
              </a:rPr>
              <a:t> 1000 </a:t>
            </a:r>
            <a:r>
              <a:rPr lang="en-US" altLang="zh-CN" sz="1600" dirty="0" err="1">
                <a:solidFill>
                  <a:srgbClr val="595959"/>
                </a:solidFill>
                <a:latin typeface="微软雅黑" panose="020B0503020204020204" pitchFamily="34" charset="-122"/>
                <a:ea typeface="微软雅黑" panose="020B0503020204020204" pitchFamily="34" charset="-122"/>
              </a:rPr>
              <a:t>元，则普通到账的提现额度最高为余额。假设余额宝中余额为</a:t>
            </a:r>
            <a:r>
              <a:rPr lang="en-US" altLang="zh-CN" sz="1600" dirty="0">
                <a:solidFill>
                  <a:srgbClr val="595959"/>
                </a:solidFill>
                <a:latin typeface="微软雅黑" panose="020B0503020204020204" pitchFamily="34" charset="-122"/>
                <a:ea typeface="微软雅黑" panose="020B0503020204020204" pitchFamily="34" charset="-122"/>
              </a:rPr>
              <a:t> 50000 </a:t>
            </a:r>
            <a:r>
              <a:rPr lang="en-US" altLang="zh-CN" sz="1600" dirty="0" err="1">
                <a:solidFill>
                  <a:srgbClr val="595959"/>
                </a:solidFill>
                <a:latin typeface="微软雅黑" panose="020B0503020204020204" pitchFamily="34" charset="-122"/>
                <a:ea typeface="微软雅黑" panose="020B0503020204020204" pitchFamily="34" charset="-122"/>
              </a:rPr>
              <a:t>元，则在进行边界值分析时，如果是第</a:t>
            </a:r>
            <a:r>
              <a:rPr lang="en-US" altLang="zh-CN" sz="1600" dirty="0">
                <a:solidFill>
                  <a:srgbClr val="595959"/>
                </a:solidFill>
                <a:latin typeface="微软雅黑" panose="020B0503020204020204" pitchFamily="34" charset="-122"/>
                <a:ea typeface="微软雅黑" panose="020B0503020204020204" pitchFamily="34" charset="-122"/>
              </a:rPr>
              <a:t> 1 </a:t>
            </a:r>
            <a:r>
              <a:rPr lang="en-US" altLang="zh-CN" sz="1600" dirty="0" err="1">
                <a:solidFill>
                  <a:srgbClr val="595959"/>
                </a:solidFill>
                <a:latin typeface="微软雅黑" panose="020B0503020204020204" pitchFamily="34" charset="-122"/>
                <a:ea typeface="微软雅黑" panose="020B0503020204020204" pitchFamily="34" charset="-122"/>
              </a:rPr>
              <a:t>次快速到账提现，则分别对</a:t>
            </a:r>
            <a:r>
              <a:rPr lang="en-US" altLang="zh-CN" sz="1600" dirty="0">
                <a:solidFill>
                  <a:srgbClr val="595959"/>
                </a:solidFill>
                <a:latin typeface="微软雅黑" panose="020B0503020204020204" pitchFamily="34" charset="-122"/>
                <a:ea typeface="微软雅黑" panose="020B0503020204020204" pitchFamily="34" charset="-122"/>
              </a:rPr>
              <a:t> </a:t>
            </a:r>
            <a:r>
              <a:rPr lang="en-US" altLang="zh-CN" sz="1600" dirty="0">
                <a:solidFill>
                  <a:srgbClr val="0070C0"/>
                </a:solidFill>
                <a:latin typeface="微软雅黑" panose="020B0503020204020204" pitchFamily="34" charset="-122"/>
                <a:ea typeface="微软雅黑" panose="020B0503020204020204" pitchFamily="34" charset="-122"/>
              </a:rPr>
              <a:t>0 </a:t>
            </a:r>
            <a:r>
              <a:rPr lang="en-US" altLang="zh-CN" sz="1600" dirty="0">
                <a:solidFill>
                  <a:srgbClr val="595959"/>
                </a:solidFill>
                <a:latin typeface="微软雅黑" panose="020B0503020204020204" pitchFamily="34" charset="-122"/>
                <a:ea typeface="微软雅黑" panose="020B0503020204020204" pitchFamily="34" charset="-122"/>
              </a:rPr>
              <a:t>和</a:t>
            </a:r>
            <a:r>
              <a:rPr lang="en-US" altLang="zh-CN" sz="1600" dirty="0">
                <a:solidFill>
                  <a:srgbClr val="0070C0"/>
                </a:solidFill>
                <a:latin typeface="微软雅黑" panose="020B0503020204020204" pitchFamily="34" charset="-122"/>
                <a:ea typeface="微软雅黑" panose="020B0503020204020204" pitchFamily="34" charset="-122"/>
              </a:rPr>
              <a:t> 10000 </a:t>
            </a:r>
            <a:r>
              <a:rPr lang="en-US" altLang="zh-CN" sz="1600" dirty="0">
                <a:solidFill>
                  <a:srgbClr val="595959"/>
                </a:solidFill>
                <a:latin typeface="微软雅黑" panose="020B0503020204020204" pitchFamily="34" charset="-122"/>
                <a:ea typeface="微软雅黑" panose="020B0503020204020204" pitchFamily="34" charset="-122"/>
              </a:rPr>
              <a:t>这 2 个边界值进行测试，分别取</a:t>
            </a:r>
            <a:r>
              <a:rPr lang="en-US" altLang="zh-CN" sz="1600" dirty="0">
                <a:solidFill>
                  <a:srgbClr val="0070C0"/>
                </a:solidFill>
                <a:latin typeface="微软雅黑" panose="020B0503020204020204" pitchFamily="34" charset="-122"/>
                <a:ea typeface="微软雅黑" panose="020B0503020204020204" pitchFamily="34" charset="-122"/>
              </a:rPr>
              <a:t>-1、0、1、5000、9999、10000、10001 </a:t>
            </a:r>
            <a:r>
              <a:rPr lang="en-US" altLang="zh-CN" sz="1600" dirty="0">
                <a:solidFill>
                  <a:srgbClr val="595959"/>
                </a:solidFill>
                <a:latin typeface="微软雅黑" panose="020B0503020204020204" pitchFamily="34" charset="-122"/>
                <a:ea typeface="微软雅黑" panose="020B0503020204020204" pitchFamily="34" charset="-122"/>
              </a:rPr>
              <a:t>这 7 </a:t>
            </a:r>
            <a:r>
              <a:rPr lang="en-US" altLang="zh-CN" sz="1600" dirty="0" err="1">
                <a:solidFill>
                  <a:srgbClr val="595959"/>
                </a:solidFill>
                <a:latin typeface="微软雅黑" panose="020B0503020204020204" pitchFamily="34" charset="-122"/>
                <a:ea typeface="微软雅黑" panose="020B0503020204020204" pitchFamily="34" charset="-122"/>
              </a:rPr>
              <a:t>个值作为测试值；如果是第</a:t>
            </a:r>
            <a:r>
              <a:rPr lang="en-US" altLang="zh-CN" sz="1600" dirty="0">
                <a:solidFill>
                  <a:srgbClr val="595959"/>
                </a:solidFill>
                <a:latin typeface="微软雅黑" panose="020B0503020204020204" pitchFamily="34" charset="-122"/>
                <a:ea typeface="微软雅黑" panose="020B0503020204020204" pitchFamily="34" charset="-122"/>
              </a:rPr>
              <a:t> n </a:t>
            </a:r>
            <a:r>
              <a:rPr lang="en-US" altLang="zh-CN" sz="1600" dirty="0" err="1">
                <a:solidFill>
                  <a:srgbClr val="595959"/>
                </a:solidFill>
                <a:latin typeface="微软雅黑" panose="020B0503020204020204" pitchFamily="34" charset="-122"/>
                <a:ea typeface="微软雅黑" panose="020B0503020204020204" pitchFamily="34" charset="-122"/>
              </a:rPr>
              <a:t>次快速到账提现（假设已提现</a:t>
            </a:r>
            <a:r>
              <a:rPr lang="en-US" altLang="zh-CN" sz="1600" dirty="0">
                <a:solidFill>
                  <a:srgbClr val="595959"/>
                </a:solidFill>
                <a:latin typeface="微软雅黑" panose="020B0503020204020204" pitchFamily="34" charset="-122"/>
                <a:ea typeface="微软雅黑" panose="020B0503020204020204" pitchFamily="34" charset="-122"/>
              </a:rPr>
              <a:t> 2000 元），</a:t>
            </a:r>
            <a:r>
              <a:rPr lang="en-US" altLang="zh-CN" sz="1600" dirty="0" err="1">
                <a:solidFill>
                  <a:srgbClr val="595959"/>
                </a:solidFill>
                <a:latin typeface="微软雅黑" panose="020B0503020204020204" pitchFamily="34" charset="-122"/>
                <a:ea typeface="微软雅黑" panose="020B0503020204020204" pitchFamily="34" charset="-122"/>
              </a:rPr>
              <a:t>则分别对</a:t>
            </a:r>
            <a:r>
              <a:rPr lang="en-US" altLang="zh-CN" sz="1600" dirty="0">
                <a:solidFill>
                  <a:srgbClr val="595959"/>
                </a:solidFill>
                <a:latin typeface="微软雅黑" panose="020B0503020204020204" pitchFamily="34" charset="-122"/>
                <a:ea typeface="微软雅黑" panose="020B0503020204020204" pitchFamily="34" charset="-122"/>
              </a:rPr>
              <a:t> </a:t>
            </a:r>
            <a:r>
              <a:rPr lang="en-US" altLang="zh-CN" sz="1600" dirty="0">
                <a:solidFill>
                  <a:srgbClr val="0070C0"/>
                </a:solidFill>
                <a:latin typeface="微软雅黑" panose="020B0503020204020204" pitchFamily="34" charset="-122"/>
                <a:ea typeface="微软雅黑" panose="020B0503020204020204" pitchFamily="34" charset="-122"/>
              </a:rPr>
              <a:t>0</a:t>
            </a:r>
            <a:r>
              <a:rPr lang="en-US" altLang="zh-CN" sz="1600" dirty="0">
                <a:solidFill>
                  <a:srgbClr val="595959"/>
                </a:solidFill>
                <a:latin typeface="微软雅黑" panose="020B0503020204020204" pitchFamily="34" charset="-122"/>
                <a:ea typeface="微软雅黑" panose="020B0503020204020204" pitchFamily="34" charset="-122"/>
              </a:rPr>
              <a:t> 和 </a:t>
            </a:r>
            <a:r>
              <a:rPr lang="en-US" altLang="zh-CN" sz="1600" dirty="0">
                <a:solidFill>
                  <a:srgbClr val="0070C0"/>
                </a:solidFill>
                <a:latin typeface="微软雅黑" panose="020B0503020204020204" pitchFamily="34" charset="-122"/>
                <a:ea typeface="微软雅黑" panose="020B0503020204020204" pitchFamily="34" charset="-122"/>
              </a:rPr>
              <a:t>8000</a:t>
            </a:r>
            <a:r>
              <a:rPr lang="en-US" altLang="zh-CN" sz="1600" dirty="0">
                <a:solidFill>
                  <a:srgbClr val="595959"/>
                </a:solidFill>
                <a:latin typeface="微软雅黑" panose="020B0503020204020204" pitchFamily="34" charset="-122"/>
                <a:ea typeface="微软雅黑" panose="020B0503020204020204" pitchFamily="34" charset="-122"/>
              </a:rPr>
              <a:t> 这 2 个边界值进行测试，分别取</a:t>
            </a:r>
            <a:r>
              <a:rPr lang="en-US" altLang="zh-CN" sz="1600" dirty="0">
                <a:solidFill>
                  <a:srgbClr val="0070C0"/>
                </a:solidFill>
                <a:latin typeface="微软雅黑" panose="020B0503020204020204" pitchFamily="34" charset="-122"/>
                <a:ea typeface="微软雅黑" panose="020B0503020204020204" pitchFamily="34" charset="-122"/>
              </a:rPr>
              <a:t>-1、0、1、5000、7999、8000、8001 </a:t>
            </a:r>
            <a:r>
              <a:rPr lang="en-US" altLang="zh-CN" sz="1600" dirty="0">
                <a:solidFill>
                  <a:srgbClr val="595959"/>
                </a:solidFill>
                <a:latin typeface="微软雅黑" panose="020B0503020204020204" pitchFamily="34" charset="-122"/>
                <a:ea typeface="微软雅黑" panose="020B0503020204020204" pitchFamily="34" charset="-122"/>
              </a:rPr>
              <a:t>这 7 </a:t>
            </a:r>
            <a:r>
              <a:rPr lang="en-US" altLang="zh-CN" sz="1600" dirty="0" err="1">
                <a:solidFill>
                  <a:srgbClr val="595959"/>
                </a:solidFill>
                <a:latin typeface="微软雅黑" panose="020B0503020204020204" pitchFamily="34" charset="-122"/>
                <a:ea typeface="微软雅黑" panose="020B0503020204020204" pitchFamily="34" charset="-122"/>
              </a:rPr>
              <a:t>个值作为测试值；如果是普通到账提现，则对</a:t>
            </a:r>
            <a:r>
              <a:rPr lang="en-US" altLang="zh-CN" sz="1600" dirty="0">
                <a:solidFill>
                  <a:srgbClr val="595959"/>
                </a:solidFill>
                <a:latin typeface="微软雅黑" panose="020B0503020204020204" pitchFamily="34" charset="-122"/>
                <a:ea typeface="微软雅黑" panose="020B0503020204020204" pitchFamily="34" charset="-122"/>
              </a:rPr>
              <a:t> </a:t>
            </a:r>
            <a:r>
              <a:rPr lang="en-US" altLang="zh-CN" sz="1600" dirty="0">
                <a:solidFill>
                  <a:srgbClr val="0070C0"/>
                </a:solidFill>
                <a:latin typeface="微软雅黑" panose="020B0503020204020204" pitchFamily="34" charset="-122"/>
                <a:ea typeface="微软雅黑" panose="020B0503020204020204" pitchFamily="34" charset="-122"/>
              </a:rPr>
              <a:t>0 </a:t>
            </a:r>
            <a:r>
              <a:rPr lang="en-US" altLang="zh-CN" sz="1600" dirty="0">
                <a:solidFill>
                  <a:srgbClr val="595959"/>
                </a:solidFill>
                <a:latin typeface="微软雅黑" panose="020B0503020204020204" pitchFamily="34" charset="-122"/>
                <a:ea typeface="微软雅黑" panose="020B0503020204020204" pitchFamily="34" charset="-122"/>
              </a:rPr>
              <a:t>和 </a:t>
            </a:r>
            <a:r>
              <a:rPr lang="en-US" altLang="zh-CN" sz="1600" dirty="0">
                <a:solidFill>
                  <a:srgbClr val="0070C0"/>
                </a:solidFill>
                <a:latin typeface="微软雅黑" panose="020B0503020204020204" pitchFamily="34" charset="-122"/>
                <a:ea typeface="微软雅黑" panose="020B0503020204020204" pitchFamily="34" charset="-122"/>
              </a:rPr>
              <a:t>50000 </a:t>
            </a:r>
            <a:r>
              <a:rPr lang="en-US" altLang="zh-CN" sz="1600" dirty="0">
                <a:solidFill>
                  <a:srgbClr val="595959"/>
                </a:solidFill>
                <a:latin typeface="微软雅黑" panose="020B0503020204020204" pitchFamily="34" charset="-122"/>
                <a:ea typeface="微软雅黑" panose="020B0503020204020204" pitchFamily="34" charset="-122"/>
              </a:rPr>
              <a:t>这 2 个边界值进行测试，分别取</a:t>
            </a:r>
            <a:r>
              <a:rPr lang="en-US" altLang="zh-CN" sz="1600" dirty="0">
                <a:solidFill>
                  <a:srgbClr val="0070C0"/>
                </a:solidFill>
                <a:latin typeface="微软雅黑" panose="020B0503020204020204" pitchFamily="34" charset="-122"/>
                <a:ea typeface="微软雅黑" panose="020B0503020204020204" pitchFamily="34" charset="-122"/>
              </a:rPr>
              <a:t>-1、0、1、20000、49999、50000、50001 </a:t>
            </a:r>
            <a:r>
              <a:rPr lang="en-US" altLang="zh-CN" sz="1600" dirty="0">
                <a:solidFill>
                  <a:srgbClr val="595959"/>
                </a:solidFill>
                <a:latin typeface="微软雅黑" panose="020B0503020204020204" pitchFamily="34" charset="-122"/>
                <a:ea typeface="微软雅黑" panose="020B0503020204020204" pitchFamily="34" charset="-122"/>
              </a:rPr>
              <a:t>这 7 </a:t>
            </a:r>
            <a:r>
              <a:rPr lang="en-US" altLang="zh-CN" sz="1600" dirty="0" err="1">
                <a:solidFill>
                  <a:srgbClr val="595959"/>
                </a:solidFill>
                <a:latin typeface="微软雅黑" panose="020B0503020204020204" pitchFamily="34" charset="-122"/>
                <a:ea typeface="微软雅黑" panose="020B0503020204020204" pitchFamily="34" charset="-122"/>
              </a:rPr>
              <a:t>个值作为测试值</a:t>
            </a:r>
            <a:r>
              <a:rPr lang="en-US" altLang="zh-CN" sz="1600" dirty="0">
                <a:solidFill>
                  <a:srgbClr val="595959"/>
                </a:solidFill>
                <a:latin typeface="微软雅黑" panose="020B0503020204020204" pitchFamily="34" charset="-122"/>
                <a:ea typeface="微软雅黑" panose="020B0503020204020204" pitchFamily="34" charset="-122"/>
              </a:rPr>
              <a:t>。</a:t>
            </a:r>
            <a:endParaRPr lang="zh-CN" altLang="zh-CN" sz="1600" dirty="0">
              <a:solidFill>
                <a:srgbClr val="595959"/>
              </a:solidFill>
              <a:latin typeface="微软雅黑" panose="020B0503020204020204" pitchFamily="34" charset="-122"/>
              <a:ea typeface="微软雅黑" panose="020B0503020204020204" pitchFamily="34" charset="-122"/>
            </a:endParaRPr>
          </a:p>
          <a:p>
            <a:pPr algn="just">
              <a:lnSpc>
                <a:spcPct val="150000"/>
              </a:lnSpc>
              <a:buClrTx/>
              <a:buSzTx/>
              <a:buFontTx/>
            </a:pPr>
            <a:endParaRPr lang="zh-CN" altLang="en-US" sz="1600" dirty="0">
              <a:solidFill>
                <a:srgbClr val="595959"/>
              </a:solidFill>
              <a:latin typeface="微软雅黑" panose="020B0503020204020204" pitchFamily="34" charset="-122"/>
              <a:ea typeface="微软雅黑" panose="020B0503020204020204" pitchFamily="34" charset="-122"/>
            </a:endParaRPr>
          </a:p>
        </p:txBody>
      </p:sp>
      <p:sp>
        <p:nvSpPr>
          <p:cNvPr id="5" name="Title 1"/>
          <p:cNvSpPr txBox="1"/>
          <p:nvPr/>
        </p:nvSpPr>
        <p:spPr>
          <a:xfrm>
            <a:off x="1143635" y="266700"/>
            <a:ext cx="644271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2.2.4	实例三：余额宝提现的边界值分析</a:t>
            </a:r>
          </a:p>
        </p:txBody>
      </p:sp>
      <p:pic>
        <p:nvPicPr>
          <p:cNvPr id="6" name="图片 5"/>
          <p:cNvPicPr>
            <a:picLocks noChangeAspect="1"/>
          </p:cNvPicPr>
          <p:nvPr/>
        </p:nvPicPr>
        <p:blipFill>
          <a:blip r:embed="rId3"/>
          <a:stretch>
            <a:fillRect/>
          </a:stretch>
        </p:blipFill>
        <p:spPr>
          <a:xfrm>
            <a:off x="695241" y="1413456"/>
            <a:ext cx="3715858" cy="4006159"/>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35"/>
          <p:cNvSpPr txBox="1">
            <a:spLocks noChangeArrowheads="1"/>
          </p:cNvSpPr>
          <p:nvPr/>
        </p:nvSpPr>
        <p:spPr bwMode="auto">
          <a:xfrm>
            <a:off x="1127125" y="909320"/>
            <a:ext cx="9710420" cy="6394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no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buClrTx/>
              <a:buSzTx/>
              <a:buFontTx/>
            </a:pPr>
            <a:r>
              <a:rPr lang="zh-CN" altLang="en-US" sz="1800" dirty="0">
                <a:solidFill>
                  <a:srgbClr val="595959"/>
                </a:solidFill>
                <a:latin typeface="微软雅黑" panose="020B0503020204020204" pitchFamily="34" charset="-122"/>
                <a:ea typeface="微软雅黑" panose="020B0503020204020204" pitchFamily="34" charset="-122"/>
              </a:rPr>
              <a:t>根据前面分析即可设计测试用例，</a:t>
            </a:r>
            <a:r>
              <a:rPr lang="zh-CN" altLang="en-US" sz="1800" dirty="0">
                <a:solidFill>
                  <a:srgbClr val="0070C0"/>
                </a:solidFill>
                <a:latin typeface="微软雅黑" panose="020B0503020204020204" pitchFamily="34" charset="-122"/>
                <a:ea typeface="微软雅黑" panose="020B0503020204020204" pitchFamily="34" charset="-122"/>
              </a:rPr>
              <a:t>余额宝提</a:t>
            </a:r>
            <a:r>
              <a:rPr lang="zh-CN" altLang="en-US" sz="1800">
                <a:solidFill>
                  <a:srgbClr val="0070C0"/>
                </a:solidFill>
                <a:latin typeface="微软雅黑" panose="020B0503020204020204" pitchFamily="34" charset="-122"/>
                <a:ea typeface="微软雅黑" panose="020B0503020204020204" pitchFamily="34" charset="-122"/>
              </a:rPr>
              <a:t>现边界值分析的测试用例</a:t>
            </a:r>
            <a:r>
              <a:rPr lang="zh-CN" altLang="en-US" sz="1800" dirty="0">
                <a:solidFill>
                  <a:srgbClr val="595959"/>
                </a:solidFill>
                <a:latin typeface="微软雅黑" panose="020B0503020204020204" pitchFamily="34" charset="-122"/>
                <a:ea typeface="微软雅黑" panose="020B0503020204020204" pitchFamily="34" charset="-122"/>
              </a:rPr>
              <a:t>如下表所示。</a:t>
            </a:r>
          </a:p>
        </p:txBody>
      </p:sp>
      <p:graphicFrame>
        <p:nvGraphicFramePr>
          <p:cNvPr id="2" name="表格 1"/>
          <p:cNvGraphicFramePr/>
          <p:nvPr>
            <p:custDataLst>
              <p:tags r:id="rId1"/>
            </p:custDataLst>
          </p:nvPr>
        </p:nvGraphicFramePr>
        <p:xfrm>
          <a:off x="2495550" y="1702435"/>
          <a:ext cx="6780979" cy="4631690"/>
        </p:xfrm>
        <a:graphic>
          <a:graphicData uri="http://schemas.openxmlformats.org/drawingml/2006/table">
            <a:tbl>
              <a:tblPr firstRow="1" bandRow="1">
                <a:tableStyleId>{5C22544A-7EE6-4342-B048-85BDC9FD1C3A}</a:tableStyleId>
              </a:tblPr>
              <a:tblGrid>
                <a:gridCol w="1447087">
                  <a:extLst>
                    <a:ext uri="{9D8B030D-6E8A-4147-A177-3AD203B41FA5}">
                      <a16:colId xmlns:a16="http://schemas.microsoft.com/office/drawing/2014/main" val="20000"/>
                    </a:ext>
                  </a:extLst>
                </a:gridCol>
                <a:gridCol w="1282476">
                  <a:extLst>
                    <a:ext uri="{9D8B030D-6E8A-4147-A177-3AD203B41FA5}">
                      <a16:colId xmlns:a16="http://schemas.microsoft.com/office/drawing/2014/main" val="20001"/>
                    </a:ext>
                  </a:extLst>
                </a:gridCol>
                <a:gridCol w="1143040">
                  <a:extLst>
                    <a:ext uri="{9D8B030D-6E8A-4147-A177-3AD203B41FA5}">
                      <a16:colId xmlns:a16="http://schemas.microsoft.com/office/drawing/2014/main" val="20002"/>
                    </a:ext>
                  </a:extLst>
                </a:gridCol>
                <a:gridCol w="1454188">
                  <a:extLst>
                    <a:ext uri="{9D8B030D-6E8A-4147-A177-3AD203B41FA5}">
                      <a16:colId xmlns:a16="http://schemas.microsoft.com/office/drawing/2014/main" val="20003"/>
                    </a:ext>
                  </a:extLst>
                </a:gridCol>
                <a:gridCol w="1454188">
                  <a:extLst>
                    <a:ext uri="{9D8B030D-6E8A-4147-A177-3AD203B41FA5}">
                      <a16:colId xmlns:a16="http://schemas.microsoft.com/office/drawing/2014/main" val="20004"/>
                    </a:ext>
                  </a:extLst>
                </a:gridCol>
              </a:tblGrid>
              <a:tr h="613410">
                <a:tc>
                  <a:txBody>
                    <a:bodyPr/>
                    <a:lstStyle/>
                    <a:p>
                      <a:pPr algn="ctr">
                        <a:lnSpc>
                          <a:spcPct val="90000"/>
                        </a:lnSpc>
                        <a:buNone/>
                      </a:pPr>
                      <a:r>
                        <a:rPr lang="zh-CN" altLang="en-US" sz="1800" b="1">
                          <a:latin typeface="微软雅黑" panose="020B0503020204020204" pitchFamily="34" charset="-122"/>
                          <a:ea typeface="微软雅黑" panose="020B0503020204020204" pitchFamily="34" charset="-122"/>
                        </a:rPr>
                        <a:t>测试用例</a:t>
                      </a:r>
                    </a:p>
                  </a:txBody>
                  <a:tcPr anchor="ctr"/>
                </a:tc>
                <a:tc>
                  <a:txBody>
                    <a:bodyPr/>
                    <a:lstStyle/>
                    <a:p>
                      <a:pPr algn="ctr">
                        <a:lnSpc>
                          <a:spcPct val="90000"/>
                        </a:lnSpc>
                        <a:buNone/>
                      </a:pPr>
                      <a:r>
                        <a:rPr sz="1800">
                          <a:latin typeface="微软雅黑" panose="020B0503020204020204" pitchFamily="34" charset="-122"/>
                          <a:ea typeface="微软雅黑" panose="020B0503020204020204" pitchFamily="34" charset="-122"/>
                        </a:rPr>
                        <a:t>功能</a:t>
                      </a:r>
                    </a:p>
                  </a:txBody>
                  <a:tcPr anchor="ctr"/>
                </a:tc>
                <a:tc>
                  <a:txBody>
                    <a:bodyPr/>
                    <a:lstStyle/>
                    <a:p>
                      <a:pPr algn="ctr">
                        <a:lnSpc>
                          <a:spcPct val="90000"/>
                        </a:lnSpc>
                        <a:buNone/>
                      </a:pPr>
                      <a:r>
                        <a:rPr lang="zh-CN" altLang="en-US" sz="1800">
                          <a:latin typeface="微软雅黑" panose="020B0503020204020204" pitchFamily="34" charset="-122"/>
                          <a:ea typeface="微软雅黑" panose="020B0503020204020204" pitchFamily="34" charset="-122"/>
                        </a:rPr>
                        <a:t>金额</a:t>
                      </a:r>
                    </a:p>
                  </a:txBody>
                  <a:tcPr anchor="ctr"/>
                </a:tc>
                <a:tc>
                  <a:txBody>
                    <a:bodyPr/>
                    <a:lstStyle/>
                    <a:p>
                      <a:pPr algn="ctr">
                        <a:lnSpc>
                          <a:spcPct val="90000"/>
                        </a:lnSpc>
                        <a:buNone/>
                      </a:pPr>
                      <a:r>
                        <a:rPr lang="zh-CN" altLang="en-US" sz="1800">
                          <a:latin typeface="微软雅黑" panose="020B0503020204020204" pitchFamily="34" charset="-122"/>
                          <a:ea typeface="微软雅黑" panose="020B0503020204020204" pitchFamily="34" charset="-122"/>
                        </a:rPr>
                        <a:t>被测边界</a:t>
                      </a:r>
                    </a:p>
                  </a:txBody>
                  <a:tcPr anchor="ctr"/>
                </a:tc>
                <a:tc>
                  <a:txBody>
                    <a:bodyPr/>
                    <a:lstStyle/>
                    <a:p>
                      <a:pPr algn="ctr">
                        <a:lnSpc>
                          <a:spcPct val="90000"/>
                        </a:lnSpc>
                        <a:buNone/>
                      </a:pPr>
                      <a:r>
                        <a:rPr lang="zh-CN" altLang="en-US" sz="1800">
                          <a:latin typeface="微软雅黑" panose="020B0503020204020204" pitchFamily="34" charset="-122"/>
                          <a:ea typeface="微软雅黑" panose="020B0503020204020204" pitchFamily="34" charset="-122"/>
                        </a:rPr>
                        <a:t>预期输出</a:t>
                      </a:r>
                    </a:p>
                  </a:txBody>
                  <a:tcPr anchor="ctr"/>
                </a:tc>
                <a:extLst>
                  <a:ext uri="{0D108BD9-81ED-4DB2-BD59-A6C34878D82A}">
                    <a16:rowId xmlns:a16="http://schemas.microsoft.com/office/drawing/2014/main" val="10000"/>
                  </a:ext>
                </a:extLst>
              </a:tr>
              <a:tr h="598805">
                <a:tc>
                  <a:txBody>
                    <a:bodyPr/>
                    <a:lstStyle/>
                    <a:p>
                      <a:pPr algn="ctr">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test1</a:t>
                      </a:r>
                    </a:p>
                  </a:txBody>
                  <a:tcPr anchor="ctr"/>
                </a:tc>
                <a:tc rowSpan="7">
                  <a:txBody>
                    <a:bodyPr/>
                    <a:lstStyle/>
                    <a:p>
                      <a:pPr algn="ctr">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快速到账（第1次）</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-1</a:t>
                      </a:r>
                    </a:p>
                  </a:txBody>
                  <a:tcPr anchor="ctr"/>
                </a:tc>
                <a:tc rowSpan="3">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0</a:t>
                      </a:r>
                    </a:p>
                  </a:txBody>
                  <a:tcPr anchor="ctr"/>
                </a:tc>
                <a:tc>
                  <a:txBody>
                    <a:bodyPr/>
                    <a:lstStyle/>
                    <a:p>
                      <a:pPr algn="ctr">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无法提现</a:t>
                      </a:r>
                    </a:p>
                  </a:txBody>
                  <a:tcPr anchor="ctr"/>
                </a:tc>
                <a:extLst>
                  <a:ext uri="{0D108BD9-81ED-4DB2-BD59-A6C34878D82A}">
                    <a16:rowId xmlns:a16="http://schemas.microsoft.com/office/drawing/2014/main" val="10001"/>
                  </a:ext>
                </a:extLst>
              </a:tr>
              <a:tr h="558165">
                <a:tc>
                  <a:txBody>
                    <a:bodyPr/>
                    <a:lstStyle/>
                    <a:p>
                      <a:pPr algn="ctr">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test2</a:t>
                      </a:r>
                    </a:p>
                  </a:txBody>
                  <a:tcPr anchor="ctr"/>
                </a:tc>
                <a:tc vMerge="1">
                  <a:txBody>
                    <a:bodyPr/>
                    <a:lstStyle/>
                    <a:p>
                      <a:endParaRPr lang="zh-CN"/>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0</a:t>
                      </a:r>
                    </a:p>
                  </a:txBody>
                  <a:tcPr anchor="ctr"/>
                </a:tc>
                <a:tc vMerge="1">
                  <a:txBody>
                    <a:bodyPr/>
                    <a:lstStyle/>
                    <a:p>
                      <a:endParaRPr lang="zh-CN"/>
                    </a:p>
                  </a:txBody>
                  <a:tcPr anchor="ctr"/>
                </a:tc>
                <a:tc>
                  <a:txBody>
                    <a:bodyPr/>
                    <a:lstStyle/>
                    <a:p>
                      <a:pPr algn="ctr">
                        <a:buNone/>
                      </a:pPr>
                      <a:r>
                        <a:rPr lang="zh-CN" altLang="en-US" sz="1800" kern="1200">
                          <a:solidFill>
                            <a:srgbClr val="595959"/>
                          </a:solidFill>
                          <a:latin typeface="微软雅黑" panose="020B0503020204020204" pitchFamily="34" charset="-122"/>
                          <a:ea typeface="微软雅黑" panose="020B0503020204020204" pitchFamily="34" charset="-122"/>
                          <a:cs typeface="+mn-cs"/>
                          <a:sym typeface="+mn-ea"/>
                        </a:rPr>
                        <a:t>无法提现</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10002"/>
                  </a:ext>
                </a:extLst>
              </a:tr>
              <a:tr h="565150">
                <a:tc>
                  <a:txBody>
                    <a:bodyPr/>
                    <a:lstStyle/>
                    <a:p>
                      <a:pPr algn="ctr">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test3</a:t>
                      </a:r>
                    </a:p>
                  </a:txBody>
                  <a:tcPr anchor="ctr"/>
                </a:tc>
                <a:tc vMerge="1">
                  <a:txBody>
                    <a:bodyPr/>
                    <a:lstStyle/>
                    <a:p>
                      <a:endParaRPr lang="zh-CN"/>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1</a:t>
                      </a:r>
                    </a:p>
                  </a:txBody>
                  <a:tcPr anchor="ctr"/>
                </a:tc>
                <a:tc vMerge="1">
                  <a:txBody>
                    <a:bodyPr/>
                    <a:lstStyle/>
                    <a:p>
                      <a:endParaRPr lang="zh-CN"/>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1</a:t>
                      </a:r>
                    </a:p>
                  </a:txBody>
                  <a:tcPr anchor="ctr"/>
                </a:tc>
                <a:extLst>
                  <a:ext uri="{0D108BD9-81ED-4DB2-BD59-A6C34878D82A}">
                    <a16:rowId xmlns:a16="http://schemas.microsoft.com/office/drawing/2014/main" val="10003"/>
                  </a:ext>
                </a:extLst>
              </a:tr>
              <a:tr h="574040">
                <a:tc>
                  <a:txBody>
                    <a:bodyPr/>
                    <a:lstStyle/>
                    <a:p>
                      <a:pPr algn="ctr">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test4</a:t>
                      </a:r>
                    </a:p>
                  </a:txBody>
                  <a:tcPr anchor="ctr"/>
                </a:tc>
                <a:tc vMerge="1">
                  <a:txBody>
                    <a:bodyPr/>
                    <a:lstStyle/>
                    <a:p>
                      <a:endParaRPr lang="zh-CN"/>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5000</a:t>
                      </a:r>
                    </a:p>
                  </a:txBody>
                  <a:tcPr anchor="ctr"/>
                </a:tc>
                <a:tc>
                  <a:txBody>
                    <a:bodyPr/>
                    <a:lstStyle/>
                    <a:p>
                      <a:pPr algn="ctr">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无</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5000</a:t>
                      </a:r>
                    </a:p>
                  </a:txBody>
                  <a:tcPr anchor="ctr"/>
                </a:tc>
                <a:extLst>
                  <a:ext uri="{0D108BD9-81ED-4DB2-BD59-A6C34878D82A}">
                    <a16:rowId xmlns:a16="http://schemas.microsoft.com/office/drawing/2014/main" val="10004"/>
                  </a:ext>
                </a:extLst>
              </a:tr>
              <a:tr h="574040">
                <a:tc>
                  <a:txBody>
                    <a:bodyPr/>
                    <a:lstStyle/>
                    <a:p>
                      <a:pPr algn="ctr">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test5</a:t>
                      </a:r>
                    </a:p>
                  </a:txBody>
                  <a:tcPr anchor="ctr"/>
                </a:tc>
                <a:tc vMerge="1">
                  <a:txBody>
                    <a:bodyPr/>
                    <a:lstStyle/>
                    <a:p>
                      <a:endParaRPr lang="zh-CN"/>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9999</a:t>
                      </a:r>
                    </a:p>
                  </a:txBody>
                  <a:tcPr anchor="ctr"/>
                </a:tc>
                <a:tc rowSpan="3">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10000</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9999</a:t>
                      </a:r>
                    </a:p>
                  </a:txBody>
                  <a:tcPr anchor="ctr"/>
                </a:tc>
                <a:extLst>
                  <a:ext uri="{0D108BD9-81ED-4DB2-BD59-A6C34878D82A}">
                    <a16:rowId xmlns:a16="http://schemas.microsoft.com/office/drawing/2014/main" val="10005"/>
                  </a:ext>
                </a:extLst>
              </a:tr>
              <a:tr h="574040">
                <a:tc>
                  <a:txBody>
                    <a:bodyPr/>
                    <a:lstStyle/>
                    <a:p>
                      <a:pPr algn="ctr">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sym typeface="+mn-ea"/>
                        </a:rPr>
                        <a:t>test6</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vMerge="1">
                  <a:txBody>
                    <a:bodyPr/>
                    <a:lstStyle/>
                    <a:p>
                      <a:endParaRPr lang="zh-CN"/>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10000</a:t>
                      </a:r>
                    </a:p>
                  </a:txBody>
                  <a:tcPr anchor="ctr"/>
                </a:tc>
                <a:tc vMerge="1">
                  <a:txBody>
                    <a:bodyPr/>
                    <a:lstStyle/>
                    <a:p>
                      <a:endParaRPr lang="zh-CN"/>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10000</a:t>
                      </a:r>
                    </a:p>
                  </a:txBody>
                  <a:tcPr anchor="ctr"/>
                </a:tc>
                <a:extLst>
                  <a:ext uri="{0D108BD9-81ED-4DB2-BD59-A6C34878D82A}">
                    <a16:rowId xmlns:a16="http://schemas.microsoft.com/office/drawing/2014/main" val="10006"/>
                  </a:ext>
                </a:extLst>
              </a:tr>
              <a:tr h="574040">
                <a:tc>
                  <a:txBody>
                    <a:bodyPr/>
                    <a:lstStyle/>
                    <a:p>
                      <a:pPr algn="ctr">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sym typeface="+mn-ea"/>
                        </a:rPr>
                        <a:t>test7</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vMerge="1">
                  <a:txBody>
                    <a:bodyPr/>
                    <a:lstStyle/>
                    <a:p>
                      <a:endParaRPr lang="zh-CN"/>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sym typeface="+mn-ea"/>
                        </a:rPr>
                        <a:t>10001</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vMerge="1">
                  <a:txBody>
                    <a:bodyPr/>
                    <a:lstStyle/>
                    <a:p>
                      <a:endParaRPr lang="zh-CN"/>
                    </a:p>
                  </a:txBody>
                  <a:tcPr anchor="ctr"/>
                </a:tc>
                <a:tc>
                  <a:txBody>
                    <a:bodyPr/>
                    <a:lstStyle/>
                    <a:p>
                      <a:pPr algn="ctr">
                        <a:buNone/>
                      </a:pPr>
                      <a:r>
                        <a:rPr lang="zh-CN" altLang="en-US" sz="1800" kern="1200">
                          <a:solidFill>
                            <a:srgbClr val="595959"/>
                          </a:solidFill>
                          <a:latin typeface="微软雅黑" panose="020B0503020204020204" pitchFamily="34" charset="-122"/>
                          <a:ea typeface="微软雅黑" panose="020B0503020204020204" pitchFamily="34" charset="-122"/>
                          <a:cs typeface="+mn-cs"/>
                          <a:sym typeface="+mn-ea"/>
                        </a:rPr>
                        <a:t>无法提现</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10007"/>
                  </a:ext>
                </a:extLst>
              </a:tr>
            </a:tbl>
          </a:graphicData>
        </a:graphic>
      </p:graphicFrame>
      <p:sp>
        <p:nvSpPr>
          <p:cNvPr id="5" name="Title 1"/>
          <p:cNvSpPr txBox="1"/>
          <p:nvPr/>
        </p:nvSpPr>
        <p:spPr>
          <a:xfrm>
            <a:off x="1143635" y="266700"/>
            <a:ext cx="644271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2.2.4	实例三：余额宝提现的边界值分析</a:t>
            </a: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p:cNvGraphicFramePr/>
          <p:nvPr>
            <p:custDataLst>
              <p:tags r:id="rId1"/>
            </p:custDataLst>
          </p:nvPr>
        </p:nvGraphicFramePr>
        <p:xfrm>
          <a:off x="2423160" y="1341755"/>
          <a:ext cx="6780979" cy="4631690"/>
        </p:xfrm>
        <a:graphic>
          <a:graphicData uri="http://schemas.openxmlformats.org/drawingml/2006/table">
            <a:tbl>
              <a:tblPr firstRow="1" bandRow="1">
                <a:tableStyleId>{5C22544A-7EE6-4342-B048-85BDC9FD1C3A}</a:tableStyleId>
              </a:tblPr>
              <a:tblGrid>
                <a:gridCol w="1447087">
                  <a:extLst>
                    <a:ext uri="{9D8B030D-6E8A-4147-A177-3AD203B41FA5}">
                      <a16:colId xmlns:a16="http://schemas.microsoft.com/office/drawing/2014/main" val="20000"/>
                    </a:ext>
                  </a:extLst>
                </a:gridCol>
                <a:gridCol w="1282476">
                  <a:extLst>
                    <a:ext uri="{9D8B030D-6E8A-4147-A177-3AD203B41FA5}">
                      <a16:colId xmlns:a16="http://schemas.microsoft.com/office/drawing/2014/main" val="20001"/>
                    </a:ext>
                  </a:extLst>
                </a:gridCol>
                <a:gridCol w="1143040">
                  <a:extLst>
                    <a:ext uri="{9D8B030D-6E8A-4147-A177-3AD203B41FA5}">
                      <a16:colId xmlns:a16="http://schemas.microsoft.com/office/drawing/2014/main" val="20002"/>
                    </a:ext>
                  </a:extLst>
                </a:gridCol>
                <a:gridCol w="1454188">
                  <a:extLst>
                    <a:ext uri="{9D8B030D-6E8A-4147-A177-3AD203B41FA5}">
                      <a16:colId xmlns:a16="http://schemas.microsoft.com/office/drawing/2014/main" val="20003"/>
                    </a:ext>
                  </a:extLst>
                </a:gridCol>
                <a:gridCol w="1454188">
                  <a:extLst>
                    <a:ext uri="{9D8B030D-6E8A-4147-A177-3AD203B41FA5}">
                      <a16:colId xmlns:a16="http://schemas.microsoft.com/office/drawing/2014/main" val="20004"/>
                    </a:ext>
                  </a:extLst>
                </a:gridCol>
              </a:tblGrid>
              <a:tr h="613410">
                <a:tc>
                  <a:txBody>
                    <a:bodyPr/>
                    <a:lstStyle/>
                    <a:p>
                      <a:pPr algn="ctr">
                        <a:lnSpc>
                          <a:spcPct val="90000"/>
                        </a:lnSpc>
                        <a:buNone/>
                      </a:pPr>
                      <a:r>
                        <a:rPr lang="zh-CN" altLang="en-US" sz="1800" b="1">
                          <a:latin typeface="微软雅黑" panose="020B0503020204020204" pitchFamily="34" charset="-122"/>
                          <a:ea typeface="微软雅黑" panose="020B0503020204020204" pitchFamily="34" charset="-122"/>
                        </a:rPr>
                        <a:t>测试用例</a:t>
                      </a:r>
                    </a:p>
                  </a:txBody>
                  <a:tcPr anchor="ctr"/>
                </a:tc>
                <a:tc>
                  <a:txBody>
                    <a:bodyPr/>
                    <a:lstStyle/>
                    <a:p>
                      <a:pPr algn="ctr">
                        <a:lnSpc>
                          <a:spcPct val="90000"/>
                        </a:lnSpc>
                        <a:buNone/>
                      </a:pPr>
                      <a:r>
                        <a:rPr sz="1800">
                          <a:latin typeface="微软雅黑" panose="020B0503020204020204" pitchFamily="34" charset="-122"/>
                          <a:ea typeface="微软雅黑" panose="020B0503020204020204" pitchFamily="34" charset="-122"/>
                        </a:rPr>
                        <a:t>功能</a:t>
                      </a:r>
                    </a:p>
                  </a:txBody>
                  <a:tcPr anchor="ctr"/>
                </a:tc>
                <a:tc>
                  <a:txBody>
                    <a:bodyPr/>
                    <a:lstStyle/>
                    <a:p>
                      <a:pPr algn="ctr">
                        <a:lnSpc>
                          <a:spcPct val="90000"/>
                        </a:lnSpc>
                        <a:buNone/>
                      </a:pPr>
                      <a:r>
                        <a:rPr lang="zh-CN" altLang="en-US" sz="1800">
                          <a:latin typeface="微软雅黑" panose="020B0503020204020204" pitchFamily="34" charset="-122"/>
                          <a:ea typeface="微软雅黑" panose="020B0503020204020204" pitchFamily="34" charset="-122"/>
                        </a:rPr>
                        <a:t>金额</a:t>
                      </a:r>
                    </a:p>
                  </a:txBody>
                  <a:tcPr anchor="ctr"/>
                </a:tc>
                <a:tc>
                  <a:txBody>
                    <a:bodyPr/>
                    <a:lstStyle/>
                    <a:p>
                      <a:pPr algn="ctr">
                        <a:lnSpc>
                          <a:spcPct val="90000"/>
                        </a:lnSpc>
                        <a:buNone/>
                      </a:pPr>
                      <a:r>
                        <a:rPr lang="zh-CN" altLang="en-US" sz="1800">
                          <a:latin typeface="微软雅黑" panose="020B0503020204020204" pitchFamily="34" charset="-122"/>
                          <a:ea typeface="微软雅黑" panose="020B0503020204020204" pitchFamily="34" charset="-122"/>
                        </a:rPr>
                        <a:t>被测边界</a:t>
                      </a:r>
                    </a:p>
                  </a:txBody>
                  <a:tcPr anchor="ctr"/>
                </a:tc>
                <a:tc>
                  <a:txBody>
                    <a:bodyPr/>
                    <a:lstStyle/>
                    <a:p>
                      <a:pPr algn="ctr">
                        <a:lnSpc>
                          <a:spcPct val="90000"/>
                        </a:lnSpc>
                        <a:buNone/>
                      </a:pPr>
                      <a:r>
                        <a:rPr lang="zh-CN" altLang="en-US" sz="1800">
                          <a:latin typeface="微软雅黑" panose="020B0503020204020204" pitchFamily="34" charset="-122"/>
                          <a:ea typeface="微软雅黑" panose="020B0503020204020204" pitchFamily="34" charset="-122"/>
                        </a:rPr>
                        <a:t>预期输出</a:t>
                      </a:r>
                    </a:p>
                  </a:txBody>
                  <a:tcPr anchor="ctr"/>
                </a:tc>
                <a:extLst>
                  <a:ext uri="{0D108BD9-81ED-4DB2-BD59-A6C34878D82A}">
                    <a16:rowId xmlns:a16="http://schemas.microsoft.com/office/drawing/2014/main" val="10000"/>
                  </a:ext>
                </a:extLst>
              </a:tr>
              <a:tr h="598805">
                <a:tc>
                  <a:txBody>
                    <a:bodyPr/>
                    <a:lstStyle/>
                    <a:p>
                      <a:pPr marL="0" algn="ctr" defTabSz="1219200" rtl="0" eaLnBrk="1" latinLnBrk="0" hangingPunct="1">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test</a:t>
                      </a:r>
                      <a:r>
                        <a:rPr lang="en-US" altLang="zh-CN" sz="1800" kern="1200">
                          <a:solidFill>
                            <a:srgbClr val="595959"/>
                          </a:solidFill>
                          <a:latin typeface="微软雅黑" panose="020B0503020204020204" pitchFamily="34" charset="-122"/>
                          <a:ea typeface="微软雅黑" panose="020B0503020204020204" pitchFamily="34" charset="-122"/>
                          <a:cs typeface="+mn-cs"/>
                        </a:rPr>
                        <a:t>8</a:t>
                      </a:r>
                    </a:p>
                  </a:txBody>
                  <a:tcPr anchor="ctr"/>
                </a:tc>
                <a:tc rowSpan="7">
                  <a:txBody>
                    <a:bodyPr/>
                    <a:lstStyle/>
                    <a:p>
                      <a:pPr marL="0" algn="ctr" defTabSz="1219200" rtl="0" eaLnBrk="1" latinLnBrk="0" hangingPunct="1">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快速到账（第</a:t>
                      </a:r>
                      <a:r>
                        <a:rPr lang="en-US" altLang="zh-CN" sz="1800" kern="1200">
                          <a:solidFill>
                            <a:srgbClr val="595959"/>
                          </a:solidFill>
                          <a:latin typeface="微软雅黑" panose="020B0503020204020204" pitchFamily="34" charset="-122"/>
                          <a:ea typeface="微软雅黑" panose="020B0503020204020204" pitchFamily="34" charset="-122"/>
                          <a:cs typeface="+mn-cs"/>
                        </a:rPr>
                        <a:t>n</a:t>
                      </a:r>
                      <a:r>
                        <a:rPr lang="zh-CN" altLang="en-US" sz="1800" kern="1200">
                          <a:solidFill>
                            <a:srgbClr val="595959"/>
                          </a:solidFill>
                          <a:latin typeface="微软雅黑" panose="020B0503020204020204" pitchFamily="34" charset="-122"/>
                          <a:ea typeface="微软雅黑" panose="020B0503020204020204" pitchFamily="34" charset="-122"/>
                          <a:cs typeface="+mn-cs"/>
                        </a:rPr>
                        <a:t>次）</a:t>
                      </a:r>
                    </a:p>
                  </a:txBody>
                  <a:tcPr anchor="ctr"/>
                </a:tc>
                <a:tc>
                  <a:txBody>
                    <a:bodyPr/>
                    <a:lstStyle/>
                    <a:p>
                      <a:pPr marL="0" algn="ctr"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-1</a:t>
                      </a:r>
                    </a:p>
                  </a:txBody>
                  <a:tcPr anchor="ctr"/>
                </a:tc>
                <a:tc rowSpan="3">
                  <a:txBody>
                    <a:bodyPr/>
                    <a:lstStyle/>
                    <a:p>
                      <a:pPr marL="0" algn="ctr"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0</a:t>
                      </a:r>
                    </a:p>
                  </a:txBody>
                  <a:tcPr anchor="ctr"/>
                </a:tc>
                <a:tc>
                  <a:txBody>
                    <a:bodyPr/>
                    <a:lstStyle/>
                    <a:p>
                      <a:pPr marL="0" algn="ctr" defTabSz="1219200" rtl="0" eaLnBrk="1" latinLnBrk="0" hangingPunct="1">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无法提现</a:t>
                      </a:r>
                    </a:p>
                  </a:txBody>
                  <a:tcPr anchor="ctr"/>
                </a:tc>
                <a:extLst>
                  <a:ext uri="{0D108BD9-81ED-4DB2-BD59-A6C34878D82A}">
                    <a16:rowId xmlns:a16="http://schemas.microsoft.com/office/drawing/2014/main" val="10001"/>
                  </a:ext>
                </a:extLst>
              </a:tr>
              <a:tr h="558165">
                <a:tc>
                  <a:txBody>
                    <a:bodyPr/>
                    <a:lstStyle/>
                    <a:p>
                      <a:pPr marL="0" algn="ctr" defTabSz="1219200" rtl="0" eaLnBrk="1" latinLnBrk="0" hangingPunct="1">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test9</a:t>
                      </a:r>
                    </a:p>
                  </a:txBody>
                  <a:tcPr anchor="ctr"/>
                </a:tc>
                <a:tc vMerge="1">
                  <a:txBody>
                    <a:bodyPr/>
                    <a:lstStyle/>
                    <a:p>
                      <a:endParaRPr lang="zh-CN"/>
                    </a:p>
                  </a:txBody>
                  <a:tcPr anchor="ctr"/>
                </a:tc>
                <a:tc>
                  <a:txBody>
                    <a:bodyPr/>
                    <a:lstStyle/>
                    <a:p>
                      <a:pPr marL="0" algn="ctr"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0</a:t>
                      </a:r>
                    </a:p>
                  </a:txBody>
                  <a:tcPr anchor="ctr"/>
                </a:tc>
                <a:tc vMerge="1">
                  <a:txBody>
                    <a:bodyPr/>
                    <a:lstStyle/>
                    <a:p>
                      <a:endParaRPr lang="zh-CN"/>
                    </a:p>
                  </a:txBody>
                  <a:tcPr anchor="ctr"/>
                </a:tc>
                <a:tc>
                  <a:txBody>
                    <a:bodyPr/>
                    <a:lstStyle/>
                    <a:p>
                      <a:pPr marL="0" algn="ctr" defTabSz="1219200" rtl="0" eaLnBrk="1" latinLnBrk="0" hangingPunct="1">
                        <a:buNone/>
                      </a:pPr>
                      <a:r>
                        <a:rPr lang="zh-CN" altLang="en-US" sz="1800" kern="1200">
                          <a:solidFill>
                            <a:srgbClr val="595959"/>
                          </a:solidFill>
                          <a:latin typeface="微软雅黑" panose="020B0503020204020204" pitchFamily="34" charset="-122"/>
                          <a:ea typeface="微软雅黑" panose="020B0503020204020204" pitchFamily="34" charset="-122"/>
                          <a:cs typeface="+mn-cs"/>
                          <a:sym typeface="+mn-ea"/>
                        </a:rPr>
                        <a:t>无法提现</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10002"/>
                  </a:ext>
                </a:extLst>
              </a:tr>
              <a:tr h="565150">
                <a:tc>
                  <a:txBody>
                    <a:bodyPr/>
                    <a:lstStyle/>
                    <a:p>
                      <a:pPr marL="0" algn="ctr" defTabSz="1219200" rtl="0" eaLnBrk="1" latinLnBrk="0" hangingPunct="1">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test10</a:t>
                      </a:r>
                    </a:p>
                  </a:txBody>
                  <a:tcPr anchor="ctr"/>
                </a:tc>
                <a:tc vMerge="1">
                  <a:txBody>
                    <a:bodyPr/>
                    <a:lstStyle/>
                    <a:p>
                      <a:endParaRPr lang="zh-CN"/>
                    </a:p>
                  </a:txBody>
                  <a:tcPr anchor="ctr"/>
                </a:tc>
                <a:tc>
                  <a:txBody>
                    <a:bodyPr/>
                    <a:lstStyle/>
                    <a:p>
                      <a:pPr marL="0" algn="ctr"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1</a:t>
                      </a:r>
                    </a:p>
                  </a:txBody>
                  <a:tcPr anchor="ctr"/>
                </a:tc>
                <a:tc vMerge="1">
                  <a:txBody>
                    <a:bodyPr/>
                    <a:lstStyle/>
                    <a:p>
                      <a:endParaRPr lang="zh-CN"/>
                    </a:p>
                  </a:txBody>
                  <a:tcPr anchor="ctr"/>
                </a:tc>
                <a:tc>
                  <a:txBody>
                    <a:bodyPr/>
                    <a:lstStyle/>
                    <a:p>
                      <a:pPr marL="0" algn="ctr"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1</a:t>
                      </a:r>
                    </a:p>
                  </a:txBody>
                  <a:tcPr anchor="ctr"/>
                </a:tc>
                <a:extLst>
                  <a:ext uri="{0D108BD9-81ED-4DB2-BD59-A6C34878D82A}">
                    <a16:rowId xmlns:a16="http://schemas.microsoft.com/office/drawing/2014/main" val="10003"/>
                  </a:ext>
                </a:extLst>
              </a:tr>
              <a:tr h="574040">
                <a:tc>
                  <a:txBody>
                    <a:bodyPr/>
                    <a:lstStyle/>
                    <a:p>
                      <a:pPr marL="0" algn="ctr" defTabSz="1219200" rtl="0" eaLnBrk="1" latinLnBrk="0" hangingPunct="1">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test11</a:t>
                      </a:r>
                    </a:p>
                  </a:txBody>
                  <a:tcPr anchor="ctr"/>
                </a:tc>
                <a:tc vMerge="1">
                  <a:txBody>
                    <a:bodyPr/>
                    <a:lstStyle/>
                    <a:p>
                      <a:endParaRPr lang="zh-CN"/>
                    </a:p>
                  </a:txBody>
                  <a:tcPr anchor="ctr"/>
                </a:tc>
                <a:tc>
                  <a:txBody>
                    <a:bodyPr/>
                    <a:lstStyle/>
                    <a:p>
                      <a:pPr marL="0" algn="ctr"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5000</a:t>
                      </a:r>
                    </a:p>
                  </a:txBody>
                  <a:tcPr anchor="ctr"/>
                </a:tc>
                <a:tc>
                  <a:txBody>
                    <a:bodyPr/>
                    <a:lstStyle/>
                    <a:p>
                      <a:pPr marL="0" algn="ctr" defTabSz="1219200" rtl="0" eaLnBrk="1" latinLnBrk="0" hangingPunct="1">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无</a:t>
                      </a:r>
                    </a:p>
                  </a:txBody>
                  <a:tcPr anchor="ctr"/>
                </a:tc>
                <a:tc>
                  <a:txBody>
                    <a:bodyPr/>
                    <a:lstStyle/>
                    <a:p>
                      <a:pPr marL="0" algn="ctr"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5000</a:t>
                      </a:r>
                    </a:p>
                  </a:txBody>
                  <a:tcPr anchor="ctr"/>
                </a:tc>
                <a:extLst>
                  <a:ext uri="{0D108BD9-81ED-4DB2-BD59-A6C34878D82A}">
                    <a16:rowId xmlns:a16="http://schemas.microsoft.com/office/drawing/2014/main" val="10004"/>
                  </a:ext>
                </a:extLst>
              </a:tr>
              <a:tr h="574040">
                <a:tc>
                  <a:txBody>
                    <a:bodyPr/>
                    <a:lstStyle/>
                    <a:p>
                      <a:pPr marL="0" algn="ctr" defTabSz="1219200" rtl="0" eaLnBrk="1" latinLnBrk="0" hangingPunct="1">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test12</a:t>
                      </a:r>
                    </a:p>
                  </a:txBody>
                  <a:tcPr anchor="ctr"/>
                </a:tc>
                <a:tc vMerge="1">
                  <a:txBody>
                    <a:bodyPr/>
                    <a:lstStyle/>
                    <a:p>
                      <a:endParaRPr lang="zh-CN"/>
                    </a:p>
                  </a:txBody>
                  <a:tcPr anchor="ctr"/>
                </a:tc>
                <a:tc>
                  <a:txBody>
                    <a:bodyPr/>
                    <a:lstStyle/>
                    <a:p>
                      <a:pPr marL="0" algn="ctr"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7999</a:t>
                      </a:r>
                    </a:p>
                  </a:txBody>
                  <a:tcPr anchor="ctr"/>
                </a:tc>
                <a:tc rowSpan="3">
                  <a:txBody>
                    <a:bodyPr/>
                    <a:lstStyle/>
                    <a:p>
                      <a:pPr marL="0" algn="ctr"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8000</a:t>
                      </a:r>
                    </a:p>
                  </a:txBody>
                  <a:tcPr anchor="ctr"/>
                </a:tc>
                <a:tc>
                  <a:txBody>
                    <a:bodyPr/>
                    <a:lstStyle/>
                    <a:p>
                      <a:pPr marL="0" algn="ctr"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7999</a:t>
                      </a:r>
                    </a:p>
                  </a:txBody>
                  <a:tcPr anchor="ctr"/>
                </a:tc>
                <a:extLst>
                  <a:ext uri="{0D108BD9-81ED-4DB2-BD59-A6C34878D82A}">
                    <a16:rowId xmlns:a16="http://schemas.microsoft.com/office/drawing/2014/main" val="10005"/>
                  </a:ext>
                </a:extLst>
              </a:tr>
              <a:tr h="574040">
                <a:tc>
                  <a:txBody>
                    <a:bodyPr/>
                    <a:lstStyle/>
                    <a:p>
                      <a:pPr marL="0" algn="ctr" defTabSz="1219200" rtl="0" eaLnBrk="1" latinLnBrk="0" hangingPunct="1">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sym typeface="+mn-ea"/>
                        </a:rPr>
                        <a:t>test13</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vMerge="1">
                  <a:txBody>
                    <a:bodyPr/>
                    <a:lstStyle/>
                    <a:p>
                      <a:endParaRPr lang="zh-CN"/>
                    </a:p>
                  </a:txBody>
                  <a:tcPr anchor="ctr"/>
                </a:tc>
                <a:tc>
                  <a:txBody>
                    <a:bodyPr/>
                    <a:lstStyle/>
                    <a:p>
                      <a:pPr marL="0" algn="ctr"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8000</a:t>
                      </a:r>
                    </a:p>
                  </a:txBody>
                  <a:tcPr anchor="ctr"/>
                </a:tc>
                <a:tc vMerge="1">
                  <a:txBody>
                    <a:bodyPr/>
                    <a:lstStyle/>
                    <a:p>
                      <a:endParaRPr lang="zh-CN"/>
                    </a:p>
                  </a:txBody>
                  <a:tcPr anchor="ctr"/>
                </a:tc>
                <a:tc>
                  <a:txBody>
                    <a:bodyPr/>
                    <a:lstStyle/>
                    <a:p>
                      <a:pPr marL="0" algn="ctr"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8000</a:t>
                      </a:r>
                    </a:p>
                  </a:txBody>
                  <a:tcPr anchor="ctr"/>
                </a:tc>
                <a:extLst>
                  <a:ext uri="{0D108BD9-81ED-4DB2-BD59-A6C34878D82A}">
                    <a16:rowId xmlns:a16="http://schemas.microsoft.com/office/drawing/2014/main" val="10006"/>
                  </a:ext>
                </a:extLst>
              </a:tr>
              <a:tr h="574040">
                <a:tc>
                  <a:txBody>
                    <a:bodyPr/>
                    <a:lstStyle/>
                    <a:p>
                      <a:pPr marL="0" algn="ctr" defTabSz="1219200" rtl="0" eaLnBrk="1" latinLnBrk="0" hangingPunct="1">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sym typeface="+mn-ea"/>
                        </a:rPr>
                        <a:t>test14</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vMerge="1">
                  <a:txBody>
                    <a:bodyPr/>
                    <a:lstStyle/>
                    <a:p>
                      <a:endParaRPr lang="zh-CN"/>
                    </a:p>
                  </a:txBody>
                  <a:tcPr anchor="ctr"/>
                </a:tc>
                <a:tc>
                  <a:txBody>
                    <a:bodyPr/>
                    <a:lstStyle/>
                    <a:p>
                      <a:pPr marL="0" algn="ctr"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cs"/>
                          <a:sym typeface="+mn-ea"/>
                        </a:rPr>
                        <a:t>8001</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vMerge="1">
                  <a:txBody>
                    <a:bodyPr/>
                    <a:lstStyle/>
                    <a:p>
                      <a:endParaRPr lang="zh-CN"/>
                    </a:p>
                  </a:txBody>
                  <a:tcPr anchor="ctr"/>
                </a:tc>
                <a:tc>
                  <a:txBody>
                    <a:bodyPr/>
                    <a:lstStyle/>
                    <a:p>
                      <a:pPr marL="0" algn="ctr" defTabSz="1219200" rtl="0" eaLnBrk="1" latinLnBrk="0" hangingPunct="1">
                        <a:buNone/>
                      </a:pPr>
                      <a:r>
                        <a:rPr lang="zh-CN" altLang="en-US" sz="1800" kern="1200">
                          <a:solidFill>
                            <a:srgbClr val="595959"/>
                          </a:solidFill>
                          <a:latin typeface="微软雅黑" panose="020B0503020204020204" pitchFamily="34" charset="-122"/>
                          <a:ea typeface="微软雅黑" panose="020B0503020204020204" pitchFamily="34" charset="-122"/>
                          <a:cs typeface="+mn-cs"/>
                          <a:sym typeface="+mn-ea"/>
                        </a:rPr>
                        <a:t>无法提现</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10007"/>
                  </a:ext>
                </a:extLst>
              </a:tr>
            </a:tbl>
          </a:graphicData>
        </a:graphic>
      </p:graphicFrame>
      <p:sp>
        <p:nvSpPr>
          <p:cNvPr id="5" name="Title 1"/>
          <p:cNvSpPr txBox="1"/>
          <p:nvPr/>
        </p:nvSpPr>
        <p:spPr>
          <a:xfrm>
            <a:off x="1143635" y="266700"/>
            <a:ext cx="644271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2.2.4	实例三：余额宝提现的边界值分析</a:t>
            </a: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p:cNvGraphicFramePr/>
          <p:nvPr>
            <p:custDataLst>
              <p:tags r:id="rId1"/>
            </p:custDataLst>
          </p:nvPr>
        </p:nvGraphicFramePr>
        <p:xfrm>
          <a:off x="2423160" y="1341755"/>
          <a:ext cx="6780979" cy="4631690"/>
        </p:xfrm>
        <a:graphic>
          <a:graphicData uri="http://schemas.openxmlformats.org/drawingml/2006/table">
            <a:tbl>
              <a:tblPr firstRow="1" bandRow="1">
                <a:tableStyleId>{5C22544A-7EE6-4342-B048-85BDC9FD1C3A}</a:tableStyleId>
              </a:tblPr>
              <a:tblGrid>
                <a:gridCol w="1447087">
                  <a:extLst>
                    <a:ext uri="{9D8B030D-6E8A-4147-A177-3AD203B41FA5}">
                      <a16:colId xmlns:a16="http://schemas.microsoft.com/office/drawing/2014/main" val="20000"/>
                    </a:ext>
                  </a:extLst>
                </a:gridCol>
                <a:gridCol w="1282476">
                  <a:extLst>
                    <a:ext uri="{9D8B030D-6E8A-4147-A177-3AD203B41FA5}">
                      <a16:colId xmlns:a16="http://schemas.microsoft.com/office/drawing/2014/main" val="20001"/>
                    </a:ext>
                  </a:extLst>
                </a:gridCol>
                <a:gridCol w="1143040">
                  <a:extLst>
                    <a:ext uri="{9D8B030D-6E8A-4147-A177-3AD203B41FA5}">
                      <a16:colId xmlns:a16="http://schemas.microsoft.com/office/drawing/2014/main" val="20002"/>
                    </a:ext>
                  </a:extLst>
                </a:gridCol>
                <a:gridCol w="1454188">
                  <a:extLst>
                    <a:ext uri="{9D8B030D-6E8A-4147-A177-3AD203B41FA5}">
                      <a16:colId xmlns:a16="http://schemas.microsoft.com/office/drawing/2014/main" val="20003"/>
                    </a:ext>
                  </a:extLst>
                </a:gridCol>
                <a:gridCol w="1454188">
                  <a:extLst>
                    <a:ext uri="{9D8B030D-6E8A-4147-A177-3AD203B41FA5}">
                      <a16:colId xmlns:a16="http://schemas.microsoft.com/office/drawing/2014/main" val="20004"/>
                    </a:ext>
                  </a:extLst>
                </a:gridCol>
              </a:tblGrid>
              <a:tr h="613410">
                <a:tc>
                  <a:txBody>
                    <a:bodyPr/>
                    <a:lstStyle/>
                    <a:p>
                      <a:pPr algn="ctr">
                        <a:lnSpc>
                          <a:spcPct val="90000"/>
                        </a:lnSpc>
                        <a:buNone/>
                      </a:pPr>
                      <a:r>
                        <a:rPr lang="zh-CN" altLang="en-US" sz="1800" b="1">
                          <a:latin typeface="微软雅黑" panose="020B0503020204020204" pitchFamily="34" charset="-122"/>
                          <a:ea typeface="微软雅黑" panose="020B0503020204020204" pitchFamily="34" charset="-122"/>
                        </a:rPr>
                        <a:t>测试用例</a:t>
                      </a:r>
                    </a:p>
                  </a:txBody>
                  <a:tcPr anchor="ctr"/>
                </a:tc>
                <a:tc>
                  <a:txBody>
                    <a:bodyPr/>
                    <a:lstStyle/>
                    <a:p>
                      <a:pPr algn="ctr">
                        <a:lnSpc>
                          <a:spcPct val="90000"/>
                        </a:lnSpc>
                        <a:buNone/>
                      </a:pPr>
                      <a:r>
                        <a:rPr sz="1800">
                          <a:latin typeface="微软雅黑" panose="020B0503020204020204" pitchFamily="34" charset="-122"/>
                          <a:ea typeface="微软雅黑" panose="020B0503020204020204" pitchFamily="34" charset="-122"/>
                        </a:rPr>
                        <a:t>功能</a:t>
                      </a:r>
                    </a:p>
                  </a:txBody>
                  <a:tcPr anchor="ctr"/>
                </a:tc>
                <a:tc>
                  <a:txBody>
                    <a:bodyPr/>
                    <a:lstStyle/>
                    <a:p>
                      <a:pPr algn="ctr">
                        <a:lnSpc>
                          <a:spcPct val="90000"/>
                        </a:lnSpc>
                        <a:buNone/>
                      </a:pPr>
                      <a:r>
                        <a:rPr lang="zh-CN" altLang="en-US" sz="1800">
                          <a:latin typeface="微软雅黑" panose="020B0503020204020204" pitchFamily="34" charset="-122"/>
                          <a:ea typeface="微软雅黑" panose="020B0503020204020204" pitchFamily="34" charset="-122"/>
                        </a:rPr>
                        <a:t>金额</a:t>
                      </a:r>
                    </a:p>
                  </a:txBody>
                  <a:tcPr anchor="ctr"/>
                </a:tc>
                <a:tc>
                  <a:txBody>
                    <a:bodyPr/>
                    <a:lstStyle/>
                    <a:p>
                      <a:pPr algn="ctr">
                        <a:lnSpc>
                          <a:spcPct val="90000"/>
                        </a:lnSpc>
                        <a:buNone/>
                      </a:pPr>
                      <a:r>
                        <a:rPr lang="zh-CN" altLang="en-US" sz="1800">
                          <a:latin typeface="微软雅黑" panose="020B0503020204020204" pitchFamily="34" charset="-122"/>
                          <a:ea typeface="微软雅黑" panose="020B0503020204020204" pitchFamily="34" charset="-122"/>
                        </a:rPr>
                        <a:t>被测边界</a:t>
                      </a:r>
                    </a:p>
                  </a:txBody>
                  <a:tcPr anchor="ctr"/>
                </a:tc>
                <a:tc>
                  <a:txBody>
                    <a:bodyPr/>
                    <a:lstStyle/>
                    <a:p>
                      <a:pPr algn="ctr">
                        <a:lnSpc>
                          <a:spcPct val="90000"/>
                        </a:lnSpc>
                        <a:buNone/>
                      </a:pPr>
                      <a:r>
                        <a:rPr lang="zh-CN" altLang="en-US" sz="1800">
                          <a:latin typeface="微软雅黑" panose="020B0503020204020204" pitchFamily="34" charset="-122"/>
                          <a:ea typeface="微软雅黑" panose="020B0503020204020204" pitchFamily="34" charset="-122"/>
                        </a:rPr>
                        <a:t>预期输出</a:t>
                      </a:r>
                    </a:p>
                  </a:txBody>
                  <a:tcPr anchor="ctr"/>
                </a:tc>
                <a:extLst>
                  <a:ext uri="{0D108BD9-81ED-4DB2-BD59-A6C34878D82A}">
                    <a16:rowId xmlns:a16="http://schemas.microsoft.com/office/drawing/2014/main" val="10000"/>
                  </a:ext>
                </a:extLst>
              </a:tr>
              <a:tr h="598805">
                <a:tc>
                  <a:txBody>
                    <a:bodyPr/>
                    <a:lstStyle/>
                    <a:p>
                      <a:pPr marL="0" algn="ctr" defTabSz="1219200" rtl="0" eaLnBrk="1" latinLnBrk="0" hangingPunct="1">
                        <a:buClrTx/>
                        <a:buSzTx/>
                        <a:buFontTx/>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test</a:t>
                      </a:r>
                      <a:r>
                        <a:rPr lang="en-US" altLang="zh-CN" sz="1800" kern="1200">
                          <a:solidFill>
                            <a:srgbClr val="595959"/>
                          </a:solidFill>
                          <a:latin typeface="微软雅黑" panose="020B0503020204020204" pitchFamily="34" charset="-122"/>
                          <a:ea typeface="微软雅黑" panose="020B0503020204020204" pitchFamily="34" charset="-122"/>
                          <a:cs typeface="+mn-cs"/>
                        </a:rPr>
                        <a:t>15</a:t>
                      </a:r>
                    </a:p>
                  </a:txBody>
                  <a:tcPr anchor="ctr"/>
                </a:tc>
                <a:tc rowSpan="7">
                  <a:txBody>
                    <a:bodyPr/>
                    <a:lstStyle/>
                    <a:p>
                      <a:pPr marL="0" algn="ctr" defTabSz="1219200" rtl="0" eaLnBrk="1" latinLnBrk="0" hangingPunct="1">
                        <a:buClrTx/>
                        <a:buSzTx/>
                        <a:buFontTx/>
                        <a:buNone/>
                      </a:pPr>
                      <a:r>
                        <a:rPr sz="1800" kern="1200">
                          <a:solidFill>
                            <a:srgbClr val="595959"/>
                          </a:solidFill>
                          <a:latin typeface="微软雅黑" panose="020B0503020204020204" pitchFamily="34" charset="-122"/>
                          <a:ea typeface="微软雅黑" panose="020B0503020204020204" pitchFamily="34" charset="-122"/>
                          <a:cs typeface="+mn-cs"/>
                        </a:rPr>
                        <a:t>普通到账</a:t>
                      </a:r>
                    </a:p>
                  </a:txBody>
                  <a:tcPr anchor="ctr"/>
                </a:tc>
                <a:tc>
                  <a:txBody>
                    <a:bodyPr/>
                    <a:lstStyle/>
                    <a:p>
                      <a:pPr marL="0" algn="ctr" defTabSz="1219200" rtl="0" eaLnBrk="1" latinLnBrk="0" hangingPunct="1">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-1</a:t>
                      </a:r>
                    </a:p>
                  </a:txBody>
                  <a:tcPr anchor="ctr"/>
                </a:tc>
                <a:tc rowSpan="3">
                  <a:txBody>
                    <a:bodyPr/>
                    <a:lstStyle/>
                    <a:p>
                      <a:pPr marL="0" algn="ctr" defTabSz="1219200" rtl="0" eaLnBrk="1" latinLnBrk="0" hangingPunct="1">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0</a:t>
                      </a:r>
                    </a:p>
                  </a:txBody>
                  <a:tcPr anchor="ctr"/>
                </a:tc>
                <a:tc>
                  <a:txBody>
                    <a:bodyPr/>
                    <a:lstStyle/>
                    <a:p>
                      <a:pPr marL="0" algn="ctr" defTabSz="1219200" rtl="0" eaLnBrk="1" latinLnBrk="0" hangingPunct="1">
                        <a:buClrTx/>
                        <a:buSzTx/>
                        <a:buFontTx/>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无法提现</a:t>
                      </a:r>
                    </a:p>
                  </a:txBody>
                  <a:tcPr anchor="ctr"/>
                </a:tc>
                <a:extLst>
                  <a:ext uri="{0D108BD9-81ED-4DB2-BD59-A6C34878D82A}">
                    <a16:rowId xmlns:a16="http://schemas.microsoft.com/office/drawing/2014/main" val="10001"/>
                  </a:ext>
                </a:extLst>
              </a:tr>
              <a:tr h="558165">
                <a:tc>
                  <a:txBody>
                    <a:bodyPr/>
                    <a:lstStyle/>
                    <a:p>
                      <a:pPr marL="0" algn="ctr" defTabSz="1219200" rtl="0" eaLnBrk="1" latinLnBrk="0" hangingPunct="1">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test16</a:t>
                      </a:r>
                    </a:p>
                  </a:txBody>
                  <a:tcPr anchor="ctr"/>
                </a:tc>
                <a:tc vMerge="1">
                  <a:txBody>
                    <a:bodyPr/>
                    <a:lstStyle/>
                    <a:p>
                      <a:endParaRPr lang="zh-CN"/>
                    </a:p>
                  </a:txBody>
                  <a:tcPr anchor="ctr"/>
                </a:tc>
                <a:tc>
                  <a:txBody>
                    <a:bodyPr/>
                    <a:lstStyle/>
                    <a:p>
                      <a:pPr marL="0" algn="ctr" defTabSz="1219200" rtl="0" eaLnBrk="1" latinLnBrk="0" hangingPunct="1">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0</a:t>
                      </a:r>
                    </a:p>
                  </a:txBody>
                  <a:tcPr anchor="ctr"/>
                </a:tc>
                <a:tc vMerge="1">
                  <a:txBody>
                    <a:bodyPr/>
                    <a:lstStyle/>
                    <a:p>
                      <a:endParaRPr lang="zh-CN"/>
                    </a:p>
                  </a:txBody>
                  <a:tcPr anchor="ctr"/>
                </a:tc>
                <a:tc>
                  <a:txBody>
                    <a:bodyPr/>
                    <a:lstStyle/>
                    <a:p>
                      <a:pPr marL="0" algn="ctr" defTabSz="1219200" rtl="0" eaLnBrk="1" latinLnBrk="0" hangingPunct="1">
                        <a:buClrTx/>
                        <a:buSzTx/>
                        <a:buFontTx/>
                        <a:buNone/>
                      </a:pPr>
                      <a:r>
                        <a:rPr lang="zh-CN" altLang="en-US" sz="1800" kern="1200">
                          <a:solidFill>
                            <a:srgbClr val="595959"/>
                          </a:solidFill>
                          <a:latin typeface="微软雅黑" panose="020B0503020204020204" pitchFamily="34" charset="-122"/>
                          <a:ea typeface="微软雅黑" panose="020B0503020204020204" pitchFamily="34" charset="-122"/>
                          <a:cs typeface="+mn-cs"/>
                          <a:sym typeface="+mn-ea"/>
                        </a:rPr>
                        <a:t>无法提现</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10002"/>
                  </a:ext>
                </a:extLst>
              </a:tr>
              <a:tr h="565150">
                <a:tc>
                  <a:txBody>
                    <a:bodyPr/>
                    <a:lstStyle/>
                    <a:p>
                      <a:pPr marL="0" algn="ctr" defTabSz="1219200" rtl="0" eaLnBrk="1" latinLnBrk="0" hangingPunct="1">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test17</a:t>
                      </a:r>
                    </a:p>
                  </a:txBody>
                  <a:tcPr anchor="ctr"/>
                </a:tc>
                <a:tc vMerge="1">
                  <a:txBody>
                    <a:bodyPr/>
                    <a:lstStyle/>
                    <a:p>
                      <a:endParaRPr lang="zh-CN"/>
                    </a:p>
                  </a:txBody>
                  <a:tcPr anchor="ctr"/>
                </a:tc>
                <a:tc>
                  <a:txBody>
                    <a:bodyPr/>
                    <a:lstStyle/>
                    <a:p>
                      <a:pPr marL="0" algn="ctr" defTabSz="1219200" rtl="0" eaLnBrk="1" latinLnBrk="0" hangingPunct="1">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1</a:t>
                      </a:r>
                    </a:p>
                  </a:txBody>
                  <a:tcPr anchor="ctr"/>
                </a:tc>
                <a:tc vMerge="1">
                  <a:txBody>
                    <a:bodyPr/>
                    <a:lstStyle/>
                    <a:p>
                      <a:endParaRPr lang="zh-CN"/>
                    </a:p>
                  </a:txBody>
                  <a:tcPr anchor="ctr"/>
                </a:tc>
                <a:tc>
                  <a:txBody>
                    <a:bodyPr/>
                    <a:lstStyle/>
                    <a:p>
                      <a:pPr marL="0" algn="ctr" defTabSz="1219200" rtl="0" eaLnBrk="1" latinLnBrk="0" hangingPunct="1">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1</a:t>
                      </a:r>
                    </a:p>
                  </a:txBody>
                  <a:tcPr anchor="ctr"/>
                </a:tc>
                <a:extLst>
                  <a:ext uri="{0D108BD9-81ED-4DB2-BD59-A6C34878D82A}">
                    <a16:rowId xmlns:a16="http://schemas.microsoft.com/office/drawing/2014/main" val="10003"/>
                  </a:ext>
                </a:extLst>
              </a:tr>
              <a:tr h="574040">
                <a:tc>
                  <a:txBody>
                    <a:bodyPr/>
                    <a:lstStyle/>
                    <a:p>
                      <a:pPr marL="0" algn="ctr" defTabSz="1219200" rtl="0" eaLnBrk="1" latinLnBrk="0" hangingPunct="1">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test18</a:t>
                      </a:r>
                    </a:p>
                  </a:txBody>
                  <a:tcPr anchor="ctr"/>
                </a:tc>
                <a:tc vMerge="1">
                  <a:txBody>
                    <a:bodyPr/>
                    <a:lstStyle/>
                    <a:p>
                      <a:endParaRPr lang="zh-CN"/>
                    </a:p>
                  </a:txBody>
                  <a:tcPr anchor="ctr"/>
                </a:tc>
                <a:tc>
                  <a:txBody>
                    <a:bodyPr/>
                    <a:lstStyle/>
                    <a:p>
                      <a:pPr marL="0" algn="ctr" defTabSz="1219200" rtl="0" eaLnBrk="1" latinLnBrk="0" hangingPunct="1">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20000</a:t>
                      </a:r>
                    </a:p>
                  </a:txBody>
                  <a:tcPr anchor="ctr"/>
                </a:tc>
                <a:tc>
                  <a:txBody>
                    <a:bodyPr/>
                    <a:lstStyle/>
                    <a:p>
                      <a:pPr marL="0" algn="ctr" defTabSz="1219200" rtl="0" eaLnBrk="1" latinLnBrk="0" hangingPunct="1">
                        <a:buClrTx/>
                        <a:buSzTx/>
                        <a:buFontTx/>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无</a:t>
                      </a:r>
                    </a:p>
                  </a:txBody>
                  <a:tcPr anchor="ctr"/>
                </a:tc>
                <a:tc>
                  <a:txBody>
                    <a:bodyPr/>
                    <a:lstStyle/>
                    <a:p>
                      <a:pPr marL="0" algn="ctr" defTabSz="1219200" rtl="0" eaLnBrk="1" latinLnBrk="0" hangingPunct="1">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20000</a:t>
                      </a:r>
                    </a:p>
                  </a:txBody>
                  <a:tcPr anchor="ctr"/>
                </a:tc>
                <a:extLst>
                  <a:ext uri="{0D108BD9-81ED-4DB2-BD59-A6C34878D82A}">
                    <a16:rowId xmlns:a16="http://schemas.microsoft.com/office/drawing/2014/main" val="10004"/>
                  </a:ext>
                </a:extLst>
              </a:tr>
              <a:tr h="574040">
                <a:tc>
                  <a:txBody>
                    <a:bodyPr/>
                    <a:lstStyle/>
                    <a:p>
                      <a:pPr marL="0" algn="ctr" defTabSz="1219200" rtl="0" eaLnBrk="1" latinLnBrk="0" hangingPunct="1">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test19</a:t>
                      </a:r>
                    </a:p>
                  </a:txBody>
                  <a:tcPr anchor="ctr"/>
                </a:tc>
                <a:tc vMerge="1">
                  <a:txBody>
                    <a:bodyPr/>
                    <a:lstStyle/>
                    <a:p>
                      <a:endParaRPr lang="zh-CN"/>
                    </a:p>
                  </a:txBody>
                  <a:tcPr anchor="ctr"/>
                </a:tc>
                <a:tc>
                  <a:txBody>
                    <a:bodyPr/>
                    <a:lstStyle/>
                    <a:p>
                      <a:pPr marL="0" algn="ctr" defTabSz="1219200" rtl="0" eaLnBrk="1" latinLnBrk="0" hangingPunct="1">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49999</a:t>
                      </a:r>
                    </a:p>
                  </a:txBody>
                  <a:tcPr anchor="ctr"/>
                </a:tc>
                <a:tc rowSpan="3">
                  <a:txBody>
                    <a:bodyPr/>
                    <a:lstStyle/>
                    <a:p>
                      <a:pPr marL="0" algn="ctr" defTabSz="1219200" rtl="0" eaLnBrk="1" latinLnBrk="0" hangingPunct="1">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50000</a:t>
                      </a:r>
                    </a:p>
                  </a:txBody>
                  <a:tcPr anchor="ctr"/>
                </a:tc>
                <a:tc>
                  <a:txBody>
                    <a:bodyPr/>
                    <a:lstStyle/>
                    <a:p>
                      <a:pPr marL="0" algn="ctr" defTabSz="1219200" rtl="0" eaLnBrk="1" latinLnBrk="0" hangingPunct="1">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49999</a:t>
                      </a:r>
                    </a:p>
                  </a:txBody>
                  <a:tcPr anchor="ctr"/>
                </a:tc>
                <a:extLst>
                  <a:ext uri="{0D108BD9-81ED-4DB2-BD59-A6C34878D82A}">
                    <a16:rowId xmlns:a16="http://schemas.microsoft.com/office/drawing/2014/main" val="10005"/>
                  </a:ext>
                </a:extLst>
              </a:tr>
              <a:tr h="574040">
                <a:tc>
                  <a:txBody>
                    <a:bodyPr/>
                    <a:lstStyle/>
                    <a:p>
                      <a:pPr marL="0" algn="ctr" defTabSz="1219200" rtl="0" eaLnBrk="1" latinLnBrk="0" hangingPunct="1">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sym typeface="+mn-ea"/>
                        </a:rPr>
                        <a:t>test20</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vMerge="1">
                  <a:txBody>
                    <a:bodyPr/>
                    <a:lstStyle/>
                    <a:p>
                      <a:endParaRPr lang="zh-CN"/>
                    </a:p>
                  </a:txBody>
                  <a:tcPr anchor="ctr"/>
                </a:tc>
                <a:tc>
                  <a:txBody>
                    <a:bodyPr/>
                    <a:lstStyle/>
                    <a:p>
                      <a:pPr marL="0" algn="ctr" defTabSz="1219200" rtl="0" eaLnBrk="1" latinLnBrk="0" hangingPunct="1">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50000</a:t>
                      </a:r>
                    </a:p>
                  </a:txBody>
                  <a:tcPr anchor="ctr"/>
                </a:tc>
                <a:tc vMerge="1">
                  <a:txBody>
                    <a:bodyPr/>
                    <a:lstStyle/>
                    <a:p>
                      <a:endParaRPr lang="zh-CN"/>
                    </a:p>
                  </a:txBody>
                  <a:tcPr anchor="ctr"/>
                </a:tc>
                <a:tc>
                  <a:txBody>
                    <a:bodyPr/>
                    <a:lstStyle/>
                    <a:p>
                      <a:pPr marL="0" algn="ctr" defTabSz="1219200" rtl="0" eaLnBrk="1" latinLnBrk="0" hangingPunct="1">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50000</a:t>
                      </a:r>
                    </a:p>
                  </a:txBody>
                  <a:tcPr anchor="ctr"/>
                </a:tc>
                <a:extLst>
                  <a:ext uri="{0D108BD9-81ED-4DB2-BD59-A6C34878D82A}">
                    <a16:rowId xmlns:a16="http://schemas.microsoft.com/office/drawing/2014/main" val="10006"/>
                  </a:ext>
                </a:extLst>
              </a:tr>
              <a:tr h="574040">
                <a:tc>
                  <a:txBody>
                    <a:bodyPr/>
                    <a:lstStyle/>
                    <a:p>
                      <a:pPr marL="0" algn="ctr" defTabSz="1219200" rtl="0" eaLnBrk="1" latinLnBrk="0" hangingPunct="1">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sym typeface="+mn-ea"/>
                        </a:rPr>
                        <a:t>test21</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vMerge="1">
                  <a:txBody>
                    <a:bodyPr/>
                    <a:lstStyle/>
                    <a:p>
                      <a:endParaRPr lang="zh-CN"/>
                    </a:p>
                  </a:txBody>
                  <a:tcPr anchor="ctr"/>
                </a:tc>
                <a:tc>
                  <a:txBody>
                    <a:bodyPr/>
                    <a:lstStyle/>
                    <a:p>
                      <a:pPr marL="0" algn="ctr" defTabSz="1219200" rtl="0" eaLnBrk="1" latinLnBrk="0" hangingPunct="1">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sym typeface="+mn-ea"/>
                        </a:rPr>
                        <a:t>50001</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vMerge="1">
                  <a:txBody>
                    <a:bodyPr/>
                    <a:lstStyle/>
                    <a:p>
                      <a:endParaRPr lang="zh-CN"/>
                    </a:p>
                  </a:txBody>
                  <a:tcPr anchor="ctr"/>
                </a:tc>
                <a:tc>
                  <a:txBody>
                    <a:bodyPr/>
                    <a:lstStyle/>
                    <a:p>
                      <a:pPr marL="0" algn="ctr" defTabSz="1219200" rtl="0" eaLnBrk="1" latinLnBrk="0" hangingPunct="1">
                        <a:buClrTx/>
                        <a:buSzTx/>
                        <a:buFontTx/>
                        <a:buNone/>
                      </a:pPr>
                      <a:r>
                        <a:rPr lang="zh-CN" altLang="en-US" sz="1800" kern="1200">
                          <a:solidFill>
                            <a:srgbClr val="595959"/>
                          </a:solidFill>
                          <a:latin typeface="微软雅黑" panose="020B0503020204020204" pitchFamily="34" charset="-122"/>
                          <a:ea typeface="微软雅黑" panose="020B0503020204020204" pitchFamily="34" charset="-122"/>
                          <a:cs typeface="+mn-cs"/>
                          <a:sym typeface="+mn-ea"/>
                        </a:rPr>
                        <a:t>无法提现</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10007"/>
                  </a:ext>
                </a:extLst>
              </a:tr>
            </a:tbl>
          </a:graphicData>
        </a:graphic>
      </p:graphicFrame>
      <p:sp>
        <p:nvSpPr>
          <p:cNvPr id="5" name="Title 1"/>
          <p:cNvSpPr txBox="1"/>
          <p:nvPr/>
        </p:nvSpPr>
        <p:spPr>
          <a:xfrm>
            <a:off x="1143635" y="266700"/>
            <a:ext cx="644271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2.2.4	实例三：余额宝提现的边界值分析</a:t>
            </a: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Box 48"/>
          <p:cNvSpPr txBox="1"/>
          <p:nvPr/>
        </p:nvSpPr>
        <p:spPr>
          <a:xfrm>
            <a:off x="3970118" y="3014256"/>
            <a:ext cx="6733001" cy="829945"/>
          </a:xfrm>
          <a:prstGeom prst="rect">
            <a:avLst/>
          </a:prstGeom>
          <a:noFill/>
        </p:spPr>
        <p:txBody>
          <a:bodyPr wrap="square" lIns="91443" tIns="45720" rIns="91443" bIns="45720" rtlCol="0">
            <a:spAutoFit/>
          </a:bodyPr>
          <a:lstStyle/>
          <a:p>
            <a:r>
              <a:rPr lang="zh-CN" altLang="en-US" sz="4800" b="1" dirty="0">
                <a:solidFill>
                  <a:srgbClr val="1369B2"/>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因果图</a:t>
            </a:r>
            <a:r>
              <a:rPr lang="zh-CN" altLang="en-US" sz="4800" b="1" dirty="0">
                <a:solidFill>
                  <a:srgbClr val="595959"/>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法</a:t>
            </a:r>
            <a:r>
              <a:rPr lang="zh-CN" altLang="en-US" sz="4800" b="1" dirty="0">
                <a:solidFill>
                  <a:srgbClr val="1369B2"/>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与决策表</a:t>
            </a:r>
            <a:r>
              <a:rPr lang="zh-CN" altLang="en-US" sz="4800" b="1" dirty="0">
                <a:solidFill>
                  <a:srgbClr val="595959"/>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法</a:t>
            </a:r>
          </a:p>
        </p:txBody>
      </p:sp>
      <p:sp>
        <p:nvSpPr>
          <p:cNvPr id="2" name="TextBox 48"/>
          <p:cNvSpPr txBox="1"/>
          <p:nvPr/>
        </p:nvSpPr>
        <p:spPr>
          <a:xfrm>
            <a:off x="1626870" y="2809240"/>
            <a:ext cx="1734820" cy="1106805"/>
          </a:xfrm>
          <a:prstGeom prst="rect">
            <a:avLst/>
          </a:prstGeom>
          <a:noFill/>
        </p:spPr>
        <p:txBody>
          <a:bodyPr wrap="square" lIns="91443" tIns="45720" rIns="91443" bIns="45720" rtlCol="0">
            <a:spAutoFit/>
          </a:bodyPr>
          <a:lstStyle/>
          <a:p>
            <a:r>
              <a:rPr lang="en-US" altLang="en-GB" sz="6600" b="1" dirty="0">
                <a:solidFill>
                  <a:srgbClr val="FAFAFA"/>
                </a:solidFill>
                <a:latin typeface="微软雅黑" panose="020B0503020204020204" pitchFamily="34" charset="-122"/>
                <a:ea typeface="微软雅黑" panose="020B0503020204020204" pitchFamily="34" charset="-122"/>
                <a:cs typeface="+mn-ea"/>
                <a:sym typeface="+mn-lt"/>
              </a:rPr>
              <a:t>2.3</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35"/>
          <p:cNvSpPr txBox="1">
            <a:spLocks noChangeArrowheads="1"/>
          </p:cNvSpPr>
          <p:nvPr/>
        </p:nvSpPr>
        <p:spPr bwMode="auto">
          <a:xfrm>
            <a:off x="1487206" y="1413794"/>
            <a:ext cx="9216000" cy="14537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indent="457200">
              <a:lnSpc>
                <a:spcPct val="150000"/>
              </a:lnSpc>
              <a:defRPr/>
            </a:pP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前面介绍的等价类划分方法和边界值分析法都是</a:t>
            </a:r>
            <a:r>
              <a:rPr lang="zh-CN" altLang="en-US" sz="2000" dirty="0">
                <a:solidFill>
                  <a:srgbClr val="0070C0"/>
                </a:solidFill>
                <a:latin typeface="微软雅黑" panose="020B0503020204020204" pitchFamily="34" charset="-122"/>
                <a:ea typeface="微软雅黑" panose="020B0503020204020204" pitchFamily="34" charset="-122"/>
                <a:cs typeface="+mn-ea"/>
                <a:sym typeface="字魂58号-创中黑" panose="00000500000000000000" pitchFamily="2" charset="-122"/>
              </a:rPr>
              <a:t>着重考虑输入条件</a:t>
            </a: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，但</a:t>
            </a:r>
            <a:r>
              <a:rPr lang="zh-CN" altLang="en-US" sz="2000" dirty="0">
                <a:solidFill>
                  <a:srgbClr val="0070C0"/>
                </a:solidFill>
                <a:latin typeface="微软雅黑" panose="020B0503020204020204" pitchFamily="34" charset="-122"/>
                <a:ea typeface="微软雅黑" panose="020B0503020204020204" pitchFamily="34" charset="-122"/>
                <a:cs typeface="+mn-ea"/>
                <a:sym typeface="字魂58号-创中黑" panose="00000500000000000000" pitchFamily="2" charset="-122"/>
              </a:rPr>
              <a:t>未考虑输入条件之间的联系、相互组合等</a:t>
            </a: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。而因果图法是一种解决办法，它采用适合于描述对于</a:t>
            </a:r>
            <a:r>
              <a:rPr lang="zh-CN" altLang="en-US" sz="2000" dirty="0">
                <a:solidFill>
                  <a:srgbClr val="0070C0"/>
                </a:solidFill>
                <a:latin typeface="微软雅黑" panose="020B0503020204020204" pitchFamily="34" charset="-122"/>
                <a:ea typeface="微软雅黑" panose="020B0503020204020204" pitchFamily="34" charset="-122"/>
                <a:cs typeface="+mn-ea"/>
                <a:sym typeface="字魂58号-创中黑" panose="00000500000000000000" pitchFamily="2" charset="-122"/>
              </a:rPr>
              <a:t>多种条件的组合</a:t>
            </a: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，相应</a:t>
            </a:r>
            <a:r>
              <a:rPr lang="zh-CN" altLang="en-US" sz="2000" dirty="0">
                <a:solidFill>
                  <a:srgbClr val="0070C0"/>
                </a:solidFill>
                <a:latin typeface="微软雅黑" panose="020B0503020204020204" pitchFamily="34" charset="-122"/>
                <a:ea typeface="微软雅黑" panose="020B0503020204020204" pitchFamily="34" charset="-122"/>
                <a:cs typeface="+mn-ea"/>
                <a:sym typeface="字魂58号-创中黑" panose="00000500000000000000" pitchFamily="2" charset="-122"/>
              </a:rPr>
              <a:t>产生多个动作形式</a:t>
            </a: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来考虑测试用例。</a:t>
            </a:r>
            <a:endParaRPr lang="en-US" sz="20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endParaRPr>
          </a:p>
        </p:txBody>
      </p:sp>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2.3.1	因果图法概述</a:t>
            </a: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35"/>
          <p:cNvSpPr txBox="1">
            <a:spLocks noChangeArrowheads="1"/>
          </p:cNvSpPr>
          <p:nvPr/>
        </p:nvSpPr>
        <p:spPr bwMode="auto">
          <a:xfrm>
            <a:off x="4871085" y="1559560"/>
            <a:ext cx="6289675" cy="3860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indent="457200" algn="just">
              <a:lnSpc>
                <a:spcPct val="150000"/>
              </a:lnSpc>
              <a:buClrTx/>
              <a:buSzTx/>
              <a:buFontTx/>
            </a:pPr>
            <a:r>
              <a:rPr lang="zh-CN" altLang="en-US" sz="1800" dirty="0">
                <a:solidFill>
                  <a:srgbClr val="0070C0"/>
                </a:solidFill>
                <a:latin typeface="微软雅黑" panose="020B0503020204020204" pitchFamily="34" charset="-122"/>
                <a:ea typeface="微软雅黑" panose="020B0503020204020204" pitchFamily="34" charset="-122"/>
              </a:rPr>
              <a:t>因果图法是一种利用图解法分析输入的各种组合情况的测试方法</a:t>
            </a:r>
            <a:r>
              <a:rPr lang="zh-CN" altLang="en-US" sz="1800" dirty="0">
                <a:solidFill>
                  <a:srgbClr val="595959"/>
                </a:solidFill>
                <a:latin typeface="微软雅黑" panose="020B0503020204020204" pitchFamily="34" charset="-122"/>
                <a:ea typeface="微软雅黑" panose="020B0503020204020204" pitchFamily="34" charset="-122"/>
              </a:rPr>
              <a:t>，它</a:t>
            </a:r>
            <a:r>
              <a:rPr lang="zh-CN" altLang="en-US" sz="1800" dirty="0">
                <a:solidFill>
                  <a:srgbClr val="0070C0"/>
                </a:solidFill>
                <a:latin typeface="微软雅黑" panose="020B0503020204020204" pitchFamily="34" charset="-122"/>
                <a:ea typeface="微软雅黑" panose="020B0503020204020204" pitchFamily="34" charset="-122"/>
              </a:rPr>
              <a:t>考虑</a:t>
            </a:r>
            <a:r>
              <a:rPr lang="zh-CN" altLang="en-US" sz="1800" dirty="0">
                <a:solidFill>
                  <a:srgbClr val="595959"/>
                </a:solidFill>
                <a:latin typeface="微软雅黑" panose="020B0503020204020204" pitchFamily="34" charset="-122"/>
                <a:ea typeface="微软雅黑" panose="020B0503020204020204" pitchFamily="34" charset="-122"/>
              </a:rPr>
              <a:t>了</a:t>
            </a:r>
            <a:r>
              <a:rPr lang="zh-CN" altLang="en-US" sz="1800" dirty="0">
                <a:solidFill>
                  <a:srgbClr val="0070C0"/>
                </a:solidFill>
                <a:latin typeface="微软雅黑" panose="020B0503020204020204" pitchFamily="34" charset="-122"/>
                <a:ea typeface="微软雅黑" panose="020B0503020204020204" pitchFamily="34" charset="-122"/>
              </a:rPr>
              <a:t>输入条件的各种组合</a:t>
            </a:r>
            <a:r>
              <a:rPr lang="zh-CN" altLang="en-US" sz="1800" dirty="0">
                <a:solidFill>
                  <a:srgbClr val="595959"/>
                </a:solidFill>
                <a:latin typeface="微软雅黑" panose="020B0503020204020204" pitchFamily="34" charset="-122"/>
                <a:ea typeface="微软雅黑" panose="020B0503020204020204" pitchFamily="34" charset="-122"/>
              </a:rPr>
              <a:t>及</a:t>
            </a:r>
            <a:r>
              <a:rPr lang="zh-CN" altLang="en-US" sz="1800" dirty="0">
                <a:solidFill>
                  <a:srgbClr val="0070C0"/>
                </a:solidFill>
                <a:latin typeface="微软雅黑" panose="020B0503020204020204" pitchFamily="34" charset="-122"/>
                <a:ea typeface="微软雅黑" panose="020B0503020204020204" pitchFamily="34" charset="-122"/>
              </a:rPr>
              <a:t>输入条件之间的相互制约关系</a:t>
            </a:r>
            <a:r>
              <a:rPr lang="zh-CN" altLang="en-US" sz="1800" dirty="0">
                <a:solidFill>
                  <a:srgbClr val="595959"/>
                </a:solidFill>
                <a:latin typeface="微软雅黑" panose="020B0503020204020204" pitchFamily="34" charset="-122"/>
                <a:ea typeface="微软雅黑" panose="020B0503020204020204" pitchFamily="34" charset="-122"/>
              </a:rPr>
              <a:t>，并考虑了</a:t>
            </a:r>
            <a:r>
              <a:rPr lang="zh-CN" altLang="en-US" sz="1800" dirty="0">
                <a:solidFill>
                  <a:srgbClr val="0075CC"/>
                </a:solidFill>
                <a:latin typeface="微软雅黑" panose="020B0503020204020204" pitchFamily="34" charset="-122"/>
                <a:ea typeface="微软雅黑" panose="020B0503020204020204" pitchFamily="34" charset="-122"/>
              </a:rPr>
              <a:t>输出情况</a:t>
            </a:r>
            <a:r>
              <a:rPr lang="zh-CN" altLang="en-US" sz="1800" dirty="0">
                <a:solidFill>
                  <a:srgbClr val="595959"/>
                </a:solidFill>
                <a:latin typeface="微软雅黑" panose="020B0503020204020204" pitchFamily="34" charset="-122"/>
                <a:ea typeface="微软雅黑" panose="020B0503020204020204" pitchFamily="34" charset="-122"/>
              </a:rPr>
              <a:t>。例如，某一软件要求输入的地址具体到市区，例如“北京→昌平区”“天津→南开区”，其中第二个输入受到第一个输入的约束，输入的城区只能在输入的城市中选择，否则输入的地址无效。像这样</a:t>
            </a:r>
            <a:r>
              <a:rPr lang="zh-CN" altLang="en-US" sz="1800" dirty="0">
                <a:solidFill>
                  <a:srgbClr val="0070C0"/>
                </a:solidFill>
                <a:latin typeface="微软雅黑" panose="020B0503020204020204" pitchFamily="34" charset="-122"/>
                <a:ea typeface="微软雅黑" panose="020B0503020204020204" pitchFamily="34" charset="-122"/>
              </a:rPr>
              <a:t>多个输入之间有相互制约关系的情况</a:t>
            </a:r>
            <a:r>
              <a:rPr lang="zh-CN" altLang="en-US" sz="1800" dirty="0">
                <a:solidFill>
                  <a:srgbClr val="595959"/>
                </a:solidFill>
                <a:latin typeface="微软雅黑" panose="020B0503020204020204" pitchFamily="34" charset="-122"/>
                <a:ea typeface="微软雅黑" panose="020B0503020204020204" pitchFamily="34" charset="-122"/>
              </a:rPr>
              <a:t>，就无法使用等价类划分法和边界值分析法设计测试用例。</a:t>
            </a:r>
            <a:r>
              <a:rPr lang="zh-CN" altLang="en-US" sz="1800" dirty="0">
                <a:solidFill>
                  <a:srgbClr val="0070C0"/>
                </a:solidFill>
                <a:latin typeface="微软雅黑" panose="020B0503020204020204" pitchFamily="34" charset="-122"/>
                <a:ea typeface="微软雅黑" panose="020B0503020204020204" pitchFamily="34" charset="-122"/>
              </a:rPr>
              <a:t>因果图法就是为了解决多个输入之间的作用关系而产生的测试用例设计方法</a:t>
            </a:r>
            <a:r>
              <a:rPr lang="zh-CN" altLang="en-US" sz="1800" dirty="0">
                <a:solidFill>
                  <a:srgbClr val="595959"/>
                </a:solidFill>
                <a:latin typeface="微软雅黑" panose="020B0503020204020204" pitchFamily="34" charset="-122"/>
                <a:ea typeface="微软雅黑" panose="020B0503020204020204" pitchFamily="34" charset="-122"/>
              </a:rPr>
              <a:t>。</a:t>
            </a:r>
          </a:p>
        </p:txBody>
      </p:sp>
      <p:pic>
        <p:nvPicPr>
          <p:cNvPr id="33" name="图片 32"/>
          <p:cNvPicPr>
            <a:picLocks noChangeAspect="1"/>
          </p:cNvPicPr>
          <p:nvPr/>
        </p:nvPicPr>
        <p:blipFill>
          <a:blip r:embed="rId3"/>
          <a:stretch>
            <a:fillRect/>
          </a:stretch>
        </p:blipFill>
        <p:spPr>
          <a:xfrm>
            <a:off x="839386" y="1413456"/>
            <a:ext cx="3715858" cy="4006159"/>
          </a:xfrm>
          <a:prstGeom prst="rect">
            <a:avLst/>
          </a:prstGeom>
        </p:spPr>
      </p:pic>
      <p:sp>
        <p:nvSpPr>
          <p:cNvPr id="2"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2.3.1	因果图法概述</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35"/>
          <p:cNvSpPr txBox="1">
            <a:spLocks noChangeArrowheads="1"/>
          </p:cNvSpPr>
          <p:nvPr/>
        </p:nvSpPr>
        <p:spPr bwMode="auto">
          <a:xfrm>
            <a:off x="1054735" y="909955"/>
            <a:ext cx="10327005" cy="30315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buClrTx/>
              <a:buSzTx/>
              <a:buFontTx/>
            </a:pPr>
            <a:r>
              <a:rPr lang="zh-CN" altLang="en-US" sz="1800" dirty="0">
                <a:solidFill>
                  <a:srgbClr val="595959"/>
                </a:solidFill>
                <a:latin typeface="微软雅黑" panose="020B0503020204020204" pitchFamily="34" charset="-122"/>
                <a:ea typeface="微软雅黑" panose="020B0503020204020204" pitchFamily="34" charset="-122"/>
              </a:rPr>
              <a:t>下面介绍如何使用因果图展示多个输入、输出之间的关系，并且学习如何</a:t>
            </a:r>
            <a:r>
              <a:rPr lang="zh-CN" altLang="en-US" sz="1800" dirty="0">
                <a:solidFill>
                  <a:srgbClr val="0070C0"/>
                </a:solidFill>
                <a:latin typeface="微软雅黑" panose="020B0503020204020204" pitchFamily="34" charset="-122"/>
                <a:ea typeface="微软雅黑" panose="020B0503020204020204" pitchFamily="34" charset="-122"/>
              </a:rPr>
              <a:t>通过因果图法设计测试用例</a:t>
            </a:r>
            <a:r>
              <a:rPr lang="zh-CN" altLang="en-US" sz="1800" dirty="0">
                <a:solidFill>
                  <a:srgbClr val="595959"/>
                </a:solidFill>
                <a:latin typeface="微软雅黑" panose="020B0503020204020204" pitchFamily="34" charset="-122"/>
                <a:ea typeface="微软雅黑" panose="020B0503020204020204" pitchFamily="34" charset="-122"/>
              </a:rPr>
              <a:t>。</a:t>
            </a:r>
          </a:p>
          <a:p>
            <a:pPr algn="just">
              <a:lnSpc>
                <a:spcPct val="150000"/>
              </a:lnSpc>
              <a:buClrTx/>
              <a:buSzTx/>
              <a:buFontTx/>
            </a:pPr>
            <a:r>
              <a:rPr lang="zh-CN" altLang="en-US" sz="1800" b="1" dirty="0">
                <a:solidFill>
                  <a:srgbClr val="595959"/>
                </a:solidFill>
                <a:latin typeface="微软雅黑" panose="020B0503020204020204" pitchFamily="34" charset="-122"/>
                <a:ea typeface="微软雅黑" panose="020B0503020204020204" pitchFamily="34" charset="-122"/>
              </a:rPr>
              <a:t>1.</a:t>
            </a:r>
            <a:r>
              <a:rPr lang="en-US" altLang="zh-CN" sz="1800" b="1" dirty="0">
                <a:solidFill>
                  <a:srgbClr val="595959"/>
                </a:solidFill>
                <a:latin typeface="微软雅黑" panose="020B0503020204020204" pitchFamily="34" charset="-122"/>
                <a:ea typeface="微软雅黑" panose="020B0503020204020204" pitchFamily="34" charset="-122"/>
              </a:rPr>
              <a:t> </a:t>
            </a:r>
            <a:r>
              <a:rPr lang="zh-CN" altLang="en-US" sz="1800" b="1" dirty="0">
                <a:solidFill>
                  <a:srgbClr val="595959"/>
                </a:solidFill>
                <a:latin typeface="微软雅黑" panose="020B0503020204020204" pitchFamily="34" charset="-122"/>
                <a:ea typeface="微软雅黑" panose="020B0503020204020204" pitchFamily="34" charset="-122"/>
              </a:rPr>
              <a:t>使用因果图展示多个输入、输出之间的关系</a:t>
            </a:r>
          </a:p>
          <a:p>
            <a:pPr indent="457200" algn="just">
              <a:lnSpc>
                <a:spcPct val="150000"/>
              </a:lnSpc>
              <a:buClrTx/>
              <a:buSzTx/>
              <a:buFontTx/>
            </a:pPr>
            <a:r>
              <a:rPr lang="zh-CN" altLang="en-US" sz="1800" dirty="0">
                <a:solidFill>
                  <a:srgbClr val="595959"/>
                </a:solidFill>
                <a:latin typeface="微软雅黑" panose="020B0503020204020204" pitchFamily="34" charset="-122"/>
                <a:ea typeface="微软雅黑" panose="020B0503020204020204" pitchFamily="34" charset="-122"/>
              </a:rPr>
              <a:t>因果图需要处理</a:t>
            </a:r>
            <a:r>
              <a:rPr lang="zh-CN" altLang="en-US" sz="1800" dirty="0">
                <a:solidFill>
                  <a:srgbClr val="0070C0"/>
                </a:solidFill>
                <a:latin typeface="微软雅黑" panose="020B0503020204020204" pitchFamily="34" charset="-122"/>
                <a:ea typeface="微软雅黑" panose="020B0503020204020204" pitchFamily="34" charset="-122"/>
              </a:rPr>
              <a:t>输入之间的作用关系</a:t>
            </a:r>
            <a:r>
              <a:rPr lang="zh-CN" altLang="en-US" sz="1800" dirty="0">
                <a:solidFill>
                  <a:srgbClr val="595959"/>
                </a:solidFill>
                <a:latin typeface="微软雅黑" panose="020B0503020204020204" pitchFamily="34" charset="-122"/>
                <a:ea typeface="微软雅黑" panose="020B0503020204020204" pitchFamily="34" charset="-122"/>
              </a:rPr>
              <a:t>，还要考虑</a:t>
            </a:r>
            <a:r>
              <a:rPr lang="zh-CN" altLang="en-US" sz="1800" dirty="0">
                <a:solidFill>
                  <a:srgbClr val="0070C0"/>
                </a:solidFill>
                <a:latin typeface="微软雅黑" panose="020B0503020204020204" pitchFamily="34" charset="-122"/>
                <a:ea typeface="微软雅黑" panose="020B0503020204020204" pitchFamily="34" charset="-122"/>
              </a:rPr>
              <a:t>输出情况</a:t>
            </a:r>
            <a:r>
              <a:rPr lang="zh-CN" altLang="en-US" sz="1800" dirty="0">
                <a:solidFill>
                  <a:srgbClr val="595959"/>
                </a:solidFill>
                <a:latin typeface="微软雅黑" panose="020B0503020204020204" pitchFamily="34" charset="-122"/>
                <a:ea typeface="微软雅黑" panose="020B0503020204020204" pitchFamily="34" charset="-122"/>
              </a:rPr>
              <a:t>，因此它包含了复杂的逻辑关系。这些复杂的逻辑关系通常用图来展现，这些图就是</a:t>
            </a:r>
            <a:r>
              <a:rPr lang="zh-CN" altLang="en-US" sz="1800" dirty="0">
                <a:solidFill>
                  <a:srgbClr val="0070C0"/>
                </a:solidFill>
                <a:latin typeface="微软雅黑" panose="020B0503020204020204" pitchFamily="34" charset="-122"/>
                <a:ea typeface="微软雅黑" panose="020B0503020204020204" pitchFamily="34" charset="-122"/>
              </a:rPr>
              <a:t>因果图</a:t>
            </a:r>
            <a:r>
              <a:rPr lang="zh-CN" altLang="en-US" sz="1800" dirty="0">
                <a:solidFill>
                  <a:srgbClr val="595959"/>
                </a:solidFill>
                <a:latin typeface="微软雅黑" panose="020B0503020204020204" pitchFamily="34" charset="-122"/>
                <a:ea typeface="微软雅黑" panose="020B0503020204020204" pitchFamily="34" charset="-122"/>
              </a:rPr>
              <a:t>。</a:t>
            </a:r>
          </a:p>
          <a:p>
            <a:pPr indent="457200" algn="just">
              <a:lnSpc>
                <a:spcPct val="150000"/>
              </a:lnSpc>
            </a:pPr>
            <a:r>
              <a:rPr lang="zh-CN" altLang="en-US" sz="1800" dirty="0">
                <a:solidFill>
                  <a:srgbClr val="595959"/>
                </a:solidFill>
                <a:latin typeface="微软雅黑" panose="020B0503020204020204" pitchFamily="34" charset="-122"/>
                <a:ea typeface="微软雅黑" panose="020B0503020204020204" pitchFamily="34" charset="-122"/>
              </a:rPr>
              <a:t>因果图使用一些简单的逻辑符号和直线将程序的原因（输入）与结果（输出）连接起来，</a:t>
            </a:r>
            <a:r>
              <a:rPr lang="en-US" altLang="zh-CN" sz="1800" dirty="0" err="1">
                <a:solidFill>
                  <a:srgbClr val="0070C0"/>
                </a:solidFill>
                <a:latin typeface="微软雅黑" panose="020B0503020204020204" pitchFamily="34" charset="-122"/>
                <a:ea typeface="微软雅黑" panose="020B0503020204020204" pitchFamily="34" charset="-122"/>
              </a:rPr>
              <a:t>一般原因用</a:t>
            </a:r>
            <a:r>
              <a:rPr lang="en-US" altLang="zh-CN" sz="1800" dirty="0">
                <a:solidFill>
                  <a:srgbClr val="0070C0"/>
                </a:solidFill>
                <a:latin typeface="微软雅黑" panose="020B0503020204020204" pitchFamily="34" charset="-122"/>
                <a:ea typeface="微软雅黑" panose="020B0503020204020204" pitchFamily="34" charset="-122"/>
              </a:rPr>
              <a:t> </a:t>
            </a:r>
            <a:r>
              <a:rPr lang="en-US" altLang="zh-CN" sz="1800" dirty="0" err="1">
                <a:solidFill>
                  <a:srgbClr val="0070C0"/>
                </a:solidFill>
                <a:latin typeface="微软雅黑" panose="020B0503020204020204" pitchFamily="34" charset="-122"/>
                <a:ea typeface="微软雅黑" panose="020B0503020204020204" pitchFamily="34" charset="-122"/>
              </a:rPr>
              <a:t>c</a:t>
            </a:r>
            <a:r>
              <a:rPr lang="en-US" altLang="zh-CN" sz="1800" baseline="-25000" dirty="0" err="1">
                <a:solidFill>
                  <a:srgbClr val="0070C0"/>
                </a:solidFill>
                <a:latin typeface="微软雅黑" panose="020B0503020204020204" pitchFamily="34" charset="-122"/>
                <a:ea typeface="微软雅黑" panose="020B0503020204020204" pitchFamily="34" charset="-122"/>
              </a:rPr>
              <a:t>i</a:t>
            </a:r>
            <a:r>
              <a:rPr lang="en-US" altLang="zh-CN" sz="1800" dirty="0" err="1">
                <a:solidFill>
                  <a:srgbClr val="0070C0"/>
                </a:solidFill>
                <a:latin typeface="微软雅黑" panose="020B0503020204020204" pitchFamily="34" charset="-122"/>
                <a:ea typeface="微软雅黑" panose="020B0503020204020204" pitchFamily="34" charset="-122"/>
              </a:rPr>
              <a:t>表示</a:t>
            </a:r>
            <a:r>
              <a:rPr lang="en-US" altLang="zh-CN" sz="1800" dirty="0" err="1">
                <a:solidFill>
                  <a:srgbClr val="595959"/>
                </a:solidFill>
                <a:latin typeface="微软雅黑" panose="020B0503020204020204" pitchFamily="34" charset="-122"/>
                <a:ea typeface="微软雅黑" panose="020B0503020204020204" pitchFamily="34" charset="-122"/>
              </a:rPr>
              <a:t>，</a:t>
            </a:r>
            <a:r>
              <a:rPr lang="en-US" altLang="zh-CN" sz="1800" dirty="0" err="1">
                <a:solidFill>
                  <a:srgbClr val="0070C0"/>
                </a:solidFill>
                <a:latin typeface="微软雅黑" panose="020B0503020204020204" pitchFamily="34" charset="-122"/>
                <a:ea typeface="微软雅黑" panose="020B0503020204020204" pitchFamily="34" charset="-122"/>
              </a:rPr>
              <a:t>结果用</a:t>
            </a:r>
            <a:r>
              <a:rPr lang="en-US" altLang="zh-CN" sz="1800" dirty="0">
                <a:solidFill>
                  <a:srgbClr val="0070C0"/>
                </a:solidFill>
                <a:latin typeface="微软雅黑" panose="020B0503020204020204" pitchFamily="34" charset="-122"/>
                <a:ea typeface="微软雅黑" panose="020B0503020204020204" pitchFamily="34" charset="-122"/>
              </a:rPr>
              <a:t> </a:t>
            </a:r>
            <a:r>
              <a:rPr lang="en-US" altLang="zh-CN" sz="1800" dirty="0" err="1">
                <a:solidFill>
                  <a:srgbClr val="0070C0"/>
                </a:solidFill>
                <a:latin typeface="微软雅黑" panose="020B0503020204020204" pitchFamily="34" charset="-122"/>
                <a:ea typeface="微软雅黑" panose="020B0503020204020204" pitchFamily="34" charset="-122"/>
              </a:rPr>
              <a:t>e</a:t>
            </a:r>
            <a:r>
              <a:rPr lang="en-US" altLang="zh-CN" sz="1800" baseline="-25000" dirty="0" err="1">
                <a:solidFill>
                  <a:srgbClr val="0070C0"/>
                </a:solidFill>
                <a:latin typeface="微软雅黑" panose="020B0503020204020204" pitchFamily="34" charset="-122"/>
                <a:ea typeface="微软雅黑" panose="020B0503020204020204" pitchFamily="34" charset="-122"/>
              </a:rPr>
              <a:t>i</a:t>
            </a:r>
            <a:r>
              <a:rPr lang="en-US" altLang="zh-CN" sz="1800" dirty="0" err="1">
                <a:solidFill>
                  <a:srgbClr val="0070C0"/>
                </a:solidFill>
                <a:latin typeface="微软雅黑" panose="020B0503020204020204" pitchFamily="34" charset="-122"/>
                <a:ea typeface="微软雅黑" panose="020B0503020204020204" pitchFamily="34" charset="-122"/>
              </a:rPr>
              <a:t>表示</a:t>
            </a:r>
            <a:r>
              <a:rPr lang="en-US" altLang="zh-CN" sz="1800" dirty="0" err="1">
                <a:solidFill>
                  <a:srgbClr val="595959"/>
                </a:solidFill>
                <a:latin typeface="微软雅黑" panose="020B0503020204020204" pitchFamily="34" charset="-122"/>
                <a:ea typeface="微软雅黑" panose="020B0503020204020204" pitchFamily="34" charset="-122"/>
              </a:rPr>
              <a:t>，</a:t>
            </a:r>
            <a:r>
              <a:rPr lang="en-US" altLang="zh-CN" sz="1800" dirty="0" err="1">
                <a:solidFill>
                  <a:srgbClr val="0070C0"/>
                </a:solidFill>
                <a:latin typeface="微软雅黑" panose="020B0503020204020204" pitchFamily="34" charset="-122"/>
                <a:ea typeface="微软雅黑" panose="020B0503020204020204" pitchFamily="34" charset="-122"/>
              </a:rPr>
              <a:t>c</a:t>
            </a:r>
            <a:r>
              <a:rPr lang="en-US" altLang="zh-CN" sz="1800" baseline="-25000" dirty="0" err="1">
                <a:solidFill>
                  <a:srgbClr val="0070C0"/>
                </a:solidFill>
                <a:latin typeface="微软雅黑" panose="020B0503020204020204" pitchFamily="34" charset="-122"/>
                <a:ea typeface="微软雅黑" panose="020B0503020204020204" pitchFamily="34" charset="-122"/>
              </a:rPr>
              <a:t>i</a:t>
            </a:r>
            <a:r>
              <a:rPr lang="en-US" altLang="zh-CN" sz="1800" dirty="0" err="1">
                <a:solidFill>
                  <a:srgbClr val="0070C0"/>
                </a:solidFill>
                <a:latin typeface="微软雅黑" panose="020B0503020204020204" pitchFamily="34" charset="-122"/>
                <a:ea typeface="微软雅黑" panose="020B0503020204020204" pitchFamily="34" charset="-122"/>
              </a:rPr>
              <a:t>与</a:t>
            </a:r>
            <a:r>
              <a:rPr lang="en-US" altLang="zh-CN" sz="1800" dirty="0">
                <a:solidFill>
                  <a:srgbClr val="0070C0"/>
                </a:solidFill>
                <a:latin typeface="微软雅黑" panose="020B0503020204020204" pitchFamily="34" charset="-122"/>
                <a:ea typeface="微软雅黑" panose="020B0503020204020204" pitchFamily="34" charset="-122"/>
              </a:rPr>
              <a:t> e</a:t>
            </a:r>
            <a:r>
              <a:rPr lang="en-US" altLang="zh-CN" sz="1800" baseline="-25000" dirty="0">
                <a:solidFill>
                  <a:srgbClr val="0070C0"/>
                </a:solidFill>
                <a:latin typeface="微软雅黑" panose="020B0503020204020204" pitchFamily="34" charset="-122"/>
                <a:ea typeface="微软雅黑" panose="020B0503020204020204" pitchFamily="34" charset="-122"/>
              </a:rPr>
              <a:t>i</a:t>
            </a:r>
            <a:r>
              <a:rPr lang="en-US" altLang="zh-CN" sz="1800" dirty="0">
                <a:solidFill>
                  <a:srgbClr val="0070C0"/>
                </a:solidFill>
                <a:latin typeface="微软雅黑" panose="020B0503020204020204" pitchFamily="34" charset="-122"/>
                <a:ea typeface="微软雅黑" panose="020B0503020204020204" pitchFamily="34" charset="-122"/>
              </a:rPr>
              <a:t>可以取值“0”或“1”，</a:t>
            </a:r>
            <a:r>
              <a:rPr lang="en-US" altLang="zh-CN" sz="1800" dirty="0">
                <a:solidFill>
                  <a:srgbClr val="595959"/>
                </a:solidFill>
                <a:latin typeface="微软雅黑" panose="020B0503020204020204" pitchFamily="34" charset="-122"/>
                <a:ea typeface="微软雅黑" panose="020B0503020204020204" pitchFamily="34" charset="-122"/>
              </a:rPr>
              <a:t>其中</a:t>
            </a:r>
            <a:r>
              <a:rPr lang="en-US" altLang="zh-CN" sz="1800" dirty="0">
                <a:solidFill>
                  <a:srgbClr val="0070C0"/>
                </a:solidFill>
                <a:latin typeface="微软雅黑" panose="020B0503020204020204" pitchFamily="34" charset="-122"/>
                <a:ea typeface="微软雅黑" panose="020B0503020204020204" pitchFamily="34" charset="-122"/>
              </a:rPr>
              <a:t>“0”表示状态不出现，“1”表示状态出现</a:t>
            </a:r>
            <a:r>
              <a:rPr lang="en-US" altLang="zh-CN" sz="1800" dirty="0">
                <a:solidFill>
                  <a:srgbClr val="595959"/>
                </a:solidFill>
                <a:latin typeface="微软雅黑" panose="020B0503020204020204" pitchFamily="34" charset="-122"/>
                <a:ea typeface="微软雅黑" panose="020B0503020204020204" pitchFamily="34" charset="-122"/>
              </a:rPr>
              <a:t>。</a:t>
            </a:r>
            <a:r>
              <a:rPr lang="zh-CN" altLang="en-US" sz="1800" dirty="0">
                <a:solidFill>
                  <a:srgbClr val="595959"/>
                </a:solidFill>
                <a:latin typeface="微软雅黑" panose="020B0503020204020204" pitchFamily="34" charset="-122"/>
                <a:ea typeface="微软雅黑" panose="020B0503020204020204" pitchFamily="34" charset="-122"/>
              </a:rPr>
              <a:t>c</a:t>
            </a:r>
            <a:r>
              <a:rPr lang="zh-CN" altLang="en-US" sz="1800" baseline="-25000" dirty="0">
                <a:solidFill>
                  <a:srgbClr val="595959"/>
                </a:solidFill>
                <a:latin typeface="微软雅黑" panose="020B0503020204020204" pitchFamily="34" charset="-122"/>
                <a:ea typeface="微软雅黑" panose="020B0503020204020204" pitchFamily="34" charset="-122"/>
              </a:rPr>
              <a:t>i</a:t>
            </a:r>
            <a:r>
              <a:rPr lang="zh-CN" altLang="en-US" sz="1800" dirty="0">
                <a:solidFill>
                  <a:srgbClr val="595959"/>
                </a:solidFill>
                <a:latin typeface="微软雅黑" panose="020B0503020204020204" pitchFamily="34" charset="-122"/>
                <a:ea typeface="微软雅黑" panose="020B0503020204020204" pitchFamily="34" charset="-122"/>
              </a:rPr>
              <a:t>与e</a:t>
            </a:r>
            <a:r>
              <a:rPr lang="zh-CN" altLang="en-US" sz="1800" baseline="-25000" dirty="0">
                <a:solidFill>
                  <a:srgbClr val="595959"/>
                </a:solidFill>
                <a:latin typeface="微软雅黑" panose="020B0503020204020204" pitchFamily="34" charset="-122"/>
                <a:ea typeface="微软雅黑" panose="020B0503020204020204" pitchFamily="34" charset="-122"/>
              </a:rPr>
              <a:t>i</a:t>
            </a:r>
            <a:r>
              <a:rPr lang="zh-CN" altLang="en-US" sz="1800" dirty="0">
                <a:solidFill>
                  <a:srgbClr val="595959"/>
                </a:solidFill>
                <a:latin typeface="微软雅黑" panose="020B0503020204020204" pitchFamily="34" charset="-122"/>
                <a:ea typeface="微软雅黑" panose="020B0503020204020204" pitchFamily="34" charset="-122"/>
              </a:rPr>
              <a:t>之间有</a:t>
            </a:r>
            <a:r>
              <a:rPr lang="zh-CN" altLang="en-US" sz="1800" dirty="0">
                <a:solidFill>
                  <a:srgbClr val="0070C0"/>
                </a:solidFill>
                <a:latin typeface="微软雅黑" panose="020B0503020204020204" pitchFamily="34" charset="-122"/>
                <a:ea typeface="微软雅黑" panose="020B0503020204020204" pitchFamily="34" charset="-122"/>
              </a:rPr>
              <a:t>恒等、非（~）、或（∨）、与（∧）</a:t>
            </a:r>
            <a:r>
              <a:rPr lang="zh-CN" altLang="en-US" sz="1800" dirty="0">
                <a:solidFill>
                  <a:srgbClr val="595959"/>
                </a:solidFill>
                <a:latin typeface="微软雅黑" panose="020B0503020204020204" pitchFamily="34" charset="-122"/>
                <a:ea typeface="微软雅黑" panose="020B0503020204020204" pitchFamily="34" charset="-122"/>
              </a:rPr>
              <a:t>这4种关系，如下图所示。</a:t>
            </a:r>
          </a:p>
        </p:txBody>
      </p:sp>
      <p:sp>
        <p:nvSpPr>
          <p:cNvPr id="2"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2.3.1	因果图法概述</a:t>
            </a:r>
          </a:p>
        </p:txBody>
      </p:sp>
      <p:pic>
        <p:nvPicPr>
          <p:cNvPr id="11" name="图片 11" descr="图1"/>
          <p:cNvPicPr/>
          <p:nvPr/>
        </p:nvPicPr>
        <p:blipFill>
          <a:blip r:embed="rId3"/>
          <a:stretch>
            <a:fillRect/>
          </a:stretch>
        </p:blipFill>
        <p:spPr>
          <a:xfrm>
            <a:off x="4079206" y="4058718"/>
            <a:ext cx="3281024" cy="2599871"/>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35"/>
          <p:cNvSpPr txBox="1">
            <a:spLocks noChangeArrowheads="1"/>
          </p:cNvSpPr>
          <p:nvPr/>
        </p:nvSpPr>
        <p:spPr bwMode="auto">
          <a:xfrm>
            <a:off x="1054735" y="909955"/>
            <a:ext cx="10327005" cy="42754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buClrTx/>
              <a:buSzTx/>
              <a:buFontTx/>
            </a:pPr>
            <a:r>
              <a:rPr lang="zh-CN" altLang="en-US" sz="2000" dirty="0">
                <a:solidFill>
                  <a:srgbClr val="595959"/>
                </a:solidFill>
                <a:latin typeface="微软雅黑" panose="020B0503020204020204" pitchFamily="34" charset="-122"/>
                <a:ea typeface="微软雅黑" panose="020B0503020204020204" pitchFamily="34" charset="-122"/>
              </a:rPr>
              <a:t>上一页中展示了</a:t>
            </a:r>
            <a:r>
              <a:rPr lang="zh-CN" altLang="en-US" sz="2000" dirty="0">
                <a:solidFill>
                  <a:srgbClr val="0070C0"/>
                </a:solidFill>
                <a:latin typeface="微软雅黑" panose="020B0503020204020204" pitchFamily="34" charset="-122"/>
                <a:ea typeface="微软雅黑" panose="020B0503020204020204" pitchFamily="34" charset="-122"/>
              </a:rPr>
              <a:t>输入、输出之间的4种关系</a:t>
            </a:r>
            <a:r>
              <a:rPr lang="zh-CN" altLang="en-US" sz="2000" dirty="0">
                <a:solidFill>
                  <a:srgbClr val="595959"/>
                </a:solidFill>
                <a:latin typeface="微软雅黑" panose="020B0503020204020204" pitchFamily="34" charset="-122"/>
                <a:ea typeface="微软雅黑" panose="020B0503020204020204" pitchFamily="34" charset="-122"/>
              </a:rPr>
              <a:t>，每种关系的具体含义如下。</a:t>
            </a:r>
          </a:p>
          <a:p>
            <a:pPr marL="342900" indent="-342900" algn="just">
              <a:lnSpc>
                <a:spcPct val="150000"/>
              </a:lnSpc>
              <a:buClrTx/>
              <a:buSzTx/>
              <a:buFont typeface="Wingdings" panose="05000000000000000000" charset="0"/>
              <a:buChar char="l"/>
            </a:pPr>
            <a:r>
              <a:rPr lang="zh-CN" altLang="en-US" sz="2000" dirty="0">
                <a:solidFill>
                  <a:srgbClr val="0070C0"/>
                </a:solidFill>
                <a:latin typeface="微软雅黑" panose="020B0503020204020204" pitchFamily="34" charset="-122"/>
                <a:ea typeface="微软雅黑" panose="020B0503020204020204" pitchFamily="34" charset="-122"/>
              </a:rPr>
              <a:t>恒等</a:t>
            </a:r>
            <a:r>
              <a:rPr lang="zh-CN" altLang="en-US" sz="2000" dirty="0">
                <a:solidFill>
                  <a:srgbClr val="595959"/>
                </a:solidFill>
                <a:latin typeface="微软雅黑" panose="020B0503020204020204" pitchFamily="34" charset="-122"/>
                <a:ea typeface="微软雅黑" panose="020B0503020204020204" pitchFamily="34" charset="-122"/>
              </a:rPr>
              <a:t>：在恒等关系中，要求程序</a:t>
            </a:r>
            <a:r>
              <a:rPr lang="zh-CN" altLang="en-US" sz="2000" dirty="0">
                <a:solidFill>
                  <a:srgbClr val="0070C0"/>
                </a:solidFill>
                <a:latin typeface="微软雅黑" panose="020B0503020204020204" pitchFamily="34" charset="-122"/>
                <a:ea typeface="微软雅黑" panose="020B0503020204020204" pitchFamily="34" charset="-122"/>
              </a:rPr>
              <a:t>有一个输入和一个输出</a:t>
            </a:r>
            <a:r>
              <a:rPr lang="zh-CN" altLang="en-US" sz="2000" dirty="0">
                <a:solidFill>
                  <a:srgbClr val="595959"/>
                </a:solidFill>
                <a:latin typeface="微软雅黑" panose="020B0503020204020204" pitchFamily="34" charset="-122"/>
                <a:ea typeface="微软雅黑" panose="020B0503020204020204" pitchFamily="34" charset="-122"/>
              </a:rPr>
              <a:t>，</a:t>
            </a:r>
            <a:r>
              <a:rPr lang="zh-CN" altLang="en-US" sz="2000" dirty="0">
                <a:solidFill>
                  <a:srgbClr val="0070C0"/>
                </a:solidFill>
                <a:latin typeface="微软雅黑" panose="020B0503020204020204" pitchFamily="34" charset="-122"/>
                <a:ea typeface="微软雅黑" panose="020B0503020204020204" pitchFamily="34" charset="-122"/>
              </a:rPr>
              <a:t>输出与输入保持一致</a:t>
            </a:r>
            <a:r>
              <a:rPr lang="zh-CN" altLang="en-US" sz="2000" dirty="0">
                <a:solidFill>
                  <a:srgbClr val="595959"/>
                </a:solidFill>
                <a:latin typeface="微软雅黑" panose="020B0503020204020204" pitchFamily="34" charset="-122"/>
                <a:ea typeface="微软雅黑" panose="020B0503020204020204" pitchFamily="34" charset="-122"/>
              </a:rPr>
              <a:t>。若c</a:t>
            </a:r>
            <a:r>
              <a:rPr lang="zh-CN" altLang="en-US" sz="2000" baseline="-25000" dirty="0">
                <a:solidFill>
                  <a:srgbClr val="595959"/>
                </a:solidFill>
                <a:latin typeface="微软雅黑" panose="020B0503020204020204" pitchFamily="34" charset="-122"/>
                <a:ea typeface="微软雅黑" panose="020B0503020204020204" pitchFamily="34" charset="-122"/>
              </a:rPr>
              <a:t>1</a:t>
            </a:r>
            <a:r>
              <a:rPr lang="zh-CN" altLang="en-US" sz="2000" dirty="0">
                <a:solidFill>
                  <a:srgbClr val="595959"/>
                </a:solidFill>
                <a:latin typeface="微软雅黑" panose="020B0503020204020204" pitchFamily="34" charset="-122"/>
                <a:ea typeface="微软雅黑" panose="020B0503020204020204" pitchFamily="34" charset="-122"/>
              </a:rPr>
              <a:t>为1，则e</a:t>
            </a:r>
            <a:r>
              <a:rPr lang="zh-CN" altLang="en-US" sz="2000" baseline="-25000" dirty="0">
                <a:solidFill>
                  <a:srgbClr val="595959"/>
                </a:solidFill>
                <a:latin typeface="微软雅黑" panose="020B0503020204020204" pitchFamily="34" charset="-122"/>
                <a:ea typeface="微软雅黑" panose="020B0503020204020204" pitchFamily="34" charset="-122"/>
              </a:rPr>
              <a:t>1</a:t>
            </a:r>
            <a:r>
              <a:rPr lang="zh-CN" altLang="en-US" sz="2000" dirty="0">
                <a:solidFill>
                  <a:srgbClr val="595959"/>
                </a:solidFill>
                <a:latin typeface="微软雅黑" panose="020B0503020204020204" pitchFamily="34" charset="-122"/>
                <a:ea typeface="微软雅黑" panose="020B0503020204020204" pitchFamily="34" charset="-122"/>
              </a:rPr>
              <a:t>也为1，若c</a:t>
            </a:r>
            <a:r>
              <a:rPr lang="zh-CN" altLang="en-US" sz="2000" baseline="-25000" dirty="0">
                <a:solidFill>
                  <a:srgbClr val="595959"/>
                </a:solidFill>
                <a:latin typeface="微软雅黑" panose="020B0503020204020204" pitchFamily="34" charset="-122"/>
                <a:ea typeface="微软雅黑" panose="020B0503020204020204" pitchFamily="34" charset="-122"/>
              </a:rPr>
              <a:t>1</a:t>
            </a:r>
            <a:r>
              <a:rPr lang="zh-CN" altLang="en-US" sz="2000" dirty="0">
                <a:solidFill>
                  <a:srgbClr val="595959"/>
                </a:solidFill>
                <a:latin typeface="微软雅黑" panose="020B0503020204020204" pitchFamily="34" charset="-122"/>
                <a:ea typeface="微软雅黑" panose="020B0503020204020204" pitchFamily="34" charset="-122"/>
              </a:rPr>
              <a:t>为0，则e</a:t>
            </a:r>
            <a:r>
              <a:rPr lang="zh-CN" altLang="en-US" sz="2000" baseline="-25000" dirty="0">
                <a:solidFill>
                  <a:srgbClr val="595959"/>
                </a:solidFill>
                <a:latin typeface="微软雅黑" panose="020B0503020204020204" pitchFamily="34" charset="-122"/>
                <a:ea typeface="微软雅黑" panose="020B0503020204020204" pitchFamily="34" charset="-122"/>
              </a:rPr>
              <a:t>1</a:t>
            </a:r>
            <a:r>
              <a:rPr lang="zh-CN" altLang="en-US" sz="2000" dirty="0">
                <a:solidFill>
                  <a:srgbClr val="595959"/>
                </a:solidFill>
                <a:latin typeface="微软雅黑" panose="020B0503020204020204" pitchFamily="34" charset="-122"/>
                <a:ea typeface="微软雅黑" panose="020B0503020204020204" pitchFamily="34" charset="-122"/>
              </a:rPr>
              <a:t>也为0。</a:t>
            </a:r>
          </a:p>
          <a:p>
            <a:pPr marL="342900" indent="-342900" algn="just">
              <a:lnSpc>
                <a:spcPct val="150000"/>
              </a:lnSpc>
              <a:buClrTx/>
              <a:buSzTx/>
              <a:buFont typeface="Wingdings" panose="05000000000000000000" charset="0"/>
              <a:buChar char="l"/>
            </a:pPr>
            <a:r>
              <a:rPr lang="zh-CN" altLang="en-US" sz="2000" dirty="0">
                <a:solidFill>
                  <a:srgbClr val="0070C0"/>
                </a:solidFill>
                <a:latin typeface="微软雅黑" panose="020B0503020204020204" pitchFamily="34" charset="-122"/>
                <a:ea typeface="微软雅黑" panose="020B0503020204020204" pitchFamily="34" charset="-122"/>
              </a:rPr>
              <a:t>非</a:t>
            </a:r>
            <a:r>
              <a:rPr lang="zh-CN" altLang="en-US" sz="2000" dirty="0">
                <a:solidFill>
                  <a:srgbClr val="595959"/>
                </a:solidFill>
                <a:latin typeface="微软雅黑" panose="020B0503020204020204" pitchFamily="34" charset="-122"/>
                <a:ea typeface="微软雅黑" panose="020B0503020204020204" pitchFamily="34" charset="-122"/>
              </a:rPr>
              <a:t>：非使用符号</a:t>
            </a:r>
            <a:r>
              <a:rPr lang="zh-CN" altLang="en-US" sz="2000" dirty="0">
                <a:solidFill>
                  <a:srgbClr val="0070C0"/>
                </a:solidFill>
                <a:latin typeface="微软雅黑" panose="020B0503020204020204" pitchFamily="34" charset="-122"/>
                <a:ea typeface="微软雅黑" panose="020B0503020204020204" pitchFamily="34" charset="-122"/>
              </a:rPr>
              <a:t>“~”</a:t>
            </a:r>
            <a:r>
              <a:rPr lang="zh-CN" altLang="en-US" sz="2000" dirty="0">
                <a:solidFill>
                  <a:srgbClr val="595959"/>
                </a:solidFill>
                <a:latin typeface="微软雅黑" panose="020B0503020204020204" pitchFamily="34" charset="-122"/>
                <a:ea typeface="微软雅黑" panose="020B0503020204020204" pitchFamily="34" charset="-122"/>
              </a:rPr>
              <a:t>表示，在非关系中，要求程序</a:t>
            </a:r>
            <a:r>
              <a:rPr lang="zh-CN" altLang="en-US" sz="2000" dirty="0">
                <a:solidFill>
                  <a:srgbClr val="0070C0"/>
                </a:solidFill>
                <a:latin typeface="微软雅黑" panose="020B0503020204020204" pitchFamily="34" charset="-122"/>
                <a:ea typeface="微软雅黑" panose="020B0503020204020204" pitchFamily="34" charset="-122"/>
              </a:rPr>
              <a:t>有一个输入和一个输出</a:t>
            </a:r>
            <a:r>
              <a:rPr lang="zh-CN" altLang="en-US" sz="2000" dirty="0">
                <a:solidFill>
                  <a:srgbClr val="595959"/>
                </a:solidFill>
                <a:latin typeface="微软雅黑" panose="020B0503020204020204" pitchFamily="34" charset="-122"/>
                <a:ea typeface="微软雅黑" panose="020B0503020204020204" pitchFamily="34" charset="-122"/>
              </a:rPr>
              <a:t>，</a:t>
            </a:r>
            <a:r>
              <a:rPr lang="zh-CN" altLang="en-US" sz="2000" dirty="0">
                <a:solidFill>
                  <a:srgbClr val="0070C0"/>
                </a:solidFill>
                <a:latin typeface="微软雅黑" panose="020B0503020204020204" pitchFamily="34" charset="-122"/>
                <a:ea typeface="微软雅黑" panose="020B0503020204020204" pitchFamily="34" charset="-122"/>
              </a:rPr>
              <a:t>输出是输入的取反</a:t>
            </a:r>
            <a:r>
              <a:rPr lang="zh-CN" altLang="en-US" sz="2000" dirty="0">
                <a:solidFill>
                  <a:srgbClr val="595959"/>
                </a:solidFill>
                <a:latin typeface="微软雅黑" panose="020B0503020204020204" pitchFamily="34" charset="-122"/>
                <a:ea typeface="微软雅黑" panose="020B0503020204020204" pitchFamily="34" charset="-122"/>
              </a:rPr>
              <a:t>。若c</a:t>
            </a:r>
            <a:r>
              <a:rPr lang="zh-CN" altLang="en-US" sz="2000" baseline="-25000" dirty="0">
                <a:solidFill>
                  <a:srgbClr val="595959"/>
                </a:solidFill>
                <a:latin typeface="微软雅黑" panose="020B0503020204020204" pitchFamily="34" charset="-122"/>
                <a:ea typeface="微软雅黑" panose="020B0503020204020204" pitchFamily="34" charset="-122"/>
              </a:rPr>
              <a:t>1</a:t>
            </a:r>
            <a:r>
              <a:rPr lang="zh-CN" altLang="en-US" sz="2000" dirty="0">
                <a:solidFill>
                  <a:srgbClr val="595959"/>
                </a:solidFill>
                <a:latin typeface="微软雅黑" panose="020B0503020204020204" pitchFamily="34" charset="-122"/>
                <a:ea typeface="微软雅黑" panose="020B0503020204020204" pitchFamily="34" charset="-122"/>
              </a:rPr>
              <a:t>为1，则e</a:t>
            </a:r>
            <a:r>
              <a:rPr lang="zh-CN" altLang="en-US" sz="2000" baseline="-25000" dirty="0">
                <a:solidFill>
                  <a:srgbClr val="595959"/>
                </a:solidFill>
                <a:latin typeface="微软雅黑" panose="020B0503020204020204" pitchFamily="34" charset="-122"/>
                <a:ea typeface="微软雅黑" panose="020B0503020204020204" pitchFamily="34" charset="-122"/>
              </a:rPr>
              <a:t>1</a:t>
            </a:r>
            <a:r>
              <a:rPr lang="zh-CN" altLang="en-US" sz="2000" dirty="0">
                <a:solidFill>
                  <a:srgbClr val="595959"/>
                </a:solidFill>
                <a:latin typeface="微软雅黑" panose="020B0503020204020204" pitchFamily="34" charset="-122"/>
                <a:ea typeface="微软雅黑" panose="020B0503020204020204" pitchFamily="34" charset="-122"/>
              </a:rPr>
              <a:t>为0，若c</a:t>
            </a:r>
            <a:r>
              <a:rPr lang="zh-CN" altLang="en-US" sz="2000" baseline="-25000" dirty="0">
                <a:solidFill>
                  <a:srgbClr val="595959"/>
                </a:solidFill>
                <a:latin typeface="微软雅黑" panose="020B0503020204020204" pitchFamily="34" charset="-122"/>
                <a:ea typeface="微软雅黑" panose="020B0503020204020204" pitchFamily="34" charset="-122"/>
              </a:rPr>
              <a:t>1</a:t>
            </a:r>
            <a:r>
              <a:rPr lang="zh-CN" altLang="en-US" sz="2000" dirty="0">
                <a:solidFill>
                  <a:srgbClr val="595959"/>
                </a:solidFill>
                <a:latin typeface="微软雅黑" panose="020B0503020204020204" pitchFamily="34" charset="-122"/>
                <a:ea typeface="微软雅黑" panose="020B0503020204020204" pitchFamily="34" charset="-122"/>
              </a:rPr>
              <a:t>为0，则e</a:t>
            </a:r>
            <a:r>
              <a:rPr lang="zh-CN" altLang="en-US" sz="2000" baseline="-25000" dirty="0">
                <a:solidFill>
                  <a:srgbClr val="595959"/>
                </a:solidFill>
                <a:latin typeface="微软雅黑" panose="020B0503020204020204" pitchFamily="34" charset="-122"/>
                <a:ea typeface="微软雅黑" panose="020B0503020204020204" pitchFamily="34" charset="-122"/>
              </a:rPr>
              <a:t>1</a:t>
            </a:r>
            <a:r>
              <a:rPr lang="zh-CN" altLang="en-US" sz="2000" dirty="0">
                <a:solidFill>
                  <a:srgbClr val="595959"/>
                </a:solidFill>
                <a:latin typeface="微软雅黑" panose="020B0503020204020204" pitchFamily="34" charset="-122"/>
                <a:ea typeface="微软雅黑" panose="020B0503020204020204" pitchFamily="34" charset="-122"/>
              </a:rPr>
              <a:t>为1。</a:t>
            </a:r>
          </a:p>
          <a:p>
            <a:pPr marL="342900" indent="-342900" algn="just">
              <a:lnSpc>
                <a:spcPct val="150000"/>
              </a:lnSpc>
              <a:buClrTx/>
              <a:buSzTx/>
              <a:buFont typeface="Wingdings" panose="05000000000000000000" charset="0"/>
              <a:buChar char="l"/>
            </a:pPr>
            <a:r>
              <a:rPr lang="zh-CN" altLang="en-US" sz="2000" dirty="0">
                <a:solidFill>
                  <a:srgbClr val="0070C0"/>
                </a:solidFill>
                <a:latin typeface="微软雅黑" panose="020B0503020204020204" pitchFamily="34" charset="-122"/>
                <a:ea typeface="微软雅黑" panose="020B0503020204020204" pitchFamily="34" charset="-122"/>
              </a:rPr>
              <a:t>或</a:t>
            </a:r>
            <a:r>
              <a:rPr lang="zh-CN" altLang="en-US" sz="2000" dirty="0">
                <a:solidFill>
                  <a:srgbClr val="595959"/>
                </a:solidFill>
                <a:latin typeface="微软雅黑" panose="020B0503020204020204" pitchFamily="34" charset="-122"/>
                <a:ea typeface="微软雅黑" panose="020B0503020204020204" pitchFamily="34" charset="-122"/>
              </a:rPr>
              <a:t>：或使用符号</a:t>
            </a:r>
            <a:r>
              <a:rPr lang="zh-CN" altLang="en-US" sz="2000" dirty="0">
                <a:solidFill>
                  <a:srgbClr val="0070C0"/>
                </a:solidFill>
                <a:latin typeface="微软雅黑" panose="020B0503020204020204" pitchFamily="34" charset="-122"/>
                <a:ea typeface="微软雅黑" panose="020B0503020204020204" pitchFamily="34" charset="-122"/>
              </a:rPr>
              <a:t>“∨”</a:t>
            </a:r>
            <a:r>
              <a:rPr lang="zh-CN" altLang="en-US" sz="2000" dirty="0">
                <a:solidFill>
                  <a:srgbClr val="595959"/>
                </a:solidFill>
                <a:latin typeface="微软雅黑" panose="020B0503020204020204" pitchFamily="34" charset="-122"/>
                <a:ea typeface="微软雅黑" panose="020B0503020204020204" pitchFamily="34" charset="-122"/>
              </a:rPr>
              <a:t>表示，或关系</a:t>
            </a:r>
            <a:r>
              <a:rPr lang="zh-CN" altLang="en-US" sz="2000" dirty="0">
                <a:solidFill>
                  <a:srgbClr val="0070C0"/>
                </a:solidFill>
                <a:latin typeface="微软雅黑" panose="020B0503020204020204" pitchFamily="34" charset="-122"/>
                <a:ea typeface="微软雅黑" panose="020B0503020204020204" pitchFamily="34" charset="-122"/>
              </a:rPr>
              <a:t>可以有多个输入</a:t>
            </a:r>
            <a:r>
              <a:rPr lang="zh-CN" altLang="en-US" sz="2000" dirty="0">
                <a:solidFill>
                  <a:srgbClr val="595959"/>
                </a:solidFill>
                <a:latin typeface="微软雅黑" panose="020B0503020204020204" pitchFamily="34" charset="-122"/>
                <a:ea typeface="微软雅黑" panose="020B0503020204020204" pitchFamily="34" charset="-122"/>
              </a:rPr>
              <a:t>，只要这些</a:t>
            </a:r>
            <a:r>
              <a:rPr lang="zh-CN" altLang="en-US" sz="2000" dirty="0">
                <a:solidFill>
                  <a:srgbClr val="0070C0"/>
                </a:solidFill>
                <a:latin typeface="微软雅黑" panose="020B0503020204020204" pitchFamily="34" charset="-122"/>
                <a:ea typeface="微软雅黑" panose="020B0503020204020204" pitchFamily="34" charset="-122"/>
              </a:rPr>
              <a:t>输入中有一个为1</a:t>
            </a:r>
            <a:r>
              <a:rPr lang="zh-CN" altLang="en-US" sz="2000" dirty="0">
                <a:solidFill>
                  <a:srgbClr val="595959"/>
                </a:solidFill>
                <a:latin typeface="微软雅黑" panose="020B0503020204020204" pitchFamily="34" charset="-122"/>
                <a:ea typeface="微软雅黑" panose="020B0503020204020204" pitchFamily="34" charset="-122"/>
              </a:rPr>
              <a:t>，则</a:t>
            </a:r>
            <a:r>
              <a:rPr lang="zh-CN" altLang="en-US" sz="2000" dirty="0">
                <a:solidFill>
                  <a:srgbClr val="0070C0"/>
                </a:solidFill>
                <a:latin typeface="微软雅黑" panose="020B0503020204020204" pitchFamily="34" charset="-122"/>
                <a:ea typeface="微软雅黑" panose="020B0503020204020204" pitchFamily="34" charset="-122"/>
              </a:rPr>
              <a:t>输出为1</a:t>
            </a:r>
            <a:r>
              <a:rPr lang="zh-CN" altLang="en-US" sz="2000" dirty="0">
                <a:solidFill>
                  <a:srgbClr val="595959"/>
                </a:solidFill>
                <a:latin typeface="微软雅黑" panose="020B0503020204020204" pitchFamily="34" charset="-122"/>
                <a:ea typeface="微软雅黑" panose="020B0503020204020204" pitchFamily="34" charset="-122"/>
              </a:rPr>
              <a:t>，</a:t>
            </a:r>
            <a:r>
              <a:rPr lang="zh-CN" altLang="en-US" sz="2000" dirty="0">
                <a:solidFill>
                  <a:srgbClr val="0070C0"/>
                </a:solidFill>
                <a:latin typeface="微软雅黑" panose="020B0503020204020204" pitchFamily="34" charset="-122"/>
                <a:ea typeface="微软雅黑" panose="020B0503020204020204" pitchFamily="34" charset="-122"/>
              </a:rPr>
              <a:t>否则输出为0</a:t>
            </a:r>
            <a:r>
              <a:rPr lang="zh-CN" altLang="en-US" sz="2000" dirty="0">
                <a:solidFill>
                  <a:srgbClr val="595959"/>
                </a:solidFill>
                <a:latin typeface="微软雅黑" panose="020B0503020204020204" pitchFamily="34" charset="-122"/>
                <a:ea typeface="微软雅黑" panose="020B0503020204020204" pitchFamily="34" charset="-122"/>
              </a:rPr>
              <a:t>。</a:t>
            </a:r>
          </a:p>
          <a:p>
            <a:pPr marL="342900" indent="-342900" algn="just">
              <a:lnSpc>
                <a:spcPct val="150000"/>
              </a:lnSpc>
              <a:buClrTx/>
              <a:buSzTx/>
              <a:buFont typeface="Wingdings" panose="05000000000000000000" charset="0"/>
              <a:buChar char="l"/>
            </a:pPr>
            <a:r>
              <a:rPr lang="zh-CN" altLang="en-US" sz="2000" dirty="0">
                <a:solidFill>
                  <a:srgbClr val="0070C0"/>
                </a:solidFill>
                <a:latin typeface="微软雅黑" panose="020B0503020204020204" pitchFamily="34" charset="-122"/>
                <a:ea typeface="微软雅黑" panose="020B0503020204020204" pitchFamily="34" charset="-122"/>
              </a:rPr>
              <a:t>与</a:t>
            </a:r>
            <a:r>
              <a:rPr lang="zh-CN" altLang="en-US" sz="2000" dirty="0">
                <a:solidFill>
                  <a:srgbClr val="595959"/>
                </a:solidFill>
                <a:latin typeface="微软雅黑" panose="020B0503020204020204" pitchFamily="34" charset="-122"/>
                <a:ea typeface="微软雅黑" panose="020B0503020204020204" pitchFamily="34" charset="-122"/>
              </a:rPr>
              <a:t>：与使用符号</a:t>
            </a:r>
            <a:r>
              <a:rPr lang="zh-CN" altLang="en-US" sz="2000" dirty="0">
                <a:solidFill>
                  <a:srgbClr val="0070C0"/>
                </a:solidFill>
                <a:latin typeface="微软雅黑" panose="020B0503020204020204" pitchFamily="34" charset="-122"/>
                <a:ea typeface="微软雅黑" panose="020B0503020204020204" pitchFamily="34" charset="-122"/>
              </a:rPr>
              <a:t>“∧”</a:t>
            </a:r>
            <a:r>
              <a:rPr lang="zh-CN" altLang="en-US" sz="2000" dirty="0">
                <a:solidFill>
                  <a:srgbClr val="595959"/>
                </a:solidFill>
                <a:latin typeface="微软雅黑" panose="020B0503020204020204" pitchFamily="34" charset="-122"/>
                <a:ea typeface="微软雅黑" panose="020B0503020204020204" pitchFamily="34" charset="-122"/>
              </a:rPr>
              <a:t>表示，与关系也</a:t>
            </a:r>
            <a:r>
              <a:rPr lang="zh-CN" altLang="en-US" sz="2000" dirty="0">
                <a:solidFill>
                  <a:srgbClr val="0070C0"/>
                </a:solidFill>
                <a:latin typeface="微软雅黑" panose="020B0503020204020204" pitchFamily="34" charset="-122"/>
                <a:ea typeface="微软雅黑" panose="020B0503020204020204" pitchFamily="34" charset="-122"/>
              </a:rPr>
              <a:t>可以有多个输入</a:t>
            </a:r>
            <a:r>
              <a:rPr lang="zh-CN" altLang="en-US" sz="2000" dirty="0">
                <a:solidFill>
                  <a:srgbClr val="595959"/>
                </a:solidFill>
                <a:latin typeface="微软雅黑" panose="020B0503020204020204" pitchFamily="34" charset="-122"/>
                <a:ea typeface="微软雅黑" panose="020B0503020204020204" pitchFamily="34" charset="-122"/>
              </a:rPr>
              <a:t>，但只有这些</a:t>
            </a:r>
            <a:r>
              <a:rPr lang="zh-CN" altLang="en-US" sz="2000" dirty="0">
                <a:solidFill>
                  <a:srgbClr val="0070C0"/>
                </a:solidFill>
                <a:latin typeface="微软雅黑" panose="020B0503020204020204" pitchFamily="34" charset="-122"/>
                <a:ea typeface="微软雅黑" panose="020B0503020204020204" pitchFamily="34" charset="-122"/>
              </a:rPr>
              <a:t>输入全部为1</a:t>
            </a:r>
            <a:r>
              <a:rPr lang="zh-CN" altLang="en-US" sz="2000" dirty="0">
                <a:solidFill>
                  <a:srgbClr val="595959"/>
                </a:solidFill>
                <a:latin typeface="微软雅黑" panose="020B0503020204020204" pitchFamily="34" charset="-122"/>
                <a:ea typeface="微软雅黑" panose="020B0503020204020204" pitchFamily="34" charset="-122"/>
              </a:rPr>
              <a:t>，</a:t>
            </a:r>
            <a:r>
              <a:rPr lang="zh-CN" altLang="en-US" sz="2000" dirty="0">
                <a:solidFill>
                  <a:srgbClr val="0070C0"/>
                </a:solidFill>
                <a:latin typeface="微软雅黑" panose="020B0503020204020204" pitchFamily="34" charset="-122"/>
                <a:ea typeface="微软雅黑" panose="020B0503020204020204" pitchFamily="34" charset="-122"/>
              </a:rPr>
              <a:t>输出才能为1</a:t>
            </a:r>
            <a:r>
              <a:rPr lang="zh-CN" altLang="en-US" sz="2000" dirty="0">
                <a:solidFill>
                  <a:srgbClr val="595959"/>
                </a:solidFill>
                <a:latin typeface="微软雅黑" panose="020B0503020204020204" pitchFamily="34" charset="-122"/>
                <a:ea typeface="微软雅黑" panose="020B0503020204020204" pitchFamily="34" charset="-122"/>
              </a:rPr>
              <a:t>，</a:t>
            </a:r>
            <a:r>
              <a:rPr lang="zh-CN" altLang="en-US" sz="2000" dirty="0">
                <a:solidFill>
                  <a:srgbClr val="0070C0"/>
                </a:solidFill>
                <a:latin typeface="微软雅黑" panose="020B0503020204020204" pitchFamily="34" charset="-122"/>
                <a:ea typeface="微软雅黑" panose="020B0503020204020204" pitchFamily="34" charset="-122"/>
              </a:rPr>
              <a:t>否则输出为0</a:t>
            </a:r>
            <a:r>
              <a:rPr lang="zh-CN" altLang="en-US" sz="2000" dirty="0">
                <a:solidFill>
                  <a:srgbClr val="595959"/>
                </a:solidFill>
                <a:latin typeface="微软雅黑" panose="020B0503020204020204" pitchFamily="34" charset="-122"/>
                <a:ea typeface="微软雅黑" panose="020B0503020204020204" pitchFamily="34" charset="-122"/>
              </a:rPr>
              <a:t>。</a:t>
            </a:r>
          </a:p>
        </p:txBody>
      </p:sp>
      <p:sp>
        <p:nvSpPr>
          <p:cNvPr id="2"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2.3.1	因果图法概述</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35"/>
          <p:cNvSpPr txBox="1">
            <a:spLocks noChangeArrowheads="1"/>
          </p:cNvSpPr>
          <p:nvPr/>
        </p:nvSpPr>
        <p:spPr bwMode="auto">
          <a:xfrm>
            <a:off x="1054735" y="909955"/>
            <a:ext cx="10327005" cy="302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indent="457200" algn="just">
              <a:lnSpc>
                <a:spcPct val="150000"/>
              </a:lnSpc>
              <a:buClrTx/>
              <a:buSzTx/>
              <a:buFontTx/>
            </a:pPr>
            <a:r>
              <a:rPr lang="zh-CN" altLang="en-US" sz="1800" dirty="0">
                <a:solidFill>
                  <a:srgbClr val="595959"/>
                </a:solidFill>
                <a:latin typeface="微软雅黑" panose="020B0503020204020204" pitchFamily="34" charset="-122"/>
                <a:ea typeface="微软雅黑" panose="020B0503020204020204" pitchFamily="34" charset="-122"/>
              </a:rPr>
              <a:t>在软件测试中，如果程序有多个输入，那么除了</a:t>
            </a:r>
            <a:r>
              <a:rPr lang="zh-CN" altLang="en-US" sz="1800" dirty="0">
                <a:solidFill>
                  <a:srgbClr val="0070C0"/>
                </a:solidFill>
                <a:latin typeface="微软雅黑" panose="020B0503020204020204" pitchFamily="34" charset="-122"/>
                <a:ea typeface="微软雅黑" panose="020B0503020204020204" pitchFamily="34" charset="-122"/>
              </a:rPr>
              <a:t>输入与输出之间的作用关系</a:t>
            </a:r>
            <a:r>
              <a:rPr lang="zh-CN" altLang="en-US" sz="1800" dirty="0">
                <a:solidFill>
                  <a:srgbClr val="595959"/>
                </a:solidFill>
                <a:latin typeface="微软雅黑" panose="020B0503020204020204" pitchFamily="34" charset="-122"/>
                <a:ea typeface="微软雅黑" panose="020B0503020204020204" pitchFamily="34" charset="-122"/>
              </a:rPr>
              <a:t>之外，这些</a:t>
            </a:r>
            <a:r>
              <a:rPr lang="zh-CN" altLang="en-US" sz="1800" dirty="0">
                <a:solidFill>
                  <a:srgbClr val="0070C0"/>
                </a:solidFill>
                <a:latin typeface="微软雅黑" panose="020B0503020204020204" pitchFamily="34" charset="-122"/>
                <a:ea typeface="微软雅黑" panose="020B0503020204020204" pitchFamily="34" charset="-122"/>
              </a:rPr>
              <a:t>输入之间往往也会存在某些依赖关系</a:t>
            </a:r>
            <a:r>
              <a:rPr lang="zh-CN" altLang="en-US" sz="1800" dirty="0">
                <a:solidFill>
                  <a:srgbClr val="595959"/>
                </a:solidFill>
                <a:latin typeface="微软雅黑" panose="020B0503020204020204" pitchFamily="34" charset="-122"/>
                <a:ea typeface="微软雅黑" panose="020B0503020204020204" pitchFamily="34" charset="-122"/>
              </a:rPr>
              <a:t>，即</a:t>
            </a:r>
            <a:r>
              <a:rPr lang="zh-CN" altLang="en-US" sz="1800" dirty="0">
                <a:solidFill>
                  <a:srgbClr val="0070C0"/>
                </a:solidFill>
                <a:latin typeface="微软雅黑" panose="020B0503020204020204" pitchFamily="34" charset="-122"/>
                <a:ea typeface="微软雅黑" panose="020B0503020204020204" pitchFamily="34" charset="-122"/>
              </a:rPr>
              <a:t>某些输入条件本身不能同时出现或某一种输入可能会影响其他输入</a:t>
            </a:r>
            <a:r>
              <a:rPr lang="zh-CN" altLang="en-US" sz="1800" dirty="0">
                <a:solidFill>
                  <a:srgbClr val="595959"/>
                </a:solidFill>
                <a:latin typeface="微软雅黑" panose="020B0503020204020204" pitchFamily="34" charset="-122"/>
                <a:ea typeface="微软雅黑" panose="020B0503020204020204" pitchFamily="34" charset="-122"/>
              </a:rPr>
              <a:t>。例如，某一软件用于统计体检信息，在输入个人信息时，性别只能输入男或女，这</a:t>
            </a:r>
            <a:r>
              <a:rPr lang="en-US" altLang="zh-CN" sz="1800" dirty="0">
                <a:solidFill>
                  <a:srgbClr val="595959"/>
                </a:solidFill>
                <a:latin typeface="微软雅黑" panose="020B0503020204020204" pitchFamily="34" charset="-122"/>
                <a:ea typeface="微软雅黑" panose="020B0503020204020204" pitchFamily="34" charset="-122"/>
              </a:rPr>
              <a:t>2</a:t>
            </a:r>
            <a:r>
              <a:rPr lang="zh-CN" altLang="en-US" sz="1800" dirty="0">
                <a:solidFill>
                  <a:srgbClr val="595959"/>
                </a:solidFill>
                <a:latin typeface="微软雅黑" panose="020B0503020204020204" pitchFamily="34" charset="-122"/>
                <a:ea typeface="微软雅黑" panose="020B0503020204020204" pitchFamily="34" charset="-122"/>
              </a:rPr>
              <a:t>种输入不能同时存在，而且如果输入性别为女，那么体检项就会受到限制。</a:t>
            </a:r>
            <a:r>
              <a:rPr lang="zh-CN" altLang="en-US" sz="1800" dirty="0">
                <a:solidFill>
                  <a:srgbClr val="0070C0"/>
                </a:solidFill>
                <a:latin typeface="微软雅黑" panose="020B0503020204020204" pitchFamily="34" charset="-122"/>
                <a:ea typeface="微软雅黑" panose="020B0503020204020204" pitchFamily="34" charset="-122"/>
              </a:rPr>
              <a:t>这些依赖关系在软件测试中称为“约束”</a:t>
            </a:r>
            <a:r>
              <a:rPr lang="zh-CN" altLang="en-US" sz="1800" dirty="0">
                <a:solidFill>
                  <a:srgbClr val="595959"/>
                </a:solidFill>
                <a:latin typeface="微软雅黑" panose="020B0503020204020204" pitchFamily="34" charset="-122"/>
                <a:ea typeface="微软雅黑" panose="020B0503020204020204" pitchFamily="34" charset="-122"/>
              </a:rPr>
              <a:t>，约束的类别可</a:t>
            </a:r>
            <a:r>
              <a:rPr lang="zh-CN" altLang="en-US" sz="1800" dirty="0">
                <a:solidFill>
                  <a:srgbClr val="0070C0"/>
                </a:solidFill>
                <a:latin typeface="微软雅黑" panose="020B0503020204020204" pitchFamily="34" charset="-122"/>
                <a:ea typeface="微软雅黑" panose="020B0503020204020204" pitchFamily="34" charset="-122"/>
              </a:rPr>
              <a:t>分为4种</a:t>
            </a:r>
            <a:r>
              <a:rPr lang="zh-CN" altLang="en-US" sz="1800" dirty="0">
                <a:solidFill>
                  <a:srgbClr val="595959"/>
                </a:solidFill>
                <a:latin typeface="微软雅黑" panose="020B0503020204020204" pitchFamily="34" charset="-122"/>
                <a:ea typeface="微软雅黑" panose="020B0503020204020204" pitchFamily="34" charset="-122"/>
              </a:rPr>
              <a:t>：</a:t>
            </a:r>
            <a:r>
              <a:rPr lang="zh-CN" altLang="en-US" sz="1800" dirty="0">
                <a:solidFill>
                  <a:srgbClr val="0070C0"/>
                </a:solidFill>
                <a:latin typeface="微软雅黑" panose="020B0503020204020204" pitchFamily="34" charset="-122"/>
                <a:ea typeface="微软雅黑" panose="020B0503020204020204" pitchFamily="34" charset="-122"/>
              </a:rPr>
              <a:t>E（Exclusive，异）</a:t>
            </a:r>
            <a:r>
              <a:rPr lang="zh-CN" altLang="en-US" sz="1800" dirty="0">
                <a:solidFill>
                  <a:srgbClr val="595959"/>
                </a:solidFill>
                <a:latin typeface="微软雅黑" panose="020B0503020204020204" pitchFamily="34" charset="-122"/>
                <a:ea typeface="微软雅黑" panose="020B0503020204020204" pitchFamily="34" charset="-122"/>
              </a:rPr>
              <a:t>、</a:t>
            </a:r>
            <a:r>
              <a:rPr lang="zh-CN" altLang="en-US" sz="1800" dirty="0">
                <a:solidFill>
                  <a:srgbClr val="0070C0"/>
                </a:solidFill>
                <a:latin typeface="微软雅黑" panose="020B0503020204020204" pitchFamily="34" charset="-122"/>
                <a:ea typeface="微软雅黑" panose="020B0503020204020204" pitchFamily="34" charset="-122"/>
              </a:rPr>
              <a:t>I（at least one，或）</a:t>
            </a:r>
            <a:r>
              <a:rPr lang="zh-CN" altLang="en-US" sz="1800" dirty="0">
                <a:solidFill>
                  <a:srgbClr val="595959"/>
                </a:solidFill>
                <a:latin typeface="微软雅黑" panose="020B0503020204020204" pitchFamily="34" charset="-122"/>
                <a:ea typeface="微软雅黑" panose="020B0503020204020204" pitchFamily="34" charset="-122"/>
              </a:rPr>
              <a:t>、</a:t>
            </a:r>
            <a:r>
              <a:rPr lang="zh-CN" altLang="en-US" sz="1800" dirty="0">
                <a:solidFill>
                  <a:srgbClr val="0070C0"/>
                </a:solidFill>
                <a:latin typeface="微软雅黑" panose="020B0503020204020204" pitchFamily="34" charset="-122"/>
                <a:ea typeface="微软雅黑" panose="020B0503020204020204" pitchFamily="34" charset="-122"/>
              </a:rPr>
              <a:t>O（one and only one，唯一）</a:t>
            </a:r>
            <a:r>
              <a:rPr lang="zh-CN" altLang="en-US" sz="1800" dirty="0">
                <a:solidFill>
                  <a:srgbClr val="595959"/>
                </a:solidFill>
                <a:latin typeface="微软雅黑" panose="020B0503020204020204" pitchFamily="34" charset="-122"/>
                <a:ea typeface="微软雅黑" panose="020B0503020204020204" pitchFamily="34" charset="-122"/>
              </a:rPr>
              <a:t>、</a:t>
            </a:r>
            <a:r>
              <a:rPr lang="zh-CN" altLang="en-US" sz="1800" dirty="0">
                <a:solidFill>
                  <a:srgbClr val="0070C0"/>
                </a:solidFill>
                <a:latin typeface="微软雅黑" panose="020B0503020204020204" pitchFamily="34" charset="-122"/>
                <a:ea typeface="微软雅黑" panose="020B0503020204020204" pitchFamily="34" charset="-122"/>
              </a:rPr>
              <a:t>R（Requires，要求）</a:t>
            </a:r>
            <a:r>
              <a:rPr lang="zh-CN" altLang="en-US" sz="1800" dirty="0">
                <a:solidFill>
                  <a:srgbClr val="595959"/>
                </a:solidFill>
                <a:latin typeface="微软雅黑" panose="020B0503020204020204" pitchFamily="34" charset="-122"/>
                <a:ea typeface="微软雅黑" panose="020B0503020204020204" pitchFamily="34" charset="-122"/>
              </a:rPr>
              <a:t>。在因果图中，用特定的符号表明这些约束关系，</a:t>
            </a:r>
            <a:r>
              <a:rPr lang="zh-CN" altLang="en-US" sz="1800" dirty="0">
                <a:solidFill>
                  <a:srgbClr val="0070C0"/>
                </a:solidFill>
                <a:latin typeface="微软雅黑" panose="020B0503020204020204" pitchFamily="34" charset="-122"/>
                <a:ea typeface="微软雅黑" panose="020B0503020204020204" pitchFamily="34" charset="-122"/>
              </a:rPr>
              <a:t>多个输入之间的约束符号</a:t>
            </a:r>
            <a:r>
              <a:rPr lang="zh-CN" altLang="en-US" sz="1800" dirty="0">
                <a:solidFill>
                  <a:srgbClr val="595959"/>
                </a:solidFill>
                <a:latin typeface="微软雅黑" panose="020B0503020204020204" pitchFamily="34" charset="-122"/>
                <a:ea typeface="微软雅黑" panose="020B0503020204020204" pitchFamily="34" charset="-122"/>
              </a:rPr>
              <a:t>如下图所示。</a:t>
            </a:r>
          </a:p>
        </p:txBody>
      </p:sp>
      <p:sp>
        <p:nvSpPr>
          <p:cNvPr id="2"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2.3.1	因果图法概述</a:t>
            </a:r>
          </a:p>
        </p:txBody>
      </p:sp>
      <p:graphicFrame>
        <p:nvGraphicFramePr>
          <p:cNvPr id="3" name="对象 2"/>
          <p:cNvGraphicFramePr/>
          <p:nvPr/>
        </p:nvGraphicFramePr>
        <p:xfrm>
          <a:off x="4006850" y="3573780"/>
          <a:ext cx="3436620" cy="3154680"/>
        </p:xfrm>
        <a:graphic>
          <a:graphicData uri="http://schemas.openxmlformats.org/presentationml/2006/ole">
            <mc:AlternateContent xmlns:mc="http://schemas.openxmlformats.org/markup-compatibility/2006">
              <mc:Choice xmlns:v="urn:schemas-microsoft-com:vml" Requires="v">
                <p:oleObj r:id="rId3" imgW="2671445" imgH="2573020" progId="Visio.Drawing.11">
                  <p:embed/>
                </p:oleObj>
              </mc:Choice>
              <mc:Fallback>
                <p:oleObj r:id="rId3" imgW="2671445" imgH="2573020" progId="Visio.Drawing.11">
                  <p:embed/>
                  <p:pic>
                    <p:nvPicPr>
                      <p:cNvPr id="0" name="图片 3"/>
                      <p:cNvPicPr/>
                      <p:nvPr/>
                    </p:nvPicPr>
                    <p:blipFill>
                      <a:blip r:embed="rId4"/>
                      <a:stretch>
                        <a:fillRect/>
                      </a:stretch>
                    </p:blipFill>
                    <p:spPr>
                      <a:xfrm>
                        <a:off x="4006850" y="3573780"/>
                        <a:ext cx="3436620" cy="3154680"/>
                      </a:xfrm>
                      <a:prstGeom prst="rect">
                        <a:avLst/>
                      </a:prstGeom>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35"/>
          <p:cNvSpPr txBox="1">
            <a:spLocks noChangeArrowheads="1"/>
          </p:cNvSpPr>
          <p:nvPr/>
        </p:nvSpPr>
        <p:spPr bwMode="auto">
          <a:xfrm>
            <a:off x="1054735" y="909955"/>
            <a:ext cx="10327005" cy="3444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buClrTx/>
              <a:buSzTx/>
              <a:buFontTx/>
            </a:pPr>
            <a:r>
              <a:rPr lang="zh-CN" altLang="en-US" sz="1800" dirty="0">
                <a:solidFill>
                  <a:srgbClr val="595959"/>
                </a:solidFill>
                <a:latin typeface="微软雅黑" panose="020B0503020204020204" pitchFamily="34" charset="-122"/>
                <a:ea typeface="微软雅黑" panose="020B0503020204020204" pitchFamily="34" charset="-122"/>
              </a:rPr>
              <a:t>上一页中的图展示了多个输入之间的约束符号，这些约束关系的含义具体如下所示。</a:t>
            </a:r>
          </a:p>
          <a:p>
            <a:pPr marL="285750" indent="-285750" algn="just">
              <a:lnSpc>
                <a:spcPct val="150000"/>
              </a:lnSpc>
              <a:buClrTx/>
              <a:buSzTx/>
              <a:buFont typeface="Wingdings" panose="05000000000000000000" charset="0"/>
              <a:buChar char="l"/>
            </a:pPr>
            <a:r>
              <a:rPr lang="zh-CN" altLang="en-US" sz="1800" dirty="0">
                <a:solidFill>
                  <a:srgbClr val="595959"/>
                </a:solidFill>
                <a:latin typeface="微软雅黑" panose="020B0503020204020204" pitchFamily="34" charset="-122"/>
                <a:ea typeface="微软雅黑" panose="020B0503020204020204" pitchFamily="34" charset="-122"/>
              </a:rPr>
              <a:t>E（异）：a和b中最多只能有一个为1，即</a:t>
            </a:r>
            <a:r>
              <a:rPr lang="zh-CN" altLang="en-US" sz="1800" dirty="0">
                <a:solidFill>
                  <a:srgbClr val="0070C0"/>
                </a:solidFill>
                <a:latin typeface="微软雅黑" panose="020B0503020204020204" pitchFamily="34" charset="-122"/>
                <a:ea typeface="微软雅黑" panose="020B0503020204020204" pitchFamily="34" charset="-122"/>
              </a:rPr>
              <a:t>a和b不能同时为1</a:t>
            </a:r>
            <a:r>
              <a:rPr lang="zh-CN" altLang="en-US" sz="1800" dirty="0">
                <a:solidFill>
                  <a:srgbClr val="595959"/>
                </a:solidFill>
                <a:latin typeface="微软雅黑" panose="020B0503020204020204" pitchFamily="34" charset="-122"/>
                <a:ea typeface="微软雅黑" panose="020B0503020204020204" pitchFamily="34" charset="-122"/>
              </a:rPr>
              <a:t>。</a:t>
            </a:r>
          </a:p>
          <a:p>
            <a:pPr marL="285750" indent="-285750" algn="just">
              <a:lnSpc>
                <a:spcPct val="150000"/>
              </a:lnSpc>
              <a:buClrTx/>
              <a:buSzTx/>
              <a:buFont typeface="Wingdings" panose="05000000000000000000" charset="0"/>
              <a:buChar char="l"/>
            </a:pPr>
            <a:r>
              <a:rPr lang="zh-CN" altLang="en-US" sz="1800" dirty="0">
                <a:solidFill>
                  <a:srgbClr val="595959"/>
                </a:solidFill>
                <a:latin typeface="微软雅黑" panose="020B0503020204020204" pitchFamily="34" charset="-122"/>
                <a:ea typeface="微软雅黑" panose="020B0503020204020204" pitchFamily="34" charset="-122"/>
              </a:rPr>
              <a:t>I（或）：a、b和c中至少有一个必须是1，即</a:t>
            </a:r>
            <a:r>
              <a:rPr lang="zh-CN" altLang="en-US" sz="1800" dirty="0">
                <a:solidFill>
                  <a:srgbClr val="0070C0"/>
                </a:solidFill>
                <a:latin typeface="微软雅黑" panose="020B0503020204020204" pitchFamily="34" charset="-122"/>
                <a:ea typeface="微软雅黑" panose="020B0503020204020204" pitchFamily="34" charset="-122"/>
              </a:rPr>
              <a:t>a、b、c不能同时为0</a:t>
            </a:r>
            <a:r>
              <a:rPr lang="zh-CN" altLang="en-US" sz="1800" dirty="0">
                <a:solidFill>
                  <a:srgbClr val="595959"/>
                </a:solidFill>
                <a:latin typeface="微软雅黑" panose="020B0503020204020204" pitchFamily="34" charset="-122"/>
                <a:ea typeface="微软雅黑" panose="020B0503020204020204" pitchFamily="34" charset="-122"/>
              </a:rPr>
              <a:t>。</a:t>
            </a:r>
          </a:p>
          <a:p>
            <a:pPr marL="285750" indent="-285750" algn="just">
              <a:lnSpc>
                <a:spcPct val="150000"/>
              </a:lnSpc>
              <a:buClrTx/>
              <a:buSzTx/>
              <a:buFont typeface="Wingdings" panose="05000000000000000000" charset="0"/>
              <a:buChar char="l"/>
            </a:pPr>
            <a:r>
              <a:rPr lang="zh-CN" altLang="en-US" sz="1800" dirty="0">
                <a:solidFill>
                  <a:srgbClr val="595959"/>
                </a:solidFill>
                <a:latin typeface="微软雅黑" panose="020B0503020204020204" pitchFamily="34" charset="-122"/>
                <a:ea typeface="微软雅黑" panose="020B0503020204020204" pitchFamily="34" charset="-122"/>
              </a:rPr>
              <a:t>O（唯一）：</a:t>
            </a:r>
            <a:r>
              <a:rPr lang="zh-CN" altLang="en-US" sz="1800" dirty="0">
                <a:solidFill>
                  <a:srgbClr val="0070C0"/>
                </a:solidFill>
                <a:latin typeface="微软雅黑" panose="020B0503020204020204" pitchFamily="34" charset="-122"/>
                <a:ea typeface="微软雅黑" panose="020B0503020204020204" pitchFamily="34" charset="-122"/>
              </a:rPr>
              <a:t>a和b有且仅有一个为1</a:t>
            </a:r>
            <a:r>
              <a:rPr lang="zh-CN" altLang="en-US" sz="1800" dirty="0">
                <a:solidFill>
                  <a:srgbClr val="595959"/>
                </a:solidFill>
                <a:latin typeface="微软雅黑" panose="020B0503020204020204" pitchFamily="34" charset="-122"/>
                <a:ea typeface="微软雅黑" panose="020B0503020204020204" pitchFamily="34" charset="-122"/>
              </a:rPr>
              <a:t>。</a:t>
            </a:r>
          </a:p>
          <a:p>
            <a:pPr marL="285750" indent="-285750" algn="just">
              <a:lnSpc>
                <a:spcPct val="150000"/>
              </a:lnSpc>
              <a:buClrTx/>
              <a:buSzTx/>
              <a:buFont typeface="Wingdings" panose="05000000000000000000" charset="0"/>
              <a:buChar char="l"/>
            </a:pPr>
            <a:r>
              <a:rPr lang="zh-CN" altLang="en-US" sz="1800" dirty="0">
                <a:solidFill>
                  <a:srgbClr val="595959"/>
                </a:solidFill>
                <a:latin typeface="微软雅黑" panose="020B0503020204020204" pitchFamily="34" charset="-122"/>
                <a:ea typeface="微软雅黑" panose="020B0503020204020204" pitchFamily="34" charset="-122"/>
              </a:rPr>
              <a:t>R（要求）：</a:t>
            </a:r>
            <a:r>
              <a:rPr lang="zh-CN" altLang="en-US" sz="1800" dirty="0">
                <a:solidFill>
                  <a:srgbClr val="0070C0"/>
                </a:solidFill>
                <a:latin typeface="微软雅黑" panose="020B0503020204020204" pitchFamily="34" charset="-122"/>
                <a:ea typeface="微软雅黑" panose="020B0503020204020204" pitchFamily="34" charset="-122"/>
              </a:rPr>
              <a:t>a和b必须保持一致</a:t>
            </a:r>
            <a:r>
              <a:rPr lang="zh-CN" altLang="en-US" sz="1800" dirty="0">
                <a:solidFill>
                  <a:srgbClr val="595959"/>
                </a:solidFill>
                <a:latin typeface="微软雅黑" panose="020B0503020204020204" pitchFamily="34" charset="-122"/>
                <a:ea typeface="微软雅黑" panose="020B0503020204020204" pitchFamily="34" charset="-122"/>
              </a:rPr>
              <a:t>，即a为1时，b也必须为1，a为0时，b也必须为0。</a:t>
            </a:r>
          </a:p>
          <a:p>
            <a:pPr indent="457200" algn="just">
              <a:lnSpc>
                <a:spcPct val="150000"/>
              </a:lnSpc>
              <a:buClrTx/>
              <a:buSzTx/>
              <a:buFont typeface="Wingdings" panose="05000000000000000000" charset="0"/>
              <a:buNone/>
            </a:pPr>
            <a:r>
              <a:rPr lang="zh-CN" altLang="en-US" sz="1800" dirty="0">
                <a:solidFill>
                  <a:srgbClr val="595959"/>
                </a:solidFill>
                <a:latin typeface="微软雅黑" panose="020B0503020204020204" pitchFamily="34" charset="-122"/>
                <a:ea typeface="微软雅黑" panose="020B0503020204020204" pitchFamily="34" charset="-122"/>
              </a:rPr>
              <a:t>上面这4种都是关于输入条件的约束。除了输入条件，输出条件也会相互约束。</a:t>
            </a:r>
            <a:r>
              <a:rPr lang="zh-CN" altLang="en-US" sz="1800" dirty="0">
                <a:solidFill>
                  <a:srgbClr val="0070C0"/>
                </a:solidFill>
                <a:latin typeface="微软雅黑" panose="020B0503020204020204" pitchFamily="34" charset="-122"/>
                <a:ea typeface="微软雅黑" panose="020B0503020204020204" pitchFamily="34" charset="-122"/>
              </a:rPr>
              <a:t>输出条件的约束只有一种，即M（Mask，强制）</a:t>
            </a:r>
            <a:r>
              <a:rPr lang="zh-CN" altLang="en-US" sz="1800" dirty="0">
                <a:solidFill>
                  <a:srgbClr val="595959"/>
                </a:solidFill>
                <a:latin typeface="微软雅黑" panose="020B0503020204020204" pitchFamily="34" charset="-122"/>
                <a:ea typeface="微软雅黑" panose="020B0503020204020204" pitchFamily="34" charset="-122"/>
              </a:rPr>
              <a:t>。在因果图中，使用特定的符号表示输出条件之间的强制约束关系，如下图所示。</a:t>
            </a:r>
          </a:p>
        </p:txBody>
      </p:sp>
      <p:sp>
        <p:nvSpPr>
          <p:cNvPr id="2"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2.3.1	因果图法概述</a:t>
            </a:r>
          </a:p>
        </p:txBody>
      </p:sp>
      <p:graphicFrame>
        <p:nvGraphicFramePr>
          <p:cNvPr id="5" name="对象 4"/>
          <p:cNvGraphicFramePr/>
          <p:nvPr/>
        </p:nvGraphicFramePr>
        <p:xfrm>
          <a:off x="5302885" y="4005580"/>
          <a:ext cx="1329055" cy="1804035"/>
        </p:xfrm>
        <a:graphic>
          <a:graphicData uri="http://schemas.openxmlformats.org/presentationml/2006/ole">
            <mc:AlternateContent xmlns:mc="http://schemas.openxmlformats.org/markup-compatibility/2006">
              <mc:Choice xmlns:v="urn:schemas-microsoft-com:vml" Requires="v">
                <p:oleObj r:id="rId3" imgW="860425" imgH="1138555" progId="Visio.Drawing.11">
                  <p:embed/>
                </p:oleObj>
              </mc:Choice>
              <mc:Fallback>
                <p:oleObj r:id="rId3" imgW="860425" imgH="1138555" progId="Visio.Drawing.11">
                  <p:embed/>
                  <p:pic>
                    <p:nvPicPr>
                      <p:cNvPr id="0" name="图片 5"/>
                      <p:cNvPicPr/>
                      <p:nvPr/>
                    </p:nvPicPr>
                    <p:blipFill>
                      <a:blip r:embed="rId4"/>
                      <a:stretch>
                        <a:fillRect/>
                      </a:stretch>
                    </p:blipFill>
                    <p:spPr>
                      <a:xfrm>
                        <a:off x="5302885" y="4005580"/>
                        <a:ext cx="1329055" cy="1804035"/>
                      </a:xfrm>
                      <a:prstGeom prst="rect">
                        <a:avLst/>
                      </a:prstGeom>
                    </p:spPr>
                  </p:pic>
                </p:oleObj>
              </mc:Fallback>
            </mc:AlternateContent>
          </a:graphicData>
        </a:graphic>
      </p:graphicFrame>
      <p:sp>
        <p:nvSpPr>
          <p:cNvPr id="7" name="文本框 6"/>
          <p:cNvSpPr txBox="1"/>
          <p:nvPr/>
        </p:nvSpPr>
        <p:spPr>
          <a:xfrm>
            <a:off x="1271270" y="6021705"/>
            <a:ext cx="10110470" cy="368300"/>
          </a:xfrm>
          <a:prstGeom prst="rect">
            <a:avLst/>
          </a:prstGeom>
          <a:noFill/>
        </p:spPr>
        <p:txBody>
          <a:bodyPr wrap="square" rtlCol="0" anchor="t">
            <a:spAutoFit/>
          </a:bodyPr>
          <a:lstStyle/>
          <a:p>
            <a:r>
              <a:rPr lang="zh-CN" altLang="en-US" sz="1800" dirty="0">
                <a:solidFill>
                  <a:srgbClr val="595959"/>
                </a:solidFill>
                <a:latin typeface="微软雅黑" panose="020B0503020204020204" pitchFamily="34" charset="-122"/>
                <a:ea typeface="微软雅黑" panose="020B0503020204020204" pitchFamily="34" charset="-122"/>
              </a:rPr>
              <a:t>在输出条件的强制约束关系中，如果</a:t>
            </a:r>
            <a:r>
              <a:rPr lang="zh-CN" altLang="en-US" sz="1800" dirty="0">
                <a:solidFill>
                  <a:srgbClr val="0070C0"/>
                </a:solidFill>
                <a:latin typeface="微软雅黑" panose="020B0503020204020204" pitchFamily="34" charset="-122"/>
                <a:ea typeface="微软雅黑" panose="020B0503020204020204" pitchFamily="34" charset="-122"/>
              </a:rPr>
              <a:t>a为1</a:t>
            </a:r>
            <a:r>
              <a:rPr lang="zh-CN" altLang="en-US" sz="1800" dirty="0">
                <a:solidFill>
                  <a:srgbClr val="595959"/>
                </a:solidFill>
                <a:latin typeface="微软雅黑" panose="020B0503020204020204" pitchFamily="34" charset="-122"/>
                <a:ea typeface="微软雅黑" panose="020B0503020204020204" pitchFamily="34" charset="-122"/>
              </a:rPr>
              <a:t>，则</a:t>
            </a:r>
            <a:r>
              <a:rPr lang="zh-CN" altLang="en-US" sz="1800" dirty="0">
                <a:solidFill>
                  <a:srgbClr val="0070C0"/>
                </a:solidFill>
                <a:latin typeface="微软雅黑" panose="020B0503020204020204" pitchFamily="34" charset="-122"/>
                <a:ea typeface="微软雅黑" panose="020B0503020204020204" pitchFamily="34" charset="-122"/>
              </a:rPr>
              <a:t>b强制为0</a:t>
            </a:r>
            <a:r>
              <a:rPr lang="zh-CN" altLang="en-US" sz="1800" dirty="0">
                <a:solidFill>
                  <a:srgbClr val="595959"/>
                </a:solidFill>
                <a:latin typeface="微软雅黑" panose="020B0503020204020204" pitchFamily="34" charset="-122"/>
                <a:ea typeface="微软雅黑" panose="020B0503020204020204" pitchFamily="34" charset="-122"/>
              </a:rPr>
              <a:t>，如果</a:t>
            </a:r>
            <a:r>
              <a:rPr lang="zh-CN" altLang="en-US" sz="1800" dirty="0">
                <a:solidFill>
                  <a:srgbClr val="0070C0"/>
                </a:solidFill>
                <a:latin typeface="微软雅黑" panose="020B0503020204020204" pitchFamily="34" charset="-122"/>
                <a:ea typeface="微软雅黑" panose="020B0503020204020204" pitchFamily="34" charset="-122"/>
              </a:rPr>
              <a:t>a为0</a:t>
            </a:r>
            <a:r>
              <a:rPr lang="zh-CN" altLang="en-US" sz="1800" dirty="0">
                <a:solidFill>
                  <a:srgbClr val="595959"/>
                </a:solidFill>
                <a:latin typeface="微软雅黑" panose="020B0503020204020204" pitchFamily="34" charset="-122"/>
                <a:ea typeface="微软雅黑" panose="020B0503020204020204" pitchFamily="34" charset="-122"/>
              </a:rPr>
              <a:t>，则</a:t>
            </a:r>
            <a:r>
              <a:rPr lang="zh-CN" altLang="en-US" sz="1800" dirty="0">
                <a:solidFill>
                  <a:srgbClr val="0070C0"/>
                </a:solidFill>
                <a:latin typeface="微软雅黑" panose="020B0503020204020204" pitchFamily="34" charset="-122"/>
                <a:ea typeface="微软雅黑" panose="020B0503020204020204" pitchFamily="34" charset="-122"/>
              </a:rPr>
              <a:t>b强制为1</a:t>
            </a:r>
            <a:r>
              <a:rPr lang="zh-CN" altLang="en-US" sz="1800" dirty="0">
                <a:solidFill>
                  <a:srgbClr val="595959"/>
                </a:solidFill>
                <a:latin typeface="微软雅黑" panose="020B0503020204020204" pitchFamily="34" charset="-122"/>
                <a:ea typeface="微软雅黑" panose="020B0503020204020204" pitchFamily="34" charset="-122"/>
              </a:rPr>
              <a:t>。</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35"/>
          <p:cNvSpPr txBox="1">
            <a:spLocks noChangeArrowheads="1"/>
          </p:cNvSpPr>
          <p:nvPr/>
        </p:nvSpPr>
        <p:spPr bwMode="auto">
          <a:xfrm>
            <a:off x="1054735" y="909955"/>
            <a:ext cx="10327005" cy="4896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buClrTx/>
              <a:buSzTx/>
              <a:buFontTx/>
            </a:pPr>
            <a:r>
              <a:rPr lang="zh-CN" altLang="en-US" sz="1800" b="1" dirty="0">
                <a:solidFill>
                  <a:srgbClr val="595959"/>
                </a:solidFill>
                <a:latin typeface="微软雅黑" panose="020B0503020204020204" pitchFamily="34" charset="-122"/>
                <a:ea typeface="微软雅黑" panose="020B0503020204020204" pitchFamily="34" charset="-122"/>
              </a:rPr>
              <a:t>2</a:t>
            </a:r>
            <a:r>
              <a:rPr lang="zh-CN" altLang="en-US" sz="1800" b="1">
                <a:solidFill>
                  <a:srgbClr val="595959"/>
                </a:solidFill>
                <a:latin typeface="微软雅黑" panose="020B0503020204020204" pitchFamily="34" charset="-122"/>
                <a:ea typeface="微软雅黑" panose="020B0503020204020204" pitchFamily="34" charset="-122"/>
              </a:rPr>
              <a:t>.</a:t>
            </a:r>
            <a:r>
              <a:rPr lang="en-US" altLang="zh-CN" sz="1800" b="1">
                <a:solidFill>
                  <a:srgbClr val="595959"/>
                </a:solidFill>
                <a:latin typeface="微软雅黑" panose="020B0503020204020204" pitchFamily="34" charset="-122"/>
                <a:ea typeface="微软雅黑" panose="020B0503020204020204" pitchFamily="34" charset="-122"/>
              </a:rPr>
              <a:t> </a:t>
            </a:r>
            <a:r>
              <a:rPr lang="zh-CN" altLang="en-US" sz="1800" b="1">
                <a:solidFill>
                  <a:srgbClr val="595959"/>
                </a:solidFill>
                <a:latin typeface="微软雅黑" panose="020B0503020204020204" pitchFamily="34" charset="-122"/>
                <a:ea typeface="微软雅黑" panose="020B0503020204020204" pitchFamily="34" charset="-122"/>
              </a:rPr>
              <a:t>使用因果</a:t>
            </a:r>
            <a:r>
              <a:rPr lang="zh-CN" altLang="en-US" sz="1800" b="1" dirty="0">
                <a:solidFill>
                  <a:srgbClr val="595959"/>
                </a:solidFill>
                <a:latin typeface="微软雅黑" panose="020B0503020204020204" pitchFamily="34" charset="-122"/>
                <a:ea typeface="微软雅黑" panose="020B0503020204020204" pitchFamily="34" charset="-122"/>
              </a:rPr>
              <a:t>图法设计测试用例的步骤</a:t>
            </a:r>
          </a:p>
        </p:txBody>
      </p:sp>
      <p:sp>
        <p:nvSpPr>
          <p:cNvPr id="2"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2.3.1	因果图法概述</a:t>
            </a:r>
          </a:p>
        </p:txBody>
      </p:sp>
      <p:sp>
        <p:nvSpPr>
          <p:cNvPr id="37" name="原创设计师QQ598969553          _3"/>
          <p:cNvSpPr/>
          <p:nvPr/>
        </p:nvSpPr>
        <p:spPr>
          <a:xfrm>
            <a:off x="1334135" y="1736725"/>
            <a:ext cx="8334375" cy="4624070"/>
          </a:xfrm>
          <a:prstGeom prst="roundRect">
            <a:avLst>
              <a:gd name="adj" fmla="val 9083"/>
            </a:avLst>
          </a:prstGeom>
          <a:noFill/>
          <a:ln>
            <a:solidFill>
              <a:srgbClr val="ADBAC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n-ea"/>
              <a:sym typeface="+mn-lt"/>
            </a:endParaRPr>
          </a:p>
        </p:txBody>
      </p:sp>
      <p:sp>
        <p:nvSpPr>
          <p:cNvPr id="38" name="原创设计师QQ598969553          _6"/>
          <p:cNvSpPr/>
          <p:nvPr/>
        </p:nvSpPr>
        <p:spPr>
          <a:xfrm>
            <a:off x="1759585" y="1477010"/>
            <a:ext cx="4443730" cy="519430"/>
          </a:xfrm>
          <a:prstGeom prst="roundRect">
            <a:avLst/>
          </a:prstGeom>
          <a:solidFill>
            <a:srgbClr val="0070C0"/>
          </a:solidFill>
          <a:ln>
            <a:noFill/>
          </a:ln>
          <a:effectLst>
            <a:outerShdw blurRad="101600" dist="762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rIns="182880" rtlCol="0" anchor="ctr" anchorCtr="0"/>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1450340"/>
            <a:r>
              <a:rPr lang="zh-CN" altLang="en-US" sz="2000">
                <a:solidFill>
                  <a:schemeClr val="bg1"/>
                </a:solidFill>
                <a:latin typeface="微软雅黑" panose="020B0503020204020204" pitchFamily="34" charset="-122"/>
                <a:ea typeface="微软雅黑" panose="020B0503020204020204" pitchFamily="34" charset="-122"/>
                <a:cs typeface="+mn-ea"/>
                <a:sym typeface="+mn-lt"/>
              </a:rPr>
              <a:t>因果图法设计测试用例的</a:t>
            </a:r>
            <a:r>
              <a:rPr lang="en-US" altLang="zh-CN" sz="2000">
                <a:solidFill>
                  <a:schemeClr val="bg1"/>
                </a:solidFill>
                <a:latin typeface="微软雅黑" panose="020B0503020204020204" pitchFamily="34" charset="-122"/>
                <a:ea typeface="微软雅黑" panose="020B0503020204020204" pitchFamily="34" charset="-122"/>
                <a:cs typeface="+mn-ea"/>
                <a:sym typeface="+mn-lt"/>
              </a:rPr>
              <a:t>5</a:t>
            </a:r>
            <a:r>
              <a:rPr lang="zh-CN" altLang="en-US" sz="2000">
                <a:solidFill>
                  <a:schemeClr val="bg1"/>
                </a:solidFill>
                <a:latin typeface="微软雅黑" panose="020B0503020204020204" pitchFamily="34" charset="-122"/>
                <a:ea typeface="微软雅黑" panose="020B0503020204020204" pitchFamily="34" charset="-122"/>
                <a:cs typeface="+mn-ea"/>
                <a:sym typeface="+mn-lt"/>
              </a:rPr>
              <a:t>个步骤</a:t>
            </a:r>
          </a:p>
        </p:txBody>
      </p:sp>
      <p:sp>
        <p:nvSpPr>
          <p:cNvPr id="41" name="矩形 40"/>
          <p:cNvSpPr/>
          <p:nvPr/>
        </p:nvSpPr>
        <p:spPr>
          <a:xfrm>
            <a:off x="1624330" y="2096770"/>
            <a:ext cx="7676515" cy="787523"/>
          </a:xfrm>
          <a:prstGeom prst="rect">
            <a:avLst/>
          </a:prstGeom>
          <a:blipFill>
            <a:blip r:embed="rId3"/>
            <a:tile tx="0" ty="0" sx="100000" sy="100000" flip="none" algn="tl"/>
          </a:blipFill>
        </p:spPr>
        <p:txBody>
          <a:bodyPr wrap="square">
            <a:spAutoFit/>
          </a:bodyPr>
          <a:lstStyle/>
          <a:p>
            <a:pPr lvl="0" indent="0">
              <a:lnSpc>
                <a:spcPct val="150000"/>
              </a:lnSpc>
              <a:buFont typeface="Wingdings" panose="05000000000000000000" pitchFamily="2" charset="2"/>
              <a:buNone/>
            </a:pPr>
            <a:r>
              <a:rPr lang="zh-CN" altLang="en-US" sz="1600" dirty="0">
                <a:solidFill>
                  <a:srgbClr val="595959"/>
                </a:solidFill>
                <a:latin typeface="微软雅黑" panose="020B0503020204020204" pitchFamily="34" charset="-122"/>
                <a:ea typeface="微软雅黑" panose="020B0503020204020204" pitchFamily="34" charset="-122"/>
              </a:rPr>
              <a:t>（1）分析程序规格说明书描述内容，确定程序的输入与输出，即</a:t>
            </a:r>
            <a:r>
              <a:rPr lang="zh-CN" altLang="en-US" sz="1600" dirty="0">
                <a:solidFill>
                  <a:srgbClr val="0070C0"/>
                </a:solidFill>
                <a:latin typeface="微软雅黑" panose="020B0503020204020204" pitchFamily="34" charset="-122"/>
                <a:ea typeface="微软雅黑" panose="020B0503020204020204" pitchFamily="34" charset="-122"/>
              </a:rPr>
              <a:t>确定“原因”和“结果”</a:t>
            </a:r>
            <a:r>
              <a:rPr lang="zh-CN" altLang="en-US" sz="1600" dirty="0">
                <a:solidFill>
                  <a:srgbClr val="595959"/>
                </a:solidFill>
                <a:latin typeface="微软雅黑" panose="020B0503020204020204" pitchFamily="34" charset="-122"/>
                <a:ea typeface="微软雅黑" panose="020B0503020204020204" pitchFamily="34" charset="-122"/>
              </a:rPr>
              <a:t>。</a:t>
            </a:r>
          </a:p>
        </p:txBody>
      </p:sp>
      <p:sp>
        <p:nvSpPr>
          <p:cNvPr id="42" name="矩形 41"/>
          <p:cNvSpPr/>
          <p:nvPr/>
        </p:nvSpPr>
        <p:spPr>
          <a:xfrm>
            <a:off x="1618615" y="2995295"/>
            <a:ext cx="7692390" cy="866775"/>
          </a:xfrm>
          <a:prstGeom prst="rect">
            <a:avLst/>
          </a:prstGeom>
          <a:solidFill>
            <a:schemeClr val="accent3">
              <a:lumMod val="40000"/>
              <a:lumOff val="60000"/>
            </a:schemeClr>
          </a:solidFill>
        </p:spPr>
        <p:txBody>
          <a:bodyPr wrap="square" anchor="ctr" anchorCtr="0">
            <a:noAutofit/>
          </a:bodyPr>
          <a:lstStyle/>
          <a:p>
            <a:pPr>
              <a:lnSpc>
                <a:spcPct val="150000"/>
              </a:lnSpc>
              <a:buClrTx/>
              <a:buSzTx/>
            </a:pPr>
            <a:r>
              <a:rPr lang="zh-CN" altLang="en-US" sz="1600" dirty="0">
                <a:solidFill>
                  <a:srgbClr val="595959"/>
                </a:solidFill>
                <a:latin typeface="微软雅黑" panose="020B0503020204020204" pitchFamily="34" charset="-122"/>
                <a:ea typeface="微软雅黑" panose="020B0503020204020204" pitchFamily="34" charset="-122"/>
              </a:rPr>
              <a:t>（2）分析输入与输入之间、输入与输出之间的对应关系，将这些</a:t>
            </a:r>
            <a:r>
              <a:rPr lang="zh-CN" altLang="en-US" sz="1600" dirty="0">
                <a:solidFill>
                  <a:srgbClr val="0070C0"/>
                </a:solidFill>
                <a:latin typeface="微软雅黑" panose="020B0503020204020204" pitchFamily="34" charset="-122"/>
                <a:ea typeface="微软雅黑" panose="020B0503020204020204" pitchFamily="34" charset="-122"/>
              </a:rPr>
              <a:t>输入与输出之间的关系使用因果图表示出来</a:t>
            </a:r>
            <a:r>
              <a:rPr lang="zh-CN" altLang="en-US" sz="1600" dirty="0">
                <a:solidFill>
                  <a:srgbClr val="595959"/>
                </a:solidFill>
                <a:latin typeface="微软雅黑" panose="020B0503020204020204" pitchFamily="34" charset="-122"/>
                <a:ea typeface="微软雅黑" panose="020B0503020204020204" pitchFamily="34" charset="-122"/>
              </a:rPr>
              <a:t>。</a:t>
            </a:r>
          </a:p>
        </p:txBody>
      </p:sp>
      <p:sp>
        <p:nvSpPr>
          <p:cNvPr id="43" name="矩形 42"/>
          <p:cNvSpPr/>
          <p:nvPr/>
        </p:nvSpPr>
        <p:spPr>
          <a:xfrm>
            <a:off x="1624330" y="3916045"/>
            <a:ext cx="7688580" cy="787523"/>
          </a:xfrm>
          <a:prstGeom prst="rect">
            <a:avLst/>
          </a:prstGeom>
          <a:solidFill>
            <a:schemeClr val="accent4">
              <a:lumMod val="20000"/>
              <a:lumOff val="80000"/>
            </a:schemeClr>
          </a:solidFill>
        </p:spPr>
        <p:txBody>
          <a:bodyPr wrap="square">
            <a:spAutoFit/>
          </a:bodyPr>
          <a:lstStyle/>
          <a:p>
            <a:pPr lvl="0" indent="0">
              <a:lnSpc>
                <a:spcPct val="150000"/>
              </a:lnSpc>
              <a:buFont typeface="Wingdings" panose="05000000000000000000" pitchFamily="2" charset="2"/>
              <a:buNone/>
            </a:pPr>
            <a:r>
              <a:rPr lang="zh-CN" altLang="en-US" sz="1600" dirty="0">
                <a:solidFill>
                  <a:srgbClr val="595959"/>
                </a:solidFill>
                <a:latin typeface="微软雅黑" panose="020B0503020204020204" pitchFamily="34" charset="-122"/>
                <a:ea typeface="微软雅黑" panose="020B0503020204020204" pitchFamily="34" charset="-122"/>
              </a:rPr>
              <a:t>（3）由于语法与环境的限制，有些输入与输入之间、输入与输出之间的组合情况是不可能出现的，对于这种情况</a:t>
            </a:r>
            <a:r>
              <a:rPr lang="zh-CN" altLang="en-US" sz="1600" dirty="0">
                <a:latin typeface="微软雅黑" panose="020B0503020204020204" pitchFamily="34" charset="-122"/>
                <a:ea typeface="微软雅黑" panose="020B0503020204020204" pitchFamily="34" charset="-122"/>
              </a:rPr>
              <a:t>，</a:t>
            </a:r>
            <a:r>
              <a:rPr lang="zh-CN" altLang="en-US" sz="1600" dirty="0">
                <a:solidFill>
                  <a:srgbClr val="0070C0"/>
                </a:solidFill>
                <a:latin typeface="微软雅黑" panose="020B0503020204020204" pitchFamily="34" charset="-122"/>
                <a:ea typeface="微软雅黑" panose="020B0503020204020204" pitchFamily="34" charset="-122"/>
              </a:rPr>
              <a:t>使用符号标记它们之间的限制或约束关系</a:t>
            </a:r>
            <a:r>
              <a:rPr lang="zh-CN" altLang="en-US" sz="1600" dirty="0">
                <a:solidFill>
                  <a:srgbClr val="595959"/>
                </a:solidFill>
                <a:latin typeface="微软雅黑" panose="020B0503020204020204" pitchFamily="34" charset="-122"/>
                <a:ea typeface="微软雅黑" panose="020B0503020204020204" pitchFamily="34" charset="-122"/>
              </a:rPr>
              <a:t>。</a:t>
            </a:r>
          </a:p>
        </p:txBody>
      </p:sp>
      <p:sp>
        <p:nvSpPr>
          <p:cNvPr id="44" name="矩形 43"/>
          <p:cNvSpPr/>
          <p:nvPr/>
        </p:nvSpPr>
        <p:spPr>
          <a:xfrm>
            <a:off x="1618615" y="4831715"/>
            <a:ext cx="7693660" cy="548640"/>
          </a:xfrm>
          <a:prstGeom prst="rect">
            <a:avLst/>
          </a:prstGeom>
          <a:solidFill>
            <a:schemeClr val="accent2">
              <a:lumMod val="20000"/>
              <a:lumOff val="80000"/>
            </a:schemeClr>
          </a:solidFill>
        </p:spPr>
        <p:txBody>
          <a:bodyPr wrap="square" anchor="ctr" anchorCtr="0">
            <a:noAutofit/>
          </a:bodyPr>
          <a:lstStyle/>
          <a:p>
            <a:pPr lvl="0" indent="0">
              <a:buFont typeface="Wingdings" panose="05000000000000000000" pitchFamily="2" charset="2"/>
              <a:buNone/>
            </a:pPr>
            <a:r>
              <a:rPr lang="en-US" altLang="zh-CN" sz="1600" dirty="0">
                <a:solidFill>
                  <a:schemeClr val="tx1"/>
                </a:solidFill>
                <a:latin typeface="微软雅黑" panose="020B0503020204020204" pitchFamily="34" charset="-122"/>
                <a:ea typeface="微软雅黑" panose="020B0503020204020204" pitchFamily="34" charset="-122"/>
                <a:cs typeface="Times New Roman" panose="02020603050405020304" charset="0"/>
              </a:rPr>
              <a:t>（</a:t>
            </a:r>
            <a:r>
              <a:rPr lang="en-US" altLang="zh-CN" sz="1600" dirty="0">
                <a:solidFill>
                  <a:srgbClr val="595959"/>
                </a:solidFill>
                <a:latin typeface="微软雅黑" panose="020B0503020204020204" pitchFamily="34" charset="-122"/>
                <a:ea typeface="微软雅黑" panose="020B0503020204020204" pitchFamily="34" charset="-122"/>
              </a:rPr>
              <a:t>4）将</a:t>
            </a:r>
            <a:r>
              <a:rPr lang="en-US" altLang="zh-CN" sz="1600" dirty="0">
                <a:solidFill>
                  <a:srgbClr val="0070C0"/>
                </a:solidFill>
                <a:latin typeface="微软雅黑" panose="020B0503020204020204" pitchFamily="34" charset="-122"/>
                <a:ea typeface="微软雅黑" panose="020B0503020204020204" pitchFamily="34" charset="-122"/>
              </a:rPr>
              <a:t>因果图转换为决策表</a:t>
            </a:r>
            <a:r>
              <a:rPr lang="en-US" altLang="zh-CN" sz="1600" dirty="0">
                <a:solidFill>
                  <a:srgbClr val="595959"/>
                </a:solidFill>
                <a:latin typeface="微软雅黑" panose="020B0503020204020204" pitchFamily="34" charset="-122"/>
                <a:ea typeface="微软雅黑" panose="020B0503020204020204" pitchFamily="34" charset="-122"/>
              </a:rPr>
              <a:t>。（决策表将在下一小节学习）</a:t>
            </a:r>
          </a:p>
        </p:txBody>
      </p:sp>
      <p:sp>
        <p:nvSpPr>
          <p:cNvPr id="45" name="矩形 44"/>
          <p:cNvSpPr/>
          <p:nvPr/>
        </p:nvSpPr>
        <p:spPr>
          <a:xfrm>
            <a:off x="1617980" y="5480050"/>
            <a:ext cx="7693660" cy="544830"/>
          </a:xfrm>
          <a:prstGeom prst="rect">
            <a:avLst/>
          </a:prstGeom>
          <a:solidFill>
            <a:schemeClr val="accent5">
              <a:lumMod val="20000"/>
              <a:lumOff val="80000"/>
            </a:schemeClr>
          </a:solidFill>
        </p:spPr>
        <p:txBody>
          <a:bodyPr wrap="square" anchor="ctr" anchorCtr="0">
            <a:noAutofit/>
          </a:bodyPr>
          <a:lstStyle/>
          <a:p>
            <a:pPr lvl="0" indent="0">
              <a:buFont typeface="Wingdings" panose="05000000000000000000" pitchFamily="2" charset="2"/>
              <a:buNone/>
            </a:pPr>
            <a:r>
              <a:rPr lang="en-US" altLang="zh-CN" sz="1600" dirty="0">
                <a:latin typeface="微软雅黑" panose="020B0503020204020204" pitchFamily="34" charset="-122"/>
                <a:ea typeface="微软雅黑" panose="020B0503020204020204" pitchFamily="34" charset="-122"/>
                <a:cs typeface="Times New Roman" panose="02020603050405020304" charset="0"/>
              </a:rPr>
              <a:t>（</a:t>
            </a:r>
            <a:r>
              <a:rPr lang="en-US" altLang="zh-CN" sz="1600" dirty="0">
                <a:solidFill>
                  <a:srgbClr val="595959"/>
                </a:solidFill>
                <a:latin typeface="微软雅黑" panose="020B0503020204020204" pitchFamily="34" charset="-122"/>
                <a:ea typeface="微软雅黑" panose="020B0503020204020204" pitchFamily="34" charset="-122"/>
              </a:rPr>
              <a:t>5</a:t>
            </a:r>
            <a:r>
              <a:rPr lang="en-US" altLang="zh-CN" sz="1600">
                <a:solidFill>
                  <a:srgbClr val="595959"/>
                </a:solidFill>
                <a:latin typeface="微软雅黑" panose="020B0503020204020204" pitchFamily="34" charset="-122"/>
                <a:ea typeface="微软雅黑" panose="020B0503020204020204" pitchFamily="34" charset="-122"/>
              </a:rPr>
              <a:t>）根据决策表</a:t>
            </a:r>
            <a:r>
              <a:rPr lang="en-US" altLang="zh-CN" sz="1600">
                <a:solidFill>
                  <a:srgbClr val="0070C0"/>
                </a:solidFill>
                <a:latin typeface="微软雅黑" panose="020B0503020204020204" pitchFamily="34" charset="-122"/>
                <a:ea typeface="微软雅黑" panose="020B0503020204020204" pitchFamily="34" charset="-122"/>
              </a:rPr>
              <a:t>设计测试用例</a:t>
            </a:r>
            <a:r>
              <a:rPr lang="en-US" altLang="zh-CN" sz="1600">
                <a:solidFill>
                  <a:srgbClr val="595959"/>
                </a:solidFill>
                <a:latin typeface="微软雅黑" panose="020B0503020204020204" pitchFamily="34" charset="-122"/>
                <a:ea typeface="微软雅黑" panose="020B0503020204020204" pitchFamily="34" charset="-122"/>
              </a:rPr>
              <a:t>。</a:t>
            </a:r>
            <a:endParaRPr lang="en-US" altLang="zh-CN" sz="1600" dirty="0">
              <a:solidFill>
                <a:srgbClr val="595959"/>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p:cNvPicPr>
            <a:picLocks noChangeAspect="1"/>
          </p:cNvPicPr>
          <p:nvPr/>
        </p:nvPicPr>
        <p:blipFill>
          <a:blip r:embed="rId3"/>
          <a:stretch>
            <a:fillRect/>
          </a:stretch>
        </p:blipFill>
        <p:spPr>
          <a:xfrm>
            <a:off x="944880" y="2215515"/>
            <a:ext cx="2797810" cy="3898265"/>
          </a:xfrm>
          <a:prstGeom prst="rect">
            <a:avLst/>
          </a:prstGeom>
        </p:spPr>
      </p:pic>
      <p:sp>
        <p:nvSpPr>
          <p:cNvPr id="13" name="椭圆形标注 12"/>
          <p:cNvSpPr/>
          <p:nvPr/>
        </p:nvSpPr>
        <p:spPr>
          <a:xfrm>
            <a:off x="2968625" y="156019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p>
        </p:txBody>
      </p:sp>
      <p:sp>
        <p:nvSpPr>
          <p:cNvPr id="14" name="TextBox 35"/>
          <p:cNvSpPr txBox="1">
            <a:spLocks noChangeArrowheads="1"/>
          </p:cNvSpPr>
          <p:nvPr/>
        </p:nvSpPr>
        <p:spPr bwMode="auto">
          <a:xfrm>
            <a:off x="3247390" y="163830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p>
        </p:txBody>
      </p:sp>
      <p:sp>
        <p:nvSpPr>
          <p:cNvPr id="15" name="TextBox 35"/>
          <p:cNvSpPr txBox="1">
            <a:spLocks noChangeArrowheads="1"/>
          </p:cNvSpPr>
          <p:nvPr/>
        </p:nvSpPr>
        <p:spPr bwMode="auto">
          <a:xfrm>
            <a:off x="5935354" y="3213770"/>
            <a:ext cx="5669299" cy="10439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defRPr/>
            </a:pPr>
            <a:r>
              <a:rPr lang="zh-CN" sz="200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掌握决策表</a:t>
            </a:r>
            <a:r>
              <a:rPr sz="200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法</a:t>
            </a:r>
            <a:r>
              <a:rPr lang="zh-CN" sz="200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的概述</a:t>
            </a:r>
            <a:r>
              <a:rPr sz="200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，能够</a:t>
            </a:r>
            <a:r>
              <a:rPr lang="zh-CN" sz="2000">
                <a:solidFill>
                  <a:srgbClr val="0070C0"/>
                </a:solidFill>
                <a:latin typeface="微软雅黑" panose="020B0503020204020204" pitchFamily="34" charset="-122"/>
                <a:ea typeface="微软雅黑" panose="020B0503020204020204" pitchFamily="34" charset="-122"/>
                <a:cs typeface="+mn-ea"/>
                <a:sym typeface="字魂58号-创中黑" panose="00000500000000000000" pitchFamily="2" charset="-122"/>
              </a:rPr>
              <a:t>通过决策表</a:t>
            </a:r>
            <a:r>
              <a:rPr sz="2000">
                <a:solidFill>
                  <a:srgbClr val="0070C0"/>
                </a:solidFill>
                <a:latin typeface="微软雅黑" panose="020B0503020204020204" pitchFamily="34" charset="-122"/>
                <a:ea typeface="微软雅黑" panose="020B0503020204020204" pitchFamily="34" charset="-122"/>
                <a:cs typeface="+mn-ea"/>
                <a:sym typeface="字魂58号-创中黑" panose="00000500000000000000" pitchFamily="2" charset="-122"/>
              </a:rPr>
              <a:t>设计出完整的测试用例集合</a:t>
            </a:r>
          </a:p>
        </p:txBody>
      </p:sp>
      <p:grpSp>
        <p:nvGrpSpPr>
          <p:cNvPr id="19" name="组合 18"/>
          <p:cNvGrpSpPr/>
          <p:nvPr/>
        </p:nvGrpSpPr>
        <p:grpSpPr>
          <a:xfrm>
            <a:off x="5452110" y="3540125"/>
            <a:ext cx="405130" cy="405130"/>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2.3.2	决策表法概述</a:t>
            </a: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35"/>
          <p:cNvSpPr txBox="1">
            <a:spLocks noChangeArrowheads="1"/>
          </p:cNvSpPr>
          <p:nvPr/>
        </p:nvSpPr>
        <p:spPr bwMode="auto">
          <a:xfrm>
            <a:off x="4871085" y="1559560"/>
            <a:ext cx="6289675" cy="38625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indent="457200" algn="just">
              <a:lnSpc>
                <a:spcPct val="150000"/>
              </a:lnSpc>
              <a:buClrTx/>
              <a:buSzTx/>
              <a:buFontTx/>
            </a:pPr>
            <a:r>
              <a:rPr lang="zh-CN" altLang="en-US" sz="1800" dirty="0">
                <a:solidFill>
                  <a:srgbClr val="595959"/>
                </a:solidFill>
                <a:latin typeface="微软雅黑" panose="020B0503020204020204" pitchFamily="34" charset="-122"/>
                <a:ea typeface="微软雅黑" panose="020B0503020204020204" pitchFamily="34" charset="-122"/>
              </a:rPr>
              <a:t>在实际测试中，如果输入条件较多，再加上各种输入与输出之间相互作用关系，画出的因果图就会比较复杂，让人不易理解。为了避免这种情况出现，测试人员往往</a:t>
            </a:r>
            <a:r>
              <a:rPr lang="zh-CN" altLang="en-US" sz="1800" dirty="0">
                <a:solidFill>
                  <a:srgbClr val="0070C0"/>
                </a:solidFill>
                <a:latin typeface="微软雅黑" panose="020B0503020204020204" pitchFamily="34" charset="-122"/>
                <a:ea typeface="微软雅黑" panose="020B0503020204020204" pitchFamily="34" charset="-122"/>
              </a:rPr>
              <a:t>使用决策表法代替因果图法</a:t>
            </a:r>
            <a:r>
              <a:rPr lang="zh-CN" altLang="en-US" sz="1800" dirty="0">
                <a:solidFill>
                  <a:srgbClr val="595959"/>
                </a:solidFill>
                <a:latin typeface="微软雅黑" panose="020B0503020204020204" pitchFamily="34" charset="-122"/>
                <a:ea typeface="微软雅黑" panose="020B0503020204020204" pitchFamily="34" charset="-122"/>
              </a:rPr>
              <a:t>。</a:t>
            </a:r>
          </a:p>
          <a:p>
            <a:pPr indent="457200" algn="just">
              <a:lnSpc>
                <a:spcPct val="150000"/>
              </a:lnSpc>
              <a:buClrTx/>
              <a:buSzTx/>
              <a:buFontTx/>
            </a:pPr>
            <a:r>
              <a:rPr lang="zh-CN" altLang="en-US" sz="1800" dirty="0">
                <a:solidFill>
                  <a:srgbClr val="595959"/>
                </a:solidFill>
                <a:latin typeface="微软雅黑" panose="020B0503020204020204" pitchFamily="34" charset="-122"/>
                <a:ea typeface="微软雅黑" panose="020B0503020204020204" pitchFamily="34" charset="-122"/>
              </a:rPr>
              <a:t>决策表</a:t>
            </a:r>
            <a:r>
              <a:rPr lang="zh-CN" altLang="en-US" sz="1800" dirty="0">
                <a:solidFill>
                  <a:srgbClr val="0070C0"/>
                </a:solidFill>
                <a:latin typeface="微软雅黑" panose="020B0503020204020204" pitchFamily="34" charset="-122"/>
                <a:ea typeface="微软雅黑" panose="020B0503020204020204" pitchFamily="34" charset="-122"/>
              </a:rPr>
              <a:t>也称为判定表</a:t>
            </a:r>
            <a:r>
              <a:rPr lang="zh-CN" altLang="en-US" sz="1800" dirty="0">
                <a:solidFill>
                  <a:srgbClr val="595959"/>
                </a:solidFill>
                <a:latin typeface="微软雅黑" panose="020B0503020204020204" pitchFamily="34" charset="-122"/>
                <a:ea typeface="微软雅黑" panose="020B0503020204020204" pitchFamily="34" charset="-122"/>
              </a:rPr>
              <a:t>，其</a:t>
            </a:r>
            <a:r>
              <a:rPr lang="zh-CN" altLang="en-US" sz="1800" dirty="0">
                <a:solidFill>
                  <a:srgbClr val="0070C0"/>
                </a:solidFill>
                <a:latin typeface="微软雅黑" panose="020B0503020204020204" pitchFamily="34" charset="-122"/>
                <a:ea typeface="微软雅黑" panose="020B0503020204020204" pitchFamily="34" charset="-122"/>
              </a:rPr>
              <a:t>实质</a:t>
            </a:r>
            <a:r>
              <a:rPr lang="zh-CN" altLang="en-US" sz="1800" dirty="0">
                <a:solidFill>
                  <a:srgbClr val="595959"/>
                </a:solidFill>
                <a:latin typeface="微软雅黑" panose="020B0503020204020204" pitchFamily="34" charset="-122"/>
                <a:ea typeface="微软雅黑" panose="020B0503020204020204" pitchFamily="34" charset="-122"/>
              </a:rPr>
              <a:t>就</a:t>
            </a:r>
            <a:r>
              <a:rPr lang="zh-CN" altLang="en-US" sz="1800" dirty="0">
                <a:solidFill>
                  <a:srgbClr val="0070C0"/>
                </a:solidFill>
                <a:latin typeface="微软雅黑" panose="020B0503020204020204" pitchFamily="34" charset="-122"/>
                <a:ea typeface="微软雅黑" panose="020B0503020204020204" pitchFamily="34" charset="-122"/>
              </a:rPr>
              <a:t>是</a:t>
            </a:r>
            <a:r>
              <a:rPr lang="zh-CN" altLang="en-US" sz="1800" dirty="0">
                <a:solidFill>
                  <a:srgbClr val="595959"/>
                </a:solidFill>
                <a:latin typeface="微软雅黑" panose="020B0503020204020204" pitchFamily="34" charset="-122"/>
                <a:ea typeface="微软雅黑" panose="020B0503020204020204" pitchFamily="34" charset="-122"/>
              </a:rPr>
              <a:t>一种</a:t>
            </a:r>
            <a:r>
              <a:rPr lang="zh-CN" altLang="en-US" sz="1800" dirty="0">
                <a:solidFill>
                  <a:srgbClr val="0070C0"/>
                </a:solidFill>
                <a:latin typeface="微软雅黑" panose="020B0503020204020204" pitchFamily="34" charset="-122"/>
                <a:ea typeface="微软雅黑" panose="020B0503020204020204" pitchFamily="34" charset="-122"/>
              </a:rPr>
              <a:t>逻辑表</a:t>
            </a:r>
            <a:r>
              <a:rPr lang="zh-CN" altLang="en-US" sz="1800" dirty="0">
                <a:solidFill>
                  <a:srgbClr val="595959"/>
                </a:solidFill>
                <a:latin typeface="微软雅黑" panose="020B0503020204020204" pitchFamily="34" charset="-122"/>
                <a:ea typeface="微软雅黑" panose="020B0503020204020204" pitchFamily="34" charset="-122"/>
              </a:rPr>
              <a:t>。在程序设计发展初期，判定表就已经被当作程序开发的辅助工具了，用于帮助开发人员设计开发模式和整理开发流程，因为它可以</a:t>
            </a:r>
            <a:r>
              <a:rPr lang="zh-CN" altLang="en-US" sz="1800" dirty="0">
                <a:solidFill>
                  <a:srgbClr val="0070C0"/>
                </a:solidFill>
                <a:latin typeface="微软雅黑" panose="020B0503020204020204" pitchFamily="34" charset="-122"/>
                <a:ea typeface="微软雅黑" panose="020B0503020204020204" pitchFamily="34" charset="-122"/>
              </a:rPr>
              <a:t>把复杂的逻辑关系和多种条件组合的情况表达得既具体又明确</a:t>
            </a:r>
            <a:r>
              <a:rPr lang="zh-CN" altLang="en-US" sz="1800" dirty="0">
                <a:solidFill>
                  <a:srgbClr val="595959"/>
                </a:solidFill>
                <a:latin typeface="微软雅黑" panose="020B0503020204020204" pitchFamily="34" charset="-122"/>
                <a:ea typeface="微软雅黑" panose="020B0503020204020204" pitchFamily="34" charset="-122"/>
              </a:rPr>
              <a:t>，</a:t>
            </a:r>
            <a:r>
              <a:rPr lang="zh-CN" altLang="en-US" sz="1800" dirty="0">
                <a:solidFill>
                  <a:srgbClr val="0070C0"/>
                </a:solidFill>
                <a:latin typeface="微软雅黑" panose="020B0503020204020204" pitchFamily="34" charset="-122"/>
                <a:ea typeface="微软雅黑" panose="020B0503020204020204" pitchFamily="34" charset="-122"/>
              </a:rPr>
              <a:t>利用决策表可以设计出完整的测试用例集合</a:t>
            </a:r>
            <a:r>
              <a:rPr lang="zh-CN" altLang="en-US" sz="1800" dirty="0">
                <a:solidFill>
                  <a:srgbClr val="595959"/>
                </a:solidFill>
                <a:latin typeface="微软雅黑" panose="020B0503020204020204" pitchFamily="34" charset="-122"/>
                <a:ea typeface="微软雅黑" panose="020B0503020204020204" pitchFamily="34" charset="-122"/>
              </a:rPr>
              <a:t>。</a:t>
            </a:r>
          </a:p>
        </p:txBody>
      </p:sp>
      <p:pic>
        <p:nvPicPr>
          <p:cNvPr id="33" name="图片 32"/>
          <p:cNvPicPr>
            <a:picLocks noChangeAspect="1"/>
          </p:cNvPicPr>
          <p:nvPr/>
        </p:nvPicPr>
        <p:blipFill>
          <a:blip r:embed="rId3"/>
          <a:stretch>
            <a:fillRect/>
          </a:stretch>
        </p:blipFill>
        <p:spPr>
          <a:xfrm>
            <a:off x="839386" y="1413456"/>
            <a:ext cx="3715858" cy="4006159"/>
          </a:xfrm>
          <a:prstGeom prst="rect">
            <a:avLst/>
          </a:prstGeom>
        </p:spPr>
      </p:pic>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2.3.2	决策表法概述</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35"/>
          <p:cNvSpPr txBox="1">
            <a:spLocks noChangeArrowheads="1"/>
          </p:cNvSpPr>
          <p:nvPr/>
        </p:nvSpPr>
        <p:spPr bwMode="auto">
          <a:xfrm>
            <a:off x="4871085" y="1413510"/>
            <a:ext cx="6289675" cy="42754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indent="457200" algn="just">
              <a:lnSpc>
                <a:spcPct val="150000"/>
              </a:lnSpc>
              <a:buClrTx/>
              <a:buSzTx/>
              <a:buFontTx/>
            </a:pPr>
            <a:r>
              <a:rPr lang="zh-CN" altLang="en-US" sz="1800" dirty="0">
                <a:solidFill>
                  <a:srgbClr val="595959"/>
                </a:solidFill>
                <a:latin typeface="微软雅黑" panose="020B0503020204020204" pitchFamily="34" charset="-122"/>
                <a:ea typeface="微软雅黑" panose="020B0503020204020204" pitchFamily="34" charset="-122"/>
              </a:rPr>
              <a:t>下面以一个</a:t>
            </a:r>
            <a:r>
              <a:rPr lang="zh-CN" altLang="en-US" sz="1800" dirty="0">
                <a:solidFill>
                  <a:srgbClr val="0070C0"/>
                </a:solidFill>
                <a:latin typeface="微软雅黑" panose="020B0503020204020204" pitchFamily="34" charset="-122"/>
                <a:ea typeface="微软雅黑" panose="020B0503020204020204" pitchFamily="34" charset="-122"/>
              </a:rPr>
              <a:t>“图书阅读指南”为例来制作一个决策表</a:t>
            </a:r>
            <a:r>
              <a:rPr lang="zh-CN" altLang="en-US" sz="1800" dirty="0">
                <a:solidFill>
                  <a:srgbClr val="595959"/>
                </a:solidFill>
                <a:latin typeface="微软雅黑" panose="020B0503020204020204" pitchFamily="34" charset="-122"/>
                <a:ea typeface="微软雅黑" panose="020B0503020204020204" pitchFamily="34" charset="-122"/>
              </a:rPr>
              <a:t>，“图书阅读指南”指明了图书阅读过程中可能出现的情况，以及针对各种情况给读者的建议。在</a:t>
            </a:r>
            <a:r>
              <a:rPr lang="zh-CN" altLang="en-US" sz="1800" dirty="0">
                <a:solidFill>
                  <a:srgbClr val="0070C0"/>
                </a:solidFill>
                <a:latin typeface="微软雅黑" panose="020B0503020204020204" pitchFamily="34" charset="-122"/>
                <a:ea typeface="微软雅黑" panose="020B0503020204020204" pitchFamily="34" charset="-122"/>
              </a:rPr>
              <a:t>图书阅读过程中</a:t>
            </a:r>
            <a:r>
              <a:rPr lang="zh-CN" altLang="en-US" sz="1800" dirty="0">
                <a:solidFill>
                  <a:srgbClr val="595959"/>
                </a:solidFill>
                <a:latin typeface="微软雅黑" panose="020B0503020204020204" pitchFamily="34" charset="-122"/>
                <a:ea typeface="微软雅黑" panose="020B0503020204020204" pitchFamily="34" charset="-122"/>
              </a:rPr>
              <a:t>可能会</a:t>
            </a:r>
            <a:r>
              <a:rPr lang="zh-CN" altLang="en-US" sz="1800" dirty="0">
                <a:solidFill>
                  <a:srgbClr val="0070C0"/>
                </a:solidFill>
                <a:latin typeface="微软雅黑" panose="020B0503020204020204" pitchFamily="34" charset="-122"/>
                <a:ea typeface="微软雅黑" panose="020B0503020204020204" pitchFamily="34" charset="-122"/>
              </a:rPr>
              <a:t>出现3种情况</a:t>
            </a:r>
            <a:r>
              <a:rPr lang="zh-CN" altLang="en-US" sz="1800" dirty="0">
                <a:solidFill>
                  <a:srgbClr val="595959"/>
                </a:solidFill>
                <a:latin typeface="微软雅黑" panose="020B0503020204020204" pitchFamily="34" charset="-122"/>
                <a:ea typeface="微软雅黑" panose="020B0503020204020204" pitchFamily="34" charset="-122"/>
              </a:rPr>
              <a:t>：</a:t>
            </a:r>
            <a:r>
              <a:rPr lang="zh-CN" altLang="en-US" sz="1800" dirty="0">
                <a:solidFill>
                  <a:srgbClr val="0070C0"/>
                </a:solidFill>
                <a:latin typeface="微软雅黑" panose="020B0503020204020204" pitchFamily="34" charset="-122"/>
                <a:ea typeface="微软雅黑" panose="020B0503020204020204" pitchFamily="34" charset="-122"/>
              </a:rPr>
              <a:t>是否疲倦</a:t>
            </a:r>
            <a:r>
              <a:rPr lang="zh-CN" altLang="en-US" sz="1800" dirty="0">
                <a:solidFill>
                  <a:srgbClr val="595959"/>
                </a:solidFill>
                <a:latin typeface="微软雅黑" panose="020B0503020204020204" pitchFamily="34" charset="-122"/>
                <a:ea typeface="微软雅黑" panose="020B0503020204020204" pitchFamily="34" charset="-122"/>
              </a:rPr>
              <a:t>、</a:t>
            </a:r>
            <a:r>
              <a:rPr lang="zh-CN" altLang="en-US" sz="1800" dirty="0">
                <a:solidFill>
                  <a:srgbClr val="0070C0"/>
                </a:solidFill>
                <a:latin typeface="微软雅黑" panose="020B0503020204020204" pitchFamily="34" charset="-122"/>
                <a:ea typeface="微软雅黑" panose="020B0503020204020204" pitchFamily="34" charset="-122"/>
              </a:rPr>
              <a:t>是否对内容感兴趣</a:t>
            </a:r>
            <a:r>
              <a:rPr lang="zh-CN" altLang="en-US" sz="1800" dirty="0">
                <a:solidFill>
                  <a:srgbClr val="595959"/>
                </a:solidFill>
                <a:latin typeface="微软雅黑" panose="020B0503020204020204" pitchFamily="34" charset="-122"/>
                <a:ea typeface="微软雅黑" panose="020B0503020204020204" pitchFamily="34" charset="-122"/>
              </a:rPr>
              <a:t>、</a:t>
            </a:r>
            <a:r>
              <a:rPr lang="zh-CN" altLang="en-US" sz="1800" dirty="0">
                <a:solidFill>
                  <a:srgbClr val="0070C0"/>
                </a:solidFill>
                <a:latin typeface="微软雅黑" panose="020B0503020204020204" pitchFamily="34" charset="-122"/>
                <a:ea typeface="微软雅黑" panose="020B0503020204020204" pitchFamily="34" charset="-122"/>
              </a:rPr>
              <a:t>对书中内容是否感到不理解</a:t>
            </a:r>
            <a:r>
              <a:rPr lang="zh-CN" altLang="en-US" sz="1800" dirty="0">
                <a:solidFill>
                  <a:srgbClr val="595959"/>
                </a:solidFill>
                <a:latin typeface="微软雅黑" panose="020B0503020204020204" pitchFamily="34" charset="-122"/>
                <a:ea typeface="微软雅黑" panose="020B0503020204020204" pitchFamily="34" charset="-122"/>
              </a:rPr>
              <a:t>，如果回答是</a:t>
            </a:r>
            <a:r>
              <a:rPr lang="zh-CN" altLang="en-US" sz="1800" dirty="0">
                <a:solidFill>
                  <a:srgbClr val="0070C0"/>
                </a:solidFill>
                <a:latin typeface="微软雅黑" panose="020B0503020204020204" pitchFamily="34" charset="-122"/>
                <a:ea typeface="微软雅黑" panose="020B0503020204020204" pitchFamily="34" charset="-122"/>
              </a:rPr>
              <a:t>“是”</a:t>
            </a:r>
            <a:r>
              <a:rPr lang="zh-CN" altLang="en-US" sz="1800" dirty="0">
                <a:solidFill>
                  <a:srgbClr val="595959"/>
                </a:solidFill>
                <a:latin typeface="微软雅黑" panose="020B0503020204020204" pitchFamily="34" charset="-122"/>
                <a:ea typeface="微软雅黑" panose="020B0503020204020204" pitchFamily="34" charset="-122"/>
              </a:rPr>
              <a:t>，则使用</a:t>
            </a:r>
            <a:r>
              <a:rPr lang="zh-CN" altLang="en-US" sz="1800" dirty="0">
                <a:solidFill>
                  <a:srgbClr val="0070C0"/>
                </a:solidFill>
                <a:latin typeface="微软雅黑" panose="020B0503020204020204" pitchFamily="34" charset="-122"/>
                <a:ea typeface="微软雅黑" panose="020B0503020204020204" pitchFamily="34" charset="-122"/>
              </a:rPr>
              <a:t>“Y”</a:t>
            </a:r>
            <a:r>
              <a:rPr lang="zh-CN" altLang="en-US" sz="1800" dirty="0">
                <a:solidFill>
                  <a:srgbClr val="595959"/>
                </a:solidFill>
                <a:latin typeface="微软雅黑" panose="020B0503020204020204" pitchFamily="34" charset="-122"/>
                <a:ea typeface="微软雅黑" panose="020B0503020204020204" pitchFamily="34" charset="-122"/>
              </a:rPr>
              <a:t>标记，如果回答是</a:t>
            </a:r>
            <a:r>
              <a:rPr lang="zh-CN" altLang="en-US" sz="1800" dirty="0">
                <a:solidFill>
                  <a:srgbClr val="0070C0"/>
                </a:solidFill>
                <a:latin typeface="微软雅黑" panose="020B0503020204020204" pitchFamily="34" charset="-122"/>
                <a:ea typeface="微软雅黑" panose="020B0503020204020204" pitchFamily="34" charset="-122"/>
              </a:rPr>
              <a:t>“否”</a:t>
            </a:r>
            <a:r>
              <a:rPr lang="zh-CN" altLang="en-US" sz="1800" dirty="0">
                <a:solidFill>
                  <a:srgbClr val="595959"/>
                </a:solidFill>
                <a:latin typeface="微软雅黑" panose="020B0503020204020204" pitchFamily="34" charset="-122"/>
                <a:ea typeface="微软雅黑" panose="020B0503020204020204" pitchFamily="34" charset="-122"/>
              </a:rPr>
              <a:t>，则使用</a:t>
            </a:r>
            <a:r>
              <a:rPr lang="zh-CN" altLang="en-US" sz="1800" dirty="0">
                <a:solidFill>
                  <a:srgbClr val="0070C0"/>
                </a:solidFill>
                <a:latin typeface="微软雅黑" panose="020B0503020204020204" pitchFamily="34" charset="-122"/>
                <a:ea typeface="微软雅黑" panose="020B0503020204020204" pitchFamily="34" charset="-122"/>
              </a:rPr>
              <a:t>“N”</a:t>
            </a:r>
            <a:r>
              <a:rPr lang="zh-CN" altLang="en-US" sz="1800" dirty="0">
                <a:solidFill>
                  <a:srgbClr val="595959"/>
                </a:solidFill>
                <a:latin typeface="微软雅黑" panose="020B0503020204020204" pitchFamily="34" charset="-122"/>
                <a:ea typeface="微软雅黑" panose="020B0503020204020204" pitchFamily="34" charset="-122"/>
              </a:rPr>
              <a:t>标记。这3种情况可以有2</a:t>
            </a:r>
            <a:r>
              <a:rPr lang="zh-CN" altLang="en-US" sz="1800" baseline="30000" dirty="0">
                <a:solidFill>
                  <a:srgbClr val="595959"/>
                </a:solidFill>
                <a:latin typeface="微软雅黑" panose="020B0503020204020204" pitchFamily="34" charset="-122"/>
                <a:ea typeface="微软雅黑" panose="020B0503020204020204" pitchFamily="34" charset="-122"/>
              </a:rPr>
              <a:t>3</a:t>
            </a:r>
            <a:r>
              <a:rPr lang="zh-CN" altLang="en-US" sz="1800" dirty="0">
                <a:solidFill>
                  <a:srgbClr val="595959"/>
                </a:solidFill>
                <a:latin typeface="微软雅黑" panose="020B0503020204020204" pitchFamily="34" charset="-122"/>
                <a:ea typeface="微软雅黑" panose="020B0503020204020204" pitchFamily="34" charset="-122"/>
              </a:rPr>
              <a:t>=8种组合，针对这8种组合，阅读指南给读者提供了</a:t>
            </a:r>
            <a:r>
              <a:rPr lang="zh-CN" altLang="en-US" sz="1800" dirty="0">
                <a:solidFill>
                  <a:srgbClr val="0070C0"/>
                </a:solidFill>
                <a:latin typeface="微软雅黑" panose="020B0503020204020204" pitchFamily="34" charset="-122"/>
                <a:ea typeface="微软雅黑" panose="020B0503020204020204" pitchFamily="34" charset="-122"/>
              </a:rPr>
              <a:t>4条建议</a:t>
            </a:r>
            <a:r>
              <a:rPr lang="zh-CN" altLang="en-US" sz="1800" dirty="0">
                <a:solidFill>
                  <a:srgbClr val="595959"/>
                </a:solidFill>
                <a:latin typeface="微软雅黑" panose="020B0503020204020204" pitchFamily="34" charset="-122"/>
                <a:ea typeface="微软雅黑" panose="020B0503020204020204" pitchFamily="34" charset="-122"/>
              </a:rPr>
              <a:t>：</a:t>
            </a:r>
            <a:r>
              <a:rPr lang="zh-CN" altLang="en-US" sz="1800" dirty="0">
                <a:solidFill>
                  <a:srgbClr val="0070C0"/>
                </a:solidFill>
                <a:latin typeface="微软雅黑" panose="020B0503020204020204" pitchFamily="34" charset="-122"/>
                <a:ea typeface="微软雅黑" panose="020B0503020204020204" pitchFamily="34" charset="-122"/>
              </a:rPr>
              <a:t>回到本章开头重读</a:t>
            </a:r>
            <a:r>
              <a:rPr lang="zh-CN" altLang="en-US" sz="1800" dirty="0">
                <a:solidFill>
                  <a:srgbClr val="595959"/>
                </a:solidFill>
                <a:latin typeface="微软雅黑" panose="020B0503020204020204" pitchFamily="34" charset="-122"/>
                <a:ea typeface="微软雅黑" panose="020B0503020204020204" pitchFamily="34" charset="-122"/>
              </a:rPr>
              <a:t>、</a:t>
            </a:r>
            <a:r>
              <a:rPr lang="zh-CN" altLang="en-US" sz="1800" dirty="0">
                <a:solidFill>
                  <a:srgbClr val="0070C0"/>
                </a:solidFill>
                <a:latin typeface="微软雅黑" panose="020B0503020204020204" pitchFamily="34" charset="-122"/>
                <a:ea typeface="微软雅黑" panose="020B0503020204020204" pitchFamily="34" charset="-122"/>
              </a:rPr>
              <a:t>继续读下去</a:t>
            </a:r>
            <a:r>
              <a:rPr lang="zh-CN" altLang="en-US" sz="1800" dirty="0">
                <a:solidFill>
                  <a:srgbClr val="595959"/>
                </a:solidFill>
                <a:latin typeface="微软雅黑" panose="020B0503020204020204" pitchFamily="34" charset="-122"/>
                <a:ea typeface="微软雅黑" panose="020B0503020204020204" pitchFamily="34" charset="-122"/>
              </a:rPr>
              <a:t>、</a:t>
            </a:r>
            <a:r>
              <a:rPr lang="zh-CN" altLang="en-US" sz="1800" dirty="0">
                <a:solidFill>
                  <a:srgbClr val="0070C0"/>
                </a:solidFill>
                <a:latin typeface="微软雅黑" panose="020B0503020204020204" pitchFamily="34" charset="-122"/>
                <a:ea typeface="微软雅黑" panose="020B0503020204020204" pitchFamily="34" charset="-122"/>
              </a:rPr>
              <a:t>跳到下一章去读</a:t>
            </a:r>
            <a:r>
              <a:rPr lang="zh-CN" altLang="en-US" sz="1800" dirty="0">
                <a:solidFill>
                  <a:srgbClr val="595959"/>
                </a:solidFill>
                <a:latin typeface="微软雅黑" panose="020B0503020204020204" pitchFamily="34" charset="-122"/>
                <a:ea typeface="微软雅黑" panose="020B0503020204020204" pitchFamily="34" charset="-122"/>
              </a:rPr>
              <a:t>、</a:t>
            </a:r>
            <a:r>
              <a:rPr lang="zh-CN" altLang="en-US" sz="1800" dirty="0">
                <a:solidFill>
                  <a:srgbClr val="0070C0"/>
                </a:solidFill>
                <a:latin typeface="微软雅黑" panose="020B0503020204020204" pitchFamily="34" charset="-122"/>
                <a:ea typeface="微软雅黑" panose="020B0503020204020204" pitchFamily="34" charset="-122"/>
              </a:rPr>
              <a:t>停止阅读并休息</a:t>
            </a:r>
            <a:r>
              <a:rPr lang="zh-CN" altLang="en-US" sz="1800" dirty="0">
                <a:solidFill>
                  <a:srgbClr val="595959"/>
                </a:solidFill>
                <a:latin typeface="微软雅黑" panose="020B0503020204020204" pitchFamily="34" charset="-122"/>
                <a:ea typeface="微软雅黑" panose="020B0503020204020204" pitchFamily="34" charset="-122"/>
              </a:rPr>
              <a:t>，据此制作的“图书阅读指南”决策表如下表所示。</a:t>
            </a:r>
          </a:p>
        </p:txBody>
      </p:sp>
      <p:pic>
        <p:nvPicPr>
          <p:cNvPr id="33" name="图片 32"/>
          <p:cNvPicPr>
            <a:picLocks noChangeAspect="1"/>
          </p:cNvPicPr>
          <p:nvPr/>
        </p:nvPicPr>
        <p:blipFill>
          <a:blip r:embed="rId3"/>
          <a:stretch>
            <a:fillRect/>
          </a:stretch>
        </p:blipFill>
        <p:spPr>
          <a:xfrm>
            <a:off x="839386" y="1413456"/>
            <a:ext cx="3715858" cy="4006159"/>
          </a:xfrm>
          <a:prstGeom prst="rect">
            <a:avLst/>
          </a:prstGeom>
        </p:spPr>
      </p:pic>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2.3.2	决策表法概述</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35"/>
          <p:cNvSpPr txBox="1">
            <a:spLocks noChangeArrowheads="1"/>
          </p:cNvSpPr>
          <p:nvPr/>
        </p:nvSpPr>
        <p:spPr bwMode="auto">
          <a:xfrm>
            <a:off x="4655185" y="909320"/>
            <a:ext cx="2927350" cy="579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no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buClrTx/>
              <a:buSzTx/>
              <a:buFontTx/>
            </a:pPr>
            <a:r>
              <a:rPr lang="zh-CN" altLang="en-US" sz="1800" dirty="0">
                <a:solidFill>
                  <a:srgbClr val="0070C0"/>
                </a:solidFill>
                <a:latin typeface="微软雅黑" panose="020B0503020204020204" pitchFamily="34" charset="-122"/>
                <a:ea typeface="微软雅黑" panose="020B0503020204020204" pitchFamily="34" charset="-122"/>
              </a:rPr>
              <a:t>“图书阅读指南”决策表</a:t>
            </a:r>
          </a:p>
          <a:p>
            <a:pPr algn="just">
              <a:lnSpc>
                <a:spcPct val="150000"/>
              </a:lnSpc>
              <a:buClrTx/>
              <a:buSzTx/>
              <a:buFontTx/>
            </a:pPr>
            <a:endParaRPr lang="zh-CN" altLang="en-US" sz="1800" dirty="0">
              <a:solidFill>
                <a:srgbClr val="0070C0"/>
              </a:solidFill>
              <a:latin typeface="微软雅黑" panose="020B0503020204020204" pitchFamily="34" charset="-122"/>
              <a:ea typeface="微软雅黑" panose="020B0503020204020204" pitchFamily="34" charset="-122"/>
            </a:endParaRPr>
          </a:p>
        </p:txBody>
      </p:sp>
      <p:graphicFrame>
        <p:nvGraphicFramePr>
          <p:cNvPr id="2" name="表格 1"/>
          <p:cNvGraphicFramePr/>
          <p:nvPr>
            <p:custDataLst>
              <p:tags r:id="rId1"/>
            </p:custDataLst>
          </p:nvPr>
        </p:nvGraphicFramePr>
        <p:xfrm>
          <a:off x="1623060" y="1486535"/>
          <a:ext cx="8648146" cy="4784090"/>
        </p:xfrm>
        <a:graphic>
          <a:graphicData uri="http://schemas.openxmlformats.org/drawingml/2006/table">
            <a:tbl>
              <a:tblPr firstRow="1" bandRow="1">
                <a:tableStyleId>{5C22544A-7EE6-4342-B048-85BDC9FD1C3A}</a:tableStyleId>
              </a:tblPr>
              <a:tblGrid>
                <a:gridCol w="681355">
                  <a:extLst>
                    <a:ext uri="{9D8B030D-6E8A-4147-A177-3AD203B41FA5}">
                      <a16:colId xmlns:a16="http://schemas.microsoft.com/office/drawing/2014/main" val="20000"/>
                    </a:ext>
                  </a:extLst>
                </a:gridCol>
                <a:gridCol w="2062791">
                  <a:extLst>
                    <a:ext uri="{9D8B030D-6E8A-4147-A177-3AD203B41FA5}">
                      <a16:colId xmlns:a16="http://schemas.microsoft.com/office/drawing/2014/main" val="20001"/>
                    </a:ext>
                  </a:extLst>
                </a:gridCol>
                <a:gridCol w="720000">
                  <a:extLst>
                    <a:ext uri="{9D8B030D-6E8A-4147-A177-3AD203B41FA5}">
                      <a16:colId xmlns:a16="http://schemas.microsoft.com/office/drawing/2014/main" val="20002"/>
                    </a:ext>
                  </a:extLst>
                </a:gridCol>
                <a:gridCol w="720000">
                  <a:extLst>
                    <a:ext uri="{9D8B030D-6E8A-4147-A177-3AD203B41FA5}">
                      <a16:colId xmlns:a16="http://schemas.microsoft.com/office/drawing/2014/main" val="20003"/>
                    </a:ext>
                  </a:extLst>
                </a:gridCol>
                <a:gridCol w="792000">
                  <a:extLst>
                    <a:ext uri="{9D8B030D-6E8A-4147-A177-3AD203B41FA5}">
                      <a16:colId xmlns:a16="http://schemas.microsoft.com/office/drawing/2014/main" val="20004"/>
                    </a:ext>
                  </a:extLst>
                </a:gridCol>
                <a:gridCol w="720000">
                  <a:extLst>
                    <a:ext uri="{9D8B030D-6E8A-4147-A177-3AD203B41FA5}">
                      <a16:colId xmlns:a16="http://schemas.microsoft.com/office/drawing/2014/main" val="20005"/>
                    </a:ext>
                  </a:extLst>
                </a:gridCol>
                <a:gridCol w="720000">
                  <a:extLst>
                    <a:ext uri="{9D8B030D-6E8A-4147-A177-3AD203B41FA5}">
                      <a16:colId xmlns:a16="http://schemas.microsoft.com/office/drawing/2014/main" val="20006"/>
                    </a:ext>
                  </a:extLst>
                </a:gridCol>
                <a:gridCol w="792000">
                  <a:extLst>
                    <a:ext uri="{9D8B030D-6E8A-4147-A177-3AD203B41FA5}">
                      <a16:colId xmlns:a16="http://schemas.microsoft.com/office/drawing/2014/main" val="20007"/>
                    </a:ext>
                  </a:extLst>
                </a:gridCol>
                <a:gridCol w="720000">
                  <a:extLst>
                    <a:ext uri="{9D8B030D-6E8A-4147-A177-3AD203B41FA5}">
                      <a16:colId xmlns:a16="http://schemas.microsoft.com/office/drawing/2014/main" val="20008"/>
                    </a:ext>
                  </a:extLst>
                </a:gridCol>
                <a:gridCol w="720000">
                  <a:extLst>
                    <a:ext uri="{9D8B030D-6E8A-4147-A177-3AD203B41FA5}">
                      <a16:colId xmlns:a16="http://schemas.microsoft.com/office/drawing/2014/main" val="20009"/>
                    </a:ext>
                  </a:extLst>
                </a:gridCol>
              </a:tblGrid>
              <a:tr h="685165">
                <a:tc gridSpan="2">
                  <a:txBody>
                    <a:bodyPr/>
                    <a:lstStyle/>
                    <a:p>
                      <a:pPr algn="ctr">
                        <a:lnSpc>
                          <a:spcPct val="90000"/>
                        </a:lnSpc>
                        <a:buNone/>
                      </a:pPr>
                      <a:r>
                        <a:rPr lang="zh-CN" altLang="en-US" sz="1800" b="1">
                          <a:latin typeface="微软雅黑" panose="020B0503020204020204" pitchFamily="34" charset="-122"/>
                          <a:ea typeface="微软雅黑" panose="020B0503020204020204" pitchFamily="34" charset="-122"/>
                        </a:rPr>
                        <a:t>情况与建议</a:t>
                      </a:r>
                    </a:p>
                  </a:txBody>
                  <a:tcPr anchor="ctr"/>
                </a:tc>
                <a:tc hMerge="1">
                  <a:txBody>
                    <a:bodyPr/>
                    <a:lstStyle/>
                    <a:p>
                      <a:endParaRPr lang="zh-CN"/>
                    </a:p>
                  </a:txBody>
                  <a:tcPr anchor="ctr"/>
                </a:tc>
                <a:tc>
                  <a:txBody>
                    <a:bodyPr/>
                    <a:lstStyle/>
                    <a:p>
                      <a:pPr algn="ctr">
                        <a:lnSpc>
                          <a:spcPct val="90000"/>
                        </a:lnSpc>
                        <a:buNone/>
                      </a:pPr>
                      <a:r>
                        <a:rPr lang="en-US" altLang="zh-CN" sz="1800">
                          <a:latin typeface="微软雅黑" panose="020B0503020204020204" pitchFamily="34" charset="-122"/>
                          <a:ea typeface="微软雅黑" panose="020B0503020204020204" pitchFamily="34" charset="-122"/>
                        </a:rPr>
                        <a:t>1</a:t>
                      </a:r>
                    </a:p>
                  </a:txBody>
                  <a:tcPr anchor="ctr"/>
                </a:tc>
                <a:tc>
                  <a:txBody>
                    <a:bodyPr/>
                    <a:lstStyle/>
                    <a:p>
                      <a:pPr algn="ctr">
                        <a:lnSpc>
                          <a:spcPct val="90000"/>
                        </a:lnSpc>
                        <a:buNone/>
                      </a:pPr>
                      <a:r>
                        <a:rPr lang="en-US" altLang="zh-CN" sz="1800">
                          <a:latin typeface="微软雅黑" panose="020B0503020204020204" pitchFamily="34" charset="-122"/>
                          <a:ea typeface="微软雅黑" panose="020B0503020204020204" pitchFamily="34" charset="-122"/>
                        </a:rPr>
                        <a:t>2</a:t>
                      </a:r>
                    </a:p>
                  </a:txBody>
                  <a:tcPr anchor="ctr"/>
                </a:tc>
                <a:tc>
                  <a:txBody>
                    <a:bodyPr/>
                    <a:lstStyle/>
                    <a:p>
                      <a:pPr algn="ctr">
                        <a:lnSpc>
                          <a:spcPct val="90000"/>
                        </a:lnSpc>
                        <a:buNone/>
                      </a:pPr>
                      <a:r>
                        <a:rPr lang="en-US" altLang="zh-CN" sz="1800">
                          <a:latin typeface="微软雅黑" panose="020B0503020204020204" pitchFamily="34" charset="-122"/>
                          <a:ea typeface="微软雅黑" panose="020B0503020204020204" pitchFamily="34" charset="-122"/>
                        </a:rPr>
                        <a:t>3</a:t>
                      </a:r>
                    </a:p>
                  </a:txBody>
                  <a:tcPr anchor="ctr"/>
                </a:tc>
                <a:tc>
                  <a:txBody>
                    <a:bodyPr/>
                    <a:lstStyle/>
                    <a:p>
                      <a:pPr algn="ctr">
                        <a:lnSpc>
                          <a:spcPct val="90000"/>
                        </a:lnSpc>
                        <a:buNone/>
                      </a:pPr>
                      <a:r>
                        <a:rPr lang="en-US" altLang="zh-CN" sz="1800">
                          <a:latin typeface="微软雅黑" panose="020B0503020204020204" pitchFamily="34" charset="-122"/>
                          <a:ea typeface="微软雅黑" panose="020B0503020204020204" pitchFamily="34" charset="-122"/>
                        </a:rPr>
                        <a:t>4</a:t>
                      </a:r>
                    </a:p>
                  </a:txBody>
                  <a:tcPr anchor="ctr"/>
                </a:tc>
                <a:tc>
                  <a:txBody>
                    <a:bodyPr/>
                    <a:lstStyle/>
                    <a:p>
                      <a:pPr algn="ctr">
                        <a:lnSpc>
                          <a:spcPct val="90000"/>
                        </a:lnSpc>
                        <a:buNone/>
                      </a:pPr>
                      <a:r>
                        <a:rPr lang="en-US" altLang="zh-CN" sz="1800">
                          <a:latin typeface="微软雅黑" panose="020B0503020204020204" pitchFamily="34" charset="-122"/>
                          <a:ea typeface="微软雅黑" panose="020B0503020204020204" pitchFamily="34" charset="-122"/>
                        </a:rPr>
                        <a:t>5</a:t>
                      </a:r>
                    </a:p>
                  </a:txBody>
                  <a:tcPr anchor="ctr"/>
                </a:tc>
                <a:tc>
                  <a:txBody>
                    <a:bodyPr/>
                    <a:lstStyle/>
                    <a:p>
                      <a:pPr algn="ctr">
                        <a:lnSpc>
                          <a:spcPct val="90000"/>
                        </a:lnSpc>
                        <a:buNone/>
                      </a:pPr>
                      <a:r>
                        <a:rPr lang="en-US" altLang="zh-CN" sz="1800">
                          <a:latin typeface="微软雅黑" panose="020B0503020204020204" pitchFamily="34" charset="-122"/>
                          <a:ea typeface="微软雅黑" panose="020B0503020204020204" pitchFamily="34" charset="-122"/>
                        </a:rPr>
                        <a:t>6</a:t>
                      </a:r>
                    </a:p>
                  </a:txBody>
                  <a:tcPr anchor="ctr"/>
                </a:tc>
                <a:tc>
                  <a:txBody>
                    <a:bodyPr/>
                    <a:lstStyle/>
                    <a:p>
                      <a:pPr algn="ctr">
                        <a:lnSpc>
                          <a:spcPct val="90000"/>
                        </a:lnSpc>
                        <a:buNone/>
                      </a:pPr>
                      <a:r>
                        <a:rPr lang="en-US" altLang="zh-CN" sz="1800">
                          <a:latin typeface="微软雅黑" panose="020B0503020204020204" pitchFamily="34" charset="-122"/>
                          <a:ea typeface="微软雅黑" panose="020B0503020204020204" pitchFamily="34" charset="-122"/>
                        </a:rPr>
                        <a:t>7</a:t>
                      </a:r>
                    </a:p>
                  </a:txBody>
                  <a:tcPr anchor="ctr"/>
                </a:tc>
                <a:tc>
                  <a:txBody>
                    <a:bodyPr/>
                    <a:lstStyle/>
                    <a:p>
                      <a:pPr algn="ctr">
                        <a:lnSpc>
                          <a:spcPct val="90000"/>
                        </a:lnSpc>
                        <a:buNone/>
                      </a:pPr>
                      <a:r>
                        <a:rPr lang="en-US" altLang="zh-CN" sz="1800">
                          <a:latin typeface="微软雅黑" panose="020B0503020204020204" pitchFamily="34" charset="-122"/>
                          <a:ea typeface="微软雅黑" panose="020B0503020204020204" pitchFamily="34" charset="-122"/>
                        </a:rPr>
                        <a:t>8</a:t>
                      </a:r>
                    </a:p>
                  </a:txBody>
                  <a:tcPr anchor="ctr"/>
                </a:tc>
                <a:extLst>
                  <a:ext uri="{0D108BD9-81ED-4DB2-BD59-A6C34878D82A}">
                    <a16:rowId xmlns:a16="http://schemas.microsoft.com/office/drawing/2014/main" val="10000"/>
                  </a:ext>
                </a:extLst>
              </a:tr>
              <a:tr h="595630">
                <a:tc rowSpan="3">
                  <a:txBody>
                    <a:bodyPr/>
                    <a:lstStyle/>
                    <a:p>
                      <a:pPr algn="ctr">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情况</a:t>
                      </a:r>
                    </a:p>
                  </a:txBody>
                  <a:tcPr anchor="ctr"/>
                </a:tc>
                <a:tc>
                  <a:txBody>
                    <a:bodyPr/>
                    <a:lstStyle/>
                    <a:p>
                      <a:pPr algn="l">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是否疲倦</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sym typeface="+mn-ea"/>
                        </a:rPr>
                        <a:t>Y</a:t>
                      </a:r>
                      <a:endParaRPr lang="zh-CN" altLang="en-US"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sym typeface="+mn-ea"/>
                        </a:rPr>
                        <a:t>Y</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sym typeface="+mn-ea"/>
                        </a:rPr>
                        <a:t>Y</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sym typeface="+mn-ea"/>
                        </a:rPr>
                        <a:t>Y</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sym typeface="+mn-ea"/>
                        </a:rPr>
                        <a:t>N</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sym typeface="+mn-ea"/>
                        </a:rPr>
                        <a:t>N</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sym typeface="+mn-ea"/>
                        </a:rPr>
                        <a:t>N</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sym typeface="+mn-ea"/>
                        </a:rPr>
                        <a:t>N</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10001"/>
                  </a:ext>
                </a:extLst>
              </a:tr>
              <a:tr h="579120">
                <a:tc vMerge="1">
                  <a:txBody>
                    <a:bodyPr/>
                    <a:lstStyle/>
                    <a:p>
                      <a:endParaRPr lang="zh-CN"/>
                    </a:p>
                  </a:txBody>
                  <a:tcPr anchor="ctr"/>
                </a:tc>
                <a:tc>
                  <a:txBody>
                    <a:bodyPr/>
                    <a:lstStyle/>
                    <a:p>
                      <a:pPr algn="l">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是否对内容感兴趣</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sym typeface="+mn-ea"/>
                        </a:rPr>
                        <a:t>Y</a:t>
                      </a:r>
                      <a:endParaRPr lang="zh-CN" altLang="en-US"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sym typeface="+mn-ea"/>
                        </a:rPr>
                        <a:t>Y</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sym typeface="+mn-ea"/>
                        </a:rPr>
                        <a:t>N</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sym typeface="+mn-ea"/>
                        </a:rPr>
                        <a:t>N</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sym typeface="+mn-ea"/>
                        </a:rPr>
                        <a:t>N</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sym typeface="+mn-ea"/>
                        </a:rPr>
                        <a:t>Y</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sym typeface="+mn-ea"/>
                        </a:rPr>
                        <a:t>Y</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sym typeface="+mn-ea"/>
                        </a:rPr>
                        <a:t>N</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10002"/>
                  </a:ext>
                </a:extLst>
              </a:tr>
              <a:tr h="561975">
                <a:tc vMerge="1">
                  <a:txBody>
                    <a:bodyPr/>
                    <a:lstStyle/>
                    <a:p>
                      <a:endParaRPr lang="zh-CN"/>
                    </a:p>
                  </a:txBody>
                  <a:tcPr anchor="ctr"/>
                </a:tc>
                <a:tc>
                  <a:txBody>
                    <a:bodyPr/>
                    <a:lstStyle/>
                    <a:p>
                      <a:pPr algn="l">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对书中内容是否感到不理解</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sym typeface="+mn-ea"/>
                        </a:rPr>
                        <a:t>Y</a:t>
                      </a:r>
                      <a:endParaRPr lang="zh-CN" altLang="en-US"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N</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sym typeface="+mn-ea"/>
                        </a:rPr>
                        <a:t>N</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sym typeface="+mn-ea"/>
                        </a:rPr>
                        <a:t>Y</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sym typeface="+mn-ea"/>
                        </a:rPr>
                        <a:t>Y</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sym typeface="+mn-ea"/>
                        </a:rPr>
                        <a:t>Y</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sym typeface="+mn-ea"/>
                        </a:rPr>
                        <a:t>N</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sym typeface="+mn-ea"/>
                        </a:rPr>
                        <a:t>N</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10003"/>
                  </a:ext>
                </a:extLst>
              </a:tr>
              <a:tr h="570865">
                <a:tc rowSpan="4">
                  <a:txBody>
                    <a:bodyPr/>
                    <a:lstStyle/>
                    <a:p>
                      <a:pPr algn="ctr">
                        <a:buClrTx/>
                        <a:buSzTx/>
                        <a:buFontTx/>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建议</a:t>
                      </a:r>
                    </a:p>
                  </a:txBody>
                  <a:tcPr anchor="ctr"/>
                </a:tc>
                <a:tc>
                  <a:txBody>
                    <a:bodyPr/>
                    <a:lstStyle/>
                    <a:p>
                      <a:pPr algn="l">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回到本章开头重读</a:t>
                      </a:r>
                    </a:p>
                  </a:txBody>
                  <a:tcPr anchor="ctr"/>
                </a:tc>
                <a:tc>
                  <a:txBody>
                    <a:bodyPr/>
                    <a:lstStyle/>
                    <a:p>
                      <a:pPr algn="ctr">
                        <a:buNone/>
                      </a:pPr>
                      <a:endParaRPr lang="zh-CN" altLang="en-US"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buNone/>
                      </a:pP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buNone/>
                      </a:pP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buNone/>
                      </a:pP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buNone/>
                      </a:pP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buNone/>
                      </a:pPr>
                      <a:r>
                        <a:rPr lang="zh-CN" altLang="en-US" sz="1800" kern="1200">
                          <a:solidFill>
                            <a:srgbClr val="595959"/>
                          </a:solidFill>
                          <a:latin typeface="微软雅黑" panose="020B0503020204020204" pitchFamily="34" charset="-122"/>
                          <a:ea typeface="微软雅黑" panose="020B0503020204020204" pitchFamily="34" charset="-122"/>
                          <a:cs typeface="+mn-cs"/>
                          <a:sym typeface="+mn-ea"/>
                        </a:rPr>
                        <a:t>√</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buNone/>
                      </a:pP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buNone/>
                      </a:pP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10004"/>
                  </a:ext>
                </a:extLst>
              </a:tr>
              <a:tr h="570865">
                <a:tc vMerge="1">
                  <a:txBody>
                    <a:bodyPr/>
                    <a:lstStyle/>
                    <a:p>
                      <a:endParaRPr lang="zh-CN"/>
                    </a:p>
                  </a:txBody>
                  <a:tcPr anchor="ctr"/>
                </a:tc>
                <a:tc>
                  <a:txBody>
                    <a:bodyPr/>
                    <a:lstStyle/>
                    <a:p>
                      <a:pPr algn="l">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继续读下去</a:t>
                      </a:r>
                    </a:p>
                  </a:txBody>
                  <a:tcPr anchor="ctr"/>
                </a:tc>
                <a:tc>
                  <a:txBody>
                    <a:bodyPr/>
                    <a:lstStyle/>
                    <a:p>
                      <a:pPr algn="ctr">
                        <a:buNone/>
                      </a:pPr>
                      <a:endParaRPr lang="zh-CN" altLang="en-US"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buNone/>
                      </a:pP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buNone/>
                      </a:pP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buNone/>
                      </a:pP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buNone/>
                      </a:pP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buNone/>
                      </a:pP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buNone/>
                      </a:pPr>
                      <a:r>
                        <a:rPr lang="zh-CN" altLang="en-US" sz="1800" kern="1200">
                          <a:solidFill>
                            <a:srgbClr val="595959"/>
                          </a:solidFill>
                          <a:latin typeface="微软雅黑" panose="020B0503020204020204" pitchFamily="34" charset="-122"/>
                          <a:ea typeface="微软雅黑" panose="020B0503020204020204" pitchFamily="34" charset="-122"/>
                          <a:cs typeface="+mn-cs"/>
                          <a:sym typeface="+mn-ea"/>
                        </a:rPr>
                        <a:t>√</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buNone/>
                      </a:pP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10005"/>
                  </a:ext>
                </a:extLst>
              </a:tr>
              <a:tr h="571500">
                <a:tc vMerge="1">
                  <a:txBody>
                    <a:bodyPr/>
                    <a:lstStyle/>
                    <a:p>
                      <a:endParaRPr lang="zh-CN"/>
                    </a:p>
                  </a:txBody>
                  <a:tcPr anchor="ctr"/>
                </a:tc>
                <a:tc>
                  <a:txBody>
                    <a:bodyPr/>
                    <a:lstStyle/>
                    <a:p>
                      <a:pPr algn="l">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跳到下一章去读</a:t>
                      </a:r>
                    </a:p>
                  </a:txBody>
                  <a:tcPr anchor="ctr"/>
                </a:tc>
                <a:tc>
                  <a:txBody>
                    <a:bodyPr/>
                    <a:lstStyle/>
                    <a:p>
                      <a:pPr algn="ctr">
                        <a:buNone/>
                      </a:pPr>
                      <a:endParaRPr lang="zh-CN" altLang="en-US"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buNone/>
                      </a:pP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buNone/>
                      </a:pP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buNone/>
                      </a:pP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buNone/>
                      </a:pPr>
                      <a:r>
                        <a:rPr lang="zh-CN" altLang="en-US" sz="1800" kern="1200">
                          <a:solidFill>
                            <a:srgbClr val="595959"/>
                          </a:solidFill>
                          <a:latin typeface="微软雅黑" panose="020B0503020204020204" pitchFamily="34" charset="-122"/>
                          <a:ea typeface="微软雅黑" panose="020B0503020204020204" pitchFamily="34" charset="-122"/>
                          <a:cs typeface="+mn-cs"/>
                          <a:sym typeface="+mn-ea"/>
                        </a:rPr>
                        <a:t>√</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buNone/>
                      </a:pP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buNone/>
                      </a:pP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buNone/>
                      </a:pPr>
                      <a:r>
                        <a:rPr lang="zh-CN" altLang="en-US" sz="1800" kern="1200">
                          <a:solidFill>
                            <a:srgbClr val="595959"/>
                          </a:solidFill>
                          <a:latin typeface="微软雅黑" panose="020B0503020204020204" pitchFamily="34" charset="-122"/>
                          <a:ea typeface="微软雅黑" panose="020B0503020204020204" pitchFamily="34" charset="-122"/>
                          <a:cs typeface="+mn-cs"/>
                          <a:sym typeface="+mn-ea"/>
                        </a:rPr>
                        <a:t>√</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10006"/>
                  </a:ext>
                </a:extLst>
              </a:tr>
              <a:tr h="570865">
                <a:tc vMerge="1">
                  <a:txBody>
                    <a:bodyPr/>
                    <a:lstStyle/>
                    <a:p>
                      <a:endParaRPr lang="zh-CN"/>
                    </a:p>
                  </a:txBody>
                  <a:tcPr anchor="ctr"/>
                </a:tc>
                <a:tc>
                  <a:txBody>
                    <a:bodyPr/>
                    <a:lstStyle/>
                    <a:p>
                      <a:pPr algn="l">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停止阅读并休息</a:t>
                      </a:r>
                    </a:p>
                  </a:txBody>
                  <a:tcPr anchor="ctr"/>
                </a:tc>
                <a:tc>
                  <a:txBody>
                    <a:bodyPr/>
                    <a:lstStyle/>
                    <a:p>
                      <a:pPr algn="ctr">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a:t>
                      </a:r>
                    </a:p>
                  </a:txBody>
                  <a:tcPr anchor="ctr"/>
                </a:tc>
                <a:tc>
                  <a:txBody>
                    <a:bodyPr/>
                    <a:lstStyle/>
                    <a:p>
                      <a:pPr algn="ctr">
                        <a:buNone/>
                      </a:pPr>
                      <a:r>
                        <a:rPr lang="zh-CN" altLang="en-US" sz="1800" kern="1200">
                          <a:solidFill>
                            <a:srgbClr val="595959"/>
                          </a:solidFill>
                          <a:latin typeface="微软雅黑" panose="020B0503020204020204" pitchFamily="34" charset="-122"/>
                          <a:ea typeface="微软雅黑" panose="020B0503020204020204" pitchFamily="34" charset="-122"/>
                          <a:cs typeface="+mn-cs"/>
                          <a:sym typeface="+mn-ea"/>
                        </a:rPr>
                        <a:t>√</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buNone/>
                      </a:pPr>
                      <a:r>
                        <a:rPr lang="zh-CN" altLang="en-US" sz="1800" kern="1200">
                          <a:solidFill>
                            <a:srgbClr val="595959"/>
                          </a:solidFill>
                          <a:latin typeface="微软雅黑" panose="020B0503020204020204" pitchFamily="34" charset="-122"/>
                          <a:ea typeface="微软雅黑" panose="020B0503020204020204" pitchFamily="34" charset="-122"/>
                          <a:cs typeface="+mn-cs"/>
                          <a:sym typeface="+mn-ea"/>
                        </a:rPr>
                        <a:t>√</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buNone/>
                      </a:pPr>
                      <a:r>
                        <a:rPr lang="zh-CN" altLang="en-US" sz="1800" kern="1200">
                          <a:solidFill>
                            <a:srgbClr val="595959"/>
                          </a:solidFill>
                          <a:latin typeface="微软雅黑" panose="020B0503020204020204" pitchFamily="34" charset="-122"/>
                          <a:ea typeface="微软雅黑" panose="020B0503020204020204" pitchFamily="34" charset="-122"/>
                          <a:cs typeface="+mn-cs"/>
                          <a:sym typeface="+mn-ea"/>
                        </a:rPr>
                        <a:t>√</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buNone/>
                      </a:pP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buNone/>
                      </a:pP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buNone/>
                      </a:pP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buNone/>
                      </a:pP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10007"/>
                  </a:ext>
                </a:extLst>
              </a:tr>
            </a:tbl>
          </a:graphicData>
        </a:graphic>
      </p:graphicFrame>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2.3.2	决策表法概述</a:t>
            </a: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35"/>
          <p:cNvSpPr txBox="1">
            <a:spLocks noChangeArrowheads="1"/>
          </p:cNvSpPr>
          <p:nvPr/>
        </p:nvSpPr>
        <p:spPr bwMode="auto">
          <a:xfrm>
            <a:off x="1054735" y="909955"/>
            <a:ext cx="10327005" cy="45986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buClrTx/>
              <a:buSzTx/>
              <a:buFontTx/>
            </a:pPr>
            <a:r>
              <a:rPr lang="zh-CN" altLang="en-US" sz="1800" dirty="0">
                <a:solidFill>
                  <a:srgbClr val="0070C0"/>
                </a:solidFill>
                <a:latin typeface="微软雅黑" panose="020B0503020204020204" pitchFamily="34" charset="-122"/>
                <a:ea typeface="微软雅黑" panose="020B0503020204020204" pitchFamily="34" charset="-122"/>
              </a:rPr>
              <a:t>决策表</a:t>
            </a:r>
            <a:r>
              <a:rPr lang="zh-CN" altLang="en-US" sz="1800" dirty="0">
                <a:solidFill>
                  <a:srgbClr val="595959"/>
                </a:solidFill>
                <a:latin typeface="微软雅黑" panose="020B0503020204020204" pitchFamily="34" charset="-122"/>
                <a:ea typeface="微软雅黑" panose="020B0503020204020204" pitchFamily="34" charset="-122"/>
              </a:rPr>
              <a:t>通常</a:t>
            </a:r>
            <a:r>
              <a:rPr lang="zh-CN" altLang="en-US" sz="1800" dirty="0">
                <a:solidFill>
                  <a:srgbClr val="0070C0"/>
                </a:solidFill>
                <a:latin typeface="微软雅黑" panose="020B0503020204020204" pitchFamily="34" charset="-122"/>
                <a:ea typeface="微软雅黑" panose="020B0503020204020204" pitchFamily="34" charset="-122"/>
              </a:rPr>
              <a:t>由4</a:t>
            </a:r>
            <a:r>
              <a:rPr lang="zh-CN" altLang="en-US" sz="1800" dirty="0">
                <a:solidFill>
                  <a:srgbClr val="595959"/>
                </a:solidFill>
                <a:latin typeface="微软雅黑" panose="020B0503020204020204" pitchFamily="34" charset="-122"/>
                <a:ea typeface="微软雅黑" panose="020B0503020204020204" pitchFamily="34" charset="-122"/>
              </a:rPr>
              <a:t>个</a:t>
            </a:r>
            <a:r>
              <a:rPr lang="zh-CN" altLang="en-US" sz="1800" dirty="0">
                <a:solidFill>
                  <a:srgbClr val="0070C0"/>
                </a:solidFill>
                <a:latin typeface="微软雅黑" panose="020B0503020204020204" pitchFamily="34" charset="-122"/>
                <a:ea typeface="微软雅黑" panose="020B0503020204020204" pitchFamily="34" charset="-122"/>
              </a:rPr>
              <a:t>部分组成</a:t>
            </a:r>
            <a:r>
              <a:rPr lang="zh-CN" altLang="en-US" sz="1800" dirty="0">
                <a:solidFill>
                  <a:srgbClr val="595959"/>
                </a:solidFill>
                <a:latin typeface="微软雅黑" panose="020B0503020204020204" pitchFamily="34" charset="-122"/>
                <a:ea typeface="微软雅黑" panose="020B0503020204020204" pitchFamily="34" charset="-122"/>
              </a:rPr>
              <a:t>，具体如下。</a:t>
            </a:r>
          </a:p>
          <a:p>
            <a:pPr marL="285750" indent="-285750" algn="just">
              <a:lnSpc>
                <a:spcPct val="150000"/>
              </a:lnSpc>
              <a:buClrTx/>
              <a:buSzTx/>
              <a:buFont typeface="Wingdings" panose="05000000000000000000" charset="0"/>
              <a:buChar char="l"/>
            </a:pPr>
            <a:r>
              <a:rPr lang="zh-CN" altLang="en-US" sz="1600" dirty="0">
                <a:solidFill>
                  <a:srgbClr val="0070C0"/>
                </a:solidFill>
                <a:latin typeface="微软雅黑" panose="020B0503020204020204" pitchFamily="34" charset="-122"/>
                <a:ea typeface="微软雅黑" panose="020B0503020204020204" pitchFamily="34" charset="-122"/>
              </a:rPr>
              <a:t>条件桩</a:t>
            </a:r>
            <a:r>
              <a:rPr lang="zh-CN" altLang="en-US" sz="1600" dirty="0">
                <a:solidFill>
                  <a:srgbClr val="595959"/>
                </a:solidFill>
                <a:latin typeface="微软雅黑" panose="020B0503020204020204" pitchFamily="34" charset="-122"/>
                <a:ea typeface="微软雅黑" panose="020B0503020204020204" pitchFamily="34" charset="-122"/>
              </a:rPr>
              <a:t>：用于</a:t>
            </a:r>
            <a:r>
              <a:rPr lang="zh-CN" altLang="en-US" sz="1600" dirty="0">
                <a:solidFill>
                  <a:srgbClr val="0070C0"/>
                </a:solidFill>
                <a:latin typeface="微软雅黑" panose="020B0503020204020204" pitchFamily="34" charset="-122"/>
                <a:ea typeface="微软雅黑" panose="020B0503020204020204" pitchFamily="34" charset="-122"/>
              </a:rPr>
              <a:t>列出问题的所有条件</a:t>
            </a:r>
            <a:r>
              <a:rPr lang="zh-CN" altLang="en-US" sz="1600" dirty="0">
                <a:solidFill>
                  <a:srgbClr val="595959"/>
                </a:solidFill>
                <a:latin typeface="微软雅黑" panose="020B0503020204020204" pitchFamily="34" charset="-122"/>
                <a:ea typeface="微软雅黑" panose="020B0503020204020204" pitchFamily="34" charset="-122"/>
              </a:rPr>
              <a:t>，除了某些问题对条件的先后次序有要求外，</a:t>
            </a:r>
            <a:r>
              <a:rPr lang="zh-CN" altLang="en-US" sz="1600" dirty="0">
                <a:solidFill>
                  <a:srgbClr val="0070C0"/>
                </a:solidFill>
                <a:latin typeface="微软雅黑" panose="020B0503020204020204" pitchFamily="34" charset="-122"/>
                <a:ea typeface="微软雅黑" panose="020B0503020204020204" pitchFamily="34" charset="-122"/>
              </a:rPr>
              <a:t>通常决策表中所列条件的先后次序都无关紧要</a:t>
            </a:r>
            <a:r>
              <a:rPr lang="zh-CN" altLang="en-US" sz="1600" dirty="0">
                <a:solidFill>
                  <a:srgbClr val="595959"/>
                </a:solidFill>
                <a:latin typeface="微软雅黑" panose="020B0503020204020204" pitchFamily="34" charset="-122"/>
                <a:ea typeface="微软雅黑" panose="020B0503020204020204" pitchFamily="34" charset="-122"/>
              </a:rPr>
              <a:t>。</a:t>
            </a:r>
          </a:p>
          <a:p>
            <a:pPr marL="285750" indent="-285750" algn="just">
              <a:lnSpc>
                <a:spcPct val="150000"/>
              </a:lnSpc>
              <a:buClrTx/>
              <a:buSzTx/>
              <a:buFont typeface="Wingdings" panose="05000000000000000000" charset="0"/>
              <a:buChar char="l"/>
            </a:pPr>
            <a:r>
              <a:rPr lang="zh-CN" altLang="en-US" sz="1600" dirty="0">
                <a:solidFill>
                  <a:srgbClr val="0070C0"/>
                </a:solidFill>
                <a:latin typeface="微软雅黑" panose="020B0503020204020204" pitchFamily="34" charset="-122"/>
                <a:ea typeface="微软雅黑" panose="020B0503020204020204" pitchFamily="34" charset="-122"/>
              </a:rPr>
              <a:t>条件项</a:t>
            </a:r>
            <a:r>
              <a:rPr lang="zh-CN" altLang="en-US" sz="1600" dirty="0">
                <a:solidFill>
                  <a:srgbClr val="595959"/>
                </a:solidFill>
                <a:latin typeface="微软雅黑" panose="020B0503020204020204" pitchFamily="34" charset="-122"/>
                <a:ea typeface="微软雅黑" panose="020B0503020204020204" pitchFamily="34" charset="-122"/>
              </a:rPr>
              <a:t>：</a:t>
            </a:r>
            <a:r>
              <a:rPr lang="zh-CN" altLang="en-US" sz="1600" dirty="0">
                <a:solidFill>
                  <a:srgbClr val="0070C0"/>
                </a:solidFill>
                <a:latin typeface="微软雅黑" panose="020B0503020204020204" pitchFamily="34" charset="-122"/>
                <a:ea typeface="微软雅黑" panose="020B0503020204020204" pitchFamily="34" charset="-122"/>
              </a:rPr>
              <a:t>条件桩的所有可能取值</a:t>
            </a:r>
            <a:r>
              <a:rPr lang="zh-CN" altLang="en-US" sz="1600" dirty="0">
                <a:solidFill>
                  <a:srgbClr val="595959"/>
                </a:solidFill>
                <a:latin typeface="微软雅黑" panose="020B0503020204020204" pitchFamily="34" charset="-122"/>
                <a:ea typeface="微软雅黑" panose="020B0503020204020204" pitchFamily="34" charset="-122"/>
              </a:rPr>
              <a:t>。</a:t>
            </a:r>
          </a:p>
          <a:p>
            <a:pPr marL="285750" indent="-285750" algn="just">
              <a:lnSpc>
                <a:spcPct val="150000"/>
              </a:lnSpc>
              <a:buClrTx/>
              <a:buSzTx/>
              <a:buFont typeface="Wingdings" panose="05000000000000000000" charset="0"/>
              <a:buChar char="l"/>
            </a:pPr>
            <a:r>
              <a:rPr lang="zh-CN" altLang="en-US" sz="1600" dirty="0">
                <a:solidFill>
                  <a:srgbClr val="0070C0"/>
                </a:solidFill>
                <a:latin typeface="微软雅黑" panose="020B0503020204020204" pitchFamily="34" charset="-122"/>
                <a:ea typeface="微软雅黑" panose="020B0503020204020204" pitchFamily="34" charset="-122"/>
              </a:rPr>
              <a:t>动作桩</a:t>
            </a:r>
            <a:r>
              <a:rPr lang="zh-CN" altLang="en-US" sz="1600" dirty="0">
                <a:solidFill>
                  <a:srgbClr val="595959"/>
                </a:solidFill>
                <a:latin typeface="微软雅黑" panose="020B0503020204020204" pitchFamily="34" charset="-122"/>
                <a:ea typeface="微软雅黑" panose="020B0503020204020204" pitchFamily="34" charset="-122"/>
              </a:rPr>
              <a:t>：对</a:t>
            </a:r>
            <a:r>
              <a:rPr lang="zh-CN" altLang="en-US" sz="1600" dirty="0">
                <a:solidFill>
                  <a:srgbClr val="0070C0"/>
                </a:solidFill>
                <a:latin typeface="微软雅黑" panose="020B0503020204020204" pitchFamily="34" charset="-122"/>
                <a:ea typeface="微软雅黑" panose="020B0503020204020204" pitchFamily="34" charset="-122"/>
              </a:rPr>
              <a:t>问题可能采取的动作</a:t>
            </a:r>
            <a:r>
              <a:rPr lang="zh-CN" altLang="en-US" sz="1600" dirty="0">
                <a:solidFill>
                  <a:srgbClr val="595959"/>
                </a:solidFill>
                <a:latin typeface="微软雅黑" panose="020B0503020204020204" pitchFamily="34" charset="-122"/>
                <a:ea typeface="微软雅黑" panose="020B0503020204020204" pitchFamily="34" charset="-122"/>
              </a:rPr>
              <a:t>，这些动作一般</a:t>
            </a:r>
            <a:r>
              <a:rPr lang="zh-CN" altLang="en-US" sz="1600" dirty="0">
                <a:solidFill>
                  <a:srgbClr val="0070C0"/>
                </a:solidFill>
                <a:latin typeface="微软雅黑" panose="020B0503020204020204" pitchFamily="34" charset="-122"/>
                <a:ea typeface="微软雅黑" panose="020B0503020204020204" pitchFamily="34" charset="-122"/>
              </a:rPr>
              <a:t>没有先后次序</a:t>
            </a:r>
            <a:r>
              <a:rPr lang="zh-CN" altLang="en-US" sz="1600" dirty="0">
                <a:solidFill>
                  <a:srgbClr val="595959"/>
                </a:solidFill>
                <a:latin typeface="微软雅黑" panose="020B0503020204020204" pitchFamily="34" charset="-122"/>
                <a:ea typeface="微软雅黑" panose="020B0503020204020204" pitchFamily="34" charset="-122"/>
              </a:rPr>
              <a:t>之分。</a:t>
            </a:r>
          </a:p>
          <a:p>
            <a:pPr marL="285750" indent="-285750" algn="just">
              <a:lnSpc>
                <a:spcPct val="150000"/>
              </a:lnSpc>
              <a:buClrTx/>
              <a:buSzTx/>
              <a:buFont typeface="Wingdings" panose="05000000000000000000" charset="0"/>
              <a:buChar char="l"/>
            </a:pPr>
            <a:r>
              <a:rPr lang="zh-CN" altLang="en-US" sz="1600" dirty="0">
                <a:solidFill>
                  <a:srgbClr val="0070C0"/>
                </a:solidFill>
                <a:latin typeface="微软雅黑" panose="020B0503020204020204" pitchFamily="34" charset="-122"/>
                <a:ea typeface="微软雅黑" panose="020B0503020204020204" pitchFamily="34" charset="-122"/>
              </a:rPr>
              <a:t>动作项</a:t>
            </a:r>
            <a:r>
              <a:rPr lang="zh-CN" altLang="en-US" sz="1600" dirty="0">
                <a:solidFill>
                  <a:srgbClr val="595959"/>
                </a:solidFill>
                <a:latin typeface="微软雅黑" panose="020B0503020204020204" pitchFamily="34" charset="-122"/>
                <a:ea typeface="微软雅黑" panose="020B0503020204020204" pitchFamily="34" charset="-122"/>
              </a:rPr>
              <a:t>：指出在</a:t>
            </a:r>
            <a:r>
              <a:rPr lang="zh-CN" altLang="en-US" sz="1600" dirty="0">
                <a:solidFill>
                  <a:srgbClr val="0070C0"/>
                </a:solidFill>
                <a:latin typeface="微软雅黑" panose="020B0503020204020204" pitchFamily="34" charset="-122"/>
                <a:ea typeface="微软雅黑" panose="020B0503020204020204" pitchFamily="34" charset="-122"/>
              </a:rPr>
              <a:t>条件项的各组取值</a:t>
            </a:r>
            <a:r>
              <a:rPr lang="zh-CN" altLang="en-US" sz="1600" dirty="0">
                <a:solidFill>
                  <a:srgbClr val="595959"/>
                </a:solidFill>
                <a:latin typeface="微软雅黑" panose="020B0503020204020204" pitchFamily="34" charset="-122"/>
                <a:ea typeface="微软雅黑" panose="020B0503020204020204" pitchFamily="34" charset="-122"/>
              </a:rPr>
              <a:t>情况下应</a:t>
            </a:r>
            <a:r>
              <a:rPr lang="zh-CN" altLang="en-US" sz="1600" dirty="0">
                <a:solidFill>
                  <a:srgbClr val="0070C0"/>
                </a:solidFill>
                <a:latin typeface="微软雅黑" panose="020B0503020204020204" pitchFamily="34" charset="-122"/>
                <a:ea typeface="微软雅黑" panose="020B0503020204020204" pitchFamily="34" charset="-122"/>
              </a:rPr>
              <a:t>采取的动作</a:t>
            </a:r>
            <a:r>
              <a:rPr lang="zh-CN" altLang="en-US" sz="1600" dirty="0">
                <a:solidFill>
                  <a:srgbClr val="595959"/>
                </a:solidFill>
                <a:latin typeface="微软雅黑" panose="020B0503020204020204" pitchFamily="34" charset="-122"/>
                <a:ea typeface="微软雅黑" panose="020B0503020204020204" pitchFamily="34" charset="-122"/>
              </a:rPr>
              <a:t>。</a:t>
            </a:r>
          </a:p>
          <a:p>
            <a:pPr indent="457200" algn="just">
              <a:lnSpc>
                <a:spcPct val="150000"/>
              </a:lnSpc>
              <a:buClrTx/>
              <a:buSzTx/>
              <a:buFont typeface="Wingdings" panose="05000000000000000000" charset="0"/>
              <a:buNone/>
            </a:pPr>
            <a:r>
              <a:rPr lang="zh-CN" altLang="en-US" sz="1600" dirty="0">
                <a:solidFill>
                  <a:srgbClr val="595959"/>
                </a:solidFill>
                <a:latin typeface="微软雅黑" panose="020B0503020204020204" pitchFamily="34" charset="-122"/>
                <a:ea typeface="微软雅黑" panose="020B0503020204020204" pitchFamily="34" charset="-122"/>
              </a:rPr>
              <a:t>这4个组成部分对应到</a:t>
            </a:r>
            <a:r>
              <a:rPr lang="zh-CN" altLang="en-US" sz="1600" dirty="0">
                <a:solidFill>
                  <a:srgbClr val="595959"/>
                </a:solidFill>
                <a:latin typeface="微软雅黑" panose="020B0503020204020204" pitchFamily="34" charset="-122"/>
                <a:ea typeface="微软雅黑" panose="020B0503020204020204" pitchFamily="34" charset="-122"/>
                <a:sym typeface="+mn-ea"/>
              </a:rPr>
              <a:t>“图书阅读指南”决策表</a:t>
            </a:r>
            <a:r>
              <a:rPr lang="zh-CN" altLang="en-US" sz="1600" dirty="0">
                <a:solidFill>
                  <a:srgbClr val="595959"/>
                </a:solidFill>
                <a:latin typeface="微软雅黑" panose="020B0503020204020204" pitchFamily="34" charset="-122"/>
                <a:ea typeface="微软雅黑" panose="020B0503020204020204" pitchFamily="34" charset="-122"/>
              </a:rPr>
              <a:t>中，</a:t>
            </a:r>
            <a:r>
              <a:rPr lang="zh-CN" altLang="en-US" sz="1600" dirty="0">
                <a:solidFill>
                  <a:srgbClr val="0070C0"/>
                </a:solidFill>
                <a:latin typeface="微软雅黑" panose="020B0503020204020204" pitchFamily="34" charset="-122"/>
                <a:ea typeface="微软雅黑" panose="020B0503020204020204" pitchFamily="34" charset="-122"/>
              </a:rPr>
              <a:t>条件桩</a:t>
            </a:r>
            <a:r>
              <a:rPr lang="zh-CN" altLang="en-US" sz="1600" dirty="0">
                <a:solidFill>
                  <a:srgbClr val="595959"/>
                </a:solidFill>
                <a:latin typeface="微软雅黑" panose="020B0503020204020204" pitchFamily="34" charset="-122"/>
                <a:ea typeface="微软雅黑" panose="020B0503020204020204" pitchFamily="34" charset="-122"/>
              </a:rPr>
              <a:t>包括是否疲倦、是否对内容感兴趣、对书中内容是否感到不理解；</a:t>
            </a:r>
            <a:r>
              <a:rPr lang="zh-CN" altLang="en-US" sz="1600" dirty="0">
                <a:solidFill>
                  <a:srgbClr val="0070C0"/>
                </a:solidFill>
                <a:latin typeface="微软雅黑" panose="020B0503020204020204" pitchFamily="34" charset="-122"/>
                <a:ea typeface="微软雅黑" panose="020B0503020204020204" pitchFamily="34" charset="-122"/>
              </a:rPr>
              <a:t>条件项</a:t>
            </a:r>
            <a:r>
              <a:rPr lang="zh-CN" altLang="en-US" sz="1600" dirty="0">
                <a:solidFill>
                  <a:srgbClr val="595959"/>
                </a:solidFill>
                <a:latin typeface="微软雅黑" panose="020B0503020204020204" pitchFamily="34" charset="-122"/>
                <a:ea typeface="微软雅黑" panose="020B0503020204020204" pitchFamily="34" charset="-122"/>
              </a:rPr>
              <a:t>包括“Y”与“N”；</a:t>
            </a:r>
            <a:r>
              <a:rPr lang="zh-CN" altLang="en-US" sz="1600" dirty="0">
                <a:solidFill>
                  <a:srgbClr val="0070C0"/>
                </a:solidFill>
                <a:latin typeface="微软雅黑" panose="020B0503020204020204" pitchFamily="34" charset="-122"/>
                <a:ea typeface="微软雅黑" panose="020B0503020204020204" pitchFamily="34" charset="-122"/>
              </a:rPr>
              <a:t>动作桩</a:t>
            </a:r>
            <a:r>
              <a:rPr lang="zh-CN" altLang="en-US" sz="1600" dirty="0">
                <a:solidFill>
                  <a:srgbClr val="595959"/>
                </a:solidFill>
                <a:latin typeface="微软雅黑" panose="020B0503020204020204" pitchFamily="34" charset="-122"/>
                <a:ea typeface="微软雅黑" panose="020B0503020204020204" pitchFamily="34" charset="-122"/>
              </a:rPr>
              <a:t>包括回到本章开头重读、继续读下去、跳到下一章去读、停止阅读并休息；</a:t>
            </a:r>
            <a:r>
              <a:rPr lang="zh-CN" altLang="en-US" sz="1600" dirty="0">
                <a:solidFill>
                  <a:srgbClr val="0070C0"/>
                </a:solidFill>
                <a:latin typeface="微软雅黑" panose="020B0503020204020204" pitchFamily="34" charset="-122"/>
                <a:ea typeface="微软雅黑" panose="020B0503020204020204" pitchFamily="34" charset="-122"/>
              </a:rPr>
              <a:t>动作项</a:t>
            </a:r>
            <a:r>
              <a:rPr lang="zh-CN" altLang="en-US" sz="1600" dirty="0">
                <a:solidFill>
                  <a:srgbClr val="595959"/>
                </a:solidFill>
                <a:latin typeface="微软雅黑" panose="020B0503020204020204" pitchFamily="34" charset="-122"/>
                <a:ea typeface="微软雅黑" panose="020B0503020204020204" pitchFamily="34" charset="-122"/>
              </a:rPr>
              <a:t>是指在综合情况下所采取的具体动作，例如“√”表示确认执行综合情况下采取的具体动作，动作项与条件项紧密相关，它的取值取决于条件项的各组取值情况。</a:t>
            </a:r>
          </a:p>
          <a:p>
            <a:pPr indent="457200" algn="just">
              <a:lnSpc>
                <a:spcPct val="150000"/>
              </a:lnSpc>
              <a:buClrTx/>
              <a:buSzTx/>
              <a:buFont typeface="Wingdings" panose="05000000000000000000" charset="0"/>
              <a:buNone/>
            </a:pPr>
            <a:r>
              <a:rPr lang="zh-CN" altLang="en-US" sz="1600" dirty="0">
                <a:solidFill>
                  <a:srgbClr val="595959"/>
                </a:solidFill>
                <a:latin typeface="微软雅黑" panose="020B0503020204020204" pitchFamily="34" charset="-122"/>
                <a:ea typeface="微软雅黑" panose="020B0503020204020204" pitchFamily="34" charset="-122"/>
              </a:rPr>
              <a:t>在决策表中，任何一个条件组合的特定取值及其相应要执行的操作称为一条规则，即</a:t>
            </a:r>
            <a:r>
              <a:rPr lang="zh-CN" altLang="en-US" sz="1600" dirty="0">
                <a:solidFill>
                  <a:srgbClr val="0070C0"/>
                </a:solidFill>
                <a:latin typeface="微软雅黑" panose="020B0503020204020204" pitchFamily="34" charset="-122"/>
                <a:ea typeface="微软雅黑" panose="020B0503020204020204" pitchFamily="34" charset="-122"/>
              </a:rPr>
              <a:t>决策表中的每一列就是一条规则</a:t>
            </a:r>
            <a:r>
              <a:rPr lang="zh-CN" altLang="en-US" sz="1600" dirty="0">
                <a:solidFill>
                  <a:srgbClr val="595959"/>
                </a:solidFill>
                <a:latin typeface="微软雅黑" panose="020B0503020204020204" pitchFamily="34" charset="-122"/>
                <a:ea typeface="微软雅黑" panose="020B0503020204020204" pitchFamily="34" charset="-122"/>
              </a:rPr>
              <a:t>，每一列都</a:t>
            </a:r>
            <a:r>
              <a:rPr lang="zh-CN" altLang="en-US" sz="1600" dirty="0">
                <a:solidFill>
                  <a:srgbClr val="0070C0"/>
                </a:solidFill>
                <a:latin typeface="微软雅黑" panose="020B0503020204020204" pitchFamily="34" charset="-122"/>
                <a:ea typeface="微软雅黑" panose="020B0503020204020204" pitchFamily="34" charset="-122"/>
              </a:rPr>
              <a:t>可以用于设计一个测试用例</a:t>
            </a:r>
            <a:r>
              <a:rPr lang="zh-CN" altLang="en-US" sz="1600" dirty="0">
                <a:solidFill>
                  <a:srgbClr val="595959"/>
                </a:solidFill>
                <a:latin typeface="微软雅黑" panose="020B0503020204020204" pitchFamily="34" charset="-122"/>
                <a:ea typeface="微软雅黑" panose="020B0503020204020204" pitchFamily="34" charset="-122"/>
              </a:rPr>
              <a:t>。根据决策表设计测试用例可以</a:t>
            </a:r>
            <a:r>
              <a:rPr lang="zh-CN" altLang="en-US" sz="1600" dirty="0">
                <a:solidFill>
                  <a:srgbClr val="0070C0"/>
                </a:solidFill>
                <a:latin typeface="微软雅黑" panose="020B0503020204020204" pitchFamily="34" charset="-122"/>
                <a:ea typeface="微软雅黑" panose="020B0503020204020204" pitchFamily="34" charset="-122"/>
              </a:rPr>
              <a:t>避免遗漏</a:t>
            </a:r>
            <a:r>
              <a:rPr lang="zh-CN" altLang="en-US" sz="1600" dirty="0">
                <a:solidFill>
                  <a:srgbClr val="595959"/>
                </a:solidFill>
                <a:latin typeface="微软雅黑" panose="020B0503020204020204" pitchFamily="34" charset="-122"/>
                <a:ea typeface="微软雅黑" panose="020B0503020204020204" pitchFamily="34" charset="-122"/>
              </a:rPr>
              <a:t>。</a:t>
            </a:r>
          </a:p>
        </p:txBody>
      </p:sp>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2.3.2	决策表法概述</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35"/>
          <p:cNvSpPr txBox="1">
            <a:spLocks noChangeArrowheads="1"/>
          </p:cNvSpPr>
          <p:nvPr/>
        </p:nvSpPr>
        <p:spPr bwMode="auto">
          <a:xfrm>
            <a:off x="4871085" y="1292225"/>
            <a:ext cx="6289675" cy="4644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indent="457200" algn="just">
              <a:lnSpc>
                <a:spcPct val="150000"/>
              </a:lnSpc>
              <a:buClrTx/>
              <a:buSzTx/>
              <a:buFontTx/>
            </a:pPr>
            <a:r>
              <a:rPr lang="zh-CN" altLang="en-US" sz="1800" dirty="0">
                <a:solidFill>
                  <a:srgbClr val="595959"/>
                </a:solidFill>
                <a:latin typeface="微软雅黑" panose="020B0503020204020204" pitchFamily="34" charset="-122"/>
                <a:ea typeface="微软雅黑" panose="020B0503020204020204" pitchFamily="34" charset="-122"/>
              </a:rPr>
              <a:t>在实际测试中，条件桩通常有多个，而且</a:t>
            </a:r>
            <a:r>
              <a:rPr lang="zh-CN" altLang="en-US" sz="1800" dirty="0">
                <a:solidFill>
                  <a:srgbClr val="0070C0"/>
                </a:solidFill>
                <a:latin typeface="微软雅黑" panose="020B0503020204020204" pitchFamily="34" charset="-122"/>
                <a:ea typeface="微软雅黑" panose="020B0503020204020204" pitchFamily="34" charset="-122"/>
              </a:rPr>
              <a:t>每个条件桩</a:t>
            </a:r>
            <a:r>
              <a:rPr lang="zh-CN" altLang="en-US" sz="1800" dirty="0">
                <a:solidFill>
                  <a:srgbClr val="595959"/>
                </a:solidFill>
                <a:latin typeface="微软雅黑" panose="020B0503020204020204" pitchFamily="34" charset="-122"/>
                <a:ea typeface="微软雅黑" panose="020B0503020204020204" pitchFamily="34" charset="-122"/>
              </a:rPr>
              <a:t>都</a:t>
            </a:r>
            <a:r>
              <a:rPr lang="zh-CN" altLang="en-US" sz="1800" dirty="0">
                <a:solidFill>
                  <a:srgbClr val="0070C0"/>
                </a:solidFill>
                <a:latin typeface="微软雅黑" panose="020B0503020204020204" pitchFamily="34" charset="-122"/>
                <a:ea typeface="微软雅黑" panose="020B0503020204020204" pitchFamily="34" charset="-122"/>
              </a:rPr>
              <a:t>有真、假</a:t>
            </a:r>
            <a:r>
              <a:rPr lang="en-US" altLang="zh-CN" sz="1800" dirty="0">
                <a:solidFill>
                  <a:srgbClr val="0070C0"/>
                </a:solidFill>
                <a:latin typeface="微软雅黑" panose="020B0503020204020204" pitchFamily="34" charset="-122"/>
                <a:ea typeface="微软雅黑" panose="020B0503020204020204" pitchFamily="34" charset="-122"/>
              </a:rPr>
              <a:t>2</a:t>
            </a:r>
            <a:r>
              <a:rPr lang="zh-CN" altLang="en-US" sz="1800" dirty="0">
                <a:solidFill>
                  <a:srgbClr val="0070C0"/>
                </a:solidFill>
                <a:latin typeface="微软雅黑" panose="020B0503020204020204" pitchFamily="34" charset="-122"/>
                <a:ea typeface="微软雅黑" panose="020B0503020204020204" pitchFamily="34" charset="-122"/>
              </a:rPr>
              <a:t>个条件项</a:t>
            </a:r>
            <a:r>
              <a:rPr lang="zh-CN" altLang="en-US" sz="1800" dirty="0">
                <a:solidFill>
                  <a:srgbClr val="595959"/>
                </a:solidFill>
                <a:latin typeface="微软雅黑" panose="020B0503020204020204" pitchFamily="34" charset="-122"/>
                <a:ea typeface="微软雅黑" panose="020B0503020204020204" pitchFamily="34" charset="-122"/>
              </a:rPr>
              <a:t>，有</a:t>
            </a:r>
            <a:r>
              <a:rPr lang="zh-CN" altLang="en-US" sz="1800" dirty="0">
                <a:solidFill>
                  <a:srgbClr val="0070C0"/>
                </a:solidFill>
                <a:latin typeface="微软雅黑" panose="020B0503020204020204" pitchFamily="34" charset="-122"/>
                <a:ea typeface="微软雅黑" panose="020B0503020204020204" pitchFamily="34" charset="-122"/>
              </a:rPr>
              <a:t>n个条件桩</a:t>
            </a:r>
            <a:r>
              <a:rPr lang="zh-CN" altLang="en-US" sz="1800" dirty="0">
                <a:solidFill>
                  <a:srgbClr val="595959"/>
                </a:solidFill>
                <a:latin typeface="微软雅黑" panose="020B0503020204020204" pitchFamily="34" charset="-122"/>
                <a:ea typeface="微软雅黑" panose="020B0503020204020204" pitchFamily="34" charset="-122"/>
              </a:rPr>
              <a:t>的决策表就会有</a:t>
            </a:r>
            <a:r>
              <a:rPr lang="zh-CN" altLang="en-US" sz="1800" dirty="0">
                <a:solidFill>
                  <a:srgbClr val="0070C0"/>
                </a:solidFill>
                <a:latin typeface="微软雅黑" panose="020B0503020204020204" pitchFamily="34" charset="-122"/>
                <a:ea typeface="微软雅黑" panose="020B0503020204020204" pitchFamily="34" charset="-122"/>
              </a:rPr>
              <a:t>2</a:t>
            </a:r>
            <a:r>
              <a:rPr lang="zh-CN" altLang="en-US" sz="1800" baseline="30000" dirty="0">
                <a:solidFill>
                  <a:srgbClr val="0070C0"/>
                </a:solidFill>
                <a:latin typeface="微软雅黑" panose="020B0503020204020204" pitchFamily="34" charset="-122"/>
                <a:ea typeface="微软雅黑" panose="020B0503020204020204" pitchFamily="34" charset="-122"/>
              </a:rPr>
              <a:t>n</a:t>
            </a:r>
            <a:r>
              <a:rPr lang="zh-CN" altLang="en-US" sz="1800" dirty="0">
                <a:solidFill>
                  <a:srgbClr val="0070C0"/>
                </a:solidFill>
                <a:latin typeface="微软雅黑" panose="020B0503020204020204" pitchFamily="34" charset="-122"/>
                <a:ea typeface="微软雅黑" panose="020B0503020204020204" pitchFamily="34" charset="-122"/>
              </a:rPr>
              <a:t>条规则</a:t>
            </a:r>
            <a:r>
              <a:rPr lang="zh-CN" altLang="en-US" sz="1800" dirty="0">
                <a:solidFill>
                  <a:srgbClr val="595959"/>
                </a:solidFill>
                <a:latin typeface="微软雅黑" panose="020B0503020204020204" pitchFamily="34" charset="-122"/>
                <a:ea typeface="微软雅黑" panose="020B0503020204020204" pitchFamily="34" charset="-122"/>
              </a:rPr>
              <a:t>。如果为</a:t>
            </a:r>
            <a:r>
              <a:rPr lang="zh-CN" altLang="en-US" sz="1800" dirty="0">
                <a:solidFill>
                  <a:srgbClr val="0070C0"/>
                </a:solidFill>
                <a:latin typeface="微软雅黑" panose="020B0503020204020204" pitchFamily="34" charset="-122"/>
                <a:ea typeface="微软雅黑" panose="020B0503020204020204" pitchFamily="34" charset="-122"/>
              </a:rPr>
              <a:t>每条规则都设计一个测试用例</a:t>
            </a:r>
            <a:r>
              <a:rPr lang="zh-CN" altLang="en-US" sz="1800" dirty="0">
                <a:solidFill>
                  <a:srgbClr val="595959"/>
                </a:solidFill>
                <a:latin typeface="微软雅黑" panose="020B0503020204020204" pitchFamily="34" charset="-122"/>
                <a:ea typeface="微软雅黑" panose="020B0503020204020204" pitchFamily="34" charset="-122"/>
              </a:rPr>
              <a:t>，不仅</a:t>
            </a:r>
            <a:r>
              <a:rPr lang="zh-CN" altLang="en-US" sz="1800" dirty="0">
                <a:solidFill>
                  <a:srgbClr val="0070C0"/>
                </a:solidFill>
                <a:latin typeface="微软雅黑" panose="020B0503020204020204" pitchFamily="34" charset="-122"/>
                <a:ea typeface="微软雅黑" panose="020B0503020204020204" pitchFamily="34" charset="-122"/>
              </a:rPr>
              <a:t>工作量大</a:t>
            </a:r>
            <a:r>
              <a:rPr lang="zh-CN" altLang="en-US" sz="1800" dirty="0">
                <a:solidFill>
                  <a:srgbClr val="595959"/>
                </a:solidFill>
                <a:latin typeface="微软雅黑" panose="020B0503020204020204" pitchFamily="34" charset="-122"/>
                <a:ea typeface="微软雅黑" panose="020B0503020204020204" pitchFamily="34" charset="-122"/>
              </a:rPr>
              <a:t>，而且有些工作量</a:t>
            </a:r>
            <a:r>
              <a:rPr lang="zh-CN" altLang="en-US" sz="1800" dirty="0">
                <a:solidFill>
                  <a:srgbClr val="0070C0"/>
                </a:solidFill>
                <a:latin typeface="微软雅黑" panose="020B0503020204020204" pitchFamily="34" charset="-122"/>
                <a:ea typeface="微软雅黑" panose="020B0503020204020204" pitchFamily="34" charset="-122"/>
              </a:rPr>
              <a:t>可能</a:t>
            </a:r>
            <a:r>
              <a:rPr lang="zh-CN" altLang="en-US" sz="1800" dirty="0">
                <a:solidFill>
                  <a:srgbClr val="595959"/>
                </a:solidFill>
                <a:latin typeface="微软雅黑" panose="020B0503020204020204" pitchFamily="34" charset="-122"/>
                <a:ea typeface="微软雅黑" panose="020B0503020204020204" pitchFamily="34" charset="-122"/>
              </a:rPr>
              <a:t>是</a:t>
            </a:r>
            <a:r>
              <a:rPr lang="zh-CN" altLang="en-US" sz="1800" dirty="0">
                <a:solidFill>
                  <a:srgbClr val="0070C0"/>
                </a:solidFill>
                <a:latin typeface="微软雅黑" panose="020B0503020204020204" pitchFamily="34" charset="-122"/>
                <a:ea typeface="微软雅黑" panose="020B0503020204020204" pitchFamily="34" charset="-122"/>
              </a:rPr>
              <a:t>重复</a:t>
            </a:r>
            <a:r>
              <a:rPr lang="zh-CN" altLang="en-US" sz="1800" dirty="0">
                <a:solidFill>
                  <a:srgbClr val="595959"/>
                </a:solidFill>
                <a:latin typeface="微软雅黑" panose="020B0503020204020204" pitchFamily="34" charset="-122"/>
                <a:ea typeface="微软雅黑" panose="020B0503020204020204" pitchFamily="34" charset="-122"/>
              </a:rPr>
              <a:t>的、</a:t>
            </a:r>
            <a:r>
              <a:rPr lang="zh-CN" altLang="en-US" sz="1800" dirty="0">
                <a:solidFill>
                  <a:srgbClr val="0070C0"/>
                </a:solidFill>
                <a:latin typeface="微软雅黑" panose="020B0503020204020204" pitchFamily="34" charset="-122"/>
                <a:ea typeface="微软雅黑" panose="020B0503020204020204" pitchFamily="34" charset="-122"/>
              </a:rPr>
              <a:t>无意义</a:t>
            </a:r>
            <a:r>
              <a:rPr lang="zh-CN" altLang="en-US" sz="1800" dirty="0">
                <a:solidFill>
                  <a:srgbClr val="595959"/>
                </a:solidFill>
                <a:latin typeface="微软雅黑" panose="020B0503020204020204" pitchFamily="34" charset="-122"/>
                <a:ea typeface="微软雅黑" panose="020B0503020204020204" pitchFamily="34" charset="-122"/>
              </a:rPr>
              <a:t>的。例如，在“图书阅读指南”决策表中，以第1、2条规则为例，第1条规则取值为：Y、Y、Y，执行结果为“停止阅读并休息”；第2条规则取值为：Y、Y、N，执行结果也为“停止阅读并休息”。对于这</a:t>
            </a:r>
            <a:r>
              <a:rPr lang="en-US" altLang="zh-CN" sz="1800" dirty="0">
                <a:solidFill>
                  <a:srgbClr val="595959"/>
                </a:solidFill>
                <a:latin typeface="微软雅黑" panose="020B0503020204020204" pitchFamily="34" charset="-122"/>
                <a:ea typeface="微软雅黑" panose="020B0503020204020204" pitchFamily="34" charset="-122"/>
              </a:rPr>
              <a:t>2</a:t>
            </a:r>
            <a:r>
              <a:rPr lang="zh-CN" altLang="en-US" sz="1800" dirty="0">
                <a:solidFill>
                  <a:srgbClr val="595959"/>
                </a:solidFill>
                <a:latin typeface="微软雅黑" panose="020B0503020204020204" pitchFamily="34" charset="-122"/>
                <a:ea typeface="微软雅黑" panose="020B0503020204020204" pitchFamily="34" charset="-122"/>
              </a:rPr>
              <a:t>条规则来说，前</a:t>
            </a:r>
            <a:r>
              <a:rPr lang="en-US" altLang="zh-CN" sz="1800" dirty="0">
                <a:solidFill>
                  <a:srgbClr val="595959"/>
                </a:solidFill>
                <a:latin typeface="微软雅黑" panose="020B0503020204020204" pitchFamily="34" charset="-122"/>
                <a:ea typeface="微软雅黑" panose="020B0503020204020204" pitchFamily="34" charset="-122"/>
              </a:rPr>
              <a:t>2</a:t>
            </a:r>
            <a:r>
              <a:rPr lang="zh-CN" altLang="en-US" sz="1800" dirty="0">
                <a:solidFill>
                  <a:srgbClr val="595959"/>
                </a:solidFill>
                <a:latin typeface="微软雅黑" panose="020B0503020204020204" pitchFamily="34" charset="-122"/>
                <a:ea typeface="微软雅黑" panose="020B0503020204020204" pitchFamily="34" charset="-122"/>
              </a:rPr>
              <a:t>个问题的取值相同，执行结果一样，因此第3个问题的取值对结果并无影响，这个问题就称为</a:t>
            </a:r>
            <a:r>
              <a:rPr lang="zh-CN" altLang="en-US" sz="1800" dirty="0">
                <a:solidFill>
                  <a:srgbClr val="0070C0"/>
                </a:solidFill>
                <a:latin typeface="微软雅黑" panose="020B0503020204020204" pitchFamily="34" charset="-122"/>
                <a:ea typeface="微软雅黑" panose="020B0503020204020204" pitchFamily="34" charset="-122"/>
              </a:rPr>
              <a:t>无关条件项</a:t>
            </a:r>
            <a:r>
              <a:rPr lang="zh-CN" altLang="en-US" sz="1800" dirty="0">
                <a:solidFill>
                  <a:srgbClr val="595959"/>
                </a:solidFill>
                <a:latin typeface="微软雅黑" panose="020B0503020204020204" pitchFamily="34" charset="-122"/>
                <a:ea typeface="微软雅黑" panose="020B0503020204020204" pitchFamily="34" charset="-122"/>
              </a:rPr>
              <a:t>，使用</a:t>
            </a:r>
            <a:r>
              <a:rPr lang="zh-CN" altLang="en-US" sz="1800" dirty="0">
                <a:solidFill>
                  <a:srgbClr val="0070C0"/>
                </a:solidFill>
                <a:latin typeface="微软雅黑" panose="020B0503020204020204" pitchFamily="34" charset="-122"/>
                <a:ea typeface="微软雅黑" panose="020B0503020204020204" pitchFamily="34" charset="-122"/>
              </a:rPr>
              <a:t>“-”</a:t>
            </a:r>
            <a:r>
              <a:rPr lang="zh-CN" altLang="en-US" sz="1800" dirty="0">
                <a:solidFill>
                  <a:srgbClr val="595959"/>
                </a:solidFill>
                <a:latin typeface="微软雅黑" panose="020B0503020204020204" pitchFamily="34" charset="-122"/>
                <a:ea typeface="微软雅黑" panose="020B0503020204020204" pitchFamily="34" charset="-122"/>
              </a:rPr>
              <a:t>表示。忽略无关条件项，可以将这</a:t>
            </a:r>
            <a:r>
              <a:rPr lang="en-US" altLang="zh-CN" sz="1800" dirty="0">
                <a:solidFill>
                  <a:srgbClr val="595959"/>
                </a:solidFill>
                <a:latin typeface="微软雅黑" panose="020B0503020204020204" pitchFamily="34" charset="-122"/>
                <a:ea typeface="微软雅黑" panose="020B0503020204020204" pitchFamily="34" charset="-122"/>
              </a:rPr>
              <a:t>2</a:t>
            </a:r>
            <a:r>
              <a:rPr lang="zh-CN" altLang="en-US" sz="1800" dirty="0">
                <a:solidFill>
                  <a:srgbClr val="595959"/>
                </a:solidFill>
                <a:latin typeface="微软雅黑" panose="020B0503020204020204" pitchFamily="34" charset="-122"/>
                <a:ea typeface="微软雅黑" panose="020B0503020204020204" pitchFamily="34" charset="-122"/>
              </a:rPr>
              <a:t>条规则进行合并。</a:t>
            </a:r>
          </a:p>
        </p:txBody>
      </p:sp>
      <p:pic>
        <p:nvPicPr>
          <p:cNvPr id="33" name="图片 32"/>
          <p:cNvPicPr>
            <a:picLocks noChangeAspect="1"/>
          </p:cNvPicPr>
          <p:nvPr/>
        </p:nvPicPr>
        <p:blipFill>
          <a:blip r:embed="rId3"/>
          <a:stretch>
            <a:fillRect/>
          </a:stretch>
        </p:blipFill>
        <p:spPr>
          <a:xfrm>
            <a:off x="839386" y="1413456"/>
            <a:ext cx="3715858" cy="4006159"/>
          </a:xfrm>
          <a:prstGeom prst="rect">
            <a:avLst/>
          </a:prstGeom>
        </p:spPr>
      </p:pic>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2.3.2	决策表法概述</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35"/>
          <p:cNvSpPr txBox="1">
            <a:spLocks noChangeArrowheads="1"/>
          </p:cNvSpPr>
          <p:nvPr/>
        </p:nvSpPr>
        <p:spPr bwMode="auto">
          <a:xfrm>
            <a:off x="1127125" y="909955"/>
            <a:ext cx="3754755" cy="6369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no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buClrTx/>
              <a:buSzTx/>
              <a:buFontTx/>
            </a:pPr>
            <a:r>
              <a:rPr lang="zh-CN" altLang="en-US" sz="1600" dirty="0">
                <a:solidFill>
                  <a:srgbClr val="0070C0"/>
                </a:solidFill>
                <a:latin typeface="微软雅黑" panose="020B0503020204020204" pitchFamily="34" charset="-122"/>
                <a:ea typeface="微软雅黑" panose="020B0503020204020204" pitchFamily="34" charset="-122"/>
              </a:rPr>
              <a:t>合并规则1与规则2</a:t>
            </a:r>
            <a:r>
              <a:rPr lang="zh-CN" altLang="en-US" sz="1600" dirty="0">
                <a:solidFill>
                  <a:srgbClr val="595959"/>
                </a:solidFill>
                <a:latin typeface="微软雅黑" panose="020B0503020204020204" pitchFamily="34" charset="-122"/>
                <a:ea typeface="微软雅黑" panose="020B0503020204020204" pitchFamily="34" charset="-122"/>
              </a:rPr>
              <a:t>如下图所示。</a:t>
            </a:r>
          </a:p>
        </p:txBody>
      </p:sp>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2.3.2	决策表法概述</a:t>
            </a:r>
          </a:p>
        </p:txBody>
      </p:sp>
      <p:graphicFrame>
        <p:nvGraphicFramePr>
          <p:cNvPr id="2" name="对象 1"/>
          <p:cNvGraphicFramePr/>
          <p:nvPr/>
        </p:nvGraphicFramePr>
        <p:xfrm>
          <a:off x="1558925" y="2277745"/>
          <a:ext cx="2047240" cy="2947670"/>
        </p:xfrm>
        <a:graphic>
          <a:graphicData uri="http://schemas.openxmlformats.org/presentationml/2006/ole">
            <mc:AlternateContent xmlns:mc="http://schemas.openxmlformats.org/markup-compatibility/2006">
              <mc:Choice xmlns:v="urn:schemas-microsoft-com:vml" Requires="v">
                <p:oleObj r:id="rId3" imgW="1470025" imgH="2079625" progId="Visio.Drawing.11">
                  <p:embed/>
                </p:oleObj>
              </mc:Choice>
              <mc:Fallback>
                <p:oleObj r:id="rId3" imgW="1470025" imgH="2079625" progId="Visio.Drawing.11">
                  <p:embed/>
                  <p:pic>
                    <p:nvPicPr>
                      <p:cNvPr id="0" name="图片 2"/>
                      <p:cNvPicPr/>
                      <p:nvPr/>
                    </p:nvPicPr>
                    <p:blipFill>
                      <a:blip r:embed="rId4"/>
                      <a:stretch>
                        <a:fillRect/>
                      </a:stretch>
                    </p:blipFill>
                    <p:spPr>
                      <a:xfrm>
                        <a:off x="1558925" y="2277745"/>
                        <a:ext cx="2047240" cy="2947670"/>
                      </a:xfrm>
                      <a:prstGeom prst="rect">
                        <a:avLst/>
                      </a:prstGeom>
                    </p:spPr>
                  </p:pic>
                </p:oleObj>
              </mc:Fallback>
            </mc:AlternateContent>
          </a:graphicData>
        </a:graphic>
      </p:graphicFrame>
      <p:sp>
        <p:nvSpPr>
          <p:cNvPr id="4" name="文本框 3"/>
          <p:cNvSpPr txBox="1"/>
          <p:nvPr/>
        </p:nvSpPr>
        <p:spPr>
          <a:xfrm>
            <a:off x="4799330" y="909955"/>
            <a:ext cx="6477635" cy="1198880"/>
          </a:xfrm>
          <a:prstGeom prst="rect">
            <a:avLst/>
          </a:prstGeom>
          <a:noFill/>
        </p:spPr>
        <p:txBody>
          <a:bodyPr wrap="square" rtlCol="0" anchor="t">
            <a:spAutoFit/>
          </a:bodyPr>
          <a:lstStyle/>
          <a:p>
            <a:pPr>
              <a:lnSpc>
                <a:spcPct val="150000"/>
              </a:lnSpc>
            </a:pPr>
            <a:r>
              <a:rPr lang="zh-CN" altLang="en-US" sz="1600" dirty="0">
                <a:solidFill>
                  <a:srgbClr val="595959"/>
                </a:solidFill>
                <a:latin typeface="微软雅黑" panose="020B0503020204020204" pitchFamily="34" charset="-122"/>
                <a:ea typeface="微软雅黑" panose="020B0503020204020204" pitchFamily="34" charset="-122"/>
              </a:rPr>
              <a:t>规则1与规则2合并成了一条规则。由于合并之后的无关</a:t>
            </a:r>
            <a:r>
              <a:rPr lang="zh-CN" altLang="en-US" sz="1600">
                <a:solidFill>
                  <a:srgbClr val="595959"/>
                </a:solidFill>
                <a:latin typeface="微软雅黑" panose="020B0503020204020204" pitchFamily="34" charset="-122"/>
                <a:ea typeface="微软雅黑" panose="020B0503020204020204" pitchFamily="34" charset="-122"/>
              </a:rPr>
              <a:t>条件项包含</a:t>
            </a:r>
            <a:r>
              <a:rPr lang="zh-CN" altLang="en-US" sz="1600" dirty="0">
                <a:solidFill>
                  <a:srgbClr val="595959"/>
                </a:solidFill>
                <a:latin typeface="微软雅黑" panose="020B0503020204020204" pitchFamily="34" charset="-122"/>
                <a:ea typeface="微软雅黑" panose="020B0503020204020204" pitchFamily="34" charset="-122"/>
              </a:rPr>
              <a:t>其他条件项取值，因此具有相同动作的规则还可</a:t>
            </a:r>
            <a:r>
              <a:rPr lang="zh-CN" altLang="en-US" sz="1600" dirty="0">
                <a:solidFill>
                  <a:srgbClr val="0070C0"/>
                </a:solidFill>
                <a:latin typeface="微软雅黑" panose="020B0503020204020204" pitchFamily="34" charset="-122"/>
                <a:ea typeface="微软雅黑" panose="020B0503020204020204" pitchFamily="34" charset="-122"/>
              </a:rPr>
              <a:t>进一步合并</a:t>
            </a:r>
            <a:r>
              <a:rPr lang="zh-CN" altLang="en-US" sz="1600" dirty="0">
                <a:solidFill>
                  <a:srgbClr val="595959"/>
                </a:solidFill>
                <a:latin typeface="微软雅黑" panose="020B0503020204020204" pitchFamily="34" charset="-122"/>
                <a:ea typeface="微软雅黑" panose="020B0503020204020204" pitchFamily="34" charset="-122"/>
              </a:rPr>
              <a:t>，如下图所示。</a:t>
            </a:r>
          </a:p>
        </p:txBody>
      </p:sp>
      <p:graphicFrame>
        <p:nvGraphicFramePr>
          <p:cNvPr id="6" name="对象 5"/>
          <p:cNvGraphicFramePr/>
          <p:nvPr/>
        </p:nvGraphicFramePr>
        <p:xfrm>
          <a:off x="5878830" y="2245995"/>
          <a:ext cx="4178935" cy="2971800"/>
        </p:xfrm>
        <a:graphic>
          <a:graphicData uri="http://schemas.openxmlformats.org/presentationml/2006/ole">
            <mc:AlternateContent xmlns:mc="http://schemas.openxmlformats.org/markup-compatibility/2006">
              <mc:Choice xmlns:v="urn:schemas-microsoft-com:vml" Requires="v">
                <p:oleObj r:id="rId5" imgW="3128645" imgH="2106930" progId="Visio.Drawing.11">
                  <p:embed/>
                </p:oleObj>
              </mc:Choice>
              <mc:Fallback>
                <p:oleObj r:id="rId5" imgW="3128645" imgH="2106930" progId="Visio.Drawing.11">
                  <p:embed/>
                  <p:pic>
                    <p:nvPicPr>
                      <p:cNvPr id="0" name="图片 6"/>
                      <p:cNvPicPr/>
                      <p:nvPr/>
                    </p:nvPicPr>
                    <p:blipFill>
                      <a:blip r:embed="rId6"/>
                      <a:stretch>
                        <a:fillRect/>
                      </a:stretch>
                    </p:blipFill>
                    <p:spPr>
                      <a:xfrm>
                        <a:off x="5878830" y="2245995"/>
                        <a:ext cx="4178935" cy="2971800"/>
                      </a:xfrm>
                      <a:prstGeom prst="rect">
                        <a:avLst/>
                      </a:prstGeom>
                    </p:spPr>
                  </p:pic>
                </p:oleObj>
              </mc:Fallback>
            </mc:AlternateContent>
          </a:graphicData>
        </a:graphic>
      </p:graphicFrame>
      <p:sp>
        <p:nvSpPr>
          <p:cNvPr id="8" name="文本框 7"/>
          <p:cNvSpPr txBox="1"/>
          <p:nvPr/>
        </p:nvSpPr>
        <p:spPr>
          <a:xfrm>
            <a:off x="5375275" y="5374005"/>
            <a:ext cx="6096000" cy="829945"/>
          </a:xfrm>
          <a:prstGeom prst="rect">
            <a:avLst/>
          </a:prstGeom>
          <a:noFill/>
        </p:spPr>
        <p:txBody>
          <a:bodyPr wrap="square" rtlCol="0" anchor="t">
            <a:spAutoFit/>
          </a:bodyPr>
          <a:lstStyle/>
          <a:p>
            <a:pPr algn="l">
              <a:lnSpc>
                <a:spcPct val="150000"/>
              </a:lnSpc>
              <a:buClrTx/>
              <a:buSzTx/>
              <a:buFontTx/>
            </a:pPr>
            <a:r>
              <a:rPr lang="zh-CN" altLang="en-US" sz="1600" dirty="0">
                <a:solidFill>
                  <a:srgbClr val="595959"/>
                </a:solidFill>
                <a:latin typeface="微软雅黑" panose="020B0503020204020204" pitchFamily="34" charset="-122"/>
                <a:ea typeface="微软雅黑" panose="020B0503020204020204" pitchFamily="34" charset="-122"/>
              </a:rPr>
              <a:t>上图中只是演示合并后的</a:t>
            </a:r>
            <a:r>
              <a:rPr lang="zh-CN" altLang="en-US" sz="1600">
                <a:solidFill>
                  <a:srgbClr val="595959"/>
                </a:solidFill>
                <a:latin typeface="微软雅黑" panose="020B0503020204020204" pitchFamily="34" charset="-122"/>
                <a:ea typeface="微软雅黑" panose="020B0503020204020204" pitchFamily="34" charset="-122"/>
              </a:rPr>
              <a:t>规则，其还</a:t>
            </a:r>
            <a:r>
              <a:rPr lang="zh-CN" altLang="en-US" sz="1600" dirty="0">
                <a:solidFill>
                  <a:srgbClr val="595959"/>
                </a:solidFill>
                <a:latin typeface="微软雅黑" panose="020B0503020204020204" pitchFamily="34" charset="-122"/>
                <a:ea typeface="微软雅黑" panose="020B0503020204020204" pitchFamily="34" charset="-122"/>
              </a:rPr>
              <a:t>可以与其他规则进一步合并，但</a:t>
            </a:r>
            <a:r>
              <a:rPr lang="zh-CN" altLang="en-US" sz="1600" dirty="0">
                <a:solidFill>
                  <a:srgbClr val="0070C0"/>
                </a:solidFill>
                <a:latin typeface="微软雅黑" panose="020B0503020204020204" pitchFamily="34" charset="-122"/>
                <a:ea typeface="微软雅黑" panose="020B0503020204020204" pitchFamily="34" charset="-122"/>
              </a:rPr>
              <a:t>规则1与规则2合并之后就不再存在于决策表中</a:t>
            </a:r>
            <a:r>
              <a:rPr lang="zh-CN" altLang="en-US" sz="1600" dirty="0">
                <a:solidFill>
                  <a:srgbClr val="595959"/>
                </a:solidFill>
                <a:latin typeface="微软雅黑" panose="020B0503020204020204" pitchFamily="34" charset="-122"/>
                <a:ea typeface="微软雅黑" panose="020B0503020204020204" pitchFamily="34" charset="-122"/>
              </a:rPr>
              <a:t>。</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35"/>
          <p:cNvSpPr txBox="1">
            <a:spLocks noChangeArrowheads="1"/>
          </p:cNvSpPr>
          <p:nvPr/>
        </p:nvSpPr>
        <p:spPr bwMode="auto">
          <a:xfrm>
            <a:off x="4254500" y="909955"/>
            <a:ext cx="3681095" cy="579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no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buClrTx/>
              <a:buSzTx/>
              <a:buFontTx/>
            </a:pPr>
            <a:r>
              <a:rPr lang="zh-CN" altLang="en-US" sz="1800" dirty="0">
                <a:solidFill>
                  <a:srgbClr val="0070C0"/>
                </a:solidFill>
                <a:latin typeface="微软雅黑" panose="020B0503020204020204" pitchFamily="34" charset="-122"/>
                <a:ea typeface="微软雅黑" panose="020B0503020204020204" pitchFamily="34" charset="-122"/>
              </a:rPr>
              <a:t>简化后的“图书阅读指南”决策表</a:t>
            </a:r>
            <a:endParaRPr lang="zh-CN" altLang="en-US" sz="1800" dirty="0">
              <a:solidFill>
                <a:srgbClr val="595959"/>
              </a:solidFill>
              <a:latin typeface="微软雅黑" panose="020B0503020204020204" pitchFamily="34" charset="-122"/>
              <a:ea typeface="微软雅黑" panose="020B0503020204020204" pitchFamily="34" charset="-122"/>
            </a:endParaRPr>
          </a:p>
          <a:p>
            <a:pPr algn="just">
              <a:lnSpc>
                <a:spcPct val="150000"/>
              </a:lnSpc>
              <a:buClrTx/>
              <a:buSzTx/>
              <a:buFontTx/>
            </a:pPr>
            <a:endParaRPr lang="zh-CN" altLang="en-US" sz="1800" dirty="0">
              <a:solidFill>
                <a:srgbClr val="595959"/>
              </a:solidFill>
              <a:latin typeface="微软雅黑" panose="020B0503020204020204" pitchFamily="34" charset="-122"/>
              <a:ea typeface="微软雅黑" panose="020B0503020204020204" pitchFamily="34" charset="-122"/>
            </a:endParaRPr>
          </a:p>
        </p:txBody>
      </p:sp>
      <p:graphicFrame>
        <p:nvGraphicFramePr>
          <p:cNvPr id="2" name="表格 1"/>
          <p:cNvGraphicFramePr/>
          <p:nvPr>
            <p:custDataLst>
              <p:tags r:id="rId1"/>
            </p:custDataLst>
            <p:extLst>
              <p:ext uri="{D42A27DB-BD31-4B8C-83A1-F6EECF244321}">
                <p14:modId xmlns:p14="http://schemas.microsoft.com/office/powerpoint/2010/main" val="502235027"/>
              </p:ext>
            </p:extLst>
          </p:nvPr>
        </p:nvGraphicFramePr>
        <p:xfrm>
          <a:off x="2844165" y="1485900"/>
          <a:ext cx="5734142" cy="4723130"/>
        </p:xfrm>
        <a:graphic>
          <a:graphicData uri="http://schemas.openxmlformats.org/drawingml/2006/table">
            <a:tbl>
              <a:tblPr firstRow="1" bandRow="1">
                <a:tableStyleId>{5C22544A-7EE6-4342-B048-85BDC9FD1C3A}</a:tableStyleId>
              </a:tblPr>
              <a:tblGrid>
                <a:gridCol w="681355">
                  <a:extLst>
                    <a:ext uri="{9D8B030D-6E8A-4147-A177-3AD203B41FA5}">
                      <a16:colId xmlns:a16="http://schemas.microsoft.com/office/drawing/2014/main" val="20000"/>
                    </a:ext>
                  </a:extLst>
                </a:gridCol>
                <a:gridCol w="1860012">
                  <a:extLst>
                    <a:ext uri="{9D8B030D-6E8A-4147-A177-3AD203B41FA5}">
                      <a16:colId xmlns:a16="http://schemas.microsoft.com/office/drawing/2014/main" val="20001"/>
                    </a:ext>
                  </a:extLst>
                </a:gridCol>
                <a:gridCol w="799555">
                  <a:extLst>
                    <a:ext uri="{9D8B030D-6E8A-4147-A177-3AD203B41FA5}">
                      <a16:colId xmlns:a16="http://schemas.microsoft.com/office/drawing/2014/main" val="20002"/>
                    </a:ext>
                  </a:extLst>
                </a:gridCol>
                <a:gridCol w="754349">
                  <a:extLst>
                    <a:ext uri="{9D8B030D-6E8A-4147-A177-3AD203B41FA5}">
                      <a16:colId xmlns:a16="http://schemas.microsoft.com/office/drawing/2014/main" val="20004"/>
                    </a:ext>
                  </a:extLst>
                </a:gridCol>
                <a:gridCol w="812627">
                  <a:extLst>
                    <a:ext uri="{9D8B030D-6E8A-4147-A177-3AD203B41FA5}">
                      <a16:colId xmlns:a16="http://schemas.microsoft.com/office/drawing/2014/main" val="20005"/>
                    </a:ext>
                  </a:extLst>
                </a:gridCol>
                <a:gridCol w="826244">
                  <a:extLst>
                    <a:ext uri="{9D8B030D-6E8A-4147-A177-3AD203B41FA5}">
                      <a16:colId xmlns:a16="http://schemas.microsoft.com/office/drawing/2014/main" val="20006"/>
                    </a:ext>
                  </a:extLst>
                </a:gridCol>
              </a:tblGrid>
              <a:tr h="685165">
                <a:tc gridSpan="2">
                  <a:txBody>
                    <a:bodyPr/>
                    <a:lstStyle/>
                    <a:p>
                      <a:pPr algn="ctr">
                        <a:lnSpc>
                          <a:spcPct val="90000"/>
                        </a:lnSpc>
                        <a:buNone/>
                      </a:pPr>
                      <a:r>
                        <a:rPr lang="zh-CN" altLang="en-US" sz="1800" b="1">
                          <a:latin typeface="微软雅黑" panose="020B0503020204020204" pitchFamily="34" charset="-122"/>
                          <a:ea typeface="微软雅黑" panose="020B0503020204020204" pitchFamily="34" charset="-122"/>
                        </a:rPr>
                        <a:t>情况与建议</a:t>
                      </a:r>
                    </a:p>
                  </a:txBody>
                  <a:tcPr anchor="ctr"/>
                </a:tc>
                <a:tc hMerge="1">
                  <a:txBody>
                    <a:bodyPr/>
                    <a:lstStyle/>
                    <a:p>
                      <a:endParaRPr lang="zh-CN"/>
                    </a:p>
                  </a:txBody>
                  <a:tcPr anchor="ctr"/>
                </a:tc>
                <a:tc>
                  <a:txBody>
                    <a:bodyPr/>
                    <a:lstStyle/>
                    <a:p>
                      <a:pPr algn="ctr">
                        <a:lnSpc>
                          <a:spcPct val="90000"/>
                        </a:lnSpc>
                        <a:buNone/>
                      </a:pPr>
                      <a:r>
                        <a:rPr lang="en-US" altLang="zh-CN" sz="1800">
                          <a:latin typeface="微软雅黑" panose="020B0503020204020204" pitchFamily="34" charset="-122"/>
                          <a:ea typeface="微软雅黑" panose="020B0503020204020204" pitchFamily="34" charset="-122"/>
                        </a:rPr>
                        <a:t>1</a:t>
                      </a:r>
                    </a:p>
                  </a:txBody>
                  <a:tcPr anchor="ctr"/>
                </a:tc>
                <a:tc>
                  <a:txBody>
                    <a:bodyPr/>
                    <a:lstStyle/>
                    <a:p>
                      <a:pPr algn="ctr">
                        <a:lnSpc>
                          <a:spcPct val="90000"/>
                        </a:lnSpc>
                        <a:buNone/>
                      </a:pPr>
                      <a:r>
                        <a:rPr lang="en-US" altLang="zh-CN" sz="1800" dirty="0">
                          <a:latin typeface="微软雅黑" panose="020B0503020204020204" pitchFamily="34" charset="-122"/>
                          <a:ea typeface="微软雅黑" panose="020B0503020204020204" pitchFamily="34" charset="-122"/>
                        </a:rPr>
                        <a:t>2</a:t>
                      </a:r>
                    </a:p>
                  </a:txBody>
                  <a:tcPr anchor="ctr"/>
                </a:tc>
                <a:tc>
                  <a:txBody>
                    <a:bodyPr/>
                    <a:lstStyle/>
                    <a:p>
                      <a:pPr algn="ctr">
                        <a:lnSpc>
                          <a:spcPct val="90000"/>
                        </a:lnSpc>
                        <a:buNone/>
                      </a:pPr>
                      <a:r>
                        <a:rPr lang="en-US" altLang="zh-CN" sz="1800" dirty="0">
                          <a:latin typeface="微软雅黑" panose="020B0503020204020204" pitchFamily="34" charset="-122"/>
                          <a:ea typeface="微软雅黑" panose="020B0503020204020204" pitchFamily="34" charset="-122"/>
                        </a:rPr>
                        <a:t>3</a:t>
                      </a:r>
                    </a:p>
                  </a:txBody>
                  <a:tcPr anchor="ctr"/>
                </a:tc>
                <a:tc>
                  <a:txBody>
                    <a:bodyPr/>
                    <a:lstStyle/>
                    <a:p>
                      <a:pPr algn="ctr">
                        <a:lnSpc>
                          <a:spcPct val="90000"/>
                        </a:lnSpc>
                        <a:buNone/>
                      </a:pPr>
                      <a:r>
                        <a:rPr lang="en-US" altLang="zh-CN" sz="1800" dirty="0">
                          <a:latin typeface="微软雅黑" panose="020B0503020204020204" pitchFamily="34" charset="-122"/>
                          <a:ea typeface="微软雅黑" panose="020B0503020204020204" pitchFamily="34" charset="-122"/>
                        </a:rPr>
                        <a:t>4</a:t>
                      </a:r>
                    </a:p>
                  </a:txBody>
                  <a:tcPr anchor="ctr"/>
                </a:tc>
                <a:extLst>
                  <a:ext uri="{0D108BD9-81ED-4DB2-BD59-A6C34878D82A}">
                    <a16:rowId xmlns:a16="http://schemas.microsoft.com/office/drawing/2014/main" val="10000"/>
                  </a:ext>
                </a:extLst>
              </a:tr>
              <a:tr h="595630">
                <a:tc rowSpan="3">
                  <a:txBody>
                    <a:bodyPr/>
                    <a:lstStyle/>
                    <a:p>
                      <a:pPr marL="0" algn="ctr" defTabSz="1219200" rtl="0" eaLnBrk="1" latinLnBrk="0" hangingPunct="1">
                        <a:buNone/>
                      </a:pPr>
                      <a:r>
                        <a:rPr lang="zh-CN" altLang="en-US" sz="1600" kern="1200">
                          <a:solidFill>
                            <a:srgbClr val="595959"/>
                          </a:solidFill>
                          <a:latin typeface="微软雅黑" panose="020B0503020204020204" pitchFamily="34" charset="-122"/>
                          <a:ea typeface="微软雅黑" panose="020B0503020204020204" pitchFamily="34" charset="-122"/>
                          <a:cs typeface="+mn-cs"/>
                        </a:rPr>
                        <a:t>情况</a:t>
                      </a:r>
                    </a:p>
                  </a:txBody>
                  <a:tcPr anchor="ctr"/>
                </a:tc>
                <a:tc>
                  <a:txBody>
                    <a:bodyPr/>
                    <a:lstStyle/>
                    <a:p>
                      <a:pPr algn="l">
                        <a:buNone/>
                      </a:pPr>
                      <a:r>
                        <a:rPr lang="zh-CN" altLang="en-US" sz="1600" kern="1200">
                          <a:solidFill>
                            <a:srgbClr val="595959"/>
                          </a:solidFill>
                          <a:latin typeface="微软雅黑" panose="020B0503020204020204" pitchFamily="34" charset="-122"/>
                          <a:ea typeface="微软雅黑" panose="020B0503020204020204" pitchFamily="34" charset="-122"/>
                          <a:cs typeface="+mn-cs"/>
                        </a:rPr>
                        <a:t>是否疲倦</a:t>
                      </a:r>
                    </a:p>
                  </a:txBody>
                  <a:tcPr anchor="ctr"/>
                </a:tc>
                <a:tc>
                  <a:txBody>
                    <a:bodyPr/>
                    <a:lstStyle/>
                    <a:p>
                      <a:pPr algn="ctr">
                        <a:buNone/>
                      </a:pPr>
                      <a:r>
                        <a:rPr lang="en-US" altLang="zh-CN" sz="1600" kern="1200">
                          <a:solidFill>
                            <a:srgbClr val="595959"/>
                          </a:solidFill>
                          <a:latin typeface="微软雅黑" panose="020B0503020204020204" pitchFamily="34" charset="-122"/>
                          <a:ea typeface="微软雅黑" panose="020B0503020204020204" pitchFamily="34" charset="-122"/>
                          <a:cs typeface="+mn-cs"/>
                          <a:sym typeface="+mn-ea"/>
                        </a:rPr>
                        <a:t>Y</a:t>
                      </a:r>
                      <a:endParaRPr lang="zh-CN" altLang="en-US" sz="16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buNone/>
                      </a:pPr>
                      <a:r>
                        <a:rPr lang="en-US" altLang="zh-CN" sz="1600" kern="1200">
                          <a:solidFill>
                            <a:srgbClr val="595959"/>
                          </a:solidFill>
                          <a:latin typeface="微软雅黑" panose="020B0503020204020204" pitchFamily="34" charset="-122"/>
                          <a:ea typeface="微软雅黑" panose="020B0503020204020204" pitchFamily="34" charset="-122"/>
                          <a:cs typeface="+mn-cs"/>
                          <a:sym typeface="+mn-ea"/>
                        </a:rPr>
                        <a:t>N</a:t>
                      </a:r>
                      <a:endParaRPr lang="en-US" altLang="zh-CN" sz="16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buNone/>
                      </a:pPr>
                      <a:r>
                        <a:rPr lang="en-US" altLang="zh-CN" sz="1600" kern="1200">
                          <a:solidFill>
                            <a:srgbClr val="595959"/>
                          </a:solidFill>
                          <a:latin typeface="微软雅黑" panose="020B0503020204020204" pitchFamily="34" charset="-122"/>
                          <a:ea typeface="微软雅黑" panose="020B0503020204020204" pitchFamily="34" charset="-122"/>
                          <a:cs typeface="+mn-cs"/>
                          <a:sym typeface="+mn-ea"/>
                        </a:rPr>
                        <a:t>N</a:t>
                      </a:r>
                      <a:endParaRPr lang="en-US" altLang="zh-CN" sz="16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buNone/>
                      </a:pPr>
                      <a:r>
                        <a:rPr lang="en-US" altLang="zh-CN" sz="1600" kern="1200">
                          <a:solidFill>
                            <a:srgbClr val="595959"/>
                          </a:solidFill>
                          <a:latin typeface="微软雅黑" panose="020B0503020204020204" pitchFamily="34" charset="-122"/>
                          <a:ea typeface="微软雅黑" panose="020B0503020204020204" pitchFamily="34" charset="-122"/>
                          <a:cs typeface="+mn-cs"/>
                          <a:sym typeface="+mn-ea"/>
                        </a:rPr>
                        <a:t>N</a:t>
                      </a:r>
                      <a:endParaRPr lang="en-US" altLang="zh-CN" sz="1600" kern="1200">
                        <a:solidFill>
                          <a:srgbClr val="595959"/>
                        </a:solidFill>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10001"/>
                  </a:ext>
                </a:extLst>
              </a:tr>
              <a:tr h="579120">
                <a:tc vMerge="1">
                  <a:txBody>
                    <a:bodyPr/>
                    <a:lstStyle/>
                    <a:p>
                      <a:endParaRPr lang="zh-CN"/>
                    </a:p>
                  </a:txBody>
                  <a:tcPr anchor="ctr"/>
                </a:tc>
                <a:tc>
                  <a:txBody>
                    <a:bodyPr/>
                    <a:lstStyle/>
                    <a:p>
                      <a:pPr algn="l">
                        <a:buClrTx/>
                        <a:buSzTx/>
                        <a:buFontTx/>
                        <a:buNone/>
                      </a:pPr>
                      <a:r>
                        <a:rPr lang="en-US" altLang="zh-CN" sz="1600" kern="1200">
                          <a:solidFill>
                            <a:srgbClr val="595959"/>
                          </a:solidFill>
                          <a:latin typeface="微软雅黑" panose="020B0503020204020204" pitchFamily="34" charset="-122"/>
                          <a:ea typeface="微软雅黑" panose="020B0503020204020204" pitchFamily="34" charset="-122"/>
                          <a:cs typeface="+mn-cs"/>
                        </a:rPr>
                        <a:t>是否对内容感兴趣</a:t>
                      </a:r>
                    </a:p>
                  </a:txBody>
                  <a:tcPr anchor="ctr"/>
                </a:tc>
                <a:tc>
                  <a:txBody>
                    <a:bodyPr/>
                    <a:lstStyle/>
                    <a:p>
                      <a:pPr algn="ctr">
                        <a:buNone/>
                      </a:pPr>
                      <a:r>
                        <a:rPr lang="en-US" altLang="zh-CN" sz="1600" kern="1200">
                          <a:solidFill>
                            <a:srgbClr val="595959"/>
                          </a:solidFill>
                          <a:latin typeface="微软雅黑" panose="020B0503020204020204" pitchFamily="34" charset="-122"/>
                          <a:ea typeface="微软雅黑" panose="020B0503020204020204" pitchFamily="34" charset="-122"/>
                          <a:cs typeface="+mn-cs"/>
                          <a:sym typeface="+mn-ea"/>
                        </a:rPr>
                        <a:t>Y</a:t>
                      </a:r>
                      <a:endParaRPr lang="zh-CN" altLang="en-US" sz="16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buNone/>
                      </a:pPr>
                      <a:r>
                        <a:rPr lang="en-US" altLang="zh-CN" sz="1600" kern="1200">
                          <a:solidFill>
                            <a:srgbClr val="595959"/>
                          </a:solidFill>
                          <a:latin typeface="微软雅黑" panose="020B0503020204020204" pitchFamily="34" charset="-122"/>
                          <a:ea typeface="微软雅黑" panose="020B0503020204020204" pitchFamily="34" charset="-122"/>
                          <a:cs typeface="+mn-cs"/>
                          <a:sym typeface="+mn-ea"/>
                        </a:rPr>
                        <a:t>N</a:t>
                      </a:r>
                      <a:endParaRPr lang="en-US" altLang="zh-CN" sz="16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buNone/>
                      </a:pPr>
                      <a:r>
                        <a:rPr lang="en-US" altLang="zh-CN" sz="1600" kern="1200">
                          <a:solidFill>
                            <a:srgbClr val="595959"/>
                          </a:solidFill>
                          <a:latin typeface="微软雅黑" panose="020B0503020204020204" pitchFamily="34" charset="-122"/>
                          <a:ea typeface="微软雅黑" panose="020B0503020204020204" pitchFamily="34" charset="-122"/>
                          <a:cs typeface="+mn-cs"/>
                          <a:sym typeface="+mn-ea"/>
                        </a:rPr>
                        <a:t>Y</a:t>
                      </a:r>
                      <a:endParaRPr lang="en-US" altLang="zh-CN" sz="16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buNone/>
                      </a:pPr>
                      <a:r>
                        <a:rPr lang="en-US" altLang="zh-CN" sz="1600" kern="1200">
                          <a:solidFill>
                            <a:srgbClr val="595959"/>
                          </a:solidFill>
                          <a:latin typeface="微软雅黑" panose="020B0503020204020204" pitchFamily="34" charset="-122"/>
                          <a:ea typeface="微软雅黑" panose="020B0503020204020204" pitchFamily="34" charset="-122"/>
                          <a:cs typeface="+mn-cs"/>
                          <a:sym typeface="+mn-ea"/>
                        </a:rPr>
                        <a:t>Y</a:t>
                      </a:r>
                      <a:endParaRPr lang="en-US" altLang="zh-CN" sz="1600" kern="1200">
                        <a:solidFill>
                          <a:srgbClr val="595959"/>
                        </a:solidFill>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10002"/>
                  </a:ext>
                </a:extLst>
              </a:tr>
              <a:tr h="561975">
                <a:tc vMerge="1">
                  <a:txBody>
                    <a:bodyPr/>
                    <a:lstStyle/>
                    <a:p>
                      <a:endParaRPr lang="zh-CN"/>
                    </a:p>
                  </a:txBody>
                  <a:tcPr anchor="ctr"/>
                </a:tc>
                <a:tc>
                  <a:txBody>
                    <a:bodyPr/>
                    <a:lstStyle/>
                    <a:p>
                      <a:pPr algn="l">
                        <a:buClrTx/>
                        <a:buSzTx/>
                        <a:buFontTx/>
                        <a:buNone/>
                      </a:pPr>
                      <a:r>
                        <a:rPr lang="en-US" altLang="zh-CN" sz="1600" kern="1200">
                          <a:solidFill>
                            <a:srgbClr val="595959"/>
                          </a:solidFill>
                          <a:latin typeface="微软雅黑" panose="020B0503020204020204" pitchFamily="34" charset="-122"/>
                          <a:ea typeface="微软雅黑" panose="020B0503020204020204" pitchFamily="34" charset="-122"/>
                          <a:cs typeface="+mn-cs"/>
                        </a:rPr>
                        <a:t>对书中内容是否感到不理解</a:t>
                      </a:r>
                    </a:p>
                  </a:txBody>
                  <a:tcPr anchor="ctr"/>
                </a:tc>
                <a:tc>
                  <a:txBody>
                    <a:bodyPr/>
                    <a:lstStyle/>
                    <a:p>
                      <a:pPr algn="ctr">
                        <a:buNone/>
                      </a:pPr>
                      <a:r>
                        <a:rPr lang="en-US" altLang="zh-CN" sz="1600" kern="1200">
                          <a:solidFill>
                            <a:srgbClr val="595959"/>
                          </a:solidFill>
                          <a:latin typeface="微软雅黑" panose="020B0503020204020204" pitchFamily="34" charset="-122"/>
                          <a:ea typeface="微软雅黑" panose="020B0503020204020204" pitchFamily="34" charset="-122"/>
                          <a:cs typeface="+mn-cs"/>
                          <a:sym typeface="+mn-ea"/>
                        </a:rPr>
                        <a:t>-</a:t>
                      </a:r>
                      <a:endParaRPr lang="zh-CN" altLang="en-US" sz="16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buNone/>
                      </a:pPr>
                      <a:r>
                        <a:rPr lang="en-US" altLang="zh-CN" sz="1600" kern="1200">
                          <a:solidFill>
                            <a:srgbClr val="595959"/>
                          </a:solidFill>
                          <a:latin typeface="微软雅黑" panose="020B0503020204020204" pitchFamily="34" charset="-122"/>
                          <a:ea typeface="微软雅黑" panose="020B0503020204020204" pitchFamily="34" charset="-122"/>
                          <a:cs typeface="+mn-cs"/>
                          <a:sym typeface="+mn-ea"/>
                        </a:rPr>
                        <a:t>-</a:t>
                      </a:r>
                      <a:endParaRPr lang="en-US" altLang="zh-CN" sz="16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buNone/>
                      </a:pPr>
                      <a:r>
                        <a:rPr lang="en-US" altLang="zh-CN" sz="1600" kern="1200">
                          <a:solidFill>
                            <a:srgbClr val="595959"/>
                          </a:solidFill>
                          <a:latin typeface="微软雅黑" panose="020B0503020204020204" pitchFamily="34" charset="-122"/>
                          <a:ea typeface="微软雅黑" panose="020B0503020204020204" pitchFamily="34" charset="-122"/>
                          <a:cs typeface="+mn-cs"/>
                          <a:sym typeface="+mn-ea"/>
                        </a:rPr>
                        <a:t>Y</a:t>
                      </a:r>
                      <a:endParaRPr lang="en-US" altLang="zh-CN" sz="16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buNone/>
                      </a:pPr>
                      <a:r>
                        <a:rPr lang="en-US" altLang="zh-CN" sz="1600" kern="1200" dirty="0">
                          <a:solidFill>
                            <a:srgbClr val="595959"/>
                          </a:solidFill>
                          <a:latin typeface="微软雅黑" panose="020B0503020204020204" pitchFamily="34" charset="-122"/>
                          <a:ea typeface="微软雅黑" panose="020B0503020204020204" pitchFamily="34" charset="-122"/>
                          <a:cs typeface="+mn-cs"/>
                          <a:sym typeface="+mn-ea"/>
                        </a:rPr>
                        <a:t>N</a:t>
                      </a:r>
                      <a:endParaRPr lang="en-US" altLang="zh-CN" sz="1600" kern="1200" dirty="0">
                        <a:solidFill>
                          <a:srgbClr val="595959"/>
                        </a:solidFill>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10003"/>
                  </a:ext>
                </a:extLst>
              </a:tr>
              <a:tr h="570865">
                <a:tc rowSpan="4">
                  <a:txBody>
                    <a:bodyPr/>
                    <a:lstStyle/>
                    <a:p>
                      <a:pPr marL="0" algn="ctr" defTabSz="1219200" rtl="0" eaLnBrk="1" latinLnBrk="0" hangingPunct="1">
                        <a:buClrTx/>
                        <a:buSzTx/>
                        <a:buFontTx/>
                        <a:buNone/>
                      </a:pPr>
                      <a:r>
                        <a:rPr lang="zh-CN" altLang="en-US" sz="1600" kern="1200">
                          <a:solidFill>
                            <a:srgbClr val="595959"/>
                          </a:solidFill>
                          <a:latin typeface="微软雅黑" panose="020B0503020204020204" pitchFamily="34" charset="-122"/>
                          <a:ea typeface="微软雅黑" panose="020B0503020204020204" pitchFamily="34" charset="-122"/>
                          <a:cs typeface="+mn-cs"/>
                        </a:rPr>
                        <a:t>建议</a:t>
                      </a:r>
                    </a:p>
                  </a:txBody>
                  <a:tcPr anchor="ctr"/>
                </a:tc>
                <a:tc>
                  <a:txBody>
                    <a:bodyPr/>
                    <a:lstStyle/>
                    <a:p>
                      <a:pPr algn="l">
                        <a:buClrTx/>
                        <a:buSzTx/>
                        <a:buFontTx/>
                        <a:buNone/>
                      </a:pPr>
                      <a:r>
                        <a:rPr lang="en-US" altLang="zh-CN" sz="1600" kern="1200">
                          <a:solidFill>
                            <a:srgbClr val="595959"/>
                          </a:solidFill>
                          <a:latin typeface="微软雅黑" panose="020B0503020204020204" pitchFamily="34" charset="-122"/>
                          <a:ea typeface="微软雅黑" panose="020B0503020204020204" pitchFamily="34" charset="-122"/>
                          <a:cs typeface="+mn-cs"/>
                        </a:rPr>
                        <a:t>回到本章开头重读</a:t>
                      </a:r>
                    </a:p>
                  </a:txBody>
                  <a:tcPr anchor="ctr"/>
                </a:tc>
                <a:tc>
                  <a:txBody>
                    <a:bodyPr/>
                    <a:lstStyle/>
                    <a:p>
                      <a:pPr algn="ctr">
                        <a:buNone/>
                      </a:pPr>
                      <a:endParaRPr lang="zh-CN" altLang="en-US" sz="16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buNone/>
                      </a:pPr>
                      <a:endParaRPr lang="en-US" altLang="zh-CN" sz="16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buNone/>
                      </a:pPr>
                      <a:r>
                        <a:rPr lang="zh-CN" altLang="en-US" sz="1600" kern="1200">
                          <a:solidFill>
                            <a:srgbClr val="595959"/>
                          </a:solidFill>
                          <a:latin typeface="微软雅黑" panose="020B0503020204020204" pitchFamily="34" charset="-122"/>
                          <a:ea typeface="微软雅黑" panose="020B0503020204020204" pitchFamily="34" charset="-122"/>
                          <a:cs typeface="+mn-cs"/>
                          <a:sym typeface="+mn-ea"/>
                        </a:rPr>
                        <a:t>√</a:t>
                      </a:r>
                      <a:endParaRPr lang="en-US" altLang="zh-CN" sz="16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buNone/>
                      </a:pPr>
                      <a:endParaRPr lang="en-US" altLang="zh-CN" sz="1600" kern="1200">
                        <a:solidFill>
                          <a:srgbClr val="595959"/>
                        </a:solidFill>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10004"/>
                  </a:ext>
                </a:extLst>
              </a:tr>
              <a:tr h="570865">
                <a:tc vMerge="1">
                  <a:txBody>
                    <a:bodyPr/>
                    <a:lstStyle/>
                    <a:p>
                      <a:endParaRPr lang="zh-CN"/>
                    </a:p>
                  </a:txBody>
                  <a:tcPr anchor="ctr"/>
                </a:tc>
                <a:tc>
                  <a:txBody>
                    <a:bodyPr/>
                    <a:lstStyle/>
                    <a:p>
                      <a:pPr algn="l">
                        <a:buClrTx/>
                        <a:buSzTx/>
                        <a:buFontTx/>
                        <a:buNone/>
                      </a:pPr>
                      <a:r>
                        <a:rPr lang="en-US" altLang="zh-CN" sz="1600" kern="1200">
                          <a:solidFill>
                            <a:srgbClr val="595959"/>
                          </a:solidFill>
                          <a:latin typeface="微软雅黑" panose="020B0503020204020204" pitchFamily="34" charset="-122"/>
                          <a:ea typeface="微软雅黑" panose="020B0503020204020204" pitchFamily="34" charset="-122"/>
                          <a:cs typeface="+mn-cs"/>
                        </a:rPr>
                        <a:t>继续读下去</a:t>
                      </a:r>
                    </a:p>
                  </a:txBody>
                  <a:tcPr anchor="ctr"/>
                </a:tc>
                <a:tc>
                  <a:txBody>
                    <a:bodyPr/>
                    <a:lstStyle/>
                    <a:p>
                      <a:pPr algn="ctr">
                        <a:buNone/>
                      </a:pPr>
                      <a:endParaRPr lang="zh-CN" altLang="en-US" sz="16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buNone/>
                      </a:pPr>
                      <a:endParaRPr lang="en-US" altLang="zh-CN" sz="16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buNone/>
                      </a:pPr>
                      <a:endParaRPr lang="en-US" altLang="zh-CN" sz="16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buNone/>
                      </a:pPr>
                      <a:r>
                        <a:rPr lang="zh-CN" altLang="en-US" sz="1600" kern="1200">
                          <a:solidFill>
                            <a:srgbClr val="595959"/>
                          </a:solidFill>
                          <a:latin typeface="微软雅黑" panose="020B0503020204020204" pitchFamily="34" charset="-122"/>
                          <a:ea typeface="微软雅黑" panose="020B0503020204020204" pitchFamily="34" charset="-122"/>
                          <a:cs typeface="+mn-cs"/>
                          <a:sym typeface="+mn-ea"/>
                        </a:rPr>
                        <a:t>√</a:t>
                      </a:r>
                      <a:endParaRPr lang="en-US" altLang="zh-CN" sz="1600" kern="1200">
                        <a:solidFill>
                          <a:srgbClr val="595959"/>
                        </a:solidFill>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10005"/>
                  </a:ext>
                </a:extLst>
              </a:tr>
              <a:tr h="571500">
                <a:tc vMerge="1">
                  <a:txBody>
                    <a:bodyPr/>
                    <a:lstStyle/>
                    <a:p>
                      <a:endParaRPr lang="zh-CN"/>
                    </a:p>
                  </a:txBody>
                  <a:tcPr anchor="ctr"/>
                </a:tc>
                <a:tc>
                  <a:txBody>
                    <a:bodyPr/>
                    <a:lstStyle/>
                    <a:p>
                      <a:pPr algn="l">
                        <a:buClrTx/>
                        <a:buSzTx/>
                        <a:buFontTx/>
                        <a:buNone/>
                      </a:pPr>
                      <a:r>
                        <a:rPr lang="en-US" altLang="zh-CN" sz="1600" kern="1200">
                          <a:solidFill>
                            <a:srgbClr val="595959"/>
                          </a:solidFill>
                          <a:latin typeface="微软雅黑" panose="020B0503020204020204" pitchFamily="34" charset="-122"/>
                          <a:ea typeface="微软雅黑" panose="020B0503020204020204" pitchFamily="34" charset="-122"/>
                          <a:cs typeface="+mn-cs"/>
                        </a:rPr>
                        <a:t>跳到下一章去读</a:t>
                      </a:r>
                    </a:p>
                  </a:txBody>
                  <a:tcPr anchor="ctr"/>
                </a:tc>
                <a:tc>
                  <a:txBody>
                    <a:bodyPr/>
                    <a:lstStyle/>
                    <a:p>
                      <a:pPr algn="ctr">
                        <a:buNone/>
                      </a:pPr>
                      <a:endParaRPr lang="zh-CN" altLang="en-US" sz="16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buNone/>
                      </a:pPr>
                      <a:r>
                        <a:rPr lang="zh-CN" altLang="en-US" sz="1600" kern="1200">
                          <a:solidFill>
                            <a:srgbClr val="595959"/>
                          </a:solidFill>
                          <a:latin typeface="微软雅黑" panose="020B0503020204020204" pitchFamily="34" charset="-122"/>
                          <a:ea typeface="微软雅黑" panose="020B0503020204020204" pitchFamily="34" charset="-122"/>
                          <a:cs typeface="+mn-cs"/>
                          <a:sym typeface="+mn-ea"/>
                        </a:rPr>
                        <a:t>√</a:t>
                      </a:r>
                      <a:endParaRPr lang="en-US" altLang="zh-CN" sz="16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buNone/>
                      </a:pPr>
                      <a:endParaRPr lang="en-US" altLang="zh-CN" sz="16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buNone/>
                      </a:pPr>
                      <a:endParaRPr lang="en-US" altLang="zh-CN" sz="1600" kern="1200">
                        <a:solidFill>
                          <a:srgbClr val="595959"/>
                        </a:solidFill>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10006"/>
                  </a:ext>
                </a:extLst>
              </a:tr>
              <a:tr h="570865">
                <a:tc vMerge="1">
                  <a:txBody>
                    <a:bodyPr/>
                    <a:lstStyle/>
                    <a:p>
                      <a:endParaRPr lang="zh-CN"/>
                    </a:p>
                  </a:txBody>
                  <a:tcPr anchor="ctr"/>
                </a:tc>
                <a:tc>
                  <a:txBody>
                    <a:bodyPr/>
                    <a:lstStyle/>
                    <a:p>
                      <a:pPr algn="l">
                        <a:buClrTx/>
                        <a:buSzTx/>
                        <a:buFontTx/>
                        <a:buNone/>
                      </a:pPr>
                      <a:r>
                        <a:rPr lang="en-US" altLang="zh-CN" sz="1600" kern="1200">
                          <a:solidFill>
                            <a:srgbClr val="595959"/>
                          </a:solidFill>
                          <a:latin typeface="微软雅黑" panose="020B0503020204020204" pitchFamily="34" charset="-122"/>
                          <a:ea typeface="微软雅黑" panose="020B0503020204020204" pitchFamily="34" charset="-122"/>
                          <a:cs typeface="+mn-cs"/>
                        </a:rPr>
                        <a:t>停止阅读并休息</a:t>
                      </a:r>
                    </a:p>
                  </a:txBody>
                  <a:tcPr anchor="ctr"/>
                </a:tc>
                <a:tc>
                  <a:txBody>
                    <a:bodyPr/>
                    <a:lstStyle/>
                    <a:p>
                      <a:pPr algn="ctr">
                        <a:buNone/>
                      </a:pPr>
                      <a:r>
                        <a:rPr lang="zh-CN" altLang="en-US" sz="1600" kern="1200">
                          <a:solidFill>
                            <a:srgbClr val="595959"/>
                          </a:solidFill>
                          <a:latin typeface="微软雅黑" panose="020B0503020204020204" pitchFamily="34" charset="-122"/>
                          <a:ea typeface="微软雅黑" panose="020B0503020204020204" pitchFamily="34" charset="-122"/>
                          <a:cs typeface="+mn-cs"/>
                        </a:rPr>
                        <a:t>√</a:t>
                      </a:r>
                    </a:p>
                  </a:txBody>
                  <a:tcPr anchor="ctr"/>
                </a:tc>
                <a:tc>
                  <a:txBody>
                    <a:bodyPr/>
                    <a:lstStyle/>
                    <a:p>
                      <a:pPr algn="ctr">
                        <a:buNone/>
                      </a:pPr>
                      <a:endParaRPr lang="en-US" altLang="zh-CN" sz="1600" kern="1200" dirty="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buNone/>
                      </a:pPr>
                      <a:endParaRPr lang="en-US" altLang="zh-CN" sz="16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buNone/>
                      </a:pPr>
                      <a:endParaRPr lang="en-US" altLang="zh-CN" sz="1600" kern="1200" dirty="0">
                        <a:solidFill>
                          <a:srgbClr val="595959"/>
                        </a:solidFill>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10007"/>
                  </a:ext>
                </a:extLst>
              </a:tr>
            </a:tbl>
          </a:graphicData>
        </a:graphic>
      </p:graphicFrame>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2.3.2	决策表法概述</a:t>
            </a: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683A1-2EE7-C7C6-4815-F0A51CA9708F}"/>
            </a:ext>
          </a:extLst>
        </p:cNvPr>
        <p:cNvGrpSpPr/>
        <p:nvPr/>
      </p:nvGrpSpPr>
      <p:grpSpPr>
        <a:xfrm>
          <a:off x="0" y="0"/>
          <a:ext cx="0" cy="0"/>
          <a:chOff x="0" y="0"/>
          <a:chExt cx="0" cy="0"/>
        </a:xfrm>
      </p:grpSpPr>
      <p:sp>
        <p:nvSpPr>
          <p:cNvPr id="47" name="TextBox 35">
            <a:extLst>
              <a:ext uri="{FF2B5EF4-FFF2-40B4-BE49-F238E27FC236}">
                <a16:creationId xmlns:a16="http://schemas.microsoft.com/office/drawing/2014/main" id="{80582820-763C-3BC2-D431-55DDB81AF50C}"/>
              </a:ext>
            </a:extLst>
          </p:cNvPr>
          <p:cNvSpPr txBox="1">
            <a:spLocks noChangeArrowheads="1"/>
          </p:cNvSpPr>
          <p:nvPr/>
        </p:nvSpPr>
        <p:spPr bwMode="auto">
          <a:xfrm>
            <a:off x="983206" y="1269794"/>
            <a:ext cx="10017125" cy="36751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buClrTx/>
              <a:buSzTx/>
              <a:buFontTx/>
            </a:pPr>
            <a:r>
              <a:rPr lang="zh-CN" altLang="en-US" sz="1800" dirty="0">
                <a:solidFill>
                  <a:srgbClr val="0070C0"/>
                </a:solidFill>
                <a:latin typeface="微软雅黑" panose="020B0503020204020204" pitchFamily="34" charset="-122"/>
                <a:ea typeface="微软雅黑" panose="020B0503020204020204" pitchFamily="34" charset="-122"/>
              </a:rPr>
              <a:t>构建决策表的步骤</a:t>
            </a:r>
          </a:p>
          <a:p>
            <a:pPr marL="540000" indent="-285750" algn="just">
              <a:lnSpc>
                <a:spcPct val="200000"/>
              </a:lnSpc>
              <a:buFont typeface="Wingdings" panose="05000000000000000000" charset="0"/>
              <a:buChar char="l"/>
            </a:pPr>
            <a:r>
              <a:rPr lang="zh-CN" altLang="en-US" sz="1800" dirty="0">
                <a:solidFill>
                  <a:srgbClr val="595959"/>
                </a:solidFill>
                <a:latin typeface="微软雅黑" panose="020B0503020204020204" pitchFamily="34" charset="-122"/>
                <a:ea typeface="微软雅黑" panose="020B0503020204020204" pitchFamily="34" charset="-122"/>
              </a:rPr>
              <a:t>步骤一：确定规则的个数。一般来说，有</a:t>
            </a:r>
            <a:r>
              <a:rPr lang="en-US" altLang="zh-CN" sz="1800" dirty="0">
                <a:solidFill>
                  <a:srgbClr val="595959"/>
                </a:solidFill>
                <a:latin typeface="微软雅黑" panose="020B0503020204020204" pitchFamily="34" charset="-122"/>
                <a:ea typeface="微软雅黑" panose="020B0503020204020204" pitchFamily="34" charset="-122"/>
              </a:rPr>
              <a:t>n</a:t>
            </a:r>
            <a:r>
              <a:rPr lang="zh-CN" altLang="en-US" sz="1800" dirty="0">
                <a:solidFill>
                  <a:srgbClr val="595959"/>
                </a:solidFill>
                <a:latin typeface="微软雅黑" panose="020B0503020204020204" pitchFamily="34" charset="-122"/>
                <a:ea typeface="微软雅黑" panose="020B0503020204020204" pitchFamily="34" charset="-122"/>
              </a:rPr>
              <a:t>个条件的决策表有</a:t>
            </a:r>
            <a:r>
              <a:rPr lang="en-US" altLang="zh-CN" sz="1800" b="1" dirty="0">
                <a:solidFill>
                  <a:srgbClr val="0070C0"/>
                </a:solidFill>
                <a:latin typeface="Times New Roman" panose="02020603050405020304" pitchFamily="18" charset="0"/>
                <a:cs typeface="Times New Roman" panose="02020603050405020304" pitchFamily="18" charset="0"/>
              </a:rPr>
              <a:t>2</a:t>
            </a:r>
            <a:r>
              <a:rPr lang="en-US" altLang="zh-CN" sz="1800" b="1" baseline="30000" dirty="0">
                <a:solidFill>
                  <a:srgbClr val="0070C0"/>
                </a:solidFill>
                <a:latin typeface="Times New Roman" panose="02020603050405020304" pitchFamily="18" charset="0"/>
                <a:cs typeface="Times New Roman" panose="02020603050405020304" pitchFamily="18" charset="0"/>
              </a:rPr>
              <a:t>n</a:t>
            </a:r>
            <a:r>
              <a:rPr lang="zh-CN" altLang="en-US" sz="1800" dirty="0">
                <a:solidFill>
                  <a:srgbClr val="595959"/>
                </a:solidFill>
                <a:latin typeface="微软雅黑" panose="020B0503020204020204" pitchFamily="34" charset="-122"/>
                <a:ea typeface="微软雅黑" panose="020B0503020204020204" pitchFamily="34" charset="-122"/>
              </a:rPr>
              <a:t>个规则。</a:t>
            </a:r>
          </a:p>
          <a:p>
            <a:pPr marL="540000" indent="-285750" algn="just">
              <a:lnSpc>
                <a:spcPct val="200000"/>
              </a:lnSpc>
              <a:buClrTx/>
              <a:buSzTx/>
              <a:buFont typeface="Wingdings" panose="05000000000000000000" charset="0"/>
              <a:buChar char="l"/>
            </a:pPr>
            <a:r>
              <a:rPr lang="zh-CN" altLang="en-US" sz="1800" dirty="0">
                <a:solidFill>
                  <a:srgbClr val="595959"/>
                </a:solidFill>
                <a:latin typeface="微软雅黑" panose="020B0503020204020204" pitchFamily="34" charset="-122"/>
                <a:ea typeface="微软雅黑" panose="020B0503020204020204" pitchFamily="34" charset="-122"/>
              </a:rPr>
              <a:t>步骤二：列出所有的条件桩和动作桩。</a:t>
            </a:r>
          </a:p>
          <a:p>
            <a:pPr marL="540000" indent="-285750" algn="just">
              <a:lnSpc>
                <a:spcPct val="200000"/>
              </a:lnSpc>
              <a:buClrTx/>
              <a:buSzTx/>
              <a:buFont typeface="Wingdings" panose="05000000000000000000" charset="0"/>
              <a:buChar char="l"/>
            </a:pPr>
            <a:r>
              <a:rPr lang="zh-CN" altLang="en-US" sz="1800" dirty="0">
                <a:solidFill>
                  <a:srgbClr val="595959"/>
                </a:solidFill>
                <a:latin typeface="微软雅黑" panose="020B0503020204020204" pitchFamily="34" charset="-122"/>
                <a:ea typeface="微软雅黑" panose="020B0503020204020204" pitchFamily="34" charset="-122"/>
              </a:rPr>
              <a:t>步骤三：填入条件项。</a:t>
            </a:r>
          </a:p>
          <a:p>
            <a:pPr marL="540000" indent="-285750" algn="just">
              <a:lnSpc>
                <a:spcPct val="200000"/>
              </a:lnSpc>
              <a:buClrTx/>
              <a:buSzTx/>
              <a:buFont typeface="Wingdings" panose="05000000000000000000" charset="0"/>
              <a:buChar char="l"/>
            </a:pPr>
            <a:r>
              <a:rPr lang="zh-CN" altLang="en-US" sz="1800" dirty="0">
                <a:solidFill>
                  <a:srgbClr val="595959"/>
                </a:solidFill>
                <a:latin typeface="微软雅黑" panose="020B0503020204020204" pitchFamily="34" charset="-122"/>
                <a:ea typeface="微软雅黑" panose="020B0503020204020204" pitchFamily="34" charset="-122"/>
              </a:rPr>
              <a:t>步骤四：填入动作项，得到初始决策表。</a:t>
            </a:r>
          </a:p>
          <a:p>
            <a:pPr marL="540000" indent="-285750" algn="just">
              <a:lnSpc>
                <a:spcPct val="200000"/>
              </a:lnSpc>
              <a:buClrTx/>
              <a:buSzTx/>
              <a:buFont typeface="Wingdings" panose="05000000000000000000" charset="0"/>
              <a:buChar char="l"/>
            </a:pPr>
            <a:r>
              <a:rPr lang="zh-CN" altLang="en-US" sz="1800" dirty="0">
                <a:solidFill>
                  <a:srgbClr val="595959"/>
                </a:solidFill>
                <a:latin typeface="微软雅黑" panose="020B0503020204020204" pitchFamily="34" charset="-122"/>
                <a:ea typeface="微软雅黑" panose="020B0503020204020204" pitchFamily="34" charset="-122"/>
              </a:rPr>
              <a:t>步骤五：简化决策表，合并相似规则。</a:t>
            </a:r>
          </a:p>
          <a:p>
            <a:pPr marL="285750" indent="-285750" algn="just">
              <a:lnSpc>
                <a:spcPct val="150000"/>
              </a:lnSpc>
              <a:buClrTx/>
              <a:buSzTx/>
              <a:buFont typeface="Wingdings" panose="05000000000000000000" charset="0"/>
              <a:buChar char="l"/>
            </a:pPr>
            <a:endParaRPr lang="zh-CN" altLang="en-US" sz="1800" dirty="0">
              <a:solidFill>
                <a:srgbClr val="595959"/>
              </a:solidFill>
              <a:latin typeface="微软雅黑" panose="020B0503020204020204" pitchFamily="34" charset="-122"/>
              <a:ea typeface="微软雅黑" panose="020B0503020204020204" pitchFamily="34" charset="-122"/>
            </a:endParaRPr>
          </a:p>
        </p:txBody>
      </p:sp>
      <p:sp>
        <p:nvSpPr>
          <p:cNvPr id="2" name="Title 1">
            <a:extLst>
              <a:ext uri="{FF2B5EF4-FFF2-40B4-BE49-F238E27FC236}">
                <a16:creationId xmlns:a16="http://schemas.microsoft.com/office/drawing/2014/main" id="{541D4CDC-6477-3767-6E72-EE994BED18AB}"/>
              </a:ext>
            </a:extLst>
          </p:cNvPr>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2.3.2	决策表法概述</a:t>
            </a:r>
          </a:p>
        </p:txBody>
      </p:sp>
    </p:spTree>
    <p:extLst>
      <p:ext uri="{BB962C8B-B14F-4D97-AF65-F5344CB8AC3E}">
        <p14:creationId xmlns:p14="http://schemas.microsoft.com/office/powerpoint/2010/main" val="413335794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7AEB98-5A1A-309E-B94A-C4DF672F306D}"/>
            </a:ext>
          </a:extLst>
        </p:cNvPr>
        <p:cNvGrpSpPr/>
        <p:nvPr/>
      </p:nvGrpSpPr>
      <p:grpSpPr>
        <a:xfrm>
          <a:off x="0" y="0"/>
          <a:ext cx="0" cy="0"/>
          <a:chOff x="0" y="0"/>
          <a:chExt cx="0" cy="0"/>
        </a:xfrm>
      </p:grpSpPr>
      <p:sp>
        <p:nvSpPr>
          <p:cNvPr id="47" name="TextBox 35">
            <a:extLst>
              <a:ext uri="{FF2B5EF4-FFF2-40B4-BE49-F238E27FC236}">
                <a16:creationId xmlns:a16="http://schemas.microsoft.com/office/drawing/2014/main" id="{1C8F4BFE-48FC-D0DC-03EB-39CBDC27CB07}"/>
              </a:ext>
            </a:extLst>
          </p:cNvPr>
          <p:cNvSpPr txBox="1">
            <a:spLocks noChangeArrowheads="1"/>
          </p:cNvSpPr>
          <p:nvPr/>
        </p:nvSpPr>
        <p:spPr bwMode="auto">
          <a:xfrm>
            <a:off x="982980" y="909955"/>
            <a:ext cx="10017125" cy="13206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indent="457200" algn="just">
              <a:lnSpc>
                <a:spcPct val="150000"/>
              </a:lnSpc>
              <a:buClrTx/>
              <a:buSzTx/>
              <a:buFontTx/>
            </a:pPr>
            <a:r>
              <a:rPr lang="zh-CN" altLang="en-US" sz="1800" dirty="0">
                <a:solidFill>
                  <a:srgbClr val="595959"/>
                </a:solidFill>
                <a:latin typeface="微软雅黑" panose="020B0503020204020204" pitchFamily="34" charset="-122"/>
                <a:ea typeface="微软雅黑" panose="020B0503020204020204" pitchFamily="34" charset="-122"/>
              </a:rPr>
              <a:t>程序的规格说明要求：输入的第一个字符必须是</a:t>
            </a:r>
            <a:r>
              <a:rPr lang="en-US" altLang="zh-CN" sz="1800" dirty="0">
                <a:solidFill>
                  <a:srgbClr val="595959"/>
                </a:solidFill>
                <a:latin typeface="微软雅黑" panose="020B0503020204020204" pitchFamily="34" charset="-122"/>
                <a:ea typeface="微软雅黑" panose="020B0503020204020204" pitchFamily="34" charset="-122"/>
              </a:rPr>
              <a:t>A</a:t>
            </a:r>
            <a:r>
              <a:rPr lang="zh-CN" altLang="en-US" sz="1800" dirty="0">
                <a:solidFill>
                  <a:srgbClr val="595959"/>
                </a:solidFill>
                <a:latin typeface="微软雅黑" panose="020B0503020204020204" pitchFamily="34" charset="-122"/>
                <a:ea typeface="微软雅黑" panose="020B0503020204020204" pitchFamily="34" charset="-122"/>
              </a:rPr>
              <a:t>或</a:t>
            </a:r>
            <a:r>
              <a:rPr lang="en-US" altLang="zh-CN" sz="1800" dirty="0">
                <a:solidFill>
                  <a:srgbClr val="595959"/>
                </a:solidFill>
                <a:latin typeface="微软雅黑" panose="020B0503020204020204" pitchFamily="34" charset="-122"/>
                <a:ea typeface="微软雅黑" panose="020B0503020204020204" pitchFamily="34" charset="-122"/>
              </a:rPr>
              <a:t>B</a:t>
            </a:r>
            <a:r>
              <a:rPr lang="zh-CN" altLang="en-US" sz="1800" dirty="0">
                <a:solidFill>
                  <a:srgbClr val="595959"/>
                </a:solidFill>
                <a:latin typeface="微软雅黑" panose="020B0503020204020204" pitchFamily="34" charset="-122"/>
                <a:ea typeface="微软雅黑" panose="020B0503020204020204" pitchFamily="34" charset="-122"/>
              </a:rPr>
              <a:t>，第二个字符必须是一个数字，此情况下进行文件的修改；如果第一个字符不是</a:t>
            </a:r>
            <a:r>
              <a:rPr lang="en-US" altLang="zh-CN" sz="1800" dirty="0">
                <a:solidFill>
                  <a:srgbClr val="595959"/>
                </a:solidFill>
                <a:latin typeface="微软雅黑" panose="020B0503020204020204" pitchFamily="34" charset="-122"/>
                <a:ea typeface="微软雅黑" panose="020B0503020204020204" pitchFamily="34" charset="-122"/>
              </a:rPr>
              <a:t>A</a:t>
            </a:r>
            <a:r>
              <a:rPr lang="zh-CN" altLang="en-US" sz="1800" dirty="0">
                <a:solidFill>
                  <a:srgbClr val="595959"/>
                </a:solidFill>
                <a:latin typeface="微软雅黑" panose="020B0503020204020204" pitchFamily="34" charset="-122"/>
                <a:ea typeface="微软雅黑" panose="020B0503020204020204" pitchFamily="34" charset="-122"/>
              </a:rPr>
              <a:t>或</a:t>
            </a:r>
            <a:r>
              <a:rPr lang="en-US" altLang="zh-CN" sz="1800" dirty="0">
                <a:solidFill>
                  <a:srgbClr val="595959"/>
                </a:solidFill>
                <a:latin typeface="微软雅黑" panose="020B0503020204020204" pitchFamily="34" charset="-122"/>
                <a:ea typeface="微软雅黑" panose="020B0503020204020204" pitchFamily="34" charset="-122"/>
              </a:rPr>
              <a:t>B</a:t>
            </a:r>
            <a:r>
              <a:rPr lang="zh-CN" altLang="en-US" sz="1800" dirty="0">
                <a:solidFill>
                  <a:srgbClr val="595959"/>
                </a:solidFill>
                <a:latin typeface="微软雅黑" panose="020B0503020204020204" pitchFamily="34" charset="-122"/>
                <a:ea typeface="微软雅黑" panose="020B0503020204020204" pitchFamily="34" charset="-122"/>
              </a:rPr>
              <a:t>，则给出信息</a:t>
            </a:r>
            <a:r>
              <a:rPr lang="en-US" altLang="zh-CN" sz="1800" dirty="0">
                <a:solidFill>
                  <a:srgbClr val="595959"/>
                </a:solidFill>
                <a:latin typeface="微软雅黑" panose="020B0503020204020204" pitchFamily="34" charset="-122"/>
                <a:ea typeface="微软雅黑" panose="020B0503020204020204" pitchFamily="34" charset="-122"/>
              </a:rPr>
              <a:t>L</a:t>
            </a:r>
            <a:r>
              <a:rPr lang="zh-CN" altLang="en-US" sz="1800" dirty="0">
                <a:solidFill>
                  <a:srgbClr val="595959"/>
                </a:solidFill>
                <a:latin typeface="微软雅黑" panose="020B0503020204020204" pitchFamily="34" charset="-122"/>
                <a:ea typeface="微软雅黑" panose="020B0503020204020204" pitchFamily="34" charset="-122"/>
              </a:rPr>
              <a:t>，如果第二个字符不是数字，则给出信息</a:t>
            </a:r>
            <a:r>
              <a:rPr lang="en-US" altLang="zh-CN" sz="1800" dirty="0">
                <a:solidFill>
                  <a:srgbClr val="595959"/>
                </a:solidFill>
                <a:latin typeface="微软雅黑" panose="020B0503020204020204" pitchFamily="34" charset="-122"/>
                <a:ea typeface="微软雅黑" panose="020B0503020204020204" pitchFamily="34" charset="-122"/>
              </a:rPr>
              <a:t>M</a:t>
            </a:r>
            <a:endParaRPr lang="zh-CN" altLang="en-US" sz="1800" dirty="0">
              <a:solidFill>
                <a:srgbClr val="595959"/>
              </a:solidFill>
              <a:latin typeface="微软雅黑" panose="020B0503020204020204" pitchFamily="34" charset="-122"/>
              <a:ea typeface="微软雅黑" panose="020B0503020204020204" pitchFamily="34" charset="-122"/>
            </a:endParaRPr>
          </a:p>
        </p:txBody>
      </p:sp>
      <p:sp>
        <p:nvSpPr>
          <p:cNvPr id="4" name="Title 1">
            <a:extLst>
              <a:ext uri="{FF2B5EF4-FFF2-40B4-BE49-F238E27FC236}">
                <a16:creationId xmlns:a16="http://schemas.microsoft.com/office/drawing/2014/main" id="{AB371516-37C0-ECC9-D8D4-D5CA7287DE8A}"/>
              </a:ext>
            </a:extLst>
          </p:cNvPr>
          <p:cNvSpPr txBox="1"/>
          <p:nvPr/>
        </p:nvSpPr>
        <p:spPr>
          <a:xfrm>
            <a:off x="1039559" y="189794"/>
            <a:ext cx="9087647"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2.3.3	实例一：字符问题的因果图与决策表绘制</a:t>
            </a:r>
          </a:p>
        </p:txBody>
      </p:sp>
      <p:graphicFrame>
        <p:nvGraphicFramePr>
          <p:cNvPr id="2" name="表格 1">
            <a:extLst>
              <a:ext uri="{FF2B5EF4-FFF2-40B4-BE49-F238E27FC236}">
                <a16:creationId xmlns:a16="http://schemas.microsoft.com/office/drawing/2014/main" id="{EE3FFC92-92A2-1711-8E9B-BA744D1CE4B6}"/>
              </a:ext>
            </a:extLst>
          </p:cNvPr>
          <p:cNvGraphicFramePr>
            <a:graphicFrameLocks noGrp="1"/>
          </p:cNvGraphicFramePr>
          <p:nvPr>
            <p:extLst>
              <p:ext uri="{D42A27DB-BD31-4B8C-83A1-F6EECF244321}">
                <p14:modId xmlns:p14="http://schemas.microsoft.com/office/powerpoint/2010/main" val="2661248657"/>
              </p:ext>
            </p:extLst>
          </p:nvPr>
        </p:nvGraphicFramePr>
        <p:xfrm>
          <a:off x="2601052" y="2637794"/>
          <a:ext cx="6780979" cy="2335530"/>
        </p:xfrm>
        <a:graphic>
          <a:graphicData uri="http://schemas.openxmlformats.org/drawingml/2006/table">
            <a:tbl>
              <a:tblPr firstRow="1" bandRow="1">
                <a:tableStyleId>{5C22544A-7EE6-4342-B048-85BDC9FD1C3A}</a:tableStyleId>
              </a:tblPr>
              <a:tblGrid>
                <a:gridCol w="2663946">
                  <a:extLst>
                    <a:ext uri="{9D8B030D-6E8A-4147-A177-3AD203B41FA5}">
                      <a16:colId xmlns:a16="http://schemas.microsoft.com/office/drawing/2014/main" val="2208022382"/>
                    </a:ext>
                  </a:extLst>
                </a:gridCol>
                <a:gridCol w="810774">
                  <a:extLst>
                    <a:ext uri="{9D8B030D-6E8A-4147-A177-3AD203B41FA5}">
                      <a16:colId xmlns:a16="http://schemas.microsoft.com/office/drawing/2014/main" val="2980872588"/>
                    </a:ext>
                  </a:extLst>
                </a:gridCol>
                <a:gridCol w="2466340">
                  <a:extLst>
                    <a:ext uri="{9D8B030D-6E8A-4147-A177-3AD203B41FA5}">
                      <a16:colId xmlns:a16="http://schemas.microsoft.com/office/drawing/2014/main" val="2788151239"/>
                    </a:ext>
                  </a:extLst>
                </a:gridCol>
                <a:gridCol w="839919">
                  <a:extLst>
                    <a:ext uri="{9D8B030D-6E8A-4147-A177-3AD203B41FA5}">
                      <a16:colId xmlns:a16="http://schemas.microsoft.com/office/drawing/2014/main" val="3959942440"/>
                    </a:ext>
                  </a:extLst>
                </a:gridCol>
              </a:tblGrid>
              <a:tr h="613410">
                <a:tc gridSpan="2">
                  <a:txBody>
                    <a:bodyPr/>
                    <a:lstStyle/>
                    <a:p>
                      <a:pPr algn="ctr">
                        <a:lnSpc>
                          <a:spcPct val="90000"/>
                        </a:lnSpc>
                        <a:buNone/>
                      </a:pPr>
                      <a:r>
                        <a:rPr lang="zh-CN" altLang="en-US" sz="1800" b="1" dirty="0">
                          <a:latin typeface="微软雅黑" panose="020B0503020204020204" pitchFamily="34" charset="-122"/>
                          <a:ea typeface="微软雅黑" panose="020B0503020204020204" pitchFamily="34" charset="-122"/>
                        </a:rPr>
                        <a:t>原因</a:t>
                      </a:r>
                      <a:endParaRPr lang="zh-CN" altLang="en-US" sz="1800" dirty="0">
                        <a:latin typeface="微软雅黑" panose="020B0503020204020204" pitchFamily="34" charset="-122"/>
                        <a:ea typeface="微软雅黑" panose="020B0503020204020204" pitchFamily="34" charset="-122"/>
                      </a:endParaRPr>
                    </a:p>
                  </a:txBody>
                  <a:tcPr anchor="ctr"/>
                </a:tc>
                <a:tc hMerge="1">
                  <a:txBody>
                    <a:bodyPr/>
                    <a:lstStyle/>
                    <a:p>
                      <a:endParaRPr lang="zh-CN"/>
                    </a:p>
                  </a:txBody>
                  <a:tcPr anchor="ctr"/>
                </a:tc>
                <a:tc gridSpan="2">
                  <a:txBody>
                    <a:bodyPr/>
                    <a:lstStyle/>
                    <a:p>
                      <a:pPr algn="ctr">
                        <a:lnSpc>
                          <a:spcPct val="90000"/>
                        </a:lnSpc>
                        <a:buNone/>
                      </a:pPr>
                      <a:r>
                        <a:rPr lang="zh-CN" altLang="en-US" sz="1800">
                          <a:latin typeface="微软雅黑" panose="020B0503020204020204" pitchFamily="34" charset="-122"/>
                          <a:ea typeface="微软雅黑" panose="020B0503020204020204" pitchFamily="34" charset="-122"/>
                        </a:rPr>
                        <a:t>结果</a:t>
                      </a:r>
                    </a:p>
                  </a:txBody>
                  <a:tcPr anchor="ctr"/>
                </a:tc>
                <a:tc hMerge="1">
                  <a:txBody>
                    <a:bodyPr/>
                    <a:lstStyle/>
                    <a:p>
                      <a:endParaRPr lang="zh-CN"/>
                    </a:p>
                  </a:txBody>
                  <a:tcPr anchor="ctr"/>
                </a:tc>
                <a:extLst>
                  <a:ext uri="{0D108BD9-81ED-4DB2-BD59-A6C34878D82A}">
                    <a16:rowId xmlns:a16="http://schemas.microsoft.com/office/drawing/2014/main" val="1330676924"/>
                  </a:ext>
                </a:extLst>
              </a:tr>
              <a:tr h="598805">
                <a:tc>
                  <a:txBody>
                    <a:bodyPr/>
                    <a:lstStyle/>
                    <a:p>
                      <a:pPr algn="ctr">
                        <a:buNone/>
                      </a:pPr>
                      <a:r>
                        <a:rPr lang="zh-CN" altLang="en-US" sz="1800" kern="1200" dirty="0">
                          <a:solidFill>
                            <a:srgbClr val="595959"/>
                          </a:solidFill>
                          <a:latin typeface="微软雅黑" panose="020B0503020204020204" pitchFamily="34" charset="-122"/>
                          <a:ea typeface="微软雅黑" panose="020B0503020204020204" pitchFamily="34" charset="-122"/>
                          <a:cs typeface="+mn-cs"/>
                        </a:rPr>
                        <a:t>第一个字符是</a:t>
                      </a:r>
                      <a:r>
                        <a:rPr lang="en-US" altLang="zh-CN" sz="1800" kern="1200" dirty="0">
                          <a:solidFill>
                            <a:srgbClr val="595959"/>
                          </a:solidFill>
                          <a:latin typeface="微软雅黑" panose="020B0503020204020204" pitchFamily="34" charset="-122"/>
                          <a:ea typeface="微软雅黑" panose="020B0503020204020204" pitchFamily="34" charset="-122"/>
                          <a:cs typeface="+mn-cs"/>
                        </a:rPr>
                        <a:t>A</a:t>
                      </a:r>
                      <a:endParaRPr lang="zh-CN" altLang="en-US" sz="1800" kern="1200" dirty="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buNone/>
                      </a:pPr>
                      <a:r>
                        <a:rPr lang="en-US" sz="1800" kern="1200">
                          <a:solidFill>
                            <a:srgbClr val="595959"/>
                          </a:solidFill>
                          <a:latin typeface="微软雅黑" panose="020B0503020204020204" pitchFamily="34" charset="-122"/>
                          <a:ea typeface="微软雅黑" panose="020B0503020204020204" pitchFamily="34" charset="-122"/>
                          <a:cs typeface="+mn-cs"/>
                          <a:sym typeface="+mn-ea"/>
                        </a:rPr>
                        <a:t>c</a:t>
                      </a:r>
                      <a:r>
                        <a:rPr lang="en-US" sz="1800" kern="1200" baseline="-25000">
                          <a:solidFill>
                            <a:srgbClr val="595959"/>
                          </a:solidFill>
                          <a:latin typeface="微软雅黑" panose="020B0503020204020204" pitchFamily="34" charset="-122"/>
                          <a:ea typeface="微软雅黑" panose="020B0503020204020204" pitchFamily="34" charset="-122"/>
                          <a:cs typeface="+mn-cs"/>
                          <a:sym typeface="+mn-ea"/>
                        </a:rPr>
                        <a:t>1</a:t>
                      </a:r>
                      <a:endParaRPr lang="zh-CN" altLang="en-US" sz="1800" kern="1200" baseline="-250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buNone/>
                      </a:pPr>
                      <a:r>
                        <a:rPr lang="zh-CN" altLang="en-US" sz="1800" kern="1200" dirty="0">
                          <a:solidFill>
                            <a:srgbClr val="595959"/>
                          </a:solidFill>
                          <a:latin typeface="微软雅黑" panose="020B0503020204020204" pitchFamily="34" charset="-122"/>
                          <a:ea typeface="微软雅黑" panose="020B0503020204020204" pitchFamily="34" charset="-122"/>
                          <a:cs typeface="+mn-cs"/>
                        </a:rPr>
                        <a:t>修改文件</a:t>
                      </a:r>
                      <a:endParaRPr lang="en-US" altLang="zh-CN" sz="1800" kern="1200" dirty="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ClrTx/>
                        <a:buSzTx/>
                        <a:buFontTx/>
                        <a:buNone/>
                      </a:pPr>
                      <a:r>
                        <a:rPr lang="en-US" sz="1800" kern="1200">
                          <a:solidFill>
                            <a:srgbClr val="595959"/>
                          </a:solidFill>
                          <a:latin typeface="微软雅黑" panose="020B0503020204020204" pitchFamily="34" charset="-122"/>
                          <a:ea typeface="微软雅黑" panose="020B0503020204020204" pitchFamily="34" charset="-122"/>
                          <a:cs typeface="+mn-cs"/>
                          <a:sym typeface="+mn-ea"/>
                        </a:rPr>
                        <a:t>e</a:t>
                      </a:r>
                      <a:r>
                        <a:rPr lang="en-US" sz="1800" kern="1200" baseline="-25000">
                          <a:solidFill>
                            <a:srgbClr val="595959"/>
                          </a:solidFill>
                          <a:latin typeface="微软雅黑" panose="020B0503020204020204" pitchFamily="34" charset="-122"/>
                          <a:ea typeface="微软雅黑" panose="020B0503020204020204" pitchFamily="34" charset="-122"/>
                          <a:cs typeface="+mn-cs"/>
                          <a:sym typeface="+mn-ea"/>
                        </a:rPr>
                        <a:t>1</a:t>
                      </a:r>
                      <a:endParaRPr lang="en-US" altLang="zh-CN" sz="1800" kern="1200" baseline="-25000">
                        <a:solidFill>
                          <a:srgbClr val="595959"/>
                        </a:solidFill>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3514375227"/>
                  </a:ext>
                </a:extLst>
              </a:tr>
              <a:tr h="558165">
                <a:tc>
                  <a:txBody>
                    <a:bodyPr/>
                    <a:lstStyle/>
                    <a:p>
                      <a:pPr algn="ctr">
                        <a:buClrTx/>
                        <a:buSzTx/>
                        <a:buFontTx/>
                        <a:buNone/>
                      </a:pPr>
                      <a:r>
                        <a:rPr lang="zh-CN" altLang="pl-PL" sz="1800" kern="1200" dirty="0">
                          <a:solidFill>
                            <a:srgbClr val="595959"/>
                          </a:solidFill>
                          <a:latin typeface="微软雅黑" panose="020B0503020204020204" pitchFamily="34" charset="-122"/>
                          <a:ea typeface="微软雅黑" panose="020B0503020204020204" pitchFamily="34" charset="-122"/>
                          <a:cs typeface="+mn-cs"/>
                        </a:rPr>
                        <a:t>第一</a:t>
                      </a:r>
                      <a:r>
                        <a:rPr lang="zh-CN" altLang="en-US" sz="1800" kern="1200" dirty="0">
                          <a:solidFill>
                            <a:srgbClr val="595959"/>
                          </a:solidFill>
                          <a:latin typeface="微软雅黑" panose="020B0503020204020204" pitchFamily="34" charset="-122"/>
                          <a:ea typeface="微软雅黑" panose="020B0503020204020204" pitchFamily="34" charset="-122"/>
                          <a:cs typeface="+mn-cs"/>
                        </a:rPr>
                        <a:t>个</a:t>
                      </a:r>
                      <a:r>
                        <a:rPr lang="zh-CN" altLang="pl-PL" sz="1800" kern="1200" dirty="0">
                          <a:solidFill>
                            <a:srgbClr val="595959"/>
                          </a:solidFill>
                          <a:latin typeface="微软雅黑" panose="020B0503020204020204" pitchFamily="34" charset="-122"/>
                          <a:ea typeface="微软雅黑" panose="020B0503020204020204" pitchFamily="34" charset="-122"/>
                          <a:cs typeface="+mn-cs"/>
                        </a:rPr>
                        <a:t>字符是</a:t>
                      </a:r>
                      <a:r>
                        <a:rPr lang="pl-PL" altLang="zh-CN" sz="1800" kern="1200" dirty="0">
                          <a:solidFill>
                            <a:srgbClr val="595959"/>
                          </a:solidFill>
                          <a:latin typeface="微软雅黑" panose="020B0503020204020204" pitchFamily="34" charset="-122"/>
                          <a:ea typeface="微软雅黑" panose="020B0503020204020204" pitchFamily="34" charset="-122"/>
                          <a:cs typeface="+mn-cs"/>
                        </a:rPr>
                        <a:t>B</a:t>
                      </a:r>
                      <a:endParaRPr lang="en-US" altLang="zh-CN" sz="1800" kern="1200" dirty="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buClrTx/>
                        <a:buSzTx/>
                        <a:buFontTx/>
                        <a:buNone/>
                      </a:pPr>
                      <a:r>
                        <a:rPr lang="en-US" sz="1800" kern="1200">
                          <a:solidFill>
                            <a:srgbClr val="595959"/>
                          </a:solidFill>
                          <a:latin typeface="微软雅黑" panose="020B0503020204020204" pitchFamily="34" charset="-122"/>
                          <a:ea typeface="微软雅黑" panose="020B0503020204020204" pitchFamily="34" charset="-122"/>
                          <a:cs typeface="+mn-cs"/>
                          <a:sym typeface="+mn-ea"/>
                        </a:rPr>
                        <a:t>c</a:t>
                      </a:r>
                      <a:r>
                        <a:rPr lang="en-US" sz="1800" kern="1200" baseline="-25000">
                          <a:solidFill>
                            <a:srgbClr val="595959"/>
                          </a:solidFill>
                          <a:latin typeface="微软雅黑" panose="020B0503020204020204" pitchFamily="34" charset="-122"/>
                          <a:ea typeface="微软雅黑" panose="020B0503020204020204" pitchFamily="34" charset="-122"/>
                          <a:cs typeface="+mn-cs"/>
                          <a:sym typeface="+mn-ea"/>
                        </a:rPr>
                        <a:t>2</a:t>
                      </a:r>
                      <a:endParaRPr lang="en-US" altLang="zh-CN" sz="1800" kern="1200" baseline="-250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buNone/>
                      </a:pPr>
                      <a:r>
                        <a:rPr lang="zh-CN" altLang="en-US" sz="1800" kern="1200" dirty="0">
                          <a:solidFill>
                            <a:srgbClr val="595959"/>
                          </a:solidFill>
                          <a:latin typeface="微软雅黑" panose="020B0503020204020204" pitchFamily="34" charset="-122"/>
                          <a:ea typeface="微软雅黑" panose="020B0503020204020204" pitchFamily="34" charset="-122"/>
                          <a:cs typeface="+mn-cs"/>
                        </a:rPr>
                        <a:t>给出信息</a:t>
                      </a:r>
                      <a:r>
                        <a:rPr lang="en-US" altLang="zh-CN" sz="1800" kern="1200" dirty="0">
                          <a:solidFill>
                            <a:srgbClr val="595959"/>
                          </a:solidFill>
                          <a:latin typeface="微软雅黑" panose="020B0503020204020204" pitchFamily="34" charset="-122"/>
                          <a:ea typeface="微软雅黑" panose="020B0503020204020204" pitchFamily="34" charset="-122"/>
                          <a:cs typeface="+mn-cs"/>
                        </a:rPr>
                        <a:t>L</a:t>
                      </a:r>
                    </a:p>
                  </a:txBody>
                  <a:tcPr anchor="ctr"/>
                </a:tc>
                <a:tc>
                  <a:txBody>
                    <a:bodyPr/>
                    <a:lstStyle/>
                    <a:p>
                      <a:pPr marL="0" algn="ctr" defTabSz="1219200" rtl="0" eaLnBrk="1" latinLnBrk="0" hangingPunct="1">
                        <a:buClrTx/>
                        <a:buSzTx/>
                        <a:buFontTx/>
                        <a:buNone/>
                      </a:pPr>
                      <a:r>
                        <a:rPr lang="en-US" sz="1800" kern="1200">
                          <a:solidFill>
                            <a:srgbClr val="595959"/>
                          </a:solidFill>
                          <a:latin typeface="微软雅黑" panose="020B0503020204020204" pitchFamily="34" charset="-122"/>
                          <a:ea typeface="微软雅黑" panose="020B0503020204020204" pitchFamily="34" charset="-122"/>
                          <a:cs typeface="+mn-cs"/>
                          <a:sym typeface="+mn-ea"/>
                        </a:rPr>
                        <a:t>e</a:t>
                      </a:r>
                      <a:r>
                        <a:rPr lang="en-US" sz="1800" kern="1200" baseline="-25000">
                          <a:solidFill>
                            <a:srgbClr val="595959"/>
                          </a:solidFill>
                          <a:latin typeface="微软雅黑" panose="020B0503020204020204" pitchFamily="34" charset="-122"/>
                          <a:ea typeface="微软雅黑" panose="020B0503020204020204" pitchFamily="34" charset="-122"/>
                          <a:cs typeface="+mn-cs"/>
                          <a:sym typeface="+mn-ea"/>
                        </a:rPr>
                        <a:t>2</a:t>
                      </a:r>
                      <a:endParaRPr lang="en-US" altLang="zh-CN" sz="1800" kern="1200" baseline="-25000">
                        <a:solidFill>
                          <a:srgbClr val="595959"/>
                        </a:solidFill>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236896294"/>
                  </a:ext>
                </a:extLst>
              </a:tr>
              <a:tr h="565150">
                <a:tc>
                  <a:txBody>
                    <a:bodyPr/>
                    <a:lstStyle/>
                    <a:p>
                      <a:pPr algn="ctr">
                        <a:buClrTx/>
                        <a:buSzTx/>
                        <a:buFontTx/>
                        <a:buNone/>
                      </a:pPr>
                      <a:r>
                        <a:rPr lang="zh-CN" altLang="en-US" sz="1800" kern="1200" dirty="0">
                          <a:solidFill>
                            <a:srgbClr val="595959"/>
                          </a:solidFill>
                          <a:latin typeface="微软雅黑" panose="020B0503020204020204" pitchFamily="34" charset="-122"/>
                          <a:ea typeface="微软雅黑" panose="020B0503020204020204" pitchFamily="34" charset="-122"/>
                          <a:cs typeface="+mn-cs"/>
                        </a:rPr>
                        <a:t>第二列字符是一数字</a:t>
                      </a:r>
                      <a:endParaRPr lang="en-US" altLang="zh-CN" sz="1800" kern="1200" dirty="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buClrTx/>
                        <a:buSzTx/>
                        <a:buFontTx/>
                        <a:buNone/>
                      </a:pPr>
                      <a:r>
                        <a:rPr lang="en-US" sz="1800" kern="1200">
                          <a:solidFill>
                            <a:srgbClr val="595959"/>
                          </a:solidFill>
                          <a:latin typeface="微软雅黑" panose="020B0503020204020204" pitchFamily="34" charset="-122"/>
                          <a:ea typeface="微软雅黑" panose="020B0503020204020204" pitchFamily="34" charset="-122"/>
                          <a:cs typeface="+mn-cs"/>
                          <a:sym typeface="+mn-ea"/>
                        </a:rPr>
                        <a:t>c</a:t>
                      </a:r>
                      <a:r>
                        <a:rPr lang="en-US" sz="1800" kern="1200" baseline="-25000">
                          <a:solidFill>
                            <a:srgbClr val="595959"/>
                          </a:solidFill>
                          <a:latin typeface="微软雅黑" panose="020B0503020204020204" pitchFamily="34" charset="-122"/>
                          <a:ea typeface="微软雅黑" panose="020B0503020204020204" pitchFamily="34" charset="-122"/>
                          <a:cs typeface="+mn-cs"/>
                          <a:sym typeface="+mn-ea"/>
                        </a:rPr>
                        <a:t>3</a:t>
                      </a:r>
                      <a:endParaRPr lang="en-US" altLang="zh-CN" sz="1800" kern="1200" baseline="-250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buNone/>
                      </a:pPr>
                      <a:r>
                        <a:rPr lang="zh-CN" altLang="en-US" sz="1800" kern="1200" dirty="0">
                          <a:solidFill>
                            <a:srgbClr val="595959"/>
                          </a:solidFill>
                          <a:latin typeface="微软雅黑" panose="020B0503020204020204" pitchFamily="34" charset="-122"/>
                          <a:ea typeface="微软雅黑" panose="020B0503020204020204" pitchFamily="34" charset="-122"/>
                          <a:cs typeface="+mn-cs"/>
                        </a:rPr>
                        <a:t>给出信息</a:t>
                      </a:r>
                      <a:r>
                        <a:rPr lang="en-US" altLang="zh-CN" sz="1800" kern="1200" dirty="0">
                          <a:solidFill>
                            <a:srgbClr val="595959"/>
                          </a:solidFill>
                          <a:latin typeface="微软雅黑" panose="020B0503020204020204" pitchFamily="34" charset="-122"/>
                          <a:ea typeface="微软雅黑" panose="020B0503020204020204" pitchFamily="34" charset="-122"/>
                          <a:cs typeface="+mn-cs"/>
                        </a:rPr>
                        <a:t>M</a:t>
                      </a:r>
                    </a:p>
                  </a:txBody>
                  <a:tcPr anchor="ctr"/>
                </a:tc>
                <a:tc>
                  <a:txBody>
                    <a:bodyPr/>
                    <a:lstStyle/>
                    <a:p>
                      <a:pPr algn="ctr">
                        <a:buNone/>
                      </a:pPr>
                      <a:r>
                        <a:rPr lang="en-US" sz="1800" kern="1200" dirty="0">
                          <a:solidFill>
                            <a:srgbClr val="595959"/>
                          </a:solidFill>
                          <a:latin typeface="微软雅黑" panose="020B0503020204020204" pitchFamily="34" charset="-122"/>
                          <a:ea typeface="微软雅黑" panose="020B0503020204020204" pitchFamily="34" charset="-122"/>
                          <a:cs typeface="+mn-cs"/>
                          <a:sym typeface="+mn-ea"/>
                        </a:rPr>
                        <a:t>e</a:t>
                      </a:r>
                      <a:r>
                        <a:rPr lang="en-US" sz="1800" kern="1200" baseline="-25000" dirty="0">
                          <a:solidFill>
                            <a:srgbClr val="595959"/>
                          </a:solidFill>
                          <a:latin typeface="微软雅黑" panose="020B0503020204020204" pitchFamily="34" charset="-122"/>
                          <a:ea typeface="微软雅黑" panose="020B0503020204020204" pitchFamily="34" charset="-122"/>
                          <a:cs typeface="+mn-cs"/>
                          <a:sym typeface="+mn-ea"/>
                        </a:rPr>
                        <a:t>3</a:t>
                      </a:r>
                      <a:endParaRPr lang="en-US" altLang="zh-CN" sz="1800" kern="1200" baseline="-25000" dirty="0">
                        <a:solidFill>
                          <a:srgbClr val="595959"/>
                        </a:solidFill>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3091431053"/>
                  </a:ext>
                </a:extLst>
              </a:tr>
            </a:tbl>
          </a:graphicData>
        </a:graphic>
      </p:graphicFrame>
    </p:spTree>
    <p:extLst>
      <p:ext uri="{BB962C8B-B14F-4D97-AF65-F5344CB8AC3E}">
        <p14:creationId xmlns:p14="http://schemas.microsoft.com/office/powerpoint/2010/main" val="10970155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DE0BA4-5F44-59F1-F6BA-1C8791AD4201}"/>
            </a:ext>
          </a:extLst>
        </p:cNvPr>
        <p:cNvGrpSpPr/>
        <p:nvPr/>
      </p:nvGrpSpPr>
      <p:grpSpPr>
        <a:xfrm>
          <a:off x="0" y="0"/>
          <a:ext cx="0" cy="0"/>
          <a:chOff x="0" y="0"/>
          <a:chExt cx="0" cy="0"/>
        </a:xfrm>
      </p:grpSpPr>
      <p:sp>
        <p:nvSpPr>
          <p:cNvPr id="47" name="TextBox 35">
            <a:extLst>
              <a:ext uri="{FF2B5EF4-FFF2-40B4-BE49-F238E27FC236}">
                <a16:creationId xmlns:a16="http://schemas.microsoft.com/office/drawing/2014/main" id="{C32DB5CB-CCBA-71D3-5EB1-E6B8D48E28F2}"/>
              </a:ext>
            </a:extLst>
          </p:cNvPr>
          <p:cNvSpPr txBox="1">
            <a:spLocks noChangeArrowheads="1"/>
          </p:cNvSpPr>
          <p:nvPr/>
        </p:nvSpPr>
        <p:spPr bwMode="auto">
          <a:xfrm>
            <a:off x="982980" y="909955"/>
            <a:ext cx="10017125" cy="905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indent="457200" algn="just">
              <a:lnSpc>
                <a:spcPct val="150000"/>
              </a:lnSpc>
              <a:buClrTx/>
              <a:buSzTx/>
              <a:buFontTx/>
            </a:pPr>
            <a:r>
              <a:rPr lang="zh-CN" altLang="en-US" sz="1800" dirty="0">
                <a:solidFill>
                  <a:srgbClr val="595959"/>
                </a:solidFill>
                <a:latin typeface="微软雅黑" panose="020B0503020204020204" pitchFamily="34" charset="-122"/>
                <a:ea typeface="微软雅黑" panose="020B0503020204020204" pitchFamily="34" charset="-122"/>
              </a:rPr>
              <a:t>程序规格说明因果图如图所示。其中，</a:t>
            </a:r>
            <a:r>
              <a:rPr lang="en-US" altLang="zh-CN" sz="1800" dirty="0">
                <a:solidFill>
                  <a:srgbClr val="595959"/>
                </a:solidFill>
                <a:latin typeface="微软雅黑" panose="020B0503020204020204" pitchFamily="34" charset="-122"/>
                <a:ea typeface="微软雅黑" panose="020B0503020204020204" pitchFamily="34" charset="-122"/>
              </a:rPr>
              <a:t>m1</a:t>
            </a:r>
            <a:r>
              <a:rPr lang="zh-CN" altLang="en-US" sz="1800" dirty="0">
                <a:solidFill>
                  <a:srgbClr val="595959"/>
                </a:solidFill>
                <a:latin typeface="微软雅黑" panose="020B0503020204020204" pitchFamily="34" charset="-122"/>
                <a:ea typeface="微软雅黑" panose="020B0503020204020204" pitchFamily="34" charset="-122"/>
              </a:rPr>
              <a:t>为中间状态，考虑到</a:t>
            </a:r>
            <a:r>
              <a:rPr lang="en-US" altLang="zh-CN" sz="1800" dirty="0">
                <a:solidFill>
                  <a:srgbClr val="595959"/>
                </a:solidFill>
                <a:latin typeface="微软雅黑" panose="020B0503020204020204" pitchFamily="34" charset="-122"/>
                <a:ea typeface="微软雅黑" panose="020B0503020204020204" pitchFamily="34" charset="-122"/>
              </a:rPr>
              <a:t>c1</a:t>
            </a:r>
            <a:r>
              <a:rPr lang="zh-CN" altLang="en-US" sz="1800" dirty="0">
                <a:solidFill>
                  <a:srgbClr val="595959"/>
                </a:solidFill>
                <a:latin typeface="微软雅黑" panose="020B0503020204020204" pitchFamily="34" charset="-122"/>
                <a:ea typeface="微软雅黑" panose="020B0503020204020204" pitchFamily="34" charset="-122"/>
              </a:rPr>
              <a:t>和</a:t>
            </a:r>
            <a:r>
              <a:rPr lang="en-US" altLang="zh-CN" sz="1800" dirty="0">
                <a:solidFill>
                  <a:srgbClr val="595959"/>
                </a:solidFill>
                <a:latin typeface="微软雅黑" panose="020B0503020204020204" pitchFamily="34" charset="-122"/>
                <a:ea typeface="微软雅黑" panose="020B0503020204020204" pitchFamily="34" charset="-122"/>
              </a:rPr>
              <a:t>c2</a:t>
            </a:r>
            <a:r>
              <a:rPr lang="zh-CN" altLang="en-US" sz="1800" dirty="0">
                <a:solidFill>
                  <a:srgbClr val="595959"/>
                </a:solidFill>
                <a:latin typeface="微软雅黑" panose="020B0503020204020204" pitchFamily="34" charset="-122"/>
                <a:ea typeface="微软雅黑" panose="020B0503020204020204" pitchFamily="34" charset="-122"/>
              </a:rPr>
              <a:t>不可能同时为</a:t>
            </a:r>
            <a:r>
              <a:rPr lang="en-US" altLang="zh-CN" sz="1800" dirty="0">
                <a:solidFill>
                  <a:srgbClr val="595959"/>
                </a:solidFill>
                <a:latin typeface="微软雅黑" panose="020B0503020204020204" pitchFamily="34" charset="-122"/>
                <a:ea typeface="微软雅黑" panose="020B0503020204020204" pitchFamily="34" charset="-122"/>
              </a:rPr>
              <a:t>1</a:t>
            </a:r>
            <a:r>
              <a:rPr lang="zh-CN" altLang="en-US" sz="1800" dirty="0">
                <a:solidFill>
                  <a:srgbClr val="595959"/>
                </a:solidFill>
                <a:latin typeface="微软雅黑" panose="020B0503020204020204" pitchFamily="34" charset="-122"/>
                <a:ea typeface="微软雅黑" panose="020B0503020204020204" pitchFamily="34" charset="-122"/>
              </a:rPr>
              <a:t>，因此，在</a:t>
            </a:r>
            <a:r>
              <a:rPr lang="en-US" altLang="zh-CN" sz="1800" dirty="0">
                <a:solidFill>
                  <a:srgbClr val="595959"/>
                </a:solidFill>
                <a:latin typeface="微软雅黑" panose="020B0503020204020204" pitchFamily="34" charset="-122"/>
                <a:ea typeface="微软雅黑" panose="020B0503020204020204" pitchFamily="34" charset="-122"/>
              </a:rPr>
              <a:t>c1</a:t>
            </a:r>
            <a:r>
              <a:rPr lang="zh-CN" altLang="en-US" sz="1800" dirty="0">
                <a:solidFill>
                  <a:srgbClr val="595959"/>
                </a:solidFill>
                <a:latin typeface="微软雅黑" panose="020B0503020204020204" pitchFamily="34" charset="-122"/>
                <a:ea typeface="微软雅黑" panose="020B0503020204020204" pitchFamily="34" charset="-122"/>
              </a:rPr>
              <a:t>和</a:t>
            </a:r>
            <a:r>
              <a:rPr lang="en-US" altLang="zh-CN" sz="1800" dirty="0">
                <a:solidFill>
                  <a:srgbClr val="595959"/>
                </a:solidFill>
                <a:latin typeface="微软雅黑" panose="020B0503020204020204" pitchFamily="34" charset="-122"/>
                <a:ea typeface="微软雅黑" panose="020B0503020204020204" pitchFamily="34" charset="-122"/>
              </a:rPr>
              <a:t>c2</a:t>
            </a:r>
            <a:r>
              <a:rPr lang="zh-CN" altLang="en-US" sz="1800" dirty="0">
                <a:solidFill>
                  <a:srgbClr val="595959"/>
                </a:solidFill>
                <a:latin typeface="微软雅黑" panose="020B0503020204020204" pitchFamily="34" charset="-122"/>
                <a:ea typeface="微软雅黑" panose="020B0503020204020204" pitchFamily="34" charset="-122"/>
              </a:rPr>
              <a:t>上施加</a:t>
            </a:r>
            <a:r>
              <a:rPr lang="en-US" altLang="zh-CN" sz="1800" dirty="0">
                <a:solidFill>
                  <a:srgbClr val="595959"/>
                </a:solidFill>
                <a:latin typeface="微软雅黑" panose="020B0503020204020204" pitchFamily="34" charset="-122"/>
                <a:ea typeface="微软雅黑" panose="020B0503020204020204" pitchFamily="34" charset="-122"/>
              </a:rPr>
              <a:t>E</a:t>
            </a:r>
            <a:r>
              <a:rPr lang="zh-CN" altLang="en-US" sz="1800" dirty="0">
                <a:solidFill>
                  <a:srgbClr val="595959"/>
                </a:solidFill>
                <a:latin typeface="微软雅黑" panose="020B0503020204020204" pitchFamily="34" charset="-122"/>
                <a:ea typeface="微软雅黑" panose="020B0503020204020204" pitchFamily="34" charset="-122"/>
              </a:rPr>
              <a:t>约束</a:t>
            </a:r>
          </a:p>
        </p:txBody>
      </p:sp>
      <p:sp>
        <p:nvSpPr>
          <p:cNvPr id="4" name="Title 1">
            <a:extLst>
              <a:ext uri="{FF2B5EF4-FFF2-40B4-BE49-F238E27FC236}">
                <a16:creationId xmlns:a16="http://schemas.microsoft.com/office/drawing/2014/main" id="{3DD2C397-D07B-CF8E-4066-5AC6CBF3C562}"/>
              </a:ext>
            </a:extLst>
          </p:cNvPr>
          <p:cNvSpPr txBox="1"/>
          <p:nvPr/>
        </p:nvSpPr>
        <p:spPr>
          <a:xfrm>
            <a:off x="1039559" y="189794"/>
            <a:ext cx="9087647"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2.3.3	实例一：字符问题的因果图与决策表绘制</a:t>
            </a:r>
          </a:p>
        </p:txBody>
      </p:sp>
      <p:graphicFrame>
        <p:nvGraphicFramePr>
          <p:cNvPr id="8" name="对象 7">
            <a:extLst>
              <a:ext uri="{FF2B5EF4-FFF2-40B4-BE49-F238E27FC236}">
                <a16:creationId xmlns:a16="http://schemas.microsoft.com/office/drawing/2014/main" id="{CE27820F-25E0-2D8B-D735-A8FB74F744B1}"/>
              </a:ext>
            </a:extLst>
          </p:cNvPr>
          <p:cNvGraphicFramePr>
            <a:graphicFrameLocks noChangeAspect="1"/>
          </p:cNvGraphicFramePr>
          <p:nvPr>
            <p:extLst>
              <p:ext uri="{D42A27DB-BD31-4B8C-83A1-F6EECF244321}">
                <p14:modId xmlns:p14="http://schemas.microsoft.com/office/powerpoint/2010/main" val="1895642893"/>
              </p:ext>
            </p:extLst>
          </p:nvPr>
        </p:nvGraphicFramePr>
        <p:xfrm>
          <a:off x="2423206" y="2205794"/>
          <a:ext cx="7127219" cy="3886279"/>
        </p:xfrm>
        <a:graphic>
          <a:graphicData uri="http://schemas.openxmlformats.org/presentationml/2006/ole">
            <mc:AlternateContent xmlns:mc="http://schemas.openxmlformats.org/markup-compatibility/2006">
              <mc:Choice xmlns:v="urn:schemas-microsoft-com:vml" Requires="v">
                <p:oleObj name="Visio" r:id="rId3" imgW="3535538" imgH="1622894" progId="Visio.Drawing.11">
                  <p:embed/>
                </p:oleObj>
              </mc:Choice>
              <mc:Fallback>
                <p:oleObj name="Visio" r:id="rId3" imgW="3535538" imgH="1622894" progId="Visio.Drawing.11">
                  <p:embed/>
                  <p:pic>
                    <p:nvPicPr>
                      <p:cNvPr id="7" name="对象 6"/>
                      <p:cNvPicPr>
                        <a:picLocks noChangeAspect="1" noChangeArrowheads="1"/>
                      </p:cNvPicPr>
                      <p:nvPr/>
                    </p:nvPicPr>
                    <p:blipFill>
                      <a:blip r:embed="rId4"/>
                      <a:srcRect l="16173" t="7018"/>
                      <a:stretch>
                        <a:fillRect/>
                      </a:stretch>
                    </p:blipFill>
                    <p:spPr bwMode="auto">
                      <a:xfrm>
                        <a:off x="2423206" y="2205794"/>
                        <a:ext cx="7127219" cy="3886279"/>
                      </a:xfrm>
                      <a:prstGeom prst="rect">
                        <a:avLst/>
                      </a:prstGeom>
                      <a:noFill/>
                    </p:spPr>
                  </p:pic>
                </p:oleObj>
              </mc:Fallback>
            </mc:AlternateContent>
          </a:graphicData>
        </a:graphic>
      </p:graphicFrame>
    </p:spTree>
    <p:extLst>
      <p:ext uri="{BB962C8B-B14F-4D97-AF65-F5344CB8AC3E}">
        <p14:creationId xmlns:p14="http://schemas.microsoft.com/office/powerpoint/2010/main" val="71035816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38E35A-3990-38D6-9572-A18C8096CF3C}"/>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EA52E481-3336-5D8D-570F-06C109CC673B}"/>
              </a:ext>
            </a:extLst>
          </p:cNvPr>
          <p:cNvSpPr txBox="1"/>
          <p:nvPr/>
        </p:nvSpPr>
        <p:spPr>
          <a:xfrm>
            <a:off x="1039559" y="189794"/>
            <a:ext cx="9087647"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2.3.3	实例一：字符问题的因果图与决策表绘制</a:t>
            </a:r>
          </a:p>
        </p:txBody>
      </p:sp>
      <p:graphicFrame>
        <p:nvGraphicFramePr>
          <p:cNvPr id="2" name="表格 1">
            <a:extLst>
              <a:ext uri="{FF2B5EF4-FFF2-40B4-BE49-F238E27FC236}">
                <a16:creationId xmlns:a16="http://schemas.microsoft.com/office/drawing/2014/main" id="{C5DEC700-7540-2AEF-7BF5-B12D97E5CAB0}"/>
              </a:ext>
            </a:extLst>
          </p:cNvPr>
          <p:cNvGraphicFramePr/>
          <p:nvPr>
            <p:custDataLst>
              <p:tags r:id="rId1"/>
            </p:custDataLst>
            <p:extLst>
              <p:ext uri="{D42A27DB-BD31-4B8C-83A1-F6EECF244321}">
                <p14:modId xmlns:p14="http://schemas.microsoft.com/office/powerpoint/2010/main" val="1973491503"/>
              </p:ext>
            </p:extLst>
          </p:nvPr>
        </p:nvGraphicFramePr>
        <p:xfrm>
          <a:off x="2730340" y="2278819"/>
          <a:ext cx="6729732" cy="2747010"/>
        </p:xfrm>
        <a:graphic>
          <a:graphicData uri="http://schemas.openxmlformats.org/drawingml/2006/table">
            <a:tbl>
              <a:tblPr firstRow="1" bandRow="1">
                <a:tableStyleId>{5C22544A-7EE6-4342-B048-85BDC9FD1C3A}</a:tableStyleId>
              </a:tblPr>
              <a:tblGrid>
                <a:gridCol w="1121410">
                  <a:extLst>
                    <a:ext uri="{9D8B030D-6E8A-4147-A177-3AD203B41FA5}">
                      <a16:colId xmlns:a16="http://schemas.microsoft.com/office/drawing/2014/main" val="20000"/>
                    </a:ext>
                  </a:extLst>
                </a:gridCol>
                <a:gridCol w="814705">
                  <a:extLst>
                    <a:ext uri="{9D8B030D-6E8A-4147-A177-3AD203B41FA5}">
                      <a16:colId xmlns:a16="http://schemas.microsoft.com/office/drawing/2014/main" val="20001"/>
                    </a:ext>
                  </a:extLst>
                </a:gridCol>
                <a:gridCol w="799652">
                  <a:extLst>
                    <a:ext uri="{9D8B030D-6E8A-4147-A177-3AD203B41FA5}">
                      <a16:colId xmlns:a16="http://schemas.microsoft.com/office/drawing/2014/main" val="20002"/>
                    </a:ext>
                  </a:extLst>
                </a:gridCol>
                <a:gridCol w="767421">
                  <a:extLst>
                    <a:ext uri="{9D8B030D-6E8A-4147-A177-3AD203B41FA5}">
                      <a16:colId xmlns:a16="http://schemas.microsoft.com/office/drawing/2014/main" val="20003"/>
                    </a:ext>
                  </a:extLst>
                </a:gridCol>
                <a:gridCol w="754349">
                  <a:extLst>
                    <a:ext uri="{9D8B030D-6E8A-4147-A177-3AD203B41FA5}">
                      <a16:colId xmlns:a16="http://schemas.microsoft.com/office/drawing/2014/main" val="20004"/>
                    </a:ext>
                  </a:extLst>
                </a:gridCol>
                <a:gridCol w="812627">
                  <a:extLst>
                    <a:ext uri="{9D8B030D-6E8A-4147-A177-3AD203B41FA5}">
                      <a16:colId xmlns:a16="http://schemas.microsoft.com/office/drawing/2014/main" val="20005"/>
                    </a:ext>
                  </a:extLst>
                </a:gridCol>
                <a:gridCol w="826244">
                  <a:extLst>
                    <a:ext uri="{9D8B030D-6E8A-4147-A177-3AD203B41FA5}">
                      <a16:colId xmlns:a16="http://schemas.microsoft.com/office/drawing/2014/main" val="20006"/>
                    </a:ext>
                  </a:extLst>
                </a:gridCol>
                <a:gridCol w="833324">
                  <a:extLst>
                    <a:ext uri="{9D8B030D-6E8A-4147-A177-3AD203B41FA5}">
                      <a16:colId xmlns:a16="http://schemas.microsoft.com/office/drawing/2014/main" val="20007"/>
                    </a:ext>
                  </a:extLst>
                </a:gridCol>
              </a:tblGrid>
              <a:tr h="552450">
                <a:tc gridSpan="2">
                  <a:txBody>
                    <a:bodyPr/>
                    <a:lstStyle/>
                    <a:p>
                      <a:pPr algn="ctr">
                        <a:lnSpc>
                          <a:spcPct val="90000"/>
                        </a:lnSpc>
                        <a:buNone/>
                      </a:pPr>
                      <a:r>
                        <a:rPr lang="zh-CN" altLang="en-US" sz="1800" b="1" dirty="0">
                          <a:latin typeface="微软雅黑" panose="020B0503020204020204" pitchFamily="34" charset="-122"/>
                          <a:ea typeface="微软雅黑" panose="020B0503020204020204" pitchFamily="34" charset="-122"/>
                        </a:rPr>
                        <a:t>原因与结果</a:t>
                      </a:r>
                    </a:p>
                  </a:txBody>
                  <a:tcPr anchor="ctr"/>
                </a:tc>
                <a:tc hMerge="1">
                  <a:txBody>
                    <a:bodyPr/>
                    <a:lstStyle/>
                    <a:p>
                      <a:endParaRPr lang="zh-CN"/>
                    </a:p>
                  </a:txBody>
                  <a:tcPr anchor="ctr"/>
                </a:tc>
                <a:tc>
                  <a:txBody>
                    <a:bodyPr/>
                    <a:lstStyle/>
                    <a:p>
                      <a:pPr algn="ctr">
                        <a:lnSpc>
                          <a:spcPct val="90000"/>
                        </a:lnSpc>
                        <a:buNone/>
                      </a:pPr>
                      <a:r>
                        <a:rPr lang="en-US" altLang="zh-CN" sz="1800">
                          <a:latin typeface="微软雅黑" panose="020B0503020204020204" pitchFamily="34" charset="-122"/>
                          <a:ea typeface="微软雅黑" panose="020B0503020204020204" pitchFamily="34" charset="-122"/>
                        </a:rPr>
                        <a:t>1</a:t>
                      </a:r>
                    </a:p>
                  </a:txBody>
                  <a:tcPr anchor="ctr"/>
                </a:tc>
                <a:tc>
                  <a:txBody>
                    <a:bodyPr/>
                    <a:lstStyle/>
                    <a:p>
                      <a:pPr algn="ctr">
                        <a:lnSpc>
                          <a:spcPct val="90000"/>
                        </a:lnSpc>
                        <a:buNone/>
                      </a:pPr>
                      <a:r>
                        <a:rPr lang="en-US" altLang="zh-CN" sz="1800">
                          <a:latin typeface="微软雅黑" panose="020B0503020204020204" pitchFamily="34" charset="-122"/>
                          <a:ea typeface="微软雅黑" panose="020B0503020204020204" pitchFamily="34" charset="-122"/>
                        </a:rPr>
                        <a:t>2</a:t>
                      </a:r>
                    </a:p>
                  </a:txBody>
                  <a:tcPr anchor="ctr"/>
                </a:tc>
                <a:tc>
                  <a:txBody>
                    <a:bodyPr/>
                    <a:lstStyle/>
                    <a:p>
                      <a:pPr algn="ctr">
                        <a:lnSpc>
                          <a:spcPct val="90000"/>
                        </a:lnSpc>
                        <a:buNone/>
                      </a:pPr>
                      <a:r>
                        <a:rPr lang="en-US" altLang="zh-CN" sz="1800">
                          <a:latin typeface="微软雅黑" panose="020B0503020204020204" pitchFamily="34" charset="-122"/>
                          <a:ea typeface="微软雅黑" panose="020B0503020204020204" pitchFamily="34" charset="-122"/>
                        </a:rPr>
                        <a:t>3</a:t>
                      </a:r>
                    </a:p>
                  </a:txBody>
                  <a:tcPr anchor="ctr"/>
                </a:tc>
                <a:tc>
                  <a:txBody>
                    <a:bodyPr/>
                    <a:lstStyle/>
                    <a:p>
                      <a:pPr algn="ctr">
                        <a:lnSpc>
                          <a:spcPct val="90000"/>
                        </a:lnSpc>
                        <a:buNone/>
                      </a:pPr>
                      <a:r>
                        <a:rPr lang="en-US" altLang="zh-CN" sz="1800">
                          <a:latin typeface="微软雅黑" panose="020B0503020204020204" pitchFamily="34" charset="-122"/>
                          <a:ea typeface="微软雅黑" panose="020B0503020204020204" pitchFamily="34" charset="-122"/>
                        </a:rPr>
                        <a:t>4</a:t>
                      </a:r>
                    </a:p>
                  </a:txBody>
                  <a:tcPr anchor="ctr"/>
                </a:tc>
                <a:tc>
                  <a:txBody>
                    <a:bodyPr/>
                    <a:lstStyle/>
                    <a:p>
                      <a:pPr algn="ctr">
                        <a:lnSpc>
                          <a:spcPct val="90000"/>
                        </a:lnSpc>
                        <a:buNone/>
                      </a:pPr>
                      <a:r>
                        <a:rPr lang="en-US" altLang="zh-CN" sz="1800">
                          <a:latin typeface="微软雅黑" panose="020B0503020204020204" pitchFamily="34" charset="-122"/>
                          <a:ea typeface="微软雅黑" panose="020B0503020204020204" pitchFamily="34" charset="-122"/>
                        </a:rPr>
                        <a:t>5</a:t>
                      </a:r>
                    </a:p>
                  </a:txBody>
                  <a:tcPr anchor="ctr"/>
                </a:tc>
                <a:tc>
                  <a:txBody>
                    <a:bodyPr/>
                    <a:lstStyle/>
                    <a:p>
                      <a:pPr algn="ctr">
                        <a:lnSpc>
                          <a:spcPct val="90000"/>
                        </a:lnSpc>
                        <a:buNone/>
                      </a:pPr>
                      <a:r>
                        <a:rPr lang="en-US" altLang="zh-CN" sz="1800">
                          <a:latin typeface="微软雅黑" panose="020B0503020204020204" pitchFamily="34" charset="-122"/>
                          <a:ea typeface="微软雅黑" panose="020B0503020204020204" pitchFamily="34" charset="-122"/>
                        </a:rPr>
                        <a:t>6</a:t>
                      </a:r>
                    </a:p>
                  </a:txBody>
                  <a:tcPr anchor="ctr"/>
                </a:tc>
                <a:extLst>
                  <a:ext uri="{0D108BD9-81ED-4DB2-BD59-A6C34878D82A}">
                    <a16:rowId xmlns:a16="http://schemas.microsoft.com/office/drawing/2014/main" val="10000"/>
                  </a:ext>
                </a:extLst>
              </a:tr>
              <a:tr h="363220">
                <a:tc rowSpan="3">
                  <a:txBody>
                    <a:bodyPr/>
                    <a:lstStyle/>
                    <a:p>
                      <a:pPr marL="0" algn="ctr" defTabSz="1219200" rtl="0" eaLnBrk="1" latinLnBrk="0" hangingPunct="1">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原因</a:t>
                      </a:r>
                    </a:p>
                  </a:txBody>
                  <a:tcPr anchor="ctr"/>
                </a:tc>
                <a:tc>
                  <a:txBody>
                    <a:bodyPr/>
                    <a:lstStyle/>
                    <a:p>
                      <a:pPr marL="0" algn="ctr" defTabSz="1219200" rtl="0" eaLnBrk="1" latinLnBrk="0" hangingPunct="1">
                        <a:buNone/>
                      </a:pPr>
                      <a:r>
                        <a:rPr lang="en-US" sz="1800" kern="1200">
                          <a:solidFill>
                            <a:srgbClr val="595959"/>
                          </a:solidFill>
                          <a:latin typeface="微软雅黑" panose="020B0503020204020204" pitchFamily="34" charset="-122"/>
                          <a:ea typeface="微软雅黑" panose="020B0503020204020204" pitchFamily="34" charset="-122"/>
                          <a:cs typeface="+mn-cs"/>
                          <a:sym typeface="+mn-ea"/>
                        </a:rPr>
                        <a:t>c</a:t>
                      </a:r>
                      <a:r>
                        <a:rPr lang="en-US" sz="1800" kern="1200" baseline="-25000">
                          <a:solidFill>
                            <a:srgbClr val="595959"/>
                          </a:solidFill>
                          <a:latin typeface="微软雅黑" panose="020B0503020204020204" pitchFamily="34" charset="-122"/>
                          <a:ea typeface="微软雅黑" panose="020B0503020204020204" pitchFamily="34" charset="-122"/>
                          <a:cs typeface="+mn-cs"/>
                          <a:sym typeface="+mn-ea"/>
                        </a:rPr>
                        <a:t>1</a:t>
                      </a:r>
                      <a:endParaRPr lang="zh-CN" altLang="en-US" sz="1800" kern="1200" baseline="-250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r>
                        <a:rPr lang="en-US" altLang="zh-CN" sz="1800" kern="1200" dirty="0">
                          <a:solidFill>
                            <a:srgbClr val="595959"/>
                          </a:solidFill>
                          <a:latin typeface="微软雅黑" panose="020B0503020204020204" pitchFamily="34" charset="-122"/>
                          <a:ea typeface="微软雅黑" panose="020B0503020204020204" pitchFamily="34" charset="-122"/>
                          <a:cs typeface="+mn-cs"/>
                        </a:rPr>
                        <a:t>Y</a:t>
                      </a:r>
                    </a:p>
                  </a:txBody>
                  <a:tcPr anchor="ctr"/>
                </a:tc>
                <a:tc>
                  <a:txBody>
                    <a:bodyPr/>
                    <a:lstStyle/>
                    <a:p>
                      <a:pPr marL="0" algn="ctr"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Y</a:t>
                      </a:r>
                    </a:p>
                  </a:txBody>
                  <a:tcPr anchor="ctr"/>
                </a:tc>
                <a:tc>
                  <a:txBody>
                    <a:bodyPr/>
                    <a:lstStyle/>
                    <a:p>
                      <a:pPr marL="0" algn="ctr" defTabSz="1219200" rtl="0" eaLnBrk="1" latinLnBrk="0" hangingPunct="1">
                        <a:buNone/>
                      </a:pPr>
                      <a:r>
                        <a:rPr lang="en-US" altLang="zh-CN" sz="1800" kern="1200" dirty="0">
                          <a:solidFill>
                            <a:srgbClr val="595959"/>
                          </a:solidFill>
                          <a:latin typeface="微软雅黑" panose="020B0503020204020204" pitchFamily="34" charset="-122"/>
                          <a:ea typeface="微软雅黑" panose="020B0503020204020204" pitchFamily="34" charset="-122"/>
                          <a:cs typeface="+mn-cs"/>
                        </a:rPr>
                        <a:t>N</a:t>
                      </a:r>
                    </a:p>
                  </a:txBody>
                  <a:tcPr anchor="ctr"/>
                </a:tc>
                <a:tc>
                  <a:txBody>
                    <a:bodyPr/>
                    <a:lstStyle/>
                    <a:p>
                      <a:pPr marL="0" algn="ctr" defTabSz="1219200" rtl="0" eaLnBrk="1" latinLnBrk="0" hangingPunct="1">
                        <a:buNone/>
                      </a:pPr>
                      <a:r>
                        <a:rPr lang="en-US" altLang="zh-CN" sz="1800" kern="1200" dirty="0">
                          <a:solidFill>
                            <a:srgbClr val="595959"/>
                          </a:solidFill>
                          <a:latin typeface="微软雅黑" panose="020B0503020204020204" pitchFamily="34" charset="-122"/>
                          <a:ea typeface="微软雅黑" panose="020B0503020204020204" pitchFamily="34" charset="-122"/>
                          <a:cs typeface="+mn-cs"/>
                        </a:rPr>
                        <a:t>N</a:t>
                      </a:r>
                    </a:p>
                  </a:txBody>
                  <a:tcPr anchor="ctr"/>
                </a:tc>
                <a:tc>
                  <a:txBody>
                    <a:bodyPr/>
                    <a:lstStyle/>
                    <a:p>
                      <a:pPr marL="0" algn="ctr" defTabSz="1219200" rtl="0" eaLnBrk="1" latinLnBrk="0" hangingPunct="1">
                        <a:buNone/>
                      </a:pPr>
                      <a:r>
                        <a:rPr lang="en-US" altLang="zh-CN" sz="1800" kern="1200" dirty="0">
                          <a:solidFill>
                            <a:srgbClr val="595959"/>
                          </a:solidFill>
                          <a:latin typeface="微软雅黑" panose="020B0503020204020204" pitchFamily="34" charset="-122"/>
                          <a:ea typeface="微软雅黑" panose="020B0503020204020204" pitchFamily="34" charset="-122"/>
                          <a:cs typeface="+mn-cs"/>
                        </a:rPr>
                        <a:t>N</a:t>
                      </a:r>
                    </a:p>
                  </a:txBody>
                  <a:tcPr anchor="ctr"/>
                </a:tc>
                <a:tc>
                  <a:txBody>
                    <a:bodyPr/>
                    <a:lstStyle/>
                    <a:p>
                      <a:pPr marL="0" algn="ctr" defTabSz="1219200" rtl="0" eaLnBrk="1" latinLnBrk="0" hangingPunct="1">
                        <a:buNone/>
                      </a:pPr>
                      <a:r>
                        <a:rPr lang="en-US" altLang="zh-CN" sz="1800" kern="1200" dirty="0">
                          <a:solidFill>
                            <a:srgbClr val="595959"/>
                          </a:solidFill>
                          <a:latin typeface="微软雅黑" panose="020B0503020204020204" pitchFamily="34" charset="-122"/>
                          <a:ea typeface="微软雅黑" panose="020B0503020204020204" pitchFamily="34" charset="-122"/>
                          <a:cs typeface="+mn-cs"/>
                        </a:rPr>
                        <a:t>N</a:t>
                      </a:r>
                    </a:p>
                  </a:txBody>
                  <a:tcPr anchor="ctr"/>
                </a:tc>
                <a:extLst>
                  <a:ext uri="{0D108BD9-81ED-4DB2-BD59-A6C34878D82A}">
                    <a16:rowId xmlns:a16="http://schemas.microsoft.com/office/drawing/2014/main" val="10001"/>
                  </a:ext>
                </a:extLst>
              </a:tr>
              <a:tr h="339090">
                <a:tc vMerge="1">
                  <a:txBody>
                    <a:bodyPr/>
                    <a:lstStyle/>
                    <a:p>
                      <a:endParaRPr lang="zh-CN"/>
                    </a:p>
                  </a:txBody>
                  <a:tcPr anchor="ctr"/>
                </a:tc>
                <a:tc>
                  <a:txBody>
                    <a:bodyPr/>
                    <a:lstStyle/>
                    <a:p>
                      <a:pPr marL="0" algn="ctr" defTabSz="1219200" rtl="0" eaLnBrk="1" latinLnBrk="0" hangingPunct="1">
                        <a:buClrTx/>
                        <a:buSzTx/>
                        <a:buFontTx/>
                        <a:buNone/>
                      </a:pPr>
                      <a:r>
                        <a:rPr lang="en-US" sz="1800" kern="1200">
                          <a:solidFill>
                            <a:srgbClr val="595959"/>
                          </a:solidFill>
                          <a:latin typeface="微软雅黑" panose="020B0503020204020204" pitchFamily="34" charset="-122"/>
                          <a:ea typeface="微软雅黑" panose="020B0503020204020204" pitchFamily="34" charset="-122"/>
                          <a:cs typeface="+mn-cs"/>
                          <a:sym typeface="+mn-ea"/>
                        </a:rPr>
                        <a:t>c</a:t>
                      </a:r>
                      <a:r>
                        <a:rPr lang="en-US" sz="1800" kern="1200" baseline="-25000">
                          <a:solidFill>
                            <a:srgbClr val="595959"/>
                          </a:solidFill>
                          <a:latin typeface="微软雅黑" panose="020B0503020204020204" pitchFamily="34" charset="-122"/>
                          <a:ea typeface="微软雅黑" panose="020B0503020204020204" pitchFamily="34" charset="-122"/>
                          <a:cs typeface="+mn-cs"/>
                          <a:sym typeface="+mn-ea"/>
                        </a:rPr>
                        <a:t>2</a:t>
                      </a:r>
                      <a:endParaRPr lang="en-US" altLang="zh-CN" sz="1800" kern="1200" baseline="-250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r>
                        <a:rPr lang="en-US" altLang="zh-CN" sz="1800" kern="1200" dirty="0">
                          <a:solidFill>
                            <a:srgbClr val="595959"/>
                          </a:solidFill>
                          <a:latin typeface="微软雅黑" panose="020B0503020204020204" pitchFamily="34" charset="-122"/>
                          <a:ea typeface="微软雅黑" panose="020B0503020204020204" pitchFamily="34" charset="-122"/>
                          <a:cs typeface="+mn-cs"/>
                        </a:rPr>
                        <a:t>N</a:t>
                      </a:r>
                      <a:endParaRPr lang="zh-CN" altLang="en-US" sz="1800" kern="1200" dirty="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r>
                        <a:rPr lang="en-US" altLang="zh-CN" sz="1800" kern="1200" dirty="0">
                          <a:solidFill>
                            <a:srgbClr val="595959"/>
                          </a:solidFill>
                          <a:latin typeface="微软雅黑" panose="020B0503020204020204" pitchFamily="34" charset="-122"/>
                          <a:ea typeface="微软雅黑" panose="020B0503020204020204" pitchFamily="34" charset="-122"/>
                          <a:cs typeface="+mn-cs"/>
                        </a:rPr>
                        <a:t>N</a:t>
                      </a:r>
                    </a:p>
                  </a:txBody>
                  <a:tcPr anchor="ctr"/>
                </a:tc>
                <a:tc>
                  <a:txBody>
                    <a:bodyPr/>
                    <a:lstStyle/>
                    <a:p>
                      <a:pPr marL="0" algn="ctr" defTabSz="1219200" rtl="0" eaLnBrk="1" latinLnBrk="0" hangingPunct="1">
                        <a:buNone/>
                      </a:pPr>
                      <a:r>
                        <a:rPr lang="en-US" altLang="zh-CN" sz="1800" kern="1200" dirty="0">
                          <a:solidFill>
                            <a:srgbClr val="595959"/>
                          </a:solidFill>
                          <a:latin typeface="微软雅黑" panose="020B0503020204020204" pitchFamily="34" charset="-122"/>
                          <a:ea typeface="微软雅黑" panose="020B0503020204020204" pitchFamily="34" charset="-122"/>
                          <a:cs typeface="+mn-cs"/>
                        </a:rPr>
                        <a:t>Y</a:t>
                      </a:r>
                    </a:p>
                  </a:txBody>
                  <a:tcPr anchor="ctr"/>
                </a:tc>
                <a:tc>
                  <a:txBody>
                    <a:bodyPr/>
                    <a:lstStyle/>
                    <a:p>
                      <a:pPr marL="0" algn="ctr" defTabSz="1219200" rtl="0" eaLnBrk="1" latinLnBrk="0" hangingPunct="1">
                        <a:buNone/>
                      </a:pPr>
                      <a:r>
                        <a:rPr lang="en-US" altLang="zh-CN" sz="1800" kern="1200" dirty="0">
                          <a:solidFill>
                            <a:srgbClr val="595959"/>
                          </a:solidFill>
                          <a:latin typeface="微软雅黑" panose="020B0503020204020204" pitchFamily="34" charset="-122"/>
                          <a:ea typeface="微软雅黑" panose="020B0503020204020204" pitchFamily="34" charset="-122"/>
                          <a:cs typeface="+mn-cs"/>
                        </a:rPr>
                        <a:t>Y</a:t>
                      </a:r>
                    </a:p>
                  </a:txBody>
                  <a:tcPr anchor="ctr"/>
                </a:tc>
                <a:tc>
                  <a:txBody>
                    <a:bodyPr/>
                    <a:lstStyle/>
                    <a:p>
                      <a:pPr marL="0" algn="ctr" defTabSz="1219200" rtl="0" eaLnBrk="1" latinLnBrk="0" hangingPunct="1">
                        <a:buNone/>
                      </a:pPr>
                      <a:r>
                        <a:rPr lang="en-US" altLang="zh-CN" sz="1800" kern="1200" dirty="0">
                          <a:solidFill>
                            <a:srgbClr val="595959"/>
                          </a:solidFill>
                          <a:latin typeface="微软雅黑" panose="020B0503020204020204" pitchFamily="34" charset="-122"/>
                          <a:ea typeface="微软雅黑" panose="020B0503020204020204" pitchFamily="34" charset="-122"/>
                          <a:cs typeface="+mn-cs"/>
                        </a:rPr>
                        <a:t>N</a:t>
                      </a:r>
                    </a:p>
                  </a:txBody>
                  <a:tcPr anchor="ctr"/>
                </a:tc>
                <a:tc>
                  <a:txBody>
                    <a:bodyPr/>
                    <a:lstStyle/>
                    <a:p>
                      <a:pPr marL="0" algn="ctr" defTabSz="1219200" rtl="0" eaLnBrk="1" latinLnBrk="0" hangingPunct="1">
                        <a:buNone/>
                      </a:pPr>
                      <a:r>
                        <a:rPr lang="en-US" altLang="zh-CN" sz="1800" kern="1200" dirty="0">
                          <a:solidFill>
                            <a:srgbClr val="595959"/>
                          </a:solidFill>
                          <a:latin typeface="微软雅黑" panose="020B0503020204020204" pitchFamily="34" charset="-122"/>
                          <a:ea typeface="微软雅黑" panose="020B0503020204020204" pitchFamily="34" charset="-122"/>
                          <a:cs typeface="+mn-cs"/>
                        </a:rPr>
                        <a:t>N</a:t>
                      </a:r>
                    </a:p>
                  </a:txBody>
                  <a:tcPr anchor="ctr"/>
                </a:tc>
                <a:extLst>
                  <a:ext uri="{0D108BD9-81ED-4DB2-BD59-A6C34878D82A}">
                    <a16:rowId xmlns:a16="http://schemas.microsoft.com/office/drawing/2014/main" val="10002"/>
                  </a:ext>
                </a:extLst>
              </a:tr>
              <a:tr h="354330">
                <a:tc vMerge="1">
                  <a:txBody>
                    <a:bodyPr/>
                    <a:lstStyle/>
                    <a:p>
                      <a:endParaRPr lang="zh-CN"/>
                    </a:p>
                  </a:txBody>
                  <a:tcPr/>
                </a:tc>
                <a:tc>
                  <a:txBody>
                    <a:bodyPr/>
                    <a:lstStyle/>
                    <a:p>
                      <a:pPr marL="0" algn="ctr" defTabSz="1219200" rtl="0" eaLnBrk="1" latinLnBrk="0" hangingPunct="1">
                        <a:buClrTx/>
                        <a:buSzTx/>
                        <a:buFontTx/>
                        <a:buNone/>
                      </a:pPr>
                      <a:r>
                        <a:rPr lang="en-US" sz="1800" kern="1200">
                          <a:solidFill>
                            <a:srgbClr val="595959"/>
                          </a:solidFill>
                          <a:latin typeface="微软雅黑" panose="020B0503020204020204" pitchFamily="34" charset="-122"/>
                          <a:ea typeface="微软雅黑" panose="020B0503020204020204" pitchFamily="34" charset="-122"/>
                          <a:cs typeface="+mn-cs"/>
                          <a:sym typeface="+mn-ea"/>
                        </a:rPr>
                        <a:t>c</a:t>
                      </a:r>
                      <a:r>
                        <a:rPr lang="en-US" sz="1800" kern="1200" baseline="-25000">
                          <a:solidFill>
                            <a:srgbClr val="595959"/>
                          </a:solidFill>
                          <a:latin typeface="微软雅黑" panose="020B0503020204020204" pitchFamily="34" charset="-122"/>
                          <a:ea typeface="微软雅黑" panose="020B0503020204020204" pitchFamily="34" charset="-122"/>
                          <a:cs typeface="+mn-cs"/>
                          <a:sym typeface="+mn-ea"/>
                        </a:rPr>
                        <a:t>3</a:t>
                      </a:r>
                      <a:endParaRPr lang="en-US" altLang="zh-CN" sz="1800" kern="1200" baseline="-250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Y</a:t>
                      </a:r>
                    </a:p>
                  </a:txBody>
                  <a:tcPr anchor="ctr"/>
                </a:tc>
                <a:tc>
                  <a:txBody>
                    <a:bodyPr/>
                    <a:lstStyle/>
                    <a:p>
                      <a:pPr marL="0" algn="ctr" defTabSz="1219200" rtl="0" eaLnBrk="1" latinLnBrk="0" hangingPunct="1">
                        <a:buNone/>
                      </a:pPr>
                      <a:r>
                        <a:rPr lang="en-US" altLang="zh-CN" sz="1800" kern="1200" dirty="0">
                          <a:solidFill>
                            <a:srgbClr val="595959"/>
                          </a:solidFill>
                          <a:latin typeface="微软雅黑" panose="020B0503020204020204" pitchFamily="34" charset="-122"/>
                          <a:ea typeface="微软雅黑" panose="020B0503020204020204" pitchFamily="34" charset="-122"/>
                          <a:cs typeface="+mn-cs"/>
                        </a:rPr>
                        <a:t>N</a:t>
                      </a:r>
                    </a:p>
                  </a:txBody>
                  <a:tcPr anchor="ctr"/>
                </a:tc>
                <a:tc>
                  <a:txBody>
                    <a:bodyPr/>
                    <a:lstStyle/>
                    <a:p>
                      <a:pPr marL="0" algn="ctr" defTabSz="1219200" rtl="0" eaLnBrk="1" latinLnBrk="0" hangingPunct="1">
                        <a:buNone/>
                      </a:pPr>
                      <a:r>
                        <a:rPr lang="en-US" altLang="zh-CN" sz="1800" kern="1200" dirty="0">
                          <a:solidFill>
                            <a:srgbClr val="595959"/>
                          </a:solidFill>
                          <a:latin typeface="微软雅黑" panose="020B0503020204020204" pitchFamily="34" charset="-122"/>
                          <a:ea typeface="微软雅黑" panose="020B0503020204020204" pitchFamily="34" charset="-122"/>
                          <a:cs typeface="+mn-cs"/>
                        </a:rPr>
                        <a:t>Y</a:t>
                      </a:r>
                    </a:p>
                  </a:txBody>
                  <a:tcPr anchor="ctr"/>
                </a:tc>
                <a:tc>
                  <a:txBody>
                    <a:bodyPr/>
                    <a:lstStyle/>
                    <a:p>
                      <a:pPr marL="0" algn="ctr" defTabSz="1219200" rtl="0" eaLnBrk="1" latinLnBrk="0" hangingPunct="1">
                        <a:buNone/>
                      </a:pPr>
                      <a:r>
                        <a:rPr lang="en-US" altLang="zh-CN" sz="1800" kern="1200" dirty="0">
                          <a:solidFill>
                            <a:srgbClr val="595959"/>
                          </a:solidFill>
                          <a:latin typeface="微软雅黑" panose="020B0503020204020204" pitchFamily="34" charset="-122"/>
                          <a:ea typeface="微软雅黑" panose="020B0503020204020204" pitchFamily="34" charset="-122"/>
                          <a:cs typeface="+mn-cs"/>
                        </a:rPr>
                        <a:t>N</a:t>
                      </a:r>
                    </a:p>
                  </a:txBody>
                  <a:tcPr anchor="ctr"/>
                </a:tc>
                <a:tc>
                  <a:txBody>
                    <a:bodyPr/>
                    <a:lstStyle/>
                    <a:p>
                      <a:pPr marL="0" algn="ctr"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Y</a:t>
                      </a:r>
                    </a:p>
                  </a:txBody>
                  <a:tcPr anchor="ctr"/>
                </a:tc>
                <a:tc>
                  <a:txBody>
                    <a:bodyPr/>
                    <a:lstStyle/>
                    <a:p>
                      <a:pPr marL="0" algn="ctr" defTabSz="1219200" rtl="0" eaLnBrk="1" latinLnBrk="0" hangingPunct="1">
                        <a:buNone/>
                      </a:pPr>
                      <a:r>
                        <a:rPr lang="en-US" altLang="zh-CN" sz="1800" kern="1200" dirty="0">
                          <a:solidFill>
                            <a:srgbClr val="595959"/>
                          </a:solidFill>
                          <a:latin typeface="微软雅黑" panose="020B0503020204020204" pitchFamily="34" charset="-122"/>
                          <a:ea typeface="微软雅黑" panose="020B0503020204020204" pitchFamily="34" charset="-122"/>
                          <a:cs typeface="+mn-cs"/>
                        </a:rPr>
                        <a:t>N</a:t>
                      </a:r>
                    </a:p>
                  </a:txBody>
                  <a:tcPr anchor="ctr"/>
                </a:tc>
                <a:extLst>
                  <a:ext uri="{0D108BD9-81ED-4DB2-BD59-A6C34878D82A}">
                    <a16:rowId xmlns:a16="http://schemas.microsoft.com/office/drawing/2014/main" val="10003"/>
                  </a:ext>
                </a:extLst>
              </a:tr>
              <a:tr h="338455">
                <a:tc rowSpan="3">
                  <a:txBody>
                    <a:bodyPr/>
                    <a:lstStyle/>
                    <a:p>
                      <a:pPr marL="0" algn="ctr" defTabSz="1219200" rtl="0" eaLnBrk="1" latinLnBrk="0" hangingPunct="1">
                        <a:buClrTx/>
                        <a:buSzTx/>
                        <a:buFontTx/>
                        <a:buNone/>
                      </a:pPr>
                      <a:r>
                        <a:rPr lang="zh-CN" altLang="en-US" sz="1800" kern="1200" dirty="0">
                          <a:solidFill>
                            <a:srgbClr val="595959"/>
                          </a:solidFill>
                          <a:latin typeface="微软雅黑" panose="020B0503020204020204" pitchFamily="34" charset="-122"/>
                          <a:ea typeface="微软雅黑" panose="020B0503020204020204" pitchFamily="34" charset="-122"/>
                          <a:cs typeface="+mn-cs"/>
                        </a:rPr>
                        <a:t>结果</a:t>
                      </a:r>
                    </a:p>
                  </a:txBody>
                  <a:tcPr anchor="ctr"/>
                </a:tc>
                <a:tc>
                  <a:txBody>
                    <a:bodyPr/>
                    <a:lstStyle/>
                    <a:p>
                      <a:pPr marL="0" algn="ctr" defTabSz="1219200" rtl="0" eaLnBrk="1" latinLnBrk="0" hangingPunct="1">
                        <a:buClrTx/>
                        <a:buSzTx/>
                        <a:buFontTx/>
                        <a:buNone/>
                      </a:pPr>
                      <a:r>
                        <a:rPr lang="en-US" sz="1800" kern="1200" dirty="0">
                          <a:solidFill>
                            <a:srgbClr val="595959"/>
                          </a:solidFill>
                          <a:latin typeface="微软雅黑" panose="020B0503020204020204" pitchFamily="34" charset="-122"/>
                          <a:ea typeface="微软雅黑" panose="020B0503020204020204" pitchFamily="34" charset="-122"/>
                          <a:cs typeface="+mn-cs"/>
                          <a:sym typeface="+mn-ea"/>
                        </a:rPr>
                        <a:t>e</a:t>
                      </a:r>
                      <a:r>
                        <a:rPr lang="en-US" sz="1800" kern="1200" baseline="-25000" dirty="0">
                          <a:solidFill>
                            <a:srgbClr val="595959"/>
                          </a:solidFill>
                          <a:latin typeface="微软雅黑" panose="020B0503020204020204" pitchFamily="34" charset="-122"/>
                          <a:ea typeface="微软雅黑" panose="020B0503020204020204" pitchFamily="34" charset="-122"/>
                          <a:cs typeface="+mn-cs"/>
                          <a:sym typeface="+mn-ea"/>
                        </a:rPr>
                        <a:t>1</a:t>
                      </a:r>
                      <a:endParaRPr lang="en-US" altLang="zh-CN" sz="1800" kern="1200" baseline="-25000" dirty="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marR="0" lvl="0" indent="0" algn="ctr" defTabSz="1219200" rtl="0" eaLnBrk="1" fontAlgn="auto" latinLnBrk="0" hangingPunct="1">
                        <a:lnSpc>
                          <a:spcPct val="100000"/>
                        </a:lnSpc>
                        <a:spcBef>
                          <a:spcPts val="0"/>
                        </a:spcBef>
                        <a:spcAft>
                          <a:spcPts val="0"/>
                        </a:spcAft>
                        <a:buClrTx/>
                        <a:buSzTx/>
                        <a:buFontTx/>
                        <a:buNone/>
                        <a:tabLst/>
                        <a:defRPr/>
                      </a:pPr>
                      <a:r>
                        <a:rPr kumimoji="0" lang="zh-CN" altLang="zh-CN" sz="1800" b="0" i="0" u="none" strike="noStrike" kern="1200" cap="none" spc="0" normalizeH="0" baseline="0" noProof="0" dirty="0">
                          <a:ln>
                            <a:noFill/>
                          </a:ln>
                          <a:solidFill>
                            <a:srgbClr val="595959"/>
                          </a:solidFill>
                          <a:effectLst/>
                          <a:uLnTx/>
                          <a:uFillTx/>
                          <a:latin typeface="微软雅黑" panose="020B0503020204020204" pitchFamily="34" charset="-122"/>
                          <a:ea typeface="微软雅黑" panose="020B0503020204020204" pitchFamily="34" charset="-122"/>
                          <a:cs typeface="+mn-cs"/>
                        </a:rPr>
                        <a:t>√</a:t>
                      </a:r>
                      <a:endParaRPr kumimoji="0" lang="zh-CN" altLang="zh-CN" sz="1800" b="0" i="0" u="none" strike="noStrike" kern="1200" cap="none" spc="0" normalizeH="0" baseline="0" noProof="0" dirty="0">
                        <a:ln>
                          <a:noFill/>
                        </a:ln>
                        <a:solidFill>
                          <a:prstClr val="black"/>
                        </a:solidFill>
                        <a:effectLst/>
                        <a:uLnTx/>
                        <a:uFillTx/>
                        <a:latin typeface="+mn-lt"/>
                        <a:cs typeface="+mn-cs"/>
                      </a:endParaRPr>
                    </a:p>
                  </a:txBody>
                  <a:tcPr anchor="ctr"/>
                </a:tc>
                <a:tc>
                  <a:txBody>
                    <a:bodyPr/>
                    <a:lstStyle/>
                    <a:p>
                      <a:pPr marL="0" algn="ctr" defTabSz="1219200" rtl="0" eaLnBrk="1" latinLnBrk="0" hangingPunct="1">
                        <a:buNone/>
                      </a:pPr>
                      <a:endParaRPr lang="en-US" altLang="zh-CN" sz="1800" kern="1200" dirty="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marR="0" lvl="0" indent="0" algn="ctr" defTabSz="1219200" rtl="0" eaLnBrk="1" fontAlgn="auto" latinLnBrk="0" hangingPunct="1">
                        <a:lnSpc>
                          <a:spcPct val="100000"/>
                        </a:lnSpc>
                        <a:spcBef>
                          <a:spcPts val="0"/>
                        </a:spcBef>
                        <a:spcAft>
                          <a:spcPts val="0"/>
                        </a:spcAft>
                        <a:buClrTx/>
                        <a:buSzTx/>
                        <a:buFontTx/>
                        <a:buNone/>
                        <a:tabLst/>
                        <a:defRPr/>
                      </a:pPr>
                      <a:r>
                        <a:rPr kumimoji="0" lang="zh-CN" altLang="zh-CN" sz="1800" b="0" i="0" u="none" strike="noStrike" kern="1200" cap="none" spc="0" normalizeH="0" baseline="0" noProof="0" dirty="0">
                          <a:ln>
                            <a:noFill/>
                          </a:ln>
                          <a:solidFill>
                            <a:srgbClr val="595959"/>
                          </a:solidFill>
                          <a:effectLst/>
                          <a:uLnTx/>
                          <a:uFillTx/>
                          <a:latin typeface="微软雅黑" panose="020B0503020204020204" pitchFamily="34" charset="-122"/>
                          <a:ea typeface="微软雅黑" panose="020B0503020204020204" pitchFamily="34" charset="-122"/>
                          <a:cs typeface="+mn-cs"/>
                        </a:rPr>
                        <a:t>√</a:t>
                      </a:r>
                      <a:endParaRPr kumimoji="0" lang="zh-CN" altLang="zh-CN" sz="1800" b="0" i="0" u="none" strike="noStrike" kern="1200" cap="none" spc="0" normalizeH="0" baseline="0" noProof="0" dirty="0">
                        <a:ln>
                          <a:noFill/>
                        </a:ln>
                        <a:solidFill>
                          <a:prstClr val="black"/>
                        </a:solidFill>
                        <a:effectLst/>
                        <a:uLnTx/>
                        <a:uFillTx/>
                        <a:latin typeface="+mn-lt"/>
                        <a:cs typeface="+mn-cs"/>
                      </a:endParaRPr>
                    </a:p>
                  </a:txBody>
                  <a:tcPr anchor="ctr"/>
                </a:tc>
                <a:tc>
                  <a:txBody>
                    <a:bodyPr/>
                    <a:lstStyle/>
                    <a:p>
                      <a:pPr marL="0" algn="ctr" rtl="0" eaLnBrk="1" latinLnBrk="0" hangingPunct="1">
                        <a:buNone/>
                      </a:pPr>
                      <a:endParaRPr lang="zh-CN" altLang="zh-CN" sz="1800" dirty="0">
                        <a:effectLst/>
                      </a:endParaRPr>
                    </a:p>
                  </a:txBody>
                  <a:tcPr anchor="ctr"/>
                </a:tc>
                <a:tc>
                  <a:txBody>
                    <a:bodyPr/>
                    <a:lstStyle/>
                    <a:p>
                      <a:pPr marL="0" marR="0" lvl="0" indent="0" algn="ctr" defTabSz="1219200" rtl="0" eaLnBrk="1" fontAlgn="auto" latinLnBrk="0" hangingPunct="1">
                        <a:lnSpc>
                          <a:spcPct val="100000"/>
                        </a:lnSpc>
                        <a:spcBef>
                          <a:spcPts val="0"/>
                        </a:spcBef>
                        <a:spcAft>
                          <a:spcPts val="0"/>
                        </a:spcAft>
                        <a:buClrTx/>
                        <a:buSzTx/>
                        <a:buFontTx/>
                        <a:buNone/>
                        <a:tabLst/>
                        <a:defRPr/>
                      </a:pPr>
                      <a:endParaRPr kumimoji="0" lang="zh-CN" altLang="zh-CN" sz="1800" b="0" i="0" u="none" strike="noStrike" kern="1200" cap="none" spc="0" normalizeH="0" baseline="0" noProof="0" dirty="0">
                        <a:ln>
                          <a:noFill/>
                        </a:ln>
                        <a:solidFill>
                          <a:prstClr val="black"/>
                        </a:solidFill>
                        <a:effectLst/>
                        <a:uLnTx/>
                        <a:uFillTx/>
                        <a:latin typeface="+mn-lt"/>
                        <a:cs typeface="+mn-cs"/>
                      </a:endParaRPr>
                    </a:p>
                  </a:txBody>
                  <a:tcPr anchor="ctr"/>
                </a:tc>
                <a:tc>
                  <a:txBody>
                    <a:bodyPr/>
                    <a:lstStyle/>
                    <a:p>
                      <a:pPr marL="0" marR="0" lvl="0" indent="0" algn="ctr" defTabSz="1219200" rtl="0" eaLnBrk="1" fontAlgn="auto" latinLnBrk="0" hangingPunct="1">
                        <a:lnSpc>
                          <a:spcPct val="100000"/>
                        </a:lnSpc>
                        <a:spcBef>
                          <a:spcPts val="0"/>
                        </a:spcBef>
                        <a:spcAft>
                          <a:spcPts val="0"/>
                        </a:spcAft>
                        <a:buClrTx/>
                        <a:buSzTx/>
                        <a:buFontTx/>
                        <a:buNone/>
                        <a:tabLst/>
                        <a:defRPr/>
                      </a:pPr>
                      <a:endParaRPr kumimoji="0" lang="zh-CN" altLang="zh-CN" sz="1800" b="0" i="0" u="none" strike="noStrike" kern="1200" cap="none" spc="0" normalizeH="0" baseline="0" noProof="0" dirty="0">
                        <a:ln>
                          <a:noFill/>
                        </a:ln>
                        <a:solidFill>
                          <a:prstClr val="black"/>
                        </a:solidFill>
                        <a:effectLst/>
                        <a:uLnTx/>
                        <a:uFillTx/>
                        <a:latin typeface="+mn-lt"/>
                        <a:cs typeface="+mn-cs"/>
                      </a:endParaRPr>
                    </a:p>
                  </a:txBody>
                  <a:tcPr anchor="ctr"/>
                </a:tc>
                <a:extLst>
                  <a:ext uri="{0D108BD9-81ED-4DB2-BD59-A6C34878D82A}">
                    <a16:rowId xmlns:a16="http://schemas.microsoft.com/office/drawing/2014/main" val="10006"/>
                  </a:ext>
                </a:extLst>
              </a:tr>
              <a:tr h="347345">
                <a:tc vMerge="1">
                  <a:txBody>
                    <a:bodyPr/>
                    <a:lstStyle/>
                    <a:p>
                      <a:endParaRPr lang="zh-CN"/>
                    </a:p>
                  </a:txBody>
                  <a:tcPr anchor="ctr"/>
                </a:tc>
                <a:tc>
                  <a:txBody>
                    <a:bodyPr/>
                    <a:lstStyle/>
                    <a:p>
                      <a:pPr marL="0" algn="ctr" defTabSz="1219200" rtl="0" eaLnBrk="1" latinLnBrk="0" hangingPunct="1">
                        <a:buClrTx/>
                        <a:buSzTx/>
                        <a:buFontTx/>
                        <a:buNone/>
                      </a:pPr>
                      <a:r>
                        <a:rPr lang="en-US" sz="1800" kern="1200" dirty="0">
                          <a:solidFill>
                            <a:srgbClr val="595959"/>
                          </a:solidFill>
                          <a:latin typeface="微软雅黑" panose="020B0503020204020204" pitchFamily="34" charset="-122"/>
                          <a:ea typeface="微软雅黑" panose="020B0503020204020204" pitchFamily="34" charset="-122"/>
                          <a:cs typeface="+mn-cs"/>
                          <a:sym typeface="+mn-ea"/>
                        </a:rPr>
                        <a:t>e</a:t>
                      </a:r>
                      <a:r>
                        <a:rPr lang="en-US" sz="1800" kern="1200" baseline="-25000" dirty="0">
                          <a:solidFill>
                            <a:srgbClr val="595959"/>
                          </a:solidFill>
                          <a:latin typeface="微软雅黑" panose="020B0503020204020204" pitchFamily="34" charset="-122"/>
                          <a:ea typeface="微软雅黑" panose="020B0503020204020204" pitchFamily="34" charset="-122"/>
                          <a:cs typeface="+mn-cs"/>
                          <a:sym typeface="+mn-ea"/>
                        </a:rPr>
                        <a:t>2</a:t>
                      </a:r>
                      <a:endParaRPr lang="en-US" altLang="zh-CN" sz="1800" kern="1200" baseline="-25000" dirty="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marR="0" lvl="0" indent="0" algn="ctr" defTabSz="1219200" rtl="0" eaLnBrk="1" fontAlgn="auto" latinLnBrk="0" hangingPunct="1">
                        <a:lnSpc>
                          <a:spcPct val="100000"/>
                        </a:lnSpc>
                        <a:spcBef>
                          <a:spcPts val="0"/>
                        </a:spcBef>
                        <a:spcAft>
                          <a:spcPts val="0"/>
                        </a:spcAft>
                        <a:buClrTx/>
                        <a:buSzTx/>
                        <a:buFontTx/>
                        <a:buNone/>
                        <a:tabLst/>
                        <a:defRPr/>
                      </a:pPr>
                      <a:endParaRPr kumimoji="0" lang="zh-CN" altLang="zh-CN" sz="1800" b="0" i="0" u="none" strike="noStrike" kern="1200" cap="none" spc="0" normalizeH="0" baseline="0" noProof="0" dirty="0">
                        <a:ln>
                          <a:noFill/>
                        </a:ln>
                        <a:solidFill>
                          <a:prstClr val="black"/>
                        </a:solidFill>
                        <a:effectLst/>
                        <a:uLnTx/>
                        <a:uFillTx/>
                        <a:latin typeface="+mn-lt"/>
                        <a:cs typeface="+mn-cs"/>
                      </a:endParaRPr>
                    </a:p>
                  </a:txBody>
                  <a:tcPr anchor="ctr"/>
                </a:tc>
                <a:tc>
                  <a:txBody>
                    <a:bodyPr/>
                    <a:lstStyle/>
                    <a:p>
                      <a:pPr marL="0" algn="ctr" defTabSz="1219200" rtl="0" eaLnBrk="1" latinLnBrk="0" hangingPunct="1">
                        <a:buNone/>
                      </a:pPr>
                      <a:endParaRPr lang="en-US" altLang="zh-CN" sz="1800" kern="1200" dirty="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marR="0" lvl="0" indent="0" algn="ctr" defTabSz="1219200" rtl="0" eaLnBrk="1" fontAlgn="auto" latinLnBrk="0" hangingPunct="1">
                        <a:lnSpc>
                          <a:spcPct val="100000"/>
                        </a:lnSpc>
                        <a:spcBef>
                          <a:spcPts val="0"/>
                        </a:spcBef>
                        <a:spcAft>
                          <a:spcPts val="0"/>
                        </a:spcAft>
                        <a:buClrTx/>
                        <a:buSzTx/>
                        <a:buFontTx/>
                        <a:buNone/>
                        <a:tabLst/>
                        <a:defRPr/>
                      </a:pPr>
                      <a:endParaRPr kumimoji="0" lang="zh-CN" altLang="zh-CN" sz="1800" b="0" i="0" u="none" strike="noStrike" kern="1200" cap="none" spc="0" normalizeH="0" baseline="0" noProof="0" dirty="0">
                        <a:ln>
                          <a:noFill/>
                        </a:ln>
                        <a:solidFill>
                          <a:prstClr val="black"/>
                        </a:solidFill>
                        <a:effectLst/>
                        <a:uLnTx/>
                        <a:uFillTx/>
                        <a:latin typeface="+mn-lt"/>
                        <a:cs typeface="+mn-cs"/>
                      </a:endParaRPr>
                    </a:p>
                  </a:txBody>
                  <a:tcPr anchor="ctr"/>
                </a:tc>
                <a:tc>
                  <a:txBody>
                    <a:bodyPr/>
                    <a:lstStyle/>
                    <a:p>
                      <a:pPr marL="0" algn="ctr" defTabSz="1219200" rtl="0" eaLnBrk="1" latinLnBrk="0" hangingPunct="1">
                        <a:buNone/>
                      </a:pP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marR="0" lvl="0" indent="0" algn="ctr" defTabSz="1219200" rtl="0" eaLnBrk="1" fontAlgn="auto" latinLnBrk="0" hangingPunct="1">
                        <a:lnSpc>
                          <a:spcPct val="100000"/>
                        </a:lnSpc>
                        <a:spcBef>
                          <a:spcPts val="0"/>
                        </a:spcBef>
                        <a:spcAft>
                          <a:spcPts val="0"/>
                        </a:spcAft>
                        <a:buClrTx/>
                        <a:buSzTx/>
                        <a:buFontTx/>
                        <a:buNone/>
                        <a:tabLst/>
                        <a:defRPr/>
                      </a:pPr>
                      <a:r>
                        <a:rPr kumimoji="0" lang="zh-CN" altLang="zh-CN" sz="1800" b="0" i="0" u="none" strike="noStrike" kern="1200" cap="none" spc="0" normalizeH="0" baseline="0" noProof="0" dirty="0">
                          <a:ln>
                            <a:noFill/>
                          </a:ln>
                          <a:solidFill>
                            <a:srgbClr val="595959"/>
                          </a:solidFill>
                          <a:effectLst/>
                          <a:uLnTx/>
                          <a:uFillTx/>
                          <a:latin typeface="微软雅黑" panose="020B0503020204020204" pitchFamily="34" charset="-122"/>
                          <a:ea typeface="微软雅黑" panose="020B0503020204020204" pitchFamily="34" charset="-122"/>
                          <a:cs typeface="+mn-cs"/>
                        </a:rPr>
                        <a:t>√</a:t>
                      </a:r>
                      <a:endParaRPr kumimoji="0" lang="zh-CN" altLang="zh-CN" sz="1800" b="0" i="0" u="none" strike="noStrike" kern="1200" cap="none" spc="0" normalizeH="0" baseline="0" noProof="0" dirty="0">
                        <a:ln>
                          <a:noFill/>
                        </a:ln>
                        <a:solidFill>
                          <a:prstClr val="black"/>
                        </a:solidFill>
                        <a:effectLst/>
                        <a:uLnTx/>
                        <a:uFillTx/>
                        <a:latin typeface="+mn-lt"/>
                        <a:cs typeface="+mn-cs"/>
                      </a:endParaRPr>
                    </a:p>
                  </a:txBody>
                  <a:tcPr anchor="ctr"/>
                </a:tc>
                <a:tc>
                  <a:txBody>
                    <a:bodyPr/>
                    <a:lstStyle/>
                    <a:p>
                      <a:pPr marL="0" marR="0" lvl="0" indent="0" algn="ctr" defTabSz="1219200" rtl="0" eaLnBrk="1" fontAlgn="auto" latinLnBrk="0" hangingPunct="1">
                        <a:lnSpc>
                          <a:spcPct val="100000"/>
                        </a:lnSpc>
                        <a:spcBef>
                          <a:spcPts val="0"/>
                        </a:spcBef>
                        <a:spcAft>
                          <a:spcPts val="0"/>
                        </a:spcAft>
                        <a:buClrTx/>
                        <a:buSzTx/>
                        <a:buFontTx/>
                        <a:buNone/>
                        <a:tabLst/>
                        <a:defRPr/>
                      </a:pPr>
                      <a:r>
                        <a:rPr kumimoji="0" lang="zh-CN" altLang="zh-CN" sz="1800" b="0" i="0" u="none" strike="noStrike" kern="1200" cap="none" spc="0" normalizeH="0" baseline="0" noProof="0" dirty="0">
                          <a:ln>
                            <a:noFill/>
                          </a:ln>
                          <a:solidFill>
                            <a:srgbClr val="595959"/>
                          </a:solidFill>
                          <a:effectLst/>
                          <a:uLnTx/>
                          <a:uFillTx/>
                          <a:latin typeface="微软雅黑" panose="020B0503020204020204" pitchFamily="34" charset="-122"/>
                          <a:ea typeface="微软雅黑" panose="020B0503020204020204" pitchFamily="34" charset="-122"/>
                          <a:cs typeface="+mn-cs"/>
                        </a:rPr>
                        <a:t>√</a:t>
                      </a:r>
                      <a:endParaRPr kumimoji="0" lang="zh-CN" altLang="zh-CN" sz="1800" b="0" i="0" u="none" strike="noStrike" kern="1200" cap="none" spc="0" normalizeH="0" baseline="0" noProof="0" dirty="0">
                        <a:ln>
                          <a:noFill/>
                        </a:ln>
                        <a:solidFill>
                          <a:prstClr val="black"/>
                        </a:solidFill>
                        <a:effectLst/>
                        <a:uLnTx/>
                        <a:uFillTx/>
                        <a:latin typeface="+mn-lt"/>
                        <a:cs typeface="+mn-cs"/>
                      </a:endParaRPr>
                    </a:p>
                  </a:txBody>
                  <a:tcPr anchor="ctr"/>
                </a:tc>
                <a:extLst>
                  <a:ext uri="{0D108BD9-81ED-4DB2-BD59-A6C34878D82A}">
                    <a16:rowId xmlns:a16="http://schemas.microsoft.com/office/drawing/2014/main" val="10007"/>
                  </a:ext>
                </a:extLst>
              </a:tr>
              <a:tr h="314325">
                <a:tc vMerge="1">
                  <a:txBody>
                    <a:bodyPr/>
                    <a:lstStyle/>
                    <a:p>
                      <a:endParaRPr lang="zh-CN"/>
                    </a:p>
                  </a:txBody>
                  <a:tcPr anchor="ctr"/>
                </a:tc>
                <a:tc>
                  <a:txBody>
                    <a:bodyPr/>
                    <a:lstStyle/>
                    <a:p>
                      <a:pPr marL="0" algn="ctr" defTabSz="1219200" rtl="0" eaLnBrk="1" latinLnBrk="0" hangingPunct="1">
                        <a:buClrTx/>
                        <a:buSzTx/>
                        <a:buFontTx/>
                        <a:buNone/>
                      </a:pPr>
                      <a:r>
                        <a:rPr lang="en-US" sz="1800" kern="1200">
                          <a:solidFill>
                            <a:srgbClr val="595959"/>
                          </a:solidFill>
                          <a:latin typeface="微软雅黑" panose="020B0503020204020204" pitchFamily="34" charset="-122"/>
                          <a:ea typeface="微软雅黑" panose="020B0503020204020204" pitchFamily="34" charset="-122"/>
                          <a:cs typeface="+mn-cs"/>
                          <a:sym typeface="+mn-ea"/>
                        </a:rPr>
                        <a:t>e</a:t>
                      </a:r>
                      <a:r>
                        <a:rPr lang="en-US" sz="1800" kern="1200" baseline="-25000">
                          <a:solidFill>
                            <a:srgbClr val="595959"/>
                          </a:solidFill>
                          <a:latin typeface="微软雅黑" panose="020B0503020204020204" pitchFamily="34" charset="-122"/>
                          <a:ea typeface="微软雅黑" panose="020B0503020204020204" pitchFamily="34" charset="-122"/>
                          <a:cs typeface="+mn-cs"/>
                          <a:sym typeface="+mn-ea"/>
                        </a:rPr>
                        <a:t>3</a:t>
                      </a:r>
                      <a:endParaRPr lang="en-US" altLang="zh-CN" sz="1800" kern="1200" baseline="-250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endParaRPr lang="zh-CN" altLang="en-US"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marR="0" lvl="0" indent="0" algn="ctr" defTabSz="1219200" rtl="0" eaLnBrk="1" fontAlgn="auto" latinLnBrk="0" hangingPunct="1">
                        <a:lnSpc>
                          <a:spcPct val="100000"/>
                        </a:lnSpc>
                        <a:spcBef>
                          <a:spcPts val="0"/>
                        </a:spcBef>
                        <a:spcAft>
                          <a:spcPts val="0"/>
                        </a:spcAft>
                        <a:buClrTx/>
                        <a:buSzTx/>
                        <a:buFontTx/>
                        <a:buNone/>
                        <a:tabLst/>
                        <a:defRPr/>
                      </a:pPr>
                      <a:r>
                        <a:rPr lang="zh-CN" altLang="en-US" sz="1800" kern="1200" dirty="0">
                          <a:solidFill>
                            <a:srgbClr val="595959"/>
                          </a:solidFill>
                          <a:latin typeface="微软雅黑" panose="020B0503020204020204" pitchFamily="34" charset="-122"/>
                          <a:ea typeface="微软雅黑" panose="020B0503020204020204" pitchFamily="34" charset="-122"/>
                          <a:cs typeface="+mn-cs"/>
                          <a:sym typeface="+mn-ea"/>
                        </a:rPr>
                        <a:t>√</a:t>
                      </a:r>
                      <a:endParaRPr lang="en-US" altLang="zh-CN" sz="1800" kern="1200" dirty="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endParaRPr lang="en-US" altLang="zh-CN" sz="1800" kern="1200" dirty="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r>
                        <a:rPr lang="zh-CN" altLang="en-US" sz="1800" kern="1200" dirty="0">
                          <a:solidFill>
                            <a:srgbClr val="595959"/>
                          </a:solidFill>
                          <a:latin typeface="微软雅黑" panose="020B0503020204020204" pitchFamily="34" charset="-122"/>
                          <a:ea typeface="微软雅黑" panose="020B0503020204020204" pitchFamily="34" charset="-122"/>
                          <a:cs typeface="+mn-cs"/>
                          <a:sym typeface="+mn-ea"/>
                        </a:rPr>
                        <a:t>√</a:t>
                      </a:r>
                      <a:endParaRPr lang="en-US" altLang="zh-CN" sz="1800" kern="1200" dirty="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endParaRPr lang="en-US" altLang="zh-CN" sz="1800" kern="1200" dirty="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r>
                        <a:rPr lang="zh-CN" altLang="en-US" sz="1800" kern="1200" dirty="0">
                          <a:solidFill>
                            <a:srgbClr val="595959"/>
                          </a:solidFill>
                          <a:latin typeface="微软雅黑" panose="020B0503020204020204" pitchFamily="34" charset="-122"/>
                          <a:ea typeface="微软雅黑" panose="020B0503020204020204" pitchFamily="34" charset="-122"/>
                          <a:cs typeface="+mn-cs"/>
                          <a:sym typeface="+mn-ea"/>
                        </a:rPr>
                        <a:t>√</a:t>
                      </a:r>
                      <a:endParaRPr lang="en-US" altLang="zh-CN" sz="1800" kern="1200" dirty="0">
                        <a:solidFill>
                          <a:srgbClr val="595959"/>
                        </a:solidFill>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10008"/>
                  </a:ext>
                </a:extLst>
              </a:tr>
            </a:tbl>
          </a:graphicData>
        </a:graphic>
      </p:graphicFrame>
      <p:sp>
        <p:nvSpPr>
          <p:cNvPr id="3" name="TextBox 35">
            <a:extLst>
              <a:ext uri="{FF2B5EF4-FFF2-40B4-BE49-F238E27FC236}">
                <a16:creationId xmlns:a16="http://schemas.microsoft.com/office/drawing/2014/main" id="{1B189D10-8295-3F29-82EF-09889461B9CB}"/>
              </a:ext>
            </a:extLst>
          </p:cNvPr>
          <p:cNvSpPr txBox="1">
            <a:spLocks noChangeArrowheads="1"/>
          </p:cNvSpPr>
          <p:nvPr/>
        </p:nvSpPr>
        <p:spPr bwMode="auto">
          <a:xfrm>
            <a:off x="4631531" y="1197794"/>
            <a:ext cx="2927350" cy="579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noAutofit/>
          </a:bodyPr>
          <a:lstStyle>
            <a:defPPr>
              <a:defRPr lang="zh-CN"/>
            </a:defPPr>
            <a:lvl1pPr marL="0" algn="l" defTabSz="1219200" rtl="0" eaLnBrk="1" latinLnBrk="0" hangingPunct="1">
              <a:defRPr sz="2400" kern="1200">
                <a:solidFill>
                  <a:schemeClr val="tx1"/>
                </a:solidFill>
                <a:latin typeface="Calibri" panose="020F0502020204030204" pitchFamily="34" charset="0"/>
                <a:ea typeface="宋体" panose="02010600030101010101" pitchFamily="2" charset="-122"/>
                <a:cs typeface="+mn-cs"/>
              </a:defRPr>
            </a:lvl1pPr>
            <a:lvl2pPr marL="742950" indent="-285750" algn="l" defTabSz="1219200" rtl="0" eaLnBrk="1" latinLnBrk="0" hangingPunct="1">
              <a:defRPr sz="2400" kern="1200">
                <a:solidFill>
                  <a:schemeClr val="tx1"/>
                </a:solidFill>
                <a:latin typeface="Calibri" panose="020F0502020204030204" pitchFamily="34" charset="0"/>
                <a:ea typeface="宋体" panose="02010600030101010101" pitchFamily="2" charset="-122"/>
                <a:cs typeface="+mn-cs"/>
              </a:defRPr>
            </a:lvl2pPr>
            <a:lvl3pPr marL="1143000" indent="-228600" algn="l" defTabSz="1219200" rtl="0" eaLnBrk="1" latinLnBrk="0" hangingPunct="1">
              <a:defRPr sz="2400" kern="1200">
                <a:solidFill>
                  <a:schemeClr val="tx1"/>
                </a:solidFill>
                <a:latin typeface="Calibri" panose="020F0502020204030204" pitchFamily="34" charset="0"/>
                <a:ea typeface="宋体" panose="02010600030101010101" pitchFamily="2" charset="-122"/>
                <a:cs typeface="+mn-cs"/>
              </a:defRPr>
            </a:lvl3pPr>
            <a:lvl4pPr marL="1600200" indent="-228600" algn="l" defTabSz="1219200" rtl="0" eaLnBrk="1" latinLnBrk="0" hangingPunct="1">
              <a:defRPr sz="2400" kern="1200">
                <a:solidFill>
                  <a:schemeClr val="tx1"/>
                </a:solidFill>
                <a:latin typeface="Calibri" panose="020F0502020204030204" pitchFamily="34" charset="0"/>
                <a:ea typeface="宋体" panose="02010600030101010101" pitchFamily="2" charset="-122"/>
                <a:cs typeface="+mn-cs"/>
              </a:defRPr>
            </a:lvl4pPr>
            <a:lvl5pPr marL="2057400" indent="-228600" algn="l" defTabSz="1219200" rtl="0" eaLnBrk="1" latinLnBrk="0" hangingPunct="1">
              <a:defRPr sz="2400" kern="1200">
                <a:solidFill>
                  <a:schemeClr val="tx1"/>
                </a:solidFill>
                <a:latin typeface="Calibri" panose="020F0502020204030204" pitchFamily="34" charset="0"/>
                <a:ea typeface="宋体" panose="02010600030101010101" pitchFamily="2" charset="-122"/>
                <a:cs typeface="+mn-cs"/>
              </a:defRPr>
            </a:lvl5pPr>
            <a:lvl6pPr marL="2514600" indent="-228600" algn="l" defTabSz="1219200" rtl="0" eaLnBrk="0" fontAlgn="base" latinLnBrk="0" hangingPunct="0">
              <a:spcBef>
                <a:spcPct val="0"/>
              </a:spcBef>
              <a:spcAft>
                <a:spcPct val="0"/>
              </a:spcAft>
              <a:defRPr sz="2400" kern="1200">
                <a:solidFill>
                  <a:schemeClr val="tx1"/>
                </a:solidFill>
                <a:latin typeface="Calibri" panose="020F0502020204030204" pitchFamily="34" charset="0"/>
                <a:ea typeface="宋体" panose="02010600030101010101" pitchFamily="2" charset="-122"/>
                <a:cs typeface="+mn-cs"/>
              </a:defRPr>
            </a:lvl6pPr>
            <a:lvl7pPr marL="2971800" indent="-228600" algn="l" defTabSz="1219200" rtl="0" eaLnBrk="0" fontAlgn="base" latinLnBrk="0" hangingPunct="0">
              <a:spcBef>
                <a:spcPct val="0"/>
              </a:spcBef>
              <a:spcAft>
                <a:spcPct val="0"/>
              </a:spcAft>
              <a:defRPr sz="2400" kern="1200">
                <a:solidFill>
                  <a:schemeClr val="tx1"/>
                </a:solidFill>
                <a:latin typeface="Calibri" panose="020F0502020204030204" pitchFamily="34" charset="0"/>
                <a:ea typeface="宋体" panose="02010600030101010101" pitchFamily="2" charset="-122"/>
                <a:cs typeface="+mn-cs"/>
              </a:defRPr>
            </a:lvl7pPr>
            <a:lvl8pPr marL="3429000" indent="-228600" algn="l" defTabSz="1219200" rtl="0" eaLnBrk="0" fontAlgn="base" latinLnBrk="0" hangingPunct="0">
              <a:spcBef>
                <a:spcPct val="0"/>
              </a:spcBef>
              <a:spcAft>
                <a:spcPct val="0"/>
              </a:spcAft>
              <a:defRPr sz="2400" kern="1200">
                <a:solidFill>
                  <a:schemeClr val="tx1"/>
                </a:solidFill>
                <a:latin typeface="Calibri" panose="020F0502020204030204" pitchFamily="34" charset="0"/>
                <a:ea typeface="宋体" panose="02010600030101010101" pitchFamily="2" charset="-122"/>
                <a:cs typeface="+mn-cs"/>
              </a:defRPr>
            </a:lvl8pPr>
            <a:lvl9pPr marL="3886200" indent="-228600" algn="l" defTabSz="1219200" rtl="0" eaLnBrk="0" fontAlgn="base" latinLnBrk="0" hangingPunct="0">
              <a:spcBef>
                <a:spcPct val="0"/>
              </a:spcBef>
              <a:spcAft>
                <a:spcPct val="0"/>
              </a:spcAft>
              <a:defRPr sz="2400" kern="1200">
                <a:solidFill>
                  <a:schemeClr val="tx1"/>
                </a:solidFill>
                <a:latin typeface="Calibri" panose="020F0502020204030204" pitchFamily="34" charset="0"/>
                <a:ea typeface="宋体" panose="02010600030101010101" pitchFamily="2" charset="-122"/>
                <a:cs typeface="+mn-cs"/>
              </a:defRPr>
            </a:lvl9pPr>
          </a:lstStyle>
          <a:p>
            <a:pPr algn="just">
              <a:lnSpc>
                <a:spcPct val="150000"/>
              </a:lnSpc>
              <a:buClrTx/>
              <a:buSzTx/>
              <a:buFontTx/>
            </a:pPr>
            <a:r>
              <a:rPr lang="zh-CN" altLang="en-US" sz="1800" dirty="0">
                <a:solidFill>
                  <a:srgbClr val="0070C0"/>
                </a:solidFill>
                <a:latin typeface="微软雅黑" panose="020B0503020204020204" pitchFamily="34" charset="-122"/>
                <a:ea typeface="微软雅黑" panose="020B0503020204020204" pitchFamily="34" charset="-122"/>
                <a:sym typeface="+mn-ea"/>
              </a:rPr>
              <a:t>字符问题的决策表</a:t>
            </a:r>
            <a:endParaRPr lang="zh-CN" altLang="en-US" sz="1800" dirty="0">
              <a:solidFill>
                <a:srgbClr val="0070C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0853364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4FD300-6DD0-F553-824C-DE91DC63ABF7}"/>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748D5BAF-BE60-4BD8-A6CE-53AE82F88EAE}"/>
              </a:ext>
            </a:extLst>
          </p:cNvPr>
          <p:cNvSpPr txBox="1"/>
          <p:nvPr/>
        </p:nvSpPr>
        <p:spPr>
          <a:xfrm>
            <a:off x="1039559" y="189794"/>
            <a:ext cx="9087647"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2.3.3	实例一：字符问题的因果图与决策表绘制</a:t>
            </a:r>
          </a:p>
        </p:txBody>
      </p:sp>
      <p:sp>
        <p:nvSpPr>
          <p:cNvPr id="3" name="TextBox 35">
            <a:extLst>
              <a:ext uri="{FF2B5EF4-FFF2-40B4-BE49-F238E27FC236}">
                <a16:creationId xmlns:a16="http://schemas.microsoft.com/office/drawing/2014/main" id="{048BC957-7887-BAC6-1BF1-BC5295AE4811}"/>
              </a:ext>
            </a:extLst>
          </p:cNvPr>
          <p:cNvSpPr txBox="1">
            <a:spLocks noChangeArrowheads="1"/>
          </p:cNvSpPr>
          <p:nvPr/>
        </p:nvSpPr>
        <p:spPr bwMode="auto">
          <a:xfrm>
            <a:off x="4631531" y="909794"/>
            <a:ext cx="2927350" cy="579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noAutofit/>
          </a:bodyPr>
          <a:lstStyle>
            <a:defPPr>
              <a:defRPr lang="zh-CN"/>
            </a:defPPr>
            <a:lvl1pPr marL="0" algn="l" defTabSz="1219200" rtl="0" eaLnBrk="1" latinLnBrk="0" hangingPunct="1">
              <a:defRPr sz="2400" kern="1200">
                <a:solidFill>
                  <a:schemeClr val="tx1"/>
                </a:solidFill>
                <a:latin typeface="Calibri" panose="020F0502020204030204" pitchFamily="34" charset="0"/>
                <a:ea typeface="宋体" panose="02010600030101010101" pitchFamily="2" charset="-122"/>
                <a:cs typeface="+mn-cs"/>
              </a:defRPr>
            </a:lvl1pPr>
            <a:lvl2pPr marL="742950" indent="-285750" algn="l" defTabSz="1219200" rtl="0" eaLnBrk="1" latinLnBrk="0" hangingPunct="1">
              <a:defRPr sz="2400" kern="1200">
                <a:solidFill>
                  <a:schemeClr val="tx1"/>
                </a:solidFill>
                <a:latin typeface="Calibri" panose="020F0502020204030204" pitchFamily="34" charset="0"/>
                <a:ea typeface="宋体" panose="02010600030101010101" pitchFamily="2" charset="-122"/>
                <a:cs typeface="+mn-cs"/>
              </a:defRPr>
            </a:lvl2pPr>
            <a:lvl3pPr marL="1143000" indent="-228600" algn="l" defTabSz="1219200" rtl="0" eaLnBrk="1" latinLnBrk="0" hangingPunct="1">
              <a:defRPr sz="2400" kern="1200">
                <a:solidFill>
                  <a:schemeClr val="tx1"/>
                </a:solidFill>
                <a:latin typeface="Calibri" panose="020F0502020204030204" pitchFamily="34" charset="0"/>
                <a:ea typeface="宋体" panose="02010600030101010101" pitchFamily="2" charset="-122"/>
                <a:cs typeface="+mn-cs"/>
              </a:defRPr>
            </a:lvl3pPr>
            <a:lvl4pPr marL="1600200" indent="-228600" algn="l" defTabSz="1219200" rtl="0" eaLnBrk="1" latinLnBrk="0" hangingPunct="1">
              <a:defRPr sz="2400" kern="1200">
                <a:solidFill>
                  <a:schemeClr val="tx1"/>
                </a:solidFill>
                <a:latin typeface="Calibri" panose="020F0502020204030204" pitchFamily="34" charset="0"/>
                <a:ea typeface="宋体" panose="02010600030101010101" pitchFamily="2" charset="-122"/>
                <a:cs typeface="+mn-cs"/>
              </a:defRPr>
            </a:lvl4pPr>
            <a:lvl5pPr marL="2057400" indent="-228600" algn="l" defTabSz="1219200" rtl="0" eaLnBrk="1" latinLnBrk="0" hangingPunct="1">
              <a:defRPr sz="2400" kern="1200">
                <a:solidFill>
                  <a:schemeClr val="tx1"/>
                </a:solidFill>
                <a:latin typeface="Calibri" panose="020F0502020204030204" pitchFamily="34" charset="0"/>
                <a:ea typeface="宋体" panose="02010600030101010101" pitchFamily="2" charset="-122"/>
                <a:cs typeface="+mn-cs"/>
              </a:defRPr>
            </a:lvl5pPr>
            <a:lvl6pPr marL="2514600" indent="-228600" algn="l" defTabSz="1219200" rtl="0" eaLnBrk="0" fontAlgn="base" latinLnBrk="0" hangingPunct="0">
              <a:spcBef>
                <a:spcPct val="0"/>
              </a:spcBef>
              <a:spcAft>
                <a:spcPct val="0"/>
              </a:spcAft>
              <a:defRPr sz="2400" kern="1200">
                <a:solidFill>
                  <a:schemeClr val="tx1"/>
                </a:solidFill>
                <a:latin typeface="Calibri" panose="020F0502020204030204" pitchFamily="34" charset="0"/>
                <a:ea typeface="宋体" panose="02010600030101010101" pitchFamily="2" charset="-122"/>
                <a:cs typeface="+mn-cs"/>
              </a:defRPr>
            </a:lvl6pPr>
            <a:lvl7pPr marL="2971800" indent="-228600" algn="l" defTabSz="1219200" rtl="0" eaLnBrk="0" fontAlgn="base" latinLnBrk="0" hangingPunct="0">
              <a:spcBef>
                <a:spcPct val="0"/>
              </a:spcBef>
              <a:spcAft>
                <a:spcPct val="0"/>
              </a:spcAft>
              <a:defRPr sz="2400" kern="1200">
                <a:solidFill>
                  <a:schemeClr val="tx1"/>
                </a:solidFill>
                <a:latin typeface="Calibri" panose="020F0502020204030204" pitchFamily="34" charset="0"/>
                <a:ea typeface="宋体" panose="02010600030101010101" pitchFamily="2" charset="-122"/>
                <a:cs typeface="+mn-cs"/>
              </a:defRPr>
            </a:lvl7pPr>
            <a:lvl8pPr marL="3429000" indent="-228600" algn="l" defTabSz="1219200" rtl="0" eaLnBrk="0" fontAlgn="base" latinLnBrk="0" hangingPunct="0">
              <a:spcBef>
                <a:spcPct val="0"/>
              </a:spcBef>
              <a:spcAft>
                <a:spcPct val="0"/>
              </a:spcAft>
              <a:defRPr sz="2400" kern="1200">
                <a:solidFill>
                  <a:schemeClr val="tx1"/>
                </a:solidFill>
                <a:latin typeface="Calibri" panose="020F0502020204030204" pitchFamily="34" charset="0"/>
                <a:ea typeface="宋体" panose="02010600030101010101" pitchFamily="2" charset="-122"/>
                <a:cs typeface="+mn-cs"/>
              </a:defRPr>
            </a:lvl8pPr>
            <a:lvl9pPr marL="3886200" indent="-228600" algn="l" defTabSz="1219200" rtl="0" eaLnBrk="0" fontAlgn="base" latinLnBrk="0" hangingPunct="0">
              <a:spcBef>
                <a:spcPct val="0"/>
              </a:spcBef>
              <a:spcAft>
                <a:spcPct val="0"/>
              </a:spcAft>
              <a:defRPr sz="2400" kern="1200">
                <a:solidFill>
                  <a:schemeClr val="tx1"/>
                </a:solidFill>
                <a:latin typeface="Calibri" panose="020F0502020204030204" pitchFamily="34" charset="0"/>
                <a:ea typeface="宋体" panose="02010600030101010101" pitchFamily="2" charset="-122"/>
                <a:cs typeface="+mn-cs"/>
              </a:defRPr>
            </a:lvl9pPr>
          </a:lstStyle>
          <a:p>
            <a:pPr algn="just">
              <a:lnSpc>
                <a:spcPct val="150000"/>
              </a:lnSpc>
              <a:buClrTx/>
              <a:buSzTx/>
              <a:buFontTx/>
            </a:pPr>
            <a:r>
              <a:rPr lang="zh-CN" altLang="en-US" sz="1800" dirty="0">
                <a:solidFill>
                  <a:srgbClr val="0070C0"/>
                </a:solidFill>
                <a:latin typeface="微软雅黑" panose="020B0503020204020204" pitchFamily="34" charset="-122"/>
                <a:ea typeface="微软雅黑" panose="020B0503020204020204" pitchFamily="34" charset="-122"/>
                <a:sym typeface="+mn-ea"/>
              </a:rPr>
              <a:t>字符问题的测试用例</a:t>
            </a:r>
            <a:endParaRPr lang="zh-CN" altLang="en-US" sz="1800" dirty="0">
              <a:solidFill>
                <a:srgbClr val="0070C0"/>
              </a:solidFill>
              <a:latin typeface="微软雅黑" panose="020B0503020204020204" pitchFamily="34" charset="-122"/>
              <a:ea typeface="微软雅黑" panose="020B0503020204020204" pitchFamily="34" charset="-122"/>
            </a:endParaRPr>
          </a:p>
        </p:txBody>
      </p:sp>
      <p:graphicFrame>
        <p:nvGraphicFramePr>
          <p:cNvPr id="5" name="表格 4">
            <a:extLst>
              <a:ext uri="{FF2B5EF4-FFF2-40B4-BE49-F238E27FC236}">
                <a16:creationId xmlns:a16="http://schemas.microsoft.com/office/drawing/2014/main" id="{84F97A92-0326-8C8E-4C1B-37A63B7FB411}"/>
              </a:ext>
            </a:extLst>
          </p:cNvPr>
          <p:cNvGraphicFramePr/>
          <p:nvPr>
            <p:custDataLst>
              <p:tags r:id="rId1"/>
            </p:custDataLst>
            <p:extLst>
              <p:ext uri="{D42A27DB-BD31-4B8C-83A1-F6EECF244321}">
                <p14:modId xmlns:p14="http://schemas.microsoft.com/office/powerpoint/2010/main" val="1910531224"/>
              </p:ext>
            </p:extLst>
          </p:nvPr>
        </p:nvGraphicFramePr>
        <p:xfrm>
          <a:off x="2177877" y="1702819"/>
          <a:ext cx="6811010" cy="4361180"/>
        </p:xfrm>
        <a:graphic>
          <a:graphicData uri="http://schemas.openxmlformats.org/drawingml/2006/table">
            <a:tbl>
              <a:tblPr firstRow="1" bandRow="1">
                <a:tableStyleId>{5C22544A-7EE6-4342-B048-85BDC9FD1C3A}</a:tableStyleId>
              </a:tblPr>
              <a:tblGrid>
                <a:gridCol w="1360805">
                  <a:extLst>
                    <a:ext uri="{9D8B030D-6E8A-4147-A177-3AD203B41FA5}">
                      <a16:colId xmlns:a16="http://schemas.microsoft.com/office/drawing/2014/main" val="20000"/>
                    </a:ext>
                  </a:extLst>
                </a:gridCol>
                <a:gridCol w="1519195">
                  <a:extLst>
                    <a:ext uri="{9D8B030D-6E8A-4147-A177-3AD203B41FA5}">
                      <a16:colId xmlns:a16="http://schemas.microsoft.com/office/drawing/2014/main" val="20001"/>
                    </a:ext>
                  </a:extLst>
                </a:gridCol>
                <a:gridCol w="1728000">
                  <a:extLst>
                    <a:ext uri="{9D8B030D-6E8A-4147-A177-3AD203B41FA5}">
                      <a16:colId xmlns:a16="http://schemas.microsoft.com/office/drawing/2014/main" val="20002"/>
                    </a:ext>
                  </a:extLst>
                </a:gridCol>
                <a:gridCol w="2203010">
                  <a:extLst>
                    <a:ext uri="{9D8B030D-6E8A-4147-A177-3AD203B41FA5}">
                      <a16:colId xmlns:a16="http://schemas.microsoft.com/office/drawing/2014/main" val="20004"/>
                    </a:ext>
                  </a:extLst>
                </a:gridCol>
              </a:tblGrid>
              <a:tr h="642620">
                <a:tc>
                  <a:txBody>
                    <a:bodyPr/>
                    <a:lstStyle/>
                    <a:p>
                      <a:pPr algn="ctr">
                        <a:lnSpc>
                          <a:spcPct val="90000"/>
                        </a:lnSpc>
                        <a:buNone/>
                      </a:pPr>
                      <a:r>
                        <a:rPr lang="zh-CN" altLang="en-US" sz="1800" b="1" dirty="0">
                          <a:latin typeface="微软雅黑" panose="020B0503020204020204" pitchFamily="34" charset="-122"/>
                          <a:ea typeface="微软雅黑" panose="020B0503020204020204" pitchFamily="34" charset="-122"/>
                        </a:rPr>
                        <a:t>测试用例</a:t>
                      </a:r>
                    </a:p>
                  </a:txBody>
                  <a:tcPr anchor="ctr"/>
                </a:tc>
                <a:tc>
                  <a:txBody>
                    <a:bodyPr/>
                    <a:lstStyle/>
                    <a:p>
                      <a:pPr algn="ctr">
                        <a:lnSpc>
                          <a:spcPct val="90000"/>
                        </a:lnSpc>
                        <a:buNone/>
                      </a:pPr>
                      <a:r>
                        <a:rPr lang="zh-CN" altLang="en-US" sz="1800" dirty="0">
                          <a:latin typeface="微软雅黑" panose="020B0503020204020204" pitchFamily="34" charset="-122"/>
                          <a:ea typeface="微软雅黑" panose="020B0503020204020204" pitchFamily="34" charset="-122"/>
                        </a:rPr>
                        <a:t>第一个字符</a:t>
                      </a:r>
                      <a:endParaRPr sz="1800" dirty="0">
                        <a:latin typeface="微软雅黑" panose="020B0503020204020204" pitchFamily="34" charset="-122"/>
                        <a:ea typeface="微软雅黑" panose="020B0503020204020204" pitchFamily="34" charset="-122"/>
                      </a:endParaRPr>
                    </a:p>
                  </a:txBody>
                  <a:tcPr anchor="ctr"/>
                </a:tc>
                <a:tc>
                  <a:txBody>
                    <a:bodyPr/>
                    <a:lstStyle/>
                    <a:p>
                      <a:pPr algn="ctr">
                        <a:lnSpc>
                          <a:spcPct val="90000"/>
                        </a:lnSpc>
                        <a:buNone/>
                      </a:pPr>
                      <a:r>
                        <a:rPr lang="zh-CN" altLang="en-US" sz="1800" dirty="0">
                          <a:latin typeface="微软雅黑" panose="020B0503020204020204" pitchFamily="34" charset="-122"/>
                          <a:ea typeface="微软雅黑" panose="020B0503020204020204" pitchFamily="34" charset="-122"/>
                        </a:rPr>
                        <a:t>第二个字符</a:t>
                      </a:r>
                    </a:p>
                  </a:txBody>
                  <a:tcPr anchor="ctr"/>
                </a:tc>
                <a:tc>
                  <a:txBody>
                    <a:bodyPr/>
                    <a:lstStyle/>
                    <a:p>
                      <a:pPr algn="ctr">
                        <a:lnSpc>
                          <a:spcPct val="90000"/>
                        </a:lnSpc>
                        <a:buNone/>
                      </a:pPr>
                      <a:r>
                        <a:rPr lang="zh-CN" altLang="en-US" sz="1800">
                          <a:latin typeface="微软雅黑" panose="020B0503020204020204" pitchFamily="34" charset="-122"/>
                          <a:ea typeface="微软雅黑" panose="020B0503020204020204" pitchFamily="34" charset="-122"/>
                        </a:rPr>
                        <a:t>预期结果</a:t>
                      </a:r>
                    </a:p>
                  </a:txBody>
                  <a:tcPr anchor="ctr"/>
                </a:tc>
                <a:extLst>
                  <a:ext uri="{0D108BD9-81ED-4DB2-BD59-A6C34878D82A}">
                    <a16:rowId xmlns:a16="http://schemas.microsoft.com/office/drawing/2014/main" val="10000"/>
                  </a:ext>
                </a:extLst>
              </a:tr>
              <a:tr h="627380">
                <a:tc>
                  <a:txBody>
                    <a:bodyPr/>
                    <a:lstStyle/>
                    <a:p>
                      <a:pPr marL="0" algn="ctr" defTabSz="1219200" rtl="0" eaLnBrk="1" latinLnBrk="0" hangingPunct="1">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test1</a:t>
                      </a:r>
                    </a:p>
                  </a:txBody>
                  <a:tcPr anchor="ctr"/>
                </a:tc>
                <a:tc>
                  <a:txBody>
                    <a:bodyPr/>
                    <a:lstStyle/>
                    <a:p>
                      <a:pPr marL="0" algn="ctr" defTabSz="1219200" rtl="0" eaLnBrk="1" latinLnBrk="0" hangingPunct="1">
                        <a:buNone/>
                      </a:pPr>
                      <a:r>
                        <a:rPr lang="en-US" altLang="zh-CN" sz="1800" kern="1200" dirty="0">
                          <a:solidFill>
                            <a:srgbClr val="595959"/>
                          </a:solidFill>
                          <a:latin typeface="微软雅黑" panose="020B0503020204020204" pitchFamily="34" charset="-122"/>
                          <a:ea typeface="微软雅黑" panose="020B0503020204020204" pitchFamily="34" charset="-122"/>
                          <a:cs typeface="+mn-cs"/>
                        </a:rPr>
                        <a:t>A</a:t>
                      </a:r>
                      <a:endParaRPr lang="zh-CN" altLang="en-US" sz="1800" kern="1200" dirty="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r>
                        <a:rPr lang="en-US" altLang="zh-CN" sz="1800" kern="1200" dirty="0">
                          <a:solidFill>
                            <a:srgbClr val="595959"/>
                          </a:solidFill>
                          <a:latin typeface="微软雅黑" panose="020B0503020204020204" pitchFamily="34" charset="-122"/>
                          <a:ea typeface="微软雅黑" panose="020B0503020204020204" pitchFamily="34" charset="-122"/>
                          <a:cs typeface="+mn-cs"/>
                        </a:rPr>
                        <a:t>6</a:t>
                      </a:r>
                    </a:p>
                  </a:txBody>
                  <a:tcPr anchor="ctr"/>
                </a:tc>
                <a:tc>
                  <a:txBody>
                    <a:bodyPr/>
                    <a:lstStyle/>
                    <a:p>
                      <a:pPr marL="0" algn="ctr" rtl="0" eaLnBrk="1" latinLnBrk="0" hangingPunct="1">
                        <a:buNone/>
                      </a:pPr>
                      <a:r>
                        <a:rPr lang="en-US" altLang="zh-CN" sz="1800" kern="1200" dirty="0">
                          <a:solidFill>
                            <a:srgbClr val="595959"/>
                          </a:solidFill>
                          <a:effectLst/>
                          <a:latin typeface="微软雅黑" panose="020B0503020204020204" pitchFamily="34" charset="-122"/>
                          <a:ea typeface="微软雅黑" panose="020B0503020204020204" pitchFamily="34" charset="-122"/>
                          <a:cs typeface="+mn-cs"/>
                        </a:rPr>
                        <a:t>e</a:t>
                      </a:r>
                      <a:r>
                        <a:rPr lang="en-US" altLang="zh-CN" sz="1800" kern="1200" baseline="-25000" dirty="0">
                          <a:solidFill>
                            <a:srgbClr val="595959"/>
                          </a:solidFill>
                          <a:effectLst/>
                          <a:latin typeface="微软雅黑" panose="020B0503020204020204" pitchFamily="34" charset="-122"/>
                          <a:ea typeface="微软雅黑" panose="020B0503020204020204" pitchFamily="34" charset="-122"/>
                          <a:cs typeface="+mn-cs"/>
                        </a:rPr>
                        <a:t>1</a:t>
                      </a:r>
                      <a:endParaRPr lang="zh-CN" altLang="zh-CN" sz="1800" dirty="0">
                        <a:effectLst/>
                      </a:endParaRPr>
                    </a:p>
                  </a:txBody>
                  <a:tcPr anchor="ctr"/>
                </a:tc>
                <a:extLst>
                  <a:ext uri="{0D108BD9-81ED-4DB2-BD59-A6C34878D82A}">
                    <a16:rowId xmlns:a16="http://schemas.microsoft.com/office/drawing/2014/main" val="10001"/>
                  </a:ext>
                </a:extLst>
              </a:tr>
              <a:tr h="585470">
                <a:tc>
                  <a:txBody>
                    <a:bodyPr/>
                    <a:lstStyle/>
                    <a:p>
                      <a:pPr marL="0" algn="ctr" defTabSz="1219200" rtl="0" eaLnBrk="1" latinLnBrk="0" hangingPunct="1">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test2</a:t>
                      </a:r>
                    </a:p>
                  </a:txBody>
                  <a:tcPr anchor="ctr"/>
                </a:tc>
                <a:tc>
                  <a:txBody>
                    <a:bodyPr/>
                    <a:lstStyle/>
                    <a:p>
                      <a:pPr marL="0" algn="ctr" defTabSz="1219200" rtl="0" eaLnBrk="1" latinLnBrk="0" hangingPunct="1">
                        <a:buNone/>
                      </a:pPr>
                      <a:r>
                        <a:rPr lang="en-US" altLang="zh-CN" sz="1800" kern="1200" dirty="0">
                          <a:solidFill>
                            <a:srgbClr val="595959"/>
                          </a:solidFill>
                          <a:latin typeface="微软雅黑" panose="020B0503020204020204" pitchFamily="34" charset="-122"/>
                          <a:ea typeface="微软雅黑" panose="020B0503020204020204" pitchFamily="34" charset="-122"/>
                          <a:cs typeface="+mn-cs"/>
                        </a:rPr>
                        <a:t>A</a:t>
                      </a:r>
                      <a:endParaRPr lang="zh-CN" altLang="en-US" sz="1800" kern="1200" dirty="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r>
                        <a:rPr lang="en-US" altLang="zh-CN" sz="1800" kern="1200" dirty="0">
                          <a:solidFill>
                            <a:srgbClr val="595959"/>
                          </a:solidFill>
                          <a:latin typeface="微软雅黑" panose="020B0503020204020204" pitchFamily="34" charset="-122"/>
                          <a:ea typeface="微软雅黑" panose="020B0503020204020204" pitchFamily="34" charset="-122"/>
                          <a:cs typeface="+mn-cs"/>
                        </a:rPr>
                        <a:t>a</a:t>
                      </a:r>
                    </a:p>
                  </a:txBody>
                  <a:tcPr anchor="ctr"/>
                </a:tc>
                <a:tc>
                  <a:txBody>
                    <a:bodyPr/>
                    <a:lstStyle/>
                    <a:p>
                      <a:pPr marL="0" algn="ctr" rtl="0" eaLnBrk="1" latinLnBrk="0" hangingPunct="1">
                        <a:buNone/>
                      </a:pPr>
                      <a:r>
                        <a:rPr lang="en-US" altLang="zh-CN" sz="1800" kern="1200" dirty="0">
                          <a:solidFill>
                            <a:srgbClr val="595959"/>
                          </a:solidFill>
                          <a:effectLst/>
                          <a:latin typeface="微软雅黑" panose="020B0503020204020204" pitchFamily="34" charset="-122"/>
                          <a:ea typeface="微软雅黑" panose="020B0503020204020204" pitchFamily="34" charset="-122"/>
                          <a:cs typeface="+mn-cs"/>
                        </a:rPr>
                        <a:t>e</a:t>
                      </a:r>
                      <a:r>
                        <a:rPr lang="en-US" altLang="zh-CN" sz="1800" kern="1200" baseline="-25000" dirty="0">
                          <a:solidFill>
                            <a:srgbClr val="595959"/>
                          </a:solidFill>
                          <a:effectLst/>
                          <a:latin typeface="微软雅黑" panose="020B0503020204020204" pitchFamily="34" charset="-122"/>
                          <a:ea typeface="微软雅黑" panose="020B0503020204020204" pitchFamily="34" charset="-122"/>
                          <a:cs typeface="+mn-cs"/>
                        </a:rPr>
                        <a:t>3</a:t>
                      </a:r>
                      <a:endParaRPr lang="zh-CN" altLang="zh-CN" sz="1800" dirty="0">
                        <a:effectLst/>
                      </a:endParaRPr>
                    </a:p>
                  </a:txBody>
                  <a:tcPr anchor="ctr"/>
                </a:tc>
                <a:extLst>
                  <a:ext uri="{0D108BD9-81ED-4DB2-BD59-A6C34878D82A}">
                    <a16:rowId xmlns:a16="http://schemas.microsoft.com/office/drawing/2014/main" val="10002"/>
                  </a:ext>
                </a:extLst>
              </a:tr>
              <a:tr h="591820">
                <a:tc>
                  <a:txBody>
                    <a:bodyPr/>
                    <a:lstStyle/>
                    <a:p>
                      <a:pPr marL="0" algn="ctr" defTabSz="1219200" rtl="0" eaLnBrk="1" latinLnBrk="0" hangingPunct="1">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test3</a:t>
                      </a:r>
                    </a:p>
                  </a:txBody>
                  <a:tcPr anchor="ctr"/>
                </a:tc>
                <a:tc>
                  <a:txBody>
                    <a:bodyPr/>
                    <a:lstStyle/>
                    <a:p>
                      <a:pPr marL="0" algn="ctr" defTabSz="1219200" rtl="0" eaLnBrk="1" latinLnBrk="0" hangingPunct="1">
                        <a:buNone/>
                      </a:pPr>
                      <a:r>
                        <a:rPr lang="en-US" altLang="zh-CN" sz="1800" kern="1200" dirty="0">
                          <a:solidFill>
                            <a:srgbClr val="595959"/>
                          </a:solidFill>
                          <a:latin typeface="微软雅黑" panose="020B0503020204020204" pitchFamily="34" charset="-122"/>
                          <a:ea typeface="微软雅黑" panose="020B0503020204020204" pitchFamily="34" charset="-122"/>
                          <a:cs typeface="+mn-cs"/>
                        </a:rPr>
                        <a:t>B</a:t>
                      </a:r>
                      <a:endParaRPr lang="zh-CN" altLang="en-US" sz="1800" kern="1200" dirty="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r>
                        <a:rPr lang="en-US" altLang="zh-CN" sz="1800" kern="1200" dirty="0">
                          <a:solidFill>
                            <a:srgbClr val="595959"/>
                          </a:solidFill>
                          <a:latin typeface="微软雅黑" panose="020B0503020204020204" pitchFamily="34" charset="-122"/>
                          <a:ea typeface="微软雅黑" panose="020B0503020204020204" pitchFamily="34" charset="-122"/>
                          <a:cs typeface="+mn-cs"/>
                        </a:rPr>
                        <a:t>9</a:t>
                      </a:r>
                      <a:endParaRPr lang="zh-CN" altLang="en-US" sz="1800" kern="1200" dirty="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rtl="0" eaLnBrk="1" latinLnBrk="0" hangingPunct="1">
                        <a:buNone/>
                      </a:pPr>
                      <a:r>
                        <a:rPr lang="en-US" altLang="zh-CN" sz="1800" kern="1200" dirty="0">
                          <a:solidFill>
                            <a:srgbClr val="595959"/>
                          </a:solidFill>
                          <a:effectLst/>
                          <a:latin typeface="微软雅黑" panose="020B0503020204020204" pitchFamily="34" charset="-122"/>
                          <a:ea typeface="微软雅黑" panose="020B0503020204020204" pitchFamily="34" charset="-122"/>
                          <a:cs typeface="+mn-cs"/>
                        </a:rPr>
                        <a:t>e</a:t>
                      </a:r>
                      <a:r>
                        <a:rPr lang="en-US" altLang="zh-CN" sz="1800" kern="1200" baseline="-25000" dirty="0">
                          <a:solidFill>
                            <a:srgbClr val="595959"/>
                          </a:solidFill>
                          <a:effectLst/>
                          <a:latin typeface="微软雅黑" panose="020B0503020204020204" pitchFamily="34" charset="-122"/>
                          <a:ea typeface="微软雅黑" panose="020B0503020204020204" pitchFamily="34" charset="-122"/>
                          <a:cs typeface="+mn-cs"/>
                        </a:rPr>
                        <a:t>1</a:t>
                      </a:r>
                      <a:endParaRPr lang="zh-CN" altLang="zh-CN" sz="1800" dirty="0">
                        <a:effectLst/>
                      </a:endParaRPr>
                    </a:p>
                  </a:txBody>
                  <a:tcPr anchor="ctr"/>
                </a:tc>
                <a:extLst>
                  <a:ext uri="{0D108BD9-81ED-4DB2-BD59-A6C34878D82A}">
                    <a16:rowId xmlns:a16="http://schemas.microsoft.com/office/drawing/2014/main" val="10003"/>
                  </a:ext>
                </a:extLst>
              </a:tr>
              <a:tr h="601345">
                <a:tc>
                  <a:txBody>
                    <a:bodyPr/>
                    <a:lstStyle/>
                    <a:p>
                      <a:pPr marL="0" algn="ctr" defTabSz="1219200" rtl="0" eaLnBrk="1" latinLnBrk="0" hangingPunct="1">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test4</a:t>
                      </a:r>
                    </a:p>
                  </a:txBody>
                  <a:tcPr anchor="ctr"/>
                </a:tc>
                <a:tc>
                  <a:txBody>
                    <a:bodyPr/>
                    <a:lstStyle/>
                    <a:p>
                      <a:pPr marL="0" algn="ctr" defTabSz="1219200" rtl="0" eaLnBrk="1" latinLnBrk="0" hangingPunct="1">
                        <a:buNone/>
                      </a:pPr>
                      <a:r>
                        <a:rPr lang="en-US" altLang="zh-CN" sz="1800" kern="1200" dirty="0">
                          <a:solidFill>
                            <a:srgbClr val="595959"/>
                          </a:solidFill>
                          <a:latin typeface="微软雅黑" panose="020B0503020204020204" pitchFamily="34" charset="-122"/>
                          <a:ea typeface="微软雅黑" panose="020B0503020204020204" pitchFamily="34" charset="-122"/>
                          <a:cs typeface="+mn-cs"/>
                        </a:rPr>
                        <a:t>B</a:t>
                      </a:r>
                      <a:endParaRPr lang="zh-CN" altLang="en-US" sz="1800" kern="1200" dirty="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r>
                        <a:rPr lang="en-US" altLang="zh-CN" sz="1800" kern="1200" dirty="0">
                          <a:solidFill>
                            <a:srgbClr val="595959"/>
                          </a:solidFill>
                          <a:latin typeface="微软雅黑" panose="020B0503020204020204" pitchFamily="34" charset="-122"/>
                          <a:ea typeface="微软雅黑" panose="020B0503020204020204" pitchFamily="34" charset="-122"/>
                          <a:cs typeface="+mn-cs"/>
                        </a:rPr>
                        <a:t>P</a:t>
                      </a:r>
                    </a:p>
                  </a:txBody>
                  <a:tcPr anchor="ctr"/>
                </a:tc>
                <a:tc>
                  <a:txBody>
                    <a:bodyPr/>
                    <a:lstStyle/>
                    <a:p>
                      <a:pPr marL="0" algn="ctr" rtl="0" eaLnBrk="1" latinLnBrk="0" hangingPunct="1">
                        <a:buNone/>
                      </a:pPr>
                      <a:r>
                        <a:rPr lang="en-US" altLang="zh-CN" sz="1800" kern="1200" dirty="0">
                          <a:solidFill>
                            <a:srgbClr val="595959"/>
                          </a:solidFill>
                          <a:effectLst/>
                          <a:latin typeface="微软雅黑" panose="020B0503020204020204" pitchFamily="34" charset="-122"/>
                          <a:ea typeface="微软雅黑" panose="020B0503020204020204" pitchFamily="34" charset="-122"/>
                          <a:cs typeface="+mn-cs"/>
                        </a:rPr>
                        <a:t>e</a:t>
                      </a:r>
                      <a:r>
                        <a:rPr lang="en-US" altLang="zh-CN" sz="1800" kern="1200" baseline="-25000" dirty="0">
                          <a:solidFill>
                            <a:srgbClr val="595959"/>
                          </a:solidFill>
                          <a:effectLst/>
                          <a:latin typeface="微软雅黑" panose="020B0503020204020204" pitchFamily="34" charset="-122"/>
                          <a:ea typeface="微软雅黑" panose="020B0503020204020204" pitchFamily="34" charset="-122"/>
                          <a:cs typeface="+mn-cs"/>
                        </a:rPr>
                        <a:t>3</a:t>
                      </a:r>
                      <a:endParaRPr lang="zh-CN" altLang="zh-CN" sz="1800" dirty="0">
                        <a:effectLst/>
                      </a:endParaRPr>
                    </a:p>
                  </a:txBody>
                  <a:tcPr anchor="ctr"/>
                </a:tc>
                <a:extLst>
                  <a:ext uri="{0D108BD9-81ED-4DB2-BD59-A6C34878D82A}">
                    <a16:rowId xmlns:a16="http://schemas.microsoft.com/office/drawing/2014/main" val="10004"/>
                  </a:ext>
                </a:extLst>
              </a:tr>
              <a:tr h="672465">
                <a:tc>
                  <a:txBody>
                    <a:bodyPr/>
                    <a:lstStyle/>
                    <a:p>
                      <a:pPr marL="0" algn="ctr" defTabSz="1219200" rtl="0" eaLnBrk="1" latinLnBrk="0" hangingPunct="1">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test5</a:t>
                      </a:r>
                    </a:p>
                  </a:txBody>
                  <a:tcPr anchor="ctr"/>
                </a:tc>
                <a:tc>
                  <a:txBody>
                    <a:bodyPr/>
                    <a:lstStyle/>
                    <a:p>
                      <a:pPr marL="0" algn="ctr" defTabSz="1219200" rtl="0" eaLnBrk="1" latinLnBrk="0" hangingPunct="1">
                        <a:buNone/>
                      </a:pPr>
                      <a:r>
                        <a:rPr lang="en-US" altLang="zh-CN" sz="1800" kern="1200" dirty="0">
                          <a:solidFill>
                            <a:srgbClr val="595959"/>
                          </a:solidFill>
                          <a:latin typeface="微软雅黑" panose="020B0503020204020204" pitchFamily="34" charset="-122"/>
                          <a:ea typeface="微软雅黑" panose="020B0503020204020204" pitchFamily="34" charset="-122"/>
                          <a:cs typeface="+mn-cs"/>
                        </a:rPr>
                        <a:t>C</a:t>
                      </a:r>
                      <a:endParaRPr lang="zh-CN" altLang="en-US" sz="1800" kern="1200" dirty="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r>
                        <a:rPr lang="en-US" altLang="zh-CN" sz="1800" kern="1200" dirty="0">
                          <a:solidFill>
                            <a:srgbClr val="595959"/>
                          </a:solidFill>
                          <a:latin typeface="微软雅黑" panose="020B0503020204020204" pitchFamily="34" charset="-122"/>
                          <a:ea typeface="微软雅黑" panose="020B0503020204020204" pitchFamily="34" charset="-122"/>
                          <a:cs typeface="+mn-cs"/>
                        </a:rPr>
                        <a:t>5</a:t>
                      </a:r>
                      <a:endParaRPr lang="zh-CN" dirty="0"/>
                    </a:p>
                  </a:txBody>
                  <a:tcPr anchor="ctr"/>
                </a:tc>
                <a:tc>
                  <a:txBody>
                    <a:bodyPr/>
                    <a:lstStyle/>
                    <a:p>
                      <a:pPr marL="0" algn="ctr" rtl="0" eaLnBrk="1" latinLnBrk="0" hangingPunct="1">
                        <a:buNone/>
                      </a:pPr>
                      <a:r>
                        <a:rPr lang="en-US" altLang="zh-CN" sz="1800" kern="1200" dirty="0">
                          <a:solidFill>
                            <a:srgbClr val="595959"/>
                          </a:solidFill>
                          <a:effectLst/>
                          <a:latin typeface="微软雅黑" panose="020B0503020204020204" pitchFamily="34" charset="-122"/>
                          <a:ea typeface="微软雅黑" panose="020B0503020204020204" pitchFamily="34" charset="-122"/>
                          <a:cs typeface="+mn-cs"/>
                        </a:rPr>
                        <a:t>e</a:t>
                      </a:r>
                      <a:r>
                        <a:rPr lang="en-US" altLang="zh-CN" sz="1800" kern="1200" baseline="-25000" dirty="0">
                          <a:solidFill>
                            <a:srgbClr val="595959"/>
                          </a:solidFill>
                          <a:effectLst/>
                          <a:latin typeface="微软雅黑" panose="020B0503020204020204" pitchFamily="34" charset="-122"/>
                          <a:ea typeface="微软雅黑" panose="020B0503020204020204" pitchFamily="34" charset="-122"/>
                          <a:cs typeface="+mn-cs"/>
                        </a:rPr>
                        <a:t>2</a:t>
                      </a:r>
                      <a:endParaRPr lang="zh-CN" altLang="zh-CN" sz="1800" dirty="0">
                        <a:effectLst/>
                      </a:endParaRPr>
                    </a:p>
                  </a:txBody>
                  <a:tcPr anchor="ctr"/>
                </a:tc>
                <a:extLst>
                  <a:ext uri="{0D108BD9-81ED-4DB2-BD59-A6C34878D82A}">
                    <a16:rowId xmlns:a16="http://schemas.microsoft.com/office/drawing/2014/main" val="10005"/>
                  </a:ext>
                </a:extLst>
              </a:tr>
              <a:tr h="601345">
                <a:tc>
                  <a:txBody>
                    <a:bodyPr/>
                    <a:lstStyle/>
                    <a:p>
                      <a:pPr marL="0" algn="ctr" defTabSz="1219200" rtl="0" eaLnBrk="1" latinLnBrk="0" hangingPunct="1">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sym typeface="+mn-ea"/>
                        </a:rPr>
                        <a:t>test6</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r>
                        <a:rPr lang="en-US" altLang="zh-CN" sz="1800" kern="1200" dirty="0">
                          <a:solidFill>
                            <a:srgbClr val="595959"/>
                          </a:solidFill>
                          <a:latin typeface="微软雅黑" panose="020B0503020204020204" pitchFamily="34" charset="-122"/>
                          <a:ea typeface="微软雅黑" panose="020B0503020204020204" pitchFamily="34" charset="-122"/>
                          <a:cs typeface="+mn-cs"/>
                        </a:rPr>
                        <a:t>D</a:t>
                      </a:r>
                      <a:endParaRPr lang="zh-CN" altLang="en-US" sz="1800" kern="1200" dirty="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r>
                        <a:rPr lang="en-US" altLang="zh-CN" sz="1800" kern="1200" dirty="0">
                          <a:solidFill>
                            <a:srgbClr val="595959"/>
                          </a:solidFill>
                          <a:latin typeface="微软雅黑" panose="020B0503020204020204" pitchFamily="34" charset="-122"/>
                          <a:ea typeface="微软雅黑" panose="020B0503020204020204" pitchFamily="34" charset="-122"/>
                          <a:cs typeface="+mn-cs"/>
                        </a:rPr>
                        <a:t>G</a:t>
                      </a:r>
                    </a:p>
                  </a:txBody>
                  <a:tcPr anchor="ctr"/>
                </a:tc>
                <a:tc>
                  <a:txBody>
                    <a:bodyPr/>
                    <a:lstStyle/>
                    <a:p>
                      <a:pPr marL="0" marR="0" lvl="0" indent="0" algn="ctr" defTabSz="1219200" rtl="0" eaLnBrk="1" fontAlgn="auto" latinLnBrk="0" hangingPunct="1">
                        <a:lnSpc>
                          <a:spcPct val="100000"/>
                        </a:lnSpc>
                        <a:spcBef>
                          <a:spcPts val="0"/>
                        </a:spcBef>
                        <a:spcAft>
                          <a:spcPts val="0"/>
                        </a:spcAft>
                        <a:buClrTx/>
                        <a:buSzTx/>
                        <a:buFontTx/>
                        <a:buNone/>
                        <a:tabLst/>
                        <a:defRPr/>
                      </a:pPr>
                      <a:r>
                        <a:rPr lang="en-US" altLang="zh-CN" sz="1800" kern="1200" dirty="0">
                          <a:solidFill>
                            <a:srgbClr val="595959"/>
                          </a:solidFill>
                          <a:effectLst/>
                          <a:latin typeface="微软雅黑" panose="020B0503020204020204" pitchFamily="34" charset="-122"/>
                          <a:ea typeface="微软雅黑" panose="020B0503020204020204" pitchFamily="34" charset="-122"/>
                          <a:cs typeface="+mn-cs"/>
                        </a:rPr>
                        <a:t>e</a:t>
                      </a:r>
                      <a:r>
                        <a:rPr lang="en-US" altLang="zh-CN" sz="1800" kern="1200" baseline="-25000" dirty="0">
                          <a:solidFill>
                            <a:srgbClr val="595959"/>
                          </a:solidFill>
                          <a:effectLst/>
                          <a:latin typeface="微软雅黑" panose="020B0503020204020204" pitchFamily="34" charset="-122"/>
                          <a:ea typeface="微软雅黑" panose="020B0503020204020204" pitchFamily="34" charset="-122"/>
                          <a:cs typeface="+mn-cs"/>
                        </a:rPr>
                        <a:t>2, </a:t>
                      </a:r>
                      <a:r>
                        <a:rPr kumimoji="0" lang="en-US" altLang="zh-CN" sz="1800" b="0" i="0" u="none" strike="noStrike" kern="1200" cap="none" spc="0" normalizeH="0" baseline="0" noProof="0" dirty="0">
                          <a:ln>
                            <a:noFill/>
                          </a:ln>
                          <a:solidFill>
                            <a:srgbClr val="595959"/>
                          </a:solidFill>
                          <a:effectLst/>
                          <a:uLnTx/>
                          <a:uFillTx/>
                          <a:latin typeface="微软雅黑" panose="020B0503020204020204" pitchFamily="34" charset="-122"/>
                          <a:ea typeface="微软雅黑" panose="020B0503020204020204" pitchFamily="34" charset="-122"/>
                          <a:cs typeface="+mn-cs"/>
                        </a:rPr>
                        <a:t>e</a:t>
                      </a:r>
                      <a:r>
                        <a:rPr kumimoji="0" lang="en-US" altLang="zh-CN" sz="1800" b="0" i="0" u="none" strike="noStrike" kern="1200" cap="none" spc="0" normalizeH="0" baseline="-25000" noProof="0" dirty="0">
                          <a:ln>
                            <a:noFill/>
                          </a:ln>
                          <a:solidFill>
                            <a:srgbClr val="595959"/>
                          </a:solidFill>
                          <a:effectLst/>
                          <a:uLnTx/>
                          <a:uFillTx/>
                          <a:latin typeface="微软雅黑" panose="020B0503020204020204" pitchFamily="34" charset="-122"/>
                          <a:ea typeface="微软雅黑" panose="020B0503020204020204" pitchFamily="34" charset="-122"/>
                          <a:cs typeface="+mn-cs"/>
                        </a:rPr>
                        <a:t>3</a:t>
                      </a:r>
                      <a:endParaRPr lang="zh-CN" altLang="zh-CN" sz="1800" dirty="0">
                        <a:effectLst/>
                      </a:endParaRPr>
                    </a:p>
                    <a:p>
                      <a:pPr marL="0" algn="ctr" defTabSz="1219200" rtl="0" eaLnBrk="1" latinLnBrk="0" hangingPunct="1">
                        <a:buNone/>
                      </a:pPr>
                      <a:endParaRPr lang="en-US" altLang="zh-CN" sz="1800" kern="1200" dirty="0">
                        <a:solidFill>
                          <a:srgbClr val="595959"/>
                        </a:solidFill>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389318848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p:cNvPicPr>
            <a:picLocks noChangeAspect="1"/>
          </p:cNvPicPr>
          <p:nvPr/>
        </p:nvPicPr>
        <p:blipFill>
          <a:blip r:embed="rId3"/>
          <a:stretch>
            <a:fillRect/>
          </a:stretch>
        </p:blipFill>
        <p:spPr>
          <a:xfrm>
            <a:off x="944880" y="2215515"/>
            <a:ext cx="2797810" cy="3898265"/>
          </a:xfrm>
          <a:prstGeom prst="rect">
            <a:avLst/>
          </a:prstGeom>
        </p:spPr>
      </p:pic>
      <p:sp>
        <p:nvSpPr>
          <p:cNvPr id="13" name="椭圆形标注 12"/>
          <p:cNvSpPr/>
          <p:nvPr/>
        </p:nvSpPr>
        <p:spPr>
          <a:xfrm>
            <a:off x="2968625" y="156019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p>
        </p:txBody>
      </p:sp>
      <p:sp>
        <p:nvSpPr>
          <p:cNvPr id="14" name="TextBox 35"/>
          <p:cNvSpPr txBox="1">
            <a:spLocks noChangeArrowheads="1"/>
          </p:cNvSpPr>
          <p:nvPr/>
        </p:nvSpPr>
        <p:spPr bwMode="auto">
          <a:xfrm>
            <a:off x="3247390" y="163830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p>
        </p:txBody>
      </p:sp>
      <p:sp>
        <p:nvSpPr>
          <p:cNvPr id="15" name="TextBox 35"/>
          <p:cNvSpPr txBox="1">
            <a:spLocks noChangeArrowheads="1"/>
          </p:cNvSpPr>
          <p:nvPr/>
        </p:nvSpPr>
        <p:spPr bwMode="auto">
          <a:xfrm>
            <a:off x="5304790" y="3141980"/>
            <a:ext cx="6100445" cy="15081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defRPr/>
            </a:pPr>
            <a:r>
              <a:rPr lang="zh-CN" sz="200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掌握</a:t>
            </a:r>
            <a:r>
              <a:rPr sz="200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零食自动售货机</a:t>
            </a:r>
            <a:r>
              <a:rPr lang="zh-CN" altLang="en-US" sz="200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售货情况的</a:t>
            </a:r>
            <a:r>
              <a:rPr sz="200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因果图与决策表</a:t>
            </a:r>
            <a:r>
              <a:rPr lang="zh-CN" sz="200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的</a:t>
            </a:r>
            <a:r>
              <a:rPr sz="200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绘制，能够</a:t>
            </a:r>
            <a:r>
              <a:rPr lang="zh-CN" sz="2000">
                <a:solidFill>
                  <a:srgbClr val="0070C0"/>
                </a:solidFill>
                <a:latin typeface="微软雅黑" panose="020B0503020204020204" pitchFamily="34" charset="-122"/>
                <a:ea typeface="微软雅黑" panose="020B0503020204020204" pitchFamily="34" charset="-122"/>
                <a:cs typeface="+mn-ea"/>
                <a:sym typeface="字魂58号-创中黑" panose="00000500000000000000" pitchFamily="2" charset="-122"/>
              </a:rPr>
              <a:t>通过因果图与决策表设计</a:t>
            </a:r>
            <a:r>
              <a:rPr sz="2000">
                <a:solidFill>
                  <a:srgbClr val="0070C0"/>
                </a:solidFill>
                <a:latin typeface="微软雅黑" panose="020B0503020204020204" pitchFamily="34" charset="-122"/>
                <a:ea typeface="微软雅黑" panose="020B0503020204020204" pitchFamily="34" charset="-122"/>
                <a:cs typeface="+mn-ea"/>
                <a:sym typeface="字魂58号-创中黑" panose="00000500000000000000" pitchFamily="2" charset="-122"/>
              </a:rPr>
              <a:t>零食自动售货机</a:t>
            </a:r>
            <a:r>
              <a:rPr lang="zh-CN" sz="2000">
                <a:solidFill>
                  <a:srgbClr val="0070C0"/>
                </a:solidFill>
                <a:latin typeface="微软雅黑" panose="020B0503020204020204" pitchFamily="34" charset="-122"/>
                <a:ea typeface="微软雅黑" panose="020B0503020204020204" pitchFamily="34" charset="-122"/>
                <a:cs typeface="+mn-ea"/>
                <a:sym typeface="字魂58号-创中黑" panose="00000500000000000000" pitchFamily="2" charset="-122"/>
              </a:rPr>
              <a:t>的测试用例</a:t>
            </a:r>
          </a:p>
        </p:txBody>
      </p:sp>
      <p:grpSp>
        <p:nvGrpSpPr>
          <p:cNvPr id="19" name="组合 18"/>
          <p:cNvGrpSpPr/>
          <p:nvPr/>
        </p:nvGrpSpPr>
        <p:grpSpPr>
          <a:xfrm>
            <a:off x="4878070" y="3540125"/>
            <a:ext cx="405130" cy="405130"/>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1" name="Title 1"/>
          <p:cNvSpPr txBox="1"/>
          <p:nvPr/>
        </p:nvSpPr>
        <p:spPr>
          <a:xfrm>
            <a:off x="1039559" y="189794"/>
            <a:ext cx="8799647"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2.3.</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	实例二：零食自动售货机售货情况的因果图与决策表绘制</a:t>
            </a: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35"/>
          <p:cNvSpPr txBox="1">
            <a:spLocks noChangeArrowheads="1"/>
          </p:cNvSpPr>
          <p:nvPr/>
        </p:nvSpPr>
        <p:spPr bwMode="auto">
          <a:xfrm>
            <a:off x="982980" y="909955"/>
            <a:ext cx="10017125" cy="4229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indent="457200" algn="just">
              <a:lnSpc>
                <a:spcPct val="150000"/>
              </a:lnSpc>
              <a:buClrTx/>
              <a:buSzTx/>
              <a:buFontTx/>
            </a:pPr>
            <a:r>
              <a:rPr lang="zh-CN" altLang="en-US" sz="1800" dirty="0">
                <a:solidFill>
                  <a:srgbClr val="595959"/>
                </a:solidFill>
                <a:latin typeface="微软雅黑" panose="020B0503020204020204" pitchFamily="34" charset="-122"/>
                <a:ea typeface="微软雅黑" panose="020B0503020204020204" pitchFamily="34" charset="-122"/>
              </a:rPr>
              <a:t>为了演示因果图与决策表的应用，下面</a:t>
            </a:r>
            <a:r>
              <a:rPr lang="zh-CN" altLang="en-US" sz="1800" dirty="0">
                <a:solidFill>
                  <a:srgbClr val="0070C0"/>
                </a:solidFill>
                <a:latin typeface="微软雅黑" panose="020B0503020204020204" pitchFamily="34" charset="-122"/>
                <a:ea typeface="微软雅黑" panose="020B0503020204020204" pitchFamily="34" charset="-122"/>
              </a:rPr>
              <a:t>以零食自动售货机为例</a:t>
            </a:r>
            <a:r>
              <a:rPr lang="zh-CN" altLang="en-US" sz="1800" dirty="0">
                <a:solidFill>
                  <a:srgbClr val="595959"/>
                </a:solidFill>
                <a:latin typeface="微软雅黑" panose="020B0503020204020204" pitchFamily="34" charset="-122"/>
                <a:ea typeface="微软雅黑" panose="020B0503020204020204" pitchFamily="34" charset="-122"/>
              </a:rPr>
              <a:t>，讲解使用5角的硬币和1元的硬币在零食自动售货机上购买零食的过程，并</a:t>
            </a:r>
            <a:r>
              <a:rPr lang="zh-CN" altLang="en-US" sz="1800" dirty="0">
                <a:solidFill>
                  <a:srgbClr val="0070C0"/>
                </a:solidFill>
                <a:latin typeface="微软雅黑" panose="020B0503020204020204" pitchFamily="34" charset="-122"/>
                <a:ea typeface="微软雅黑" panose="020B0503020204020204" pitchFamily="34" charset="-122"/>
              </a:rPr>
              <a:t>绘制因果图与决策表</a:t>
            </a:r>
            <a:r>
              <a:rPr lang="zh-CN" altLang="en-US" sz="1800" dirty="0">
                <a:solidFill>
                  <a:srgbClr val="595959"/>
                </a:solidFill>
                <a:latin typeface="微软雅黑" panose="020B0503020204020204" pitchFamily="34" charset="-122"/>
                <a:ea typeface="微软雅黑" panose="020B0503020204020204" pitchFamily="34" charset="-122"/>
              </a:rPr>
              <a:t>。</a:t>
            </a:r>
          </a:p>
          <a:p>
            <a:pPr indent="457200" algn="just">
              <a:lnSpc>
                <a:spcPct val="150000"/>
              </a:lnSpc>
              <a:buClrTx/>
              <a:buSzTx/>
              <a:buFontTx/>
            </a:pPr>
            <a:r>
              <a:rPr lang="zh-CN" altLang="en-US" sz="1800" dirty="0">
                <a:solidFill>
                  <a:srgbClr val="595959"/>
                </a:solidFill>
                <a:latin typeface="微软雅黑" panose="020B0503020204020204" pitchFamily="34" charset="-122"/>
                <a:ea typeface="微软雅黑" panose="020B0503020204020204" pitchFamily="34" charset="-122"/>
              </a:rPr>
              <a:t>假设零食自动售货机主要售卖糖果和饼干，其中糖果和饼干的单价均为5角，每次只能投入一枚5角的硬币或一枚1元的硬币，并按“糖果”按钮或“饼干“按钮”进行购买，不能同时按“糖果”按钮和饼干“按钮”。零食自动售货机的具体使用说明如下。</a:t>
            </a:r>
          </a:p>
          <a:p>
            <a:pPr marL="285750" indent="-285750" algn="just">
              <a:lnSpc>
                <a:spcPct val="150000"/>
              </a:lnSpc>
              <a:buClrTx/>
              <a:buSzTx/>
              <a:buFont typeface="Wingdings" panose="05000000000000000000" charset="0"/>
              <a:buChar char="l"/>
            </a:pPr>
            <a:r>
              <a:rPr lang="zh-CN" altLang="en-US" sz="1800" dirty="0">
                <a:solidFill>
                  <a:srgbClr val="595959"/>
                </a:solidFill>
                <a:latin typeface="微软雅黑" panose="020B0503020204020204" pitchFamily="34" charset="-122"/>
                <a:ea typeface="微软雅黑" panose="020B0503020204020204" pitchFamily="34" charset="-122"/>
              </a:rPr>
              <a:t>如果顾客</a:t>
            </a:r>
            <a:r>
              <a:rPr lang="zh-CN" altLang="en-US" sz="1800" dirty="0">
                <a:solidFill>
                  <a:srgbClr val="0070C0"/>
                </a:solidFill>
                <a:latin typeface="微软雅黑" panose="020B0503020204020204" pitchFamily="34" charset="-122"/>
                <a:ea typeface="微软雅黑" panose="020B0503020204020204" pitchFamily="34" charset="-122"/>
              </a:rPr>
              <a:t>投入5角</a:t>
            </a:r>
            <a:r>
              <a:rPr lang="zh-CN" altLang="en-US" sz="1800" dirty="0">
                <a:solidFill>
                  <a:srgbClr val="595959"/>
                </a:solidFill>
                <a:latin typeface="微软雅黑" panose="020B0503020204020204" pitchFamily="34" charset="-122"/>
                <a:ea typeface="微软雅黑" panose="020B0503020204020204" pitchFamily="34" charset="-122"/>
              </a:rPr>
              <a:t>的硬币并按“糖果”按钮或“饼干”按钮，则</a:t>
            </a:r>
            <a:r>
              <a:rPr lang="zh-CN" altLang="en-US" sz="1800" dirty="0">
                <a:solidFill>
                  <a:srgbClr val="0070C0"/>
                </a:solidFill>
                <a:latin typeface="微软雅黑" panose="020B0503020204020204" pitchFamily="34" charset="-122"/>
                <a:ea typeface="微软雅黑" panose="020B0503020204020204" pitchFamily="34" charset="-122"/>
              </a:rPr>
              <a:t>送出糖果或饼干</a:t>
            </a:r>
            <a:r>
              <a:rPr lang="zh-CN" altLang="en-US" sz="1800" dirty="0">
                <a:solidFill>
                  <a:srgbClr val="595959"/>
                </a:solidFill>
                <a:latin typeface="微软雅黑" panose="020B0503020204020204" pitchFamily="34" charset="-122"/>
                <a:ea typeface="微软雅黑" panose="020B0503020204020204" pitchFamily="34" charset="-122"/>
              </a:rPr>
              <a:t>。</a:t>
            </a:r>
          </a:p>
          <a:p>
            <a:pPr marL="285750" indent="-285750" algn="just">
              <a:lnSpc>
                <a:spcPct val="150000"/>
              </a:lnSpc>
              <a:buClrTx/>
              <a:buSzTx/>
              <a:buFont typeface="Wingdings" panose="05000000000000000000" charset="0"/>
              <a:buChar char="l"/>
            </a:pPr>
            <a:r>
              <a:rPr lang="zh-CN" altLang="en-US" sz="1800" dirty="0">
                <a:solidFill>
                  <a:srgbClr val="595959"/>
                </a:solidFill>
                <a:latin typeface="微软雅黑" panose="020B0503020204020204" pitchFamily="34" charset="-122"/>
                <a:ea typeface="微软雅黑" panose="020B0503020204020204" pitchFamily="34" charset="-122"/>
              </a:rPr>
              <a:t>如果顾客</a:t>
            </a:r>
            <a:r>
              <a:rPr lang="zh-CN" altLang="en-US" sz="1800" dirty="0">
                <a:solidFill>
                  <a:srgbClr val="0070C0"/>
                </a:solidFill>
                <a:latin typeface="微软雅黑" panose="020B0503020204020204" pitchFamily="34" charset="-122"/>
                <a:ea typeface="微软雅黑" panose="020B0503020204020204" pitchFamily="34" charset="-122"/>
              </a:rPr>
              <a:t>投入1元</a:t>
            </a:r>
            <a:r>
              <a:rPr lang="zh-CN" altLang="en-US" sz="1800" dirty="0">
                <a:solidFill>
                  <a:srgbClr val="595959"/>
                </a:solidFill>
                <a:latin typeface="微软雅黑" panose="020B0503020204020204" pitchFamily="34" charset="-122"/>
                <a:ea typeface="微软雅黑" panose="020B0503020204020204" pitchFamily="34" charset="-122"/>
              </a:rPr>
              <a:t>的硬币并按“糖果”按钮或“饼干”按钮，且</a:t>
            </a:r>
            <a:r>
              <a:rPr lang="zh-CN" altLang="en-US" sz="1800" dirty="0">
                <a:solidFill>
                  <a:srgbClr val="0070C0"/>
                </a:solidFill>
                <a:latin typeface="微软雅黑" panose="020B0503020204020204" pitchFamily="34" charset="-122"/>
                <a:ea typeface="微软雅黑" panose="020B0503020204020204" pitchFamily="34" charset="-122"/>
              </a:rPr>
              <a:t>售货机有5角</a:t>
            </a:r>
            <a:r>
              <a:rPr lang="zh-CN" altLang="en-US" sz="1800" dirty="0">
                <a:solidFill>
                  <a:srgbClr val="595959"/>
                </a:solidFill>
                <a:latin typeface="微软雅黑" panose="020B0503020204020204" pitchFamily="34" charset="-122"/>
                <a:ea typeface="微软雅黑" panose="020B0503020204020204" pitchFamily="34" charset="-122"/>
              </a:rPr>
              <a:t>的零钱找回，则</a:t>
            </a:r>
            <a:r>
              <a:rPr lang="zh-CN" altLang="en-US" sz="1800" dirty="0">
                <a:solidFill>
                  <a:srgbClr val="0070C0"/>
                </a:solidFill>
                <a:latin typeface="微软雅黑" panose="020B0503020204020204" pitchFamily="34" charset="-122"/>
                <a:ea typeface="微软雅黑" panose="020B0503020204020204" pitchFamily="34" charset="-122"/>
              </a:rPr>
              <a:t>退出</a:t>
            </a:r>
            <a:r>
              <a:rPr lang="zh-CN" altLang="en-US" sz="1800" dirty="0">
                <a:solidFill>
                  <a:srgbClr val="595959"/>
                </a:solidFill>
                <a:latin typeface="微软雅黑" panose="020B0503020204020204" pitchFamily="34" charset="-122"/>
                <a:ea typeface="微软雅黑" panose="020B0503020204020204" pitchFamily="34" charset="-122"/>
              </a:rPr>
              <a:t>一枚</a:t>
            </a:r>
            <a:r>
              <a:rPr lang="zh-CN" altLang="en-US" sz="1800" dirty="0">
                <a:solidFill>
                  <a:srgbClr val="0070C0"/>
                </a:solidFill>
                <a:latin typeface="微软雅黑" panose="020B0503020204020204" pitchFamily="34" charset="-122"/>
                <a:ea typeface="微软雅黑" panose="020B0503020204020204" pitchFamily="34" charset="-122"/>
              </a:rPr>
              <a:t>5角</a:t>
            </a:r>
            <a:r>
              <a:rPr lang="zh-CN" altLang="en-US" sz="1800" dirty="0">
                <a:solidFill>
                  <a:srgbClr val="595959"/>
                </a:solidFill>
                <a:latin typeface="微软雅黑" panose="020B0503020204020204" pitchFamily="34" charset="-122"/>
                <a:ea typeface="微软雅黑" panose="020B0503020204020204" pitchFamily="34" charset="-122"/>
              </a:rPr>
              <a:t>的硬币</a:t>
            </a:r>
            <a:r>
              <a:rPr lang="zh-CN" altLang="en-US" sz="1800" dirty="0">
                <a:solidFill>
                  <a:srgbClr val="0070C0"/>
                </a:solidFill>
                <a:latin typeface="微软雅黑" panose="020B0503020204020204" pitchFamily="34" charset="-122"/>
                <a:ea typeface="微软雅黑" panose="020B0503020204020204" pitchFamily="34" charset="-122"/>
              </a:rPr>
              <a:t>并送出糖果或饼干</a:t>
            </a:r>
            <a:r>
              <a:rPr lang="zh-CN" altLang="en-US" sz="1800" dirty="0">
                <a:solidFill>
                  <a:srgbClr val="595959"/>
                </a:solidFill>
                <a:latin typeface="微软雅黑" panose="020B0503020204020204" pitchFamily="34" charset="-122"/>
                <a:ea typeface="微软雅黑" panose="020B0503020204020204" pitchFamily="34" charset="-122"/>
              </a:rPr>
              <a:t>。</a:t>
            </a:r>
          </a:p>
          <a:p>
            <a:pPr marL="285750" indent="-285750" algn="just">
              <a:lnSpc>
                <a:spcPct val="150000"/>
              </a:lnSpc>
              <a:buClrTx/>
              <a:buSzTx/>
              <a:buFont typeface="Wingdings" panose="05000000000000000000" charset="0"/>
              <a:buChar char="l"/>
            </a:pPr>
            <a:r>
              <a:rPr lang="zh-CN" altLang="en-US" sz="1800" dirty="0">
                <a:solidFill>
                  <a:srgbClr val="595959"/>
                </a:solidFill>
                <a:latin typeface="微软雅黑" panose="020B0503020204020204" pitchFamily="34" charset="-122"/>
                <a:ea typeface="微软雅黑" panose="020B0503020204020204" pitchFamily="34" charset="-122"/>
              </a:rPr>
              <a:t>如果顾客</a:t>
            </a:r>
            <a:r>
              <a:rPr lang="zh-CN" altLang="en-US" sz="1800" dirty="0">
                <a:solidFill>
                  <a:srgbClr val="0070C0"/>
                </a:solidFill>
                <a:latin typeface="微软雅黑" panose="020B0503020204020204" pitchFamily="34" charset="-122"/>
                <a:ea typeface="微软雅黑" panose="020B0503020204020204" pitchFamily="34" charset="-122"/>
              </a:rPr>
              <a:t>投入1元</a:t>
            </a:r>
            <a:r>
              <a:rPr lang="zh-CN" altLang="en-US" sz="1800" dirty="0">
                <a:solidFill>
                  <a:srgbClr val="595959"/>
                </a:solidFill>
                <a:latin typeface="微软雅黑" panose="020B0503020204020204" pitchFamily="34" charset="-122"/>
                <a:ea typeface="微软雅黑" panose="020B0503020204020204" pitchFamily="34" charset="-122"/>
              </a:rPr>
              <a:t>的硬币并按下“糖果”按钮或“饼干”按钮，若</a:t>
            </a:r>
            <a:r>
              <a:rPr lang="zh-CN" altLang="en-US" sz="1800" dirty="0">
                <a:solidFill>
                  <a:srgbClr val="0070C0"/>
                </a:solidFill>
                <a:latin typeface="微软雅黑" panose="020B0503020204020204" pitchFamily="34" charset="-122"/>
                <a:ea typeface="微软雅黑" panose="020B0503020204020204" pitchFamily="34" charset="-122"/>
              </a:rPr>
              <a:t>售货机没有5角</a:t>
            </a:r>
            <a:r>
              <a:rPr lang="zh-CN" altLang="en-US" sz="1800" dirty="0">
                <a:solidFill>
                  <a:srgbClr val="595959"/>
                </a:solidFill>
                <a:latin typeface="微软雅黑" panose="020B0503020204020204" pitchFamily="34" charset="-122"/>
                <a:ea typeface="微软雅黑" panose="020B0503020204020204" pitchFamily="34" charset="-122"/>
              </a:rPr>
              <a:t>的零钱找回，则亮</a:t>
            </a:r>
            <a:r>
              <a:rPr lang="zh-CN" altLang="en-US" sz="1800" dirty="0">
                <a:solidFill>
                  <a:srgbClr val="0070C0"/>
                </a:solidFill>
                <a:latin typeface="微软雅黑" panose="020B0503020204020204" pitchFamily="34" charset="-122"/>
                <a:ea typeface="微软雅黑" panose="020B0503020204020204" pitchFamily="34" charset="-122"/>
              </a:rPr>
              <a:t>红灯</a:t>
            </a:r>
            <a:r>
              <a:rPr lang="zh-CN" altLang="en-US" sz="1800" dirty="0">
                <a:solidFill>
                  <a:srgbClr val="595959"/>
                </a:solidFill>
                <a:latin typeface="微软雅黑" panose="020B0503020204020204" pitchFamily="34" charset="-122"/>
                <a:ea typeface="微软雅黑" panose="020B0503020204020204" pitchFamily="34" charset="-122"/>
              </a:rPr>
              <a:t>，然后</a:t>
            </a:r>
            <a:r>
              <a:rPr lang="zh-CN" altLang="en-US" sz="1800" dirty="0">
                <a:solidFill>
                  <a:srgbClr val="0070C0"/>
                </a:solidFill>
                <a:latin typeface="微软雅黑" panose="020B0503020204020204" pitchFamily="34" charset="-122"/>
                <a:ea typeface="微软雅黑" panose="020B0503020204020204" pitchFamily="34" charset="-122"/>
              </a:rPr>
              <a:t>退出1元</a:t>
            </a:r>
            <a:r>
              <a:rPr lang="zh-CN" altLang="en-US" sz="1800" dirty="0">
                <a:solidFill>
                  <a:srgbClr val="595959"/>
                </a:solidFill>
                <a:latin typeface="微软雅黑" panose="020B0503020204020204" pitchFamily="34" charset="-122"/>
                <a:ea typeface="微软雅黑" panose="020B0503020204020204" pitchFamily="34" charset="-122"/>
              </a:rPr>
              <a:t>的硬币，</a:t>
            </a:r>
            <a:r>
              <a:rPr lang="zh-CN" altLang="en-US" sz="1800" dirty="0">
                <a:solidFill>
                  <a:srgbClr val="0070C0"/>
                </a:solidFill>
                <a:latin typeface="微软雅黑" panose="020B0503020204020204" pitchFamily="34" charset="-122"/>
                <a:ea typeface="微软雅黑" panose="020B0503020204020204" pitchFamily="34" charset="-122"/>
              </a:rPr>
              <a:t>无法送出糖果或饼干</a:t>
            </a:r>
            <a:r>
              <a:rPr lang="zh-CN" altLang="en-US" sz="1800" dirty="0">
                <a:solidFill>
                  <a:srgbClr val="595959"/>
                </a:solidFill>
                <a:latin typeface="微软雅黑" panose="020B0503020204020204" pitchFamily="34" charset="-122"/>
                <a:ea typeface="微软雅黑" panose="020B0503020204020204" pitchFamily="34" charset="-122"/>
              </a:rPr>
              <a:t>。</a:t>
            </a:r>
          </a:p>
        </p:txBody>
      </p:sp>
      <p:sp>
        <p:nvSpPr>
          <p:cNvPr id="2" name="Title 1">
            <a:extLst>
              <a:ext uri="{FF2B5EF4-FFF2-40B4-BE49-F238E27FC236}">
                <a16:creationId xmlns:a16="http://schemas.microsoft.com/office/drawing/2014/main" id="{43DE792E-BB68-C314-8C1A-B343AC33316E}"/>
              </a:ext>
            </a:extLst>
          </p:cNvPr>
          <p:cNvSpPr txBox="1"/>
          <p:nvPr/>
        </p:nvSpPr>
        <p:spPr>
          <a:xfrm>
            <a:off x="1039559" y="189794"/>
            <a:ext cx="8799647"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2.3.</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	实例二：零食自动售货机售货情况的因果图与决策表绘制</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35"/>
          <p:cNvSpPr txBox="1">
            <a:spLocks noChangeArrowheads="1"/>
          </p:cNvSpPr>
          <p:nvPr/>
        </p:nvSpPr>
        <p:spPr bwMode="auto">
          <a:xfrm>
            <a:off x="1127125" y="909320"/>
            <a:ext cx="9710420" cy="603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no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buClrTx/>
              <a:buSzTx/>
              <a:buFontTx/>
            </a:pPr>
            <a:r>
              <a:rPr lang="zh-CN" altLang="en-US" sz="1800" dirty="0">
                <a:solidFill>
                  <a:srgbClr val="595959"/>
                </a:solidFill>
                <a:latin typeface="微软雅黑" panose="020B0503020204020204" pitchFamily="34" charset="-122"/>
                <a:ea typeface="微软雅黑" panose="020B0503020204020204" pitchFamily="34" charset="-122"/>
              </a:rPr>
              <a:t>通过分析前面4条使用说明，列出原因与结果，</a:t>
            </a:r>
            <a:r>
              <a:rPr lang="zh-CN" altLang="en-US" sz="1800" dirty="0">
                <a:solidFill>
                  <a:srgbClr val="0070C0"/>
                </a:solidFill>
                <a:latin typeface="微软雅黑" panose="020B0503020204020204" pitchFamily="34" charset="-122"/>
                <a:ea typeface="微软雅黑" panose="020B0503020204020204" pitchFamily="34" charset="-122"/>
              </a:rPr>
              <a:t>零食自动售货机的原因与结果</a:t>
            </a:r>
            <a:r>
              <a:rPr lang="zh-CN" altLang="en-US" sz="1800" dirty="0">
                <a:solidFill>
                  <a:srgbClr val="595959"/>
                </a:solidFill>
                <a:latin typeface="微软雅黑" panose="020B0503020204020204" pitchFamily="34" charset="-122"/>
                <a:ea typeface="微软雅黑" panose="020B0503020204020204" pitchFamily="34" charset="-122"/>
              </a:rPr>
              <a:t>如下表所示。</a:t>
            </a:r>
          </a:p>
          <a:p>
            <a:pPr algn="just">
              <a:lnSpc>
                <a:spcPct val="150000"/>
              </a:lnSpc>
              <a:buClrTx/>
              <a:buSzTx/>
              <a:buFontTx/>
            </a:pPr>
            <a:endParaRPr lang="zh-CN" altLang="en-US" sz="1800" dirty="0">
              <a:solidFill>
                <a:srgbClr val="595959"/>
              </a:solidFill>
              <a:latin typeface="微软雅黑" panose="020B0503020204020204" pitchFamily="34" charset="-122"/>
              <a:ea typeface="微软雅黑" panose="020B0503020204020204" pitchFamily="34" charset="-122"/>
            </a:endParaRPr>
          </a:p>
        </p:txBody>
      </p:sp>
      <p:graphicFrame>
        <p:nvGraphicFramePr>
          <p:cNvPr id="2" name="表格 1"/>
          <p:cNvGraphicFramePr/>
          <p:nvPr>
            <p:custDataLst>
              <p:tags r:id="rId1"/>
            </p:custDataLst>
          </p:nvPr>
        </p:nvGraphicFramePr>
        <p:xfrm>
          <a:off x="2207260" y="1701165"/>
          <a:ext cx="6780979" cy="3549650"/>
        </p:xfrm>
        <a:graphic>
          <a:graphicData uri="http://schemas.openxmlformats.org/drawingml/2006/table">
            <a:tbl>
              <a:tblPr firstRow="1" bandRow="1">
                <a:tableStyleId>{5C22544A-7EE6-4342-B048-85BDC9FD1C3A}</a:tableStyleId>
              </a:tblPr>
              <a:tblGrid>
                <a:gridCol w="2663946">
                  <a:extLst>
                    <a:ext uri="{9D8B030D-6E8A-4147-A177-3AD203B41FA5}">
                      <a16:colId xmlns:a16="http://schemas.microsoft.com/office/drawing/2014/main" val="20000"/>
                    </a:ext>
                  </a:extLst>
                </a:gridCol>
                <a:gridCol w="810774">
                  <a:extLst>
                    <a:ext uri="{9D8B030D-6E8A-4147-A177-3AD203B41FA5}">
                      <a16:colId xmlns:a16="http://schemas.microsoft.com/office/drawing/2014/main" val="20001"/>
                    </a:ext>
                  </a:extLst>
                </a:gridCol>
                <a:gridCol w="2466340">
                  <a:extLst>
                    <a:ext uri="{9D8B030D-6E8A-4147-A177-3AD203B41FA5}">
                      <a16:colId xmlns:a16="http://schemas.microsoft.com/office/drawing/2014/main" val="20002"/>
                    </a:ext>
                  </a:extLst>
                </a:gridCol>
                <a:gridCol w="839919">
                  <a:extLst>
                    <a:ext uri="{9D8B030D-6E8A-4147-A177-3AD203B41FA5}">
                      <a16:colId xmlns:a16="http://schemas.microsoft.com/office/drawing/2014/main" val="20003"/>
                    </a:ext>
                  </a:extLst>
                </a:gridCol>
              </a:tblGrid>
              <a:tr h="613410">
                <a:tc gridSpan="2">
                  <a:txBody>
                    <a:bodyPr/>
                    <a:lstStyle/>
                    <a:p>
                      <a:pPr algn="ctr">
                        <a:lnSpc>
                          <a:spcPct val="90000"/>
                        </a:lnSpc>
                        <a:buNone/>
                      </a:pPr>
                      <a:r>
                        <a:rPr lang="zh-CN" altLang="en-US" sz="1800" b="1" dirty="0">
                          <a:latin typeface="微软雅黑" panose="020B0503020204020204" pitchFamily="34" charset="-122"/>
                          <a:ea typeface="微软雅黑" panose="020B0503020204020204" pitchFamily="34" charset="-122"/>
                        </a:rPr>
                        <a:t>原因</a:t>
                      </a:r>
                      <a:endParaRPr lang="zh-CN" altLang="en-US" sz="1800" dirty="0">
                        <a:latin typeface="微软雅黑" panose="020B0503020204020204" pitchFamily="34" charset="-122"/>
                        <a:ea typeface="微软雅黑" panose="020B0503020204020204" pitchFamily="34" charset="-122"/>
                      </a:endParaRPr>
                    </a:p>
                  </a:txBody>
                  <a:tcPr anchor="ctr"/>
                </a:tc>
                <a:tc hMerge="1">
                  <a:txBody>
                    <a:bodyPr/>
                    <a:lstStyle/>
                    <a:p>
                      <a:endParaRPr lang="zh-CN"/>
                    </a:p>
                  </a:txBody>
                  <a:tcPr anchor="ctr"/>
                </a:tc>
                <a:tc gridSpan="2">
                  <a:txBody>
                    <a:bodyPr/>
                    <a:lstStyle/>
                    <a:p>
                      <a:pPr algn="ctr">
                        <a:lnSpc>
                          <a:spcPct val="90000"/>
                        </a:lnSpc>
                        <a:buNone/>
                      </a:pPr>
                      <a:r>
                        <a:rPr lang="zh-CN" altLang="en-US" sz="1800">
                          <a:latin typeface="微软雅黑" panose="020B0503020204020204" pitchFamily="34" charset="-122"/>
                          <a:ea typeface="微软雅黑" panose="020B0503020204020204" pitchFamily="34" charset="-122"/>
                        </a:rPr>
                        <a:t>结果</a:t>
                      </a:r>
                    </a:p>
                  </a:txBody>
                  <a:tcPr anchor="ctr"/>
                </a:tc>
                <a:tc hMerge="1">
                  <a:txBody>
                    <a:bodyPr/>
                    <a:lstStyle/>
                    <a:p>
                      <a:endParaRPr lang="zh-CN"/>
                    </a:p>
                  </a:txBody>
                  <a:tcPr anchor="ctr"/>
                </a:tc>
                <a:extLst>
                  <a:ext uri="{0D108BD9-81ED-4DB2-BD59-A6C34878D82A}">
                    <a16:rowId xmlns:a16="http://schemas.microsoft.com/office/drawing/2014/main" val="10000"/>
                  </a:ext>
                </a:extLst>
              </a:tr>
              <a:tr h="598805">
                <a:tc>
                  <a:txBody>
                    <a:bodyPr/>
                    <a:lstStyle/>
                    <a:p>
                      <a:pPr algn="ctr">
                        <a:buNone/>
                      </a:pPr>
                      <a:r>
                        <a:rPr lang="zh-CN" altLang="en-US" sz="1800" kern="1200" dirty="0">
                          <a:solidFill>
                            <a:srgbClr val="595959"/>
                          </a:solidFill>
                          <a:latin typeface="微软雅黑" panose="020B0503020204020204" pitchFamily="34" charset="-122"/>
                          <a:ea typeface="微软雅黑" panose="020B0503020204020204" pitchFamily="34" charset="-122"/>
                          <a:cs typeface="+mn-cs"/>
                        </a:rPr>
                        <a:t>投入5角的硬币</a:t>
                      </a:r>
                    </a:p>
                  </a:txBody>
                  <a:tcPr anchor="ctr"/>
                </a:tc>
                <a:tc>
                  <a:txBody>
                    <a:bodyPr/>
                    <a:lstStyle/>
                    <a:p>
                      <a:pPr algn="ctr">
                        <a:buNone/>
                      </a:pPr>
                      <a:r>
                        <a:rPr lang="en-US" sz="1800" kern="1200">
                          <a:solidFill>
                            <a:srgbClr val="595959"/>
                          </a:solidFill>
                          <a:latin typeface="微软雅黑" panose="020B0503020204020204" pitchFamily="34" charset="-122"/>
                          <a:ea typeface="微软雅黑" panose="020B0503020204020204" pitchFamily="34" charset="-122"/>
                          <a:cs typeface="+mn-cs"/>
                          <a:sym typeface="+mn-ea"/>
                        </a:rPr>
                        <a:t>c</a:t>
                      </a:r>
                      <a:r>
                        <a:rPr lang="en-US" sz="1800" kern="1200" baseline="-25000">
                          <a:solidFill>
                            <a:srgbClr val="595959"/>
                          </a:solidFill>
                          <a:latin typeface="微软雅黑" panose="020B0503020204020204" pitchFamily="34" charset="-122"/>
                          <a:ea typeface="微软雅黑" panose="020B0503020204020204" pitchFamily="34" charset="-122"/>
                          <a:cs typeface="+mn-cs"/>
                          <a:sym typeface="+mn-ea"/>
                        </a:rPr>
                        <a:t>1</a:t>
                      </a:r>
                      <a:endParaRPr lang="zh-CN" altLang="en-US" sz="1800" kern="1200" baseline="-250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l">
                        <a:buNone/>
                      </a:pPr>
                      <a:r>
                        <a:rPr lang="en-US" altLang="zh-CN" sz="1800" kern="1200" dirty="0">
                          <a:solidFill>
                            <a:srgbClr val="595959"/>
                          </a:solidFill>
                          <a:latin typeface="微软雅黑" panose="020B0503020204020204" pitchFamily="34" charset="-122"/>
                          <a:ea typeface="微软雅黑" panose="020B0503020204020204" pitchFamily="34" charset="-122"/>
                          <a:cs typeface="+mn-cs"/>
                        </a:rPr>
                        <a:t>送出糖果</a:t>
                      </a:r>
                    </a:p>
                  </a:txBody>
                  <a:tcPr anchor="ctr"/>
                </a:tc>
                <a:tc>
                  <a:txBody>
                    <a:bodyPr/>
                    <a:lstStyle/>
                    <a:p>
                      <a:pPr marL="0" algn="ctr" defTabSz="1219200" rtl="0" eaLnBrk="1" latinLnBrk="0" hangingPunct="1">
                        <a:buClrTx/>
                        <a:buSzTx/>
                        <a:buFontTx/>
                        <a:buNone/>
                      </a:pPr>
                      <a:r>
                        <a:rPr lang="en-US" sz="1800" kern="1200">
                          <a:solidFill>
                            <a:srgbClr val="595959"/>
                          </a:solidFill>
                          <a:latin typeface="微软雅黑" panose="020B0503020204020204" pitchFamily="34" charset="-122"/>
                          <a:ea typeface="微软雅黑" panose="020B0503020204020204" pitchFamily="34" charset="-122"/>
                          <a:cs typeface="+mn-cs"/>
                          <a:sym typeface="+mn-ea"/>
                        </a:rPr>
                        <a:t>e</a:t>
                      </a:r>
                      <a:r>
                        <a:rPr lang="en-US" sz="1800" kern="1200" baseline="-25000">
                          <a:solidFill>
                            <a:srgbClr val="595959"/>
                          </a:solidFill>
                          <a:latin typeface="微软雅黑" panose="020B0503020204020204" pitchFamily="34" charset="-122"/>
                          <a:ea typeface="微软雅黑" panose="020B0503020204020204" pitchFamily="34" charset="-122"/>
                          <a:cs typeface="+mn-cs"/>
                          <a:sym typeface="+mn-ea"/>
                        </a:rPr>
                        <a:t>1</a:t>
                      </a:r>
                      <a:endParaRPr lang="en-US" altLang="zh-CN" sz="1800" kern="1200" baseline="-25000">
                        <a:solidFill>
                          <a:srgbClr val="595959"/>
                        </a:solidFill>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10001"/>
                  </a:ext>
                </a:extLst>
              </a:tr>
              <a:tr h="558165">
                <a:tc>
                  <a:txBody>
                    <a:bodyPr/>
                    <a:lstStyle/>
                    <a:p>
                      <a:pPr algn="ctr">
                        <a:buClrTx/>
                        <a:buSzTx/>
                        <a:buFontTx/>
                        <a:buNone/>
                      </a:pPr>
                      <a:r>
                        <a:rPr lang="en-US" altLang="zh-CN" sz="1800" kern="1200" dirty="0">
                          <a:solidFill>
                            <a:srgbClr val="595959"/>
                          </a:solidFill>
                          <a:latin typeface="微软雅黑" panose="020B0503020204020204" pitchFamily="34" charset="-122"/>
                          <a:ea typeface="微软雅黑" panose="020B0503020204020204" pitchFamily="34" charset="-122"/>
                          <a:cs typeface="+mn-cs"/>
                        </a:rPr>
                        <a:t>投入1元的硬币</a:t>
                      </a:r>
                    </a:p>
                  </a:txBody>
                  <a:tcPr anchor="ctr"/>
                </a:tc>
                <a:tc>
                  <a:txBody>
                    <a:bodyPr/>
                    <a:lstStyle/>
                    <a:p>
                      <a:pPr algn="ctr">
                        <a:buClrTx/>
                        <a:buSzTx/>
                        <a:buFontTx/>
                        <a:buNone/>
                      </a:pPr>
                      <a:r>
                        <a:rPr lang="en-US" sz="1800" kern="1200">
                          <a:solidFill>
                            <a:srgbClr val="595959"/>
                          </a:solidFill>
                          <a:latin typeface="微软雅黑" panose="020B0503020204020204" pitchFamily="34" charset="-122"/>
                          <a:ea typeface="微软雅黑" panose="020B0503020204020204" pitchFamily="34" charset="-122"/>
                          <a:cs typeface="+mn-cs"/>
                          <a:sym typeface="+mn-ea"/>
                        </a:rPr>
                        <a:t>c</a:t>
                      </a:r>
                      <a:r>
                        <a:rPr lang="en-US" sz="1800" kern="1200" baseline="-25000">
                          <a:solidFill>
                            <a:srgbClr val="595959"/>
                          </a:solidFill>
                          <a:latin typeface="微软雅黑" panose="020B0503020204020204" pitchFamily="34" charset="-122"/>
                          <a:ea typeface="微软雅黑" panose="020B0503020204020204" pitchFamily="34" charset="-122"/>
                          <a:cs typeface="+mn-cs"/>
                          <a:sym typeface="+mn-ea"/>
                        </a:rPr>
                        <a:t>2</a:t>
                      </a:r>
                      <a:endParaRPr lang="en-US" altLang="zh-CN" sz="1800" kern="1200" baseline="-250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l">
                        <a:buNone/>
                      </a:pPr>
                      <a:r>
                        <a:rPr lang="en-US" altLang="zh-CN" sz="1800" kern="1200" dirty="0">
                          <a:solidFill>
                            <a:srgbClr val="595959"/>
                          </a:solidFill>
                          <a:latin typeface="微软雅黑" panose="020B0503020204020204" pitchFamily="34" charset="-122"/>
                          <a:ea typeface="微软雅黑" panose="020B0503020204020204" pitchFamily="34" charset="-122"/>
                          <a:cs typeface="+mn-cs"/>
                        </a:rPr>
                        <a:t>送出饼干</a:t>
                      </a:r>
                    </a:p>
                  </a:txBody>
                  <a:tcPr anchor="ctr"/>
                </a:tc>
                <a:tc>
                  <a:txBody>
                    <a:bodyPr/>
                    <a:lstStyle/>
                    <a:p>
                      <a:pPr marL="0" algn="ctr" defTabSz="1219200" rtl="0" eaLnBrk="1" latinLnBrk="0" hangingPunct="1">
                        <a:buClrTx/>
                        <a:buSzTx/>
                        <a:buFontTx/>
                        <a:buNone/>
                      </a:pPr>
                      <a:r>
                        <a:rPr lang="en-US" sz="1800" kern="1200">
                          <a:solidFill>
                            <a:srgbClr val="595959"/>
                          </a:solidFill>
                          <a:latin typeface="微软雅黑" panose="020B0503020204020204" pitchFamily="34" charset="-122"/>
                          <a:ea typeface="微软雅黑" panose="020B0503020204020204" pitchFamily="34" charset="-122"/>
                          <a:cs typeface="+mn-cs"/>
                          <a:sym typeface="+mn-ea"/>
                        </a:rPr>
                        <a:t>e</a:t>
                      </a:r>
                      <a:r>
                        <a:rPr lang="en-US" sz="1800" kern="1200" baseline="-25000">
                          <a:solidFill>
                            <a:srgbClr val="595959"/>
                          </a:solidFill>
                          <a:latin typeface="微软雅黑" panose="020B0503020204020204" pitchFamily="34" charset="-122"/>
                          <a:ea typeface="微软雅黑" panose="020B0503020204020204" pitchFamily="34" charset="-122"/>
                          <a:cs typeface="+mn-cs"/>
                          <a:sym typeface="+mn-ea"/>
                        </a:rPr>
                        <a:t>2</a:t>
                      </a:r>
                      <a:endParaRPr lang="en-US" altLang="zh-CN" sz="1800" kern="1200" baseline="-25000">
                        <a:solidFill>
                          <a:srgbClr val="595959"/>
                        </a:solidFill>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10002"/>
                  </a:ext>
                </a:extLst>
              </a:tr>
              <a:tr h="565150">
                <a:tc>
                  <a:txBody>
                    <a:bodyPr/>
                    <a:lstStyle/>
                    <a:p>
                      <a:pPr algn="ctr">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按“糖果”按钮</a:t>
                      </a:r>
                    </a:p>
                  </a:txBody>
                  <a:tcPr anchor="ctr"/>
                </a:tc>
                <a:tc>
                  <a:txBody>
                    <a:bodyPr/>
                    <a:lstStyle/>
                    <a:p>
                      <a:pPr algn="ctr">
                        <a:buClrTx/>
                        <a:buSzTx/>
                        <a:buFontTx/>
                        <a:buNone/>
                      </a:pPr>
                      <a:r>
                        <a:rPr lang="en-US" sz="1800" kern="1200">
                          <a:solidFill>
                            <a:srgbClr val="595959"/>
                          </a:solidFill>
                          <a:latin typeface="微软雅黑" panose="020B0503020204020204" pitchFamily="34" charset="-122"/>
                          <a:ea typeface="微软雅黑" panose="020B0503020204020204" pitchFamily="34" charset="-122"/>
                          <a:cs typeface="+mn-cs"/>
                          <a:sym typeface="+mn-ea"/>
                        </a:rPr>
                        <a:t>c</a:t>
                      </a:r>
                      <a:r>
                        <a:rPr lang="en-US" sz="1800" kern="1200" baseline="-25000">
                          <a:solidFill>
                            <a:srgbClr val="595959"/>
                          </a:solidFill>
                          <a:latin typeface="微软雅黑" panose="020B0503020204020204" pitchFamily="34" charset="-122"/>
                          <a:ea typeface="微软雅黑" panose="020B0503020204020204" pitchFamily="34" charset="-122"/>
                          <a:cs typeface="+mn-cs"/>
                          <a:sym typeface="+mn-ea"/>
                        </a:rPr>
                        <a:t>3</a:t>
                      </a:r>
                      <a:endParaRPr lang="en-US" altLang="zh-CN" sz="1800" kern="1200" baseline="-250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l">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退出5角的硬币</a:t>
                      </a:r>
                    </a:p>
                  </a:txBody>
                  <a:tcPr anchor="ctr"/>
                </a:tc>
                <a:tc>
                  <a:txBody>
                    <a:bodyPr/>
                    <a:lstStyle/>
                    <a:p>
                      <a:pPr algn="ctr">
                        <a:buNone/>
                      </a:pPr>
                      <a:r>
                        <a:rPr lang="en-US" sz="1800" kern="1200">
                          <a:solidFill>
                            <a:srgbClr val="595959"/>
                          </a:solidFill>
                          <a:latin typeface="微软雅黑" panose="020B0503020204020204" pitchFamily="34" charset="-122"/>
                          <a:ea typeface="微软雅黑" panose="020B0503020204020204" pitchFamily="34" charset="-122"/>
                          <a:cs typeface="+mn-cs"/>
                          <a:sym typeface="+mn-ea"/>
                        </a:rPr>
                        <a:t>e</a:t>
                      </a:r>
                      <a:r>
                        <a:rPr lang="en-US" sz="1800" kern="1200" baseline="-25000">
                          <a:solidFill>
                            <a:srgbClr val="595959"/>
                          </a:solidFill>
                          <a:latin typeface="微软雅黑" panose="020B0503020204020204" pitchFamily="34" charset="-122"/>
                          <a:ea typeface="微软雅黑" panose="020B0503020204020204" pitchFamily="34" charset="-122"/>
                          <a:cs typeface="+mn-cs"/>
                          <a:sym typeface="+mn-ea"/>
                        </a:rPr>
                        <a:t>3</a:t>
                      </a:r>
                      <a:endParaRPr lang="en-US" altLang="zh-CN" sz="1800" kern="1200" baseline="-25000">
                        <a:solidFill>
                          <a:srgbClr val="595959"/>
                        </a:solidFill>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10003"/>
                  </a:ext>
                </a:extLst>
              </a:tr>
              <a:tr h="574040">
                <a:tc>
                  <a:txBody>
                    <a:bodyPr/>
                    <a:lstStyle/>
                    <a:p>
                      <a:pPr algn="ctr">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按“饼干”按钮</a:t>
                      </a:r>
                    </a:p>
                  </a:txBody>
                  <a:tcPr anchor="ctr"/>
                </a:tc>
                <a:tc>
                  <a:txBody>
                    <a:bodyPr/>
                    <a:lstStyle/>
                    <a:p>
                      <a:pPr algn="ctr">
                        <a:buClrTx/>
                        <a:buSzTx/>
                        <a:buFontTx/>
                        <a:buNone/>
                      </a:pPr>
                      <a:r>
                        <a:rPr lang="en-US" sz="1800" kern="1200">
                          <a:solidFill>
                            <a:srgbClr val="595959"/>
                          </a:solidFill>
                          <a:latin typeface="微软雅黑" panose="020B0503020204020204" pitchFamily="34" charset="-122"/>
                          <a:ea typeface="微软雅黑" panose="020B0503020204020204" pitchFamily="34" charset="-122"/>
                          <a:cs typeface="+mn-cs"/>
                          <a:sym typeface="+mn-ea"/>
                        </a:rPr>
                        <a:t>c</a:t>
                      </a:r>
                      <a:r>
                        <a:rPr lang="en-US" sz="1800" kern="1200" baseline="-25000">
                          <a:solidFill>
                            <a:srgbClr val="595959"/>
                          </a:solidFill>
                          <a:latin typeface="微软雅黑" panose="020B0503020204020204" pitchFamily="34" charset="-122"/>
                          <a:ea typeface="微软雅黑" panose="020B0503020204020204" pitchFamily="34" charset="-122"/>
                          <a:cs typeface="+mn-cs"/>
                          <a:sym typeface="+mn-ea"/>
                        </a:rPr>
                        <a:t>4</a:t>
                      </a:r>
                      <a:endParaRPr lang="en-US" altLang="zh-CN" sz="1800" kern="1200" baseline="-250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l">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退出1元的硬币</a:t>
                      </a:r>
                    </a:p>
                  </a:txBody>
                  <a:tcPr anchor="ctr"/>
                </a:tc>
                <a:tc>
                  <a:txBody>
                    <a:bodyPr/>
                    <a:lstStyle/>
                    <a:p>
                      <a:pPr algn="ctr">
                        <a:buNone/>
                      </a:pPr>
                      <a:r>
                        <a:rPr lang="en-US" sz="1800" kern="1200">
                          <a:solidFill>
                            <a:srgbClr val="595959"/>
                          </a:solidFill>
                          <a:latin typeface="微软雅黑" panose="020B0503020204020204" pitchFamily="34" charset="-122"/>
                          <a:ea typeface="微软雅黑" panose="020B0503020204020204" pitchFamily="34" charset="-122"/>
                          <a:cs typeface="+mn-cs"/>
                          <a:sym typeface="+mn-ea"/>
                        </a:rPr>
                        <a:t>e</a:t>
                      </a:r>
                      <a:r>
                        <a:rPr lang="en-US" sz="1800" kern="1200" baseline="-25000">
                          <a:solidFill>
                            <a:srgbClr val="595959"/>
                          </a:solidFill>
                          <a:latin typeface="微软雅黑" panose="020B0503020204020204" pitchFamily="34" charset="-122"/>
                          <a:ea typeface="微软雅黑" panose="020B0503020204020204" pitchFamily="34" charset="-122"/>
                          <a:cs typeface="+mn-cs"/>
                          <a:sym typeface="+mn-ea"/>
                        </a:rPr>
                        <a:t>4</a:t>
                      </a:r>
                      <a:endParaRPr lang="en-US" altLang="zh-CN" sz="1800" kern="1200" baseline="-25000">
                        <a:solidFill>
                          <a:srgbClr val="595959"/>
                        </a:solidFill>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10004"/>
                  </a:ext>
                </a:extLst>
              </a:tr>
              <a:tr h="574040">
                <a:tc>
                  <a:txBody>
                    <a:bodyPr/>
                    <a:lstStyle/>
                    <a:p>
                      <a:pPr algn="ctr">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售货机有5角的零钱找回</a:t>
                      </a:r>
                    </a:p>
                  </a:txBody>
                  <a:tcPr anchor="ctr"/>
                </a:tc>
                <a:tc>
                  <a:txBody>
                    <a:bodyPr/>
                    <a:lstStyle/>
                    <a:p>
                      <a:pPr marL="0" algn="ctr" defTabSz="1219200" rtl="0" eaLnBrk="1" latinLnBrk="0" hangingPunct="1">
                        <a:buClrTx/>
                        <a:buSzTx/>
                        <a:buFontTx/>
                        <a:buNone/>
                      </a:pPr>
                      <a:r>
                        <a:rPr lang="en-US" sz="1800" kern="1200">
                          <a:solidFill>
                            <a:srgbClr val="595959"/>
                          </a:solidFill>
                          <a:latin typeface="微软雅黑" panose="020B0503020204020204" pitchFamily="34" charset="-122"/>
                          <a:ea typeface="微软雅黑" panose="020B0503020204020204" pitchFamily="34" charset="-122"/>
                          <a:cs typeface="+mn-cs"/>
                          <a:sym typeface="+mn-ea"/>
                        </a:rPr>
                        <a:t>c</a:t>
                      </a:r>
                      <a:r>
                        <a:rPr lang="en-US" sz="1800" kern="1200" baseline="-25000">
                          <a:solidFill>
                            <a:srgbClr val="595959"/>
                          </a:solidFill>
                          <a:latin typeface="微软雅黑" panose="020B0503020204020204" pitchFamily="34" charset="-122"/>
                          <a:ea typeface="微软雅黑" panose="020B0503020204020204" pitchFamily="34" charset="-122"/>
                          <a:cs typeface="+mn-cs"/>
                          <a:sym typeface="+mn-ea"/>
                        </a:rPr>
                        <a:t>5</a:t>
                      </a:r>
                      <a:endParaRPr lang="en-US" altLang="zh-CN" sz="1800" kern="1200" baseline="-250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l">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售货机没有5角的零钱找回，</a:t>
                      </a:r>
                      <a:r>
                        <a:rPr lang="zh-CN" altLang="en-US" sz="1800" kern="1200">
                          <a:solidFill>
                            <a:srgbClr val="595959"/>
                          </a:solidFill>
                          <a:latin typeface="微软雅黑" panose="020B0503020204020204" pitchFamily="34" charset="-122"/>
                          <a:ea typeface="微软雅黑" panose="020B0503020204020204" pitchFamily="34" charset="-122"/>
                          <a:cs typeface="+mn-cs"/>
                        </a:rPr>
                        <a:t>亮</a:t>
                      </a:r>
                      <a:r>
                        <a:rPr lang="en-US" altLang="zh-CN" sz="1800" kern="1200">
                          <a:solidFill>
                            <a:srgbClr val="595959"/>
                          </a:solidFill>
                          <a:latin typeface="微软雅黑" panose="020B0503020204020204" pitchFamily="34" charset="-122"/>
                          <a:ea typeface="微软雅黑" panose="020B0503020204020204" pitchFamily="34" charset="-122"/>
                          <a:cs typeface="+mn-cs"/>
                        </a:rPr>
                        <a:t>红灯</a:t>
                      </a:r>
                    </a:p>
                  </a:txBody>
                  <a:tcPr anchor="ctr"/>
                </a:tc>
                <a:tc>
                  <a:txBody>
                    <a:bodyPr/>
                    <a:lstStyle/>
                    <a:p>
                      <a:pPr algn="ctr">
                        <a:buNone/>
                      </a:pPr>
                      <a:r>
                        <a:rPr lang="en-US" sz="1800" kern="1200" dirty="0">
                          <a:solidFill>
                            <a:srgbClr val="595959"/>
                          </a:solidFill>
                          <a:latin typeface="微软雅黑" panose="020B0503020204020204" pitchFamily="34" charset="-122"/>
                          <a:ea typeface="微软雅黑" panose="020B0503020204020204" pitchFamily="34" charset="-122"/>
                          <a:cs typeface="+mn-cs"/>
                          <a:sym typeface="+mn-ea"/>
                        </a:rPr>
                        <a:t>e</a:t>
                      </a:r>
                      <a:r>
                        <a:rPr lang="en-US" sz="1800" kern="1200" baseline="-25000" dirty="0">
                          <a:solidFill>
                            <a:srgbClr val="595959"/>
                          </a:solidFill>
                          <a:latin typeface="微软雅黑" panose="020B0503020204020204" pitchFamily="34" charset="-122"/>
                          <a:ea typeface="微软雅黑" panose="020B0503020204020204" pitchFamily="34" charset="-122"/>
                          <a:cs typeface="+mn-cs"/>
                          <a:sym typeface="+mn-ea"/>
                        </a:rPr>
                        <a:t>5</a:t>
                      </a:r>
                      <a:endParaRPr lang="en-US" altLang="zh-CN" sz="1800" kern="1200" baseline="-25000" dirty="0">
                        <a:solidFill>
                          <a:srgbClr val="595959"/>
                        </a:solidFill>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10005"/>
                  </a:ext>
                </a:extLst>
              </a:tr>
            </a:tbl>
          </a:graphicData>
        </a:graphic>
      </p:graphicFrame>
      <p:sp>
        <p:nvSpPr>
          <p:cNvPr id="3" name="Title 1">
            <a:extLst>
              <a:ext uri="{FF2B5EF4-FFF2-40B4-BE49-F238E27FC236}">
                <a16:creationId xmlns:a16="http://schemas.microsoft.com/office/drawing/2014/main" id="{754241AA-34DE-7286-B12F-1E02901E1B47}"/>
              </a:ext>
            </a:extLst>
          </p:cNvPr>
          <p:cNvSpPr txBox="1"/>
          <p:nvPr/>
        </p:nvSpPr>
        <p:spPr>
          <a:xfrm>
            <a:off x="1039559" y="189794"/>
            <a:ext cx="8799647"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2.3.</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	实例二：零食自动售货机售货情况的因果图与决策表绘制</a:t>
            </a: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35"/>
          <p:cNvSpPr txBox="1">
            <a:spLocks noChangeArrowheads="1"/>
          </p:cNvSpPr>
          <p:nvPr/>
        </p:nvSpPr>
        <p:spPr bwMode="auto">
          <a:xfrm>
            <a:off x="4655185" y="909320"/>
            <a:ext cx="2927350" cy="579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no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buClrTx/>
              <a:buSzTx/>
              <a:buFontTx/>
            </a:pPr>
            <a:r>
              <a:rPr lang="zh-CN" altLang="en-US" sz="1800" dirty="0">
                <a:solidFill>
                  <a:srgbClr val="0070C0"/>
                </a:solidFill>
                <a:latin typeface="微软雅黑" panose="020B0503020204020204" pitchFamily="34" charset="-122"/>
                <a:ea typeface="微软雅黑" panose="020B0503020204020204" pitchFamily="34" charset="-122"/>
                <a:sym typeface="+mn-ea"/>
              </a:rPr>
              <a:t>零食自动售货机的决策表</a:t>
            </a:r>
            <a:endParaRPr lang="zh-CN" altLang="en-US" sz="1800" dirty="0">
              <a:solidFill>
                <a:srgbClr val="0070C0"/>
              </a:solidFill>
              <a:latin typeface="微软雅黑" panose="020B0503020204020204" pitchFamily="34" charset="-122"/>
              <a:ea typeface="微软雅黑" panose="020B0503020204020204" pitchFamily="34" charset="-122"/>
            </a:endParaRPr>
          </a:p>
        </p:txBody>
      </p:sp>
      <p:graphicFrame>
        <p:nvGraphicFramePr>
          <p:cNvPr id="2" name="表格 1"/>
          <p:cNvGraphicFramePr/>
          <p:nvPr>
            <p:custDataLst>
              <p:tags r:id="rId1"/>
            </p:custDataLst>
          </p:nvPr>
        </p:nvGraphicFramePr>
        <p:xfrm>
          <a:off x="1941195" y="1486535"/>
          <a:ext cx="8326120" cy="4215765"/>
        </p:xfrm>
        <a:graphic>
          <a:graphicData uri="http://schemas.openxmlformats.org/drawingml/2006/table">
            <a:tbl>
              <a:tblPr firstRow="1" bandRow="1">
                <a:tableStyleId>{5C22544A-7EE6-4342-B048-85BDC9FD1C3A}</a:tableStyleId>
              </a:tblPr>
              <a:tblGrid>
                <a:gridCol w="1121410">
                  <a:extLst>
                    <a:ext uri="{9D8B030D-6E8A-4147-A177-3AD203B41FA5}">
                      <a16:colId xmlns:a16="http://schemas.microsoft.com/office/drawing/2014/main" val="20000"/>
                    </a:ext>
                  </a:extLst>
                </a:gridCol>
                <a:gridCol w="814705">
                  <a:extLst>
                    <a:ext uri="{9D8B030D-6E8A-4147-A177-3AD203B41FA5}">
                      <a16:colId xmlns:a16="http://schemas.microsoft.com/office/drawing/2014/main" val="20001"/>
                    </a:ext>
                  </a:extLst>
                </a:gridCol>
                <a:gridCol w="799652">
                  <a:extLst>
                    <a:ext uri="{9D8B030D-6E8A-4147-A177-3AD203B41FA5}">
                      <a16:colId xmlns:a16="http://schemas.microsoft.com/office/drawing/2014/main" val="20002"/>
                    </a:ext>
                  </a:extLst>
                </a:gridCol>
                <a:gridCol w="767421">
                  <a:extLst>
                    <a:ext uri="{9D8B030D-6E8A-4147-A177-3AD203B41FA5}">
                      <a16:colId xmlns:a16="http://schemas.microsoft.com/office/drawing/2014/main" val="20003"/>
                    </a:ext>
                  </a:extLst>
                </a:gridCol>
                <a:gridCol w="754349">
                  <a:extLst>
                    <a:ext uri="{9D8B030D-6E8A-4147-A177-3AD203B41FA5}">
                      <a16:colId xmlns:a16="http://schemas.microsoft.com/office/drawing/2014/main" val="20004"/>
                    </a:ext>
                  </a:extLst>
                </a:gridCol>
                <a:gridCol w="812627">
                  <a:extLst>
                    <a:ext uri="{9D8B030D-6E8A-4147-A177-3AD203B41FA5}">
                      <a16:colId xmlns:a16="http://schemas.microsoft.com/office/drawing/2014/main" val="20005"/>
                    </a:ext>
                  </a:extLst>
                </a:gridCol>
                <a:gridCol w="826244">
                  <a:extLst>
                    <a:ext uri="{9D8B030D-6E8A-4147-A177-3AD203B41FA5}">
                      <a16:colId xmlns:a16="http://schemas.microsoft.com/office/drawing/2014/main" val="20006"/>
                    </a:ext>
                  </a:extLst>
                </a:gridCol>
                <a:gridCol w="833324">
                  <a:extLst>
                    <a:ext uri="{9D8B030D-6E8A-4147-A177-3AD203B41FA5}">
                      <a16:colId xmlns:a16="http://schemas.microsoft.com/office/drawing/2014/main" val="20007"/>
                    </a:ext>
                  </a:extLst>
                </a:gridCol>
                <a:gridCol w="812083">
                  <a:extLst>
                    <a:ext uri="{9D8B030D-6E8A-4147-A177-3AD203B41FA5}">
                      <a16:colId xmlns:a16="http://schemas.microsoft.com/office/drawing/2014/main" val="20008"/>
                    </a:ext>
                  </a:extLst>
                </a:gridCol>
                <a:gridCol w="784305">
                  <a:extLst>
                    <a:ext uri="{9D8B030D-6E8A-4147-A177-3AD203B41FA5}">
                      <a16:colId xmlns:a16="http://schemas.microsoft.com/office/drawing/2014/main" val="20009"/>
                    </a:ext>
                  </a:extLst>
                </a:gridCol>
              </a:tblGrid>
              <a:tr h="552450">
                <a:tc gridSpan="2">
                  <a:txBody>
                    <a:bodyPr/>
                    <a:lstStyle/>
                    <a:p>
                      <a:pPr algn="ctr">
                        <a:lnSpc>
                          <a:spcPct val="90000"/>
                        </a:lnSpc>
                        <a:buNone/>
                      </a:pPr>
                      <a:r>
                        <a:rPr lang="zh-CN" altLang="en-US" sz="1800" b="1" dirty="0">
                          <a:latin typeface="微软雅黑" panose="020B0503020204020204" pitchFamily="34" charset="-122"/>
                          <a:ea typeface="微软雅黑" panose="020B0503020204020204" pitchFamily="34" charset="-122"/>
                        </a:rPr>
                        <a:t>原因与结果</a:t>
                      </a:r>
                    </a:p>
                  </a:txBody>
                  <a:tcPr anchor="ctr"/>
                </a:tc>
                <a:tc hMerge="1">
                  <a:txBody>
                    <a:bodyPr/>
                    <a:lstStyle/>
                    <a:p>
                      <a:endParaRPr lang="zh-CN"/>
                    </a:p>
                  </a:txBody>
                  <a:tcPr anchor="ctr"/>
                </a:tc>
                <a:tc>
                  <a:txBody>
                    <a:bodyPr/>
                    <a:lstStyle/>
                    <a:p>
                      <a:pPr algn="ctr">
                        <a:lnSpc>
                          <a:spcPct val="90000"/>
                        </a:lnSpc>
                        <a:buNone/>
                      </a:pPr>
                      <a:r>
                        <a:rPr lang="en-US" altLang="zh-CN" sz="1800">
                          <a:latin typeface="微软雅黑" panose="020B0503020204020204" pitchFamily="34" charset="-122"/>
                          <a:ea typeface="微软雅黑" panose="020B0503020204020204" pitchFamily="34" charset="-122"/>
                        </a:rPr>
                        <a:t>1</a:t>
                      </a:r>
                    </a:p>
                  </a:txBody>
                  <a:tcPr anchor="ctr"/>
                </a:tc>
                <a:tc>
                  <a:txBody>
                    <a:bodyPr/>
                    <a:lstStyle/>
                    <a:p>
                      <a:pPr algn="ctr">
                        <a:lnSpc>
                          <a:spcPct val="90000"/>
                        </a:lnSpc>
                        <a:buNone/>
                      </a:pPr>
                      <a:r>
                        <a:rPr lang="en-US" altLang="zh-CN" sz="1800">
                          <a:latin typeface="微软雅黑" panose="020B0503020204020204" pitchFamily="34" charset="-122"/>
                          <a:ea typeface="微软雅黑" panose="020B0503020204020204" pitchFamily="34" charset="-122"/>
                        </a:rPr>
                        <a:t>2</a:t>
                      </a:r>
                    </a:p>
                  </a:txBody>
                  <a:tcPr anchor="ctr"/>
                </a:tc>
                <a:tc>
                  <a:txBody>
                    <a:bodyPr/>
                    <a:lstStyle/>
                    <a:p>
                      <a:pPr algn="ctr">
                        <a:lnSpc>
                          <a:spcPct val="90000"/>
                        </a:lnSpc>
                        <a:buNone/>
                      </a:pPr>
                      <a:r>
                        <a:rPr lang="en-US" altLang="zh-CN" sz="1800">
                          <a:latin typeface="微软雅黑" panose="020B0503020204020204" pitchFamily="34" charset="-122"/>
                          <a:ea typeface="微软雅黑" panose="020B0503020204020204" pitchFamily="34" charset="-122"/>
                        </a:rPr>
                        <a:t>3</a:t>
                      </a:r>
                    </a:p>
                  </a:txBody>
                  <a:tcPr anchor="ctr"/>
                </a:tc>
                <a:tc>
                  <a:txBody>
                    <a:bodyPr/>
                    <a:lstStyle/>
                    <a:p>
                      <a:pPr algn="ctr">
                        <a:lnSpc>
                          <a:spcPct val="90000"/>
                        </a:lnSpc>
                        <a:buNone/>
                      </a:pPr>
                      <a:r>
                        <a:rPr lang="en-US" altLang="zh-CN" sz="1800">
                          <a:latin typeface="微软雅黑" panose="020B0503020204020204" pitchFamily="34" charset="-122"/>
                          <a:ea typeface="微软雅黑" panose="020B0503020204020204" pitchFamily="34" charset="-122"/>
                        </a:rPr>
                        <a:t>4</a:t>
                      </a:r>
                    </a:p>
                  </a:txBody>
                  <a:tcPr anchor="ctr"/>
                </a:tc>
                <a:tc>
                  <a:txBody>
                    <a:bodyPr/>
                    <a:lstStyle/>
                    <a:p>
                      <a:pPr algn="ctr">
                        <a:lnSpc>
                          <a:spcPct val="90000"/>
                        </a:lnSpc>
                        <a:buNone/>
                      </a:pPr>
                      <a:r>
                        <a:rPr lang="en-US" altLang="zh-CN" sz="1800">
                          <a:latin typeface="微软雅黑" panose="020B0503020204020204" pitchFamily="34" charset="-122"/>
                          <a:ea typeface="微软雅黑" panose="020B0503020204020204" pitchFamily="34" charset="-122"/>
                        </a:rPr>
                        <a:t>5</a:t>
                      </a:r>
                    </a:p>
                  </a:txBody>
                  <a:tcPr anchor="ctr"/>
                </a:tc>
                <a:tc>
                  <a:txBody>
                    <a:bodyPr/>
                    <a:lstStyle/>
                    <a:p>
                      <a:pPr algn="ctr">
                        <a:lnSpc>
                          <a:spcPct val="90000"/>
                        </a:lnSpc>
                        <a:buNone/>
                      </a:pPr>
                      <a:r>
                        <a:rPr lang="en-US" altLang="zh-CN" sz="1800">
                          <a:latin typeface="微软雅黑" panose="020B0503020204020204" pitchFamily="34" charset="-122"/>
                          <a:ea typeface="微软雅黑" panose="020B0503020204020204" pitchFamily="34" charset="-122"/>
                        </a:rPr>
                        <a:t>6</a:t>
                      </a:r>
                    </a:p>
                  </a:txBody>
                  <a:tcPr anchor="ctr"/>
                </a:tc>
                <a:tc>
                  <a:txBody>
                    <a:bodyPr/>
                    <a:lstStyle/>
                    <a:p>
                      <a:pPr algn="ctr">
                        <a:lnSpc>
                          <a:spcPct val="90000"/>
                        </a:lnSpc>
                        <a:buNone/>
                      </a:pPr>
                      <a:r>
                        <a:rPr lang="en-US" altLang="zh-CN" sz="1800">
                          <a:latin typeface="微软雅黑" panose="020B0503020204020204" pitchFamily="34" charset="-122"/>
                          <a:ea typeface="微软雅黑" panose="020B0503020204020204" pitchFamily="34" charset="-122"/>
                        </a:rPr>
                        <a:t>7</a:t>
                      </a:r>
                    </a:p>
                  </a:txBody>
                  <a:tcPr anchor="ctr"/>
                </a:tc>
                <a:tc>
                  <a:txBody>
                    <a:bodyPr/>
                    <a:lstStyle/>
                    <a:p>
                      <a:pPr algn="ctr">
                        <a:lnSpc>
                          <a:spcPct val="90000"/>
                        </a:lnSpc>
                        <a:buNone/>
                      </a:pPr>
                      <a:r>
                        <a:rPr lang="en-US" altLang="zh-CN" sz="1800">
                          <a:latin typeface="微软雅黑" panose="020B0503020204020204" pitchFamily="34" charset="-122"/>
                          <a:ea typeface="微软雅黑" panose="020B0503020204020204" pitchFamily="34" charset="-122"/>
                        </a:rPr>
                        <a:t>8</a:t>
                      </a:r>
                    </a:p>
                  </a:txBody>
                  <a:tcPr anchor="ctr"/>
                </a:tc>
                <a:extLst>
                  <a:ext uri="{0D108BD9-81ED-4DB2-BD59-A6C34878D82A}">
                    <a16:rowId xmlns:a16="http://schemas.microsoft.com/office/drawing/2014/main" val="10000"/>
                  </a:ext>
                </a:extLst>
              </a:tr>
              <a:tr h="363220">
                <a:tc rowSpan="5">
                  <a:txBody>
                    <a:bodyPr/>
                    <a:lstStyle/>
                    <a:p>
                      <a:pPr marL="0" algn="ctr" defTabSz="1219200" rtl="0" eaLnBrk="1" latinLnBrk="0" hangingPunct="1">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原因</a:t>
                      </a:r>
                    </a:p>
                  </a:txBody>
                  <a:tcPr anchor="ctr"/>
                </a:tc>
                <a:tc>
                  <a:txBody>
                    <a:bodyPr/>
                    <a:lstStyle/>
                    <a:p>
                      <a:pPr marL="0" algn="ctr" defTabSz="1219200" rtl="0" eaLnBrk="1" latinLnBrk="0" hangingPunct="1">
                        <a:buNone/>
                      </a:pPr>
                      <a:r>
                        <a:rPr lang="en-US" sz="1800" kern="1200">
                          <a:solidFill>
                            <a:srgbClr val="595959"/>
                          </a:solidFill>
                          <a:latin typeface="微软雅黑" panose="020B0503020204020204" pitchFamily="34" charset="-122"/>
                          <a:ea typeface="微软雅黑" panose="020B0503020204020204" pitchFamily="34" charset="-122"/>
                          <a:cs typeface="+mn-cs"/>
                          <a:sym typeface="+mn-ea"/>
                        </a:rPr>
                        <a:t>c</a:t>
                      </a:r>
                      <a:r>
                        <a:rPr lang="en-US" sz="1800" kern="1200" baseline="-25000">
                          <a:solidFill>
                            <a:srgbClr val="595959"/>
                          </a:solidFill>
                          <a:latin typeface="微软雅黑" panose="020B0503020204020204" pitchFamily="34" charset="-122"/>
                          <a:ea typeface="微软雅黑" panose="020B0503020204020204" pitchFamily="34" charset="-122"/>
                          <a:cs typeface="+mn-cs"/>
                          <a:sym typeface="+mn-ea"/>
                        </a:rPr>
                        <a:t>1</a:t>
                      </a:r>
                      <a:endParaRPr lang="zh-CN" altLang="en-US" sz="1800" kern="1200" baseline="-250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Y</a:t>
                      </a:r>
                    </a:p>
                  </a:txBody>
                  <a:tcPr anchor="ctr"/>
                </a:tc>
                <a:tc>
                  <a:txBody>
                    <a:bodyPr/>
                    <a:lstStyle/>
                    <a:p>
                      <a:pPr marL="0" algn="ctr"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Y</a:t>
                      </a:r>
                    </a:p>
                  </a:txBody>
                  <a:tcPr anchor="ctr"/>
                </a:tc>
                <a:tc>
                  <a:txBody>
                    <a:bodyPr/>
                    <a:lstStyle/>
                    <a:p>
                      <a:pPr marL="0" algn="ctr"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Y</a:t>
                      </a:r>
                    </a:p>
                  </a:txBody>
                  <a:tcPr anchor="ctr"/>
                </a:tc>
                <a:tc>
                  <a:txBody>
                    <a:bodyPr/>
                    <a:lstStyle/>
                    <a:p>
                      <a:pPr marL="0" algn="ctr"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Y</a:t>
                      </a:r>
                    </a:p>
                  </a:txBody>
                  <a:tcPr anchor="ctr"/>
                </a:tc>
                <a:tc>
                  <a:txBody>
                    <a:bodyPr/>
                    <a:lstStyle/>
                    <a:p>
                      <a:pPr marL="0" algn="ctr" defTabSz="1219200" rtl="0" eaLnBrk="1" latinLnBrk="0" hangingPunct="1">
                        <a:buNone/>
                      </a:pP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10001"/>
                  </a:ext>
                </a:extLst>
              </a:tr>
              <a:tr h="339090">
                <a:tc vMerge="1">
                  <a:txBody>
                    <a:bodyPr/>
                    <a:lstStyle/>
                    <a:p>
                      <a:endParaRPr lang="zh-CN"/>
                    </a:p>
                  </a:txBody>
                  <a:tcPr anchor="ctr"/>
                </a:tc>
                <a:tc>
                  <a:txBody>
                    <a:bodyPr/>
                    <a:lstStyle/>
                    <a:p>
                      <a:pPr marL="0" algn="ctr" defTabSz="1219200" rtl="0" eaLnBrk="1" latinLnBrk="0" hangingPunct="1">
                        <a:buClrTx/>
                        <a:buSzTx/>
                        <a:buFontTx/>
                        <a:buNone/>
                      </a:pPr>
                      <a:r>
                        <a:rPr lang="en-US" sz="1800" kern="1200">
                          <a:solidFill>
                            <a:srgbClr val="595959"/>
                          </a:solidFill>
                          <a:latin typeface="微软雅黑" panose="020B0503020204020204" pitchFamily="34" charset="-122"/>
                          <a:ea typeface="微软雅黑" panose="020B0503020204020204" pitchFamily="34" charset="-122"/>
                          <a:cs typeface="+mn-cs"/>
                          <a:sym typeface="+mn-ea"/>
                        </a:rPr>
                        <a:t>c</a:t>
                      </a:r>
                      <a:r>
                        <a:rPr lang="en-US" sz="1800" kern="1200" baseline="-25000">
                          <a:solidFill>
                            <a:srgbClr val="595959"/>
                          </a:solidFill>
                          <a:latin typeface="微软雅黑" panose="020B0503020204020204" pitchFamily="34" charset="-122"/>
                          <a:ea typeface="微软雅黑" panose="020B0503020204020204" pitchFamily="34" charset="-122"/>
                          <a:cs typeface="+mn-cs"/>
                          <a:sym typeface="+mn-ea"/>
                        </a:rPr>
                        <a:t>2</a:t>
                      </a:r>
                      <a:endParaRPr lang="en-US" altLang="zh-CN" sz="1800" kern="1200" baseline="-250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endParaRPr lang="zh-CN" altLang="en-US"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Y</a:t>
                      </a:r>
                    </a:p>
                  </a:txBody>
                  <a:tcPr anchor="ctr"/>
                </a:tc>
                <a:tc>
                  <a:txBody>
                    <a:bodyPr/>
                    <a:lstStyle/>
                    <a:p>
                      <a:pPr marL="0" algn="ctr"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Y</a:t>
                      </a:r>
                    </a:p>
                  </a:txBody>
                  <a:tcPr anchor="ctr"/>
                </a:tc>
                <a:tc>
                  <a:txBody>
                    <a:bodyPr/>
                    <a:lstStyle/>
                    <a:p>
                      <a:pPr marL="0" algn="ctr"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Y</a:t>
                      </a:r>
                    </a:p>
                  </a:txBody>
                  <a:tcPr anchor="ctr"/>
                </a:tc>
                <a:tc>
                  <a:txBody>
                    <a:bodyPr/>
                    <a:lstStyle/>
                    <a:p>
                      <a:pPr marL="0" algn="ctr"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Y</a:t>
                      </a:r>
                    </a:p>
                  </a:txBody>
                  <a:tcPr anchor="ctr"/>
                </a:tc>
                <a:extLst>
                  <a:ext uri="{0D108BD9-81ED-4DB2-BD59-A6C34878D82A}">
                    <a16:rowId xmlns:a16="http://schemas.microsoft.com/office/drawing/2014/main" val="10002"/>
                  </a:ext>
                </a:extLst>
              </a:tr>
              <a:tr h="354330">
                <a:tc vMerge="1">
                  <a:txBody>
                    <a:bodyPr/>
                    <a:lstStyle/>
                    <a:p>
                      <a:endParaRPr lang="zh-CN"/>
                    </a:p>
                  </a:txBody>
                  <a:tcPr/>
                </a:tc>
                <a:tc>
                  <a:txBody>
                    <a:bodyPr/>
                    <a:lstStyle/>
                    <a:p>
                      <a:pPr marL="0" algn="ctr" defTabSz="1219200" rtl="0" eaLnBrk="1" latinLnBrk="0" hangingPunct="1">
                        <a:buClrTx/>
                        <a:buSzTx/>
                        <a:buFontTx/>
                        <a:buNone/>
                      </a:pPr>
                      <a:r>
                        <a:rPr lang="en-US" sz="1800" kern="1200">
                          <a:solidFill>
                            <a:srgbClr val="595959"/>
                          </a:solidFill>
                          <a:latin typeface="微软雅黑" panose="020B0503020204020204" pitchFamily="34" charset="-122"/>
                          <a:ea typeface="微软雅黑" panose="020B0503020204020204" pitchFamily="34" charset="-122"/>
                          <a:cs typeface="+mn-cs"/>
                          <a:sym typeface="+mn-ea"/>
                        </a:rPr>
                        <a:t>c</a:t>
                      </a:r>
                      <a:r>
                        <a:rPr lang="en-US" sz="1800" kern="1200" baseline="-25000">
                          <a:solidFill>
                            <a:srgbClr val="595959"/>
                          </a:solidFill>
                          <a:latin typeface="微软雅黑" panose="020B0503020204020204" pitchFamily="34" charset="-122"/>
                          <a:ea typeface="微软雅黑" panose="020B0503020204020204" pitchFamily="34" charset="-122"/>
                          <a:cs typeface="+mn-cs"/>
                          <a:sym typeface="+mn-ea"/>
                        </a:rPr>
                        <a:t>3</a:t>
                      </a:r>
                      <a:endParaRPr lang="en-US" altLang="zh-CN" sz="1800" kern="1200" baseline="-250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Y</a:t>
                      </a:r>
                    </a:p>
                  </a:txBody>
                  <a:tcPr anchor="ctr"/>
                </a:tc>
                <a:tc>
                  <a:txBody>
                    <a:bodyPr/>
                    <a:lstStyle/>
                    <a:p>
                      <a:pPr marL="0" algn="ctr" defTabSz="1219200" rtl="0" eaLnBrk="1" latinLnBrk="0" hangingPunct="1">
                        <a:buNone/>
                      </a:pP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N</a:t>
                      </a:r>
                    </a:p>
                  </a:txBody>
                  <a:tcPr anchor="ctr"/>
                </a:tc>
                <a:tc>
                  <a:txBody>
                    <a:bodyPr/>
                    <a:lstStyle/>
                    <a:p>
                      <a:pPr marL="0" algn="ctr" defTabSz="1219200" rtl="0" eaLnBrk="1" latinLnBrk="0" hangingPunct="1">
                        <a:buNone/>
                      </a:pP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Y</a:t>
                      </a:r>
                    </a:p>
                  </a:txBody>
                  <a:tcPr anchor="ctr"/>
                </a:tc>
                <a:tc>
                  <a:txBody>
                    <a:bodyPr/>
                    <a:lstStyle/>
                    <a:p>
                      <a:pPr marL="0" algn="ctr" defTabSz="1219200" rtl="0" eaLnBrk="1" latinLnBrk="0" hangingPunct="1">
                        <a:buNone/>
                      </a:pP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Y</a:t>
                      </a:r>
                    </a:p>
                  </a:txBody>
                  <a:tcPr anchor="ctr"/>
                </a:tc>
                <a:tc>
                  <a:txBody>
                    <a:bodyPr/>
                    <a:lstStyle/>
                    <a:p>
                      <a:pPr marL="0" algn="ctr" defTabSz="1219200" rtl="0" eaLnBrk="1" latinLnBrk="0" hangingPunct="1">
                        <a:buNone/>
                      </a:pP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10003"/>
                  </a:ext>
                </a:extLst>
              </a:tr>
              <a:tr h="327025">
                <a:tc vMerge="1">
                  <a:txBody>
                    <a:bodyPr/>
                    <a:lstStyle/>
                    <a:p>
                      <a:endParaRPr lang="zh-CN"/>
                    </a:p>
                  </a:txBody>
                  <a:tcPr/>
                </a:tc>
                <a:tc>
                  <a:txBody>
                    <a:bodyPr/>
                    <a:lstStyle/>
                    <a:p>
                      <a:pPr marL="0" algn="ctr" defTabSz="1219200" rtl="0" eaLnBrk="1" latinLnBrk="0" hangingPunct="1">
                        <a:buClrTx/>
                        <a:buSzTx/>
                        <a:buFontTx/>
                        <a:buNone/>
                      </a:pPr>
                      <a:r>
                        <a:rPr lang="en-US" sz="1800" kern="1200">
                          <a:solidFill>
                            <a:srgbClr val="595959"/>
                          </a:solidFill>
                          <a:latin typeface="微软雅黑" panose="020B0503020204020204" pitchFamily="34" charset="-122"/>
                          <a:ea typeface="微软雅黑" panose="020B0503020204020204" pitchFamily="34" charset="-122"/>
                          <a:cs typeface="+mn-cs"/>
                          <a:sym typeface="+mn-ea"/>
                        </a:rPr>
                        <a:t>c</a:t>
                      </a:r>
                      <a:r>
                        <a:rPr lang="en-US" sz="1800" kern="1200" baseline="-25000">
                          <a:solidFill>
                            <a:srgbClr val="595959"/>
                          </a:solidFill>
                          <a:latin typeface="微软雅黑" panose="020B0503020204020204" pitchFamily="34" charset="-122"/>
                          <a:ea typeface="微软雅黑" panose="020B0503020204020204" pitchFamily="34" charset="-122"/>
                          <a:cs typeface="+mn-cs"/>
                          <a:sym typeface="+mn-ea"/>
                        </a:rPr>
                        <a:t>4</a:t>
                      </a:r>
                      <a:endParaRPr lang="en-US" altLang="zh-CN" sz="1800" kern="1200" baseline="-250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endParaRPr lang="zh-CN" altLang="en-US"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Y</a:t>
                      </a:r>
                    </a:p>
                  </a:txBody>
                  <a:tcPr anchor="ctr"/>
                </a:tc>
                <a:tc>
                  <a:txBody>
                    <a:bodyPr/>
                    <a:lstStyle/>
                    <a:p>
                      <a:pPr marL="0" algn="ctr" defTabSz="1219200" rtl="0" eaLnBrk="1" latinLnBrk="0" hangingPunct="1">
                        <a:buNone/>
                      </a:pP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N</a:t>
                      </a:r>
                    </a:p>
                  </a:txBody>
                  <a:tcPr anchor="ctr"/>
                </a:tc>
                <a:tc>
                  <a:txBody>
                    <a:bodyPr/>
                    <a:lstStyle/>
                    <a:p>
                      <a:pPr marL="0" algn="ctr" defTabSz="1219200" rtl="0" eaLnBrk="1" latinLnBrk="0" hangingPunct="1">
                        <a:buNone/>
                      </a:pP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Y</a:t>
                      </a:r>
                    </a:p>
                  </a:txBody>
                  <a:tcPr anchor="ctr"/>
                </a:tc>
                <a:tc>
                  <a:txBody>
                    <a:bodyPr/>
                    <a:lstStyle/>
                    <a:p>
                      <a:pPr marL="0" algn="ctr" defTabSz="1219200" rtl="0" eaLnBrk="1" latinLnBrk="0" hangingPunct="1">
                        <a:buNone/>
                      </a:pP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Y</a:t>
                      </a:r>
                    </a:p>
                  </a:txBody>
                  <a:tcPr anchor="ctr"/>
                </a:tc>
                <a:extLst>
                  <a:ext uri="{0D108BD9-81ED-4DB2-BD59-A6C34878D82A}">
                    <a16:rowId xmlns:a16="http://schemas.microsoft.com/office/drawing/2014/main" val="10004"/>
                  </a:ext>
                </a:extLst>
              </a:tr>
              <a:tr h="368935">
                <a:tc vMerge="1">
                  <a:txBody>
                    <a:bodyPr/>
                    <a:lstStyle/>
                    <a:p>
                      <a:endParaRPr lang="zh-CN"/>
                    </a:p>
                  </a:txBody>
                  <a:tcPr anchor="ctr"/>
                </a:tc>
                <a:tc>
                  <a:txBody>
                    <a:bodyPr/>
                    <a:lstStyle/>
                    <a:p>
                      <a:pPr marL="0" algn="ctr" defTabSz="1219200" rtl="0" eaLnBrk="1" latinLnBrk="0" hangingPunct="1">
                        <a:buClrTx/>
                        <a:buSzTx/>
                        <a:buFontTx/>
                        <a:buNone/>
                      </a:pPr>
                      <a:r>
                        <a:rPr lang="en-US" sz="1800" kern="1200">
                          <a:solidFill>
                            <a:srgbClr val="595959"/>
                          </a:solidFill>
                          <a:latin typeface="微软雅黑" panose="020B0503020204020204" pitchFamily="34" charset="-122"/>
                          <a:ea typeface="微软雅黑" panose="020B0503020204020204" pitchFamily="34" charset="-122"/>
                          <a:cs typeface="+mn-cs"/>
                          <a:sym typeface="+mn-ea"/>
                        </a:rPr>
                        <a:t>c</a:t>
                      </a:r>
                      <a:r>
                        <a:rPr lang="en-US" sz="1800" kern="1200" baseline="-25000">
                          <a:solidFill>
                            <a:srgbClr val="595959"/>
                          </a:solidFill>
                          <a:latin typeface="微软雅黑" panose="020B0503020204020204" pitchFamily="34" charset="-122"/>
                          <a:ea typeface="微软雅黑" panose="020B0503020204020204" pitchFamily="34" charset="-122"/>
                          <a:cs typeface="+mn-cs"/>
                          <a:sym typeface="+mn-ea"/>
                        </a:rPr>
                        <a:t>5</a:t>
                      </a:r>
                      <a:endParaRPr lang="en-US" altLang="zh-CN" sz="1800" kern="1200" baseline="-250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N</a:t>
                      </a:r>
                    </a:p>
                  </a:txBody>
                  <a:tcPr anchor="ctr"/>
                </a:tc>
                <a:tc>
                  <a:txBody>
                    <a:bodyPr/>
                    <a:lstStyle/>
                    <a:p>
                      <a:pPr marL="0" algn="ctr"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N</a:t>
                      </a:r>
                    </a:p>
                  </a:txBody>
                  <a:tcPr anchor="ctr"/>
                </a:tc>
                <a:tc>
                  <a:txBody>
                    <a:bodyPr/>
                    <a:lstStyle/>
                    <a:p>
                      <a:pPr marL="0" algn="ctr"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Y</a:t>
                      </a:r>
                    </a:p>
                  </a:txBody>
                  <a:tcPr anchor="ctr"/>
                </a:tc>
                <a:tc>
                  <a:txBody>
                    <a:bodyPr/>
                    <a:lstStyle/>
                    <a:p>
                      <a:pPr marL="0" algn="ctr"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Y</a:t>
                      </a:r>
                    </a:p>
                  </a:txBody>
                  <a:tcPr anchor="ctr"/>
                </a:tc>
                <a:tc>
                  <a:txBody>
                    <a:bodyPr/>
                    <a:lstStyle/>
                    <a:p>
                      <a:pPr marL="0" algn="ctr"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Y</a:t>
                      </a:r>
                    </a:p>
                  </a:txBody>
                  <a:tcPr anchor="ctr"/>
                </a:tc>
                <a:tc>
                  <a:txBody>
                    <a:bodyPr/>
                    <a:lstStyle/>
                    <a:p>
                      <a:pPr marL="0" algn="ctr"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Y</a:t>
                      </a:r>
                    </a:p>
                  </a:txBody>
                  <a:tcPr anchor="ctr"/>
                </a:tc>
                <a:tc>
                  <a:txBody>
                    <a:bodyPr/>
                    <a:lstStyle/>
                    <a:p>
                      <a:pPr marL="0" algn="ctr"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N</a:t>
                      </a:r>
                    </a:p>
                  </a:txBody>
                  <a:tcPr anchor="ctr"/>
                </a:tc>
                <a:tc>
                  <a:txBody>
                    <a:bodyPr/>
                    <a:lstStyle/>
                    <a:p>
                      <a:pPr marL="0" algn="ctr"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N</a:t>
                      </a:r>
                    </a:p>
                  </a:txBody>
                  <a:tcPr anchor="ctr"/>
                </a:tc>
                <a:extLst>
                  <a:ext uri="{0D108BD9-81ED-4DB2-BD59-A6C34878D82A}">
                    <a16:rowId xmlns:a16="http://schemas.microsoft.com/office/drawing/2014/main" val="10005"/>
                  </a:ext>
                </a:extLst>
              </a:tr>
              <a:tr h="338455">
                <a:tc rowSpan="5">
                  <a:txBody>
                    <a:bodyPr/>
                    <a:lstStyle/>
                    <a:p>
                      <a:pPr marL="0" algn="ctr" defTabSz="1219200" rtl="0" eaLnBrk="1" latinLnBrk="0" hangingPunct="1">
                        <a:buClrTx/>
                        <a:buSzTx/>
                        <a:buFontTx/>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结果</a:t>
                      </a:r>
                    </a:p>
                  </a:txBody>
                  <a:tcPr anchor="ctr"/>
                </a:tc>
                <a:tc>
                  <a:txBody>
                    <a:bodyPr/>
                    <a:lstStyle/>
                    <a:p>
                      <a:pPr marL="0" algn="ctr" defTabSz="1219200" rtl="0" eaLnBrk="1" latinLnBrk="0" hangingPunct="1">
                        <a:buClrTx/>
                        <a:buSzTx/>
                        <a:buFontTx/>
                        <a:buNone/>
                      </a:pPr>
                      <a:r>
                        <a:rPr lang="en-US" sz="1800" kern="1200">
                          <a:solidFill>
                            <a:srgbClr val="595959"/>
                          </a:solidFill>
                          <a:latin typeface="微软雅黑" panose="020B0503020204020204" pitchFamily="34" charset="-122"/>
                          <a:ea typeface="微软雅黑" panose="020B0503020204020204" pitchFamily="34" charset="-122"/>
                          <a:cs typeface="+mn-cs"/>
                          <a:sym typeface="+mn-ea"/>
                        </a:rPr>
                        <a:t>e</a:t>
                      </a:r>
                      <a:r>
                        <a:rPr lang="en-US" sz="1800" kern="1200" baseline="-25000">
                          <a:solidFill>
                            <a:srgbClr val="595959"/>
                          </a:solidFill>
                          <a:latin typeface="微软雅黑" panose="020B0503020204020204" pitchFamily="34" charset="-122"/>
                          <a:ea typeface="微软雅黑" panose="020B0503020204020204" pitchFamily="34" charset="-122"/>
                          <a:cs typeface="+mn-cs"/>
                          <a:sym typeface="+mn-ea"/>
                        </a:rPr>
                        <a:t>1</a:t>
                      </a:r>
                      <a:endParaRPr lang="en-US" altLang="zh-CN" sz="1800" kern="1200" baseline="-250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a:t>
                      </a:r>
                    </a:p>
                  </a:txBody>
                  <a:tcPr anchor="ctr"/>
                </a:tc>
                <a:tc>
                  <a:txBody>
                    <a:bodyPr/>
                    <a:lstStyle/>
                    <a:p>
                      <a:pPr marL="0" algn="ctr" defTabSz="1219200" rtl="0" eaLnBrk="1" latinLnBrk="0" hangingPunct="1">
                        <a:buNone/>
                      </a:pP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r>
                        <a:rPr lang="zh-CN" altLang="en-US" sz="1800" kern="1200">
                          <a:solidFill>
                            <a:srgbClr val="595959"/>
                          </a:solidFill>
                          <a:latin typeface="微软雅黑" panose="020B0503020204020204" pitchFamily="34" charset="-122"/>
                          <a:ea typeface="微软雅黑" panose="020B0503020204020204" pitchFamily="34" charset="-122"/>
                          <a:cs typeface="+mn-cs"/>
                          <a:sym typeface="+mn-ea"/>
                        </a:rPr>
                        <a:t>√</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10006"/>
                  </a:ext>
                </a:extLst>
              </a:tr>
              <a:tr h="347345">
                <a:tc vMerge="1">
                  <a:txBody>
                    <a:bodyPr/>
                    <a:lstStyle/>
                    <a:p>
                      <a:endParaRPr lang="zh-CN"/>
                    </a:p>
                  </a:txBody>
                  <a:tcPr anchor="ctr"/>
                </a:tc>
                <a:tc>
                  <a:txBody>
                    <a:bodyPr/>
                    <a:lstStyle/>
                    <a:p>
                      <a:pPr marL="0" algn="ctr" defTabSz="1219200" rtl="0" eaLnBrk="1" latinLnBrk="0" hangingPunct="1">
                        <a:buClrTx/>
                        <a:buSzTx/>
                        <a:buFontTx/>
                        <a:buNone/>
                      </a:pPr>
                      <a:r>
                        <a:rPr lang="en-US" sz="1800" kern="1200">
                          <a:solidFill>
                            <a:srgbClr val="595959"/>
                          </a:solidFill>
                          <a:latin typeface="微软雅黑" panose="020B0503020204020204" pitchFamily="34" charset="-122"/>
                          <a:ea typeface="微软雅黑" panose="020B0503020204020204" pitchFamily="34" charset="-122"/>
                          <a:cs typeface="+mn-cs"/>
                          <a:sym typeface="+mn-ea"/>
                        </a:rPr>
                        <a:t>e</a:t>
                      </a:r>
                      <a:r>
                        <a:rPr lang="en-US" sz="1800" kern="1200" baseline="-25000">
                          <a:solidFill>
                            <a:srgbClr val="595959"/>
                          </a:solidFill>
                          <a:latin typeface="微软雅黑" panose="020B0503020204020204" pitchFamily="34" charset="-122"/>
                          <a:ea typeface="微软雅黑" panose="020B0503020204020204" pitchFamily="34" charset="-122"/>
                          <a:cs typeface="+mn-cs"/>
                          <a:sym typeface="+mn-ea"/>
                        </a:rPr>
                        <a:t>2</a:t>
                      </a:r>
                      <a:endParaRPr lang="en-US" altLang="zh-CN" sz="1800" kern="1200" baseline="-250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endParaRPr lang="zh-CN" altLang="en-US"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r>
                        <a:rPr lang="zh-CN" altLang="en-US" sz="1800" kern="1200">
                          <a:solidFill>
                            <a:srgbClr val="595959"/>
                          </a:solidFill>
                          <a:latin typeface="微软雅黑" panose="020B0503020204020204" pitchFamily="34" charset="-122"/>
                          <a:ea typeface="微软雅黑" panose="020B0503020204020204" pitchFamily="34" charset="-122"/>
                          <a:cs typeface="+mn-cs"/>
                          <a:sym typeface="+mn-ea"/>
                        </a:rPr>
                        <a:t>√</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r>
                        <a:rPr lang="zh-CN" altLang="en-US" sz="1800" kern="1200">
                          <a:solidFill>
                            <a:srgbClr val="595959"/>
                          </a:solidFill>
                          <a:latin typeface="微软雅黑" panose="020B0503020204020204" pitchFamily="34" charset="-122"/>
                          <a:ea typeface="微软雅黑" panose="020B0503020204020204" pitchFamily="34" charset="-122"/>
                          <a:cs typeface="+mn-cs"/>
                          <a:sym typeface="+mn-ea"/>
                        </a:rPr>
                        <a:t>√</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10007"/>
                  </a:ext>
                </a:extLst>
              </a:tr>
              <a:tr h="314325">
                <a:tc vMerge="1">
                  <a:txBody>
                    <a:bodyPr/>
                    <a:lstStyle/>
                    <a:p>
                      <a:endParaRPr lang="zh-CN"/>
                    </a:p>
                  </a:txBody>
                  <a:tcPr anchor="ctr"/>
                </a:tc>
                <a:tc>
                  <a:txBody>
                    <a:bodyPr/>
                    <a:lstStyle/>
                    <a:p>
                      <a:pPr marL="0" algn="ctr" defTabSz="1219200" rtl="0" eaLnBrk="1" latinLnBrk="0" hangingPunct="1">
                        <a:buClrTx/>
                        <a:buSzTx/>
                        <a:buFontTx/>
                        <a:buNone/>
                      </a:pPr>
                      <a:r>
                        <a:rPr lang="en-US" sz="1800" kern="1200">
                          <a:solidFill>
                            <a:srgbClr val="595959"/>
                          </a:solidFill>
                          <a:latin typeface="微软雅黑" panose="020B0503020204020204" pitchFamily="34" charset="-122"/>
                          <a:ea typeface="微软雅黑" panose="020B0503020204020204" pitchFamily="34" charset="-122"/>
                          <a:cs typeface="+mn-cs"/>
                          <a:sym typeface="+mn-ea"/>
                        </a:rPr>
                        <a:t>e</a:t>
                      </a:r>
                      <a:r>
                        <a:rPr lang="en-US" sz="1800" kern="1200" baseline="-25000">
                          <a:solidFill>
                            <a:srgbClr val="595959"/>
                          </a:solidFill>
                          <a:latin typeface="微软雅黑" panose="020B0503020204020204" pitchFamily="34" charset="-122"/>
                          <a:ea typeface="微软雅黑" panose="020B0503020204020204" pitchFamily="34" charset="-122"/>
                          <a:cs typeface="+mn-cs"/>
                          <a:sym typeface="+mn-ea"/>
                        </a:rPr>
                        <a:t>3</a:t>
                      </a:r>
                      <a:endParaRPr lang="en-US" altLang="zh-CN" sz="1800" kern="1200" baseline="-250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endParaRPr lang="zh-CN" altLang="en-US"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r>
                        <a:rPr lang="zh-CN" altLang="en-US" sz="1800" kern="1200">
                          <a:solidFill>
                            <a:srgbClr val="595959"/>
                          </a:solidFill>
                          <a:latin typeface="微软雅黑" panose="020B0503020204020204" pitchFamily="34" charset="-122"/>
                          <a:ea typeface="微软雅黑" panose="020B0503020204020204" pitchFamily="34" charset="-122"/>
                          <a:cs typeface="+mn-cs"/>
                          <a:sym typeface="+mn-ea"/>
                        </a:rPr>
                        <a:t>√</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r>
                        <a:rPr lang="zh-CN" altLang="en-US" sz="1800" kern="1200">
                          <a:solidFill>
                            <a:srgbClr val="595959"/>
                          </a:solidFill>
                          <a:latin typeface="微软雅黑" panose="020B0503020204020204" pitchFamily="34" charset="-122"/>
                          <a:ea typeface="微软雅黑" panose="020B0503020204020204" pitchFamily="34" charset="-122"/>
                          <a:cs typeface="+mn-cs"/>
                          <a:sym typeface="+mn-ea"/>
                        </a:rPr>
                        <a:t>√</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r>
                        <a:rPr lang="zh-CN" altLang="en-US" sz="1800" kern="1200">
                          <a:solidFill>
                            <a:srgbClr val="595959"/>
                          </a:solidFill>
                          <a:latin typeface="微软雅黑" panose="020B0503020204020204" pitchFamily="34" charset="-122"/>
                          <a:ea typeface="微软雅黑" panose="020B0503020204020204" pitchFamily="34" charset="-122"/>
                          <a:cs typeface="+mn-cs"/>
                          <a:sym typeface="+mn-ea"/>
                        </a:rPr>
                        <a:t>√</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r>
                        <a:rPr lang="zh-CN" altLang="en-US" sz="1800" kern="1200">
                          <a:solidFill>
                            <a:srgbClr val="595959"/>
                          </a:solidFill>
                          <a:latin typeface="微软雅黑" panose="020B0503020204020204" pitchFamily="34" charset="-122"/>
                          <a:ea typeface="微软雅黑" panose="020B0503020204020204" pitchFamily="34" charset="-122"/>
                          <a:cs typeface="+mn-cs"/>
                          <a:sym typeface="+mn-ea"/>
                        </a:rPr>
                        <a:t>√</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10008"/>
                  </a:ext>
                </a:extLst>
              </a:tr>
              <a:tr h="368300">
                <a:tc vMerge="1">
                  <a:txBody>
                    <a:bodyPr/>
                    <a:lstStyle/>
                    <a:p>
                      <a:endParaRPr lang="zh-CN"/>
                    </a:p>
                  </a:txBody>
                  <a:tcPr/>
                </a:tc>
                <a:tc>
                  <a:txBody>
                    <a:bodyPr/>
                    <a:lstStyle/>
                    <a:p>
                      <a:pPr marL="0" algn="ctr" defTabSz="1219200" rtl="0" eaLnBrk="1" latinLnBrk="0" hangingPunct="1">
                        <a:buClrTx/>
                        <a:buSzTx/>
                        <a:buFontTx/>
                        <a:buNone/>
                      </a:pPr>
                      <a:r>
                        <a:rPr lang="en-US" sz="1800" kern="1200">
                          <a:solidFill>
                            <a:srgbClr val="595959"/>
                          </a:solidFill>
                          <a:latin typeface="微软雅黑" panose="020B0503020204020204" pitchFamily="34" charset="-122"/>
                          <a:ea typeface="微软雅黑" panose="020B0503020204020204" pitchFamily="34" charset="-122"/>
                          <a:cs typeface="+mn-cs"/>
                          <a:sym typeface="+mn-ea"/>
                        </a:rPr>
                        <a:t>e</a:t>
                      </a:r>
                      <a:r>
                        <a:rPr lang="en-US" sz="1800" kern="1200" baseline="-25000">
                          <a:solidFill>
                            <a:srgbClr val="595959"/>
                          </a:solidFill>
                          <a:latin typeface="微软雅黑" panose="020B0503020204020204" pitchFamily="34" charset="-122"/>
                          <a:ea typeface="微软雅黑" panose="020B0503020204020204" pitchFamily="34" charset="-122"/>
                          <a:cs typeface="+mn-cs"/>
                          <a:sym typeface="+mn-ea"/>
                        </a:rPr>
                        <a:t>4</a:t>
                      </a:r>
                      <a:endParaRPr lang="en-US" altLang="zh-CN" sz="1800" kern="1200" baseline="-250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endParaRPr lang="zh-CN" altLang="en-US"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r>
                        <a:rPr lang="zh-CN" altLang="en-US" sz="1800" kern="1200">
                          <a:solidFill>
                            <a:srgbClr val="595959"/>
                          </a:solidFill>
                          <a:latin typeface="微软雅黑" panose="020B0503020204020204" pitchFamily="34" charset="-122"/>
                          <a:ea typeface="微软雅黑" panose="020B0503020204020204" pitchFamily="34" charset="-122"/>
                          <a:cs typeface="+mn-cs"/>
                          <a:sym typeface="+mn-ea"/>
                        </a:rPr>
                        <a:t>√</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r>
                        <a:rPr lang="zh-CN" altLang="en-US" sz="1800" kern="1200">
                          <a:solidFill>
                            <a:srgbClr val="595959"/>
                          </a:solidFill>
                          <a:latin typeface="微软雅黑" panose="020B0503020204020204" pitchFamily="34" charset="-122"/>
                          <a:ea typeface="微软雅黑" panose="020B0503020204020204" pitchFamily="34" charset="-122"/>
                          <a:cs typeface="+mn-cs"/>
                          <a:sym typeface="+mn-ea"/>
                        </a:rPr>
                        <a:t>√</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10009"/>
                  </a:ext>
                </a:extLst>
              </a:tr>
              <a:tr h="314325">
                <a:tc vMerge="1">
                  <a:txBody>
                    <a:bodyPr/>
                    <a:lstStyle/>
                    <a:p>
                      <a:endParaRPr lang="zh-CN"/>
                    </a:p>
                  </a:txBody>
                  <a:tcPr anchor="ctr"/>
                </a:tc>
                <a:tc>
                  <a:txBody>
                    <a:bodyPr/>
                    <a:lstStyle/>
                    <a:p>
                      <a:pPr marL="0" algn="ctr" defTabSz="1219200" rtl="0" eaLnBrk="1" latinLnBrk="0" hangingPunct="1">
                        <a:buClrTx/>
                        <a:buSzTx/>
                        <a:buFontTx/>
                        <a:buNone/>
                      </a:pPr>
                      <a:r>
                        <a:rPr lang="en-US" sz="1800" kern="1200">
                          <a:solidFill>
                            <a:srgbClr val="595959"/>
                          </a:solidFill>
                          <a:latin typeface="微软雅黑" panose="020B0503020204020204" pitchFamily="34" charset="-122"/>
                          <a:ea typeface="微软雅黑" panose="020B0503020204020204" pitchFamily="34" charset="-122"/>
                          <a:cs typeface="+mn-cs"/>
                          <a:sym typeface="+mn-ea"/>
                        </a:rPr>
                        <a:t>e</a:t>
                      </a:r>
                      <a:r>
                        <a:rPr lang="en-US" sz="1800" kern="1200" baseline="-25000">
                          <a:solidFill>
                            <a:srgbClr val="595959"/>
                          </a:solidFill>
                          <a:latin typeface="微软雅黑" panose="020B0503020204020204" pitchFamily="34" charset="-122"/>
                          <a:ea typeface="微软雅黑" panose="020B0503020204020204" pitchFamily="34" charset="-122"/>
                          <a:cs typeface="+mn-cs"/>
                          <a:sym typeface="+mn-ea"/>
                        </a:rPr>
                        <a:t>5</a:t>
                      </a:r>
                      <a:endParaRPr lang="en-US" altLang="zh-CN" sz="1800" kern="1200" baseline="-250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endParaRPr lang="zh-CN" altLang="en-US"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r>
                        <a:rPr lang="zh-CN" altLang="en-US" sz="1800" kern="1200">
                          <a:solidFill>
                            <a:srgbClr val="595959"/>
                          </a:solidFill>
                          <a:latin typeface="微软雅黑" panose="020B0503020204020204" pitchFamily="34" charset="-122"/>
                          <a:ea typeface="微软雅黑" panose="020B0503020204020204" pitchFamily="34" charset="-122"/>
                          <a:cs typeface="+mn-cs"/>
                          <a:sym typeface="+mn-ea"/>
                        </a:rPr>
                        <a:t>√</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r>
                        <a:rPr lang="zh-CN" altLang="en-US" sz="1800" kern="1200" dirty="0">
                          <a:solidFill>
                            <a:srgbClr val="595959"/>
                          </a:solidFill>
                          <a:latin typeface="微软雅黑" panose="020B0503020204020204" pitchFamily="34" charset="-122"/>
                          <a:ea typeface="微软雅黑" panose="020B0503020204020204" pitchFamily="34" charset="-122"/>
                          <a:cs typeface="+mn-cs"/>
                          <a:sym typeface="+mn-ea"/>
                        </a:rPr>
                        <a:t>√</a:t>
                      </a:r>
                      <a:endParaRPr lang="en-US" altLang="zh-CN" sz="1800" kern="1200" dirty="0">
                        <a:solidFill>
                          <a:srgbClr val="595959"/>
                        </a:solidFill>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10010"/>
                  </a:ext>
                </a:extLst>
              </a:tr>
            </a:tbl>
          </a:graphicData>
        </a:graphic>
      </p:graphicFrame>
      <p:sp>
        <p:nvSpPr>
          <p:cNvPr id="3" name="Title 1">
            <a:extLst>
              <a:ext uri="{FF2B5EF4-FFF2-40B4-BE49-F238E27FC236}">
                <a16:creationId xmlns:a16="http://schemas.microsoft.com/office/drawing/2014/main" id="{52C62107-97EE-3A9B-5A2C-5665CE56B4DD}"/>
              </a:ext>
            </a:extLst>
          </p:cNvPr>
          <p:cNvSpPr txBox="1"/>
          <p:nvPr/>
        </p:nvSpPr>
        <p:spPr>
          <a:xfrm>
            <a:off x="1039559" y="189794"/>
            <a:ext cx="8799647"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2.3.</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	实例二：零食自动售货机售货情况的因果图与决策表绘制</a:t>
            </a: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35"/>
          <p:cNvSpPr txBox="1">
            <a:spLocks noChangeArrowheads="1"/>
          </p:cNvSpPr>
          <p:nvPr/>
        </p:nvSpPr>
        <p:spPr bwMode="auto">
          <a:xfrm>
            <a:off x="4207510" y="907415"/>
            <a:ext cx="3950335" cy="579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no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buClrTx/>
              <a:buSzTx/>
              <a:buFontTx/>
            </a:pPr>
            <a:r>
              <a:rPr lang="zh-CN" altLang="en-US" sz="1800" dirty="0">
                <a:solidFill>
                  <a:srgbClr val="0070C0"/>
                </a:solidFill>
                <a:latin typeface="微软雅黑" panose="020B0503020204020204" pitchFamily="34" charset="-122"/>
                <a:ea typeface="微软雅黑" panose="020B0503020204020204" pitchFamily="34" charset="-122"/>
                <a:sym typeface="+mn-ea"/>
              </a:rPr>
              <a:t>简化后的零食自动售货机的决策表</a:t>
            </a:r>
            <a:endParaRPr lang="zh-CN" altLang="en-US" sz="1800" dirty="0">
              <a:solidFill>
                <a:srgbClr val="0070C0"/>
              </a:solidFill>
              <a:latin typeface="微软雅黑" panose="020B0503020204020204" pitchFamily="34" charset="-122"/>
              <a:ea typeface="微软雅黑" panose="020B0503020204020204" pitchFamily="34" charset="-122"/>
            </a:endParaRPr>
          </a:p>
        </p:txBody>
      </p:sp>
      <p:graphicFrame>
        <p:nvGraphicFramePr>
          <p:cNvPr id="2" name="表格 1"/>
          <p:cNvGraphicFramePr/>
          <p:nvPr>
            <p:custDataLst>
              <p:tags r:id="rId1"/>
            </p:custDataLst>
          </p:nvPr>
        </p:nvGraphicFramePr>
        <p:xfrm>
          <a:off x="2729865" y="1557655"/>
          <a:ext cx="6729732" cy="4215765"/>
        </p:xfrm>
        <a:graphic>
          <a:graphicData uri="http://schemas.openxmlformats.org/drawingml/2006/table">
            <a:tbl>
              <a:tblPr firstRow="1" bandRow="1">
                <a:tableStyleId>{5C22544A-7EE6-4342-B048-85BDC9FD1C3A}</a:tableStyleId>
              </a:tblPr>
              <a:tblGrid>
                <a:gridCol w="1121410">
                  <a:extLst>
                    <a:ext uri="{9D8B030D-6E8A-4147-A177-3AD203B41FA5}">
                      <a16:colId xmlns:a16="http://schemas.microsoft.com/office/drawing/2014/main" val="20000"/>
                    </a:ext>
                  </a:extLst>
                </a:gridCol>
                <a:gridCol w="814705">
                  <a:extLst>
                    <a:ext uri="{9D8B030D-6E8A-4147-A177-3AD203B41FA5}">
                      <a16:colId xmlns:a16="http://schemas.microsoft.com/office/drawing/2014/main" val="20001"/>
                    </a:ext>
                  </a:extLst>
                </a:gridCol>
                <a:gridCol w="799652">
                  <a:extLst>
                    <a:ext uri="{9D8B030D-6E8A-4147-A177-3AD203B41FA5}">
                      <a16:colId xmlns:a16="http://schemas.microsoft.com/office/drawing/2014/main" val="20002"/>
                    </a:ext>
                  </a:extLst>
                </a:gridCol>
                <a:gridCol w="767421">
                  <a:extLst>
                    <a:ext uri="{9D8B030D-6E8A-4147-A177-3AD203B41FA5}">
                      <a16:colId xmlns:a16="http://schemas.microsoft.com/office/drawing/2014/main" val="20003"/>
                    </a:ext>
                  </a:extLst>
                </a:gridCol>
                <a:gridCol w="754349">
                  <a:extLst>
                    <a:ext uri="{9D8B030D-6E8A-4147-A177-3AD203B41FA5}">
                      <a16:colId xmlns:a16="http://schemas.microsoft.com/office/drawing/2014/main" val="20004"/>
                    </a:ext>
                  </a:extLst>
                </a:gridCol>
                <a:gridCol w="812627">
                  <a:extLst>
                    <a:ext uri="{9D8B030D-6E8A-4147-A177-3AD203B41FA5}">
                      <a16:colId xmlns:a16="http://schemas.microsoft.com/office/drawing/2014/main" val="20005"/>
                    </a:ext>
                  </a:extLst>
                </a:gridCol>
                <a:gridCol w="826244">
                  <a:extLst>
                    <a:ext uri="{9D8B030D-6E8A-4147-A177-3AD203B41FA5}">
                      <a16:colId xmlns:a16="http://schemas.microsoft.com/office/drawing/2014/main" val="20006"/>
                    </a:ext>
                  </a:extLst>
                </a:gridCol>
                <a:gridCol w="833324">
                  <a:extLst>
                    <a:ext uri="{9D8B030D-6E8A-4147-A177-3AD203B41FA5}">
                      <a16:colId xmlns:a16="http://schemas.microsoft.com/office/drawing/2014/main" val="20007"/>
                    </a:ext>
                  </a:extLst>
                </a:gridCol>
              </a:tblGrid>
              <a:tr h="552450">
                <a:tc gridSpan="2">
                  <a:txBody>
                    <a:bodyPr/>
                    <a:lstStyle/>
                    <a:p>
                      <a:pPr algn="ctr">
                        <a:lnSpc>
                          <a:spcPct val="90000"/>
                        </a:lnSpc>
                        <a:buNone/>
                      </a:pPr>
                      <a:r>
                        <a:rPr lang="zh-CN" altLang="en-US" sz="1800" b="1">
                          <a:latin typeface="微软雅黑" panose="020B0503020204020204" pitchFamily="34" charset="-122"/>
                          <a:ea typeface="微软雅黑" panose="020B0503020204020204" pitchFamily="34" charset="-122"/>
                        </a:rPr>
                        <a:t>原因与结果</a:t>
                      </a:r>
                    </a:p>
                  </a:txBody>
                  <a:tcPr anchor="ctr"/>
                </a:tc>
                <a:tc hMerge="1">
                  <a:txBody>
                    <a:bodyPr/>
                    <a:lstStyle/>
                    <a:p>
                      <a:endParaRPr lang="zh-CN"/>
                    </a:p>
                  </a:txBody>
                  <a:tcPr anchor="ctr"/>
                </a:tc>
                <a:tc>
                  <a:txBody>
                    <a:bodyPr/>
                    <a:lstStyle/>
                    <a:p>
                      <a:pPr algn="ctr">
                        <a:lnSpc>
                          <a:spcPct val="90000"/>
                        </a:lnSpc>
                        <a:buNone/>
                      </a:pPr>
                      <a:r>
                        <a:rPr lang="en-US" altLang="zh-CN" sz="1800">
                          <a:latin typeface="微软雅黑" panose="020B0503020204020204" pitchFamily="34" charset="-122"/>
                          <a:ea typeface="微软雅黑" panose="020B0503020204020204" pitchFamily="34" charset="-122"/>
                        </a:rPr>
                        <a:t>1</a:t>
                      </a:r>
                    </a:p>
                  </a:txBody>
                  <a:tcPr anchor="ctr"/>
                </a:tc>
                <a:tc>
                  <a:txBody>
                    <a:bodyPr/>
                    <a:lstStyle/>
                    <a:p>
                      <a:pPr algn="ctr">
                        <a:lnSpc>
                          <a:spcPct val="90000"/>
                        </a:lnSpc>
                        <a:buNone/>
                      </a:pPr>
                      <a:r>
                        <a:rPr lang="en-US" altLang="zh-CN" sz="1800">
                          <a:latin typeface="微软雅黑" panose="020B0503020204020204" pitchFamily="34" charset="-122"/>
                          <a:ea typeface="微软雅黑" panose="020B0503020204020204" pitchFamily="34" charset="-122"/>
                        </a:rPr>
                        <a:t>2</a:t>
                      </a:r>
                    </a:p>
                  </a:txBody>
                  <a:tcPr anchor="ctr"/>
                </a:tc>
                <a:tc>
                  <a:txBody>
                    <a:bodyPr/>
                    <a:lstStyle/>
                    <a:p>
                      <a:pPr algn="ctr">
                        <a:lnSpc>
                          <a:spcPct val="90000"/>
                        </a:lnSpc>
                        <a:buNone/>
                      </a:pPr>
                      <a:r>
                        <a:rPr lang="en-US" altLang="zh-CN" sz="1800">
                          <a:latin typeface="微软雅黑" panose="020B0503020204020204" pitchFamily="34" charset="-122"/>
                          <a:ea typeface="微软雅黑" panose="020B0503020204020204" pitchFamily="34" charset="-122"/>
                        </a:rPr>
                        <a:t>3</a:t>
                      </a:r>
                    </a:p>
                  </a:txBody>
                  <a:tcPr anchor="ctr"/>
                </a:tc>
                <a:tc>
                  <a:txBody>
                    <a:bodyPr/>
                    <a:lstStyle/>
                    <a:p>
                      <a:pPr algn="ctr">
                        <a:lnSpc>
                          <a:spcPct val="90000"/>
                        </a:lnSpc>
                        <a:buNone/>
                      </a:pPr>
                      <a:r>
                        <a:rPr lang="en-US" altLang="zh-CN" sz="1800">
                          <a:latin typeface="微软雅黑" panose="020B0503020204020204" pitchFamily="34" charset="-122"/>
                          <a:ea typeface="微软雅黑" panose="020B0503020204020204" pitchFamily="34" charset="-122"/>
                        </a:rPr>
                        <a:t>4</a:t>
                      </a:r>
                    </a:p>
                  </a:txBody>
                  <a:tcPr anchor="ctr"/>
                </a:tc>
                <a:tc>
                  <a:txBody>
                    <a:bodyPr/>
                    <a:lstStyle/>
                    <a:p>
                      <a:pPr algn="ctr">
                        <a:lnSpc>
                          <a:spcPct val="90000"/>
                        </a:lnSpc>
                        <a:buNone/>
                      </a:pPr>
                      <a:r>
                        <a:rPr lang="en-US" altLang="zh-CN" sz="1800">
                          <a:latin typeface="微软雅黑" panose="020B0503020204020204" pitchFamily="34" charset="-122"/>
                          <a:ea typeface="微软雅黑" panose="020B0503020204020204" pitchFamily="34" charset="-122"/>
                        </a:rPr>
                        <a:t>5</a:t>
                      </a:r>
                    </a:p>
                  </a:txBody>
                  <a:tcPr anchor="ctr"/>
                </a:tc>
                <a:tc>
                  <a:txBody>
                    <a:bodyPr/>
                    <a:lstStyle/>
                    <a:p>
                      <a:pPr algn="ctr">
                        <a:lnSpc>
                          <a:spcPct val="90000"/>
                        </a:lnSpc>
                        <a:buNone/>
                      </a:pPr>
                      <a:r>
                        <a:rPr lang="en-US" altLang="zh-CN" sz="1800">
                          <a:latin typeface="微软雅黑" panose="020B0503020204020204" pitchFamily="34" charset="-122"/>
                          <a:ea typeface="微软雅黑" panose="020B0503020204020204" pitchFamily="34" charset="-122"/>
                        </a:rPr>
                        <a:t>6</a:t>
                      </a:r>
                    </a:p>
                  </a:txBody>
                  <a:tcPr anchor="ctr"/>
                </a:tc>
                <a:extLst>
                  <a:ext uri="{0D108BD9-81ED-4DB2-BD59-A6C34878D82A}">
                    <a16:rowId xmlns:a16="http://schemas.microsoft.com/office/drawing/2014/main" val="10000"/>
                  </a:ext>
                </a:extLst>
              </a:tr>
              <a:tr h="363220">
                <a:tc rowSpan="5">
                  <a:txBody>
                    <a:bodyPr/>
                    <a:lstStyle/>
                    <a:p>
                      <a:pPr marL="0" algn="ctr" defTabSz="1219200" rtl="0" eaLnBrk="1" latinLnBrk="0" hangingPunct="1">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原因</a:t>
                      </a:r>
                    </a:p>
                  </a:txBody>
                  <a:tcPr anchor="ctr"/>
                </a:tc>
                <a:tc>
                  <a:txBody>
                    <a:bodyPr/>
                    <a:lstStyle/>
                    <a:p>
                      <a:pPr marL="0" algn="ctr" defTabSz="1219200" rtl="0" eaLnBrk="1" latinLnBrk="0" hangingPunct="1">
                        <a:buNone/>
                      </a:pPr>
                      <a:r>
                        <a:rPr lang="en-US" sz="1800" kern="1200">
                          <a:solidFill>
                            <a:srgbClr val="595959"/>
                          </a:solidFill>
                          <a:latin typeface="微软雅黑" panose="020B0503020204020204" pitchFamily="34" charset="-122"/>
                          <a:ea typeface="微软雅黑" panose="020B0503020204020204" pitchFamily="34" charset="-122"/>
                          <a:cs typeface="+mn-cs"/>
                          <a:sym typeface="+mn-ea"/>
                        </a:rPr>
                        <a:t>c</a:t>
                      </a:r>
                      <a:r>
                        <a:rPr lang="en-US" sz="1800" kern="1200" baseline="-25000">
                          <a:solidFill>
                            <a:srgbClr val="595959"/>
                          </a:solidFill>
                          <a:latin typeface="微软雅黑" panose="020B0503020204020204" pitchFamily="34" charset="-122"/>
                          <a:ea typeface="微软雅黑" panose="020B0503020204020204" pitchFamily="34" charset="-122"/>
                          <a:cs typeface="+mn-cs"/>
                          <a:sym typeface="+mn-ea"/>
                        </a:rPr>
                        <a:t>1</a:t>
                      </a:r>
                      <a:endParaRPr lang="zh-CN" altLang="en-US" sz="1800" kern="1200" baseline="-250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Y</a:t>
                      </a:r>
                    </a:p>
                  </a:txBody>
                  <a:tcPr anchor="ctr"/>
                </a:tc>
                <a:tc>
                  <a:txBody>
                    <a:bodyPr/>
                    <a:lstStyle/>
                    <a:p>
                      <a:pPr marL="0" algn="ctr"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Y</a:t>
                      </a:r>
                    </a:p>
                  </a:txBody>
                  <a:tcPr anchor="ctr"/>
                </a:tc>
                <a:tc>
                  <a:txBody>
                    <a:bodyPr/>
                    <a:lstStyle/>
                    <a:p>
                      <a:pPr marL="0" algn="ctr"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Y</a:t>
                      </a:r>
                    </a:p>
                  </a:txBody>
                  <a:tcPr anchor="ctr"/>
                </a:tc>
                <a:tc>
                  <a:txBody>
                    <a:bodyPr/>
                    <a:lstStyle/>
                    <a:p>
                      <a:pPr marL="0" algn="ctr" defTabSz="1219200" rtl="0" eaLnBrk="1" latinLnBrk="0" hangingPunct="1">
                        <a:buNone/>
                      </a:pP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10001"/>
                  </a:ext>
                </a:extLst>
              </a:tr>
              <a:tr h="339090">
                <a:tc vMerge="1">
                  <a:txBody>
                    <a:bodyPr/>
                    <a:lstStyle/>
                    <a:p>
                      <a:endParaRPr lang="zh-CN"/>
                    </a:p>
                  </a:txBody>
                  <a:tcPr anchor="ctr"/>
                </a:tc>
                <a:tc>
                  <a:txBody>
                    <a:bodyPr/>
                    <a:lstStyle/>
                    <a:p>
                      <a:pPr marL="0" algn="ctr" defTabSz="1219200" rtl="0" eaLnBrk="1" latinLnBrk="0" hangingPunct="1">
                        <a:buClrTx/>
                        <a:buSzTx/>
                        <a:buFontTx/>
                        <a:buNone/>
                      </a:pPr>
                      <a:r>
                        <a:rPr lang="en-US" sz="1800" kern="1200">
                          <a:solidFill>
                            <a:srgbClr val="595959"/>
                          </a:solidFill>
                          <a:latin typeface="微软雅黑" panose="020B0503020204020204" pitchFamily="34" charset="-122"/>
                          <a:ea typeface="微软雅黑" panose="020B0503020204020204" pitchFamily="34" charset="-122"/>
                          <a:cs typeface="+mn-cs"/>
                          <a:sym typeface="+mn-ea"/>
                        </a:rPr>
                        <a:t>c</a:t>
                      </a:r>
                      <a:r>
                        <a:rPr lang="en-US" sz="1800" kern="1200" baseline="-25000">
                          <a:solidFill>
                            <a:srgbClr val="595959"/>
                          </a:solidFill>
                          <a:latin typeface="微软雅黑" panose="020B0503020204020204" pitchFamily="34" charset="-122"/>
                          <a:ea typeface="微软雅黑" panose="020B0503020204020204" pitchFamily="34" charset="-122"/>
                          <a:cs typeface="+mn-cs"/>
                          <a:sym typeface="+mn-ea"/>
                        </a:rPr>
                        <a:t>2</a:t>
                      </a:r>
                      <a:endParaRPr lang="en-US" altLang="zh-CN" sz="1800" kern="1200" baseline="-250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endParaRPr lang="zh-CN" altLang="en-US"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cs"/>
                          <a:sym typeface="+mn-ea"/>
                        </a:rPr>
                        <a:t>Y</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Y</a:t>
                      </a:r>
                    </a:p>
                  </a:txBody>
                  <a:tcPr anchor="ctr"/>
                </a:tc>
                <a:tc>
                  <a:txBody>
                    <a:bodyPr/>
                    <a:lstStyle/>
                    <a:p>
                      <a:pPr marL="0" algn="ctr"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Y</a:t>
                      </a:r>
                    </a:p>
                  </a:txBody>
                  <a:tcPr anchor="ctr"/>
                </a:tc>
                <a:extLst>
                  <a:ext uri="{0D108BD9-81ED-4DB2-BD59-A6C34878D82A}">
                    <a16:rowId xmlns:a16="http://schemas.microsoft.com/office/drawing/2014/main" val="10002"/>
                  </a:ext>
                </a:extLst>
              </a:tr>
              <a:tr h="354330">
                <a:tc vMerge="1">
                  <a:txBody>
                    <a:bodyPr/>
                    <a:lstStyle/>
                    <a:p>
                      <a:endParaRPr lang="zh-CN"/>
                    </a:p>
                  </a:txBody>
                  <a:tcPr/>
                </a:tc>
                <a:tc>
                  <a:txBody>
                    <a:bodyPr/>
                    <a:lstStyle/>
                    <a:p>
                      <a:pPr marL="0" algn="ctr" defTabSz="1219200" rtl="0" eaLnBrk="1" latinLnBrk="0" hangingPunct="1">
                        <a:buClrTx/>
                        <a:buSzTx/>
                        <a:buFontTx/>
                        <a:buNone/>
                      </a:pPr>
                      <a:r>
                        <a:rPr lang="en-US" sz="1800" kern="1200">
                          <a:solidFill>
                            <a:srgbClr val="595959"/>
                          </a:solidFill>
                          <a:latin typeface="微软雅黑" panose="020B0503020204020204" pitchFamily="34" charset="-122"/>
                          <a:ea typeface="微软雅黑" panose="020B0503020204020204" pitchFamily="34" charset="-122"/>
                          <a:cs typeface="+mn-cs"/>
                          <a:sym typeface="+mn-ea"/>
                        </a:rPr>
                        <a:t>c</a:t>
                      </a:r>
                      <a:r>
                        <a:rPr lang="en-US" sz="1800" kern="1200" baseline="-25000">
                          <a:solidFill>
                            <a:srgbClr val="595959"/>
                          </a:solidFill>
                          <a:latin typeface="微软雅黑" panose="020B0503020204020204" pitchFamily="34" charset="-122"/>
                          <a:ea typeface="微软雅黑" panose="020B0503020204020204" pitchFamily="34" charset="-122"/>
                          <a:cs typeface="+mn-cs"/>
                          <a:sym typeface="+mn-ea"/>
                        </a:rPr>
                        <a:t>3</a:t>
                      </a:r>
                      <a:endParaRPr lang="en-US" altLang="zh-CN" sz="1800" kern="1200" baseline="-250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Y</a:t>
                      </a:r>
                    </a:p>
                  </a:txBody>
                  <a:tcPr anchor="ctr"/>
                </a:tc>
                <a:tc>
                  <a:txBody>
                    <a:bodyPr/>
                    <a:lstStyle/>
                    <a:p>
                      <a:pPr marL="0" algn="ctr" defTabSz="1219200" rtl="0" eaLnBrk="1" latinLnBrk="0" hangingPunct="1">
                        <a:buNone/>
                      </a:pP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a:t>
                      </a:r>
                    </a:p>
                  </a:txBody>
                  <a:tcPr anchor="ctr"/>
                </a:tc>
                <a:tc>
                  <a:txBody>
                    <a:bodyPr/>
                    <a:lstStyle/>
                    <a:p>
                      <a:pPr marL="0" algn="ctr"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cs"/>
                          <a:sym typeface="+mn-ea"/>
                        </a:rPr>
                        <a:t>Y</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a:t>
                      </a:r>
                    </a:p>
                  </a:txBody>
                  <a:tcPr anchor="ctr"/>
                </a:tc>
                <a:extLst>
                  <a:ext uri="{0D108BD9-81ED-4DB2-BD59-A6C34878D82A}">
                    <a16:rowId xmlns:a16="http://schemas.microsoft.com/office/drawing/2014/main" val="10003"/>
                  </a:ext>
                </a:extLst>
              </a:tr>
              <a:tr h="327025">
                <a:tc vMerge="1">
                  <a:txBody>
                    <a:bodyPr/>
                    <a:lstStyle/>
                    <a:p>
                      <a:endParaRPr lang="zh-CN"/>
                    </a:p>
                  </a:txBody>
                  <a:tcPr/>
                </a:tc>
                <a:tc>
                  <a:txBody>
                    <a:bodyPr/>
                    <a:lstStyle/>
                    <a:p>
                      <a:pPr marL="0" algn="ctr" defTabSz="1219200" rtl="0" eaLnBrk="1" latinLnBrk="0" hangingPunct="1">
                        <a:buClrTx/>
                        <a:buSzTx/>
                        <a:buFontTx/>
                        <a:buNone/>
                      </a:pPr>
                      <a:r>
                        <a:rPr lang="en-US" sz="1800" kern="1200">
                          <a:solidFill>
                            <a:srgbClr val="595959"/>
                          </a:solidFill>
                          <a:latin typeface="微软雅黑" panose="020B0503020204020204" pitchFamily="34" charset="-122"/>
                          <a:ea typeface="微软雅黑" panose="020B0503020204020204" pitchFamily="34" charset="-122"/>
                          <a:cs typeface="+mn-cs"/>
                          <a:sym typeface="+mn-ea"/>
                        </a:rPr>
                        <a:t>c</a:t>
                      </a:r>
                      <a:r>
                        <a:rPr lang="en-US" sz="1800" kern="1200" baseline="-25000">
                          <a:solidFill>
                            <a:srgbClr val="595959"/>
                          </a:solidFill>
                          <a:latin typeface="微软雅黑" panose="020B0503020204020204" pitchFamily="34" charset="-122"/>
                          <a:ea typeface="微软雅黑" panose="020B0503020204020204" pitchFamily="34" charset="-122"/>
                          <a:cs typeface="+mn-cs"/>
                          <a:sym typeface="+mn-ea"/>
                        </a:rPr>
                        <a:t>4</a:t>
                      </a:r>
                      <a:endParaRPr lang="en-US" altLang="zh-CN" sz="1800" kern="1200" baseline="-250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endParaRPr lang="zh-CN" altLang="en-US"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Y</a:t>
                      </a:r>
                    </a:p>
                  </a:txBody>
                  <a:tcPr anchor="ctr"/>
                </a:tc>
                <a:tc>
                  <a:txBody>
                    <a:bodyPr/>
                    <a:lstStyle/>
                    <a:p>
                      <a:pPr marL="0" algn="ctr"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a:t>
                      </a:r>
                    </a:p>
                  </a:txBody>
                  <a:tcPr anchor="ctr"/>
                </a:tc>
                <a:tc>
                  <a:txBody>
                    <a:bodyPr/>
                    <a:lstStyle/>
                    <a:p>
                      <a:pPr marL="0" algn="ctr" defTabSz="1219200" rtl="0" eaLnBrk="1" latinLnBrk="0" hangingPunct="1">
                        <a:buNone/>
                      </a:pP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cs"/>
                          <a:sym typeface="+mn-ea"/>
                        </a:rPr>
                        <a:t>Y</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a:t>
                      </a:r>
                    </a:p>
                  </a:txBody>
                  <a:tcPr anchor="ctr"/>
                </a:tc>
                <a:extLst>
                  <a:ext uri="{0D108BD9-81ED-4DB2-BD59-A6C34878D82A}">
                    <a16:rowId xmlns:a16="http://schemas.microsoft.com/office/drawing/2014/main" val="10004"/>
                  </a:ext>
                </a:extLst>
              </a:tr>
              <a:tr h="368935">
                <a:tc vMerge="1">
                  <a:txBody>
                    <a:bodyPr/>
                    <a:lstStyle/>
                    <a:p>
                      <a:endParaRPr lang="zh-CN"/>
                    </a:p>
                  </a:txBody>
                  <a:tcPr anchor="ctr"/>
                </a:tc>
                <a:tc>
                  <a:txBody>
                    <a:bodyPr/>
                    <a:lstStyle/>
                    <a:p>
                      <a:pPr marL="0" algn="ctr" defTabSz="1219200" rtl="0" eaLnBrk="1" latinLnBrk="0" hangingPunct="1">
                        <a:buClrTx/>
                        <a:buSzTx/>
                        <a:buFontTx/>
                        <a:buNone/>
                      </a:pPr>
                      <a:r>
                        <a:rPr lang="en-US" sz="1800" kern="1200">
                          <a:solidFill>
                            <a:srgbClr val="595959"/>
                          </a:solidFill>
                          <a:latin typeface="微软雅黑" panose="020B0503020204020204" pitchFamily="34" charset="-122"/>
                          <a:ea typeface="微软雅黑" panose="020B0503020204020204" pitchFamily="34" charset="-122"/>
                          <a:cs typeface="+mn-cs"/>
                          <a:sym typeface="+mn-ea"/>
                        </a:rPr>
                        <a:t>c</a:t>
                      </a:r>
                      <a:r>
                        <a:rPr lang="en-US" sz="1800" kern="1200" baseline="-25000">
                          <a:solidFill>
                            <a:srgbClr val="595959"/>
                          </a:solidFill>
                          <a:latin typeface="微软雅黑" panose="020B0503020204020204" pitchFamily="34" charset="-122"/>
                          <a:ea typeface="微软雅黑" panose="020B0503020204020204" pitchFamily="34" charset="-122"/>
                          <a:cs typeface="+mn-cs"/>
                          <a:sym typeface="+mn-ea"/>
                        </a:rPr>
                        <a:t>5</a:t>
                      </a:r>
                      <a:endParaRPr lang="en-US" altLang="zh-CN" sz="1800" kern="1200" baseline="-250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N</a:t>
                      </a:r>
                    </a:p>
                  </a:txBody>
                  <a:tcPr anchor="ctr"/>
                </a:tc>
                <a:tc>
                  <a:txBody>
                    <a:bodyPr/>
                    <a:lstStyle/>
                    <a:p>
                      <a:pPr marL="0" algn="ctr"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N</a:t>
                      </a:r>
                    </a:p>
                  </a:txBody>
                  <a:tcPr anchor="ctr"/>
                </a:tc>
                <a:tc>
                  <a:txBody>
                    <a:bodyPr/>
                    <a:lstStyle/>
                    <a:p>
                      <a:pPr marL="0" algn="ctr"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cs"/>
                          <a:sym typeface="+mn-ea"/>
                        </a:rPr>
                        <a:t>Y</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Y</a:t>
                      </a:r>
                    </a:p>
                  </a:txBody>
                  <a:tcPr anchor="ctr"/>
                </a:tc>
                <a:tc>
                  <a:txBody>
                    <a:bodyPr/>
                    <a:lstStyle/>
                    <a:p>
                      <a:pPr marL="0" algn="ctr"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Y</a:t>
                      </a:r>
                    </a:p>
                  </a:txBody>
                  <a:tcPr anchor="ctr"/>
                </a:tc>
                <a:tc>
                  <a:txBody>
                    <a:bodyPr/>
                    <a:lstStyle/>
                    <a:p>
                      <a:pPr marL="0" algn="ctr"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N</a:t>
                      </a:r>
                    </a:p>
                  </a:txBody>
                  <a:tcPr anchor="ctr"/>
                </a:tc>
                <a:extLst>
                  <a:ext uri="{0D108BD9-81ED-4DB2-BD59-A6C34878D82A}">
                    <a16:rowId xmlns:a16="http://schemas.microsoft.com/office/drawing/2014/main" val="10005"/>
                  </a:ext>
                </a:extLst>
              </a:tr>
              <a:tr h="338455">
                <a:tc rowSpan="5">
                  <a:txBody>
                    <a:bodyPr/>
                    <a:lstStyle/>
                    <a:p>
                      <a:pPr marL="0" algn="ctr" defTabSz="1219200" rtl="0" eaLnBrk="1" latinLnBrk="0" hangingPunct="1">
                        <a:buClrTx/>
                        <a:buSzTx/>
                        <a:buFontTx/>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结果</a:t>
                      </a:r>
                    </a:p>
                  </a:txBody>
                  <a:tcPr anchor="ctr"/>
                </a:tc>
                <a:tc>
                  <a:txBody>
                    <a:bodyPr/>
                    <a:lstStyle/>
                    <a:p>
                      <a:pPr marL="0" algn="ctr" defTabSz="1219200" rtl="0" eaLnBrk="1" latinLnBrk="0" hangingPunct="1">
                        <a:buClrTx/>
                        <a:buSzTx/>
                        <a:buFontTx/>
                        <a:buNone/>
                      </a:pPr>
                      <a:r>
                        <a:rPr lang="en-US" sz="1800" kern="1200">
                          <a:solidFill>
                            <a:srgbClr val="595959"/>
                          </a:solidFill>
                          <a:latin typeface="微软雅黑" panose="020B0503020204020204" pitchFamily="34" charset="-122"/>
                          <a:ea typeface="微软雅黑" panose="020B0503020204020204" pitchFamily="34" charset="-122"/>
                          <a:cs typeface="+mn-cs"/>
                          <a:sym typeface="+mn-ea"/>
                        </a:rPr>
                        <a:t>e</a:t>
                      </a:r>
                      <a:r>
                        <a:rPr lang="en-US" sz="1800" kern="1200" baseline="-25000">
                          <a:solidFill>
                            <a:srgbClr val="595959"/>
                          </a:solidFill>
                          <a:latin typeface="微软雅黑" panose="020B0503020204020204" pitchFamily="34" charset="-122"/>
                          <a:ea typeface="微软雅黑" panose="020B0503020204020204" pitchFamily="34" charset="-122"/>
                          <a:cs typeface="+mn-cs"/>
                          <a:sym typeface="+mn-ea"/>
                        </a:rPr>
                        <a:t>1</a:t>
                      </a:r>
                      <a:endParaRPr lang="en-US" altLang="zh-CN" sz="1800" kern="1200" baseline="-250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a:t>
                      </a:r>
                    </a:p>
                  </a:txBody>
                  <a:tcPr anchor="ctr"/>
                </a:tc>
                <a:tc>
                  <a:txBody>
                    <a:bodyPr/>
                    <a:lstStyle/>
                    <a:p>
                      <a:pPr marL="0" algn="ctr" defTabSz="1219200" rtl="0" eaLnBrk="1" latinLnBrk="0" hangingPunct="1">
                        <a:buNone/>
                      </a:pP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r>
                        <a:rPr lang="zh-CN" altLang="en-US" sz="1800" kern="1200">
                          <a:solidFill>
                            <a:srgbClr val="595959"/>
                          </a:solidFill>
                          <a:latin typeface="微软雅黑" panose="020B0503020204020204" pitchFamily="34" charset="-122"/>
                          <a:ea typeface="微软雅黑" panose="020B0503020204020204" pitchFamily="34" charset="-122"/>
                          <a:cs typeface="+mn-cs"/>
                          <a:sym typeface="+mn-ea"/>
                        </a:rPr>
                        <a:t>√</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10006"/>
                  </a:ext>
                </a:extLst>
              </a:tr>
              <a:tr h="347345">
                <a:tc vMerge="1">
                  <a:txBody>
                    <a:bodyPr/>
                    <a:lstStyle/>
                    <a:p>
                      <a:endParaRPr lang="zh-CN"/>
                    </a:p>
                  </a:txBody>
                  <a:tcPr anchor="ctr"/>
                </a:tc>
                <a:tc>
                  <a:txBody>
                    <a:bodyPr/>
                    <a:lstStyle/>
                    <a:p>
                      <a:pPr marL="0" algn="ctr" defTabSz="1219200" rtl="0" eaLnBrk="1" latinLnBrk="0" hangingPunct="1">
                        <a:buClrTx/>
                        <a:buSzTx/>
                        <a:buFontTx/>
                        <a:buNone/>
                      </a:pPr>
                      <a:r>
                        <a:rPr lang="en-US" sz="1800" kern="1200">
                          <a:solidFill>
                            <a:srgbClr val="595959"/>
                          </a:solidFill>
                          <a:latin typeface="微软雅黑" panose="020B0503020204020204" pitchFamily="34" charset="-122"/>
                          <a:ea typeface="微软雅黑" panose="020B0503020204020204" pitchFamily="34" charset="-122"/>
                          <a:cs typeface="+mn-cs"/>
                          <a:sym typeface="+mn-ea"/>
                        </a:rPr>
                        <a:t>e</a:t>
                      </a:r>
                      <a:r>
                        <a:rPr lang="en-US" sz="1800" kern="1200" baseline="-25000">
                          <a:solidFill>
                            <a:srgbClr val="595959"/>
                          </a:solidFill>
                          <a:latin typeface="微软雅黑" panose="020B0503020204020204" pitchFamily="34" charset="-122"/>
                          <a:ea typeface="微软雅黑" panose="020B0503020204020204" pitchFamily="34" charset="-122"/>
                          <a:cs typeface="+mn-cs"/>
                          <a:sym typeface="+mn-ea"/>
                        </a:rPr>
                        <a:t>2</a:t>
                      </a:r>
                      <a:endParaRPr lang="en-US" altLang="zh-CN" sz="1800" kern="1200" baseline="-250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endParaRPr lang="zh-CN" altLang="en-US"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r>
                        <a:rPr lang="zh-CN" altLang="en-US" sz="1800" kern="1200">
                          <a:solidFill>
                            <a:srgbClr val="595959"/>
                          </a:solidFill>
                          <a:latin typeface="微软雅黑" panose="020B0503020204020204" pitchFamily="34" charset="-122"/>
                          <a:ea typeface="微软雅黑" panose="020B0503020204020204" pitchFamily="34" charset="-122"/>
                          <a:cs typeface="+mn-cs"/>
                          <a:sym typeface="+mn-ea"/>
                        </a:rPr>
                        <a:t>√</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r>
                        <a:rPr lang="zh-CN" altLang="en-US" sz="1800" kern="1200">
                          <a:solidFill>
                            <a:srgbClr val="595959"/>
                          </a:solidFill>
                          <a:latin typeface="微软雅黑" panose="020B0503020204020204" pitchFamily="34" charset="-122"/>
                          <a:ea typeface="微软雅黑" panose="020B0503020204020204" pitchFamily="34" charset="-122"/>
                          <a:cs typeface="+mn-cs"/>
                          <a:sym typeface="+mn-ea"/>
                        </a:rPr>
                        <a:t>√</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10007"/>
                  </a:ext>
                </a:extLst>
              </a:tr>
              <a:tr h="314325">
                <a:tc vMerge="1">
                  <a:txBody>
                    <a:bodyPr/>
                    <a:lstStyle/>
                    <a:p>
                      <a:endParaRPr lang="zh-CN"/>
                    </a:p>
                  </a:txBody>
                  <a:tcPr anchor="ctr"/>
                </a:tc>
                <a:tc>
                  <a:txBody>
                    <a:bodyPr/>
                    <a:lstStyle/>
                    <a:p>
                      <a:pPr marL="0" algn="ctr" defTabSz="1219200" rtl="0" eaLnBrk="1" latinLnBrk="0" hangingPunct="1">
                        <a:buClrTx/>
                        <a:buSzTx/>
                        <a:buFontTx/>
                        <a:buNone/>
                      </a:pPr>
                      <a:r>
                        <a:rPr lang="en-US" sz="1800" kern="1200">
                          <a:solidFill>
                            <a:srgbClr val="595959"/>
                          </a:solidFill>
                          <a:latin typeface="微软雅黑" panose="020B0503020204020204" pitchFamily="34" charset="-122"/>
                          <a:ea typeface="微软雅黑" panose="020B0503020204020204" pitchFamily="34" charset="-122"/>
                          <a:cs typeface="+mn-cs"/>
                          <a:sym typeface="+mn-ea"/>
                        </a:rPr>
                        <a:t>e</a:t>
                      </a:r>
                      <a:r>
                        <a:rPr lang="en-US" sz="1800" kern="1200" baseline="-25000">
                          <a:solidFill>
                            <a:srgbClr val="595959"/>
                          </a:solidFill>
                          <a:latin typeface="微软雅黑" panose="020B0503020204020204" pitchFamily="34" charset="-122"/>
                          <a:ea typeface="微软雅黑" panose="020B0503020204020204" pitchFamily="34" charset="-122"/>
                          <a:cs typeface="+mn-cs"/>
                          <a:sym typeface="+mn-ea"/>
                        </a:rPr>
                        <a:t>3</a:t>
                      </a:r>
                      <a:endParaRPr lang="en-US" altLang="zh-CN" sz="1800" kern="1200" baseline="-250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endParaRPr lang="zh-CN" altLang="en-US"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r>
                        <a:rPr lang="zh-CN" altLang="en-US" sz="1800" kern="1200">
                          <a:solidFill>
                            <a:srgbClr val="595959"/>
                          </a:solidFill>
                          <a:latin typeface="微软雅黑" panose="020B0503020204020204" pitchFamily="34" charset="-122"/>
                          <a:ea typeface="微软雅黑" panose="020B0503020204020204" pitchFamily="34" charset="-122"/>
                          <a:cs typeface="+mn-cs"/>
                          <a:sym typeface="+mn-ea"/>
                        </a:rPr>
                        <a:t>√</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r>
                        <a:rPr lang="zh-CN" altLang="en-US" sz="1800" kern="1200">
                          <a:solidFill>
                            <a:srgbClr val="595959"/>
                          </a:solidFill>
                          <a:latin typeface="微软雅黑" panose="020B0503020204020204" pitchFamily="34" charset="-122"/>
                          <a:ea typeface="微软雅黑" panose="020B0503020204020204" pitchFamily="34" charset="-122"/>
                          <a:cs typeface="+mn-cs"/>
                          <a:sym typeface="+mn-ea"/>
                        </a:rPr>
                        <a:t>√</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r>
                        <a:rPr lang="zh-CN" altLang="en-US" sz="1800" kern="1200">
                          <a:solidFill>
                            <a:srgbClr val="595959"/>
                          </a:solidFill>
                          <a:latin typeface="微软雅黑" panose="020B0503020204020204" pitchFamily="34" charset="-122"/>
                          <a:ea typeface="微软雅黑" panose="020B0503020204020204" pitchFamily="34" charset="-122"/>
                          <a:cs typeface="+mn-cs"/>
                          <a:sym typeface="+mn-ea"/>
                        </a:rPr>
                        <a:t>√</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10008"/>
                  </a:ext>
                </a:extLst>
              </a:tr>
              <a:tr h="368300">
                <a:tc vMerge="1">
                  <a:txBody>
                    <a:bodyPr/>
                    <a:lstStyle/>
                    <a:p>
                      <a:endParaRPr lang="zh-CN"/>
                    </a:p>
                  </a:txBody>
                  <a:tcPr/>
                </a:tc>
                <a:tc>
                  <a:txBody>
                    <a:bodyPr/>
                    <a:lstStyle/>
                    <a:p>
                      <a:pPr marL="0" algn="ctr" defTabSz="1219200" rtl="0" eaLnBrk="1" latinLnBrk="0" hangingPunct="1">
                        <a:buClrTx/>
                        <a:buSzTx/>
                        <a:buFontTx/>
                        <a:buNone/>
                      </a:pPr>
                      <a:r>
                        <a:rPr lang="en-US" sz="1800" kern="1200">
                          <a:solidFill>
                            <a:srgbClr val="595959"/>
                          </a:solidFill>
                          <a:latin typeface="微软雅黑" panose="020B0503020204020204" pitchFamily="34" charset="-122"/>
                          <a:ea typeface="微软雅黑" panose="020B0503020204020204" pitchFamily="34" charset="-122"/>
                          <a:cs typeface="+mn-cs"/>
                          <a:sym typeface="+mn-ea"/>
                        </a:rPr>
                        <a:t>e</a:t>
                      </a:r>
                      <a:r>
                        <a:rPr lang="en-US" sz="1800" kern="1200" baseline="-25000">
                          <a:solidFill>
                            <a:srgbClr val="595959"/>
                          </a:solidFill>
                          <a:latin typeface="微软雅黑" panose="020B0503020204020204" pitchFamily="34" charset="-122"/>
                          <a:ea typeface="微软雅黑" panose="020B0503020204020204" pitchFamily="34" charset="-122"/>
                          <a:cs typeface="+mn-cs"/>
                          <a:sym typeface="+mn-ea"/>
                        </a:rPr>
                        <a:t>4</a:t>
                      </a:r>
                      <a:endParaRPr lang="en-US" altLang="zh-CN" sz="1800" kern="1200" baseline="-250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endParaRPr lang="zh-CN" altLang="en-US"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r>
                        <a:rPr lang="zh-CN" altLang="en-US" sz="1800" kern="1200">
                          <a:solidFill>
                            <a:srgbClr val="595959"/>
                          </a:solidFill>
                          <a:latin typeface="微软雅黑" panose="020B0503020204020204" pitchFamily="34" charset="-122"/>
                          <a:ea typeface="微软雅黑" panose="020B0503020204020204" pitchFamily="34" charset="-122"/>
                          <a:cs typeface="+mn-cs"/>
                          <a:sym typeface="+mn-ea"/>
                        </a:rPr>
                        <a:t>√</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10009"/>
                  </a:ext>
                </a:extLst>
              </a:tr>
              <a:tr h="314325">
                <a:tc vMerge="1">
                  <a:txBody>
                    <a:bodyPr/>
                    <a:lstStyle/>
                    <a:p>
                      <a:endParaRPr lang="zh-CN"/>
                    </a:p>
                  </a:txBody>
                  <a:tcPr anchor="ctr"/>
                </a:tc>
                <a:tc>
                  <a:txBody>
                    <a:bodyPr/>
                    <a:lstStyle/>
                    <a:p>
                      <a:pPr marL="0" algn="ctr" defTabSz="1219200" rtl="0" eaLnBrk="1" latinLnBrk="0" hangingPunct="1">
                        <a:buClrTx/>
                        <a:buSzTx/>
                        <a:buFontTx/>
                        <a:buNone/>
                      </a:pPr>
                      <a:r>
                        <a:rPr lang="en-US" sz="1800" kern="1200">
                          <a:solidFill>
                            <a:srgbClr val="595959"/>
                          </a:solidFill>
                          <a:latin typeface="微软雅黑" panose="020B0503020204020204" pitchFamily="34" charset="-122"/>
                          <a:ea typeface="微软雅黑" panose="020B0503020204020204" pitchFamily="34" charset="-122"/>
                          <a:cs typeface="+mn-cs"/>
                          <a:sym typeface="+mn-ea"/>
                        </a:rPr>
                        <a:t>e</a:t>
                      </a:r>
                      <a:r>
                        <a:rPr lang="en-US" sz="1800" kern="1200" baseline="-25000">
                          <a:solidFill>
                            <a:srgbClr val="595959"/>
                          </a:solidFill>
                          <a:latin typeface="微软雅黑" panose="020B0503020204020204" pitchFamily="34" charset="-122"/>
                          <a:ea typeface="微软雅黑" panose="020B0503020204020204" pitchFamily="34" charset="-122"/>
                          <a:cs typeface="+mn-cs"/>
                          <a:sym typeface="+mn-ea"/>
                        </a:rPr>
                        <a:t>5</a:t>
                      </a:r>
                      <a:endParaRPr lang="en-US" altLang="zh-CN" sz="1800" kern="1200" baseline="-250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endParaRPr lang="zh-CN" altLang="en-US"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r>
                        <a:rPr lang="zh-CN" altLang="en-US" sz="1800" kern="1200">
                          <a:solidFill>
                            <a:srgbClr val="595959"/>
                          </a:solidFill>
                          <a:latin typeface="微软雅黑" panose="020B0503020204020204" pitchFamily="34" charset="-122"/>
                          <a:ea typeface="微软雅黑" panose="020B0503020204020204" pitchFamily="34" charset="-122"/>
                          <a:cs typeface="+mn-cs"/>
                          <a:sym typeface="+mn-ea"/>
                        </a:rPr>
                        <a:t>√</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10010"/>
                  </a:ext>
                </a:extLst>
              </a:tr>
            </a:tbl>
          </a:graphicData>
        </a:graphic>
      </p:graphicFrame>
      <p:sp>
        <p:nvSpPr>
          <p:cNvPr id="3" name="Title 1">
            <a:extLst>
              <a:ext uri="{FF2B5EF4-FFF2-40B4-BE49-F238E27FC236}">
                <a16:creationId xmlns:a16="http://schemas.microsoft.com/office/drawing/2014/main" id="{9DCE2CE3-7B76-4BE1-608D-99F68C976500}"/>
              </a:ext>
            </a:extLst>
          </p:cNvPr>
          <p:cNvSpPr txBox="1"/>
          <p:nvPr/>
        </p:nvSpPr>
        <p:spPr>
          <a:xfrm>
            <a:off x="1039559" y="189794"/>
            <a:ext cx="8799647"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2.3.</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	实例二：零食自动售货机售货情况的因果图与决策表绘制</a:t>
            </a: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35"/>
          <p:cNvSpPr txBox="1">
            <a:spLocks noChangeArrowheads="1"/>
          </p:cNvSpPr>
          <p:nvPr/>
        </p:nvSpPr>
        <p:spPr bwMode="auto">
          <a:xfrm>
            <a:off x="1127125" y="909320"/>
            <a:ext cx="9710420" cy="663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no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buClrTx/>
              <a:buSzTx/>
              <a:buFontTx/>
            </a:pPr>
            <a:r>
              <a:rPr lang="zh-CN" altLang="en-US" sz="1800" dirty="0">
                <a:solidFill>
                  <a:srgbClr val="595959"/>
                </a:solidFill>
                <a:latin typeface="微软雅黑" panose="020B0503020204020204" pitchFamily="34" charset="-122"/>
                <a:ea typeface="微软雅黑" panose="020B0503020204020204" pitchFamily="34" charset="-122"/>
              </a:rPr>
              <a:t>根据合并后的决策表设计6个</a:t>
            </a:r>
            <a:r>
              <a:rPr lang="zh-CN" altLang="en-US" sz="1800" dirty="0">
                <a:solidFill>
                  <a:srgbClr val="0070C0"/>
                </a:solidFill>
                <a:latin typeface="微软雅黑" panose="020B0503020204020204" pitchFamily="34" charset="-122"/>
                <a:ea typeface="微软雅黑" panose="020B0503020204020204" pitchFamily="34" charset="-122"/>
              </a:rPr>
              <a:t>零食自动售货机的测试用例</a:t>
            </a:r>
            <a:r>
              <a:rPr lang="zh-CN" altLang="en-US" sz="1800" dirty="0">
                <a:solidFill>
                  <a:srgbClr val="595959"/>
                </a:solidFill>
                <a:latin typeface="微软雅黑" panose="020B0503020204020204" pitchFamily="34" charset="-122"/>
                <a:ea typeface="微软雅黑" panose="020B0503020204020204" pitchFamily="34" charset="-122"/>
              </a:rPr>
              <a:t>，如下表所示。</a:t>
            </a:r>
          </a:p>
          <a:p>
            <a:pPr algn="just">
              <a:lnSpc>
                <a:spcPct val="150000"/>
              </a:lnSpc>
              <a:buClrTx/>
              <a:buSzTx/>
              <a:buFontTx/>
            </a:pPr>
            <a:endParaRPr lang="zh-CN" altLang="en-US" sz="1800" dirty="0">
              <a:solidFill>
                <a:srgbClr val="595959"/>
              </a:solidFill>
              <a:latin typeface="微软雅黑" panose="020B0503020204020204" pitchFamily="34" charset="-122"/>
              <a:ea typeface="微软雅黑" panose="020B0503020204020204" pitchFamily="34" charset="-122"/>
            </a:endParaRPr>
          </a:p>
        </p:txBody>
      </p:sp>
      <p:graphicFrame>
        <p:nvGraphicFramePr>
          <p:cNvPr id="2" name="表格 1"/>
          <p:cNvGraphicFramePr/>
          <p:nvPr>
            <p:custDataLst>
              <p:tags r:id="rId1"/>
            </p:custDataLst>
            <p:extLst>
              <p:ext uri="{D42A27DB-BD31-4B8C-83A1-F6EECF244321}">
                <p14:modId xmlns:p14="http://schemas.microsoft.com/office/powerpoint/2010/main" val="3610360862"/>
              </p:ext>
            </p:extLst>
          </p:nvPr>
        </p:nvGraphicFramePr>
        <p:xfrm>
          <a:off x="1774825" y="1630045"/>
          <a:ext cx="8352790" cy="4393565"/>
        </p:xfrm>
        <a:graphic>
          <a:graphicData uri="http://schemas.openxmlformats.org/drawingml/2006/table">
            <a:tbl>
              <a:tblPr firstRow="1" bandRow="1">
                <a:tableStyleId>{5C22544A-7EE6-4342-B048-85BDC9FD1C3A}</a:tableStyleId>
              </a:tblPr>
              <a:tblGrid>
                <a:gridCol w="1360805">
                  <a:extLst>
                    <a:ext uri="{9D8B030D-6E8A-4147-A177-3AD203B41FA5}">
                      <a16:colId xmlns:a16="http://schemas.microsoft.com/office/drawing/2014/main" val="20000"/>
                    </a:ext>
                  </a:extLst>
                </a:gridCol>
                <a:gridCol w="1403985">
                  <a:extLst>
                    <a:ext uri="{9D8B030D-6E8A-4147-A177-3AD203B41FA5}">
                      <a16:colId xmlns:a16="http://schemas.microsoft.com/office/drawing/2014/main" val="20001"/>
                    </a:ext>
                  </a:extLst>
                </a:gridCol>
                <a:gridCol w="1341120">
                  <a:extLst>
                    <a:ext uri="{9D8B030D-6E8A-4147-A177-3AD203B41FA5}">
                      <a16:colId xmlns:a16="http://schemas.microsoft.com/office/drawing/2014/main" val="20002"/>
                    </a:ext>
                  </a:extLst>
                </a:gridCol>
                <a:gridCol w="1541780">
                  <a:extLst>
                    <a:ext uri="{9D8B030D-6E8A-4147-A177-3AD203B41FA5}">
                      <a16:colId xmlns:a16="http://schemas.microsoft.com/office/drawing/2014/main" val="20003"/>
                    </a:ext>
                  </a:extLst>
                </a:gridCol>
                <a:gridCol w="2705100">
                  <a:extLst>
                    <a:ext uri="{9D8B030D-6E8A-4147-A177-3AD203B41FA5}">
                      <a16:colId xmlns:a16="http://schemas.microsoft.com/office/drawing/2014/main" val="20004"/>
                    </a:ext>
                  </a:extLst>
                </a:gridCol>
              </a:tblGrid>
              <a:tr h="642620">
                <a:tc>
                  <a:txBody>
                    <a:bodyPr/>
                    <a:lstStyle/>
                    <a:p>
                      <a:pPr algn="ctr">
                        <a:lnSpc>
                          <a:spcPct val="90000"/>
                        </a:lnSpc>
                        <a:buNone/>
                      </a:pPr>
                      <a:r>
                        <a:rPr lang="zh-CN" altLang="en-US" sz="1800" b="1" dirty="0">
                          <a:latin typeface="微软雅黑" panose="020B0503020204020204" pitchFamily="34" charset="-122"/>
                          <a:ea typeface="微软雅黑" panose="020B0503020204020204" pitchFamily="34" charset="-122"/>
                        </a:rPr>
                        <a:t>测试用例</a:t>
                      </a:r>
                    </a:p>
                  </a:txBody>
                  <a:tcPr anchor="ctr"/>
                </a:tc>
                <a:tc>
                  <a:txBody>
                    <a:bodyPr/>
                    <a:lstStyle/>
                    <a:p>
                      <a:pPr algn="ctr">
                        <a:lnSpc>
                          <a:spcPct val="90000"/>
                        </a:lnSpc>
                        <a:buNone/>
                      </a:pPr>
                      <a:r>
                        <a:rPr sz="1800">
                          <a:latin typeface="微软雅黑" panose="020B0503020204020204" pitchFamily="34" charset="-122"/>
                          <a:ea typeface="微软雅黑" panose="020B0503020204020204" pitchFamily="34" charset="-122"/>
                        </a:rPr>
                        <a:t>投入硬币</a:t>
                      </a:r>
                    </a:p>
                  </a:txBody>
                  <a:tcPr anchor="ctr"/>
                </a:tc>
                <a:tc>
                  <a:txBody>
                    <a:bodyPr/>
                    <a:lstStyle/>
                    <a:p>
                      <a:pPr algn="ctr">
                        <a:lnSpc>
                          <a:spcPct val="90000"/>
                        </a:lnSpc>
                        <a:buNone/>
                      </a:pPr>
                      <a:r>
                        <a:rPr lang="zh-CN" altLang="en-US" sz="1800">
                          <a:latin typeface="微软雅黑" panose="020B0503020204020204" pitchFamily="34" charset="-122"/>
                          <a:ea typeface="微软雅黑" panose="020B0503020204020204" pitchFamily="34" charset="-122"/>
                        </a:rPr>
                        <a:t>选择零食</a:t>
                      </a:r>
                    </a:p>
                  </a:txBody>
                  <a:tcPr anchor="ctr"/>
                </a:tc>
                <a:tc>
                  <a:txBody>
                    <a:bodyPr/>
                    <a:lstStyle/>
                    <a:p>
                      <a:pPr algn="ctr">
                        <a:lnSpc>
                          <a:spcPct val="90000"/>
                        </a:lnSpc>
                        <a:buNone/>
                      </a:pPr>
                      <a:r>
                        <a:rPr lang="zh-CN" altLang="en-US" sz="1800">
                          <a:latin typeface="微软雅黑" panose="020B0503020204020204" pitchFamily="34" charset="-122"/>
                          <a:ea typeface="微软雅黑" panose="020B0503020204020204" pitchFamily="34" charset="-122"/>
                        </a:rPr>
                        <a:t>是否有零钱</a:t>
                      </a:r>
                    </a:p>
                  </a:txBody>
                  <a:tcPr anchor="ctr"/>
                </a:tc>
                <a:tc>
                  <a:txBody>
                    <a:bodyPr/>
                    <a:lstStyle/>
                    <a:p>
                      <a:pPr algn="ctr">
                        <a:lnSpc>
                          <a:spcPct val="90000"/>
                        </a:lnSpc>
                        <a:buNone/>
                      </a:pPr>
                      <a:r>
                        <a:rPr lang="zh-CN" altLang="en-US" sz="1800">
                          <a:latin typeface="微软雅黑" panose="020B0503020204020204" pitchFamily="34" charset="-122"/>
                          <a:ea typeface="微软雅黑" panose="020B0503020204020204" pitchFamily="34" charset="-122"/>
                        </a:rPr>
                        <a:t>预期结果</a:t>
                      </a:r>
                    </a:p>
                  </a:txBody>
                  <a:tcPr anchor="ctr"/>
                </a:tc>
                <a:extLst>
                  <a:ext uri="{0D108BD9-81ED-4DB2-BD59-A6C34878D82A}">
                    <a16:rowId xmlns:a16="http://schemas.microsoft.com/office/drawing/2014/main" val="10000"/>
                  </a:ext>
                </a:extLst>
              </a:tr>
              <a:tr h="627380">
                <a:tc>
                  <a:txBody>
                    <a:bodyPr/>
                    <a:lstStyle/>
                    <a:p>
                      <a:pPr marL="0" algn="ctr" defTabSz="1219200" rtl="0" eaLnBrk="1" latinLnBrk="0" hangingPunct="1">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test1</a:t>
                      </a:r>
                    </a:p>
                  </a:txBody>
                  <a:tcPr anchor="ctr"/>
                </a:tc>
                <a:tc>
                  <a:txBody>
                    <a:bodyPr/>
                    <a:lstStyle/>
                    <a:p>
                      <a:pPr marL="0" algn="ctr" defTabSz="1219200" rtl="0" eaLnBrk="1" latinLnBrk="0" hangingPunct="1">
                        <a:buNone/>
                      </a:pPr>
                      <a:r>
                        <a:rPr lang="zh-CN" altLang="en-US" sz="1800" kern="1200" dirty="0">
                          <a:solidFill>
                            <a:srgbClr val="595959"/>
                          </a:solidFill>
                          <a:latin typeface="微软雅黑" panose="020B0503020204020204" pitchFamily="34" charset="-122"/>
                          <a:ea typeface="微软雅黑" panose="020B0503020204020204" pitchFamily="34" charset="-122"/>
                          <a:cs typeface="+mn-cs"/>
                        </a:rPr>
                        <a:t>5角</a:t>
                      </a:r>
                    </a:p>
                  </a:txBody>
                  <a:tcPr anchor="ctr"/>
                </a:tc>
                <a:tc>
                  <a:txBody>
                    <a:bodyPr/>
                    <a:lstStyle/>
                    <a:p>
                      <a:pPr marL="0" algn="ctr"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选择糖果</a:t>
                      </a:r>
                    </a:p>
                  </a:txBody>
                  <a:tcPr anchor="ctr"/>
                </a:tc>
                <a:tc>
                  <a:txBody>
                    <a:bodyPr/>
                    <a:lstStyle/>
                    <a:p>
                      <a:pPr marL="0" algn="ctr"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没有</a:t>
                      </a:r>
                    </a:p>
                  </a:txBody>
                  <a:tcPr anchor="ctr"/>
                </a:tc>
                <a:tc>
                  <a:txBody>
                    <a:bodyPr/>
                    <a:lstStyle/>
                    <a:p>
                      <a:pPr marL="0" algn="ctr" defTabSz="1219200" rtl="0" eaLnBrk="1" latinLnBrk="0" hangingPunct="1">
                        <a:buNone/>
                      </a:pPr>
                      <a:r>
                        <a:rPr lang="en-US" altLang="zh-CN" sz="1800" kern="1200" dirty="0">
                          <a:solidFill>
                            <a:srgbClr val="595959"/>
                          </a:solidFill>
                          <a:latin typeface="微软雅黑" panose="020B0503020204020204" pitchFamily="34" charset="-122"/>
                          <a:ea typeface="微软雅黑" panose="020B0503020204020204" pitchFamily="34" charset="-122"/>
                          <a:cs typeface="+mn-cs"/>
                        </a:rPr>
                        <a:t>送出糖果</a:t>
                      </a:r>
                    </a:p>
                  </a:txBody>
                  <a:tcPr anchor="ctr"/>
                </a:tc>
                <a:extLst>
                  <a:ext uri="{0D108BD9-81ED-4DB2-BD59-A6C34878D82A}">
                    <a16:rowId xmlns:a16="http://schemas.microsoft.com/office/drawing/2014/main" val="10001"/>
                  </a:ext>
                </a:extLst>
              </a:tr>
              <a:tr h="585470">
                <a:tc>
                  <a:txBody>
                    <a:bodyPr/>
                    <a:lstStyle/>
                    <a:p>
                      <a:pPr marL="0" algn="ctr" defTabSz="1219200" rtl="0" eaLnBrk="1" latinLnBrk="0" hangingPunct="1">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test2</a:t>
                      </a:r>
                    </a:p>
                  </a:txBody>
                  <a:tcPr anchor="ctr"/>
                </a:tc>
                <a:tc>
                  <a:txBody>
                    <a:bodyPr/>
                    <a:lstStyle/>
                    <a:p>
                      <a:pPr marL="0" algn="ctr" defTabSz="1219200" rtl="0" eaLnBrk="1" latinLnBrk="0" hangingPunct="1">
                        <a:buNone/>
                      </a:pPr>
                      <a:r>
                        <a:rPr lang="zh-CN" altLang="en-US" sz="1800" kern="1200" dirty="0">
                          <a:solidFill>
                            <a:srgbClr val="595959"/>
                          </a:solidFill>
                          <a:latin typeface="微软雅黑" panose="020B0503020204020204" pitchFamily="34" charset="-122"/>
                          <a:ea typeface="微软雅黑" panose="020B0503020204020204" pitchFamily="34" charset="-122"/>
                          <a:cs typeface="+mn-cs"/>
                        </a:rPr>
                        <a:t>5角</a:t>
                      </a:r>
                    </a:p>
                  </a:txBody>
                  <a:tcPr anchor="ctr"/>
                </a:tc>
                <a:tc>
                  <a:txBody>
                    <a:bodyPr/>
                    <a:lstStyle/>
                    <a:p>
                      <a:pPr marL="0" algn="ctr"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选择饼干</a:t>
                      </a:r>
                    </a:p>
                  </a:txBody>
                  <a:tcPr anchor="ctr"/>
                </a:tc>
                <a:tc>
                  <a:txBody>
                    <a:bodyPr/>
                    <a:lstStyle/>
                    <a:p>
                      <a:pPr marL="0" algn="ctr"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没有</a:t>
                      </a:r>
                    </a:p>
                  </a:txBody>
                  <a:tcPr anchor="ctr"/>
                </a:tc>
                <a:tc>
                  <a:txBody>
                    <a:bodyPr/>
                    <a:lstStyle/>
                    <a:p>
                      <a:pPr marL="0" algn="ctr" defTabSz="1219200" rtl="0" eaLnBrk="1" latinLnBrk="0" hangingPunct="1">
                        <a:buNone/>
                      </a:pPr>
                      <a:r>
                        <a:rPr lang="en-US" altLang="zh-CN" sz="1800" kern="1200" dirty="0">
                          <a:solidFill>
                            <a:srgbClr val="595959"/>
                          </a:solidFill>
                          <a:latin typeface="微软雅黑" panose="020B0503020204020204" pitchFamily="34" charset="-122"/>
                          <a:ea typeface="微软雅黑" panose="020B0503020204020204" pitchFamily="34" charset="-122"/>
                          <a:cs typeface="+mn-cs"/>
                        </a:rPr>
                        <a:t>送出饼干</a:t>
                      </a:r>
                    </a:p>
                  </a:txBody>
                  <a:tcPr anchor="ctr"/>
                </a:tc>
                <a:extLst>
                  <a:ext uri="{0D108BD9-81ED-4DB2-BD59-A6C34878D82A}">
                    <a16:rowId xmlns:a16="http://schemas.microsoft.com/office/drawing/2014/main" val="10002"/>
                  </a:ext>
                </a:extLst>
              </a:tr>
              <a:tr h="591820">
                <a:tc>
                  <a:txBody>
                    <a:bodyPr/>
                    <a:lstStyle/>
                    <a:p>
                      <a:pPr marL="0" algn="ctr" defTabSz="1219200" rtl="0" eaLnBrk="1" latinLnBrk="0" hangingPunct="1">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test3</a:t>
                      </a:r>
                    </a:p>
                  </a:txBody>
                  <a:tcPr anchor="ctr"/>
                </a:tc>
                <a:tc>
                  <a:txBody>
                    <a:bodyPr/>
                    <a:lstStyle/>
                    <a:p>
                      <a:pPr marL="0" algn="ctr" defTabSz="1219200" rtl="0" eaLnBrk="1" latinLnBrk="0" hangingPunct="1">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5角</a:t>
                      </a:r>
                    </a:p>
                  </a:txBody>
                  <a:tcPr anchor="ctr"/>
                </a:tc>
                <a:tc>
                  <a:txBody>
                    <a:bodyPr/>
                    <a:lstStyle/>
                    <a:p>
                      <a:pPr marL="0" algn="ctr" defTabSz="1219200" rtl="0" eaLnBrk="1" latinLnBrk="0" hangingPunct="1">
                        <a:buNone/>
                      </a:pPr>
                      <a:r>
                        <a:rPr lang="zh-CN" altLang="en-US" sz="1800" kern="1200" dirty="0">
                          <a:solidFill>
                            <a:srgbClr val="595959"/>
                          </a:solidFill>
                          <a:latin typeface="微软雅黑" panose="020B0503020204020204" pitchFamily="34" charset="-122"/>
                          <a:ea typeface="微软雅黑" panose="020B0503020204020204" pitchFamily="34" charset="-122"/>
                          <a:cs typeface="+mn-cs"/>
                        </a:rPr>
                        <a:t>不选择</a:t>
                      </a:r>
                    </a:p>
                  </a:txBody>
                  <a:tcPr anchor="ctr"/>
                </a:tc>
                <a:tc>
                  <a:txBody>
                    <a:bodyPr/>
                    <a:lstStyle/>
                    <a:p>
                      <a:pPr marL="0" algn="ctr" defTabSz="1219200" rtl="0" eaLnBrk="1" latinLnBrk="0" hangingPunct="1">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有</a:t>
                      </a:r>
                    </a:p>
                  </a:txBody>
                  <a:tcPr anchor="ctr"/>
                </a:tc>
                <a:tc>
                  <a:txBody>
                    <a:bodyPr/>
                    <a:lstStyle/>
                    <a:p>
                      <a:pPr marL="0" algn="ctr"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退出5角硬币</a:t>
                      </a:r>
                    </a:p>
                  </a:txBody>
                  <a:tcPr anchor="ctr"/>
                </a:tc>
                <a:extLst>
                  <a:ext uri="{0D108BD9-81ED-4DB2-BD59-A6C34878D82A}">
                    <a16:rowId xmlns:a16="http://schemas.microsoft.com/office/drawing/2014/main" val="10003"/>
                  </a:ext>
                </a:extLst>
              </a:tr>
              <a:tr h="601345">
                <a:tc>
                  <a:txBody>
                    <a:bodyPr/>
                    <a:lstStyle/>
                    <a:p>
                      <a:pPr marL="0" algn="ctr" defTabSz="1219200" rtl="0" eaLnBrk="1" latinLnBrk="0" hangingPunct="1">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test4</a:t>
                      </a:r>
                    </a:p>
                  </a:txBody>
                  <a:tcPr anchor="ctr"/>
                </a:tc>
                <a:tc>
                  <a:txBody>
                    <a:bodyPr/>
                    <a:lstStyle/>
                    <a:p>
                      <a:pPr marL="0" algn="ctr" defTabSz="1219200" rtl="0" eaLnBrk="1" latinLnBrk="0" hangingPunct="1">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1元</a:t>
                      </a:r>
                    </a:p>
                  </a:txBody>
                  <a:tcPr anchor="ctr"/>
                </a:tc>
                <a:tc>
                  <a:txBody>
                    <a:bodyPr/>
                    <a:lstStyle/>
                    <a:p>
                      <a:pPr marL="0" algn="ctr" defTabSz="1219200" rtl="0" eaLnBrk="1" latinLnBrk="0" hangingPunct="1">
                        <a:buNone/>
                      </a:pPr>
                      <a:r>
                        <a:rPr lang="en-US" altLang="zh-CN" sz="1800" kern="1200" dirty="0" err="1">
                          <a:solidFill>
                            <a:srgbClr val="595959"/>
                          </a:solidFill>
                          <a:latin typeface="微软雅黑" panose="020B0503020204020204" pitchFamily="34" charset="-122"/>
                          <a:ea typeface="微软雅黑" panose="020B0503020204020204" pitchFamily="34" charset="-122"/>
                          <a:cs typeface="+mn-cs"/>
                        </a:rPr>
                        <a:t>选择糖果</a:t>
                      </a:r>
                      <a:endParaRPr lang="en-US" altLang="zh-CN" sz="1800" kern="1200" dirty="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r>
                        <a:rPr lang="zh-CN" altLang="en-US" sz="1800" kern="1200" dirty="0">
                          <a:solidFill>
                            <a:srgbClr val="595959"/>
                          </a:solidFill>
                          <a:latin typeface="微软雅黑" panose="020B0503020204020204" pitchFamily="34" charset="-122"/>
                          <a:ea typeface="微软雅黑" panose="020B0503020204020204" pitchFamily="34" charset="-122"/>
                          <a:cs typeface="+mn-cs"/>
                          <a:sym typeface="+mn-ea"/>
                        </a:rPr>
                        <a:t>有</a:t>
                      </a:r>
                      <a:endParaRPr lang="en-US" altLang="zh-CN" sz="1800" kern="1200" dirty="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送出糖果并退出5角硬币</a:t>
                      </a:r>
                    </a:p>
                  </a:txBody>
                  <a:tcPr anchor="ctr"/>
                </a:tc>
                <a:extLst>
                  <a:ext uri="{0D108BD9-81ED-4DB2-BD59-A6C34878D82A}">
                    <a16:rowId xmlns:a16="http://schemas.microsoft.com/office/drawing/2014/main" val="10004"/>
                  </a:ext>
                </a:extLst>
              </a:tr>
              <a:tr h="743585">
                <a:tc>
                  <a:txBody>
                    <a:bodyPr/>
                    <a:lstStyle/>
                    <a:p>
                      <a:pPr marL="0" algn="ctr" defTabSz="1219200" rtl="0" eaLnBrk="1" latinLnBrk="0" hangingPunct="1">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test5</a:t>
                      </a:r>
                    </a:p>
                  </a:txBody>
                  <a:tcPr anchor="ctr"/>
                </a:tc>
                <a:tc>
                  <a:txBody>
                    <a:bodyPr/>
                    <a:lstStyle/>
                    <a:p>
                      <a:pPr marL="0" algn="ctr" defTabSz="1219200" rtl="0" eaLnBrk="1" latinLnBrk="0" hangingPunct="1">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1元</a:t>
                      </a:r>
                    </a:p>
                  </a:txBody>
                  <a:tcPr anchor="ctr"/>
                </a:tc>
                <a:tc>
                  <a:txBody>
                    <a:bodyPr/>
                    <a:lstStyle/>
                    <a:p>
                      <a:r>
                        <a:rPr lang="en-US" altLang="zh-CN" sz="1800" kern="1200" dirty="0" err="1">
                          <a:solidFill>
                            <a:srgbClr val="595959"/>
                          </a:solidFill>
                          <a:latin typeface="微软雅黑" panose="020B0503020204020204" pitchFamily="34" charset="-122"/>
                          <a:ea typeface="微软雅黑" panose="020B0503020204020204" pitchFamily="34" charset="-122"/>
                          <a:cs typeface="+mn-cs"/>
                          <a:sym typeface="+mn-ea"/>
                        </a:rPr>
                        <a:t>选择饼干</a:t>
                      </a:r>
                      <a:endParaRPr lang="zh-CN" dirty="0"/>
                    </a:p>
                  </a:txBody>
                  <a:tcPr anchor="ctr"/>
                </a:tc>
                <a:tc>
                  <a:txBody>
                    <a:bodyPr/>
                    <a:lstStyle/>
                    <a:p>
                      <a:pPr algn="ctr"/>
                      <a:r>
                        <a:rPr lang="zh-CN" altLang="en-US" sz="1800" kern="1200" dirty="0">
                          <a:solidFill>
                            <a:srgbClr val="595959"/>
                          </a:solidFill>
                          <a:latin typeface="微软雅黑" panose="020B0503020204020204" pitchFamily="34" charset="-122"/>
                          <a:ea typeface="微软雅黑" panose="020B0503020204020204" pitchFamily="34" charset="-122"/>
                          <a:cs typeface="+mn-cs"/>
                          <a:sym typeface="+mn-ea"/>
                        </a:rPr>
                        <a:t>有</a:t>
                      </a:r>
                      <a:endParaRPr lang="zh-CN" dirty="0"/>
                    </a:p>
                  </a:txBody>
                  <a:tcPr anchor="ctr"/>
                </a:tc>
                <a:tc>
                  <a:txBody>
                    <a:bodyPr/>
                    <a:lstStyle/>
                    <a:p>
                      <a:pPr marL="0" algn="ctr"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送出饼干并退出5角硬币</a:t>
                      </a:r>
                    </a:p>
                  </a:txBody>
                  <a:tcPr anchor="ctr"/>
                </a:tc>
                <a:extLst>
                  <a:ext uri="{0D108BD9-81ED-4DB2-BD59-A6C34878D82A}">
                    <a16:rowId xmlns:a16="http://schemas.microsoft.com/office/drawing/2014/main" val="10005"/>
                  </a:ext>
                </a:extLst>
              </a:tr>
              <a:tr h="601345">
                <a:tc>
                  <a:txBody>
                    <a:bodyPr/>
                    <a:lstStyle/>
                    <a:p>
                      <a:pPr marL="0" algn="ctr" defTabSz="1219200" rtl="0" eaLnBrk="1" latinLnBrk="0" hangingPunct="1">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sym typeface="+mn-ea"/>
                        </a:rPr>
                        <a:t>test6</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1元</a:t>
                      </a:r>
                    </a:p>
                  </a:txBody>
                  <a:tcPr anchor="ctr"/>
                </a:tc>
                <a:tc>
                  <a:txBody>
                    <a:bodyPr/>
                    <a:lstStyle/>
                    <a:p>
                      <a:pPr marL="0" algn="ctr" defTabSz="1219200" rtl="0" eaLnBrk="1" latinLnBrk="0" hangingPunct="1">
                        <a:buNone/>
                      </a:pPr>
                      <a:r>
                        <a:rPr lang="zh-CN" altLang="en-US" sz="1800" kern="1200" dirty="0">
                          <a:solidFill>
                            <a:srgbClr val="595959"/>
                          </a:solidFill>
                          <a:latin typeface="微软雅黑" panose="020B0503020204020204" pitchFamily="34" charset="-122"/>
                          <a:ea typeface="微软雅黑" panose="020B0503020204020204" pitchFamily="34" charset="-122"/>
                          <a:cs typeface="+mn-cs"/>
                          <a:sym typeface="+mn-ea"/>
                        </a:rPr>
                        <a:t>不选择</a:t>
                      </a:r>
                      <a:endParaRPr lang="en-US" altLang="zh-CN" sz="1800" kern="1200" dirty="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cs"/>
                          <a:sym typeface="+mn-ea"/>
                        </a:rPr>
                        <a:t>没有</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r>
                        <a:rPr lang="zh-CN" altLang="en-US" sz="1800" kern="1200" dirty="0">
                          <a:solidFill>
                            <a:srgbClr val="595959"/>
                          </a:solidFill>
                          <a:latin typeface="微软雅黑" panose="020B0503020204020204" pitchFamily="34" charset="-122"/>
                          <a:ea typeface="微软雅黑" panose="020B0503020204020204" pitchFamily="34" charset="-122"/>
                          <a:cs typeface="+mn-cs"/>
                        </a:rPr>
                        <a:t>亮</a:t>
                      </a:r>
                      <a:r>
                        <a:rPr lang="en-US" altLang="zh-CN" sz="1800" kern="1200" dirty="0">
                          <a:solidFill>
                            <a:srgbClr val="595959"/>
                          </a:solidFill>
                          <a:latin typeface="微软雅黑" panose="020B0503020204020204" pitchFamily="34" charset="-122"/>
                          <a:ea typeface="微软雅黑" panose="020B0503020204020204" pitchFamily="34" charset="-122"/>
                          <a:cs typeface="+mn-cs"/>
                        </a:rPr>
                        <a:t>红灯并退出1元硬币</a:t>
                      </a:r>
                    </a:p>
                  </a:txBody>
                  <a:tcPr anchor="ctr"/>
                </a:tc>
                <a:extLst>
                  <a:ext uri="{0D108BD9-81ED-4DB2-BD59-A6C34878D82A}">
                    <a16:rowId xmlns:a16="http://schemas.microsoft.com/office/drawing/2014/main" val="10008"/>
                  </a:ext>
                </a:extLst>
              </a:tr>
            </a:tbl>
          </a:graphicData>
        </a:graphic>
      </p:graphicFrame>
      <p:sp>
        <p:nvSpPr>
          <p:cNvPr id="3" name="Title 1">
            <a:extLst>
              <a:ext uri="{FF2B5EF4-FFF2-40B4-BE49-F238E27FC236}">
                <a16:creationId xmlns:a16="http://schemas.microsoft.com/office/drawing/2014/main" id="{23104DA4-31B1-FE29-FA3C-3A6D42F903F8}"/>
              </a:ext>
            </a:extLst>
          </p:cNvPr>
          <p:cNvSpPr txBox="1"/>
          <p:nvPr/>
        </p:nvSpPr>
        <p:spPr>
          <a:xfrm>
            <a:off x="1039559" y="189794"/>
            <a:ext cx="8799647"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2.3.</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	实例二：零食自动售货机售货情况的因果图与决策表绘制</a:t>
            </a: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p:cNvPicPr>
            <a:picLocks noChangeAspect="1"/>
          </p:cNvPicPr>
          <p:nvPr/>
        </p:nvPicPr>
        <p:blipFill>
          <a:blip r:embed="rId3"/>
          <a:stretch>
            <a:fillRect/>
          </a:stretch>
        </p:blipFill>
        <p:spPr>
          <a:xfrm>
            <a:off x="944880" y="2215515"/>
            <a:ext cx="2797810" cy="3898265"/>
          </a:xfrm>
          <a:prstGeom prst="rect">
            <a:avLst/>
          </a:prstGeom>
        </p:spPr>
      </p:pic>
      <p:sp>
        <p:nvSpPr>
          <p:cNvPr id="13" name="椭圆形标注 12"/>
          <p:cNvSpPr/>
          <p:nvPr/>
        </p:nvSpPr>
        <p:spPr>
          <a:xfrm>
            <a:off x="2968625" y="156019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p>
        </p:txBody>
      </p:sp>
      <p:sp>
        <p:nvSpPr>
          <p:cNvPr id="14" name="TextBox 35"/>
          <p:cNvSpPr txBox="1">
            <a:spLocks noChangeArrowheads="1"/>
          </p:cNvSpPr>
          <p:nvPr/>
        </p:nvSpPr>
        <p:spPr bwMode="auto">
          <a:xfrm>
            <a:off x="3247390" y="163830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p>
        </p:txBody>
      </p:sp>
      <p:sp>
        <p:nvSpPr>
          <p:cNvPr id="15" name="TextBox 35"/>
          <p:cNvSpPr txBox="1">
            <a:spLocks noChangeArrowheads="1"/>
          </p:cNvSpPr>
          <p:nvPr/>
        </p:nvSpPr>
        <p:spPr bwMode="auto">
          <a:xfrm>
            <a:off x="5935354" y="3213770"/>
            <a:ext cx="5669299" cy="10439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defRPr/>
            </a:pPr>
            <a:r>
              <a:rPr lang="zh-CN" sz="200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掌握三角形</a:t>
            </a:r>
            <a:r>
              <a:rPr lang="zh-CN" altLang="en-US" sz="200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问题的</a:t>
            </a:r>
            <a:r>
              <a:rPr sz="200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因果图与决策表</a:t>
            </a:r>
            <a:r>
              <a:rPr lang="zh-CN" sz="200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的</a:t>
            </a:r>
            <a:r>
              <a:rPr sz="200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绘制，能够</a:t>
            </a:r>
            <a:r>
              <a:rPr lang="zh-CN" sz="2000">
                <a:solidFill>
                  <a:srgbClr val="0070C0"/>
                </a:solidFill>
                <a:latin typeface="微软雅黑" panose="020B0503020204020204" pitchFamily="34" charset="-122"/>
                <a:ea typeface="微软雅黑" panose="020B0503020204020204" pitchFamily="34" charset="-122"/>
                <a:cs typeface="+mn-ea"/>
                <a:sym typeface="字魂58号-创中黑" panose="00000500000000000000" pitchFamily="2" charset="-122"/>
              </a:rPr>
              <a:t>通过因果图与决策表设计三角形的测试用例</a:t>
            </a:r>
          </a:p>
        </p:txBody>
      </p:sp>
      <p:grpSp>
        <p:nvGrpSpPr>
          <p:cNvPr id="19" name="组合 18"/>
          <p:cNvGrpSpPr/>
          <p:nvPr/>
        </p:nvGrpSpPr>
        <p:grpSpPr>
          <a:xfrm>
            <a:off x="5452110" y="3540125"/>
            <a:ext cx="405130" cy="405130"/>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1" name="Title 1"/>
          <p:cNvSpPr txBox="1"/>
          <p:nvPr/>
        </p:nvSpPr>
        <p:spPr>
          <a:xfrm>
            <a:off x="1143635" y="266700"/>
            <a:ext cx="701421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2.3.</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5</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	实例三：三角形问题的因果图与决策表绘制</a:t>
            </a: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35"/>
          <p:cNvSpPr txBox="1">
            <a:spLocks noChangeArrowheads="1"/>
          </p:cNvSpPr>
          <p:nvPr/>
        </p:nvSpPr>
        <p:spPr bwMode="auto">
          <a:xfrm>
            <a:off x="982980" y="909955"/>
            <a:ext cx="10017125" cy="2197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indent="457200" algn="just">
              <a:lnSpc>
                <a:spcPct val="150000"/>
              </a:lnSpc>
              <a:buClrTx/>
              <a:buSzTx/>
              <a:buFontTx/>
            </a:pPr>
            <a:r>
              <a:rPr lang="zh-CN" altLang="en-US" sz="1800" dirty="0">
                <a:solidFill>
                  <a:srgbClr val="595959"/>
                </a:solidFill>
                <a:latin typeface="微软雅黑" panose="020B0503020204020204" pitchFamily="34" charset="-122"/>
                <a:ea typeface="微软雅黑" panose="020B0503020204020204" pitchFamily="34" charset="-122"/>
              </a:rPr>
              <a:t>三角形问题是一个非常经典的案例，下面将使用三角形讲解决策表的绘制与测试用例的设计。三角形的三边是否能构成三角形，如果能构成三角形，那么是构成一般三角形、等腰三角形还是等边三角形，据此分析，假设</a:t>
            </a:r>
            <a:r>
              <a:rPr lang="zh-CN" altLang="en-US" sz="1800" dirty="0">
                <a:solidFill>
                  <a:srgbClr val="0070C0"/>
                </a:solidFill>
                <a:latin typeface="微软雅黑" panose="020B0503020204020204" pitchFamily="34" charset="-122"/>
                <a:ea typeface="微软雅黑" panose="020B0503020204020204" pitchFamily="34" charset="-122"/>
              </a:rPr>
              <a:t>三角形的三边</a:t>
            </a:r>
            <a:r>
              <a:rPr lang="zh-CN" altLang="en-US" sz="1800" dirty="0">
                <a:solidFill>
                  <a:srgbClr val="595959"/>
                </a:solidFill>
                <a:latin typeface="微软雅黑" panose="020B0503020204020204" pitchFamily="34" charset="-122"/>
                <a:ea typeface="微软雅黑" panose="020B0503020204020204" pitchFamily="34" charset="-122"/>
              </a:rPr>
              <a:t>分别为</a:t>
            </a:r>
            <a:r>
              <a:rPr lang="zh-CN" altLang="en-US" sz="1800" dirty="0">
                <a:solidFill>
                  <a:srgbClr val="0070C0"/>
                </a:solidFill>
                <a:latin typeface="微软雅黑" panose="020B0503020204020204" pitchFamily="34" charset="-122"/>
                <a:ea typeface="微软雅黑" panose="020B0503020204020204" pitchFamily="34" charset="-122"/>
              </a:rPr>
              <a:t>a、b、c</a:t>
            </a:r>
            <a:r>
              <a:rPr lang="zh-CN" altLang="en-US" sz="1800" dirty="0">
                <a:solidFill>
                  <a:srgbClr val="595959"/>
                </a:solidFill>
                <a:latin typeface="微软雅黑" panose="020B0503020204020204" pitchFamily="34" charset="-122"/>
                <a:ea typeface="微软雅黑" panose="020B0503020204020204" pitchFamily="34" charset="-122"/>
              </a:rPr>
              <a:t>，则三角形问题有</a:t>
            </a:r>
            <a:r>
              <a:rPr lang="zh-CN" altLang="en-US" sz="1800" dirty="0">
                <a:solidFill>
                  <a:srgbClr val="0070C0"/>
                </a:solidFill>
                <a:latin typeface="微软雅黑" panose="020B0503020204020204" pitchFamily="34" charset="-122"/>
                <a:ea typeface="微软雅黑" panose="020B0503020204020204" pitchFamily="34" charset="-122"/>
              </a:rPr>
              <a:t>4个原因</a:t>
            </a:r>
            <a:r>
              <a:rPr lang="zh-CN" altLang="en-US" sz="1800" dirty="0">
                <a:solidFill>
                  <a:srgbClr val="595959"/>
                </a:solidFill>
                <a:latin typeface="微软雅黑" panose="020B0503020204020204" pitchFamily="34" charset="-122"/>
                <a:ea typeface="微软雅黑" panose="020B0503020204020204" pitchFamily="34" charset="-122"/>
              </a:rPr>
              <a:t>：</a:t>
            </a:r>
            <a:r>
              <a:rPr lang="zh-CN" altLang="en-US" sz="1800" dirty="0">
                <a:solidFill>
                  <a:srgbClr val="0070C0"/>
                </a:solidFill>
                <a:latin typeface="微软雅黑" panose="020B0503020204020204" pitchFamily="34" charset="-122"/>
                <a:ea typeface="微软雅黑" panose="020B0503020204020204" pitchFamily="34" charset="-122"/>
              </a:rPr>
              <a:t>是否构成三角形、a=b?、b=c?、c=a?</a:t>
            </a:r>
            <a:r>
              <a:rPr lang="zh-CN" altLang="en-US" sz="1800" dirty="0">
                <a:solidFill>
                  <a:srgbClr val="595959"/>
                </a:solidFill>
                <a:latin typeface="微软雅黑" panose="020B0503020204020204" pitchFamily="34" charset="-122"/>
                <a:ea typeface="微软雅黑" panose="020B0503020204020204" pitchFamily="34" charset="-122"/>
              </a:rPr>
              <a:t>；有</a:t>
            </a:r>
            <a:r>
              <a:rPr lang="zh-CN" altLang="en-US" sz="1800" dirty="0">
                <a:solidFill>
                  <a:srgbClr val="0070C0"/>
                </a:solidFill>
                <a:latin typeface="微软雅黑" panose="020B0503020204020204" pitchFamily="34" charset="-122"/>
                <a:ea typeface="微软雅黑" panose="020B0503020204020204" pitchFamily="34" charset="-122"/>
              </a:rPr>
              <a:t>5个结果</a:t>
            </a:r>
            <a:r>
              <a:rPr lang="zh-CN" altLang="en-US" sz="1800" dirty="0">
                <a:solidFill>
                  <a:srgbClr val="595959"/>
                </a:solidFill>
                <a:latin typeface="微软雅黑" panose="020B0503020204020204" pitchFamily="34" charset="-122"/>
                <a:ea typeface="微软雅黑" panose="020B0503020204020204" pitchFamily="34" charset="-122"/>
              </a:rPr>
              <a:t>：</a:t>
            </a:r>
            <a:r>
              <a:rPr lang="zh-CN" altLang="en-US" sz="1800" dirty="0">
                <a:solidFill>
                  <a:srgbClr val="0070C0"/>
                </a:solidFill>
                <a:latin typeface="微软雅黑" panose="020B0503020204020204" pitchFamily="34" charset="-122"/>
                <a:ea typeface="微软雅黑" panose="020B0503020204020204" pitchFamily="34" charset="-122"/>
              </a:rPr>
              <a:t>不构成三角形、一般三角形、等腰三角形、等边三角形、不符合逻辑</a:t>
            </a:r>
            <a:r>
              <a:rPr lang="zh-CN" altLang="en-US" sz="1800" dirty="0">
                <a:solidFill>
                  <a:srgbClr val="595959"/>
                </a:solidFill>
                <a:latin typeface="微软雅黑" panose="020B0503020204020204" pitchFamily="34" charset="-122"/>
                <a:ea typeface="微软雅黑" panose="020B0503020204020204" pitchFamily="34" charset="-122"/>
              </a:rPr>
              <a:t>，</a:t>
            </a:r>
            <a:r>
              <a:rPr lang="zh-CN" altLang="en-US" sz="1800" dirty="0">
                <a:solidFill>
                  <a:srgbClr val="0070C0"/>
                </a:solidFill>
                <a:latin typeface="微软雅黑" panose="020B0503020204020204" pitchFamily="34" charset="-122"/>
                <a:ea typeface="微软雅黑" panose="020B0503020204020204" pitchFamily="34" charset="-122"/>
              </a:rPr>
              <a:t>三角形问题的原因与结果</a:t>
            </a:r>
            <a:r>
              <a:rPr lang="zh-CN" altLang="en-US" sz="1800" dirty="0">
                <a:solidFill>
                  <a:srgbClr val="595959"/>
                </a:solidFill>
                <a:latin typeface="微软雅黑" panose="020B0503020204020204" pitchFamily="34" charset="-122"/>
                <a:ea typeface="微软雅黑" panose="020B0503020204020204" pitchFamily="34" charset="-122"/>
              </a:rPr>
              <a:t>如下表所示。</a:t>
            </a:r>
          </a:p>
        </p:txBody>
      </p:sp>
      <p:graphicFrame>
        <p:nvGraphicFramePr>
          <p:cNvPr id="3" name="表格 2"/>
          <p:cNvGraphicFramePr/>
          <p:nvPr>
            <p:custDataLst>
              <p:tags r:id="rId1"/>
            </p:custDataLst>
          </p:nvPr>
        </p:nvGraphicFramePr>
        <p:xfrm>
          <a:off x="2710815" y="3107690"/>
          <a:ext cx="5614670" cy="3010535"/>
        </p:xfrm>
        <a:graphic>
          <a:graphicData uri="http://schemas.openxmlformats.org/drawingml/2006/table">
            <a:tbl>
              <a:tblPr firstRow="1" bandRow="1">
                <a:tableStyleId>{5C22544A-7EE6-4342-B048-85BDC9FD1C3A}</a:tableStyleId>
              </a:tblPr>
              <a:tblGrid>
                <a:gridCol w="2002155">
                  <a:extLst>
                    <a:ext uri="{9D8B030D-6E8A-4147-A177-3AD203B41FA5}">
                      <a16:colId xmlns:a16="http://schemas.microsoft.com/office/drawing/2014/main" val="20000"/>
                    </a:ext>
                  </a:extLst>
                </a:gridCol>
                <a:gridCol w="874395">
                  <a:extLst>
                    <a:ext uri="{9D8B030D-6E8A-4147-A177-3AD203B41FA5}">
                      <a16:colId xmlns:a16="http://schemas.microsoft.com/office/drawing/2014/main" val="20001"/>
                    </a:ext>
                  </a:extLst>
                </a:gridCol>
                <a:gridCol w="1870710">
                  <a:extLst>
                    <a:ext uri="{9D8B030D-6E8A-4147-A177-3AD203B41FA5}">
                      <a16:colId xmlns:a16="http://schemas.microsoft.com/office/drawing/2014/main" val="20002"/>
                    </a:ext>
                  </a:extLst>
                </a:gridCol>
                <a:gridCol w="867410">
                  <a:extLst>
                    <a:ext uri="{9D8B030D-6E8A-4147-A177-3AD203B41FA5}">
                      <a16:colId xmlns:a16="http://schemas.microsoft.com/office/drawing/2014/main" val="20003"/>
                    </a:ext>
                  </a:extLst>
                </a:gridCol>
              </a:tblGrid>
              <a:tr h="530225">
                <a:tc gridSpan="2">
                  <a:txBody>
                    <a:bodyPr/>
                    <a:lstStyle/>
                    <a:p>
                      <a:pPr algn="ctr">
                        <a:lnSpc>
                          <a:spcPct val="90000"/>
                        </a:lnSpc>
                        <a:buNone/>
                      </a:pPr>
                      <a:r>
                        <a:rPr lang="zh-CN" altLang="en-US" sz="1800" b="1">
                          <a:latin typeface="微软雅黑" panose="020B0503020204020204" pitchFamily="34" charset="-122"/>
                          <a:ea typeface="微软雅黑" panose="020B0503020204020204" pitchFamily="34" charset="-122"/>
                        </a:rPr>
                        <a:t>原因</a:t>
                      </a:r>
                      <a:endParaRPr lang="zh-CN" altLang="en-US" sz="1800">
                        <a:latin typeface="微软雅黑" panose="020B0503020204020204" pitchFamily="34" charset="-122"/>
                        <a:ea typeface="微软雅黑" panose="020B0503020204020204" pitchFamily="34" charset="-122"/>
                      </a:endParaRPr>
                    </a:p>
                  </a:txBody>
                  <a:tcPr anchor="ctr"/>
                </a:tc>
                <a:tc hMerge="1">
                  <a:txBody>
                    <a:bodyPr/>
                    <a:lstStyle/>
                    <a:p>
                      <a:endParaRPr lang="zh-CN"/>
                    </a:p>
                  </a:txBody>
                  <a:tcPr anchor="ctr"/>
                </a:tc>
                <a:tc gridSpan="2">
                  <a:txBody>
                    <a:bodyPr/>
                    <a:lstStyle/>
                    <a:p>
                      <a:pPr algn="ctr">
                        <a:lnSpc>
                          <a:spcPct val="90000"/>
                        </a:lnSpc>
                        <a:buNone/>
                      </a:pPr>
                      <a:r>
                        <a:rPr lang="zh-CN" altLang="en-US" sz="1800">
                          <a:latin typeface="微软雅黑" panose="020B0503020204020204" pitchFamily="34" charset="-122"/>
                          <a:ea typeface="微软雅黑" panose="020B0503020204020204" pitchFamily="34" charset="-122"/>
                        </a:rPr>
                        <a:t>结果</a:t>
                      </a:r>
                    </a:p>
                  </a:txBody>
                  <a:tcPr anchor="ctr"/>
                </a:tc>
                <a:tc hMerge="1">
                  <a:txBody>
                    <a:bodyPr/>
                    <a:lstStyle/>
                    <a:p>
                      <a:endParaRPr lang="zh-CN"/>
                    </a:p>
                  </a:txBody>
                  <a:tcPr anchor="ctr"/>
                </a:tc>
                <a:extLst>
                  <a:ext uri="{0D108BD9-81ED-4DB2-BD59-A6C34878D82A}">
                    <a16:rowId xmlns:a16="http://schemas.microsoft.com/office/drawing/2014/main" val="10000"/>
                  </a:ext>
                </a:extLst>
              </a:tr>
              <a:tr h="517525">
                <a:tc>
                  <a:txBody>
                    <a:bodyPr/>
                    <a:lstStyle/>
                    <a:p>
                      <a:pPr algn="ctr">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是否构成三角形</a:t>
                      </a:r>
                    </a:p>
                  </a:txBody>
                  <a:tcPr anchor="ctr"/>
                </a:tc>
                <a:tc>
                  <a:txBody>
                    <a:bodyPr/>
                    <a:lstStyle/>
                    <a:p>
                      <a:pPr algn="ctr">
                        <a:buNone/>
                      </a:pPr>
                      <a:r>
                        <a:rPr lang="en-US" sz="1800" kern="1200">
                          <a:solidFill>
                            <a:srgbClr val="595959"/>
                          </a:solidFill>
                          <a:latin typeface="微软雅黑" panose="020B0503020204020204" pitchFamily="34" charset="-122"/>
                          <a:ea typeface="微软雅黑" panose="020B0503020204020204" pitchFamily="34" charset="-122"/>
                          <a:cs typeface="+mn-cs"/>
                          <a:sym typeface="+mn-ea"/>
                        </a:rPr>
                        <a:t>c</a:t>
                      </a:r>
                      <a:r>
                        <a:rPr lang="en-US" sz="1800" kern="1200" baseline="-25000">
                          <a:solidFill>
                            <a:srgbClr val="595959"/>
                          </a:solidFill>
                          <a:latin typeface="微软雅黑" panose="020B0503020204020204" pitchFamily="34" charset="-122"/>
                          <a:ea typeface="微软雅黑" panose="020B0503020204020204" pitchFamily="34" charset="-122"/>
                          <a:cs typeface="+mn-cs"/>
                          <a:sym typeface="+mn-ea"/>
                        </a:rPr>
                        <a:t>1</a:t>
                      </a:r>
                      <a:endParaRPr lang="zh-CN" altLang="en-US" sz="1800" kern="1200" baseline="-250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不构成三角形</a:t>
                      </a:r>
                    </a:p>
                  </a:txBody>
                  <a:tcPr anchor="ctr"/>
                </a:tc>
                <a:tc>
                  <a:txBody>
                    <a:bodyPr/>
                    <a:lstStyle/>
                    <a:p>
                      <a:pPr marL="0" algn="ctr" defTabSz="1219200" rtl="0" eaLnBrk="1" latinLnBrk="0" hangingPunct="1">
                        <a:buClrTx/>
                        <a:buSzTx/>
                        <a:buFontTx/>
                        <a:buNone/>
                      </a:pPr>
                      <a:r>
                        <a:rPr lang="en-US" sz="1800" kern="1200">
                          <a:solidFill>
                            <a:srgbClr val="595959"/>
                          </a:solidFill>
                          <a:latin typeface="微软雅黑" panose="020B0503020204020204" pitchFamily="34" charset="-122"/>
                          <a:ea typeface="微软雅黑" panose="020B0503020204020204" pitchFamily="34" charset="-122"/>
                          <a:cs typeface="+mn-cs"/>
                          <a:sym typeface="+mn-ea"/>
                        </a:rPr>
                        <a:t>e</a:t>
                      </a:r>
                      <a:r>
                        <a:rPr lang="en-US" sz="1800" kern="1200" baseline="-25000">
                          <a:solidFill>
                            <a:srgbClr val="595959"/>
                          </a:solidFill>
                          <a:latin typeface="微软雅黑" panose="020B0503020204020204" pitchFamily="34" charset="-122"/>
                          <a:ea typeface="微软雅黑" panose="020B0503020204020204" pitchFamily="34" charset="-122"/>
                          <a:cs typeface="+mn-cs"/>
                          <a:sym typeface="+mn-ea"/>
                        </a:rPr>
                        <a:t>1</a:t>
                      </a:r>
                      <a:endParaRPr lang="en-US" altLang="zh-CN" sz="1800" kern="1200" baseline="-25000">
                        <a:solidFill>
                          <a:srgbClr val="595959"/>
                        </a:solidFill>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10001"/>
                  </a:ext>
                </a:extLst>
              </a:tr>
              <a:tr h="482600">
                <a:tc>
                  <a:txBody>
                    <a:bodyPr/>
                    <a:lstStyle/>
                    <a:p>
                      <a:pPr algn="ctr">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a=b?</a:t>
                      </a:r>
                    </a:p>
                  </a:txBody>
                  <a:tcPr anchor="ctr"/>
                </a:tc>
                <a:tc>
                  <a:txBody>
                    <a:bodyPr/>
                    <a:lstStyle/>
                    <a:p>
                      <a:pPr algn="ctr">
                        <a:buClrTx/>
                        <a:buSzTx/>
                        <a:buFontTx/>
                        <a:buNone/>
                      </a:pPr>
                      <a:r>
                        <a:rPr lang="en-US" sz="1800" kern="1200">
                          <a:solidFill>
                            <a:srgbClr val="595959"/>
                          </a:solidFill>
                          <a:latin typeface="微软雅黑" panose="020B0503020204020204" pitchFamily="34" charset="-122"/>
                          <a:ea typeface="微软雅黑" panose="020B0503020204020204" pitchFamily="34" charset="-122"/>
                          <a:cs typeface="+mn-cs"/>
                          <a:sym typeface="+mn-ea"/>
                        </a:rPr>
                        <a:t>c</a:t>
                      </a:r>
                      <a:r>
                        <a:rPr lang="en-US" sz="1800" kern="1200" baseline="-25000">
                          <a:solidFill>
                            <a:srgbClr val="595959"/>
                          </a:solidFill>
                          <a:latin typeface="微软雅黑" panose="020B0503020204020204" pitchFamily="34" charset="-122"/>
                          <a:ea typeface="微软雅黑" panose="020B0503020204020204" pitchFamily="34" charset="-122"/>
                          <a:cs typeface="+mn-cs"/>
                          <a:sym typeface="+mn-ea"/>
                        </a:rPr>
                        <a:t>2</a:t>
                      </a:r>
                      <a:endParaRPr lang="en-US" altLang="zh-CN" sz="1800" kern="1200" baseline="-250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一般三角形</a:t>
                      </a:r>
                    </a:p>
                  </a:txBody>
                  <a:tcPr anchor="ctr"/>
                </a:tc>
                <a:tc>
                  <a:txBody>
                    <a:bodyPr/>
                    <a:lstStyle/>
                    <a:p>
                      <a:pPr marL="0" algn="ctr" defTabSz="1219200" rtl="0" eaLnBrk="1" latinLnBrk="0" hangingPunct="1">
                        <a:buClrTx/>
                        <a:buSzTx/>
                        <a:buFontTx/>
                        <a:buNone/>
                      </a:pPr>
                      <a:r>
                        <a:rPr lang="en-US" sz="1800" kern="1200">
                          <a:solidFill>
                            <a:srgbClr val="595959"/>
                          </a:solidFill>
                          <a:latin typeface="微软雅黑" panose="020B0503020204020204" pitchFamily="34" charset="-122"/>
                          <a:ea typeface="微软雅黑" panose="020B0503020204020204" pitchFamily="34" charset="-122"/>
                          <a:cs typeface="+mn-cs"/>
                          <a:sym typeface="+mn-ea"/>
                        </a:rPr>
                        <a:t>e</a:t>
                      </a:r>
                      <a:r>
                        <a:rPr lang="en-US" sz="1800" kern="1200" baseline="-25000">
                          <a:solidFill>
                            <a:srgbClr val="595959"/>
                          </a:solidFill>
                          <a:latin typeface="微软雅黑" panose="020B0503020204020204" pitchFamily="34" charset="-122"/>
                          <a:ea typeface="微软雅黑" panose="020B0503020204020204" pitchFamily="34" charset="-122"/>
                          <a:cs typeface="+mn-cs"/>
                          <a:sym typeface="+mn-ea"/>
                        </a:rPr>
                        <a:t>2</a:t>
                      </a:r>
                      <a:endParaRPr lang="en-US" altLang="zh-CN" sz="1800" kern="1200" baseline="-25000">
                        <a:solidFill>
                          <a:srgbClr val="595959"/>
                        </a:solidFill>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10002"/>
                  </a:ext>
                </a:extLst>
              </a:tr>
              <a:tr h="487680">
                <a:tc>
                  <a:txBody>
                    <a:bodyPr/>
                    <a:lstStyle/>
                    <a:p>
                      <a:pPr algn="ctr">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b=c?</a:t>
                      </a:r>
                    </a:p>
                  </a:txBody>
                  <a:tcPr anchor="ctr"/>
                </a:tc>
                <a:tc>
                  <a:txBody>
                    <a:bodyPr/>
                    <a:lstStyle/>
                    <a:p>
                      <a:pPr marL="0" algn="ctr" defTabSz="1219200" rtl="0" eaLnBrk="1" latinLnBrk="0" hangingPunct="1">
                        <a:buClrTx/>
                        <a:buSzTx/>
                        <a:buFontTx/>
                        <a:buNone/>
                      </a:pPr>
                      <a:r>
                        <a:rPr lang="en-US" sz="1800" kern="1200">
                          <a:solidFill>
                            <a:srgbClr val="595959"/>
                          </a:solidFill>
                          <a:latin typeface="微软雅黑" panose="020B0503020204020204" pitchFamily="34" charset="-122"/>
                          <a:ea typeface="微软雅黑" panose="020B0503020204020204" pitchFamily="34" charset="-122"/>
                          <a:cs typeface="+mn-cs"/>
                          <a:sym typeface="+mn-ea"/>
                        </a:rPr>
                        <a:t>c</a:t>
                      </a:r>
                      <a:r>
                        <a:rPr lang="en-US" sz="1800" kern="1200" baseline="-25000">
                          <a:solidFill>
                            <a:srgbClr val="595959"/>
                          </a:solidFill>
                          <a:latin typeface="微软雅黑" panose="020B0503020204020204" pitchFamily="34" charset="-122"/>
                          <a:ea typeface="微软雅黑" panose="020B0503020204020204" pitchFamily="34" charset="-122"/>
                          <a:cs typeface="+mn-cs"/>
                          <a:sym typeface="+mn-ea"/>
                        </a:rPr>
                        <a:t>3</a:t>
                      </a:r>
                      <a:endParaRPr lang="en-US" altLang="zh-CN" sz="1800" kern="1200" baseline="-250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等腰三角形</a:t>
                      </a:r>
                    </a:p>
                  </a:txBody>
                  <a:tcPr anchor="ctr"/>
                </a:tc>
                <a:tc>
                  <a:txBody>
                    <a:bodyPr/>
                    <a:lstStyle/>
                    <a:p>
                      <a:pPr marL="0" algn="ctr" defTabSz="1219200" rtl="0" eaLnBrk="1" latinLnBrk="0" hangingPunct="1">
                        <a:buClrTx/>
                        <a:buSzTx/>
                        <a:buFontTx/>
                        <a:buNone/>
                      </a:pPr>
                      <a:r>
                        <a:rPr lang="en-US" sz="1800" kern="1200">
                          <a:solidFill>
                            <a:srgbClr val="595959"/>
                          </a:solidFill>
                          <a:latin typeface="微软雅黑" panose="020B0503020204020204" pitchFamily="34" charset="-122"/>
                          <a:ea typeface="微软雅黑" panose="020B0503020204020204" pitchFamily="34" charset="-122"/>
                          <a:cs typeface="+mn-cs"/>
                          <a:sym typeface="+mn-ea"/>
                        </a:rPr>
                        <a:t>e</a:t>
                      </a:r>
                      <a:r>
                        <a:rPr lang="en-US" sz="1800" kern="1200" baseline="-25000">
                          <a:solidFill>
                            <a:srgbClr val="595959"/>
                          </a:solidFill>
                          <a:latin typeface="微软雅黑" panose="020B0503020204020204" pitchFamily="34" charset="-122"/>
                          <a:ea typeface="微软雅黑" panose="020B0503020204020204" pitchFamily="34" charset="-122"/>
                          <a:cs typeface="+mn-cs"/>
                          <a:sym typeface="+mn-ea"/>
                        </a:rPr>
                        <a:t>3</a:t>
                      </a:r>
                      <a:endParaRPr lang="en-US" altLang="zh-CN" sz="1800" kern="1200" baseline="-25000">
                        <a:solidFill>
                          <a:srgbClr val="595959"/>
                        </a:solidFill>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10003"/>
                  </a:ext>
                </a:extLst>
              </a:tr>
              <a:tr h="496570">
                <a:tc rowSpan="2">
                  <a:txBody>
                    <a:bodyPr/>
                    <a:lstStyle/>
                    <a:p>
                      <a:pPr algn="ctr">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a=c?</a:t>
                      </a:r>
                    </a:p>
                  </a:txBody>
                  <a:tcPr anchor="ctr"/>
                </a:tc>
                <a:tc rowSpan="2">
                  <a:txBody>
                    <a:bodyPr/>
                    <a:lstStyle/>
                    <a:p>
                      <a:pPr marL="0" algn="ctr" defTabSz="1219200" rtl="0" eaLnBrk="1" latinLnBrk="0" hangingPunct="1">
                        <a:buClrTx/>
                        <a:buSzTx/>
                        <a:buFontTx/>
                        <a:buNone/>
                      </a:pPr>
                      <a:r>
                        <a:rPr lang="en-US" sz="1800" kern="1200">
                          <a:solidFill>
                            <a:srgbClr val="595959"/>
                          </a:solidFill>
                          <a:latin typeface="微软雅黑" panose="020B0503020204020204" pitchFamily="34" charset="-122"/>
                          <a:ea typeface="微软雅黑" panose="020B0503020204020204" pitchFamily="34" charset="-122"/>
                          <a:cs typeface="+mn-cs"/>
                          <a:sym typeface="+mn-ea"/>
                        </a:rPr>
                        <a:t>c</a:t>
                      </a:r>
                      <a:r>
                        <a:rPr lang="en-US" sz="1800" kern="1200" baseline="-25000">
                          <a:solidFill>
                            <a:srgbClr val="595959"/>
                          </a:solidFill>
                          <a:latin typeface="微软雅黑" panose="020B0503020204020204" pitchFamily="34" charset="-122"/>
                          <a:ea typeface="微软雅黑" panose="020B0503020204020204" pitchFamily="34" charset="-122"/>
                          <a:cs typeface="+mn-cs"/>
                          <a:sym typeface="+mn-ea"/>
                        </a:rPr>
                        <a:t>4</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等边三角形</a:t>
                      </a:r>
                    </a:p>
                  </a:txBody>
                  <a:tcPr anchor="ctr"/>
                </a:tc>
                <a:tc>
                  <a:txBody>
                    <a:bodyPr/>
                    <a:lstStyle/>
                    <a:p>
                      <a:pPr marL="0" algn="ctr" defTabSz="1219200" rtl="0" eaLnBrk="1" latinLnBrk="0" hangingPunct="1">
                        <a:buClrTx/>
                        <a:buSzTx/>
                        <a:buFontTx/>
                        <a:buNone/>
                      </a:pPr>
                      <a:r>
                        <a:rPr lang="en-US" sz="1800" kern="1200">
                          <a:solidFill>
                            <a:srgbClr val="595959"/>
                          </a:solidFill>
                          <a:latin typeface="微软雅黑" panose="020B0503020204020204" pitchFamily="34" charset="-122"/>
                          <a:ea typeface="微软雅黑" panose="020B0503020204020204" pitchFamily="34" charset="-122"/>
                          <a:cs typeface="+mn-cs"/>
                          <a:sym typeface="+mn-ea"/>
                        </a:rPr>
                        <a:t>e</a:t>
                      </a:r>
                      <a:r>
                        <a:rPr lang="en-US" sz="1800" kern="1200" baseline="-25000">
                          <a:solidFill>
                            <a:srgbClr val="595959"/>
                          </a:solidFill>
                          <a:latin typeface="微软雅黑" panose="020B0503020204020204" pitchFamily="34" charset="-122"/>
                          <a:ea typeface="微软雅黑" panose="020B0503020204020204" pitchFamily="34" charset="-122"/>
                          <a:cs typeface="+mn-cs"/>
                          <a:sym typeface="+mn-ea"/>
                        </a:rPr>
                        <a:t>4</a:t>
                      </a:r>
                      <a:endParaRPr lang="en-US" altLang="zh-CN" sz="1800" kern="1200" baseline="-25000">
                        <a:solidFill>
                          <a:srgbClr val="595959"/>
                        </a:solidFill>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10004"/>
                  </a:ext>
                </a:extLst>
              </a:tr>
              <a:tr h="495935">
                <a:tc vMerge="1">
                  <a:txBody>
                    <a:bodyPr/>
                    <a:lstStyle/>
                    <a:p>
                      <a:endParaRPr lang="zh-CN"/>
                    </a:p>
                  </a:txBody>
                  <a:tcPr anchor="ctr"/>
                </a:tc>
                <a:tc vMerge="1">
                  <a:txBody>
                    <a:bodyPr/>
                    <a:lstStyle/>
                    <a:p>
                      <a:endParaRPr lang="zh-CN"/>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不符合逻辑</a:t>
                      </a:r>
                    </a:p>
                  </a:txBody>
                  <a:tcPr anchor="ctr"/>
                </a:tc>
                <a:tc>
                  <a:txBody>
                    <a:bodyPr/>
                    <a:lstStyle/>
                    <a:p>
                      <a:pPr marL="0" algn="ctr" defTabSz="1219200" rtl="0" eaLnBrk="1" latinLnBrk="0" hangingPunct="1">
                        <a:buClrTx/>
                        <a:buSzTx/>
                        <a:buFontTx/>
                        <a:buNone/>
                      </a:pPr>
                      <a:r>
                        <a:rPr lang="en-US" sz="1800" kern="1200">
                          <a:solidFill>
                            <a:srgbClr val="595959"/>
                          </a:solidFill>
                          <a:latin typeface="微软雅黑" panose="020B0503020204020204" pitchFamily="34" charset="-122"/>
                          <a:ea typeface="微软雅黑" panose="020B0503020204020204" pitchFamily="34" charset="-122"/>
                          <a:cs typeface="+mn-cs"/>
                          <a:sym typeface="+mn-ea"/>
                        </a:rPr>
                        <a:t>e</a:t>
                      </a:r>
                      <a:r>
                        <a:rPr lang="en-US" sz="1800" kern="1200" baseline="-25000">
                          <a:solidFill>
                            <a:srgbClr val="595959"/>
                          </a:solidFill>
                          <a:latin typeface="微软雅黑" panose="020B0503020204020204" pitchFamily="34" charset="-122"/>
                          <a:ea typeface="微软雅黑" panose="020B0503020204020204" pitchFamily="34" charset="-122"/>
                          <a:cs typeface="+mn-cs"/>
                          <a:sym typeface="+mn-ea"/>
                        </a:rPr>
                        <a:t>5</a:t>
                      </a:r>
                      <a:endParaRPr lang="en-US" altLang="zh-CN" sz="1800" kern="1200" baseline="-25000">
                        <a:solidFill>
                          <a:srgbClr val="595959"/>
                        </a:solidFill>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10005"/>
                  </a:ext>
                </a:extLst>
              </a:tr>
            </a:tbl>
          </a:graphicData>
        </a:graphic>
      </p:graphicFrame>
      <p:sp>
        <p:nvSpPr>
          <p:cNvPr id="2" name="Title 1">
            <a:extLst>
              <a:ext uri="{FF2B5EF4-FFF2-40B4-BE49-F238E27FC236}">
                <a16:creationId xmlns:a16="http://schemas.microsoft.com/office/drawing/2014/main" id="{5C2A8894-E2B8-C25B-2DB0-F9EE2F76B825}"/>
              </a:ext>
            </a:extLst>
          </p:cNvPr>
          <p:cNvSpPr txBox="1"/>
          <p:nvPr/>
        </p:nvSpPr>
        <p:spPr>
          <a:xfrm>
            <a:off x="1143635" y="266700"/>
            <a:ext cx="701421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2.3.</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5</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	实例三：三角形问题的因果图与决策表绘制</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p:cNvGraphicFramePr/>
          <p:nvPr>
            <p:custDataLst>
              <p:tags r:id="rId1"/>
            </p:custDataLst>
          </p:nvPr>
        </p:nvGraphicFramePr>
        <p:xfrm>
          <a:off x="838835" y="1573530"/>
          <a:ext cx="10376535" cy="4276090"/>
        </p:xfrm>
        <a:graphic>
          <a:graphicData uri="http://schemas.openxmlformats.org/drawingml/2006/table">
            <a:tbl>
              <a:tblPr firstRow="1" bandRow="1">
                <a:tableStyleId>{5C22544A-7EE6-4342-B048-85BDC9FD1C3A}</a:tableStyleId>
              </a:tblPr>
              <a:tblGrid>
                <a:gridCol w="772795">
                  <a:extLst>
                    <a:ext uri="{9D8B030D-6E8A-4147-A177-3AD203B41FA5}">
                      <a16:colId xmlns:a16="http://schemas.microsoft.com/office/drawing/2014/main" val="20000"/>
                    </a:ext>
                  </a:extLst>
                </a:gridCol>
                <a:gridCol w="560705">
                  <a:extLst>
                    <a:ext uri="{9D8B030D-6E8A-4147-A177-3AD203B41FA5}">
                      <a16:colId xmlns:a16="http://schemas.microsoft.com/office/drawing/2014/main" val="20001"/>
                    </a:ext>
                  </a:extLst>
                </a:gridCol>
                <a:gridCol w="550545">
                  <a:extLst>
                    <a:ext uri="{9D8B030D-6E8A-4147-A177-3AD203B41FA5}">
                      <a16:colId xmlns:a16="http://schemas.microsoft.com/office/drawing/2014/main" val="20002"/>
                    </a:ext>
                  </a:extLst>
                </a:gridCol>
                <a:gridCol w="527685">
                  <a:extLst>
                    <a:ext uri="{9D8B030D-6E8A-4147-A177-3AD203B41FA5}">
                      <a16:colId xmlns:a16="http://schemas.microsoft.com/office/drawing/2014/main" val="20003"/>
                    </a:ext>
                  </a:extLst>
                </a:gridCol>
                <a:gridCol w="520700">
                  <a:extLst>
                    <a:ext uri="{9D8B030D-6E8A-4147-A177-3AD203B41FA5}">
                      <a16:colId xmlns:a16="http://schemas.microsoft.com/office/drawing/2014/main" val="20004"/>
                    </a:ext>
                  </a:extLst>
                </a:gridCol>
                <a:gridCol w="559435">
                  <a:extLst>
                    <a:ext uri="{9D8B030D-6E8A-4147-A177-3AD203B41FA5}">
                      <a16:colId xmlns:a16="http://schemas.microsoft.com/office/drawing/2014/main" val="20005"/>
                    </a:ext>
                  </a:extLst>
                </a:gridCol>
                <a:gridCol w="568960">
                  <a:extLst>
                    <a:ext uri="{9D8B030D-6E8A-4147-A177-3AD203B41FA5}">
                      <a16:colId xmlns:a16="http://schemas.microsoft.com/office/drawing/2014/main" val="20006"/>
                    </a:ext>
                  </a:extLst>
                </a:gridCol>
                <a:gridCol w="574040">
                  <a:extLst>
                    <a:ext uri="{9D8B030D-6E8A-4147-A177-3AD203B41FA5}">
                      <a16:colId xmlns:a16="http://schemas.microsoft.com/office/drawing/2014/main" val="20007"/>
                    </a:ext>
                  </a:extLst>
                </a:gridCol>
                <a:gridCol w="574675">
                  <a:extLst>
                    <a:ext uri="{9D8B030D-6E8A-4147-A177-3AD203B41FA5}">
                      <a16:colId xmlns:a16="http://schemas.microsoft.com/office/drawing/2014/main" val="20008"/>
                    </a:ext>
                  </a:extLst>
                </a:gridCol>
                <a:gridCol w="572770">
                  <a:extLst>
                    <a:ext uri="{9D8B030D-6E8A-4147-A177-3AD203B41FA5}">
                      <a16:colId xmlns:a16="http://schemas.microsoft.com/office/drawing/2014/main" val="20009"/>
                    </a:ext>
                  </a:extLst>
                </a:gridCol>
                <a:gridCol w="573405">
                  <a:extLst>
                    <a:ext uri="{9D8B030D-6E8A-4147-A177-3AD203B41FA5}">
                      <a16:colId xmlns:a16="http://schemas.microsoft.com/office/drawing/2014/main" val="20010"/>
                    </a:ext>
                  </a:extLst>
                </a:gridCol>
                <a:gridCol w="574675">
                  <a:extLst>
                    <a:ext uri="{9D8B030D-6E8A-4147-A177-3AD203B41FA5}">
                      <a16:colId xmlns:a16="http://schemas.microsoft.com/office/drawing/2014/main" val="20011"/>
                    </a:ext>
                  </a:extLst>
                </a:gridCol>
                <a:gridCol w="574040">
                  <a:extLst>
                    <a:ext uri="{9D8B030D-6E8A-4147-A177-3AD203B41FA5}">
                      <a16:colId xmlns:a16="http://schemas.microsoft.com/office/drawing/2014/main" val="20012"/>
                    </a:ext>
                  </a:extLst>
                </a:gridCol>
                <a:gridCol w="574040">
                  <a:extLst>
                    <a:ext uri="{9D8B030D-6E8A-4147-A177-3AD203B41FA5}">
                      <a16:colId xmlns:a16="http://schemas.microsoft.com/office/drawing/2014/main" val="20013"/>
                    </a:ext>
                  </a:extLst>
                </a:gridCol>
                <a:gridCol w="574675">
                  <a:extLst>
                    <a:ext uri="{9D8B030D-6E8A-4147-A177-3AD203B41FA5}">
                      <a16:colId xmlns:a16="http://schemas.microsoft.com/office/drawing/2014/main" val="20014"/>
                    </a:ext>
                  </a:extLst>
                </a:gridCol>
                <a:gridCol w="574675">
                  <a:extLst>
                    <a:ext uri="{9D8B030D-6E8A-4147-A177-3AD203B41FA5}">
                      <a16:colId xmlns:a16="http://schemas.microsoft.com/office/drawing/2014/main" val="20015"/>
                    </a:ext>
                  </a:extLst>
                </a:gridCol>
                <a:gridCol w="574675">
                  <a:extLst>
                    <a:ext uri="{9D8B030D-6E8A-4147-A177-3AD203B41FA5}">
                      <a16:colId xmlns:a16="http://schemas.microsoft.com/office/drawing/2014/main" val="20016"/>
                    </a:ext>
                  </a:extLst>
                </a:gridCol>
                <a:gridCol w="574040">
                  <a:extLst>
                    <a:ext uri="{9D8B030D-6E8A-4147-A177-3AD203B41FA5}">
                      <a16:colId xmlns:a16="http://schemas.microsoft.com/office/drawing/2014/main" val="20017"/>
                    </a:ext>
                  </a:extLst>
                </a:gridCol>
              </a:tblGrid>
              <a:tr h="528320">
                <a:tc gridSpan="2">
                  <a:txBody>
                    <a:bodyPr/>
                    <a:lstStyle/>
                    <a:p>
                      <a:pPr algn="ctr">
                        <a:lnSpc>
                          <a:spcPct val="90000"/>
                        </a:lnSpc>
                        <a:buNone/>
                      </a:pPr>
                      <a:r>
                        <a:rPr lang="zh-CN" altLang="en-US" sz="1800" b="1">
                          <a:latin typeface="微软雅黑" panose="020B0503020204020204" pitchFamily="34" charset="-122"/>
                          <a:ea typeface="微软雅黑" panose="020B0503020204020204" pitchFamily="34" charset="-122"/>
                        </a:rPr>
                        <a:t>原因与结果</a:t>
                      </a:r>
                    </a:p>
                  </a:txBody>
                  <a:tcPr anchor="ctr"/>
                </a:tc>
                <a:tc hMerge="1">
                  <a:txBody>
                    <a:bodyPr/>
                    <a:lstStyle/>
                    <a:p>
                      <a:endParaRPr lang="zh-CN"/>
                    </a:p>
                  </a:txBody>
                  <a:tcPr anchor="ctr"/>
                </a:tc>
                <a:tc>
                  <a:txBody>
                    <a:bodyPr/>
                    <a:lstStyle/>
                    <a:p>
                      <a:pPr algn="ctr">
                        <a:lnSpc>
                          <a:spcPct val="90000"/>
                        </a:lnSpc>
                        <a:buNone/>
                      </a:pPr>
                      <a:r>
                        <a:rPr lang="en-US" altLang="zh-CN" sz="1800">
                          <a:latin typeface="微软雅黑" panose="020B0503020204020204" pitchFamily="34" charset="-122"/>
                          <a:ea typeface="微软雅黑" panose="020B0503020204020204" pitchFamily="34" charset="-122"/>
                        </a:rPr>
                        <a:t>1</a:t>
                      </a:r>
                    </a:p>
                  </a:txBody>
                  <a:tcPr anchor="ctr"/>
                </a:tc>
                <a:tc>
                  <a:txBody>
                    <a:bodyPr/>
                    <a:lstStyle/>
                    <a:p>
                      <a:pPr algn="ctr">
                        <a:lnSpc>
                          <a:spcPct val="90000"/>
                        </a:lnSpc>
                        <a:buNone/>
                      </a:pPr>
                      <a:r>
                        <a:rPr lang="en-US" altLang="zh-CN" sz="1800">
                          <a:latin typeface="微软雅黑" panose="020B0503020204020204" pitchFamily="34" charset="-122"/>
                          <a:ea typeface="微软雅黑" panose="020B0503020204020204" pitchFamily="34" charset="-122"/>
                        </a:rPr>
                        <a:t>2</a:t>
                      </a:r>
                    </a:p>
                  </a:txBody>
                  <a:tcPr anchor="ctr"/>
                </a:tc>
                <a:tc>
                  <a:txBody>
                    <a:bodyPr/>
                    <a:lstStyle/>
                    <a:p>
                      <a:pPr algn="ctr">
                        <a:lnSpc>
                          <a:spcPct val="90000"/>
                        </a:lnSpc>
                        <a:buNone/>
                      </a:pPr>
                      <a:r>
                        <a:rPr lang="en-US" altLang="zh-CN" sz="1800">
                          <a:latin typeface="微软雅黑" panose="020B0503020204020204" pitchFamily="34" charset="-122"/>
                          <a:ea typeface="微软雅黑" panose="020B0503020204020204" pitchFamily="34" charset="-122"/>
                        </a:rPr>
                        <a:t>3</a:t>
                      </a:r>
                    </a:p>
                  </a:txBody>
                  <a:tcPr anchor="ctr"/>
                </a:tc>
                <a:tc>
                  <a:txBody>
                    <a:bodyPr/>
                    <a:lstStyle/>
                    <a:p>
                      <a:pPr algn="ctr">
                        <a:lnSpc>
                          <a:spcPct val="90000"/>
                        </a:lnSpc>
                        <a:buNone/>
                      </a:pPr>
                      <a:r>
                        <a:rPr lang="en-US" altLang="zh-CN" sz="1800">
                          <a:latin typeface="微软雅黑" panose="020B0503020204020204" pitchFamily="34" charset="-122"/>
                          <a:ea typeface="微软雅黑" panose="020B0503020204020204" pitchFamily="34" charset="-122"/>
                        </a:rPr>
                        <a:t>4</a:t>
                      </a:r>
                    </a:p>
                  </a:txBody>
                  <a:tcPr anchor="ctr"/>
                </a:tc>
                <a:tc>
                  <a:txBody>
                    <a:bodyPr/>
                    <a:lstStyle/>
                    <a:p>
                      <a:pPr algn="ctr">
                        <a:lnSpc>
                          <a:spcPct val="90000"/>
                        </a:lnSpc>
                        <a:buNone/>
                      </a:pPr>
                      <a:r>
                        <a:rPr lang="en-US" altLang="zh-CN" sz="1800">
                          <a:latin typeface="微软雅黑" panose="020B0503020204020204" pitchFamily="34" charset="-122"/>
                          <a:ea typeface="微软雅黑" panose="020B0503020204020204" pitchFamily="34" charset="-122"/>
                        </a:rPr>
                        <a:t>5</a:t>
                      </a:r>
                    </a:p>
                  </a:txBody>
                  <a:tcPr anchor="ctr"/>
                </a:tc>
                <a:tc>
                  <a:txBody>
                    <a:bodyPr/>
                    <a:lstStyle/>
                    <a:p>
                      <a:pPr algn="ctr">
                        <a:lnSpc>
                          <a:spcPct val="90000"/>
                        </a:lnSpc>
                        <a:buNone/>
                      </a:pPr>
                      <a:r>
                        <a:rPr lang="en-US" altLang="zh-CN" sz="1800">
                          <a:latin typeface="微软雅黑" panose="020B0503020204020204" pitchFamily="34" charset="-122"/>
                          <a:ea typeface="微软雅黑" panose="020B0503020204020204" pitchFamily="34" charset="-122"/>
                        </a:rPr>
                        <a:t>6</a:t>
                      </a:r>
                    </a:p>
                  </a:txBody>
                  <a:tcPr anchor="ctr"/>
                </a:tc>
                <a:tc>
                  <a:txBody>
                    <a:bodyPr/>
                    <a:lstStyle/>
                    <a:p>
                      <a:pPr algn="ctr">
                        <a:lnSpc>
                          <a:spcPct val="90000"/>
                        </a:lnSpc>
                        <a:buNone/>
                      </a:pPr>
                      <a:r>
                        <a:rPr lang="en-US" altLang="zh-CN" sz="1800">
                          <a:latin typeface="微软雅黑" panose="020B0503020204020204" pitchFamily="34" charset="-122"/>
                          <a:ea typeface="微软雅黑" panose="020B0503020204020204" pitchFamily="34" charset="-122"/>
                        </a:rPr>
                        <a:t>7</a:t>
                      </a:r>
                    </a:p>
                  </a:txBody>
                  <a:tcPr anchor="ctr"/>
                </a:tc>
                <a:tc>
                  <a:txBody>
                    <a:bodyPr/>
                    <a:lstStyle/>
                    <a:p>
                      <a:pPr algn="ctr">
                        <a:lnSpc>
                          <a:spcPct val="90000"/>
                        </a:lnSpc>
                        <a:buNone/>
                      </a:pPr>
                      <a:r>
                        <a:rPr lang="en-US" altLang="zh-CN" sz="1800">
                          <a:latin typeface="微软雅黑" panose="020B0503020204020204" pitchFamily="34" charset="-122"/>
                          <a:ea typeface="微软雅黑" panose="020B0503020204020204" pitchFamily="34" charset="-122"/>
                        </a:rPr>
                        <a:t>8</a:t>
                      </a:r>
                    </a:p>
                  </a:txBody>
                  <a:tcPr anchor="ctr"/>
                </a:tc>
                <a:tc>
                  <a:txBody>
                    <a:bodyPr/>
                    <a:lstStyle/>
                    <a:p>
                      <a:pPr algn="ctr">
                        <a:lnSpc>
                          <a:spcPct val="90000"/>
                        </a:lnSpc>
                        <a:buNone/>
                      </a:pPr>
                      <a:r>
                        <a:rPr lang="en-US" altLang="zh-CN" sz="1800">
                          <a:latin typeface="微软雅黑" panose="020B0503020204020204" pitchFamily="34" charset="-122"/>
                          <a:ea typeface="微软雅黑" panose="020B0503020204020204" pitchFamily="34" charset="-122"/>
                        </a:rPr>
                        <a:t>9</a:t>
                      </a:r>
                    </a:p>
                  </a:txBody>
                  <a:tcPr anchor="ctr"/>
                </a:tc>
                <a:tc>
                  <a:txBody>
                    <a:bodyPr/>
                    <a:lstStyle/>
                    <a:p>
                      <a:pPr algn="ctr">
                        <a:lnSpc>
                          <a:spcPct val="90000"/>
                        </a:lnSpc>
                        <a:buNone/>
                      </a:pPr>
                      <a:r>
                        <a:rPr lang="en-US" altLang="zh-CN" sz="1800">
                          <a:latin typeface="微软雅黑" panose="020B0503020204020204" pitchFamily="34" charset="-122"/>
                          <a:ea typeface="微软雅黑" panose="020B0503020204020204" pitchFamily="34" charset="-122"/>
                        </a:rPr>
                        <a:t>10</a:t>
                      </a:r>
                    </a:p>
                  </a:txBody>
                  <a:tcPr anchor="ctr"/>
                </a:tc>
                <a:tc>
                  <a:txBody>
                    <a:bodyPr/>
                    <a:lstStyle/>
                    <a:p>
                      <a:pPr algn="ctr">
                        <a:lnSpc>
                          <a:spcPct val="90000"/>
                        </a:lnSpc>
                        <a:buNone/>
                      </a:pPr>
                      <a:r>
                        <a:rPr lang="en-US" altLang="zh-CN" sz="1800">
                          <a:latin typeface="微软雅黑" panose="020B0503020204020204" pitchFamily="34" charset="-122"/>
                          <a:ea typeface="微软雅黑" panose="020B0503020204020204" pitchFamily="34" charset="-122"/>
                        </a:rPr>
                        <a:t>11</a:t>
                      </a:r>
                    </a:p>
                  </a:txBody>
                  <a:tcPr anchor="ctr"/>
                </a:tc>
                <a:tc>
                  <a:txBody>
                    <a:bodyPr/>
                    <a:lstStyle/>
                    <a:p>
                      <a:pPr algn="ctr">
                        <a:lnSpc>
                          <a:spcPct val="90000"/>
                        </a:lnSpc>
                        <a:buNone/>
                      </a:pPr>
                      <a:r>
                        <a:rPr lang="en-US" altLang="zh-CN" sz="1800">
                          <a:latin typeface="微软雅黑" panose="020B0503020204020204" pitchFamily="34" charset="-122"/>
                          <a:ea typeface="微软雅黑" panose="020B0503020204020204" pitchFamily="34" charset="-122"/>
                        </a:rPr>
                        <a:t>12</a:t>
                      </a:r>
                    </a:p>
                  </a:txBody>
                  <a:tcPr anchor="ctr"/>
                </a:tc>
                <a:tc>
                  <a:txBody>
                    <a:bodyPr/>
                    <a:lstStyle/>
                    <a:p>
                      <a:pPr algn="ctr">
                        <a:lnSpc>
                          <a:spcPct val="90000"/>
                        </a:lnSpc>
                        <a:buNone/>
                      </a:pPr>
                      <a:r>
                        <a:rPr lang="en-US" altLang="zh-CN" sz="1800">
                          <a:latin typeface="微软雅黑" panose="020B0503020204020204" pitchFamily="34" charset="-122"/>
                          <a:ea typeface="微软雅黑" panose="020B0503020204020204" pitchFamily="34" charset="-122"/>
                        </a:rPr>
                        <a:t>13</a:t>
                      </a:r>
                    </a:p>
                  </a:txBody>
                  <a:tcPr anchor="ctr"/>
                </a:tc>
                <a:tc>
                  <a:txBody>
                    <a:bodyPr/>
                    <a:lstStyle/>
                    <a:p>
                      <a:pPr algn="ctr">
                        <a:lnSpc>
                          <a:spcPct val="90000"/>
                        </a:lnSpc>
                        <a:buNone/>
                      </a:pPr>
                      <a:r>
                        <a:rPr lang="en-US" altLang="zh-CN" sz="1800">
                          <a:latin typeface="微软雅黑" panose="020B0503020204020204" pitchFamily="34" charset="-122"/>
                          <a:ea typeface="微软雅黑" panose="020B0503020204020204" pitchFamily="34" charset="-122"/>
                        </a:rPr>
                        <a:t>14</a:t>
                      </a:r>
                    </a:p>
                  </a:txBody>
                  <a:tcPr anchor="ctr"/>
                </a:tc>
                <a:tc>
                  <a:txBody>
                    <a:bodyPr/>
                    <a:lstStyle/>
                    <a:p>
                      <a:pPr algn="ctr">
                        <a:lnSpc>
                          <a:spcPct val="90000"/>
                        </a:lnSpc>
                        <a:buNone/>
                      </a:pPr>
                      <a:r>
                        <a:rPr lang="en-US" altLang="zh-CN" sz="1800">
                          <a:latin typeface="微软雅黑" panose="020B0503020204020204" pitchFamily="34" charset="-122"/>
                          <a:ea typeface="微软雅黑" panose="020B0503020204020204" pitchFamily="34" charset="-122"/>
                        </a:rPr>
                        <a:t>15</a:t>
                      </a:r>
                    </a:p>
                  </a:txBody>
                  <a:tcPr anchor="ctr"/>
                </a:tc>
                <a:tc>
                  <a:txBody>
                    <a:bodyPr/>
                    <a:lstStyle/>
                    <a:p>
                      <a:pPr algn="ctr">
                        <a:lnSpc>
                          <a:spcPct val="90000"/>
                        </a:lnSpc>
                        <a:buNone/>
                      </a:pPr>
                      <a:r>
                        <a:rPr lang="en-US" altLang="zh-CN" sz="1800">
                          <a:latin typeface="微软雅黑" panose="020B0503020204020204" pitchFamily="34" charset="-122"/>
                          <a:ea typeface="微软雅黑" panose="020B0503020204020204" pitchFamily="34" charset="-122"/>
                        </a:rPr>
                        <a:t>16</a:t>
                      </a:r>
                    </a:p>
                  </a:txBody>
                  <a:tcPr anchor="ctr"/>
                </a:tc>
                <a:extLst>
                  <a:ext uri="{0D108BD9-81ED-4DB2-BD59-A6C34878D82A}">
                    <a16:rowId xmlns:a16="http://schemas.microsoft.com/office/drawing/2014/main" val="10000"/>
                  </a:ext>
                </a:extLst>
              </a:tr>
              <a:tr h="436245">
                <a:tc rowSpan="4">
                  <a:txBody>
                    <a:bodyPr/>
                    <a:lstStyle/>
                    <a:p>
                      <a:pPr algn="ctr">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原因</a:t>
                      </a:r>
                    </a:p>
                  </a:txBody>
                  <a:tcPr anchor="ctr"/>
                </a:tc>
                <a:tc>
                  <a:txBody>
                    <a:bodyPr/>
                    <a:lstStyle/>
                    <a:p>
                      <a:pPr algn="ctr">
                        <a:buNone/>
                      </a:pPr>
                      <a:r>
                        <a:rPr lang="en-US" sz="1800" kern="1200">
                          <a:solidFill>
                            <a:srgbClr val="595959"/>
                          </a:solidFill>
                          <a:latin typeface="微软雅黑" panose="020B0503020204020204" pitchFamily="34" charset="-122"/>
                          <a:ea typeface="微软雅黑" panose="020B0503020204020204" pitchFamily="34" charset="-122"/>
                          <a:cs typeface="+mn-cs"/>
                          <a:sym typeface="+mn-ea"/>
                        </a:rPr>
                        <a:t>c</a:t>
                      </a:r>
                      <a:r>
                        <a:rPr lang="en-US" sz="1800" kern="1200" baseline="-25000">
                          <a:solidFill>
                            <a:srgbClr val="595959"/>
                          </a:solidFill>
                          <a:latin typeface="微软雅黑" panose="020B0503020204020204" pitchFamily="34" charset="-122"/>
                          <a:ea typeface="微软雅黑" panose="020B0503020204020204" pitchFamily="34" charset="-122"/>
                          <a:cs typeface="+mn-cs"/>
                          <a:sym typeface="+mn-ea"/>
                        </a:rPr>
                        <a:t>1</a:t>
                      </a:r>
                      <a:endParaRPr lang="zh-CN" altLang="en-US" sz="1800" kern="1200" baseline="-250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Y</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Y</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Y</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Y</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Y</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Y</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Y</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Y</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N</a:t>
                      </a:r>
                    </a:p>
                  </a:txBody>
                  <a:tcPr marL="68580" marR="68580" marT="0" marB="0" anchor="ctr"/>
                </a:tc>
                <a:tc>
                  <a:txBody>
                    <a:bodyPr/>
                    <a:lstStyle/>
                    <a:p>
                      <a:pPr algn="ctr">
                        <a:spcAft>
                          <a:spcPts val="0"/>
                        </a:spcAft>
                      </a:pPr>
                      <a:r>
                        <a:rPr lang="en-US" sz="1800" kern="1200" dirty="0">
                          <a:solidFill>
                            <a:srgbClr val="595959"/>
                          </a:solidFill>
                          <a:latin typeface="微软雅黑" panose="020B0503020204020204" pitchFamily="34" charset="-122"/>
                          <a:ea typeface="微软雅黑" panose="020B0503020204020204" pitchFamily="34" charset="-122"/>
                          <a:cs typeface="+mn-cs"/>
                        </a:rPr>
                        <a:t>N</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N</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N</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N</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N</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N</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N</a:t>
                      </a:r>
                    </a:p>
                  </a:txBody>
                  <a:tcPr marL="68580" marR="68580" marT="0" marB="0" anchor="ctr"/>
                </a:tc>
                <a:extLst>
                  <a:ext uri="{0D108BD9-81ED-4DB2-BD59-A6C34878D82A}">
                    <a16:rowId xmlns:a16="http://schemas.microsoft.com/office/drawing/2014/main" val="10001"/>
                  </a:ext>
                </a:extLst>
              </a:tr>
              <a:tr h="408305">
                <a:tc vMerge="1">
                  <a:txBody>
                    <a:bodyPr/>
                    <a:lstStyle/>
                    <a:p>
                      <a:endParaRPr lang="zh-CN"/>
                    </a:p>
                  </a:txBody>
                  <a:tcPr anchor="ctr"/>
                </a:tc>
                <a:tc>
                  <a:txBody>
                    <a:bodyPr/>
                    <a:lstStyle/>
                    <a:p>
                      <a:pPr algn="ctr">
                        <a:buClrTx/>
                        <a:buSzTx/>
                        <a:buFontTx/>
                        <a:buNone/>
                      </a:pPr>
                      <a:r>
                        <a:rPr lang="en-US" sz="1800" kern="1200">
                          <a:solidFill>
                            <a:srgbClr val="595959"/>
                          </a:solidFill>
                          <a:latin typeface="微软雅黑" panose="020B0503020204020204" pitchFamily="34" charset="-122"/>
                          <a:ea typeface="微软雅黑" panose="020B0503020204020204" pitchFamily="34" charset="-122"/>
                          <a:cs typeface="+mn-cs"/>
                          <a:sym typeface="+mn-ea"/>
                        </a:rPr>
                        <a:t>c</a:t>
                      </a:r>
                      <a:r>
                        <a:rPr lang="en-US" sz="1800" kern="1200" baseline="-25000">
                          <a:solidFill>
                            <a:srgbClr val="595959"/>
                          </a:solidFill>
                          <a:latin typeface="微软雅黑" panose="020B0503020204020204" pitchFamily="34" charset="-122"/>
                          <a:ea typeface="微软雅黑" panose="020B0503020204020204" pitchFamily="34" charset="-122"/>
                          <a:cs typeface="+mn-cs"/>
                          <a:sym typeface="+mn-ea"/>
                        </a:rPr>
                        <a:t>2</a:t>
                      </a:r>
                      <a:endParaRPr lang="en-US" altLang="zh-CN" sz="1800" kern="1200" baseline="-250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Y</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N</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Y</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N</a:t>
                      </a:r>
                    </a:p>
                  </a:txBody>
                  <a:tcPr marL="68580" marR="68580" marT="0" marB="0" anchor="ctr"/>
                </a:tc>
                <a:tc>
                  <a:txBody>
                    <a:bodyPr/>
                    <a:lstStyle/>
                    <a:p>
                      <a:pPr algn="ctr">
                        <a:spcAft>
                          <a:spcPts val="0"/>
                        </a:spcAft>
                      </a:pPr>
                      <a:r>
                        <a:rPr lang="en-US" sz="1800" kern="1200" dirty="0">
                          <a:solidFill>
                            <a:srgbClr val="595959"/>
                          </a:solidFill>
                          <a:latin typeface="微软雅黑" panose="020B0503020204020204" pitchFamily="34" charset="-122"/>
                          <a:ea typeface="微软雅黑" panose="020B0503020204020204" pitchFamily="34" charset="-122"/>
                          <a:cs typeface="+mn-cs"/>
                        </a:rPr>
                        <a:t>N</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Y</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Y</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N</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Y</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N</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Y</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Y</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N</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Y</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N</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N</a:t>
                      </a:r>
                    </a:p>
                  </a:txBody>
                  <a:tcPr marL="68580" marR="68580" marT="0" marB="0" anchor="ctr"/>
                </a:tc>
                <a:extLst>
                  <a:ext uri="{0D108BD9-81ED-4DB2-BD59-A6C34878D82A}">
                    <a16:rowId xmlns:a16="http://schemas.microsoft.com/office/drawing/2014/main" val="10002"/>
                  </a:ext>
                </a:extLst>
              </a:tr>
              <a:tr h="426720">
                <a:tc vMerge="1">
                  <a:txBody>
                    <a:bodyPr/>
                    <a:lstStyle/>
                    <a:p>
                      <a:endParaRPr lang="zh-CN"/>
                    </a:p>
                  </a:txBody>
                  <a:tcPr/>
                </a:tc>
                <a:tc>
                  <a:txBody>
                    <a:bodyPr/>
                    <a:lstStyle/>
                    <a:p>
                      <a:pPr algn="ctr">
                        <a:buClrTx/>
                        <a:buSzTx/>
                        <a:buFontTx/>
                        <a:buNone/>
                      </a:pPr>
                      <a:r>
                        <a:rPr lang="en-US" sz="1800" kern="1200">
                          <a:solidFill>
                            <a:srgbClr val="595959"/>
                          </a:solidFill>
                          <a:latin typeface="微软雅黑" panose="020B0503020204020204" pitchFamily="34" charset="-122"/>
                          <a:ea typeface="微软雅黑" panose="020B0503020204020204" pitchFamily="34" charset="-122"/>
                          <a:cs typeface="+mn-cs"/>
                          <a:sym typeface="+mn-ea"/>
                        </a:rPr>
                        <a:t>c</a:t>
                      </a:r>
                      <a:r>
                        <a:rPr lang="en-US" sz="1800" kern="1200" baseline="-25000">
                          <a:solidFill>
                            <a:srgbClr val="595959"/>
                          </a:solidFill>
                          <a:latin typeface="微软雅黑" panose="020B0503020204020204" pitchFamily="34" charset="-122"/>
                          <a:ea typeface="微软雅黑" panose="020B0503020204020204" pitchFamily="34" charset="-122"/>
                          <a:cs typeface="+mn-cs"/>
                          <a:sym typeface="+mn-ea"/>
                        </a:rPr>
                        <a:t>3</a:t>
                      </a:r>
                      <a:endParaRPr lang="en-US" altLang="zh-CN" sz="1800" kern="1200" baseline="-250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Y</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N</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N</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Y</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N</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Y</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N</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Y</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Y</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Y</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N</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Y</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N</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N</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Y</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N</a:t>
                      </a:r>
                    </a:p>
                  </a:txBody>
                  <a:tcPr marL="68580" marR="68580" marT="0" marB="0" anchor="ctr"/>
                </a:tc>
                <a:extLst>
                  <a:ext uri="{0D108BD9-81ED-4DB2-BD59-A6C34878D82A}">
                    <a16:rowId xmlns:a16="http://schemas.microsoft.com/office/drawing/2014/main" val="10003"/>
                  </a:ext>
                </a:extLst>
              </a:tr>
              <a:tr h="402590">
                <a:tc vMerge="1">
                  <a:txBody>
                    <a:bodyPr/>
                    <a:lstStyle/>
                    <a:p>
                      <a:endParaRPr lang="zh-CN"/>
                    </a:p>
                  </a:txBody>
                  <a:tcPr/>
                </a:tc>
                <a:tc>
                  <a:txBody>
                    <a:bodyPr/>
                    <a:lstStyle/>
                    <a:p>
                      <a:pPr algn="ctr">
                        <a:buClrTx/>
                        <a:buSzTx/>
                        <a:buFontTx/>
                        <a:buNone/>
                      </a:pPr>
                      <a:r>
                        <a:rPr lang="en-US" sz="1800" kern="1200">
                          <a:solidFill>
                            <a:srgbClr val="595959"/>
                          </a:solidFill>
                          <a:latin typeface="微软雅黑" panose="020B0503020204020204" pitchFamily="34" charset="-122"/>
                          <a:ea typeface="微软雅黑" panose="020B0503020204020204" pitchFamily="34" charset="-122"/>
                          <a:cs typeface="+mn-cs"/>
                          <a:sym typeface="+mn-ea"/>
                        </a:rPr>
                        <a:t>c</a:t>
                      </a:r>
                      <a:r>
                        <a:rPr lang="en-US" sz="1800" kern="1200" baseline="-25000">
                          <a:solidFill>
                            <a:srgbClr val="595959"/>
                          </a:solidFill>
                          <a:latin typeface="微软雅黑" panose="020B0503020204020204" pitchFamily="34" charset="-122"/>
                          <a:ea typeface="微软雅黑" panose="020B0503020204020204" pitchFamily="34" charset="-122"/>
                          <a:cs typeface="+mn-cs"/>
                          <a:sym typeface="+mn-ea"/>
                        </a:rPr>
                        <a:t>4</a:t>
                      </a:r>
                      <a:endParaRPr lang="en-US" altLang="zh-CN" sz="1800" kern="1200" baseline="-250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Y</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N</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N</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N</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Y</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N</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Y</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Y</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Y</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Y</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Y</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N</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Y</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N</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N</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N</a:t>
                      </a:r>
                    </a:p>
                  </a:txBody>
                  <a:tcPr marL="68580" marR="68580" marT="0" marB="0" anchor="ctr"/>
                </a:tc>
                <a:extLst>
                  <a:ext uri="{0D108BD9-81ED-4DB2-BD59-A6C34878D82A}">
                    <a16:rowId xmlns:a16="http://schemas.microsoft.com/office/drawing/2014/main" val="10004"/>
                  </a:ext>
                </a:extLst>
              </a:tr>
              <a:tr h="406400">
                <a:tc rowSpan="5">
                  <a:txBody>
                    <a:bodyPr/>
                    <a:lstStyle/>
                    <a:p>
                      <a:pPr algn="ctr">
                        <a:buClrTx/>
                        <a:buSzTx/>
                        <a:buFontTx/>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结果</a:t>
                      </a:r>
                    </a:p>
                  </a:txBody>
                  <a:tcPr anchor="ctr"/>
                </a:tc>
                <a:tc>
                  <a:txBody>
                    <a:bodyPr/>
                    <a:lstStyle/>
                    <a:p>
                      <a:pPr algn="ctr">
                        <a:buClrTx/>
                        <a:buSzTx/>
                        <a:buFontTx/>
                        <a:buNone/>
                      </a:pPr>
                      <a:r>
                        <a:rPr lang="en-US" sz="1800" kern="1200">
                          <a:solidFill>
                            <a:srgbClr val="595959"/>
                          </a:solidFill>
                          <a:latin typeface="微软雅黑" panose="020B0503020204020204" pitchFamily="34" charset="-122"/>
                          <a:ea typeface="微软雅黑" panose="020B0503020204020204" pitchFamily="34" charset="-122"/>
                          <a:cs typeface="+mn-cs"/>
                          <a:sym typeface="+mn-ea"/>
                        </a:rPr>
                        <a:t>e</a:t>
                      </a:r>
                      <a:r>
                        <a:rPr lang="en-US" sz="1800" kern="1200" baseline="-25000">
                          <a:solidFill>
                            <a:srgbClr val="595959"/>
                          </a:solidFill>
                          <a:latin typeface="微软雅黑" panose="020B0503020204020204" pitchFamily="34" charset="-122"/>
                          <a:ea typeface="微软雅黑" panose="020B0503020204020204" pitchFamily="34" charset="-122"/>
                          <a:cs typeface="+mn-cs"/>
                          <a:sym typeface="+mn-ea"/>
                        </a:rPr>
                        <a:t>1</a:t>
                      </a:r>
                      <a:endParaRPr lang="en-US" altLang="zh-CN" sz="1800" kern="1200" baseline="-250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a:t>
                      </a:r>
                    </a:p>
                  </a:txBody>
                  <a:tcPr marL="68580" marR="68580" marT="0" marB="0" anchor="ctr"/>
                </a:tc>
                <a:extLst>
                  <a:ext uri="{0D108BD9-81ED-4DB2-BD59-A6C34878D82A}">
                    <a16:rowId xmlns:a16="http://schemas.microsoft.com/office/drawing/2014/main" val="10005"/>
                  </a:ext>
                </a:extLst>
              </a:tr>
              <a:tr h="418465">
                <a:tc vMerge="1">
                  <a:txBody>
                    <a:bodyPr/>
                    <a:lstStyle/>
                    <a:p>
                      <a:endParaRPr lang="zh-CN"/>
                    </a:p>
                  </a:txBody>
                  <a:tcPr anchor="ctr"/>
                </a:tc>
                <a:tc>
                  <a:txBody>
                    <a:bodyPr/>
                    <a:lstStyle/>
                    <a:p>
                      <a:pPr algn="ctr">
                        <a:buClrTx/>
                        <a:buSzTx/>
                        <a:buFontTx/>
                        <a:buNone/>
                      </a:pPr>
                      <a:r>
                        <a:rPr lang="en-US" sz="1800" kern="1200">
                          <a:solidFill>
                            <a:srgbClr val="595959"/>
                          </a:solidFill>
                          <a:latin typeface="微软雅黑" panose="020B0503020204020204" pitchFamily="34" charset="-122"/>
                          <a:ea typeface="微软雅黑" panose="020B0503020204020204" pitchFamily="34" charset="-122"/>
                          <a:cs typeface="+mn-cs"/>
                          <a:sym typeface="+mn-ea"/>
                        </a:rPr>
                        <a:t>e</a:t>
                      </a:r>
                      <a:r>
                        <a:rPr lang="en-US" sz="1800" kern="1200" baseline="-25000">
                          <a:solidFill>
                            <a:srgbClr val="595959"/>
                          </a:solidFill>
                          <a:latin typeface="微软雅黑" panose="020B0503020204020204" pitchFamily="34" charset="-122"/>
                          <a:ea typeface="微软雅黑" panose="020B0503020204020204" pitchFamily="34" charset="-122"/>
                          <a:cs typeface="+mn-cs"/>
                          <a:sym typeface="+mn-ea"/>
                        </a:rPr>
                        <a:t>2</a:t>
                      </a:r>
                      <a:endParaRPr lang="en-US" altLang="zh-CN" sz="1800" kern="1200" baseline="-250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extLst>
                  <a:ext uri="{0D108BD9-81ED-4DB2-BD59-A6C34878D82A}">
                    <a16:rowId xmlns:a16="http://schemas.microsoft.com/office/drawing/2014/main" val="10006"/>
                  </a:ext>
                </a:extLst>
              </a:tr>
              <a:tr h="403225">
                <a:tc vMerge="1">
                  <a:txBody>
                    <a:bodyPr/>
                    <a:lstStyle/>
                    <a:p>
                      <a:endParaRPr lang="zh-CN"/>
                    </a:p>
                  </a:txBody>
                  <a:tcPr anchor="ctr"/>
                </a:tc>
                <a:tc>
                  <a:txBody>
                    <a:bodyPr/>
                    <a:lstStyle/>
                    <a:p>
                      <a:pPr algn="ctr">
                        <a:buClrTx/>
                        <a:buSzTx/>
                        <a:buFontTx/>
                        <a:buNone/>
                      </a:pPr>
                      <a:r>
                        <a:rPr lang="en-US" sz="1800" kern="1200">
                          <a:solidFill>
                            <a:srgbClr val="595959"/>
                          </a:solidFill>
                          <a:latin typeface="微软雅黑" panose="020B0503020204020204" pitchFamily="34" charset="-122"/>
                          <a:ea typeface="微软雅黑" panose="020B0503020204020204" pitchFamily="34" charset="-122"/>
                          <a:cs typeface="+mn-cs"/>
                          <a:sym typeface="+mn-ea"/>
                        </a:rPr>
                        <a:t>e</a:t>
                      </a:r>
                      <a:r>
                        <a:rPr lang="en-US" sz="1800" kern="1200" baseline="-25000">
                          <a:solidFill>
                            <a:srgbClr val="595959"/>
                          </a:solidFill>
                          <a:latin typeface="微软雅黑" panose="020B0503020204020204" pitchFamily="34" charset="-122"/>
                          <a:ea typeface="微软雅黑" panose="020B0503020204020204" pitchFamily="34" charset="-122"/>
                          <a:cs typeface="+mn-cs"/>
                          <a:sym typeface="+mn-ea"/>
                        </a:rPr>
                        <a:t>3</a:t>
                      </a:r>
                      <a:endParaRPr lang="en-US" altLang="zh-CN" sz="1800" kern="1200" baseline="-250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extLst>
                  <a:ext uri="{0D108BD9-81ED-4DB2-BD59-A6C34878D82A}">
                    <a16:rowId xmlns:a16="http://schemas.microsoft.com/office/drawing/2014/main" val="10007"/>
                  </a:ext>
                </a:extLst>
              </a:tr>
              <a:tr h="443230">
                <a:tc vMerge="1">
                  <a:txBody>
                    <a:bodyPr/>
                    <a:lstStyle/>
                    <a:p>
                      <a:endParaRPr lang="zh-CN"/>
                    </a:p>
                  </a:txBody>
                  <a:tcPr/>
                </a:tc>
                <a:tc>
                  <a:txBody>
                    <a:bodyPr/>
                    <a:lstStyle/>
                    <a:p>
                      <a:pPr algn="ctr">
                        <a:buClrTx/>
                        <a:buSzTx/>
                        <a:buFontTx/>
                        <a:buNone/>
                      </a:pPr>
                      <a:r>
                        <a:rPr lang="en-US" sz="1800" kern="1200">
                          <a:solidFill>
                            <a:srgbClr val="595959"/>
                          </a:solidFill>
                          <a:latin typeface="微软雅黑" panose="020B0503020204020204" pitchFamily="34" charset="-122"/>
                          <a:ea typeface="微软雅黑" panose="020B0503020204020204" pitchFamily="34" charset="-122"/>
                          <a:cs typeface="+mn-cs"/>
                          <a:sym typeface="+mn-ea"/>
                        </a:rPr>
                        <a:t>e</a:t>
                      </a:r>
                      <a:r>
                        <a:rPr lang="en-US" sz="1800" kern="1200" baseline="-25000">
                          <a:solidFill>
                            <a:srgbClr val="595959"/>
                          </a:solidFill>
                          <a:latin typeface="微软雅黑" panose="020B0503020204020204" pitchFamily="34" charset="-122"/>
                          <a:ea typeface="微软雅黑" panose="020B0503020204020204" pitchFamily="34" charset="-122"/>
                          <a:cs typeface="+mn-cs"/>
                          <a:sym typeface="+mn-ea"/>
                        </a:rPr>
                        <a:t>4</a:t>
                      </a:r>
                      <a:endParaRPr lang="en-US" altLang="zh-CN" sz="1800" kern="1200" baseline="-250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extLst>
                  <a:ext uri="{0D108BD9-81ED-4DB2-BD59-A6C34878D82A}">
                    <a16:rowId xmlns:a16="http://schemas.microsoft.com/office/drawing/2014/main" val="10008"/>
                  </a:ext>
                </a:extLst>
              </a:tr>
              <a:tr h="402590">
                <a:tc vMerge="1">
                  <a:txBody>
                    <a:bodyPr/>
                    <a:lstStyle/>
                    <a:p>
                      <a:endParaRPr lang="zh-CN"/>
                    </a:p>
                  </a:txBody>
                  <a:tcPr anchor="ctr"/>
                </a:tc>
                <a:tc>
                  <a:txBody>
                    <a:bodyPr/>
                    <a:lstStyle/>
                    <a:p>
                      <a:pPr algn="ctr">
                        <a:buClrTx/>
                        <a:buSzTx/>
                        <a:buFontTx/>
                        <a:buNone/>
                      </a:pPr>
                      <a:r>
                        <a:rPr lang="en-US" sz="1800" kern="1200">
                          <a:solidFill>
                            <a:srgbClr val="595959"/>
                          </a:solidFill>
                          <a:latin typeface="微软雅黑" panose="020B0503020204020204" pitchFamily="34" charset="-122"/>
                          <a:ea typeface="微软雅黑" panose="020B0503020204020204" pitchFamily="34" charset="-122"/>
                          <a:cs typeface="+mn-cs"/>
                          <a:sym typeface="+mn-ea"/>
                        </a:rPr>
                        <a:t>e</a:t>
                      </a:r>
                      <a:r>
                        <a:rPr lang="en-US" sz="1800" kern="1200" baseline="-25000">
                          <a:solidFill>
                            <a:srgbClr val="595959"/>
                          </a:solidFill>
                          <a:latin typeface="微软雅黑" panose="020B0503020204020204" pitchFamily="34" charset="-122"/>
                          <a:ea typeface="微软雅黑" panose="020B0503020204020204" pitchFamily="34" charset="-122"/>
                          <a:cs typeface="+mn-cs"/>
                          <a:sym typeface="+mn-ea"/>
                        </a:rPr>
                        <a:t>5</a:t>
                      </a:r>
                      <a:endParaRPr lang="en-US" altLang="zh-CN" sz="1800" kern="1200" baseline="-250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dirty="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extLst>
                  <a:ext uri="{0D108BD9-81ED-4DB2-BD59-A6C34878D82A}">
                    <a16:rowId xmlns:a16="http://schemas.microsoft.com/office/drawing/2014/main" val="10009"/>
                  </a:ext>
                </a:extLst>
              </a:tr>
            </a:tbl>
          </a:graphicData>
        </a:graphic>
      </p:graphicFrame>
      <p:sp>
        <p:nvSpPr>
          <p:cNvPr id="16" name="TextBox 35"/>
          <p:cNvSpPr txBox="1">
            <a:spLocks noChangeArrowheads="1"/>
          </p:cNvSpPr>
          <p:nvPr/>
        </p:nvSpPr>
        <p:spPr bwMode="auto">
          <a:xfrm>
            <a:off x="5086985" y="909955"/>
            <a:ext cx="1696720" cy="663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no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buClrTx/>
              <a:buSzTx/>
              <a:buFontTx/>
            </a:pPr>
            <a:r>
              <a:rPr lang="zh-CN" altLang="en-US" sz="1800" dirty="0">
                <a:solidFill>
                  <a:srgbClr val="0070C0"/>
                </a:solidFill>
                <a:latin typeface="微软雅黑" panose="020B0503020204020204" pitchFamily="34" charset="-122"/>
                <a:ea typeface="微软雅黑" panose="020B0503020204020204" pitchFamily="34" charset="-122"/>
              </a:rPr>
              <a:t>三角形决策表</a:t>
            </a:r>
          </a:p>
          <a:p>
            <a:pPr algn="just">
              <a:lnSpc>
                <a:spcPct val="150000"/>
              </a:lnSpc>
              <a:buClrTx/>
              <a:buSzTx/>
              <a:buFontTx/>
            </a:pPr>
            <a:endParaRPr lang="zh-CN" altLang="en-US" sz="1800" dirty="0">
              <a:solidFill>
                <a:srgbClr val="0070C0"/>
              </a:solidFill>
              <a:latin typeface="微软雅黑" panose="020B0503020204020204" pitchFamily="34" charset="-122"/>
              <a:ea typeface="微软雅黑" panose="020B0503020204020204" pitchFamily="34" charset="-122"/>
            </a:endParaRPr>
          </a:p>
        </p:txBody>
      </p:sp>
      <p:sp>
        <p:nvSpPr>
          <p:cNvPr id="3" name="Title 1">
            <a:extLst>
              <a:ext uri="{FF2B5EF4-FFF2-40B4-BE49-F238E27FC236}">
                <a16:creationId xmlns:a16="http://schemas.microsoft.com/office/drawing/2014/main" id="{07A7CFD9-1C3B-A9B4-0159-8611A5151E2F}"/>
              </a:ext>
            </a:extLst>
          </p:cNvPr>
          <p:cNvSpPr txBox="1"/>
          <p:nvPr/>
        </p:nvSpPr>
        <p:spPr>
          <a:xfrm>
            <a:off x="1143635" y="266700"/>
            <a:ext cx="701421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2.3.</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5</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	实例三：三角形问题的因果图与决策表绘制</a:t>
            </a: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p:cNvGraphicFramePr/>
          <p:nvPr>
            <p:custDataLst>
              <p:tags r:id="rId1"/>
            </p:custDataLst>
          </p:nvPr>
        </p:nvGraphicFramePr>
        <p:xfrm>
          <a:off x="1849755" y="1533525"/>
          <a:ext cx="8491220" cy="4744720"/>
        </p:xfrm>
        <a:graphic>
          <a:graphicData uri="http://schemas.openxmlformats.org/drawingml/2006/table">
            <a:tbl>
              <a:tblPr firstRow="1" bandRow="1">
                <a:tableStyleId>{5C22544A-7EE6-4342-B048-85BDC9FD1C3A}</a:tableStyleId>
              </a:tblPr>
              <a:tblGrid>
                <a:gridCol w="1031875">
                  <a:extLst>
                    <a:ext uri="{9D8B030D-6E8A-4147-A177-3AD203B41FA5}">
                      <a16:colId xmlns:a16="http://schemas.microsoft.com/office/drawing/2014/main" val="20000"/>
                    </a:ext>
                  </a:extLst>
                </a:gridCol>
                <a:gridCol w="749935">
                  <a:extLst>
                    <a:ext uri="{9D8B030D-6E8A-4147-A177-3AD203B41FA5}">
                      <a16:colId xmlns:a16="http://schemas.microsoft.com/office/drawing/2014/main" val="20001"/>
                    </a:ext>
                  </a:extLst>
                </a:gridCol>
                <a:gridCol w="735330">
                  <a:extLst>
                    <a:ext uri="{9D8B030D-6E8A-4147-A177-3AD203B41FA5}">
                      <a16:colId xmlns:a16="http://schemas.microsoft.com/office/drawing/2014/main" val="20002"/>
                    </a:ext>
                  </a:extLst>
                </a:gridCol>
                <a:gridCol w="704850">
                  <a:extLst>
                    <a:ext uri="{9D8B030D-6E8A-4147-A177-3AD203B41FA5}">
                      <a16:colId xmlns:a16="http://schemas.microsoft.com/office/drawing/2014/main" val="20003"/>
                    </a:ext>
                  </a:extLst>
                </a:gridCol>
                <a:gridCol w="695325">
                  <a:extLst>
                    <a:ext uri="{9D8B030D-6E8A-4147-A177-3AD203B41FA5}">
                      <a16:colId xmlns:a16="http://schemas.microsoft.com/office/drawing/2014/main" val="20004"/>
                    </a:ext>
                  </a:extLst>
                </a:gridCol>
                <a:gridCol w="748030">
                  <a:extLst>
                    <a:ext uri="{9D8B030D-6E8A-4147-A177-3AD203B41FA5}">
                      <a16:colId xmlns:a16="http://schemas.microsoft.com/office/drawing/2014/main" val="20005"/>
                    </a:ext>
                  </a:extLst>
                </a:gridCol>
                <a:gridCol w="760095">
                  <a:extLst>
                    <a:ext uri="{9D8B030D-6E8A-4147-A177-3AD203B41FA5}">
                      <a16:colId xmlns:a16="http://schemas.microsoft.com/office/drawing/2014/main" val="20006"/>
                    </a:ext>
                  </a:extLst>
                </a:gridCol>
                <a:gridCol w="767080">
                  <a:extLst>
                    <a:ext uri="{9D8B030D-6E8A-4147-A177-3AD203B41FA5}">
                      <a16:colId xmlns:a16="http://schemas.microsoft.com/office/drawing/2014/main" val="20007"/>
                    </a:ext>
                  </a:extLst>
                </a:gridCol>
                <a:gridCol w="767715">
                  <a:extLst>
                    <a:ext uri="{9D8B030D-6E8A-4147-A177-3AD203B41FA5}">
                      <a16:colId xmlns:a16="http://schemas.microsoft.com/office/drawing/2014/main" val="20008"/>
                    </a:ext>
                  </a:extLst>
                </a:gridCol>
                <a:gridCol w="765175">
                  <a:extLst>
                    <a:ext uri="{9D8B030D-6E8A-4147-A177-3AD203B41FA5}">
                      <a16:colId xmlns:a16="http://schemas.microsoft.com/office/drawing/2014/main" val="20009"/>
                    </a:ext>
                  </a:extLst>
                </a:gridCol>
                <a:gridCol w="765810">
                  <a:extLst>
                    <a:ext uri="{9D8B030D-6E8A-4147-A177-3AD203B41FA5}">
                      <a16:colId xmlns:a16="http://schemas.microsoft.com/office/drawing/2014/main" val="20010"/>
                    </a:ext>
                  </a:extLst>
                </a:gridCol>
              </a:tblGrid>
              <a:tr h="586105">
                <a:tc gridSpan="2">
                  <a:txBody>
                    <a:bodyPr/>
                    <a:lstStyle/>
                    <a:p>
                      <a:pPr algn="ctr">
                        <a:lnSpc>
                          <a:spcPct val="90000"/>
                        </a:lnSpc>
                        <a:buNone/>
                      </a:pPr>
                      <a:r>
                        <a:rPr lang="zh-CN" altLang="en-US" sz="1800" b="1">
                          <a:latin typeface="微软雅黑" panose="020B0503020204020204" pitchFamily="34" charset="-122"/>
                          <a:ea typeface="微软雅黑" panose="020B0503020204020204" pitchFamily="34" charset="-122"/>
                        </a:rPr>
                        <a:t>原因与结果</a:t>
                      </a:r>
                    </a:p>
                  </a:txBody>
                  <a:tcPr anchor="ctr"/>
                </a:tc>
                <a:tc hMerge="1">
                  <a:txBody>
                    <a:bodyPr/>
                    <a:lstStyle/>
                    <a:p>
                      <a:endParaRPr lang="zh-CN"/>
                    </a:p>
                  </a:txBody>
                  <a:tcPr anchor="ctr"/>
                </a:tc>
                <a:tc>
                  <a:txBody>
                    <a:bodyPr/>
                    <a:lstStyle/>
                    <a:p>
                      <a:pPr algn="ctr">
                        <a:lnSpc>
                          <a:spcPct val="90000"/>
                        </a:lnSpc>
                        <a:buNone/>
                      </a:pPr>
                      <a:r>
                        <a:rPr lang="en-US" altLang="zh-CN" sz="1800">
                          <a:latin typeface="微软雅黑" panose="020B0503020204020204" pitchFamily="34" charset="-122"/>
                          <a:ea typeface="微软雅黑" panose="020B0503020204020204" pitchFamily="34" charset="-122"/>
                        </a:rPr>
                        <a:t>1</a:t>
                      </a:r>
                    </a:p>
                  </a:txBody>
                  <a:tcPr anchor="ctr"/>
                </a:tc>
                <a:tc>
                  <a:txBody>
                    <a:bodyPr/>
                    <a:lstStyle/>
                    <a:p>
                      <a:pPr algn="ctr">
                        <a:lnSpc>
                          <a:spcPct val="90000"/>
                        </a:lnSpc>
                        <a:buNone/>
                      </a:pPr>
                      <a:r>
                        <a:rPr lang="en-US" altLang="zh-CN" sz="1800">
                          <a:latin typeface="微软雅黑" panose="020B0503020204020204" pitchFamily="34" charset="-122"/>
                          <a:ea typeface="微软雅黑" panose="020B0503020204020204" pitchFamily="34" charset="-122"/>
                        </a:rPr>
                        <a:t>2</a:t>
                      </a:r>
                    </a:p>
                  </a:txBody>
                  <a:tcPr anchor="ctr"/>
                </a:tc>
                <a:tc>
                  <a:txBody>
                    <a:bodyPr/>
                    <a:lstStyle/>
                    <a:p>
                      <a:pPr algn="ctr">
                        <a:lnSpc>
                          <a:spcPct val="90000"/>
                        </a:lnSpc>
                        <a:buNone/>
                      </a:pPr>
                      <a:r>
                        <a:rPr lang="en-US" altLang="zh-CN" sz="1800">
                          <a:latin typeface="微软雅黑" panose="020B0503020204020204" pitchFamily="34" charset="-122"/>
                          <a:ea typeface="微软雅黑" panose="020B0503020204020204" pitchFamily="34" charset="-122"/>
                        </a:rPr>
                        <a:t>3</a:t>
                      </a:r>
                    </a:p>
                  </a:txBody>
                  <a:tcPr anchor="ctr"/>
                </a:tc>
                <a:tc>
                  <a:txBody>
                    <a:bodyPr/>
                    <a:lstStyle/>
                    <a:p>
                      <a:pPr algn="ctr">
                        <a:lnSpc>
                          <a:spcPct val="90000"/>
                        </a:lnSpc>
                        <a:buNone/>
                      </a:pPr>
                      <a:r>
                        <a:rPr lang="en-US" altLang="zh-CN" sz="1800">
                          <a:latin typeface="微软雅黑" panose="020B0503020204020204" pitchFamily="34" charset="-122"/>
                          <a:ea typeface="微软雅黑" panose="020B0503020204020204" pitchFamily="34" charset="-122"/>
                        </a:rPr>
                        <a:t>4</a:t>
                      </a:r>
                    </a:p>
                  </a:txBody>
                  <a:tcPr anchor="ctr"/>
                </a:tc>
                <a:tc>
                  <a:txBody>
                    <a:bodyPr/>
                    <a:lstStyle/>
                    <a:p>
                      <a:pPr algn="ctr">
                        <a:lnSpc>
                          <a:spcPct val="90000"/>
                        </a:lnSpc>
                        <a:buNone/>
                      </a:pPr>
                      <a:r>
                        <a:rPr lang="en-US" altLang="zh-CN" sz="1800">
                          <a:latin typeface="微软雅黑" panose="020B0503020204020204" pitchFamily="34" charset="-122"/>
                          <a:ea typeface="微软雅黑" panose="020B0503020204020204" pitchFamily="34" charset="-122"/>
                        </a:rPr>
                        <a:t>5</a:t>
                      </a:r>
                    </a:p>
                  </a:txBody>
                  <a:tcPr anchor="ctr"/>
                </a:tc>
                <a:tc>
                  <a:txBody>
                    <a:bodyPr/>
                    <a:lstStyle/>
                    <a:p>
                      <a:pPr algn="ctr">
                        <a:lnSpc>
                          <a:spcPct val="90000"/>
                        </a:lnSpc>
                        <a:buNone/>
                      </a:pPr>
                      <a:r>
                        <a:rPr lang="en-US" altLang="zh-CN" sz="1800">
                          <a:latin typeface="微软雅黑" panose="020B0503020204020204" pitchFamily="34" charset="-122"/>
                          <a:ea typeface="微软雅黑" panose="020B0503020204020204" pitchFamily="34" charset="-122"/>
                        </a:rPr>
                        <a:t>6</a:t>
                      </a:r>
                    </a:p>
                  </a:txBody>
                  <a:tcPr anchor="ctr"/>
                </a:tc>
                <a:tc>
                  <a:txBody>
                    <a:bodyPr/>
                    <a:lstStyle/>
                    <a:p>
                      <a:pPr algn="ctr">
                        <a:lnSpc>
                          <a:spcPct val="90000"/>
                        </a:lnSpc>
                        <a:buNone/>
                      </a:pPr>
                      <a:r>
                        <a:rPr lang="en-US" altLang="zh-CN" sz="1800">
                          <a:latin typeface="微软雅黑" panose="020B0503020204020204" pitchFamily="34" charset="-122"/>
                          <a:ea typeface="微软雅黑" panose="020B0503020204020204" pitchFamily="34" charset="-122"/>
                        </a:rPr>
                        <a:t>7</a:t>
                      </a:r>
                    </a:p>
                  </a:txBody>
                  <a:tcPr anchor="ctr"/>
                </a:tc>
                <a:tc>
                  <a:txBody>
                    <a:bodyPr/>
                    <a:lstStyle/>
                    <a:p>
                      <a:pPr algn="ctr">
                        <a:lnSpc>
                          <a:spcPct val="90000"/>
                        </a:lnSpc>
                        <a:buNone/>
                      </a:pPr>
                      <a:r>
                        <a:rPr lang="en-US" altLang="zh-CN" sz="1800">
                          <a:latin typeface="微软雅黑" panose="020B0503020204020204" pitchFamily="34" charset="-122"/>
                          <a:ea typeface="微软雅黑" panose="020B0503020204020204" pitchFamily="34" charset="-122"/>
                        </a:rPr>
                        <a:t>8</a:t>
                      </a:r>
                    </a:p>
                  </a:txBody>
                  <a:tcPr anchor="ctr"/>
                </a:tc>
                <a:tc>
                  <a:txBody>
                    <a:bodyPr/>
                    <a:lstStyle/>
                    <a:p>
                      <a:pPr algn="ctr">
                        <a:lnSpc>
                          <a:spcPct val="90000"/>
                        </a:lnSpc>
                        <a:buNone/>
                      </a:pPr>
                      <a:r>
                        <a:rPr lang="en-US" altLang="zh-CN" sz="1800">
                          <a:latin typeface="微软雅黑" panose="020B0503020204020204" pitchFamily="34" charset="-122"/>
                          <a:ea typeface="微软雅黑" panose="020B0503020204020204" pitchFamily="34" charset="-122"/>
                        </a:rPr>
                        <a:t>9</a:t>
                      </a:r>
                    </a:p>
                  </a:txBody>
                  <a:tcPr anchor="ctr"/>
                </a:tc>
                <a:extLst>
                  <a:ext uri="{0D108BD9-81ED-4DB2-BD59-A6C34878D82A}">
                    <a16:rowId xmlns:a16="http://schemas.microsoft.com/office/drawing/2014/main" val="10000"/>
                  </a:ext>
                </a:extLst>
              </a:tr>
              <a:tr h="483870">
                <a:tc rowSpan="4">
                  <a:txBody>
                    <a:bodyPr/>
                    <a:lstStyle/>
                    <a:p>
                      <a:pPr marL="0" algn="ctr" defTabSz="1219200" rtl="0" eaLnBrk="1" latinLnBrk="0" hangingPunct="1">
                        <a:spcAft>
                          <a:spcPts val="0"/>
                        </a:spcAft>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原因</a:t>
                      </a:r>
                    </a:p>
                  </a:txBody>
                  <a:tcPr anchor="ctr"/>
                </a:tc>
                <a:tc>
                  <a:txBody>
                    <a:bodyPr/>
                    <a:lstStyle/>
                    <a:p>
                      <a:pPr marL="0" algn="ctr" defTabSz="1219200" rtl="0" eaLnBrk="1" latinLnBrk="0" hangingPunct="1">
                        <a:spcAft>
                          <a:spcPts val="0"/>
                        </a:spcAft>
                        <a:buNone/>
                      </a:pPr>
                      <a:r>
                        <a:rPr lang="en-US" sz="1800" kern="1200">
                          <a:solidFill>
                            <a:srgbClr val="595959"/>
                          </a:solidFill>
                          <a:latin typeface="微软雅黑" panose="020B0503020204020204" pitchFamily="34" charset="-122"/>
                          <a:ea typeface="微软雅黑" panose="020B0503020204020204" pitchFamily="34" charset="-122"/>
                          <a:cs typeface="+mn-cs"/>
                          <a:sym typeface="+mn-ea"/>
                        </a:rPr>
                        <a:t>c</a:t>
                      </a:r>
                      <a:r>
                        <a:rPr lang="en-US" sz="1800" kern="1200" baseline="-25000">
                          <a:solidFill>
                            <a:srgbClr val="595959"/>
                          </a:solidFill>
                          <a:latin typeface="微软雅黑" panose="020B0503020204020204" pitchFamily="34" charset="-122"/>
                          <a:ea typeface="微软雅黑" panose="020B0503020204020204" pitchFamily="34" charset="-122"/>
                          <a:cs typeface="+mn-cs"/>
                          <a:sym typeface="+mn-ea"/>
                        </a:rPr>
                        <a:t>1</a:t>
                      </a:r>
                      <a:endParaRPr lang="zh-CN" altLang="en-US" sz="1800" kern="1200" baseline="-250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Y</a:t>
                      </a:r>
                    </a:p>
                  </a:txBody>
                  <a:tcPr marL="68580" marR="68580" marT="0" marB="0" anchor="ctr"/>
                </a:tc>
                <a:tc>
                  <a:txBody>
                    <a:bodyPr/>
                    <a:lstStyle/>
                    <a:p>
                      <a:pPr marL="0" algn="ctr" defTabSz="1219200" rtl="0" eaLnBrk="1" latinLnBrk="0" hangingPunct="1">
                        <a:spcAft>
                          <a:spcPts val="0"/>
                        </a:spcAft>
                      </a:pPr>
                      <a:r>
                        <a:rPr lang="en-US" sz="1800" kern="1200" dirty="0">
                          <a:solidFill>
                            <a:srgbClr val="595959"/>
                          </a:solidFill>
                          <a:latin typeface="微软雅黑" panose="020B0503020204020204" pitchFamily="34" charset="-122"/>
                          <a:ea typeface="微软雅黑" panose="020B0503020204020204" pitchFamily="34" charset="-122"/>
                          <a:cs typeface="+mn-cs"/>
                        </a:rPr>
                        <a:t>Y</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Y</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Y</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Y</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Y</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Y</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Y</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N</a:t>
                      </a:r>
                    </a:p>
                  </a:txBody>
                  <a:tcPr marL="68580" marR="68580" marT="0" marB="0" anchor="ctr"/>
                </a:tc>
                <a:extLst>
                  <a:ext uri="{0D108BD9-81ED-4DB2-BD59-A6C34878D82A}">
                    <a16:rowId xmlns:a16="http://schemas.microsoft.com/office/drawing/2014/main" val="10001"/>
                  </a:ext>
                </a:extLst>
              </a:tr>
              <a:tr h="453390">
                <a:tc vMerge="1">
                  <a:txBody>
                    <a:bodyPr/>
                    <a:lstStyle/>
                    <a:p>
                      <a:endParaRPr lang="zh-CN"/>
                    </a:p>
                  </a:txBody>
                  <a:tcPr anchor="ctr"/>
                </a:tc>
                <a:tc>
                  <a:txBody>
                    <a:bodyPr/>
                    <a:lstStyle/>
                    <a:p>
                      <a:pPr marL="0" algn="ctr" defTabSz="1219200" rtl="0" eaLnBrk="1" latinLnBrk="0" hangingPunct="1">
                        <a:spcAft>
                          <a:spcPts val="0"/>
                        </a:spcAft>
                        <a:buClrTx/>
                        <a:buSzTx/>
                        <a:buFontTx/>
                        <a:buNone/>
                      </a:pPr>
                      <a:r>
                        <a:rPr lang="en-US" sz="1800" kern="1200">
                          <a:solidFill>
                            <a:srgbClr val="595959"/>
                          </a:solidFill>
                          <a:latin typeface="微软雅黑" panose="020B0503020204020204" pitchFamily="34" charset="-122"/>
                          <a:ea typeface="微软雅黑" panose="020B0503020204020204" pitchFamily="34" charset="-122"/>
                          <a:cs typeface="+mn-cs"/>
                          <a:sym typeface="+mn-ea"/>
                        </a:rPr>
                        <a:t>c</a:t>
                      </a:r>
                      <a:r>
                        <a:rPr lang="en-US" sz="1800" kern="1200" baseline="-25000">
                          <a:solidFill>
                            <a:srgbClr val="595959"/>
                          </a:solidFill>
                          <a:latin typeface="微软雅黑" panose="020B0503020204020204" pitchFamily="34" charset="-122"/>
                          <a:ea typeface="微软雅黑" panose="020B0503020204020204" pitchFamily="34" charset="-122"/>
                          <a:cs typeface="+mn-cs"/>
                          <a:sym typeface="+mn-ea"/>
                        </a:rPr>
                        <a:t>2</a:t>
                      </a:r>
                      <a:endParaRPr lang="en-US" altLang="zh-CN" sz="1800" kern="1200" baseline="-250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Y</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N</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Y</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N</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N</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Y</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Y</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N</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a:t>
                      </a:r>
                    </a:p>
                  </a:txBody>
                  <a:tcPr marL="68580" marR="68580" marT="0" marB="0" anchor="ctr"/>
                </a:tc>
                <a:extLst>
                  <a:ext uri="{0D108BD9-81ED-4DB2-BD59-A6C34878D82A}">
                    <a16:rowId xmlns:a16="http://schemas.microsoft.com/office/drawing/2014/main" val="10002"/>
                  </a:ext>
                </a:extLst>
              </a:tr>
              <a:tr h="473075">
                <a:tc vMerge="1">
                  <a:txBody>
                    <a:bodyPr/>
                    <a:lstStyle/>
                    <a:p>
                      <a:endParaRPr lang="zh-CN"/>
                    </a:p>
                  </a:txBody>
                  <a:tcPr/>
                </a:tc>
                <a:tc>
                  <a:txBody>
                    <a:bodyPr/>
                    <a:lstStyle/>
                    <a:p>
                      <a:pPr marL="0" algn="ctr" defTabSz="1219200" rtl="0" eaLnBrk="1" latinLnBrk="0" hangingPunct="1">
                        <a:spcAft>
                          <a:spcPts val="0"/>
                        </a:spcAft>
                        <a:buClrTx/>
                        <a:buSzTx/>
                        <a:buFontTx/>
                        <a:buNone/>
                      </a:pPr>
                      <a:r>
                        <a:rPr lang="en-US" sz="1800" kern="1200">
                          <a:solidFill>
                            <a:srgbClr val="595959"/>
                          </a:solidFill>
                          <a:latin typeface="微软雅黑" panose="020B0503020204020204" pitchFamily="34" charset="-122"/>
                          <a:ea typeface="微软雅黑" panose="020B0503020204020204" pitchFamily="34" charset="-122"/>
                          <a:cs typeface="+mn-cs"/>
                          <a:sym typeface="+mn-ea"/>
                        </a:rPr>
                        <a:t>c</a:t>
                      </a:r>
                      <a:r>
                        <a:rPr lang="en-US" sz="1800" kern="1200" baseline="-25000">
                          <a:solidFill>
                            <a:srgbClr val="595959"/>
                          </a:solidFill>
                          <a:latin typeface="微软雅黑" panose="020B0503020204020204" pitchFamily="34" charset="-122"/>
                          <a:ea typeface="微软雅黑" panose="020B0503020204020204" pitchFamily="34" charset="-122"/>
                          <a:cs typeface="+mn-cs"/>
                          <a:sym typeface="+mn-ea"/>
                        </a:rPr>
                        <a:t>3</a:t>
                      </a:r>
                      <a:endParaRPr lang="en-US" altLang="zh-CN" sz="1800" kern="1200" baseline="-250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Y</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N</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N</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Y</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N</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Y</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N</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Y</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a:t>
                      </a:r>
                    </a:p>
                  </a:txBody>
                  <a:tcPr marL="68580" marR="68580" marT="0" marB="0" anchor="ctr"/>
                </a:tc>
                <a:extLst>
                  <a:ext uri="{0D108BD9-81ED-4DB2-BD59-A6C34878D82A}">
                    <a16:rowId xmlns:a16="http://schemas.microsoft.com/office/drawing/2014/main" val="10003"/>
                  </a:ext>
                </a:extLst>
              </a:tr>
              <a:tr h="447040">
                <a:tc vMerge="1">
                  <a:txBody>
                    <a:bodyPr/>
                    <a:lstStyle/>
                    <a:p>
                      <a:endParaRPr lang="zh-CN"/>
                    </a:p>
                  </a:txBody>
                  <a:tcPr/>
                </a:tc>
                <a:tc>
                  <a:txBody>
                    <a:bodyPr/>
                    <a:lstStyle/>
                    <a:p>
                      <a:pPr marL="0" algn="ctr" defTabSz="1219200" rtl="0" eaLnBrk="1" latinLnBrk="0" hangingPunct="1">
                        <a:spcAft>
                          <a:spcPts val="0"/>
                        </a:spcAft>
                        <a:buClrTx/>
                        <a:buSzTx/>
                        <a:buFontTx/>
                        <a:buNone/>
                      </a:pPr>
                      <a:r>
                        <a:rPr lang="en-US" sz="1800" kern="1200">
                          <a:solidFill>
                            <a:srgbClr val="595959"/>
                          </a:solidFill>
                          <a:latin typeface="微软雅黑" panose="020B0503020204020204" pitchFamily="34" charset="-122"/>
                          <a:ea typeface="微软雅黑" panose="020B0503020204020204" pitchFamily="34" charset="-122"/>
                          <a:cs typeface="+mn-cs"/>
                          <a:sym typeface="+mn-ea"/>
                        </a:rPr>
                        <a:t>c</a:t>
                      </a:r>
                      <a:r>
                        <a:rPr lang="en-US" sz="1800" kern="1200" baseline="-25000">
                          <a:solidFill>
                            <a:srgbClr val="595959"/>
                          </a:solidFill>
                          <a:latin typeface="微软雅黑" panose="020B0503020204020204" pitchFamily="34" charset="-122"/>
                          <a:ea typeface="微软雅黑" panose="020B0503020204020204" pitchFamily="34" charset="-122"/>
                          <a:cs typeface="+mn-cs"/>
                          <a:sym typeface="+mn-ea"/>
                        </a:rPr>
                        <a:t>4</a:t>
                      </a:r>
                      <a:endParaRPr lang="en-US" altLang="zh-CN" sz="1800" kern="1200" baseline="-250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Y</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N</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N</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N</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Y</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N</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Y</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Y</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a:t>
                      </a:r>
                    </a:p>
                  </a:txBody>
                  <a:tcPr marL="68580" marR="68580" marT="0" marB="0" anchor="ctr"/>
                </a:tc>
                <a:extLst>
                  <a:ext uri="{0D108BD9-81ED-4DB2-BD59-A6C34878D82A}">
                    <a16:rowId xmlns:a16="http://schemas.microsoft.com/office/drawing/2014/main" val="10004"/>
                  </a:ext>
                </a:extLst>
              </a:tr>
              <a:tr h="450850">
                <a:tc rowSpan="5">
                  <a:txBody>
                    <a:bodyPr/>
                    <a:lstStyle/>
                    <a:p>
                      <a:pPr marL="0" algn="ctr" defTabSz="1219200" rtl="0" eaLnBrk="1" latinLnBrk="0" hangingPunct="1">
                        <a:spcAft>
                          <a:spcPts val="0"/>
                        </a:spcAft>
                        <a:buClrTx/>
                        <a:buSzTx/>
                        <a:buFontTx/>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结果</a:t>
                      </a:r>
                    </a:p>
                  </a:txBody>
                  <a:tcPr anchor="ctr"/>
                </a:tc>
                <a:tc>
                  <a:txBody>
                    <a:bodyPr/>
                    <a:lstStyle/>
                    <a:p>
                      <a:pPr marL="0" algn="ctr" defTabSz="1219200" rtl="0" eaLnBrk="1" latinLnBrk="0" hangingPunct="1">
                        <a:spcAft>
                          <a:spcPts val="0"/>
                        </a:spcAft>
                        <a:buClrTx/>
                        <a:buSzTx/>
                        <a:buFontTx/>
                        <a:buNone/>
                      </a:pPr>
                      <a:r>
                        <a:rPr lang="en-US" sz="1800" kern="1200">
                          <a:solidFill>
                            <a:srgbClr val="595959"/>
                          </a:solidFill>
                          <a:latin typeface="微软雅黑" panose="020B0503020204020204" pitchFamily="34" charset="-122"/>
                          <a:ea typeface="微软雅黑" panose="020B0503020204020204" pitchFamily="34" charset="-122"/>
                          <a:cs typeface="+mn-cs"/>
                          <a:sym typeface="+mn-ea"/>
                        </a:rPr>
                        <a:t>e</a:t>
                      </a:r>
                      <a:r>
                        <a:rPr lang="en-US" sz="1800" kern="1200" baseline="-25000">
                          <a:solidFill>
                            <a:srgbClr val="595959"/>
                          </a:solidFill>
                          <a:latin typeface="微软雅黑" panose="020B0503020204020204" pitchFamily="34" charset="-122"/>
                          <a:ea typeface="微软雅黑" panose="020B0503020204020204" pitchFamily="34" charset="-122"/>
                          <a:cs typeface="+mn-cs"/>
                          <a:sym typeface="+mn-ea"/>
                        </a:rPr>
                        <a:t>1</a:t>
                      </a:r>
                      <a:endParaRPr lang="en-US" altLang="zh-CN" sz="1800" kern="1200" baseline="-250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a:t>
                      </a:r>
                    </a:p>
                  </a:txBody>
                  <a:tcPr marL="68580" marR="68580" marT="0" marB="0" anchor="ctr"/>
                </a:tc>
                <a:extLst>
                  <a:ext uri="{0D108BD9-81ED-4DB2-BD59-A6C34878D82A}">
                    <a16:rowId xmlns:a16="http://schemas.microsoft.com/office/drawing/2014/main" val="10005"/>
                  </a:ext>
                </a:extLst>
              </a:tr>
              <a:tr h="464820">
                <a:tc vMerge="1">
                  <a:txBody>
                    <a:bodyPr/>
                    <a:lstStyle/>
                    <a:p>
                      <a:endParaRPr lang="zh-CN"/>
                    </a:p>
                  </a:txBody>
                  <a:tcPr anchor="ctr"/>
                </a:tc>
                <a:tc>
                  <a:txBody>
                    <a:bodyPr/>
                    <a:lstStyle/>
                    <a:p>
                      <a:pPr marL="0" algn="ctr" defTabSz="1219200" rtl="0" eaLnBrk="1" latinLnBrk="0" hangingPunct="1">
                        <a:spcAft>
                          <a:spcPts val="0"/>
                        </a:spcAft>
                        <a:buClrTx/>
                        <a:buSzTx/>
                        <a:buFontTx/>
                        <a:buNone/>
                      </a:pPr>
                      <a:r>
                        <a:rPr lang="en-US" sz="1800" kern="1200">
                          <a:solidFill>
                            <a:srgbClr val="595959"/>
                          </a:solidFill>
                          <a:latin typeface="微软雅黑" panose="020B0503020204020204" pitchFamily="34" charset="-122"/>
                          <a:ea typeface="微软雅黑" panose="020B0503020204020204" pitchFamily="34" charset="-122"/>
                          <a:cs typeface="+mn-cs"/>
                          <a:sym typeface="+mn-ea"/>
                        </a:rPr>
                        <a:t>e</a:t>
                      </a:r>
                      <a:r>
                        <a:rPr lang="en-US" sz="1800" kern="1200" baseline="-25000">
                          <a:solidFill>
                            <a:srgbClr val="595959"/>
                          </a:solidFill>
                          <a:latin typeface="微软雅黑" panose="020B0503020204020204" pitchFamily="34" charset="-122"/>
                          <a:ea typeface="微软雅黑" panose="020B0503020204020204" pitchFamily="34" charset="-122"/>
                          <a:cs typeface="+mn-cs"/>
                          <a:sym typeface="+mn-ea"/>
                        </a:rPr>
                        <a:t>2</a:t>
                      </a:r>
                      <a:endParaRPr lang="en-US" altLang="zh-CN" sz="1800" kern="1200" baseline="-250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extLst>
                  <a:ext uri="{0D108BD9-81ED-4DB2-BD59-A6C34878D82A}">
                    <a16:rowId xmlns:a16="http://schemas.microsoft.com/office/drawing/2014/main" val="10006"/>
                  </a:ext>
                </a:extLst>
              </a:tr>
              <a:tr h="447040">
                <a:tc vMerge="1">
                  <a:txBody>
                    <a:bodyPr/>
                    <a:lstStyle/>
                    <a:p>
                      <a:endParaRPr lang="zh-CN"/>
                    </a:p>
                  </a:txBody>
                  <a:tcPr anchor="ctr"/>
                </a:tc>
                <a:tc>
                  <a:txBody>
                    <a:bodyPr/>
                    <a:lstStyle/>
                    <a:p>
                      <a:pPr marL="0" algn="ctr" defTabSz="1219200" rtl="0" eaLnBrk="1" latinLnBrk="0" hangingPunct="1">
                        <a:spcAft>
                          <a:spcPts val="0"/>
                        </a:spcAft>
                        <a:buClrTx/>
                        <a:buSzTx/>
                        <a:buFontTx/>
                        <a:buNone/>
                      </a:pPr>
                      <a:r>
                        <a:rPr lang="en-US" sz="1800" kern="1200">
                          <a:solidFill>
                            <a:srgbClr val="595959"/>
                          </a:solidFill>
                          <a:latin typeface="微软雅黑" panose="020B0503020204020204" pitchFamily="34" charset="-122"/>
                          <a:ea typeface="微软雅黑" panose="020B0503020204020204" pitchFamily="34" charset="-122"/>
                          <a:cs typeface="+mn-cs"/>
                          <a:sym typeface="+mn-ea"/>
                        </a:rPr>
                        <a:t>e</a:t>
                      </a:r>
                      <a:r>
                        <a:rPr lang="en-US" sz="1800" kern="1200" baseline="-25000">
                          <a:solidFill>
                            <a:srgbClr val="595959"/>
                          </a:solidFill>
                          <a:latin typeface="微软雅黑" panose="020B0503020204020204" pitchFamily="34" charset="-122"/>
                          <a:ea typeface="微软雅黑" panose="020B0503020204020204" pitchFamily="34" charset="-122"/>
                          <a:cs typeface="+mn-cs"/>
                          <a:sym typeface="+mn-ea"/>
                        </a:rPr>
                        <a:t>3</a:t>
                      </a:r>
                      <a:endParaRPr lang="en-US" altLang="zh-CN" sz="1800" kern="1200" baseline="-250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extLst>
                  <a:ext uri="{0D108BD9-81ED-4DB2-BD59-A6C34878D82A}">
                    <a16:rowId xmlns:a16="http://schemas.microsoft.com/office/drawing/2014/main" val="10007"/>
                  </a:ext>
                </a:extLst>
              </a:tr>
              <a:tr h="491490">
                <a:tc vMerge="1">
                  <a:txBody>
                    <a:bodyPr/>
                    <a:lstStyle/>
                    <a:p>
                      <a:endParaRPr lang="zh-CN"/>
                    </a:p>
                  </a:txBody>
                  <a:tcPr/>
                </a:tc>
                <a:tc>
                  <a:txBody>
                    <a:bodyPr/>
                    <a:lstStyle/>
                    <a:p>
                      <a:pPr marL="0" algn="ctr" defTabSz="1219200" rtl="0" eaLnBrk="1" latinLnBrk="0" hangingPunct="1">
                        <a:spcAft>
                          <a:spcPts val="0"/>
                        </a:spcAft>
                        <a:buClrTx/>
                        <a:buSzTx/>
                        <a:buFontTx/>
                        <a:buNone/>
                      </a:pPr>
                      <a:r>
                        <a:rPr lang="en-US" sz="1800" kern="1200">
                          <a:solidFill>
                            <a:srgbClr val="595959"/>
                          </a:solidFill>
                          <a:latin typeface="微软雅黑" panose="020B0503020204020204" pitchFamily="34" charset="-122"/>
                          <a:ea typeface="微软雅黑" panose="020B0503020204020204" pitchFamily="34" charset="-122"/>
                          <a:cs typeface="+mn-cs"/>
                          <a:sym typeface="+mn-ea"/>
                        </a:rPr>
                        <a:t>e</a:t>
                      </a:r>
                      <a:r>
                        <a:rPr lang="en-US" sz="1800" kern="1200" baseline="-25000">
                          <a:solidFill>
                            <a:srgbClr val="595959"/>
                          </a:solidFill>
                          <a:latin typeface="微软雅黑" panose="020B0503020204020204" pitchFamily="34" charset="-122"/>
                          <a:ea typeface="微软雅黑" panose="020B0503020204020204" pitchFamily="34" charset="-122"/>
                          <a:cs typeface="+mn-cs"/>
                          <a:sym typeface="+mn-ea"/>
                        </a:rPr>
                        <a:t>4</a:t>
                      </a:r>
                      <a:endParaRPr lang="en-US" altLang="zh-CN" sz="1800" kern="1200" baseline="-250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extLst>
                  <a:ext uri="{0D108BD9-81ED-4DB2-BD59-A6C34878D82A}">
                    <a16:rowId xmlns:a16="http://schemas.microsoft.com/office/drawing/2014/main" val="10008"/>
                  </a:ext>
                </a:extLst>
              </a:tr>
              <a:tr h="447040">
                <a:tc vMerge="1">
                  <a:txBody>
                    <a:bodyPr/>
                    <a:lstStyle/>
                    <a:p>
                      <a:endParaRPr lang="zh-CN"/>
                    </a:p>
                  </a:txBody>
                  <a:tcPr anchor="ctr"/>
                </a:tc>
                <a:tc>
                  <a:txBody>
                    <a:bodyPr/>
                    <a:lstStyle/>
                    <a:p>
                      <a:pPr marL="0" algn="ctr" defTabSz="1219200" rtl="0" eaLnBrk="1" latinLnBrk="0" hangingPunct="1">
                        <a:spcAft>
                          <a:spcPts val="0"/>
                        </a:spcAft>
                        <a:buClrTx/>
                        <a:buSzTx/>
                        <a:buFontTx/>
                        <a:buNone/>
                      </a:pPr>
                      <a:r>
                        <a:rPr lang="en-US" sz="1800" kern="1200">
                          <a:solidFill>
                            <a:srgbClr val="595959"/>
                          </a:solidFill>
                          <a:latin typeface="微软雅黑" panose="020B0503020204020204" pitchFamily="34" charset="-122"/>
                          <a:ea typeface="微软雅黑" panose="020B0503020204020204" pitchFamily="34" charset="-122"/>
                          <a:cs typeface="+mn-cs"/>
                          <a:sym typeface="+mn-ea"/>
                        </a:rPr>
                        <a:t>e</a:t>
                      </a:r>
                      <a:r>
                        <a:rPr lang="en-US" sz="1800" kern="1200" baseline="-25000">
                          <a:solidFill>
                            <a:srgbClr val="595959"/>
                          </a:solidFill>
                          <a:latin typeface="微软雅黑" panose="020B0503020204020204" pitchFamily="34" charset="-122"/>
                          <a:ea typeface="微软雅黑" panose="020B0503020204020204" pitchFamily="34" charset="-122"/>
                          <a:cs typeface="+mn-cs"/>
                          <a:sym typeface="+mn-ea"/>
                        </a:rPr>
                        <a:t>5</a:t>
                      </a:r>
                      <a:endParaRPr lang="en-US" altLang="zh-CN" sz="1800" kern="1200" baseline="-250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a:t>
                      </a:r>
                    </a:p>
                  </a:txBody>
                  <a:tcPr marL="68580" marR="68580" marT="0" marB="0" anchor="ctr"/>
                </a:tc>
                <a:tc>
                  <a:txBody>
                    <a:bodyPr/>
                    <a:lstStyle/>
                    <a:p>
                      <a:pPr marL="0" algn="ctr" defTabSz="1219200" rtl="0" eaLnBrk="1" latinLnBrk="0" hangingPunct="1">
                        <a:spcAft>
                          <a:spcPts val="0"/>
                        </a:spcAft>
                      </a:pPr>
                      <a:r>
                        <a:rPr lang="en-US" sz="1800" kern="1200" dirty="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extLst>
                  <a:ext uri="{0D108BD9-81ED-4DB2-BD59-A6C34878D82A}">
                    <a16:rowId xmlns:a16="http://schemas.microsoft.com/office/drawing/2014/main" val="10009"/>
                  </a:ext>
                </a:extLst>
              </a:tr>
            </a:tbl>
          </a:graphicData>
        </a:graphic>
      </p:graphicFrame>
      <p:sp>
        <p:nvSpPr>
          <p:cNvPr id="16" name="TextBox 35"/>
          <p:cNvSpPr txBox="1">
            <a:spLocks noChangeArrowheads="1"/>
          </p:cNvSpPr>
          <p:nvPr/>
        </p:nvSpPr>
        <p:spPr bwMode="auto">
          <a:xfrm>
            <a:off x="4871085" y="841375"/>
            <a:ext cx="2827020" cy="663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no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buClrTx/>
              <a:buSzTx/>
              <a:buFontTx/>
            </a:pPr>
            <a:r>
              <a:rPr lang="zh-CN" altLang="en-US" sz="1800" dirty="0">
                <a:solidFill>
                  <a:srgbClr val="0070C0"/>
                </a:solidFill>
                <a:latin typeface="微软雅黑" panose="020B0503020204020204" pitchFamily="34" charset="-122"/>
                <a:ea typeface="微软雅黑" panose="020B0503020204020204" pitchFamily="34" charset="-122"/>
              </a:rPr>
              <a:t>简化后的三角形决策表</a:t>
            </a:r>
          </a:p>
          <a:p>
            <a:pPr algn="just">
              <a:lnSpc>
                <a:spcPct val="150000"/>
              </a:lnSpc>
              <a:buClrTx/>
              <a:buSzTx/>
              <a:buFontTx/>
            </a:pPr>
            <a:endParaRPr lang="zh-CN" altLang="en-US" sz="1800" dirty="0">
              <a:solidFill>
                <a:srgbClr val="0070C0"/>
              </a:solidFill>
              <a:latin typeface="微软雅黑" panose="020B0503020204020204" pitchFamily="34" charset="-122"/>
              <a:ea typeface="微软雅黑" panose="020B0503020204020204" pitchFamily="34" charset="-122"/>
            </a:endParaRPr>
          </a:p>
        </p:txBody>
      </p:sp>
      <p:sp>
        <p:nvSpPr>
          <p:cNvPr id="3" name="Title 1">
            <a:extLst>
              <a:ext uri="{FF2B5EF4-FFF2-40B4-BE49-F238E27FC236}">
                <a16:creationId xmlns:a16="http://schemas.microsoft.com/office/drawing/2014/main" id="{25C74A72-5E26-4A4A-7244-5AD0EAF86921}"/>
              </a:ext>
            </a:extLst>
          </p:cNvPr>
          <p:cNvSpPr txBox="1"/>
          <p:nvPr/>
        </p:nvSpPr>
        <p:spPr>
          <a:xfrm>
            <a:off x="1143635" y="266700"/>
            <a:ext cx="701421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2.3.</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5</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	实例三：三角形问题的因果图与决策表绘制</a:t>
            </a: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35"/>
          <p:cNvSpPr txBox="1">
            <a:spLocks noChangeArrowheads="1"/>
          </p:cNvSpPr>
          <p:nvPr/>
        </p:nvSpPr>
        <p:spPr bwMode="auto">
          <a:xfrm>
            <a:off x="4871085" y="841375"/>
            <a:ext cx="2226310" cy="663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no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buClrTx/>
              <a:buSzTx/>
              <a:buFontTx/>
            </a:pPr>
            <a:r>
              <a:rPr lang="zh-CN" altLang="en-US" sz="1800" dirty="0">
                <a:solidFill>
                  <a:srgbClr val="0070C0"/>
                </a:solidFill>
                <a:latin typeface="微软雅黑" panose="020B0503020204020204" pitchFamily="34" charset="-122"/>
                <a:ea typeface="微软雅黑" panose="020B0503020204020204" pitchFamily="34" charset="-122"/>
              </a:rPr>
              <a:t>三角形测试用例</a:t>
            </a:r>
          </a:p>
          <a:p>
            <a:pPr algn="just">
              <a:lnSpc>
                <a:spcPct val="150000"/>
              </a:lnSpc>
              <a:buClrTx/>
              <a:buSzTx/>
              <a:buFontTx/>
            </a:pPr>
            <a:endParaRPr lang="zh-CN" altLang="en-US" sz="1800" dirty="0">
              <a:solidFill>
                <a:srgbClr val="0070C0"/>
              </a:solidFill>
              <a:latin typeface="微软雅黑" panose="020B0503020204020204" pitchFamily="34" charset="-122"/>
              <a:ea typeface="微软雅黑" panose="020B0503020204020204" pitchFamily="34" charset="-122"/>
            </a:endParaRPr>
          </a:p>
        </p:txBody>
      </p:sp>
      <p:graphicFrame>
        <p:nvGraphicFramePr>
          <p:cNvPr id="3" name="表格 2"/>
          <p:cNvGraphicFramePr/>
          <p:nvPr>
            <p:custDataLst>
              <p:tags r:id="rId1"/>
            </p:custDataLst>
          </p:nvPr>
        </p:nvGraphicFramePr>
        <p:xfrm>
          <a:off x="2710815" y="1413510"/>
          <a:ext cx="5988685" cy="4786630"/>
        </p:xfrm>
        <a:graphic>
          <a:graphicData uri="http://schemas.openxmlformats.org/drawingml/2006/table">
            <a:tbl>
              <a:tblPr firstRow="1" bandRow="1">
                <a:tableStyleId>{5C22544A-7EE6-4342-B048-85BDC9FD1C3A}</a:tableStyleId>
              </a:tblPr>
              <a:tblGrid>
                <a:gridCol w="1217295">
                  <a:extLst>
                    <a:ext uri="{9D8B030D-6E8A-4147-A177-3AD203B41FA5}">
                      <a16:colId xmlns:a16="http://schemas.microsoft.com/office/drawing/2014/main" val="20000"/>
                    </a:ext>
                  </a:extLst>
                </a:gridCol>
                <a:gridCol w="847090">
                  <a:extLst>
                    <a:ext uri="{9D8B030D-6E8A-4147-A177-3AD203B41FA5}">
                      <a16:colId xmlns:a16="http://schemas.microsoft.com/office/drawing/2014/main" val="20001"/>
                    </a:ext>
                  </a:extLst>
                </a:gridCol>
                <a:gridCol w="826135">
                  <a:extLst>
                    <a:ext uri="{9D8B030D-6E8A-4147-A177-3AD203B41FA5}">
                      <a16:colId xmlns:a16="http://schemas.microsoft.com/office/drawing/2014/main" val="20002"/>
                    </a:ext>
                  </a:extLst>
                </a:gridCol>
                <a:gridCol w="815340">
                  <a:extLst>
                    <a:ext uri="{9D8B030D-6E8A-4147-A177-3AD203B41FA5}">
                      <a16:colId xmlns:a16="http://schemas.microsoft.com/office/drawing/2014/main" val="20003"/>
                    </a:ext>
                  </a:extLst>
                </a:gridCol>
                <a:gridCol w="2282825">
                  <a:extLst>
                    <a:ext uri="{9D8B030D-6E8A-4147-A177-3AD203B41FA5}">
                      <a16:colId xmlns:a16="http://schemas.microsoft.com/office/drawing/2014/main" val="20004"/>
                    </a:ext>
                  </a:extLst>
                </a:gridCol>
              </a:tblGrid>
              <a:tr h="613410">
                <a:tc>
                  <a:txBody>
                    <a:bodyPr/>
                    <a:lstStyle/>
                    <a:p>
                      <a:pPr algn="ctr">
                        <a:lnSpc>
                          <a:spcPct val="90000"/>
                        </a:lnSpc>
                        <a:buNone/>
                      </a:pPr>
                      <a:r>
                        <a:rPr lang="zh-CN" altLang="en-US" sz="1800" b="1">
                          <a:latin typeface="微软雅黑" panose="020B0503020204020204" pitchFamily="34" charset="-122"/>
                          <a:ea typeface="微软雅黑" panose="020B0503020204020204" pitchFamily="34" charset="-122"/>
                        </a:rPr>
                        <a:t>测试用例</a:t>
                      </a:r>
                    </a:p>
                  </a:txBody>
                  <a:tcPr anchor="ctr"/>
                </a:tc>
                <a:tc>
                  <a:txBody>
                    <a:bodyPr/>
                    <a:lstStyle/>
                    <a:p>
                      <a:pPr algn="ctr">
                        <a:lnSpc>
                          <a:spcPct val="90000"/>
                        </a:lnSpc>
                        <a:buNone/>
                      </a:pPr>
                      <a:r>
                        <a:rPr lang="zh-CN" altLang="en-US" sz="1800">
                          <a:latin typeface="微软雅黑" panose="020B0503020204020204" pitchFamily="34" charset="-122"/>
                          <a:ea typeface="微软雅黑" panose="020B0503020204020204" pitchFamily="34" charset="-122"/>
                        </a:rPr>
                        <a:t>a</a:t>
                      </a:r>
                    </a:p>
                  </a:txBody>
                  <a:tcPr anchor="ctr"/>
                </a:tc>
                <a:tc>
                  <a:txBody>
                    <a:bodyPr/>
                    <a:lstStyle/>
                    <a:p>
                      <a:pPr algn="ctr">
                        <a:lnSpc>
                          <a:spcPct val="90000"/>
                        </a:lnSpc>
                        <a:buNone/>
                      </a:pPr>
                      <a:r>
                        <a:rPr lang="en-US" altLang="zh-CN" sz="1800">
                          <a:latin typeface="微软雅黑" panose="020B0503020204020204" pitchFamily="34" charset="-122"/>
                          <a:ea typeface="微软雅黑" panose="020B0503020204020204" pitchFamily="34" charset="-122"/>
                        </a:rPr>
                        <a:t>b</a:t>
                      </a:r>
                    </a:p>
                  </a:txBody>
                  <a:tcPr anchor="ctr"/>
                </a:tc>
                <a:tc>
                  <a:txBody>
                    <a:bodyPr/>
                    <a:lstStyle/>
                    <a:p>
                      <a:pPr algn="ctr">
                        <a:lnSpc>
                          <a:spcPct val="90000"/>
                        </a:lnSpc>
                        <a:buNone/>
                      </a:pPr>
                      <a:r>
                        <a:rPr lang="en-US" altLang="zh-CN" sz="1800">
                          <a:latin typeface="微软雅黑" panose="020B0503020204020204" pitchFamily="34" charset="-122"/>
                          <a:ea typeface="微软雅黑" panose="020B0503020204020204" pitchFamily="34" charset="-122"/>
                        </a:rPr>
                        <a:t>c</a:t>
                      </a:r>
                    </a:p>
                  </a:txBody>
                  <a:tcPr anchor="ctr"/>
                </a:tc>
                <a:tc>
                  <a:txBody>
                    <a:bodyPr/>
                    <a:lstStyle/>
                    <a:p>
                      <a:pPr algn="ctr">
                        <a:lnSpc>
                          <a:spcPct val="90000"/>
                        </a:lnSpc>
                        <a:buNone/>
                      </a:pPr>
                      <a:r>
                        <a:rPr lang="zh-CN" altLang="en-US" sz="1800">
                          <a:latin typeface="微软雅黑" panose="020B0503020204020204" pitchFamily="34" charset="-122"/>
                          <a:ea typeface="微软雅黑" panose="020B0503020204020204" pitchFamily="34" charset="-122"/>
                        </a:rPr>
                        <a:t>预期结果</a:t>
                      </a:r>
                    </a:p>
                  </a:txBody>
                  <a:tcPr anchor="ctr"/>
                </a:tc>
                <a:extLst>
                  <a:ext uri="{0D108BD9-81ED-4DB2-BD59-A6C34878D82A}">
                    <a16:rowId xmlns:a16="http://schemas.microsoft.com/office/drawing/2014/main" val="10000"/>
                  </a:ext>
                </a:extLst>
              </a:tr>
              <a:tr h="475615">
                <a:tc>
                  <a:txBody>
                    <a:bodyPr/>
                    <a:lstStyle/>
                    <a:p>
                      <a:pPr marL="0" algn="ctr" defTabSz="1219200" rtl="0" eaLnBrk="1" latinLnBrk="0" hangingPunct="1">
                        <a:spcAft>
                          <a:spcPts val="0"/>
                        </a:spcAft>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test1</a:t>
                      </a:r>
                    </a:p>
                  </a:txBody>
                  <a:tcPr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3</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3</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3</a:t>
                      </a:r>
                    </a:p>
                  </a:txBody>
                  <a:tcPr marL="68580" marR="68580" marT="0" marB="0" anchor="ctr"/>
                </a:tc>
                <a:tc>
                  <a:txBody>
                    <a:bodyPr/>
                    <a:lstStyle/>
                    <a:p>
                      <a:pPr marL="0" algn="ctr" defTabSz="1219200" rtl="0" eaLnBrk="1" latinLnBrk="0" hangingPunct="1">
                        <a:spcAft>
                          <a:spcPts val="0"/>
                        </a:spcAft>
                      </a:pPr>
                      <a:r>
                        <a:rPr lang="zh-CN" sz="1800" kern="1200">
                          <a:solidFill>
                            <a:srgbClr val="595959"/>
                          </a:solidFill>
                          <a:latin typeface="微软雅黑" panose="020B0503020204020204" pitchFamily="34" charset="-122"/>
                          <a:ea typeface="微软雅黑" panose="020B0503020204020204" pitchFamily="34" charset="-122"/>
                          <a:cs typeface="+mn-cs"/>
                        </a:rPr>
                        <a:t>等边三角形</a:t>
                      </a:r>
                    </a:p>
                  </a:txBody>
                  <a:tcPr marL="68580" marR="68580" marT="0" marB="0" anchor="ctr"/>
                </a:tc>
                <a:extLst>
                  <a:ext uri="{0D108BD9-81ED-4DB2-BD59-A6C34878D82A}">
                    <a16:rowId xmlns:a16="http://schemas.microsoft.com/office/drawing/2014/main" val="10001"/>
                  </a:ext>
                </a:extLst>
              </a:tr>
              <a:tr h="445135">
                <a:tc>
                  <a:txBody>
                    <a:bodyPr/>
                    <a:lstStyle/>
                    <a:p>
                      <a:pPr marL="0" algn="ctr" defTabSz="1219200" rtl="0" eaLnBrk="1" latinLnBrk="0" hangingPunct="1">
                        <a:spcAft>
                          <a:spcPts val="0"/>
                        </a:spcAft>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test2</a:t>
                      </a:r>
                    </a:p>
                  </a:txBody>
                  <a:tcPr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3</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4</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5</a:t>
                      </a:r>
                    </a:p>
                  </a:txBody>
                  <a:tcPr marL="68580" marR="68580" marT="0" marB="0" anchor="ctr"/>
                </a:tc>
                <a:tc>
                  <a:txBody>
                    <a:bodyPr/>
                    <a:lstStyle/>
                    <a:p>
                      <a:pPr marL="0" algn="ctr" defTabSz="1219200" rtl="0" eaLnBrk="1" latinLnBrk="0" hangingPunct="1">
                        <a:spcAft>
                          <a:spcPts val="0"/>
                        </a:spcAft>
                      </a:pPr>
                      <a:r>
                        <a:rPr lang="zh-CN" sz="1800" kern="1200">
                          <a:solidFill>
                            <a:srgbClr val="595959"/>
                          </a:solidFill>
                          <a:latin typeface="微软雅黑" panose="020B0503020204020204" pitchFamily="34" charset="-122"/>
                          <a:ea typeface="微软雅黑" panose="020B0503020204020204" pitchFamily="34" charset="-122"/>
                          <a:cs typeface="+mn-cs"/>
                        </a:rPr>
                        <a:t>一般三角形</a:t>
                      </a:r>
                    </a:p>
                  </a:txBody>
                  <a:tcPr marL="68580" marR="68580" marT="0" marB="0" anchor="ctr"/>
                </a:tc>
                <a:extLst>
                  <a:ext uri="{0D108BD9-81ED-4DB2-BD59-A6C34878D82A}">
                    <a16:rowId xmlns:a16="http://schemas.microsoft.com/office/drawing/2014/main" val="10002"/>
                  </a:ext>
                </a:extLst>
              </a:tr>
              <a:tr h="452755">
                <a:tc>
                  <a:txBody>
                    <a:bodyPr/>
                    <a:lstStyle/>
                    <a:p>
                      <a:pPr marL="0" algn="ctr" defTabSz="1219200" rtl="0" eaLnBrk="1" latinLnBrk="0" hangingPunct="1">
                        <a:spcAft>
                          <a:spcPts val="0"/>
                        </a:spcAft>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test3</a:t>
                      </a:r>
                    </a:p>
                  </a:txBody>
                  <a:tcPr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3</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3</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4</a:t>
                      </a:r>
                    </a:p>
                  </a:txBody>
                  <a:tcPr marL="68580" marR="68580" marT="0" marB="0" anchor="ctr"/>
                </a:tc>
                <a:tc>
                  <a:txBody>
                    <a:bodyPr/>
                    <a:lstStyle/>
                    <a:p>
                      <a:pPr marL="0" algn="ctr" defTabSz="1219200" rtl="0" eaLnBrk="1" latinLnBrk="0" hangingPunct="1">
                        <a:spcAft>
                          <a:spcPts val="0"/>
                        </a:spcAft>
                      </a:pPr>
                      <a:r>
                        <a:rPr lang="zh-CN" sz="1800" kern="1200">
                          <a:solidFill>
                            <a:srgbClr val="595959"/>
                          </a:solidFill>
                          <a:latin typeface="微软雅黑" panose="020B0503020204020204" pitchFamily="34" charset="-122"/>
                          <a:ea typeface="微软雅黑" panose="020B0503020204020204" pitchFamily="34" charset="-122"/>
                          <a:cs typeface="+mn-cs"/>
                        </a:rPr>
                        <a:t>等腰三角形</a:t>
                      </a:r>
                    </a:p>
                  </a:txBody>
                  <a:tcPr marL="68580" marR="68580" marT="0" marB="0" anchor="ctr"/>
                </a:tc>
                <a:extLst>
                  <a:ext uri="{0D108BD9-81ED-4DB2-BD59-A6C34878D82A}">
                    <a16:rowId xmlns:a16="http://schemas.microsoft.com/office/drawing/2014/main" val="10003"/>
                  </a:ext>
                </a:extLst>
              </a:tr>
              <a:tr h="462280">
                <a:tc>
                  <a:txBody>
                    <a:bodyPr/>
                    <a:lstStyle/>
                    <a:p>
                      <a:pPr marL="0" algn="ctr" defTabSz="1219200" rtl="0" eaLnBrk="1" latinLnBrk="0" hangingPunct="1">
                        <a:spcAft>
                          <a:spcPts val="0"/>
                        </a:spcAft>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sym typeface="+mn-ea"/>
                        </a:rPr>
                        <a:t>test4</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4</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3</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3</a:t>
                      </a:r>
                    </a:p>
                  </a:txBody>
                  <a:tcPr marL="68580" marR="68580" marT="0" marB="0" anchor="ctr"/>
                </a:tc>
                <a:tc>
                  <a:txBody>
                    <a:bodyPr/>
                    <a:lstStyle/>
                    <a:p>
                      <a:pPr marL="0" algn="ctr" defTabSz="1219200" rtl="0" eaLnBrk="1" latinLnBrk="0" hangingPunct="1">
                        <a:spcAft>
                          <a:spcPts val="0"/>
                        </a:spcAft>
                      </a:pPr>
                      <a:r>
                        <a:rPr lang="zh-CN" sz="1800" kern="1200">
                          <a:solidFill>
                            <a:srgbClr val="595959"/>
                          </a:solidFill>
                          <a:latin typeface="微软雅黑" panose="020B0503020204020204" pitchFamily="34" charset="-122"/>
                          <a:ea typeface="微软雅黑" panose="020B0503020204020204" pitchFamily="34" charset="-122"/>
                          <a:cs typeface="+mn-cs"/>
                        </a:rPr>
                        <a:t>等腰三角形</a:t>
                      </a:r>
                    </a:p>
                  </a:txBody>
                  <a:tcPr marL="68580" marR="68580" marT="0" marB="0" anchor="ctr"/>
                </a:tc>
                <a:extLst>
                  <a:ext uri="{0D108BD9-81ED-4DB2-BD59-A6C34878D82A}">
                    <a16:rowId xmlns:a16="http://schemas.microsoft.com/office/drawing/2014/main" val="10004"/>
                  </a:ext>
                </a:extLst>
              </a:tr>
              <a:tr h="471170">
                <a:tc>
                  <a:txBody>
                    <a:bodyPr/>
                    <a:lstStyle/>
                    <a:p>
                      <a:pPr marL="0" algn="ctr" defTabSz="1219200" rtl="0" eaLnBrk="1" latinLnBrk="0" hangingPunct="1">
                        <a:spcAft>
                          <a:spcPts val="0"/>
                        </a:spcAft>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sym typeface="+mn-ea"/>
                        </a:rPr>
                        <a:t>test5</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3</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4</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3</a:t>
                      </a:r>
                    </a:p>
                  </a:txBody>
                  <a:tcPr marL="68580" marR="68580" marT="0" marB="0" anchor="ctr"/>
                </a:tc>
                <a:tc>
                  <a:txBody>
                    <a:bodyPr/>
                    <a:lstStyle/>
                    <a:p>
                      <a:pPr marL="0" algn="ctr" defTabSz="1219200" rtl="0" eaLnBrk="1" latinLnBrk="0" hangingPunct="1">
                        <a:spcAft>
                          <a:spcPts val="0"/>
                        </a:spcAft>
                      </a:pPr>
                      <a:r>
                        <a:rPr lang="zh-CN" sz="1800" kern="1200">
                          <a:solidFill>
                            <a:srgbClr val="595959"/>
                          </a:solidFill>
                          <a:latin typeface="微软雅黑" panose="020B0503020204020204" pitchFamily="34" charset="-122"/>
                          <a:ea typeface="微软雅黑" panose="020B0503020204020204" pitchFamily="34" charset="-122"/>
                          <a:cs typeface="+mn-cs"/>
                        </a:rPr>
                        <a:t>等腰三角形</a:t>
                      </a:r>
                    </a:p>
                  </a:txBody>
                  <a:tcPr marL="68580" marR="68580" marT="0" marB="0" anchor="ctr"/>
                </a:tc>
                <a:extLst>
                  <a:ext uri="{0D108BD9-81ED-4DB2-BD59-A6C34878D82A}">
                    <a16:rowId xmlns:a16="http://schemas.microsoft.com/office/drawing/2014/main" val="10005"/>
                  </a:ext>
                </a:extLst>
              </a:tr>
              <a:tr h="471805">
                <a:tc>
                  <a:txBody>
                    <a:bodyPr/>
                    <a:lstStyle/>
                    <a:p>
                      <a:pPr marL="0" algn="ctr" defTabSz="1219200" rtl="0" eaLnBrk="1" latinLnBrk="0" hangingPunct="1">
                        <a:spcAft>
                          <a:spcPts val="0"/>
                        </a:spcAft>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sym typeface="+mn-ea"/>
                        </a:rPr>
                        <a:t>test6</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a:t>
                      </a:r>
                    </a:p>
                  </a:txBody>
                  <a:tcPr marL="68580" marR="68580" marT="0" marB="0" anchor="ctr"/>
                </a:tc>
                <a:tc>
                  <a:txBody>
                    <a:bodyPr/>
                    <a:lstStyle/>
                    <a:p>
                      <a:pPr marL="0" algn="ctr" defTabSz="1219200" rtl="0" eaLnBrk="1" latinLnBrk="0" hangingPunct="1">
                        <a:spcAft>
                          <a:spcPts val="0"/>
                        </a:spcAft>
                      </a:pPr>
                      <a:r>
                        <a:rPr lang="zh-CN" sz="1800" kern="1200" dirty="0">
                          <a:solidFill>
                            <a:srgbClr val="595959"/>
                          </a:solidFill>
                          <a:latin typeface="微软雅黑" panose="020B0503020204020204" pitchFamily="34" charset="-122"/>
                          <a:ea typeface="微软雅黑" panose="020B0503020204020204" pitchFamily="34" charset="-122"/>
                          <a:cs typeface="+mn-cs"/>
                        </a:rPr>
                        <a:t>不符合逻辑</a:t>
                      </a:r>
                    </a:p>
                  </a:txBody>
                  <a:tcPr marL="68580" marR="68580" marT="0" marB="0" anchor="ctr"/>
                </a:tc>
                <a:extLst>
                  <a:ext uri="{0D108BD9-81ED-4DB2-BD59-A6C34878D82A}">
                    <a16:rowId xmlns:a16="http://schemas.microsoft.com/office/drawing/2014/main" val="10006"/>
                  </a:ext>
                </a:extLst>
              </a:tr>
              <a:tr h="471170">
                <a:tc>
                  <a:txBody>
                    <a:bodyPr/>
                    <a:lstStyle/>
                    <a:p>
                      <a:pPr marL="0" algn="ctr" defTabSz="1219200" rtl="0" eaLnBrk="1" latinLnBrk="0" hangingPunct="1">
                        <a:spcAft>
                          <a:spcPts val="0"/>
                        </a:spcAft>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sym typeface="+mn-ea"/>
                        </a:rPr>
                        <a:t>test7</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a:t>
                      </a:r>
                    </a:p>
                  </a:txBody>
                  <a:tcPr marL="68580" marR="68580" marT="0" marB="0" anchor="ctr"/>
                </a:tc>
                <a:tc>
                  <a:txBody>
                    <a:bodyPr/>
                    <a:lstStyle/>
                    <a:p>
                      <a:pPr marL="0" algn="ctr" defTabSz="1219200" rtl="0" eaLnBrk="1" latinLnBrk="0" hangingPunct="1">
                        <a:spcAft>
                          <a:spcPts val="0"/>
                        </a:spcAft>
                      </a:pPr>
                      <a:r>
                        <a:rPr lang="zh-CN" sz="1800" kern="1200">
                          <a:solidFill>
                            <a:srgbClr val="595959"/>
                          </a:solidFill>
                          <a:latin typeface="微软雅黑" panose="020B0503020204020204" pitchFamily="34" charset="-122"/>
                          <a:ea typeface="微软雅黑" panose="020B0503020204020204" pitchFamily="34" charset="-122"/>
                          <a:cs typeface="+mn-cs"/>
                        </a:rPr>
                        <a:t>不符合逻辑</a:t>
                      </a:r>
                    </a:p>
                  </a:txBody>
                  <a:tcPr marL="68580" marR="68580" marT="0" marB="0" anchor="ctr"/>
                </a:tc>
                <a:extLst>
                  <a:ext uri="{0D108BD9-81ED-4DB2-BD59-A6C34878D82A}">
                    <a16:rowId xmlns:a16="http://schemas.microsoft.com/office/drawing/2014/main" val="10007"/>
                  </a:ext>
                </a:extLst>
              </a:tr>
              <a:tr h="452120">
                <a:tc>
                  <a:txBody>
                    <a:bodyPr/>
                    <a:lstStyle/>
                    <a:p>
                      <a:pPr marL="0" algn="ctr" defTabSz="1219200" rtl="0" eaLnBrk="1" latinLnBrk="0" hangingPunct="1">
                        <a:spcAft>
                          <a:spcPts val="0"/>
                        </a:spcAft>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sym typeface="+mn-ea"/>
                        </a:rPr>
                        <a:t>test8</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a:t>
                      </a:r>
                    </a:p>
                  </a:txBody>
                  <a:tcPr marL="68580" marR="68580" marT="0" marB="0" anchor="ctr"/>
                </a:tc>
                <a:tc>
                  <a:txBody>
                    <a:bodyPr/>
                    <a:lstStyle/>
                    <a:p>
                      <a:pPr marL="0" algn="ctr" defTabSz="1219200" rtl="0" eaLnBrk="1" latinLnBrk="0" hangingPunct="1">
                        <a:spcAft>
                          <a:spcPts val="0"/>
                        </a:spcAft>
                      </a:pPr>
                      <a:r>
                        <a:rPr lang="zh-CN" sz="1800" kern="1200">
                          <a:solidFill>
                            <a:srgbClr val="595959"/>
                          </a:solidFill>
                          <a:latin typeface="微软雅黑" panose="020B0503020204020204" pitchFamily="34" charset="-122"/>
                          <a:ea typeface="微软雅黑" panose="020B0503020204020204" pitchFamily="34" charset="-122"/>
                          <a:cs typeface="+mn-cs"/>
                        </a:rPr>
                        <a:t>不符合逻辑</a:t>
                      </a:r>
                    </a:p>
                  </a:txBody>
                  <a:tcPr marL="68580" marR="68580" marT="0" marB="0" anchor="ctr"/>
                </a:tc>
                <a:extLst>
                  <a:ext uri="{0D108BD9-81ED-4DB2-BD59-A6C34878D82A}">
                    <a16:rowId xmlns:a16="http://schemas.microsoft.com/office/drawing/2014/main" val="10008"/>
                  </a:ext>
                </a:extLst>
              </a:tr>
              <a:tr h="471170">
                <a:tc>
                  <a:txBody>
                    <a:bodyPr/>
                    <a:lstStyle/>
                    <a:p>
                      <a:pPr marL="0" algn="ctr" defTabSz="1219200" rtl="0" eaLnBrk="1" latinLnBrk="0" hangingPunct="1">
                        <a:spcAft>
                          <a:spcPts val="0"/>
                        </a:spcAft>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sym typeface="+mn-ea"/>
                        </a:rPr>
                        <a:t>test9</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1</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2</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3</a:t>
                      </a:r>
                    </a:p>
                  </a:txBody>
                  <a:tcPr marL="68580" marR="68580" marT="0" marB="0" anchor="ctr"/>
                </a:tc>
                <a:tc>
                  <a:txBody>
                    <a:bodyPr/>
                    <a:lstStyle/>
                    <a:p>
                      <a:pPr marL="0" algn="ctr" defTabSz="1219200" rtl="0" eaLnBrk="1" latinLnBrk="0" hangingPunct="1">
                        <a:spcAft>
                          <a:spcPts val="0"/>
                        </a:spcAft>
                      </a:pPr>
                      <a:r>
                        <a:rPr lang="zh-CN" sz="1800" kern="1200" dirty="0">
                          <a:solidFill>
                            <a:srgbClr val="595959"/>
                          </a:solidFill>
                          <a:latin typeface="微软雅黑" panose="020B0503020204020204" pitchFamily="34" charset="-122"/>
                          <a:ea typeface="微软雅黑" panose="020B0503020204020204" pitchFamily="34" charset="-122"/>
                          <a:cs typeface="+mn-cs"/>
                        </a:rPr>
                        <a:t>不构成三角形</a:t>
                      </a:r>
                    </a:p>
                  </a:txBody>
                  <a:tcPr marL="68580" marR="68580" marT="0" marB="0" anchor="ctr"/>
                </a:tc>
                <a:extLst>
                  <a:ext uri="{0D108BD9-81ED-4DB2-BD59-A6C34878D82A}">
                    <a16:rowId xmlns:a16="http://schemas.microsoft.com/office/drawing/2014/main" val="10009"/>
                  </a:ext>
                </a:extLst>
              </a:tr>
            </a:tbl>
          </a:graphicData>
        </a:graphic>
      </p:graphicFrame>
      <p:sp>
        <p:nvSpPr>
          <p:cNvPr id="2" name="Title 1">
            <a:extLst>
              <a:ext uri="{FF2B5EF4-FFF2-40B4-BE49-F238E27FC236}">
                <a16:creationId xmlns:a16="http://schemas.microsoft.com/office/drawing/2014/main" id="{96B1CC5F-8D2A-E140-5FE6-CF47A4FACC32}"/>
              </a:ext>
            </a:extLst>
          </p:cNvPr>
          <p:cNvSpPr txBox="1"/>
          <p:nvPr/>
        </p:nvSpPr>
        <p:spPr>
          <a:xfrm>
            <a:off x="1143635" y="266700"/>
            <a:ext cx="701421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2.3.</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5</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	实例三：三角形问题的因果图与决策表绘制</a:t>
            </a: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p:cNvPicPr>
            <a:picLocks noChangeAspect="1"/>
          </p:cNvPicPr>
          <p:nvPr/>
        </p:nvPicPr>
        <p:blipFill>
          <a:blip r:embed="rId3"/>
          <a:stretch>
            <a:fillRect/>
          </a:stretch>
        </p:blipFill>
        <p:spPr>
          <a:xfrm>
            <a:off x="944880" y="2215515"/>
            <a:ext cx="2797810" cy="3898265"/>
          </a:xfrm>
          <a:prstGeom prst="rect">
            <a:avLst/>
          </a:prstGeom>
        </p:spPr>
      </p:pic>
      <p:sp>
        <p:nvSpPr>
          <p:cNvPr id="13" name="椭圆形标注 12"/>
          <p:cNvSpPr/>
          <p:nvPr/>
        </p:nvSpPr>
        <p:spPr>
          <a:xfrm>
            <a:off x="2968625" y="156019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p>
        </p:txBody>
      </p:sp>
      <p:sp>
        <p:nvSpPr>
          <p:cNvPr id="14" name="TextBox 35"/>
          <p:cNvSpPr txBox="1">
            <a:spLocks noChangeArrowheads="1"/>
          </p:cNvSpPr>
          <p:nvPr/>
        </p:nvSpPr>
        <p:spPr bwMode="auto">
          <a:xfrm>
            <a:off x="3247390" y="163830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p>
        </p:txBody>
      </p:sp>
      <p:sp>
        <p:nvSpPr>
          <p:cNvPr id="15" name="TextBox 35"/>
          <p:cNvSpPr txBox="1">
            <a:spLocks noChangeArrowheads="1"/>
          </p:cNvSpPr>
          <p:nvPr/>
        </p:nvSpPr>
        <p:spPr bwMode="auto">
          <a:xfrm>
            <a:off x="5935354" y="3213770"/>
            <a:ext cx="5669299" cy="10439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defRPr/>
            </a:pPr>
            <a:r>
              <a:rPr lang="zh-CN" sz="200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掌握工资发放</a:t>
            </a:r>
            <a:r>
              <a:rPr lang="zh-CN" altLang="en-US" sz="200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情况的</a:t>
            </a:r>
            <a:r>
              <a:rPr sz="200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因果图与决策表</a:t>
            </a:r>
            <a:r>
              <a:rPr lang="zh-CN" sz="200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的</a:t>
            </a:r>
            <a:r>
              <a:rPr sz="200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绘制，能够</a:t>
            </a:r>
            <a:r>
              <a:rPr lang="zh-CN" sz="2000">
                <a:solidFill>
                  <a:srgbClr val="0070C0"/>
                </a:solidFill>
                <a:latin typeface="微软雅黑" panose="020B0503020204020204" pitchFamily="34" charset="-122"/>
                <a:ea typeface="微软雅黑" panose="020B0503020204020204" pitchFamily="34" charset="-122"/>
                <a:cs typeface="+mn-ea"/>
                <a:sym typeface="字魂58号-创中黑" panose="00000500000000000000" pitchFamily="2" charset="-122"/>
              </a:rPr>
              <a:t>通过因果图与决策表设计员工工资的测试用例</a:t>
            </a:r>
          </a:p>
        </p:txBody>
      </p:sp>
      <p:grpSp>
        <p:nvGrpSpPr>
          <p:cNvPr id="19" name="组合 18"/>
          <p:cNvGrpSpPr/>
          <p:nvPr/>
        </p:nvGrpSpPr>
        <p:grpSpPr>
          <a:xfrm>
            <a:off x="5452110" y="3540125"/>
            <a:ext cx="405130" cy="405130"/>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 name="Title 1">
            <a:extLst>
              <a:ext uri="{FF2B5EF4-FFF2-40B4-BE49-F238E27FC236}">
                <a16:creationId xmlns:a16="http://schemas.microsoft.com/office/drawing/2014/main" id="{33504A91-F07D-C738-ED24-EB20CA241A99}"/>
              </a:ext>
            </a:extLst>
          </p:cNvPr>
          <p:cNvSpPr txBox="1"/>
          <p:nvPr/>
        </p:nvSpPr>
        <p:spPr>
          <a:xfrm>
            <a:off x="1143635" y="266700"/>
            <a:ext cx="701421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2.3.</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6</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	实例四：工资发放情况的因果图与决策表绘制</a:t>
            </a: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35"/>
          <p:cNvSpPr txBox="1">
            <a:spLocks noChangeArrowheads="1"/>
          </p:cNvSpPr>
          <p:nvPr/>
        </p:nvSpPr>
        <p:spPr bwMode="auto">
          <a:xfrm>
            <a:off x="4942840" y="1701800"/>
            <a:ext cx="6289675" cy="2613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indent="457200" algn="just">
              <a:lnSpc>
                <a:spcPct val="150000"/>
              </a:lnSpc>
              <a:buClrTx/>
              <a:buSzTx/>
              <a:buFontTx/>
            </a:pPr>
            <a:r>
              <a:rPr lang="zh-CN" altLang="en-US" sz="1800" dirty="0">
                <a:solidFill>
                  <a:srgbClr val="595959"/>
                </a:solidFill>
                <a:latin typeface="微软雅黑" panose="020B0503020204020204" pitchFamily="34" charset="-122"/>
                <a:ea typeface="微软雅黑" panose="020B0503020204020204" pitchFamily="34" charset="-122"/>
              </a:rPr>
              <a:t>某公司的薪资管理制度如下：员工工资分为年薪制与月薪制</a:t>
            </a:r>
            <a:r>
              <a:rPr lang="en-US" altLang="zh-CN" sz="1800" dirty="0">
                <a:solidFill>
                  <a:srgbClr val="595959"/>
                </a:solidFill>
                <a:latin typeface="微软雅黑" panose="020B0503020204020204" pitchFamily="34" charset="-122"/>
                <a:ea typeface="微软雅黑" panose="020B0503020204020204" pitchFamily="34" charset="-122"/>
              </a:rPr>
              <a:t>2</a:t>
            </a:r>
            <a:r>
              <a:rPr lang="zh-CN" altLang="en-US" sz="1800" dirty="0">
                <a:solidFill>
                  <a:srgbClr val="595959"/>
                </a:solidFill>
                <a:latin typeface="微软雅黑" panose="020B0503020204020204" pitchFamily="34" charset="-122"/>
                <a:ea typeface="微软雅黑" panose="020B0503020204020204" pitchFamily="34" charset="-122"/>
              </a:rPr>
              <a:t>种，员工的犯错类型包括普通错误与严重错误</a:t>
            </a:r>
            <a:r>
              <a:rPr lang="en-US" altLang="zh-CN" sz="1800" dirty="0">
                <a:solidFill>
                  <a:srgbClr val="595959"/>
                </a:solidFill>
                <a:latin typeface="微软雅黑" panose="020B0503020204020204" pitchFamily="34" charset="-122"/>
                <a:ea typeface="微软雅黑" panose="020B0503020204020204" pitchFamily="34" charset="-122"/>
              </a:rPr>
              <a:t>2</a:t>
            </a:r>
            <a:r>
              <a:rPr lang="zh-CN" altLang="en-US" sz="1800" dirty="0">
                <a:solidFill>
                  <a:srgbClr val="595959"/>
                </a:solidFill>
                <a:latin typeface="微软雅黑" panose="020B0503020204020204" pitchFamily="34" charset="-122"/>
                <a:ea typeface="微软雅黑" panose="020B0503020204020204" pitchFamily="34" charset="-122"/>
              </a:rPr>
              <a:t>种，如果是</a:t>
            </a:r>
            <a:r>
              <a:rPr lang="zh-CN" altLang="en-US" sz="1800" dirty="0">
                <a:solidFill>
                  <a:srgbClr val="0070C0"/>
                </a:solidFill>
                <a:latin typeface="微软雅黑" panose="020B0503020204020204" pitchFamily="34" charset="-122"/>
                <a:ea typeface="微软雅黑" panose="020B0503020204020204" pitchFamily="34" charset="-122"/>
              </a:rPr>
              <a:t>年薪制的员工</a:t>
            </a:r>
            <a:r>
              <a:rPr lang="zh-CN" altLang="en-US" sz="1800" dirty="0">
                <a:solidFill>
                  <a:srgbClr val="595959"/>
                </a:solidFill>
                <a:latin typeface="微软雅黑" panose="020B0503020204020204" pitchFamily="34" charset="-122"/>
                <a:ea typeface="微软雅黑" panose="020B0503020204020204" pitchFamily="34" charset="-122"/>
              </a:rPr>
              <a:t>，犯</a:t>
            </a:r>
            <a:r>
              <a:rPr lang="zh-CN" altLang="en-US" sz="1800" dirty="0">
                <a:solidFill>
                  <a:srgbClr val="0070C0"/>
                </a:solidFill>
                <a:latin typeface="微软雅黑" panose="020B0503020204020204" pitchFamily="34" charset="-122"/>
                <a:ea typeface="微软雅黑" panose="020B0503020204020204" pitchFamily="34" charset="-122"/>
              </a:rPr>
              <a:t>普通错误扣款2%</a:t>
            </a:r>
            <a:r>
              <a:rPr lang="zh-CN" altLang="en-US" sz="1800" dirty="0">
                <a:solidFill>
                  <a:srgbClr val="595959"/>
                </a:solidFill>
                <a:latin typeface="微软雅黑" panose="020B0503020204020204" pitchFamily="34" charset="-122"/>
                <a:ea typeface="微软雅黑" panose="020B0503020204020204" pitchFamily="34" charset="-122"/>
              </a:rPr>
              <a:t>，犯</a:t>
            </a:r>
            <a:r>
              <a:rPr lang="zh-CN" altLang="en-US" sz="1800" dirty="0">
                <a:solidFill>
                  <a:srgbClr val="0070C0"/>
                </a:solidFill>
                <a:latin typeface="微软雅黑" panose="020B0503020204020204" pitchFamily="34" charset="-122"/>
                <a:ea typeface="微软雅黑" panose="020B0503020204020204" pitchFamily="34" charset="-122"/>
              </a:rPr>
              <a:t>严重错误扣款4%</a:t>
            </a:r>
            <a:r>
              <a:rPr lang="zh-CN" altLang="en-US" sz="1800" dirty="0">
                <a:solidFill>
                  <a:srgbClr val="595959"/>
                </a:solidFill>
                <a:latin typeface="微软雅黑" panose="020B0503020204020204" pitchFamily="34" charset="-122"/>
                <a:ea typeface="微软雅黑" panose="020B0503020204020204" pitchFamily="34" charset="-122"/>
              </a:rPr>
              <a:t>；如果是</a:t>
            </a:r>
            <a:r>
              <a:rPr lang="zh-CN" altLang="en-US" sz="1800" dirty="0">
                <a:solidFill>
                  <a:srgbClr val="0070C0"/>
                </a:solidFill>
                <a:latin typeface="微软雅黑" panose="020B0503020204020204" pitchFamily="34" charset="-122"/>
                <a:ea typeface="微软雅黑" panose="020B0503020204020204" pitchFamily="34" charset="-122"/>
              </a:rPr>
              <a:t>月薪制的员工</a:t>
            </a:r>
            <a:r>
              <a:rPr lang="zh-CN" altLang="en-US" sz="1800" dirty="0">
                <a:solidFill>
                  <a:srgbClr val="595959"/>
                </a:solidFill>
                <a:latin typeface="微软雅黑" panose="020B0503020204020204" pitchFamily="34" charset="-122"/>
                <a:ea typeface="微软雅黑" panose="020B0503020204020204" pitchFamily="34" charset="-122"/>
              </a:rPr>
              <a:t>，犯</a:t>
            </a:r>
            <a:r>
              <a:rPr lang="zh-CN" altLang="en-US" sz="1800" dirty="0">
                <a:solidFill>
                  <a:srgbClr val="0070C0"/>
                </a:solidFill>
                <a:latin typeface="微软雅黑" panose="020B0503020204020204" pitchFamily="34" charset="-122"/>
                <a:ea typeface="微软雅黑" panose="020B0503020204020204" pitchFamily="34" charset="-122"/>
              </a:rPr>
              <a:t>普通错误扣款</a:t>
            </a:r>
            <a:r>
              <a:rPr lang="en-US" altLang="zh-CN" sz="1800" dirty="0">
                <a:solidFill>
                  <a:srgbClr val="0070C0"/>
                </a:solidFill>
                <a:latin typeface="微软雅黑" panose="020B0503020204020204" pitchFamily="34" charset="-122"/>
                <a:ea typeface="微软雅黑" panose="020B0503020204020204" pitchFamily="34" charset="-122"/>
              </a:rPr>
              <a:t>5</a:t>
            </a:r>
            <a:r>
              <a:rPr lang="zh-CN" altLang="en-US" sz="1800" dirty="0">
                <a:solidFill>
                  <a:srgbClr val="0070C0"/>
                </a:solidFill>
                <a:latin typeface="微软雅黑" panose="020B0503020204020204" pitchFamily="34" charset="-122"/>
                <a:ea typeface="微软雅黑" panose="020B0503020204020204" pitchFamily="34" charset="-122"/>
              </a:rPr>
              <a:t>%</a:t>
            </a:r>
            <a:r>
              <a:rPr lang="zh-CN" altLang="en-US" sz="1800" dirty="0">
                <a:solidFill>
                  <a:srgbClr val="595959"/>
                </a:solidFill>
                <a:latin typeface="微软雅黑" panose="020B0503020204020204" pitchFamily="34" charset="-122"/>
                <a:ea typeface="微软雅黑" panose="020B0503020204020204" pitchFamily="34" charset="-122"/>
              </a:rPr>
              <a:t>，犯</a:t>
            </a:r>
            <a:r>
              <a:rPr lang="zh-CN" altLang="en-US" sz="1800" dirty="0">
                <a:solidFill>
                  <a:srgbClr val="0070C0"/>
                </a:solidFill>
                <a:latin typeface="微软雅黑" panose="020B0503020204020204" pitchFamily="34" charset="-122"/>
                <a:ea typeface="微软雅黑" panose="020B0503020204020204" pitchFamily="34" charset="-122"/>
              </a:rPr>
              <a:t>严重错误扣款</a:t>
            </a:r>
            <a:r>
              <a:rPr lang="en-US" altLang="zh-CN" sz="1800" dirty="0">
                <a:solidFill>
                  <a:srgbClr val="0070C0"/>
                </a:solidFill>
                <a:latin typeface="微软雅黑" panose="020B0503020204020204" pitchFamily="34" charset="-122"/>
                <a:ea typeface="微软雅黑" panose="020B0503020204020204" pitchFamily="34" charset="-122"/>
              </a:rPr>
              <a:t>10</a:t>
            </a:r>
            <a:r>
              <a:rPr lang="zh-CN" altLang="en-US" sz="1800" dirty="0">
                <a:solidFill>
                  <a:srgbClr val="0070C0"/>
                </a:solidFill>
                <a:latin typeface="微软雅黑" panose="020B0503020204020204" pitchFamily="34" charset="-122"/>
                <a:ea typeface="微软雅黑" panose="020B0503020204020204" pitchFamily="34" charset="-122"/>
              </a:rPr>
              <a:t>%</a:t>
            </a:r>
            <a:r>
              <a:rPr lang="zh-CN" altLang="en-US" sz="1800" dirty="0">
                <a:solidFill>
                  <a:srgbClr val="595959"/>
                </a:solidFill>
                <a:latin typeface="微软雅黑" panose="020B0503020204020204" pitchFamily="34" charset="-122"/>
                <a:ea typeface="微软雅黑" panose="020B0503020204020204" pitchFamily="34" charset="-122"/>
              </a:rPr>
              <a:t>。该公司编写了一款软件用于对员工工资的计算发放，现在要对该软件进行测试。</a:t>
            </a:r>
          </a:p>
        </p:txBody>
      </p:sp>
      <p:pic>
        <p:nvPicPr>
          <p:cNvPr id="33" name="图片 32"/>
          <p:cNvPicPr>
            <a:picLocks noChangeAspect="1"/>
          </p:cNvPicPr>
          <p:nvPr/>
        </p:nvPicPr>
        <p:blipFill>
          <a:blip r:embed="rId3"/>
          <a:stretch>
            <a:fillRect/>
          </a:stretch>
        </p:blipFill>
        <p:spPr>
          <a:xfrm>
            <a:off x="839386" y="1413456"/>
            <a:ext cx="3715858" cy="4006159"/>
          </a:xfrm>
          <a:prstGeom prst="rect">
            <a:avLst/>
          </a:prstGeom>
        </p:spPr>
      </p:pic>
      <p:sp>
        <p:nvSpPr>
          <p:cNvPr id="2" name="Title 1"/>
          <p:cNvSpPr txBox="1"/>
          <p:nvPr/>
        </p:nvSpPr>
        <p:spPr>
          <a:xfrm>
            <a:off x="1143635" y="266700"/>
            <a:ext cx="701421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2.3.</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6</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	实例四：工资发放情况的因果图与决策表绘制</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35"/>
          <p:cNvSpPr txBox="1">
            <a:spLocks noChangeArrowheads="1"/>
          </p:cNvSpPr>
          <p:nvPr/>
        </p:nvSpPr>
        <p:spPr bwMode="auto">
          <a:xfrm>
            <a:off x="982980" y="909955"/>
            <a:ext cx="10017125" cy="17824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indent="457200" algn="just">
              <a:lnSpc>
                <a:spcPct val="150000"/>
              </a:lnSpc>
              <a:buClrTx/>
              <a:buSzTx/>
              <a:buFontTx/>
            </a:pPr>
            <a:r>
              <a:rPr lang="zh-CN" altLang="en-US" sz="1800" dirty="0">
                <a:solidFill>
                  <a:srgbClr val="595959"/>
                </a:solidFill>
                <a:latin typeface="微软雅黑" panose="020B0503020204020204" pitchFamily="34" charset="-122"/>
                <a:ea typeface="微软雅黑" panose="020B0503020204020204" pitchFamily="34" charset="-122"/>
              </a:rPr>
              <a:t>对公司员工工资管理进行分析，可得出员工</a:t>
            </a:r>
            <a:r>
              <a:rPr lang="zh-CN" altLang="en-US" sz="1800" dirty="0">
                <a:solidFill>
                  <a:srgbClr val="0070C0"/>
                </a:solidFill>
                <a:latin typeface="微软雅黑" panose="020B0503020204020204" pitchFamily="34" charset="-122"/>
                <a:ea typeface="微软雅黑" panose="020B0503020204020204" pitchFamily="34" charset="-122"/>
              </a:rPr>
              <a:t>工资由4个因素决定</a:t>
            </a:r>
            <a:r>
              <a:rPr lang="zh-CN" altLang="en-US" sz="1800" dirty="0">
                <a:solidFill>
                  <a:srgbClr val="595959"/>
                </a:solidFill>
                <a:latin typeface="微软雅黑" panose="020B0503020204020204" pitchFamily="34" charset="-122"/>
                <a:ea typeface="微软雅黑" panose="020B0503020204020204" pitchFamily="34" charset="-122"/>
              </a:rPr>
              <a:t>，即</a:t>
            </a:r>
            <a:r>
              <a:rPr lang="zh-CN" altLang="en-US" sz="1800" dirty="0">
                <a:solidFill>
                  <a:srgbClr val="0070C0"/>
                </a:solidFill>
                <a:latin typeface="微软雅黑" panose="020B0503020204020204" pitchFamily="34" charset="-122"/>
                <a:ea typeface="微软雅黑" panose="020B0503020204020204" pitchFamily="34" charset="-122"/>
              </a:rPr>
              <a:t>年薪、月薪、普通错误、严重错误</a:t>
            </a:r>
            <a:r>
              <a:rPr lang="zh-CN" altLang="en-US" sz="1800" dirty="0">
                <a:solidFill>
                  <a:srgbClr val="595959"/>
                </a:solidFill>
                <a:latin typeface="微软雅黑" panose="020B0503020204020204" pitchFamily="34" charset="-122"/>
                <a:ea typeface="微软雅黑" panose="020B0503020204020204" pitchFamily="34" charset="-122"/>
              </a:rPr>
              <a:t>，其中年薪与月薪不可能并存，但普通错误与严重错误可以并存；而员工最终</a:t>
            </a:r>
            <a:r>
              <a:rPr lang="zh-CN" altLang="en-US" sz="1800" dirty="0">
                <a:solidFill>
                  <a:srgbClr val="0070C0"/>
                </a:solidFill>
                <a:latin typeface="微软雅黑" panose="020B0503020204020204" pitchFamily="34" charset="-122"/>
                <a:ea typeface="微软雅黑" panose="020B0503020204020204" pitchFamily="34" charset="-122"/>
              </a:rPr>
              <a:t>扣款结果有7种</a:t>
            </a:r>
            <a:r>
              <a:rPr lang="zh-CN" altLang="en-US" sz="1800" dirty="0">
                <a:solidFill>
                  <a:srgbClr val="595959"/>
                </a:solidFill>
                <a:latin typeface="微软雅黑" panose="020B0503020204020204" pitchFamily="34" charset="-122"/>
                <a:ea typeface="微软雅黑" panose="020B0503020204020204" pitchFamily="34" charset="-122"/>
              </a:rPr>
              <a:t>，即</a:t>
            </a:r>
            <a:r>
              <a:rPr lang="zh-CN" altLang="en-US" sz="1800" dirty="0">
                <a:solidFill>
                  <a:srgbClr val="0070C0"/>
                </a:solidFill>
                <a:latin typeface="微软雅黑" panose="020B0503020204020204" pitchFamily="34" charset="-122"/>
                <a:ea typeface="微软雅黑" panose="020B0503020204020204" pitchFamily="34" charset="-122"/>
              </a:rPr>
              <a:t>未扣款、扣款2%、扣款4%、扣款6%（2%+4%）、扣款</a:t>
            </a:r>
            <a:r>
              <a:rPr lang="en-US" altLang="zh-CN" sz="1800" dirty="0">
                <a:solidFill>
                  <a:srgbClr val="0070C0"/>
                </a:solidFill>
                <a:latin typeface="微软雅黑" panose="020B0503020204020204" pitchFamily="34" charset="-122"/>
                <a:ea typeface="微软雅黑" panose="020B0503020204020204" pitchFamily="34" charset="-122"/>
              </a:rPr>
              <a:t>5</a:t>
            </a:r>
            <a:r>
              <a:rPr lang="zh-CN" altLang="en-US" sz="1800" dirty="0">
                <a:solidFill>
                  <a:srgbClr val="0070C0"/>
                </a:solidFill>
                <a:latin typeface="微软雅黑" panose="020B0503020204020204" pitchFamily="34" charset="-122"/>
                <a:ea typeface="微软雅黑" panose="020B0503020204020204" pitchFamily="34" charset="-122"/>
              </a:rPr>
              <a:t>%、扣款</a:t>
            </a:r>
            <a:r>
              <a:rPr lang="en-US" altLang="zh-CN" sz="1800" dirty="0">
                <a:solidFill>
                  <a:srgbClr val="0070C0"/>
                </a:solidFill>
                <a:latin typeface="微软雅黑" panose="020B0503020204020204" pitchFamily="34" charset="-122"/>
                <a:ea typeface="微软雅黑" panose="020B0503020204020204" pitchFamily="34" charset="-122"/>
              </a:rPr>
              <a:t>10</a:t>
            </a:r>
            <a:r>
              <a:rPr lang="zh-CN" altLang="en-US" sz="1800" dirty="0">
                <a:solidFill>
                  <a:srgbClr val="0070C0"/>
                </a:solidFill>
                <a:latin typeface="微软雅黑" panose="020B0503020204020204" pitchFamily="34" charset="-122"/>
                <a:ea typeface="微软雅黑" panose="020B0503020204020204" pitchFamily="34" charset="-122"/>
              </a:rPr>
              <a:t>%、扣款1</a:t>
            </a:r>
            <a:r>
              <a:rPr lang="en-US" altLang="zh-CN" sz="1800" dirty="0">
                <a:solidFill>
                  <a:srgbClr val="0070C0"/>
                </a:solidFill>
                <a:latin typeface="微软雅黑" panose="020B0503020204020204" pitchFamily="34" charset="-122"/>
                <a:ea typeface="微软雅黑" panose="020B0503020204020204" pitchFamily="34" charset="-122"/>
              </a:rPr>
              <a:t>5</a:t>
            </a:r>
            <a:r>
              <a:rPr lang="zh-CN" altLang="en-US" sz="1800" dirty="0">
                <a:solidFill>
                  <a:srgbClr val="0070C0"/>
                </a:solidFill>
                <a:latin typeface="微软雅黑" panose="020B0503020204020204" pitchFamily="34" charset="-122"/>
                <a:ea typeface="微软雅黑" panose="020B0503020204020204" pitchFamily="34" charset="-122"/>
              </a:rPr>
              <a:t>%（</a:t>
            </a:r>
            <a:r>
              <a:rPr lang="en-US" altLang="zh-CN" sz="1800" dirty="0">
                <a:solidFill>
                  <a:srgbClr val="0070C0"/>
                </a:solidFill>
                <a:latin typeface="微软雅黑" panose="020B0503020204020204" pitchFamily="34" charset="-122"/>
                <a:ea typeface="微软雅黑" panose="020B0503020204020204" pitchFamily="34" charset="-122"/>
              </a:rPr>
              <a:t>5</a:t>
            </a:r>
            <a:r>
              <a:rPr lang="zh-CN" altLang="en-US" sz="1800" dirty="0">
                <a:solidFill>
                  <a:srgbClr val="0070C0"/>
                </a:solidFill>
                <a:latin typeface="微软雅黑" panose="020B0503020204020204" pitchFamily="34" charset="-122"/>
                <a:ea typeface="微软雅黑" panose="020B0503020204020204" pitchFamily="34" charset="-122"/>
              </a:rPr>
              <a:t>%+</a:t>
            </a:r>
            <a:r>
              <a:rPr lang="en-US" altLang="zh-CN" sz="1800" dirty="0">
                <a:solidFill>
                  <a:srgbClr val="0070C0"/>
                </a:solidFill>
                <a:latin typeface="微软雅黑" panose="020B0503020204020204" pitchFamily="34" charset="-122"/>
                <a:ea typeface="微软雅黑" panose="020B0503020204020204" pitchFamily="34" charset="-122"/>
              </a:rPr>
              <a:t>10</a:t>
            </a:r>
            <a:r>
              <a:rPr lang="zh-CN" altLang="en-US" sz="1800" dirty="0">
                <a:solidFill>
                  <a:srgbClr val="0070C0"/>
                </a:solidFill>
                <a:latin typeface="微软雅黑" panose="020B0503020204020204" pitchFamily="34" charset="-122"/>
                <a:ea typeface="微软雅黑" panose="020B0503020204020204" pitchFamily="34" charset="-122"/>
              </a:rPr>
              <a:t>%）</a:t>
            </a:r>
            <a:r>
              <a:rPr lang="zh-CN" altLang="en-US" sz="1800" dirty="0">
                <a:solidFill>
                  <a:srgbClr val="595959"/>
                </a:solidFill>
                <a:latin typeface="微软雅黑" panose="020B0503020204020204" pitchFamily="34" charset="-122"/>
                <a:ea typeface="微软雅黑" panose="020B0503020204020204" pitchFamily="34" charset="-122"/>
              </a:rPr>
              <a:t>。由此总结出</a:t>
            </a:r>
            <a:r>
              <a:rPr lang="zh-CN" altLang="en-US" sz="1800" dirty="0">
                <a:solidFill>
                  <a:srgbClr val="0070C0"/>
                </a:solidFill>
                <a:latin typeface="微软雅黑" panose="020B0503020204020204" pitchFamily="34" charset="-122"/>
                <a:ea typeface="微软雅黑" panose="020B0503020204020204" pitchFamily="34" charset="-122"/>
              </a:rPr>
              <a:t>员工工资发放情况的原因与结果，</a:t>
            </a:r>
            <a:r>
              <a:rPr lang="zh-CN" altLang="en-US" sz="1800" dirty="0">
                <a:solidFill>
                  <a:srgbClr val="595959"/>
                </a:solidFill>
                <a:latin typeface="微软雅黑" panose="020B0503020204020204" pitchFamily="34" charset="-122"/>
                <a:ea typeface="微软雅黑" panose="020B0503020204020204" pitchFamily="34" charset="-122"/>
              </a:rPr>
              <a:t>如下表所示。</a:t>
            </a:r>
          </a:p>
        </p:txBody>
      </p:sp>
      <p:graphicFrame>
        <p:nvGraphicFramePr>
          <p:cNvPr id="3" name="表格 2"/>
          <p:cNvGraphicFramePr/>
          <p:nvPr>
            <p:custDataLst>
              <p:tags r:id="rId1"/>
            </p:custDataLst>
            <p:extLst>
              <p:ext uri="{D42A27DB-BD31-4B8C-83A1-F6EECF244321}">
                <p14:modId xmlns:p14="http://schemas.microsoft.com/office/powerpoint/2010/main" val="1015803155"/>
              </p:ext>
            </p:extLst>
          </p:nvPr>
        </p:nvGraphicFramePr>
        <p:xfrm>
          <a:off x="2854960" y="2781935"/>
          <a:ext cx="5614670" cy="3599180"/>
        </p:xfrm>
        <a:graphic>
          <a:graphicData uri="http://schemas.openxmlformats.org/drawingml/2006/table">
            <a:tbl>
              <a:tblPr firstRow="1" bandRow="1">
                <a:tableStyleId>{5C22544A-7EE6-4342-B048-85BDC9FD1C3A}</a:tableStyleId>
              </a:tblPr>
              <a:tblGrid>
                <a:gridCol w="1916430">
                  <a:extLst>
                    <a:ext uri="{9D8B030D-6E8A-4147-A177-3AD203B41FA5}">
                      <a16:colId xmlns:a16="http://schemas.microsoft.com/office/drawing/2014/main" val="20000"/>
                    </a:ext>
                  </a:extLst>
                </a:gridCol>
                <a:gridCol w="960120">
                  <a:extLst>
                    <a:ext uri="{9D8B030D-6E8A-4147-A177-3AD203B41FA5}">
                      <a16:colId xmlns:a16="http://schemas.microsoft.com/office/drawing/2014/main" val="20001"/>
                    </a:ext>
                  </a:extLst>
                </a:gridCol>
                <a:gridCol w="1870710">
                  <a:extLst>
                    <a:ext uri="{9D8B030D-6E8A-4147-A177-3AD203B41FA5}">
                      <a16:colId xmlns:a16="http://schemas.microsoft.com/office/drawing/2014/main" val="20002"/>
                    </a:ext>
                  </a:extLst>
                </a:gridCol>
                <a:gridCol w="867410">
                  <a:extLst>
                    <a:ext uri="{9D8B030D-6E8A-4147-A177-3AD203B41FA5}">
                      <a16:colId xmlns:a16="http://schemas.microsoft.com/office/drawing/2014/main" val="20003"/>
                    </a:ext>
                  </a:extLst>
                </a:gridCol>
              </a:tblGrid>
              <a:tr h="530225">
                <a:tc gridSpan="2">
                  <a:txBody>
                    <a:bodyPr/>
                    <a:lstStyle/>
                    <a:p>
                      <a:pPr algn="ctr">
                        <a:lnSpc>
                          <a:spcPct val="90000"/>
                        </a:lnSpc>
                        <a:buNone/>
                      </a:pPr>
                      <a:r>
                        <a:rPr lang="zh-CN" altLang="en-US" sz="1800" b="1">
                          <a:latin typeface="微软雅黑" panose="020B0503020204020204" pitchFamily="34" charset="-122"/>
                          <a:ea typeface="微软雅黑" panose="020B0503020204020204" pitchFamily="34" charset="-122"/>
                        </a:rPr>
                        <a:t>原因</a:t>
                      </a:r>
                      <a:endParaRPr lang="zh-CN" altLang="en-US" sz="1800">
                        <a:latin typeface="微软雅黑" panose="020B0503020204020204" pitchFamily="34" charset="-122"/>
                        <a:ea typeface="微软雅黑" panose="020B0503020204020204" pitchFamily="34" charset="-122"/>
                      </a:endParaRPr>
                    </a:p>
                  </a:txBody>
                  <a:tcPr anchor="ctr"/>
                </a:tc>
                <a:tc hMerge="1">
                  <a:txBody>
                    <a:bodyPr/>
                    <a:lstStyle/>
                    <a:p>
                      <a:endParaRPr lang="zh-CN"/>
                    </a:p>
                  </a:txBody>
                  <a:tcPr anchor="ctr"/>
                </a:tc>
                <a:tc gridSpan="2">
                  <a:txBody>
                    <a:bodyPr/>
                    <a:lstStyle/>
                    <a:p>
                      <a:pPr algn="ctr">
                        <a:lnSpc>
                          <a:spcPct val="90000"/>
                        </a:lnSpc>
                        <a:buNone/>
                      </a:pPr>
                      <a:r>
                        <a:rPr lang="zh-CN" altLang="en-US" sz="1800">
                          <a:latin typeface="微软雅黑" panose="020B0503020204020204" pitchFamily="34" charset="-122"/>
                          <a:ea typeface="微软雅黑" panose="020B0503020204020204" pitchFamily="34" charset="-122"/>
                        </a:rPr>
                        <a:t>结果</a:t>
                      </a:r>
                    </a:p>
                  </a:txBody>
                  <a:tcPr anchor="ctr"/>
                </a:tc>
                <a:tc hMerge="1">
                  <a:txBody>
                    <a:bodyPr/>
                    <a:lstStyle/>
                    <a:p>
                      <a:endParaRPr lang="zh-CN"/>
                    </a:p>
                  </a:txBody>
                  <a:tcPr anchor="ctr"/>
                </a:tc>
                <a:extLst>
                  <a:ext uri="{0D108BD9-81ED-4DB2-BD59-A6C34878D82A}">
                    <a16:rowId xmlns:a16="http://schemas.microsoft.com/office/drawing/2014/main" val="10000"/>
                  </a:ext>
                </a:extLst>
              </a:tr>
              <a:tr h="450215">
                <a:tc>
                  <a:txBody>
                    <a:bodyPr/>
                    <a:lstStyle/>
                    <a:p>
                      <a:pPr algn="ctr">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年薪</a:t>
                      </a:r>
                    </a:p>
                  </a:txBody>
                  <a:tcPr anchor="ctr"/>
                </a:tc>
                <a:tc>
                  <a:txBody>
                    <a:bodyPr/>
                    <a:lstStyle/>
                    <a:p>
                      <a:pPr algn="ctr">
                        <a:buNone/>
                      </a:pPr>
                      <a:r>
                        <a:rPr lang="en-US" sz="1800" kern="1200">
                          <a:solidFill>
                            <a:srgbClr val="595959"/>
                          </a:solidFill>
                          <a:latin typeface="微软雅黑" panose="020B0503020204020204" pitchFamily="34" charset="-122"/>
                          <a:ea typeface="微软雅黑" panose="020B0503020204020204" pitchFamily="34" charset="-122"/>
                          <a:cs typeface="+mn-cs"/>
                          <a:sym typeface="+mn-ea"/>
                        </a:rPr>
                        <a:t>c</a:t>
                      </a:r>
                      <a:r>
                        <a:rPr lang="en-US" sz="1800" kern="1200" baseline="-25000">
                          <a:solidFill>
                            <a:srgbClr val="595959"/>
                          </a:solidFill>
                          <a:latin typeface="微软雅黑" panose="020B0503020204020204" pitchFamily="34" charset="-122"/>
                          <a:ea typeface="微软雅黑" panose="020B0503020204020204" pitchFamily="34" charset="-122"/>
                          <a:cs typeface="+mn-cs"/>
                          <a:sym typeface="+mn-ea"/>
                        </a:rPr>
                        <a:t>1</a:t>
                      </a:r>
                      <a:endParaRPr lang="zh-CN" altLang="en-US" sz="1800" kern="1200" baseline="-250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未扣款</a:t>
                      </a:r>
                    </a:p>
                  </a:txBody>
                  <a:tcPr anchor="ctr"/>
                </a:tc>
                <a:tc>
                  <a:txBody>
                    <a:bodyPr/>
                    <a:lstStyle/>
                    <a:p>
                      <a:pPr algn="ctr">
                        <a:buNone/>
                      </a:pPr>
                      <a:r>
                        <a:rPr lang="en-US" sz="1800" kern="1200">
                          <a:solidFill>
                            <a:srgbClr val="595959"/>
                          </a:solidFill>
                          <a:latin typeface="微软雅黑" panose="020B0503020204020204" pitchFamily="34" charset="-122"/>
                          <a:ea typeface="微软雅黑" panose="020B0503020204020204" pitchFamily="34" charset="-122"/>
                          <a:cs typeface="+mn-cs"/>
                          <a:sym typeface="+mn-ea"/>
                        </a:rPr>
                        <a:t>e</a:t>
                      </a:r>
                      <a:r>
                        <a:rPr lang="en-US" sz="1800" kern="1200" baseline="-25000">
                          <a:solidFill>
                            <a:srgbClr val="595959"/>
                          </a:solidFill>
                          <a:latin typeface="微软雅黑" panose="020B0503020204020204" pitchFamily="34" charset="-122"/>
                          <a:ea typeface="微软雅黑" panose="020B0503020204020204" pitchFamily="34" charset="-122"/>
                          <a:cs typeface="+mn-cs"/>
                          <a:sym typeface="+mn-ea"/>
                        </a:rPr>
                        <a:t>1</a:t>
                      </a:r>
                      <a:endParaRPr lang="en-US" altLang="zh-CN" sz="1800" kern="1200" baseline="-25000">
                        <a:solidFill>
                          <a:srgbClr val="595959"/>
                        </a:solidFill>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10001"/>
                  </a:ext>
                </a:extLst>
              </a:tr>
              <a:tr h="424815">
                <a:tc rowSpan="2">
                  <a:txBody>
                    <a:bodyPr/>
                    <a:lstStyle/>
                    <a:p>
                      <a:pPr algn="ctr">
                        <a:buClrTx/>
                        <a:buSzTx/>
                        <a:buFontTx/>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月薪</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rowSpan="2">
                  <a:txBody>
                    <a:bodyPr/>
                    <a:lstStyle/>
                    <a:p>
                      <a:pPr algn="ctr">
                        <a:buClrTx/>
                        <a:buSzTx/>
                        <a:buFontTx/>
                        <a:buNone/>
                      </a:pPr>
                      <a:r>
                        <a:rPr lang="en-US" sz="1800" kern="1200">
                          <a:solidFill>
                            <a:srgbClr val="595959"/>
                          </a:solidFill>
                          <a:latin typeface="微软雅黑" panose="020B0503020204020204" pitchFamily="34" charset="-122"/>
                          <a:ea typeface="微软雅黑" panose="020B0503020204020204" pitchFamily="34" charset="-122"/>
                          <a:cs typeface="+mn-cs"/>
                          <a:sym typeface="+mn-ea"/>
                        </a:rPr>
                        <a:t>c</a:t>
                      </a:r>
                      <a:r>
                        <a:rPr lang="en-US" sz="1800" kern="1200" baseline="-25000">
                          <a:solidFill>
                            <a:srgbClr val="595959"/>
                          </a:solidFill>
                          <a:latin typeface="微软雅黑" panose="020B0503020204020204" pitchFamily="34" charset="-122"/>
                          <a:ea typeface="微软雅黑" panose="020B0503020204020204" pitchFamily="34" charset="-122"/>
                          <a:cs typeface="+mn-cs"/>
                          <a:sym typeface="+mn-ea"/>
                        </a:rPr>
                        <a:t>2</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扣款2%</a:t>
                      </a:r>
                    </a:p>
                  </a:txBody>
                  <a:tcPr anchor="ctr"/>
                </a:tc>
                <a:tc>
                  <a:txBody>
                    <a:bodyPr/>
                    <a:lstStyle/>
                    <a:p>
                      <a:pPr marL="0" algn="ctr" defTabSz="1219200" rtl="0" eaLnBrk="1" latinLnBrk="0" hangingPunct="1">
                        <a:buNone/>
                      </a:pPr>
                      <a:r>
                        <a:rPr lang="en-US" sz="1800" kern="1200">
                          <a:solidFill>
                            <a:srgbClr val="595959"/>
                          </a:solidFill>
                          <a:latin typeface="微软雅黑" panose="020B0503020204020204" pitchFamily="34" charset="-122"/>
                          <a:ea typeface="微软雅黑" panose="020B0503020204020204" pitchFamily="34" charset="-122"/>
                          <a:cs typeface="+mn-cs"/>
                          <a:sym typeface="+mn-ea"/>
                        </a:rPr>
                        <a:t>e</a:t>
                      </a:r>
                      <a:r>
                        <a:rPr lang="en-US" sz="1800" kern="1200" baseline="-25000">
                          <a:solidFill>
                            <a:srgbClr val="595959"/>
                          </a:solidFill>
                          <a:latin typeface="微软雅黑" panose="020B0503020204020204" pitchFamily="34" charset="-122"/>
                          <a:ea typeface="微软雅黑" panose="020B0503020204020204" pitchFamily="34" charset="-122"/>
                          <a:cs typeface="+mn-cs"/>
                          <a:sym typeface="+mn-ea"/>
                        </a:rPr>
                        <a:t>2</a:t>
                      </a:r>
                      <a:endParaRPr lang="en-US" altLang="zh-CN" sz="1800" kern="1200" baseline="-25000">
                        <a:solidFill>
                          <a:srgbClr val="595959"/>
                        </a:solidFill>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10002"/>
                  </a:ext>
                </a:extLst>
              </a:tr>
              <a:tr h="420370">
                <a:tc vMerge="1">
                  <a:txBody>
                    <a:bodyPr/>
                    <a:lstStyle/>
                    <a:p>
                      <a:endParaRPr lang="zh-CN"/>
                    </a:p>
                  </a:txBody>
                  <a:tcPr anchor="ctr"/>
                </a:tc>
                <a:tc vMerge="1">
                  <a:txBody>
                    <a:bodyPr/>
                    <a:lstStyle/>
                    <a:p>
                      <a:endParaRPr lang="zh-CN"/>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扣款4%</a:t>
                      </a:r>
                    </a:p>
                  </a:txBody>
                  <a:tcPr anchor="ctr"/>
                </a:tc>
                <a:tc>
                  <a:txBody>
                    <a:bodyPr/>
                    <a:lstStyle/>
                    <a:p>
                      <a:pPr marL="0" algn="ctr" defTabSz="1219200" rtl="0" eaLnBrk="1" latinLnBrk="0" hangingPunct="1">
                        <a:buNone/>
                      </a:pPr>
                      <a:r>
                        <a:rPr lang="en-US" sz="1800" kern="1200">
                          <a:solidFill>
                            <a:srgbClr val="595959"/>
                          </a:solidFill>
                          <a:latin typeface="微软雅黑" panose="020B0503020204020204" pitchFamily="34" charset="-122"/>
                          <a:ea typeface="微软雅黑" panose="020B0503020204020204" pitchFamily="34" charset="-122"/>
                          <a:cs typeface="+mn-cs"/>
                          <a:sym typeface="+mn-ea"/>
                        </a:rPr>
                        <a:t>e</a:t>
                      </a:r>
                      <a:r>
                        <a:rPr lang="en-US" sz="1800" kern="1200" baseline="-25000">
                          <a:solidFill>
                            <a:srgbClr val="595959"/>
                          </a:solidFill>
                          <a:latin typeface="微软雅黑" panose="020B0503020204020204" pitchFamily="34" charset="-122"/>
                          <a:ea typeface="微软雅黑" panose="020B0503020204020204" pitchFamily="34" charset="-122"/>
                          <a:cs typeface="+mn-cs"/>
                          <a:sym typeface="+mn-ea"/>
                        </a:rPr>
                        <a:t>3</a:t>
                      </a:r>
                      <a:endParaRPr lang="en-US" altLang="zh-CN" sz="1800" kern="1200" baseline="-25000">
                        <a:solidFill>
                          <a:srgbClr val="595959"/>
                        </a:solidFill>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10003"/>
                  </a:ext>
                </a:extLst>
              </a:tr>
              <a:tr h="448310">
                <a:tc rowSpan="2">
                  <a:txBody>
                    <a:bodyPr/>
                    <a:lstStyle/>
                    <a:p>
                      <a:pPr algn="ctr">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普通错误</a:t>
                      </a:r>
                    </a:p>
                  </a:txBody>
                  <a:tcPr anchor="ctr"/>
                </a:tc>
                <a:tc rowSpan="2">
                  <a:txBody>
                    <a:bodyPr/>
                    <a:lstStyle/>
                    <a:p>
                      <a:pPr algn="ctr">
                        <a:buClrTx/>
                        <a:buSzTx/>
                        <a:buFontTx/>
                        <a:buNone/>
                      </a:pPr>
                      <a:r>
                        <a:rPr lang="en-US" sz="1800" kern="1200">
                          <a:solidFill>
                            <a:srgbClr val="595959"/>
                          </a:solidFill>
                          <a:latin typeface="微软雅黑" panose="020B0503020204020204" pitchFamily="34" charset="-122"/>
                          <a:ea typeface="微软雅黑" panose="020B0503020204020204" pitchFamily="34" charset="-122"/>
                          <a:cs typeface="+mn-cs"/>
                          <a:sym typeface="+mn-ea"/>
                        </a:rPr>
                        <a:t>c</a:t>
                      </a:r>
                      <a:r>
                        <a:rPr lang="en-US" sz="1800" kern="1200" baseline="-25000">
                          <a:solidFill>
                            <a:srgbClr val="595959"/>
                          </a:solidFill>
                          <a:latin typeface="微软雅黑" panose="020B0503020204020204" pitchFamily="34" charset="-122"/>
                          <a:ea typeface="微软雅黑" panose="020B0503020204020204" pitchFamily="34" charset="-122"/>
                          <a:cs typeface="+mn-cs"/>
                          <a:sym typeface="+mn-ea"/>
                        </a:rPr>
                        <a:t>3</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扣款6%</a:t>
                      </a:r>
                    </a:p>
                  </a:txBody>
                  <a:tcPr anchor="ctr"/>
                </a:tc>
                <a:tc>
                  <a:txBody>
                    <a:bodyPr/>
                    <a:lstStyle/>
                    <a:p>
                      <a:pPr algn="ctr">
                        <a:buNone/>
                      </a:pPr>
                      <a:r>
                        <a:rPr lang="en-US" sz="1800" kern="1200">
                          <a:solidFill>
                            <a:srgbClr val="595959"/>
                          </a:solidFill>
                          <a:latin typeface="微软雅黑" panose="020B0503020204020204" pitchFamily="34" charset="-122"/>
                          <a:ea typeface="微软雅黑" panose="020B0503020204020204" pitchFamily="34" charset="-122"/>
                          <a:cs typeface="+mn-cs"/>
                          <a:sym typeface="+mn-ea"/>
                        </a:rPr>
                        <a:t>e</a:t>
                      </a:r>
                      <a:r>
                        <a:rPr lang="en-US" sz="1800" kern="1200" baseline="-25000">
                          <a:solidFill>
                            <a:srgbClr val="595959"/>
                          </a:solidFill>
                          <a:latin typeface="微软雅黑" panose="020B0503020204020204" pitchFamily="34" charset="-122"/>
                          <a:ea typeface="微软雅黑" panose="020B0503020204020204" pitchFamily="34" charset="-122"/>
                          <a:cs typeface="+mn-cs"/>
                          <a:sym typeface="+mn-ea"/>
                        </a:rPr>
                        <a:t>4</a:t>
                      </a:r>
                      <a:endParaRPr lang="en-US" altLang="zh-CN" sz="1800" kern="1200" baseline="-25000">
                        <a:solidFill>
                          <a:srgbClr val="595959"/>
                        </a:solidFill>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10004"/>
                  </a:ext>
                </a:extLst>
              </a:tr>
              <a:tr h="448310">
                <a:tc vMerge="1">
                  <a:txBody>
                    <a:bodyPr/>
                    <a:lstStyle/>
                    <a:p>
                      <a:endParaRPr lang="zh-CN"/>
                    </a:p>
                  </a:txBody>
                  <a:tcPr anchor="ctr"/>
                </a:tc>
                <a:tc vMerge="1">
                  <a:txBody>
                    <a:bodyPr/>
                    <a:lstStyle/>
                    <a:p>
                      <a:endParaRPr lang="zh-CN"/>
                    </a:p>
                  </a:txBody>
                  <a:tcPr anchor="ctr"/>
                </a:tc>
                <a:tc>
                  <a:txBody>
                    <a:bodyPr/>
                    <a:lstStyle/>
                    <a:p>
                      <a:pPr algn="ctr">
                        <a:buNone/>
                      </a:pPr>
                      <a:r>
                        <a:rPr lang="en-US" altLang="zh-CN" sz="1800" kern="1200" dirty="0">
                          <a:solidFill>
                            <a:srgbClr val="595959"/>
                          </a:solidFill>
                          <a:latin typeface="微软雅黑" panose="020B0503020204020204" pitchFamily="34" charset="-122"/>
                          <a:ea typeface="微软雅黑" panose="020B0503020204020204" pitchFamily="34" charset="-122"/>
                          <a:cs typeface="+mn-cs"/>
                        </a:rPr>
                        <a:t>扣款5%</a:t>
                      </a:r>
                    </a:p>
                  </a:txBody>
                  <a:tcPr anchor="ctr"/>
                </a:tc>
                <a:tc>
                  <a:txBody>
                    <a:bodyPr/>
                    <a:lstStyle/>
                    <a:p>
                      <a:pPr algn="ctr">
                        <a:buNone/>
                      </a:pPr>
                      <a:r>
                        <a:rPr lang="en-US" sz="1800" kern="1200">
                          <a:solidFill>
                            <a:srgbClr val="595959"/>
                          </a:solidFill>
                          <a:latin typeface="微软雅黑" panose="020B0503020204020204" pitchFamily="34" charset="-122"/>
                          <a:ea typeface="微软雅黑" panose="020B0503020204020204" pitchFamily="34" charset="-122"/>
                          <a:cs typeface="+mn-cs"/>
                          <a:sym typeface="+mn-ea"/>
                        </a:rPr>
                        <a:t>e</a:t>
                      </a:r>
                      <a:r>
                        <a:rPr lang="en-US" sz="1800" kern="1200" baseline="-25000">
                          <a:solidFill>
                            <a:srgbClr val="595959"/>
                          </a:solidFill>
                          <a:latin typeface="微软雅黑" panose="020B0503020204020204" pitchFamily="34" charset="-122"/>
                          <a:ea typeface="微软雅黑" panose="020B0503020204020204" pitchFamily="34" charset="-122"/>
                          <a:cs typeface="+mn-cs"/>
                          <a:sym typeface="+mn-ea"/>
                        </a:rPr>
                        <a:t>5</a:t>
                      </a:r>
                      <a:endParaRPr lang="en-US" altLang="zh-CN" sz="1800" kern="1200" baseline="-25000">
                        <a:solidFill>
                          <a:srgbClr val="595959"/>
                        </a:solidFill>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10005"/>
                  </a:ext>
                </a:extLst>
              </a:tr>
              <a:tr h="448310">
                <a:tc rowSpan="2">
                  <a:txBody>
                    <a:bodyPr/>
                    <a:lstStyle/>
                    <a:p>
                      <a:pPr algn="ctr">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严重错误</a:t>
                      </a:r>
                    </a:p>
                  </a:txBody>
                  <a:tcPr anchor="ctr"/>
                </a:tc>
                <a:tc rowSpan="2">
                  <a:txBody>
                    <a:bodyPr/>
                    <a:lstStyle/>
                    <a:p>
                      <a:pPr algn="ctr">
                        <a:buClrTx/>
                        <a:buSzTx/>
                        <a:buFontTx/>
                        <a:buNone/>
                      </a:pPr>
                      <a:r>
                        <a:rPr lang="en-US" sz="1800" kern="1200">
                          <a:solidFill>
                            <a:srgbClr val="595959"/>
                          </a:solidFill>
                          <a:latin typeface="微软雅黑" panose="020B0503020204020204" pitchFamily="34" charset="-122"/>
                          <a:ea typeface="微软雅黑" panose="020B0503020204020204" pitchFamily="34" charset="-122"/>
                          <a:cs typeface="+mn-cs"/>
                          <a:sym typeface="+mn-ea"/>
                        </a:rPr>
                        <a:t>c</a:t>
                      </a:r>
                      <a:r>
                        <a:rPr lang="en-US" sz="1800" kern="1200" baseline="-25000">
                          <a:solidFill>
                            <a:srgbClr val="595959"/>
                          </a:solidFill>
                          <a:latin typeface="微软雅黑" panose="020B0503020204020204" pitchFamily="34" charset="-122"/>
                          <a:ea typeface="微软雅黑" panose="020B0503020204020204" pitchFamily="34" charset="-122"/>
                          <a:cs typeface="+mn-cs"/>
                          <a:sym typeface="+mn-ea"/>
                        </a:rPr>
                        <a:t>4</a:t>
                      </a:r>
                      <a:endParaRPr lang="en-US" altLang="en-US" sz="1800" kern="1200" baseline="-25000">
                        <a:solidFill>
                          <a:srgbClr val="595959"/>
                        </a:solidFill>
                        <a:latin typeface="微软雅黑" panose="020B0503020204020204" pitchFamily="34" charset="-122"/>
                        <a:ea typeface="微软雅黑" panose="020B0503020204020204" pitchFamily="34" charset="-122"/>
                        <a:cs typeface="+mn-cs"/>
                        <a:sym typeface="+mn-ea"/>
                      </a:endParaRPr>
                    </a:p>
                  </a:txBody>
                  <a:tcPr anchor="ctr"/>
                </a:tc>
                <a:tc>
                  <a:txBody>
                    <a:bodyPr/>
                    <a:lstStyle/>
                    <a:p>
                      <a:pPr algn="ctr">
                        <a:buNone/>
                      </a:pPr>
                      <a:r>
                        <a:rPr lang="en-US" altLang="zh-CN" sz="1800" kern="1200" dirty="0">
                          <a:solidFill>
                            <a:srgbClr val="595959"/>
                          </a:solidFill>
                          <a:latin typeface="微软雅黑" panose="020B0503020204020204" pitchFamily="34" charset="-122"/>
                          <a:ea typeface="微软雅黑" panose="020B0503020204020204" pitchFamily="34" charset="-122"/>
                          <a:cs typeface="+mn-cs"/>
                        </a:rPr>
                        <a:t>扣款10%</a:t>
                      </a:r>
                    </a:p>
                  </a:txBody>
                  <a:tcPr anchor="ctr"/>
                </a:tc>
                <a:tc>
                  <a:txBody>
                    <a:bodyPr/>
                    <a:lstStyle/>
                    <a:p>
                      <a:pPr marL="0" algn="ctr" defTabSz="1219200" rtl="0" eaLnBrk="1" latinLnBrk="0" hangingPunct="1">
                        <a:buNone/>
                      </a:pPr>
                      <a:r>
                        <a:rPr lang="en-US" sz="1800" kern="1200">
                          <a:solidFill>
                            <a:srgbClr val="595959"/>
                          </a:solidFill>
                          <a:latin typeface="微软雅黑" panose="020B0503020204020204" pitchFamily="34" charset="-122"/>
                          <a:ea typeface="微软雅黑" panose="020B0503020204020204" pitchFamily="34" charset="-122"/>
                          <a:cs typeface="+mn-cs"/>
                          <a:sym typeface="+mn-ea"/>
                        </a:rPr>
                        <a:t>e</a:t>
                      </a:r>
                      <a:r>
                        <a:rPr lang="en-US" sz="1800" kern="1200" baseline="-25000">
                          <a:solidFill>
                            <a:srgbClr val="595959"/>
                          </a:solidFill>
                          <a:latin typeface="微软雅黑" panose="020B0503020204020204" pitchFamily="34" charset="-122"/>
                          <a:ea typeface="微软雅黑" panose="020B0503020204020204" pitchFamily="34" charset="-122"/>
                          <a:cs typeface="+mn-cs"/>
                          <a:sym typeface="+mn-ea"/>
                        </a:rPr>
                        <a:t>6</a:t>
                      </a:r>
                      <a:endParaRPr lang="en-US" altLang="zh-CN" sz="1800" kern="1200" baseline="-25000">
                        <a:solidFill>
                          <a:srgbClr val="595959"/>
                        </a:solidFill>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10006"/>
                  </a:ext>
                </a:extLst>
              </a:tr>
              <a:tr h="428625">
                <a:tc vMerge="1">
                  <a:txBody>
                    <a:bodyPr/>
                    <a:lstStyle/>
                    <a:p>
                      <a:endParaRPr lang="zh-CN"/>
                    </a:p>
                  </a:txBody>
                  <a:tcPr anchor="ctr"/>
                </a:tc>
                <a:tc vMerge="1">
                  <a:txBody>
                    <a:bodyPr/>
                    <a:lstStyle/>
                    <a:p>
                      <a:endParaRPr lang="zh-CN"/>
                    </a:p>
                  </a:txBody>
                  <a:tcPr anchor="ctr"/>
                </a:tc>
                <a:tc>
                  <a:txBody>
                    <a:bodyPr/>
                    <a:lstStyle/>
                    <a:p>
                      <a:pPr algn="ctr">
                        <a:buNone/>
                      </a:pPr>
                      <a:r>
                        <a:rPr lang="en-US" altLang="zh-CN" sz="1800" kern="1200" dirty="0">
                          <a:solidFill>
                            <a:srgbClr val="595959"/>
                          </a:solidFill>
                          <a:latin typeface="微软雅黑" panose="020B0503020204020204" pitchFamily="34" charset="-122"/>
                          <a:ea typeface="微软雅黑" panose="020B0503020204020204" pitchFamily="34" charset="-122"/>
                          <a:cs typeface="+mn-cs"/>
                        </a:rPr>
                        <a:t>扣款15%</a:t>
                      </a:r>
                    </a:p>
                  </a:txBody>
                  <a:tcPr anchor="ctr"/>
                </a:tc>
                <a:tc>
                  <a:txBody>
                    <a:bodyPr/>
                    <a:lstStyle/>
                    <a:p>
                      <a:pPr marL="0" algn="ctr" defTabSz="1219200" rtl="0" eaLnBrk="1" latinLnBrk="0" hangingPunct="1">
                        <a:buNone/>
                      </a:pPr>
                      <a:r>
                        <a:rPr lang="en-US" sz="1800" kern="1200" dirty="0">
                          <a:solidFill>
                            <a:srgbClr val="595959"/>
                          </a:solidFill>
                          <a:latin typeface="微软雅黑" panose="020B0503020204020204" pitchFamily="34" charset="-122"/>
                          <a:ea typeface="微软雅黑" panose="020B0503020204020204" pitchFamily="34" charset="-122"/>
                          <a:cs typeface="+mn-cs"/>
                          <a:sym typeface="+mn-ea"/>
                        </a:rPr>
                        <a:t>e</a:t>
                      </a:r>
                      <a:r>
                        <a:rPr lang="en-US" sz="1800" kern="1200" baseline="-25000" dirty="0">
                          <a:solidFill>
                            <a:srgbClr val="595959"/>
                          </a:solidFill>
                          <a:latin typeface="微软雅黑" panose="020B0503020204020204" pitchFamily="34" charset="-122"/>
                          <a:ea typeface="微软雅黑" panose="020B0503020204020204" pitchFamily="34" charset="-122"/>
                          <a:cs typeface="+mn-cs"/>
                          <a:sym typeface="+mn-ea"/>
                        </a:rPr>
                        <a:t>7</a:t>
                      </a:r>
                      <a:endParaRPr lang="en-US" altLang="zh-CN" sz="1800" kern="1200" baseline="-25000" dirty="0">
                        <a:solidFill>
                          <a:srgbClr val="595959"/>
                        </a:solidFill>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10007"/>
                  </a:ext>
                </a:extLst>
              </a:tr>
            </a:tbl>
          </a:graphicData>
        </a:graphic>
      </p:graphicFrame>
      <p:sp>
        <p:nvSpPr>
          <p:cNvPr id="4" name="Title 1">
            <a:extLst>
              <a:ext uri="{FF2B5EF4-FFF2-40B4-BE49-F238E27FC236}">
                <a16:creationId xmlns:a16="http://schemas.microsoft.com/office/drawing/2014/main" id="{DFB39C54-2E1B-F13C-3041-A00CE3B33557}"/>
              </a:ext>
            </a:extLst>
          </p:cNvPr>
          <p:cNvSpPr txBox="1"/>
          <p:nvPr/>
        </p:nvSpPr>
        <p:spPr>
          <a:xfrm>
            <a:off x="1143635" y="266700"/>
            <a:ext cx="701421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2.3.</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6</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	实例四：工资发放情况的因果图与决策表绘制</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p:cNvGraphicFramePr/>
          <p:nvPr>
            <p:custDataLst>
              <p:tags r:id="rId1"/>
            </p:custDataLst>
          </p:nvPr>
        </p:nvGraphicFramePr>
        <p:xfrm>
          <a:off x="2063115" y="1863725"/>
          <a:ext cx="7725410" cy="4784725"/>
        </p:xfrm>
        <a:graphic>
          <a:graphicData uri="http://schemas.openxmlformats.org/drawingml/2006/table">
            <a:tbl>
              <a:tblPr firstRow="1" bandRow="1">
                <a:tableStyleId>{5C22544A-7EE6-4342-B048-85BDC9FD1C3A}</a:tableStyleId>
              </a:tblPr>
              <a:tblGrid>
                <a:gridCol w="1031875">
                  <a:extLst>
                    <a:ext uri="{9D8B030D-6E8A-4147-A177-3AD203B41FA5}">
                      <a16:colId xmlns:a16="http://schemas.microsoft.com/office/drawing/2014/main" val="20000"/>
                    </a:ext>
                  </a:extLst>
                </a:gridCol>
                <a:gridCol w="749935">
                  <a:extLst>
                    <a:ext uri="{9D8B030D-6E8A-4147-A177-3AD203B41FA5}">
                      <a16:colId xmlns:a16="http://schemas.microsoft.com/office/drawing/2014/main" val="20001"/>
                    </a:ext>
                  </a:extLst>
                </a:gridCol>
                <a:gridCol w="735330">
                  <a:extLst>
                    <a:ext uri="{9D8B030D-6E8A-4147-A177-3AD203B41FA5}">
                      <a16:colId xmlns:a16="http://schemas.microsoft.com/office/drawing/2014/main" val="20002"/>
                    </a:ext>
                  </a:extLst>
                </a:gridCol>
                <a:gridCol w="704850">
                  <a:extLst>
                    <a:ext uri="{9D8B030D-6E8A-4147-A177-3AD203B41FA5}">
                      <a16:colId xmlns:a16="http://schemas.microsoft.com/office/drawing/2014/main" val="20003"/>
                    </a:ext>
                  </a:extLst>
                </a:gridCol>
                <a:gridCol w="695325">
                  <a:extLst>
                    <a:ext uri="{9D8B030D-6E8A-4147-A177-3AD203B41FA5}">
                      <a16:colId xmlns:a16="http://schemas.microsoft.com/office/drawing/2014/main" val="20004"/>
                    </a:ext>
                  </a:extLst>
                </a:gridCol>
                <a:gridCol w="748030">
                  <a:extLst>
                    <a:ext uri="{9D8B030D-6E8A-4147-A177-3AD203B41FA5}">
                      <a16:colId xmlns:a16="http://schemas.microsoft.com/office/drawing/2014/main" val="20005"/>
                    </a:ext>
                  </a:extLst>
                </a:gridCol>
                <a:gridCol w="760095">
                  <a:extLst>
                    <a:ext uri="{9D8B030D-6E8A-4147-A177-3AD203B41FA5}">
                      <a16:colId xmlns:a16="http://schemas.microsoft.com/office/drawing/2014/main" val="20006"/>
                    </a:ext>
                  </a:extLst>
                </a:gridCol>
                <a:gridCol w="767080">
                  <a:extLst>
                    <a:ext uri="{9D8B030D-6E8A-4147-A177-3AD203B41FA5}">
                      <a16:colId xmlns:a16="http://schemas.microsoft.com/office/drawing/2014/main" val="20007"/>
                    </a:ext>
                  </a:extLst>
                </a:gridCol>
                <a:gridCol w="767715">
                  <a:extLst>
                    <a:ext uri="{9D8B030D-6E8A-4147-A177-3AD203B41FA5}">
                      <a16:colId xmlns:a16="http://schemas.microsoft.com/office/drawing/2014/main" val="20008"/>
                    </a:ext>
                  </a:extLst>
                </a:gridCol>
                <a:gridCol w="765175">
                  <a:extLst>
                    <a:ext uri="{9D8B030D-6E8A-4147-A177-3AD203B41FA5}">
                      <a16:colId xmlns:a16="http://schemas.microsoft.com/office/drawing/2014/main" val="20009"/>
                    </a:ext>
                  </a:extLst>
                </a:gridCol>
              </a:tblGrid>
              <a:tr h="586105">
                <a:tc gridSpan="2">
                  <a:txBody>
                    <a:bodyPr/>
                    <a:lstStyle/>
                    <a:p>
                      <a:pPr algn="ctr">
                        <a:lnSpc>
                          <a:spcPct val="90000"/>
                        </a:lnSpc>
                        <a:buNone/>
                      </a:pPr>
                      <a:r>
                        <a:rPr lang="zh-CN" altLang="en-US" sz="1800" b="1">
                          <a:latin typeface="微软雅黑" panose="020B0503020204020204" pitchFamily="34" charset="-122"/>
                          <a:ea typeface="微软雅黑" panose="020B0503020204020204" pitchFamily="34" charset="-122"/>
                        </a:rPr>
                        <a:t>原因与结果</a:t>
                      </a:r>
                    </a:p>
                  </a:txBody>
                  <a:tcPr anchor="ctr"/>
                </a:tc>
                <a:tc hMerge="1">
                  <a:txBody>
                    <a:bodyPr/>
                    <a:lstStyle/>
                    <a:p>
                      <a:endParaRPr lang="zh-CN"/>
                    </a:p>
                  </a:txBody>
                  <a:tcPr anchor="ctr"/>
                </a:tc>
                <a:tc>
                  <a:txBody>
                    <a:bodyPr/>
                    <a:lstStyle/>
                    <a:p>
                      <a:pPr algn="ctr">
                        <a:lnSpc>
                          <a:spcPct val="90000"/>
                        </a:lnSpc>
                        <a:buNone/>
                      </a:pPr>
                      <a:r>
                        <a:rPr lang="en-US" altLang="zh-CN" sz="1800">
                          <a:latin typeface="微软雅黑" panose="020B0503020204020204" pitchFamily="34" charset="-122"/>
                          <a:ea typeface="微软雅黑" panose="020B0503020204020204" pitchFamily="34" charset="-122"/>
                        </a:rPr>
                        <a:t>1</a:t>
                      </a:r>
                    </a:p>
                  </a:txBody>
                  <a:tcPr anchor="ctr"/>
                </a:tc>
                <a:tc>
                  <a:txBody>
                    <a:bodyPr/>
                    <a:lstStyle/>
                    <a:p>
                      <a:pPr algn="ctr">
                        <a:lnSpc>
                          <a:spcPct val="90000"/>
                        </a:lnSpc>
                        <a:buNone/>
                      </a:pPr>
                      <a:r>
                        <a:rPr lang="en-US" altLang="zh-CN" sz="1800">
                          <a:latin typeface="微软雅黑" panose="020B0503020204020204" pitchFamily="34" charset="-122"/>
                          <a:ea typeface="微软雅黑" panose="020B0503020204020204" pitchFamily="34" charset="-122"/>
                        </a:rPr>
                        <a:t>2</a:t>
                      </a:r>
                    </a:p>
                  </a:txBody>
                  <a:tcPr anchor="ctr"/>
                </a:tc>
                <a:tc>
                  <a:txBody>
                    <a:bodyPr/>
                    <a:lstStyle/>
                    <a:p>
                      <a:pPr algn="ctr">
                        <a:lnSpc>
                          <a:spcPct val="90000"/>
                        </a:lnSpc>
                        <a:buNone/>
                      </a:pPr>
                      <a:r>
                        <a:rPr lang="en-US" altLang="zh-CN" sz="1800">
                          <a:latin typeface="微软雅黑" panose="020B0503020204020204" pitchFamily="34" charset="-122"/>
                          <a:ea typeface="微软雅黑" panose="020B0503020204020204" pitchFamily="34" charset="-122"/>
                        </a:rPr>
                        <a:t>3</a:t>
                      </a:r>
                    </a:p>
                  </a:txBody>
                  <a:tcPr anchor="ctr"/>
                </a:tc>
                <a:tc>
                  <a:txBody>
                    <a:bodyPr/>
                    <a:lstStyle/>
                    <a:p>
                      <a:pPr algn="ctr">
                        <a:lnSpc>
                          <a:spcPct val="90000"/>
                        </a:lnSpc>
                        <a:buNone/>
                      </a:pPr>
                      <a:r>
                        <a:rPr lang="en-US" altLang="zh-CN" sz="1800">
                          <a:latin typeface="微软雅黑" panose="020B0503020204020204" pitchFamily="34" charset="-122"/>
                          <a:ea typeface="微软雅黑" panose="020B0503020204020204" pitchFamily="34" charset="-122"/>
                        </a:rPr>
                        <a:t>4</a:t>
                      </a:r>
                    </a:p>
                  </a:txBody>
                  <a:tcPr anchor="ctr"/>
                </a:tc>
                <a:tc>
                  <a:txBody>
                    <a:bodyPr/>
                    <a:lstStyle/>
                    <a:p>
                      <a:pPr algn="ctr">
                        <a:lnSpc>
                          <a:spcPct val="90000"/>
                        </a:lnSpc>
                        <a:buNone/>
                      </a:pPr>
                      <a:r>
                        <a:rPr lang="en-US" altLang="zh-CN" sz="1800">
                          <a:latin typeface="微软雅黑" panose="020B0503020204020204" pitchFamily="34" charset="-122"/>
                          <a:ea typeface="微软雅黑" panose="020B0503020204020204" pitchFamily="34" charset="-122"/>
                        </a:rPr>
                        <a:t>5</a:t>
                      </a:r>
                    </a:p>
                  </a:txBody>
                  <a:tcPr anchor="ctr"/>
                </a:tc>
                <a:tc>
                  <a:txBody>
                    <a:bodyPr/>
                    <a:lstStyle/>
                    <a:p>
                      <a:pPr algn="ctr">
                        <a:lnSpc>
                          <a:spcPct val="90000"/>
                        </a:lnSpc>
                        <a:buNone/>
                      </a:pPr>
                      <a:r>
                        <a:rPr lang="en-US" altLang="zh-CN" sz="1800">
                          <a:latin typeface="微软雅黑" panose="020B0503020204020204" pitchFamily="34" charset="-122"/>
                          <a:ea typeface="微软雅黑" panose="020B0503020204020204" pitchFamily="34" charset="-122"/>
                        </a:rPr>
                        <a:t>6</a:t>
                      </a:r>
                    </a:p>
                  </a:txBody>
                  <a:tcPr anchor="ctr"/>
                </a:tc>
                <a:tc>
                  <a:txBody>
                    <a:bodyPr/>
                    <a:lstStyle/>
                    <a:p>
                      <a:pPr algn="ctr">
                        <a:lnSpc>
                          <a:spcPct val="90000"/>
                        </a:lnSpc>
                        <a:buNone/>
                      </a:pPr>
                      <a:r>
                        <a:rPr lang="en-US" altLang="zh-CN" sz="1800">
                          <a:latin typeface="微软雅黑" panose="020B0503020204020204" pitchFamily="34" charset="-122"/>
                          <a:ea typeface="微软雅黑" panose="020B0503020204020204" pitchFamily="34" charset="-122"/>
                        </a:rPr>
                        <a:t>7</a:t>
                      </a:r>
                    </a:p>
                  </a:txBody>
                  <a:tcPr anchor="ctr"/>
                </a:tc>
                <a:tc>
                  <a:txBody>
                    <a:bodyPr/>
                    <a:lstStyle/>
                    <a:p>
                      <a:pPr algn="ctr">
                        <a:lnSpc>
                          <a:spcPct val="90000"/>
                        </a:lnSpc>
                        <a:buNone/>
                      </a:pPr>
                      <a:r>
                        <a:rPr lang="en-US" altLang="zh-CN" sz="1800">
                          <a:latin typeface="微软雅黑" panose="020B0503020204020204" pitchFamily="34" charset="-122"/>
                          <a:ea typeface="微软雅黑" panose="020B0503020204020204" pitchFamily="34" charset="-122"/>
                        </a:rPr>
                        <a:t>8</a:t>
                      </a:r>
                    </a:p>
                  </a:txBody>
                  <a:tcPr anchor="ctr"/>
                </a:tc>
                <a:extLst>
                  <a:ext uri="{0D108BD9-81ED-4DB2-BD59-A6C34878D82A}">
                    <a16:rowId xmlns:a16="http://schemas.microsoft.com/office/drawing/2014/main" val="10000"/>
                  </a:ext>
                </a:extLst>
              </a:tr>
              <a:tr h="435610">
                <a:tc rowSpan="4">
                  <a:txBody>
                    <a:bodyPr/>
                    <a:lstStyle/>
                    <a:p>
                      <a:pPr algn="ctr">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原因</a:t>
                      </a:r>
                    </a:p>
                  </a:txBody>
                  <a:tcPr anchor="ctr"/>
                </a:tc>
                <a:tc>
                  <a:txBody>
                    <a:bodyPr/>
                    <a:lstStyle/>
                    <a:p>
                      <a:pPr algn="ctr">
                        <a:buNone/>
                      </a:pPr>
                      <a:r>
                        <a:rPr lang="en-US" sz="1800" kern="1200">
                          <a:solidFill>
                            <a:srgbClr val="595959"/>
                          </a:solidFill>
                          <a:latin typeface="微软雅黑" panose="020B0503020204020204" pitchFamily="34" charset="-122"/>
                          <a:ea typeface="微软雅黑" panose="020B0503020204020204" pitchFamily="34" charset="-122"/>
                          <a:cs typeface="+mn-cs"/>
                          <a:sym typeface="+mn-ea"/>
                        </a:rPr>
                        <a:t>c</a:t>
                      </a:r>
                      <a:r>
                        <a:rPr lang="en-US" sz="1800" kern="1200" baseline="-25000">
                          <a:solidFill>
                            <a:srgbClr val="595959"/>
                          </a:solidFill>
                          <a:latin typeface="微软雅黑" panose="020B0503020204020204" pitchFamily="34" charset="-122"/>
                          <a:ea typeface="微软雅黑" panose="020B0503020204020204" pitchFamily="34" charset="-122"/>
                          <a:cs typeface="+mn-cs"/>
                          <a:sym typeface="+mn-ea"/>
                        </a:rPr>
                        <a:t>1</a:t>
                      </a:r>
                      <a:endParaRPr lang="zh-CN" altLang="en-US" sz="1800" kern="1200" baseline="-250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Y</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Y</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Y</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Y</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extLst>
                  <a:ext uri="{0D108BD9-81ED-4DB2-BD59-A6C34878D82A}">
                    <a16:rowId xmlns:a16="http://schemas.microsoft.com/office/drawing/2014/main" val="10001"/>
                  </a:ext>
                </a:extLst>
              </a:tr>
              <a:tr h="376555">
                <a:tc vMerge="1">
                  <a:txBody>
                    <a:bodyPr/>
                    <a:lstStyle/>
                    <a:p>
                      <a:endParaRPr lang="zh-CN"/>
                    </a:p>
                  </a:txBody>
                  <a:tcPr anchor="ctr"/>
                </a:tc>
                <a:tc>
                  <a:txBody>
                    <a:bodyPr/>
                    <a:lstStyle/>
                    <a:p>
                      <a:pPr marL="0" algn="ctr" defTabSz="1219200" rtl="0" eaLnBrk="1" latinLnBrk="0" hangingPunct="1">
                        <a:buClrTx/>
                        <a:buSzTx/>
                        <a:buFontTx/>
                        <a:buNone/>
                      </a:pPr>
                      <a:r>
                        <a:rPr lang="en-US" sz="1800" kern="1200">
                          <a:solidFill>
                            <a:srgbClr val="595959"/>
                          </a:solidFill>
                          <a:latin typeface="微软雅黑" panose="020B0503020204020204" pitchFamily="34" charset="-122"/>
                          <a:ea typeface="微软雅黑" panose="020B0503020204020204" pitchFamily="34" charset="-122"/>
                          <a:cs typeface="+mn-cs"/>
                          <a:sym typeface="+mn-ea"/>
                        </a:rPr>
                        <a:t>c</a:t>
                      </a:r>
                      <a:r>
                        <a:rPr lang="en-US" sz="1800" kern="1200" baseline="-25000">
                          <a:solidFill>
                            <a:srgbClr val="595959"/>
                          </a:solidFill>
                          <a:latin typeface="微软雅黑" panose="020B0503020204020204" pitchFamily="34" charset="-122"/>
                          <a:ea typeface="微软雅黑" panose="020B0503020204020204" pitchFamily="34" charset="-122"/>
                          <a:cs typeface="+mn-cs"/>
                          <a:sym typeface="+mn-ea"/>
                        </a:rPr>
                        <a:t>2</a:t>
                      </a:r>
                      <a:endParaRPr lang="en-US" altLang="zh-CN" sz="1800" kern="1200" baseline="-250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Y</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Y</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Y</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Y</a:t>
                      </a:r>
                    </a:p>
                  </a:txBody>
                  <a:tcPr marL="68580" marR="68580" marT="0" marB="0" anchor="ctr"/>
                </a:tc>
                <a:extLst>
                  <a:ext uri="{0D108BD9-81ED-4DB2-BD59-A6C34878D82A}">
                    <a16:rowId xmlns:a16="http://schemas.microsoft.com/office/drawing/2014/main" val="10002"/>
                  </a:ext>
                </a:extLst>
              </a:tr>
              <a:tr h="405765">
                <a:tc vMerge="1">
                  <a:txBody>
                    <a:bodyPr/>
                    <a:lstStyle/>
                    <a:p>
                      <a:endParaRPr lang="zh-CN"/>
                    </a:p>
                  </a:txBody>
                  <a:tcPr/>
                </a:tc>
                <a:tc>
                  <a:txBody>
                    <a:bodyPr/>
                    <a:lstStyle/>
                    <a:p>
                      <a:pPr marL="0" algn="ctr" defTabSz="1219200" rtl="0" eaLnBrk="1" latinLnBrk="0" hangingPunct="1">
                        <a:buClrTx/>
                        <a:buSzTx/>
                        <a:buFontTx/>
                        <a:buNone/>
                      </a:pPr>
                      <a:r>
                        <a:rPr lang="en-US" sz="1800" kern="1200">
                          <a:solidFill>
                            <a:srgbClr val="595959"/>
                          </a:solidFill>
                          <a:latin typeface="微软雅黑" panose="020B0503020204020204" pitchFamily="34" charset="-122"/>
                          <a:ea typeface="微软雅黑" panose="020B0503020204020204" pitchFamily="34" charset="-122"/>
                          <a:cs typeface="+mn-cs"/>
                          <a:sym typeface="+mn-ea"/>
                        </a:rPr>
                        <a:t>c</a:t>
                      </a:r>
                      <a:r>
                        <a:rPr lang="en-US" sz="1800" kern="1200" baseline="-25000">
                          <a:solidFill>
                            <a:srgbClr val="595959"/>
                          </a:solidFill>
                          <a:latin typeface="微软雅黑" panose="020B0503020204020204" pitchFamily="34" charset="-122"/>
                          <a:ea typeface="微软雅黑" panose="020B0503020204020204" pitchFamily="34" charset="-122"/>
                          <a:cs typeface="+mn-cs"/>
                          <a:sym typeface="+mn-ea"/>
                        </a:rPr>
                        <a:t>3</a:t>
                      </a:r>
                      <a:endParaRPr lang="en-US" altLang="zh-CN" sz="1800" kern="1200" baseline="-250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N</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Y</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N</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Y</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N</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Y</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N</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Y</a:t>
                      </a:r>
                    </a:p>
                  </a:txBody>
                  <a:tcPr marL="68580" marR="68580" marT="0" marB="0" anchor="ctr"/>
                </a:tc>
                <a:extLst>
                  <a:ext uri="{0D108BD9-81ED-4DB2-BD59-A6C34878D82A}">
                    <a16:rowId xmlns:a16="http://schemas.microsoft.com/office/drawing/2014/main" val="10003"/>
                  </a:ext>
                </a:extLst>
              </a:tr>
              <a:tr h="361315">
                <a:tc vMerge="1">
                  <a:txBody>
                    <a:bodyPr/>
                    <a:lstStyle/>
                    <a:p>
                      <a:endParaRPr lang="zh-CN"/>
                    </a:p>
                  </a:txBody>
                  <a:tcPr/>
                </a:tc>
                <a:tc>
                  <a:txBody>
                    <a:bodyPr/>
                    <a:lstStyle/>
                    <a:p>
                      <a:pPr algn="ctr">
                        <a:buClrTx/>
                        <a:buSzTx/>
                        <a:buFontTx/>
                        <a:buNone/>
                      </a:pPr>
                      <a:r>
                        <a:rPr lang="en-US" sz="1800" kern="1200">
                          <a:solidFill>
                            <a:srgbClr val="595959"/>
                          </a:solidFill>
                          <a:latin typeface="微软雅黑" panose="020B0503020204020204" pitchFamily="34" charset="-122"/>
                          <a:ea typeface="微软雅黑" panose="020B0503020204020204" pitchFamily="34" charset="-122"/>
                          <a:cs typeface="+mn-cs"/>
                          <a:sym typeface="+mn-ea"/>
                        </a:rPr>
                        <a:t>c</a:t>
                      </a:r>
                      <a:r>
                        <a:rPr lang="en-US" sz="1800" kern="1200" baseline="-25000">
                          <a:solidFill>
                            <a:srgbClr val="595959"/>
                          </a:solidFill>
                          <a:latin typeface="微软雅黑" panose="020B0503020204020204" pitchFamily="34" charset="-122"/>
                          <a:ea typeface="微软雅黑" panose="020B0503020204020204" pitchFamily="34" charset="-122"/>
                          <a:cs typeface="+mn-cs"/>
                          <a:sym typeface="+mn-ea"/>
                        </a:rPr>
                        <a:t>4</a:t>
                      </a:r>
                      <a:endParaRPr lang="en-US" altLang="zh-CN" sz="1800" kern="1200" baseline="-250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N</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N</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Y</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Y</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N</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N</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Y</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Y</a:t>
                      </a:r>
                    </a:p>
                  </a:txBody>
                  <a:tcPr marL="68580" marR="68580" marT="0" marB="0" anchor="ctr"/>
                </a:tc>
                <a:extLst>
                  <a:ext uri="{0D108BD9-81ED-4DB2-BD59-A6C34878D82A}">
                    <a16:rowId xmlns:a16="http://schemas.microsoft.com/office/drawing/2014/main" val="10004"/>
                  </a:ext>
                </a:extLst>
              </a:tr>
              <a:tr h="383540">
                <a:tc rowSpan="7">
                  <a:txBody>
                    <a:bodyPr/>
                    <a:lstStyle/>
                    <a:p>
                      <a:pPr algn="ctr">
                        <a:buClrTx/>
                        <a:buSzTx/>
                        <a:buFontTx/>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结果</a:t>
                      </a:r>
                    </a:p>
                  </a:txBody>
                  <a:tcPr anchor="ctr"/>
                </a:tc>
                <a:tc>
                  <a:txBody>
                    <a:bodyPr/>
                    <a:lstStyle/>
                    <a:p>
                      <a:pPr algn="ctr">
                        <a:buClrTx/>
                        <a:buSzTx/>
                        <a:buFontTx/>
                        <a:buNone/>
                      </a:pPr>
                      <a:r>
                        <a:rPr lang="en-US" sz="1800" kern="1200">
                          <a:solidFill>
                            <a:srgbClr val="595959"/>
                          </a:solidFill>
                          <a:latin typeface="微软雅黑" panose="020B0503020204020204" pitchFamily="34" charset="-122"/>
                          <a:ea typeface="微软雅黑" panose="020B0503020204020204" pitchFamily="34" charset="-122"/>
                          <a:cs typeface="+mn-cs"/>
                          <a:sym typeface="+mn-ea"/>
                        </a:rPr>
                        <a:t>e</a:t>
                      </a:r>
                      <a:r>
                        <a:rPr lang="en-US" sz="1800" kern="1200" baseline="-25000">
                          <a:solidFill>
                            <a:srgbClr val="595959"/>
                          </a:solidFill>
                          <a:latin typeface="微软雅黑" panose="020B0503020204020204" pitchFamily="34" charset="-122"/>
                          <a:ea typeface="微软雅黑" panose="020B0503020204020204" pitchFamily="34" charset="-122"/>
                          <a:cs typeface="+mn-cs"/>
                          <a:sym typeface="+mn-ea"/>
                        </a:rPr>
                        <a:t>1</a:t>
                      </a:r>
                      <a:endParaRPr lang="en-US" altLang="zh-CN" sz="1800" kern="1200" baseline="-250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extLst>
                  <a:ext uri="{0D108BD9-81ED-4DB2-BD59-A6C34878D82A}">
                    <a16:rowId xmlns:a16="http://schemas.microsoft.com/office/drawing/2014/main" val="10005"/>
                  </a:ext>
                </a:extLst>
              </a:tr>
              <a:tr h="368935">
                <a:tc vMerge="1">
                  <a:txBody>
                    <a:bodyPr/>
                    <a:lstStyle/>
                    <a:p>
                      <a:endParaRPr lang="zh-CN"/>
                    </a:p>
                  </a:txBody>
                  <a:tcPr anchor="ctr"/>
                </a:tc>
                <a:tc>
                  <a:txBody>
                    <a:bodyPr/>
                    <a:lstStyle/>
                    <a:p>
                      <a:pPr marL="0" algn="ctr" defTabSz="1219200" rtl="0" eaLnBrk="1" latinLnBrk="0" hangingPunct="1">
                        <a:buClrTx/>
                        <a:buSzTx/>
                        <a:buFontTx/>
                        <a:buNone/>
                      </a:pPr>
                      <a:r>
                        <a:rPr lang="en-US" sz="1800" kern="1200">
                          <a:solidFill>
                            <a:srgbClr val="595959"/>
                          </a:solidFill>
                          <a:latin typeface="微软雅黑" panose="020B0503020204020204" pitchFamily="34" charset="-122"/>
                          <a:ea typeface="微软雅黑" panose="020B0503020204020204" pitchFamily="34" charset="-122"/>
                          <a:cs typeface="+mn-cs"/>
                          <a:sym typeface="+mn-ea"/>
                        </a:rPr>
                        <a:t>e</a:t>
                      </a:r>
                      <a:r>
                        <a:rPr lang="en-US" sz="1800" kern="1200" baseline="-25000">
                          <a:solidFill>
                            <a:srgbClr val="595959"/>
                          </a:solidFill>
                          <a:latin typeface="微软雅黑" panose="020B0503020204020204" pitchFamily="34" charset="-122"/>
                          <a:ea typeface="微软雅黑" panose="020B0503020204020204" pitchFamily="34" charset="-122"/>
                          <a:cs typeface="+mn-cs"/>
                          <a:sym typeface="+mn-ea"/>
                        </a:rPr>
                        <a:t>2</a:t>
                      </a:r>
                      <a:endParaRPr lang="en-US" altLang="zh-CN" sz="1800" kern="1200" baseline="-250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dirty="0">
                          <a:solidFill>
                            <a:srgbClr val="595959"/>
                          </a:solidFill>
                          <a:latin typeface="微软雅黑" panose="020B0503020204020204" pitchFamily="34" charset="-122"/>
                          <a:ea typeface="微软雅黑" panose="020B0503020204020204" pitchFamily="34" charset="-122"/>
                          <a:cs typeface="+mn-cs"/>
                        </a:rPr>
                        <a:t>√</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extLst>
                  <a:ext uri="{0D108BD9-81ED-4DB2-BD59-A6C34878D82A}">
                    <a16:rowId xmlns:a16="http://schemas.microsoft.com/office/drawing/2014/main" val="10006"/>
                  </a:ext>
                </a:extLst>
              </a:tr>
              <a:tr h="370205">
                <a:tc vMerge="1">
                  <a:txBody>
                    <a:bodyPr/>
                    <a:lstStyle/>
                    <a:p>
                      <a:endParaRPr lang="zh-CN"/>
                    </a:p>
                  </a:txBody>
                  <a:tcPr anchor="ctr"/>
                </a:tc>
                <a:tc>
                  <a:txBody>
                    <a:bodyPr/>
                    <a:lstStyle/>
                    <a:p>
                      <a:pPr marL="0" algn="ctr" defTabSz="1219200" rtl="0" eaLnBrk="1" latinLnBrk="0" hangingPunct="1">
                        <a:buClrTx/>
                        <a:buSzTx/>
                        <a:buFontTx/>
                        <a:buNone/>
                      </a:pPr>
                      <a:r>
                        <a:rPr lang="en-US" sz="1800" kern="1200">
                          <a:solidFill>
                            <a:srgbClr val="595959"/>
                          </a:solidFill>
                          <a:latin typeface="微软雅黑" panose="020B0503020204020204" pitchFamily="34" charset="-122"/>
                          <a:ea typeface="微软雅黑" panose="020B0503020204020204" pitchFamily="34" charset="-122"/>
                          <a:cs typeface="+mn-cs"/>
                          <a:sym typeface="+mn-ea"/>
                        </a:rPr>
                        <a:t>e</a:t>
                      </a:r>
                      <a:r>
                        <a:rPr lang="en-US" sz="1800" kern="1200" baseline="-25000">
                          <a:solidFill>
                            <a:srgbClr val="595959"/>
                          </a:solidFill>
                          <a:latin typeface="微软雅黑" panose="020B0503020204020204" pitchFamily="34" charset="-122"/>
                          <a:ea typeface="微软雅黑" panose="020B0503020204020204" pitchFamily="34" charset="-122"/>
                          <a:cs typeface="+mn-cs"/>
                          <a:sym typeface="+mn-ea"/>
                        </a:rPr>
                        <a:t>3</a:t>
                      </a:r>
                      <a:endParaRPr lang="en-US" altLang="zh-CN" sz="1800" kern="1200" baseline="-250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extLst>
                  <a:ext uri="{0D108BD9-81ED-4DB2-BD59-A6C34878D82A}">
                    <a16:rowId xmlns:a16="http://schemas.microsoft.com/office/drawing/2014/main" val="10007"/>
                  </a:ext>
                </a:extLst>
              </a:tr>
              <a:tr h="376555">
                <a:tc vMerge="1">
                  <a:txBody>
                    <a:bodyPr/>
                    <a:lstStyle/>
                    <a:p>
                      <a:endParaRPr lang="zh-CN"/>
                    </a:p>
                  </a:txBody>
                  <a:tcPr/>
                </a:tc>
                <a:tc>
                  <a:txBody>
                    <a:bodyPr/>
                    <a:lstStyle/>
                    <a:p>
                      <a:pPr algn="ctr">
                        <a:buClrTx/>
                        <a:buSzTx/>
                        <a:buFontTx/>
                        <a:buNone/>
                      </a:pPr>
                      <a:r>
                        <a:rPr lang="en-US" sz="1800" kern="1200">
                          <a:solidFill>
                            <a:srgbClr val="595959"/>
                          </a:solidFill>
                          <a:latin typeface="微软雅黑" panose="020B0503020204020204" pitchFamily="34" charset="-122"/>
                          <a:ea typeface="微软雅黑" panose="020B0503020204020204" pitchFamily="34" charset="-122"/>
                          <a:cs typeface="+mn-cs"/>
                          <a:sym typeface="+mn-ea"/>
                        </a:rPr>
                        <a:t>e</a:t>
                      </a:r>
                      <a:r>
                        <a:rPr lang="en-US" sz="1800" kern="1200" baseline="-25000">
                          <a:solidFill>
                            <a:srgbClr val="595959"/>
                          </a:solidFill>
                          <a:latin typeface="微软雅黑" panose="020B0503020204020204" pitchFamily="34" charset="-122"/>
                          <a:ea typeface="微软雅黑" panose="020B0503020204020204" pitchFamily="34" charset="-122"/>
                          <a:cs typeface="+mn-cs"/>
                          <a:sym typeface="+mn-ea"/>
                        </a:rPr>
                        <a:t>4</a:t>
                      </a:r>
                      <a:endParaRPr lang="en-US" altLang="zh-CN" sz="1800" kern="1200" baseline="-250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extLst>
                  <a:ext uri="{0D108BD9-81ED-4DB2-BD59-A6C34878D82A}">
                    <a16:rowId xmlns:a16="http://schemas.microsoft.com/office/drawing/2014/main" val="10008"/>
                  </a:ext>
                </a:extLst>
              </a:tr>
              <a:tr h="370205">
                <a:tc vMerge="1">
                  <a:txBody>
                    <a:bodyPr/>
                    <a:lstStyle/>
                    <a:p>
                      <a:endParaRPr lang="zh-CN"/>
                    </a:p>
                  </a:txBody>
                  <a:tcPr anchor="ctr"/>
                </a:tc>
                <a:tc>
                  <a:txBody>
                    <a:bodyPr/>
                    <a:lstStyle/>
                    <a:p>
                      <a:pPr algn="ctr">
                        <a:buClrTx/>
                        <a:buSzTx/>
                        <a:buFontTx/>
                        <a:buNone/>
                      </a:pPr>
                      <a:r>
                        <a:rPr lang="en-US" sz="1800" kern="1200">
                          <a:solidFill>
                            <a:srgbClr val="595959"/>
                          </a:solidFill>
                          <a:latin typeface="微软雅黑" panose="020B0503020204020204" pitchFamily="34" charset="-122"/>
                          <a:ea typeface="微软雅黑" panose="020B0503020204020204" pitchFamily="34" charset="-122"/>
                          <a:cs typeface="+mn-cs"/>
                          <a:sym typeface="+mn-ea"/>
                        </a:rPr>
                        <a:t>e</a:t>
                      </a:r>
                      <a:r>
                        <a:rPr lang="en-US" sz="1800" kern="1200" baseline="-25000">
                          <a:solidFill>
                            <a:srgbClr val="595959"/>
                          </a:solidFill>
                          <a:latin typeface="微软雅黑" panose="020B0503020204020204" pitchFamily="34" charset="-122"/>
                          <a:ea typeface="微软雅黑" panose="020B0503020204020204" pitchFamily="34" charset="-122"/>
                          <a:cs typeface="+mn-cs"/>
                          <a:sym typeface="+mn-ea"/>
                        </a:rPr>
                        <a:t>5</a:t>
                      </a:r>
                      <a:endParaRPr lang="en-US" altLang="zh-CN" sz="1800" kern="1200" baseline="-250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extLst>
                  <a:ext uri="{0D108BD9-81ED-4DB2-BD59-A6C34878D82A}">
                    <a16:rowId xmlns:a16="http://schemas.microsoft.com/office/drawing/2014/main" val="10009"/>
                  </a:ext>
                </a:extLst>
              </a:tr>
              <a:tr h="360680">
                <a:tc vMerge="1">
                  <a:txBody>
                    <a:bodyPr/>
                    <a:lstStyle/>
                    <a:p>
                      <a:endParaRPr lang="zh-CN"/>
                    </a:p>
                  </a:txBody>
                  <a:tcPr anchor="ctr"/>
                </a:tc>
                <a:tc>
                  <a:txBody>
                    <a:bodyPr/>
                    <a:lstStyle/>
                    <a:p>
                      <a:pPr marL="0" algn="ctr" defTabSz="1219200" rtl="0" eaLnBrk="1" latinLnBrk="0" hangingPunct="1">
                        <a:buClrTx/>
                        <a:buSzTx/>
                        <a:buFontTx/>
                        <a:buNone/>
                      </a:pPr>
                      <a:r>
                        <a:rPr lang="en-US" sz="1800" kern="1200">
                          <a:solidFill>
                            <a:srgbClr val="595959"/>
                          </a:solidFill>
                          <a:latin typeface="微软雅黑" panose="020B0503020204020204" pitchFamily="34" charset="-122"/>
                          <a:ea typeface="微软雅黑" panose="020B0503020204020204" pitchFamily="34" charset="-122"/>
                          <a:cs typeface="+mn-cs"/>
                          <a:sym typeface="+mn-ea"/>
                        </a:rPr>
                        <a:t>e</a:t>
                      </a:r>
                      <a:r>
                        <a:rPr lang="en-US" sz="1800" kern="1200" baseline="-25000">
                          <a:solidFill>
                            <a:srgbClr val="595959"/>
                          </a:solidFill>
                          <a:latin typeface="微软雅黑" panose="020B0503020204020204" pitchFamily="34" charset="-122"/>
                          <a:ea typeface="微软雅黑" panose="020B0503020204020204" pitchFamily="34" charset="-122"/>
                          <a:cs typeface="+mn-cs"/>
                          <a:sym typeface="+mn-ea"/>
                        </a:rPr>
                        <a:t>6</a:t>
                      </a:r>
                      <a:endParaRPr lang="en-US" altLang="zh-CN" sz="1800" kern="1200" baseline="-250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extLst>
                  <a:ext uri="{0D108BD9-81ED-4DB2-BD59-A6C34878D82A}">
                    <a16:rowId xmlns:a16="http://schemas.microsoft.com/office/drawing/2014/main" val="10010"/>
                  </a:ext>
                </a:extLst>
              </a:tr>
              <a:tr h="379730">
                <a:tc vMerge="1">
                  <a:txBody>
                    <a:bodyPr/>
                    <a:lstStyle/>
                    <a:p>
                      <a:endParaRPr lang="zh-CN"/>
                    </a:p>
                  </a:txBody>
                  <a:tcPr anchor="ctr"/>
                </a:tc>
                <a:tc>
                  <a:txBody>
                    <a:bodyPr/>
                    <a:lstStyle/>
                    <a:p>
                      <a:pPr algn="ctr">
                        <a:buClrTx/>
                        <a:buSzTx/>
                        <a:buFontTx/>
                        <a:buNone/>
                      </a:pPr>
                      <a:r>
                        <a:rPr lang="en-US" sz="1800" kern="1200">
                          <a:solidFill>
                            <a:srgbClr val="595959"/>
                          </a:solidFill>
                          <a:latin typeface="微软雅黑" panose="020B0503020204020204" pitchFamily="34" charset="-122"/>
                          <a:ea typeface="微软雅黑" panose="020B0503020204020204" pitchFamily="34" charset="-122"/>
                          <a:cs typeface="+mn-cs"/>
                          <a:sym typeface="+mn-ea"/>
                        </a:rPr>
                        <a:t>e</a:t>
                      </a:r>
                      <a:r>
                        <a:rPr lang="en-US" sz="1800" kern="1200" baseline="-25000">
                          <a:solidFill>
                            <a:srgbClr val="595959"/>
                          </a:solidFill>
                          <a:latin typeface="微软雅黑" panose="020B0503020204020204" pitchFamily="34" charset="-122"/>
                          <a:ea typeface="微软雅黑" panose="020B0503020204020204" pitchFamily="34" charset="-122"/>
                          <a:cs typeface="+mn-cs"/>
                          <a:sym typeface="+mn-ea"/>
                        </a:rPr>
                        <a:t>7</a:t>
                      </a:r>
                      <a:endParaRPr lang="en-US" altLang="zh-CN" sz="1800" kern="1200" baseline="-250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dirty="0">
                          <a:solidFill>
                            <a:srgbClr val="595959"/>
                          </a:solidFill>
                          <a:latin typeface="微软雅黑" panose="020B0503020204020204" pitchFamily="34" charset="-122"/>
                          <a:ea typeface="微软雅黑" panose="020B0503020204020204" pitchFamily="34" charset="-122"/>
                          <a:cs typeface="+mn-cs"/>
                        </a:rPr>
                        <a:t>√</a:t>
                      </a:r>
                    </a:p>
                  </a:txBody>
                  <a:tcPr marL="68580" marR="68580" marT="0" marB="0" anchor="ctr"/>
                </a:tc>
                <a:extLst>
                  <a:ext uri="{0D108BD9-81ED-4DB2-BD59-A6C34878D82A}">
                    <a16:rowId xmlns:a16="http://schemas.microsoft.com/office/drawing/2014/main" val="10011"/>
                  </a:ext>
                </a:extLst>
              </a:tr>
            </a:tbl>
          </a:graphicData>
        </a:graphic>
      </p:graphicFrame>
      <p:sp>
        <p:nvSpPr>
          <p:cNvPr id="16" name="TextBox 35"/>
          <p:cNvSpPr txBox="1">
            <a:spLocks noChangeArrowheads="1"/>
          </p:cNvSpPr>
          <p:nvPr/>
        </p:nvSpPr>
        <p:spPr bwMode="auto">
          <a:xfrm>
            <a:off x="982980" y="841375"/>
            <a:ext cx="10246360" cy="9353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no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indent="457200" algn="just">
              <a:lnSpc>
                <a:spcPct val="150000"/>
              </a:lnSpc>
              <a:buClrTx/>
              <a:buSzTx/>
              <a:buFontTx/>
            </a:pPr>
            <a:r>
              <a:rPr lang="zh-CN" altLang="en-US" sz="1800" dirty="0">
                <a:solidFill>
                  <a:srgbClr val="595959"/>
                </a:solidFill>
                <a:latin typeface="微软雅黑" panose="020B0503020204020204" pitchFamily="34" charset="-122"/>
                <a:ea typeface="微软雅黑" panose="020B0503020204020204" pitchFamily="34" charset="-122"/>
              </a:rPr>
              <a:t>员工工资原因与结果表中有4个原因，每个原因有“Y”和“N”</a:t>
            </a:r>
            <a:r>
              <a:rPr lang="en-US" altLang="zh-CN" sz="1800" dirty="0">
                <a:solidFill>
                  <a:srgbClr val="595959"/>
                </a:solidFill>
                <a:latin typeface="微软雅黑" panose="020B0503020204020204" pitchFamily="34" charset="-122"/>
                <a:ea typeface="微软雅黑" panose="020B0503020204020204" pitchFamily="34" charset="-122"/>
              </a:rPr>
              <a:t>2</a:t>
            </a:r>
            <a:r>
              <a:rPr lang="zh-CN" altLang="en-US" sz="1800" dirty="0">
                <a:solidFill>
                  <a:srgbClr val="595959"/>
                </a:solidFill>
                <a:latin typeface="微软雅黑" panose="020B0503020204020204" pitchFamily="34" charset="-122"/>
                <a:ea typeface="微软雅黑" panose="020B0503020204020204" pitchFamily="34" charset="-122"/>
              </a:rPr>
              <a:t>个取值，理论上可以组成</a:t>
            </a:r>
            <a:r>
              <a:rPr lang="en-US" altLang="zh-CN" sz="1800" dirty="0">
                <a:solidFill>
                  <a:schemeClr val="tx1">
                    <a:lumMod val="65000"/>
                    <a:lumOff val="35000"/>
                  </a:schemeClr>
                </a:solidFill>
                <a:latin typeface="微软雅黑" panose="020B0503020204020204" pitchFamily="34" charset="-122"/>
                <a:ea typeface="微软雅黑" panose="020B0503020204020204" pitchFamily="34" charset="-122"/>
                <a:cs typeface="Lucida Sans Unicode" panose="020B0602030504020204"/>
                <a:sym typeface="+mn-ea"/>
              </a:rPr>
              <a:t>2</a:t>
            </a:r>
            <a:r>
              <a:rPr lang="en-US" altLang="zh-CN" sz="1800" baseline="30000" dirty="0">
                <a:solidFill>
                  <a:schemeClr val="tx1">
                    <a:lumMod val="65000"/>
                    <a:lumOff val="35000"/>
                  </a:schemeClr>
                </a:solidFill>
                <a:latin typeface="微软雅黑" panose="020B0503020204020204" pitchFamily="34" charset="-122"/>
                <a:ea typeface="微软雅黑" panose="020B0503020204020204" pitchFamily="34" charset="-122"/>
                <a:cs typeface="Lucida Sans Unicode" panose="020B0602030504020204"/>
                <a:sym typeface="+mn-ea"/>
              </a:rPr>
              <a:t>4</a:t>
            </a:r>
            <a:r>
              <a:rPr lang="zh-CN" altLang="en-US" sz="1800" dirty="0">
                <a:solidFill>
                  <a:srgbClr val="595959"/>
                </a:solidFill>
                <a:latin typeface="微软雅黑" panose="020B0503020204020204" pitchFamily="34" charset="-122"/>
                <a:ea typeface="微软雅黑" panose="020B0503020204020204" pitchFamily="34" charset="-122"/>
              </a:rPr>
              <a:t>=16条规则，由于</a:t>
            </a:r>
            <a:r>
              <a:rPr lang="zh-CN" altLang="en-US" sz="1800" dirty="0">
                <a:solidFill>
                  <a:srgbClr val="0070C0"/>
                </a:solidFill>
                <a:latin typeface="微软雅黑" panose="020B0503020204020204" pitchFamily="34" charset="-122"/>
                <a:ea typeface="微软雅黑" panose="020B0503020204020204" pitchFamily="34" charset="-122"/>
              </a:rPr>
              <a:t>c</a:t>
            </a:r>
            <a:r>
              <a:rPr lang="zh-CN" altLang="en-US" sz="1800" baseline="-25000" dirty="0">
                <a:solidFill>
                  <a:srgbClr val="0070C0"/>
                </a:solidFill>
                <a:latin typeface="微软雅黑" panose="020B0503020204020204" pitchFamily="34" charset="-122"/>
                <a:ea typeface="微软雅黑" panose="020B0503020204020204" pitchFamily="34" charset="-122"/>
              </a:rPr>
              <a:t>1</a:t>
            </a:r>
            <a:r>
              <a:rPr lang="zh-CN" altLang="en-US" sz="1800" dirty="0">
                <a:solidFill>
                  <a:srgbClr val="0070C0"/>
                </a:solidFill>
                <a:latin typeface="微软雅黑" panose="020B0503020204020204" pitchFamily="34" charset="-122"/>
                <a:ea typeface="微软雅黑" panose="020B0503020204020204" pitchFamily="34" charset="-122"/>
              </a:rPr>
              <a:t>与c</a:t>
            </a:r>
            <a:r>
              <a:rPr lang="zh-CN" altLang="en-US" sz="1800" baseline="-25000" dirty="0">
                <a:solidFill>
                  <a:srgbClr val="0070C0"/>
                </a:solidFill>
                <a:latin typeface="微软雅黑" panose="020B0503020204020204" pitchFamily="34" charset="-122"/>
                <a:ea typeface="微软雅黑" panose="020B0503020204020204" pitchFamily="34" charset="-122"/>
              </a:rPr>
              <a:t>2</a:t>
            </a:r>
            <a:r>
              <a:rPr lang="zh-CN" altLang="en-US" sz="1800" dirty="0">
                <a:solidFill>
                  <a:srgbClr val="0070C0"/>
                </a:solidFill>
                <a:latin typeface="微软雅黑" panose="020B0503020204020204" pitchFamily="34" charset="-122"/>
                <a:ea typeface="微软雅黑" panose="020B0503020204020204" pitchFamily="34" charset="-122"/>
              </a:rPr>
              <a:t>不能并存</a:t>
            </a:r>
            <a:r>
              <a:rPr lang="zh-CN" altLang="en-US" sz="1800" dirty="0">
                <a:solidFill>
                  <a:srgbClr val="595959"/>
                </a:solidFill>
                <a:latin typeface="微软雅黑" panose="020B0503020204020204" pitchFamily="34" charset="-122"/>
                <a:ea typeface="微软雅黑" panose="020B0503020204020204" pitchFamily="34" charset="-122"/>
              </a:rPr>
              <a:t>，所以只有</a:t>
            </a:r>
            <a:r>
              <a:rPr lang="en-US" altLang="zh-CN" sz="1800" dirty="0">
                <a:solidFill>
                  <a:srgbClr val="0070C0"/>
                </a:solidFill>
                <a:latin typeface="微软雅黑" panose="020B0503020204020204" pitchFamily="34" charset="-122"/>
                <a:ea typeface="微软雅黑" panose="020B0503020204020204" pitchFamily="34" charset="-122"/>
                <a:cs typeface="Lucida Sans Unicode" panose="020B0602030504020204"/>
                <a:sym typeface="+mn-ea"/>
              </a:rPr>
              <a:t>2</a:t>
            </a:r>
            <a:r>
              <a:rPr lang="en-US" altLang="zh-CN" sz="1800" baseline="30000" dirty="0">
                <a:solidFill>
                  <a:srgbClr val="0070C0"/>
                </a:solidFill>
                <a:latin typeface="微软雅黑" panose="020B0503020204020204" pitchFamily="34" charset="-122"/>
                <a:ea typeface="微软雅黑" panose="020B0503020204020204" pitchFamily="34" charset="-122"/>
                <a:cs typeface="Lucida Sans Unicode" panose="020B0602030504020204"/>
                <a:sym typeface="+mn-ea"/>
              </a:rPr>
              <a:t>3</a:t>
            </a:r>
            <a:r>
              <a:rPr lang="zh-CN" altLang="en-US" sz="1800" dirty="0">
                <a:solidFill>
                  <a:srgbClr val="0070C0"/>
                </a:solidFill>
                <a:latin typeface="微软雅黑" panose="020B0503020204020204" pitchFamily="34" charset="-122"/>
                <a:ea typeface="微软雅黑" panose="020B0503020204020204" pitchFamily="34" charset="-122"/>
              </a:rPr>
              <a:t>=8条规则</a:t>
            </a:r>
            <a:r>
              <a:rPr lang="zh-CN" altLang="en-US" sz="1800" dirty="0">
                <a:solidFill>
                  <a:srgbClr val="595959"/>
                </a:solidFill>
                <a:latin typeface="微软雅黑" panose="020B0503020204020204" pitchFamily="34" charset="-122"/>
                <a:ea typeface="微软雅黑" panose="020B0503020204020204" pitchFamily="34" charset="-122"/>
              </a:rPr>
              <a:t>，如下表所示。</a:t>
            </a:r>
          </a:p>
          <a:p>
            <a:pPr algn="just">
              <a:lnSpc>
                <a:spcPct val="150000"/>
              </a:lnSpc>
              <a:buClrTx/>
              <a:buSzTx/>
              <a:buFontTx/>
            </a:pPr>
            <a:endParaRPr lang="zh-CN" altLang="en-US" sz="1800" dirty="0">
              <a:solidFill>
                <a:srgbClr val="0070C0"/>
              </a:solidFill>
              <a:latin typeface="微软雅黑" panose="020B0503020204020204" pitchFamily="34" charset="-122"/>
              <a:ea typeface="微软雅黑" panose="020B0503020204020204" pitchFamily="34" charset="-122"/>
            </a:endParaRPr>
          </a:p>
        </p:txBody>
      </p:sp>
      <p:sp>
        <p:nvSpPr>
          <p:cNvPr id="4" name="Title 1">
            <a:extLst>
              <a:ext uri="{FF2B5EF4-FFF2-40B4-BE49-F238E27FC236}">
                <a16:creationId xmlns:a16="http://schemas.microsoft.com/office/drawing/2014/main" id="{5C7649F7-B3F3-22A5-DD59-9FF5C2625630}"/>
              </a:ext>
            </a:extLst>
          </p:cNvPr>
          <p:cNvSpPr txBox="1"/>
          <p:nvPr/>
        </p:nvSpPr>
        <p:spPr>
          <a:xfrm>
            <a:off x="1143635" y="266700"/>
            <a:ext cx="701421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2.3.</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6</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	实例四：工资发放情况的因果图与决策表绘制</a:t>
            </a: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35"/>
          <p:cNvSpPr txBox="1">
            <a:spLocks noChangeArrowheads="1"/>
          </p:cNvSpPr>
          <p:nvPr/>
        </p:nvSpPr>
        <p:spPr bwMode="auto">
          <a:xfrm>
            <a:off x="4871085" y="841375"/>
            <a:ext cx="2226310" cy="663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no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buClrTx/>
              <a:buSzTx/>
              <a:buFontTx/>
            </a:pPr>
            <a:r>
              <a:rPr lang="zh-CN" altLang="en-US" sz="1800" dirty="0">
                <a:solidFill>
                  <a:srgbClr val="0070C0"/>
                </a:solidFill>
                <a:latin typeface="微软雅黑" panose="020B0503020204020204" pitchFamily="34" charset="-122"/>
                <a:ea typeface="微软雅黑" panose="020B0503020204020204" pitchFamily="34" charset="-122"/>
              </a:rPr>
              <a:t>员工工资测试用例</a:t>
            </a:r>
          </a:p>
          <a:p>
            <a:pPr algn="just">
              <a:lnSpc>
                <a:spcPct val="150000"/>
              </a:lnSpc>
              <a:buClrTx/>
              <a:buSzTx/>
              <a:buFontTx/>
            </a:pPr>
            <a:endParaRPr lang="zh-CN" altLang="en-US" sz="1800" dirty="0">
              <a:solidFill>
                <a:srgbClr val="0070C0"/>
              </a:solidFill>
              <a:latin typeface="微软雅黑" panose="020B0503020204020204" pitchFamily="34" charset="-122"/>
              <a:ea typeface="微软雅黑" panose="020B0503020204020204" pitchFamily="34" charset="-122"/>
            </a:endParaRPr>
          </a:p>
        </p:txBody>
      </p:sp>
      <p:graphicFrame>
        <p:nvGraphicFramePr>
          <p:cNvPr id="3" name="表格 2"/>
          <p:cNvGraphicFramePr/>
          <p:nvPr>
            <p:custDataLst>
              <p:tags r:id="rId1"/>
            </p:custDataLst>
            <p:extLst>
              <p:ext uri="{D42A27DB-BD31-4B8C-83A1-F6EECF244321}">
                <p14:modId xmlns:p14="http://schemas.microsoft.com/office/powerpoint/2010/main" val="3825298287"/>
              </p:ext>
            </p:extLst>
          </p:nvPr>
        </p:nvGraphicFramePr>
        <p:xfrm>
          <a:off x="1991360" y="1413510"/>
          <a:ext cx="7516495" cy="4608830"/>
        </p:xfrm>
        <a:graphic>
          <a:graphicData uri="http://schemas.openxmlformats.org/drawingml/2006/table">
            <a:tbl>
              <a:tblPr firstRow="1" bandRow="1">
                <a:tableStyleId>{5C22544A-7EE6-4342-B048-85BDC9FD1C3A}</a:tableStyleId>
              </a:tblPr>
              <a:tblGrid>
                <a:gridCol w="1695450">
                  <a:extLst>
                    <a:ext uri="{9D8B030D-6E8A-4147-A177-3AD203B41FA5}">
                      <a16:colId xmlns:a16="http://schemas.microsoft.com/office/drawing/2014/main" val="20000"/>
                    </a:ext>
                  </a:extLst>
                </a:gridCol>
                <a:gridCol w="1179830">
                  <a:extLst>
                    <a:ext uri="{9D8B030D-6E8A-4147-A177-3AD203B41FA5}">
                      <a16:colId xmlns:a16="http://schemas.microsoft.com/office/drawing/2014/main" val="20001"/>
                    </a:ext>
                  </a:extLst>
                </a:gridCol>
                <a:gridCol w="1265555">
                  <a:extLst>
                    <a:ext uri="{9D8B030D-6E8A-4147-A177-3AD203B41FA5}">
                      <a16:colId xmlns:a16="http://schemas.microsoft.com/office/drawing/2014/main" val="20002"/>
                    </a:ext>
                  </a:extLst>
                </a:gridCol>
                <a:gridCol w="1586230">
                  <a:extLst>
                    <a:ext uri="{9D8B030D-6E8A-4147-A177-3AD203B41FA5}">
                      <a16:colId xmlns:a16="http://schemas.microsoft.com/office/drawing/2014/main" val="20003"/>
                    </a:ext>
                  </a:extLst>
                </a:gridCol>
                <a:gridCol w="1789430">
                  <a:extLst>
                    <a:ext uri="{9D8B030D-6E8A-4147-A177-3AD203B41FA5}">
                      <a16:colId xmlns:a16="http://schemas.microsoft.com/office/drawing/2014/main" val="20004"/>
                    </a:ext>
                  </a:extLst>
                </a:gridCol>
              </a:tblGrid>
              <a:tr h="655320">
                <a:tc>
                  <a:txBody>
                    <a:bodyPr/>
                    <a:lstStyle/>
                    <a:p>
                      <a:pPr algn="ctr">
                        <a:lnSpc>
                          <a:spcPct val="90000"/>
                        </a:lnSpc>
                        <a:buNone/>
                      </a:pPr>
                      <a:r>
                        <a:rPr lang="zh-CN" altLang="en-US" sz="1800" b="1">
                          <a:latin typeface="微软雅黑" panose="020B0503020204020204" pitchFamily="34" charset="-122"/>
                          <a:ea typeface="微软雅黑" panose="020B0503020204020204" pitchFamily="34" charset="-122"/>
                        </a:rPr>
                        <a:t>测试用例</a:t>
                      </a:r>
                    </a:p>
                  </a:txBody>
                  <a:tcPr anchor="ctr"/>
                </a:tc>
                <a:tc>
                  <a:txBody>
                    <a:bodyPr/>
                    <a:lstStyle/>
                    <a:p>
                      <a:pPr algn="ctr">
                        <a:lnSpc>
                          <a:spcPct val="90000"/>
                        </a:lnSpc>
                        <a:buNone/>
                      </a:pPr>
                      <a:r>
                        <a:rPr lang="zh-CN" altLang="en-US" sz="1800">
                          <a:latin typeface="微软雅黑" panose="020B0503020204020204" pitchFamily="34" charset="-122"/>
                          <a:ea typeface="微软雅黑" panose="020B0503020204020204" pitchFamily="34" charset="-122"/>
                        </a:rPr>
                        <a:t>薪资制度</a:t>
                      </a:r>
                    </a:p>
                  </a:txBody>
                  <a:tcPr anchor="ctr"/>
                </a:tc>
                <a:tc>
                  <a:txBody>
                    <a:bodyPr/>
                    <a:lstStyle/>
                    <a:p>
                      <a:pPr algn="ctr">
                        <a:lnSpc>
                          <a:spcPct val="90000"/>
                        </a:lnSpc>
                        <a:buNone/>
                      </a:pPr>
                      <a:r>
                        <a:rPr lang="en-US" altLang="zh-CN" sz="1800">
                          <a:latin typeface="微软雅黑" panose="020B0503020204020204" pitchFamily="34" charset="-122"/>
                          <a:ea typeface="微软雅黑" panose="020B0503020204020204" pitchFamily="34" charset="-122"/>
                        </a:rPr>
                        <a:t>薪资</a:t>
                      </a:r>
                    </a:p>
                  </a:txBody>
                  <a:tcPr anchor="ctr"/>
                </a:tc>
                <a:tc>
                  <a:txBody>
                    <a:bodyPr/>
                    <a:lstStyle/>
                    <a:p>
                      <a:pPr algn="ctr">
                        <a:lnSpc>
                          <a:spcPct val="90000"/>
                        </a:lnSpc>
                        <a:buNone/>
                      </a:pPr>
                      <a:r>
                        <a:rPr lang="en-US" altLang="zh-CN" sz="1800">
                          <a:latin typeface="微软雅黑" panose="020B0503020204020204" pitchFamily="34" charset="-122"/>
                          <a:ea typeface="微软雅黑" panose="020B0503020204020204" pitchFamily="34" charset="-122"/>
                        </a:rPr>
                        <a:t>错误程度</a:t>
                      </a:r>
                    </a:p>
                  </a:txBody>
                  <a:tcPr anchor="ctr"/>
                </a:tc>
                <a:tc>
                  <a:txBody>
                    <a:bodyPr/>
                    <a:lstStyle/>
                    <a:p>
                      <a:pPr algn="ctr">
                        <a:lnSpc>
                          <a:spcPct val="90000"/>
                        </a:lnSpc>
                        <a:buNone/>
                      </a:pPr>
                      <a:r>
                        <a:rPr lang="zh-CN" altLang="en-US" sz="1800">
                          <a:latin typeface="微软雅黑" panose="020B0503020204020204" pitchFamily="34" charset="-122"/>
                          <a:ea typeface="微软雅黑" panose="020B0503020204020204" pitchFamily="34" charset="-122"/>
                        </a:rPr>
                        <a:t>扣款</a:t>
                      </a:r>
                    </a:p>
                  </a:txBody>
                  <a:tcPr anchor="ctr"/>
                </a:tc>
                <a:extLst>
                  <a:ext uri="{0D108BD9-81ED-4DB2-BD59-A6C34878D82A}">
                    <a16:rowId xmlns:a16="http://schemas.microsoft.com/office/drawing/2014/main" val="10000"/>
                  </a:ext>
                </a:extLst>
              </a:tr>
              <a:tr h="508000">
                <a:tc>
                  <a:txBody>
                    <a:bodyPr/>
                    <a:lstStyle/>
                    <a:p>
                      <a:pPr marL="0" algn="ctr" defTabSz="1219200" rtl="0" eaLnBrk="1" latinLnBrk="0" hangingPunct="1">
                        <a:spcAft>
                          <a:spcPts val="0"/>
                        </a:spcAft>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test1</a:t>
                      </a:r>
                    </a:p>
                  </a:txBody>
                  <a:tcPr anchor="ctr"/>
                </a:tc>
                <a:tc rowSpan="4">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年薪制</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200000</a:t>
                      </a:r>
                    </a:p>
                  </a:txBody>
                  <a:tcPr marL="68580" marR="68580" marT="0" marB="0" anchor="ctr"/>
                </a:tc>
                <a:tc>
                  <a:txBody>
                    <a:bodyPr/>
                    <a:lstStyle/>
                    <a:p>
                      <a:pPr marL="0" algn="ctr" defTabSz="1219200" rtl="0" eaLnBrk="1" latinLnBrk="0" hangingPunct="1">
                        <a:spcAft>
                          <a:spcPts val="0"/>
                        </a:spcAft>
                      </a:pPr>
                      <a:r>
                        <a:rPr lang="zh-CN" sz="1800" kern="1200">
                          <a:solidFill>
                            <a:srgbClr val="595959"/>
                          </a:solidFill>
                          <a:latin typeface="微软雅黑" panose="020B0503020204020204" pitchFamily="34" charset="-122"/>
                          <a:ea typeface="微软雅黑" panose="020B0503020204020204" pitchFamily="34" charset="-122"/>
                          <a:cs typeface="+mn-cs"/>
                        </a:rPr>
                        <a:t>无</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0</a:t>
                      </a:r>
                    </a:p>
                  </a:txBody>
                  <a:tcPr marL="68580" marR="68580" marT="0" marB="0" anchor="ctr"/>
                </a:tc>
                <a:extLst>
                  <a:ext uri="{0D108BD9-81ED-4DB2-BD59-A6C34878D82A}">
                    <a16:rowId xmlns:a16="http://schemas.microsoft.com/office/drawing/2014/main" val="10001"/>
                  </a:ext>
                </a:extLst>
              </a:tr>
              <a:tr h="474980">
                <a:tc>
                  <a:txBody>
                    <a:bodyPr/>
                    <a:lstStyle/>
                    <a:p>
                      <a:pPr marL="0" algn="ctr" defTabSz="1219200" rtl="0" eaLnBrk="1" latinLnBrk="0" hangingPunct="1">
                        <a:spcAft>
                          <a:spcPts val="0"/>
                        </a:spcAft>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test2</a:t>
                      </a:r>
                    </a:p>
                  </a:txBody>
                  <a:tcPr anchor="ctr"/>
                </a:tc>
                <a:tc vMerge="1">
                  <a:txBody>
                    <a:bodyPr/>
                    <a:lstStyle/>
                    <a:p>
                      <a:endParaRPr lang="zh-CN"/>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250000</a:t>
                      </a:r>
                    </a:p>
                  </a:txBody>
                  <a:tcPr marL="68580" marR="68580" marT="0" marB="0" anchor="ctr"/>
                </a:tc>
                <a:tc>
                  <a:txBody>
                    <a:bodyPr/>
                    <a:lstStyle/>
                    <a:p>
                      <a:pPr marL="0" algn="ctr" defTabSz="1219200" rtl="0" eaLnBrk="1" latinLnBrk="0" hangingPunct="1">
                        <a:spcAft>
                          <a:spcPts val="0"/>
                        </a:spcAft>
                      </a:pPr>
                      <a:r>
                        <a:rPr lang="zh-CN" sz="1800" kern="1200">
                          <a:solidFill>
                            <a:srgbClr val="595959"/>
                          </a:solidFill>
                          <a:latin typeface="微软雅黑" panose="020B0503020204020204" pitchFamily="34" charset="-122"/>
                          <a:ea typeface="微软雅黑" panose="020B0503020204020204" pitchFamily="34" charset="-122"/>
                          <a:cs typeface="+mn-cs"/>
                        </a:rPr>
                        <a:t>普通</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5000</a:t>
                      </a:r>
                    </a:p>
                  </a:txBody>
                  <a:tcPr marL="68580" marR="68580" marT="0" marB="0" anchor="ctr"/>
                </a:tc>
                <a:extLst>
                  <a:ext uri="{0D108BD9-81ED-4DB2-BD59-A6C34878D82A}">
                    <a16:rowId xmlns:a16="http://schemas.microsoft.com/office/drawing/2014/main" val="10002"/>
                  </a:ext>
                </a:extLst>
              </a:tr>
              <a:tr h="483870">
                <a:tc>
                  <a:txBody>
                    <a:bodyPr/>
                    <a:lstStyle/>
                    <a:p>
                      <a:pPr marL="0" algn="ctr" defTabSz="1219200" rtl="0" eaLnBrk="1" latinLnBrk="0" hangingPunct="1">
                        <a:spcAft>
                          <a:spcPts val="0"/>
                        </a:spcAft>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test3</a:t>
                      </a:r>
                    </a:p>
                  </a:txBody>
                  <a:tcPr anchor="ctr"/>
                </a:tc>
                <a:tc vMerge="1">
                  <a:txBody>
                    <a:bodyPr/>
                    <a:lstStyle/>
                    <a:p>
                      <a:endParaRPr lang="zh-CN"/>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300000</a:t>
                      </a:r>
                    </a:p>
                  </a:txBody>
                  <a:tcPr marL="68580" marR="68580" marT="0" marB="0" anchor="ctr"/>
                </a:tc>
                <a:tc>
                  <a:txBody>
                    <a:bodyPr/>
                    <a:lstStyle/>
                    <a:p>
                      <a:pPr marL="0" algn="ctr" defTabSz="1219200" rtl="0" eaLnBrk="1" latinLnBrk="0" hangingPunct="1">
                        <a:spcAft>
                          <a:spcPts val="0"/>
                        </a:spcAft>
                      </a:pPr>
                      <a:r>
                        <a:rPr lang="zh-CN" sz="1800" kern="1200">
                          <a:solidFill>
                            <a:srgbClr val="595959"/>
                          </a:solidFill>
                          <a:latin typeface="微软雅黑" panose="020B0503020204020204" pitchFamily="34" charset="-122"/>
                          <a:ea typeface="微软雅黑" panose="020B0503020204020204" pitchFamily="34" charset="-122"/>
                          <a:cs typeface="+mn-cs"/>
                        </a:rPr>
                        <a:t>严重</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12000</a:t>
                      </a:r>
                    </a:p>
                  </a:txBody>
                  <a:tcPr marL="68580" marR="68580" marT="0" marB="0" anchor="ctr"/>
                </a:tc>
                <a:extLst>
                  <a:ext uri="{0D108BD9-81ED-4DB2-BD59-A6C34878D82A}">
                    <a16:rowId xmlns:a16="http://schemas.microsoft.com/office/drawing/2014/main" val="10003"/>
                  </a:ext>
                </a:extLst>
              </a:tr>
              <a:tr h="493395">
                <a:tc>
                  <a:txBody>
                    <a:bodyPr/>
                    <a:lstStyle/>
                    <a:p>
                      <a:pPr marL="0" algn="ctr" defTabSz="1219200" rtl="0" eaLnBrk="1" latinLnBrk="0" hangingPunct="1">
                        <a:spcAft>
                          <a:spcPts val="0"/>
                        </a:spcAft>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sym typeface="+mn-ea"/>
                        </a:rPr>
                        <a:t>test4</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vMerge="1">
                  <a:txBody>
                    <a:bodyPr/>
                    <a:lstStyle/>
                    <a:p>
                      <a:endParaRPr lang="zh-CN"/>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350000</a:t>
                      </a:r>
                    </a:p>
                  </a:txBody>
                  <a:tcPr marL="68580" marR="68580" marT="0" marB="0" anchor="ctr"/>
                </a:tc>
                <a:tc>
                  <a:txBody>
                    <a:bodyPr/>
                    <a:lstStyle/>
                    <a:p>
                      <a:pPr marL="0" algn="ctr" defTabSz="1219200" rtl="0" eaLnBrk="1" latinLnBrk="0" hangingPunct="1">
                        <a:spcAft>
                          <a:spcPts val="0"/>
                        </a:spcAft>
                      </a:pPr>
                      <a:r>
                        <a:rPr lang="zh-CN" sz="1800" kern="1200">
                          <a:solidFill>
                            <a:srgbClr val="595959"/>
                          </a:solidFill>
                          <a:latin typeface="微软雅黑" panose="020B0503020204020204" pitchFamily="34" charset="-122"/>
                          <a:ea typeface="微软雅黑" panose="020B0503020204020204" pitchFamily="34" charset="-122"/>
                          <a:cs typeface="+mn-cs"/>
                        </a:rPr>
                        <a:t>普通</a:t>
                      </a:r>
                      <a:r>
                        <a:rPr lang="en-US" sz="1800" kern="1200">
                          <a:solidFill>
                            <a:srgbClr val="595959"/>
                          </a:solidFill>
                          <a:latin typeface="微软雅黑" panose="020B0503020204020204" pitchFamily="34" charset="-122"/>
                          <a:ea typeface="微软雅黑" panose="020B0503020204020204" pitchFamily="34" charset="-122"/>
                          <a:cs typeface="+mn-cs"/>
                        </a:rPr>
                        <a:t>+</a:t>
                      </a:r>
                      <a:r>
                        <a:rPr lang="zh-CN" sz="1800" kern="1200">
                          <a:solidFill>
                            <a:srgbClr val="595959"/>
                          </a:solidFill>
                          <a:latin typeface="微软雅黑" panose="020B0503020204020204" pitchFamily="34" charset="-122"/>
                          <a:ea typeface="微软雅黑" panose="020B0503020204020204" pitchFamily="34" charset="-122"/>
                          <a:cs typeface="+mn-cs"/>
                        </a:rPr>
                        <a:t>严重</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21000</a:t>
                      </a:r>
                    </a:p>
                  </a:txBody>
                  <a:tcPr marL="68580" marR="68580" marT="0" marB="0" anchor="ctr"/>
                </a:tc>
                <a:extLst>
                  <a:ext uri="{0D108BD9-81ED-4DB2-BD59-A6C34878D82A}">
                    <a16:rowId xmlns:a16="http://schemas.microsoft.com/office/drawing/2014/main" val="10004"/>
                  </a:ext>
                </a:extLst>
              </a:tr>
              <a:tr h="503555">
                <a:tc>
                  <a:txBody>
                    <a:bodyPr/>
                    <a:lstStyle/>
                    <a:p>
                      <a:pPr marL="0" algn="ctr" defTabSz="1219200" rtl="0" eaLnBrk="1" latinLnBrk="0" hangingPunct="1">
                        <a:spcAft>
                          <a:spcPts val="0"/>
                        </a:spcAft>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sym typeface="+mn-ea"/>
                        </a:rPr>
                        <a:t>test5</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rowSpan="4">
                  <a:txBody>
                    <a:bodyPr/>
                    <a:lstStyle/>
                    <a:p>
                      <a:pPr marL="0" algn="ctr" defTabSz="1219200" rtl="0" eaLnBrk="1" latinLnBrk="0" hangingPunct="1">
                        <a:spcAft>
                          <a:spcPts val="0"/>
                        </a:spcAft>
                      </a:pPr>
                      <a:r>
                        <a:rPr lang="zh-CN" altLang="en-US" sz="1800" kern="1200">
                          <a:solidFill>
                            <a:srgbClr val="595959"/>
                          </a:solidFill>
                          <a:latin typeface="微软雅黑" panose="020B0503020204020204" pitchFamily="34" charset="-122"/>
                          <a:ea typeface="微软雅黑" panose="020B0503020204020204" pitchFamily="34" charset="-122"/>
                          <a:cs typeface="+mn-cs"/>
                        </a:rPr>
                        <a:t>月</a:t>
                      </a:r>
                      <a:r>
                        <a:rPr lang="en-US" sz="1800" kern="1200">
                          <a:solidFill>
                            <a:srgbClr val="595959"/>
                          </a:solidFill>
                          <a:latin typeface="微软雅黑" panose="020B0503020204020204" pitchFamily="34" charset="-122"/>
                          <a:ea typeface="微软雅黑" panose="020B0503020204020204" pitchFamily="34" charset="-122"/>
                          <a:cs typeface="+mn-cs"/>
                        </a:rPr>
                        <a:t>薪制</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8000</a:t>
                      </a:r>
                    </a:p>
                  </a:txBody>
                  <a:tcPr marL="68580" marR="68580" marT="0" marB="0" anchor="ctr"/>
                </a:tc>
                <a:tc>
                  <a:txBody>
                    <a:bodyPr/>
                    <a:lstStyle/>
                    <a:p>
                      <a:pPr marL="0" algn="ctr" defTabSz="1219200" rtl="0" eaLnBrk="1" latinLnBrk="0" hangingPunct="1">
                        <a:spcAft>
                          <a:spcPts val="0"/>
                        </a:spcAft>
                      </a:pPr>
                      <a:r>
                        <a:rPr lang="zh-CN" sz="1800" kern="1200">
                          <a:solidFill>
                            <a:srgbClr val="595959"/>
                          </a:solidFill>
                          <a:latin typeface="微软雅黑" panose="020B0503020204020204" pitchFamily="34" charset="-122"/>
                          <a:ea typeface="微软雅黑" panose="020B0503020204020204" pitchFamily="34" charset="-122"/>
                          <a:cs typeface="+mn-cs"/>
                        </a:rPr>
                        <a:t>无</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0</a:t>
                      </a:r>
                    </a:p>
                  </a:txBody>
                  <a:tcPr marL="68580" marR="68580" marT="0" marB="0" anchor="ctr"/>
                </a:tc>
                <a:extLst>
                  <a:ext uri="{0D108BD9-81ED-4DB2-BD59-A6C34878D82A}">
                    <a16:rowId xmlns:a16="http://schemas.microsoft.com/office/drawing/2014/main" val="10005"/>
                  </a:ext>
                </a:extLst>
              </a:tr>
              <a:tr h="503555">
                <a:tc>
                  <a:txBody>
                    <a:bodyPr/>
                    <a:lstStyle/>
                    <a:p>
                      <a:pPr marL="0" algn="ctr" defTabSz="1219200" rtl="0" eaLnBrk="1" latinLnBrk="0" hangingPunct="1">
                        <a:spcAft>
                          <a:spcPts val="0"/>
                        </a:spcAft>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sym typeface="+mn-ea"/>
                        </a:rPr>
                        <a:t>test6</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vMerge="1">
                  <a:txBody>
                    <a:bodyPr/>
                    <a:lstStyle/>
                    <a:p>
                      <a:endParaRPr lang="zh-CN"/>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10000</a:t>
                      </a:r>
                    </a:p>
                  </a:txBody>
                  <a:tcPr marL="68580" marR="68580" marT="0" marB="0" anchor="ctr"/>
                </a:tc>
                <a:tc>
                  <a:txBody>
                    <a:bodyPr/>
                    <a:lstStyle/>
                    <a:p>
                      <a:pPr marL="0" algn="ctr" defTabSz="1219200" rtl="0" eaLnBrk="1" latinLnBrk="0" hangingPunct="1">
                        <a:spcAft>
                          <a:spcPts val="0"/>
                        </a:spcAft>
                      </a:pPr>
                      <a:r>
                        <a:rPr lang="zh-CN" sz="1800" kern="1200">
                          <a:solidFill>
                            <a:srgbClr val="595959"/>
                          </a:solidFill>
                          <a:latin typeface="微软雅黑" panose="020B0503020204020204" pitchFamily="34" charset="-122"/>
                          <a:ea typeface="微软雅黑" panose="020B0503020204020204" pitchFamily="34" charset="-122"/>
                          <a:cs typeface="+mn-cs"/>
                        </a:rPr>
                        <a:t>普通</a:t>
                      </a:r>
                    </a:p>
                  </a:txBody>
                  <a:tcPr marL="68580" marR="68580" marT="0" marB="0" anchor="ctr"/>
                </a:tc>
                <a:tc>
                  <a:txBody>
                    <a:bodyPr/>
                    <a:lstStyle/>
                    <a:p>
                      <a:pPr marL="0" algn="ctr" defTabSz="1219200" rtl="0" eaLnBrk="1" latinLnBrk="0" hangingPunct="1">
                        <a:spcAft>
                          <a:spcPts val="0"/>
                        </a:spcAft>
                      </a:pPr>
                      <a:r>
                        <a:rPr lang="en-US" sz="1800" kern="1200" dirty="0">
                          <a:solidFill>
                            <a:srgbClr val="595959"/>
                          </a:solidFill>
                          <a:latin typeface="微软雅黑" panose="020B0503020204020204" pitchFamily="34" charset="-122"/>
                          <a:ea typeface="微软雅黑" panose="020B0503020204020204" pitchFamily="34" charset="-122"/>
                          <a:cs typeface="+mn-cs"/>
                        </a:rPr>
                        <a:t>500</a:t>
                      </a:r>
                    </a:p>
                  </a:txBody>
                  <a:tcPr marL="68580" marR="68580" marT="0" marB="0" anchor="ctr"/>
                </a:tc>
                <a:extLst>
                  <a:ext uri="{0D108BD9-81ED-4DB2-BD59-A6C34878D82A}">
                    <a16:rowId xmlns:a16="http://schemas.microsoft.com/office/drawing/2014/main" val="10006"/>
                  </a:ext>
                </a:extLst>
              </a:tr>
              <a:tr h="503555">
                <a:tc>
                  <a:txBody>
                    <a:bodyPr/>
                    <a:lstStyle/>
                    <a:p>
                      <a:pPr marL="0" algn="ctr" defTabSz="1219200" rtl="0" eaLnBrk="1" latinLnBrk="0" hangingPunct="1">
                        <a:spcAft>
                          <a:spcPts val="0"/>
                        </a:spcAft>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sym typeface="+mn-ea"/>
                        </a:rPr>
                        <a:t>test7</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vMerge="1">
                  <a:txBody>
                    <a:bodyPr/>
                    <a:lstStyle/>
                    <a:p>
                      <a:endParaRPr lang="zh-CN"/>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15000</a:t>
                      </a:r>
                    </a:p>
                  </a:txBody>
                  <a:tcPr marL="68580" marR="68580" marT="0" marB="0" anchor="ctr"/>
                </a:tc>
                <a:tc>
                  <a:txBody>
                    <a:bodyPr/>
                    <a:lstStyle/>
                    <a:p>
                      <a:pPr marL="0" algn="ctr" defTabSz="1219200" rtl="0" eaLnBrk="1" latinLnBrk="0" hangingPunct="1">
                        <a:spcAft>
                          <a:spcPts val="0"/>
                        </a:spcAft>
                      </a:pPr>
                      <a:r>
                        <a:rPr lang="zh-CN" sz="1800" kern="1200">
                          <a:solidFill>
                            <a:srgbClr val="595959"/>
                          </a:solidFill>
                          <a:latin typeface="微软雅黑" panose="020B0503020204020204" pitchFamily="34" charset="-122"/>
                          <a:ea typeface="微软雅黑" panose="020B0503020204020204" pitchFamily="34" charset="-122"/>
                          <a:cs typeface="+mn-cs"/>
                        </a:rPr>
                        <a:t>严重</a:t>
                      </a:r>
                    </a:p>
                  </a:txBody>
                  <a:tcPr marL="68580" marR="68580" marT="0" marB="0" anchor="ctr"/>
                </a:tc>
                <a:tc>
                  <a:txBody>
                    <a:bodyPr/>
                    <a:lstStyle/>
                    <a:p>
                      <a:pPr marL="0" algn="ctr" defTabSz="1219200" rtl="0" eaLnBrk="1" latinLnBrk="0" hangingPunct="1">
                        <a:spcAft>
                          <a:spcPts val="0"/>
                        </a:spcAft>
                      </a:pPr>
                      <a:r>
                        <a:rPr lang="en-US" sz="1800" kern="1200" dirty="0">
                          <a:solidFill>
                            <a:srgbClr val="595959"/>
                          </a:solidFill>
                          <a:latin typeface="微软雅黑" panose="020B0503020204020204" pitchFamily="34" charset="-122"/>
                          <a:ea typeface="微软雅黑" panose="020B0503020204020204" pitchFamily="34" charset="-122"/>
                          <a:cs typeface="+mn-cs"/>
                        </a:rPr>
                        <a:t>1500</a:t>
                      </a:r>
                    </a:p>
                  </a:txBody>
                  <a:tcPr marL="68580" marR="68580" marT="0" marB="0" anchor="ctr"/>
                </a:tc>
                <a:extLst>
                  <a:ext uri="{0D108BD9-81ED-4DB2-BD59-A6C34878D82A}">
                    <a16:rowId xmlns:a16="http://schemas.microsoft.com/office/drawing/2014/main" val="10007"/>
                  </a:ext>
                </a:extLst>
              </a:tr>
              <a:tr h="482600">
                <a:tc>
                  <a:txBody>
                    <a:bodyPr/>
                    <a:lstStyle/>
                    <a:p>
                      <a:pPr marL="0" algn="ctr" defTabSz="1219200" rtl="0" eaLnBrk="1" latinLnBrk="0" hangingPunct="1">
                        <a:spcAft>
                          <a:spcPts val="0"/>
                        </a:spcAft>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sym typeface="+mn-ea"/>
                        </a:rPr>
                        <a:t>test8</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vMerge="1">
                  <a:txBody>
                    <a:bodyPr/>
                    <a:lstStyle/>
                    <a:p>
                      <a:endParaRPr lang="zh-CN"/>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8000</a:t>
                      </a:r>
                    </a:p>
                  </a:txBody>
                  <a:tcPr marL="68580" marR="68580" marT="0" marB="0" anchor="ctr"/>
                </a:tc>
                <a:tc>
                  <a:txBody>
                    <a:bodyPr/>
                    <a:lstStyle/>
                    <a:p>
                      <a:pPr marL="0" algn="ctr" defTabSz="1219200" rtl="0" eaLnBrk="1" latinLnBrk="0" hangingPunct="1">
                        <a:spcAft>
                          <a:spcPts val="0"/>
                        </a:spcAft>
                      </a:pPr>
                      <a:r>
                        <a:rPr lang="zh-CN" sz="1800" kern="1200">
                          <a:solidFill>
                            <a:srgbClr val="595959"/>
                          </a:solidFill>
                          <a:latin typeface="微软雅黑" panose="020B0503020204020204" pitchFamily="34" charset="-122"/>
                          <a:ea typeface="微软雅黑" panose="020B0503020204020204" pitchFamily="34" charset="-122"/>
                          <a:cs typeface="+mn-cs"/>
                        </a:rPr>
                        <a:t>普通</a:t>
                      </a:r>
                      <a:r>
                        <a:rPr lang="en-US" sz="1800" kern="1200">
                          <a:solidFill>
                            <a:srgbClr val="595959"/>
                          </a:solidFill>
                          <a:latin typeface="微软雅黑" panose="020B0503020204020204" pitchFamily="34" charset="-122"/>
                          <a:ea typeface="微软雅黑" panose="020B0503020204020204" pitchFamily="34" charset="-122"/>
                          <a:cs typeface="+mn-cs"/>
                        </a:rPr>
                        <a:t>+</a:t>
                      </a:r>
                      <a:r>
                        <a:rPr lang="zh-CN" sz="1800" kern="1200">
                          <a:solidFill>
                            <a:srgbClr val="595959"/>
                          </a:solidFill>
                          <a:latin typeface="微软雅黑" panose="020B0503020204020204" pitchFamily="34" charset="-122"/>
                          <a:ea typeface="微软雅黑" panose="020B0503020204020204" pitchFamily="34" charset="-122"/>
                          <a:cs typeface="+mn-cs"/>
                        </a:rPr>
                        <a:t>严重</a:t>
                      </a:r>
                    </a:p>
                  </a:txBody>
                  <a:tcPr marL="68580" marR="68580" marT="0" marB="0" anchor="ctr"/>
                </a:tc>
                <a:tc>
                  <a:txBody>
                    <a:bodyPr/>
                    <a:lstStyle/>
                    <a:p>
                      <a:pPr marL="0" algn="ctr" defTabSz="1219200" rtl="0" eaLnBrk="1" latinLnBrk="0" hangingPunct="1">
                        <a:spcAft>
                          <a:spcPts val="0"/>
                        </a:spcAft>
                      </a:pPr>
                      <a:r>
                        <a:rPr lang="en-US" sz="1800" kern="1200" dirty="0">
                          <a:solidFill>
                            <a:srgbClr val="595959"/>
                          </a:solidFill>
                          <a:latin typeface="微软雅黑" panose="020B0503020204020204" pitchFamily="34" charset="-122"/>
                          <a:ea typeface="微软雅黑" panose="020B0503020204020204" pitchFamily="34" charset="-122"/>
                          <a:cs typeface="+mn-cs"/>
                        </a:rPr>
                        <a:t>1200</a:t>
                      </a:r>
                    </a:p>
                  </a:txBody>
                  <a:tcPr marL="68580" marR="68580" marT="0" marB="0" anchor="ctr"/>
                </a:tc>
                <a:extLst>
                  <a:ext uri="{0D108BD9-81ED-4DB2-BD59-A6C34878D82A}">
                    <a16:rowId xmlns:a16="http://schemas.microsoft.com/office/drawing/2014/main" val="10008"/>
                  </a:ext>
                </a:extLst>
              </a:tr>
            </a:tbl>
          </a:graphicData>
        </a:graphic>
      </p:graphicFrame>
      <p:sp>
        <p:nvSpPr>
          <p:cNvPr id="4" name="Title 1">
            <a:extLst>
              <a:ext uri="{FF2B5EF4-FFF2-40B4-BE49-F238E27FC236}">
                <a16:creationId xmlns:a16="http://schemas.microsoft.com/office/drawing/2014/main" id="{4DFA6834-6889-4FB5-0C61-FA55794B7EE6}"/>
              </a:ext>
            </a:extLst>
          </p:cNvPr>
          <p:cNvSpPr txBox="1"/>
          <p:nvPr/>
        </p:nvSpPr>
        <p:spPr>
          <a:xfrm>
            <a:off x="1143635" y="266700"/>
            <a:ext cx="701421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2.3.</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6</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	实例四：工资发放情况的因果图与决策表绘制</a:t>
            </a: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C4D3AF-686A-0984-7F80-F235C9F76220}"/>
            </a:ext>
          </a:extLst>
        </p:cNvPr>
        <p:cNvGrpSpPr/>
        <p:nvPr/>
      </p:nvGrpSpPr>
      <p:grpSpPr>
        <a:xfrm>
          <a:off x="0" y="0"/>
          <a:ext cx="0" cy="0"/>
          <a:chOff x="0" y="0"/>
          <a:chExt cx="0" cy="0"/>
        </a:xfrm>
      </p:grpSpPr>
      <p:sp>
        <p:nvSpPr>
          <p:cNvPr id="47" name="TextBox 35">
            <a:extLst>
              <a:ext uri="{FF2B5EF4-FFF2-40B4-BE49-F238E27FC236}">
                <a16:creationId xmlns:a16="http://schemas.microsoft.com/office/drawing/2014/main" id="{4043EDA1-0CF0-B8EE-0195-DDD6551FC9F5}"/>
              </a:ext>
            </a:extLst>
          </p:cNvPr>
          <p:cNvSpPr txBox="1">
            <a:spLocks noChangeArrowheads="1"/>
          </p:cNvSpPr>
          <p:nvPr/>
        </p:nvSpPr>
        <p:spPr bwMode="auto">
          <a:xfrm>
            <a:off x="975677" y="1598721"/>
            <a:ext cx="10017125" cy="2567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indent="457200" algn="just">
              <a:lnSpc>
                <a:spcPct val="150000"/>
              </a:lnSpc>
              <a:buClrTx/>
              <a:buSzTx/>
              <a:buFontTx/>
            </a:pPr>
            <a:r>
              <a:rPr lang="zh-CN" altLang="en-US" sz="1800" dirty="0">
                <a:solidFill>
                  <a:srgbClr val="595959"/>
                </a:solidFill>
                <a:latin typeface="微软雅黑" panose="020B0503020204020204" pitchFamily="34" charset="-122"/>
                <a:ea typeface="微软雅黑" panose="020B0503020204020204" pitchFamily="34" charset="-122"/>
              </a:rPr>
              <a:t>（</a:t>
            </a:r>
            <a:r>
              <a:rPr lang="en-US" altLang="zh-CN" sz="1800" dirty="0">
                <a:solidFill>
                  <a:srgbClr val="595959"/>
                </a:solidFill>
                <a:latin typeface="微软雅黑" panose="020B0503020204020204" pitchFamily="34" charset="-122"/>
                <a:ea typeface="微软雅黑" panose="020B0503020204020204" pitchFamily="34" charset="-122"/>
              </a:rPr>
              <a:t>1</a:t>
            </a:r>
            <a:r>
              <a:rPr lang="zh-CN" altLang="en-US" sz="1800" dirty="0">
                <a:solidFill>
                  <a:srgbClr val="595959"/>
                </a:solidFill>
                <a:latin typeface="微软雅黑" panose="020B0503020204020204" pitchFamily="34" charset="-122"/>
                <a:ea typeface="微软雅黑" panose="020B0503020204020204" pitchFamily="34" charset="-122"/>
              </a:rPr>
              <a:t>）规格说明以决策表形式给出，或是很容易转换成决策表。</a:t>
            </a:r>
          </a:p>
          <a:p>
            <a:pPr indent="457200" algn="just">
              <a:lnSpc>
                <a:spcPct val="150000"/>
              </a:lnSpc>
              <a:buClrTx/>
              <a:buSzTx/>
              <a:buFontTx/>
            </a:pPr>
            <a:r>
              <a:rPr lang="zh-CN" altLang="en-US" sz="1800" dirty="0">
                <a:solidFill>
                  <a:srgbClr val="595959"/>
                </a:solidFill>
                <a:latin typeface="微软雅黑" panose="020B0503020204020204" pitchFamily="34" charset="-122"/>
                <a:ea typeface="微软雅黑" panose="020B0503020204020204" pitchFamily="34" charset="-122"/>
              </a:rPr>
              <a:t>（</a:t>
            </a:r>
            <a:r>
              <a:rPr lang="en-US" altLang="zh-CN" sz="1800" dirty="0">
                <a:solidFill>
                  <a:srgbClr val="595959"/>
                </a:solidFill>
                <a:latin typeface="微软雅黑" panose="020B0503020204020204" pitchFamily="34" charset="-122"/>
                <a:ea typeface="微软雅黑" panose="020B0503020204020204" pitchFamily="34" charset="-122"/>
              </a:rPr>
              <a:t>2</a:t>
            </a:r>
            <a:r>
              <a:rPr lang="zh-CN" altLang="en-US" sz="1800" dirty="0">
                <a:solidFill>
                  <a:srgbClr val="595959"/>
                </a:solidFill>
                <a:latin typeface="微软雅黑" panose="020B0503020204020204" pitchFamily="34" charset="-122"/>
                <a:ea typeface="微软雅黑" panose="020B0503020204020204" pitchFamily="34" charset="-122"/>
              </a:rPr>
              <a:t>）条件的排列顺序不会也不影响执行哪些操作。</a:t>
            </a:r>
          </a:p>
          <a:p>
            <a:pPr indent="457200" algn="just">
              <a:lnSpc>
                <a:spcPct val="150000"/>
              </a:lnSpc>
              <a:buClrTx/>
              <a:buSzTx/>
              <a:buFontTx/>
            </a:pPr>
            <a:r>
              <a:rPr lang="zh-CN" altLang="en-US" sz="1800" dirty="0">
                <a:solidFill>
                  <a:srgbClr val="595959"/>
                </a:solidFill>
                <a:latin typeface="微软雅黑" panose="020B0503020204020204" pitchFamily="34" charset="-122"/>
                <a:ea typeface="微软雅黑" panose="020B0503020204020204" pitchFamily="34" charset="-122"/>
              </a:rPr>
              <a:t>（</a:t>
            </a:r>
            <a:r>
              <a:rPr lang="en-US" altLang="zh-CN" sz="1800" dirty="0">
                <a:solidFill>
                  <a:srgbClr val="595959"/>
                </a:solidFill>
                <a:latin typeface="微软雅黑" panose="020B0503020204020204" pitchFamily="34" charset="-122"/>
                <a:ea typeface="微软雅黑" panose="020B0503020204020204" pitchFamily="34" charset="-122"/>
              </a:rPr>
              <a:t>3</a:t>
            </a:r>
            <a:r>
              <a:rPr lang="zh-CN" altLang="en-US" sz="1800" dirty="0">
                <a:solidFill>
                  <a:srgbClr val="595959"/>
                </a:solidFill>
                <a:latin typeface="微软雅黑" panose="020B0503020204020204" pitchFamily="34" charset="-122"/>
                <a:ea typeface="微软雅黑" panose="020B0503020204020204" pitchFamily="34" charset="-122"/>
              </a:rPr>
              <a:t>）规则的排列顺序不会也不影响执行哪些操作。</a:t>
            </a:r>
          </a:p>
          <a:p>
            <a:pPr indent="457200" algn="just">
              <a:lnSpc>
                <a:spcPct val="150000"/>
              </a:lnSpc>
              <a:buClrTx/>
              <a:buSzTx/>
              <a:buFontTx/>
            </a:pPr>
            <a:r>
              <a:rPr lang="zh-CN" altLang="en-US" sz="1800" dirty="0">
                <a:solidFill>
                  <a:srgbClr val="595959"/>
                </a:solidFill>
                <a:latin typeface="微软雅黑" panose="020B0503020204020204" pitchFamily="34" charset="-122"/>
                <a:ea typeface="微软雅黑" panose="020B0503020204020204" pitchFamily="34" charset="-122"/>
              </a:rPr>
              <a:t>（</a:t>
            </a:r>
            <a:r>
              <a:rPr lang="en-US" altLang="zh-CN" sz="1800" dirty="0">
                <a:solidFill>
                  <a:srgbClr val="595959"/>
                </a:solidFill>
                <a:latin typeface="微软雅黑" panose="020B0503020204020204" pitchFamily="34" charset="-122"/>
                <a:ea typeface="微软雅黑" panose="020B0503020204020204" pitchFamily="34" charset="-122"/>
              </a:rPr>
              <a:t>4</a:t>
            </a:r>
            <a:r>
              <a:rPr lang="zh-CN" altLang="en-US" sz="1800" dirty="0">
                <a:solidFill>
                  <a:srgbClr val="595959"/>
                </a:solidFill>
                <a:latin typeface="微软雅黑" panose="020B0503020204020204" pitchFamily="34" charset="-122"/>
                <a:ea typeface="微软雅黑" panose="020B0503020204020204" pitchFamily="34" charset="-122"/>
              </a:rPr>
              <a:t>）当某一规则的条件已经满足，并确定要执行的操作后，不必检验别的规则。</a:t>
            </a:r>
          </a:p>
          <a:p>
            <a:pPr indent="457200" algn="just">
              <a:lnSpc>
                <a:spcPct val="150000"/>
              </a:lnSpc>
              <a:buClrTx/>
              <a:buSzTx/>
              <a:buFontTx/>
            </a:pPr>
            <a:r>
              <a:rPr lang="zh-CN" altLang="en-US" sz="1800" dirty="0">
                <a:solidFill>
                  <a:srgbClr val="595959"/>
                </a:solidFill>
                <a:latin typeface="微软雅黑" panose="020B0503020204020204" pitchFamily="34" charset="-122"/>
                <a:ea typeface="微软雅黑" panose="020B0503020204020204" pitchFamily="34" charset="-122"/>
              </a:rPr>
              <a:t>（</a:t>
            </a:r>
            <a:r>
              <a:rPr lang="en-US" altLang="zh-CN" sz="1800" dirty="0">
                <a:solidFill>
                  <a:srgbClr val="595959"/>
                </a:solidFill>
                <a:latin typeface="微软雅黑" panose="020B0503020204020204" pitchFamily="34" charset="-122"/>
                <a:ea typeface="微软雅黑" panose="020B0503020204020204" pitchFamily="34" charset="-122"/>
              </a:rPr>
              <a:t>5</a:t>
            </a:r>
            <a:r>
              <a:rPr lang="zh-CN" altLang="en-US" sz="1800" dirty="0">
                <a:solidFill>
                  <a:srgbClr val="595959"/>
                </a:solidFill>
                <a:latin typeface="微软雅黑" panose="020B0503020204020204" pitchFamily="34" charset="-122"/>
                <a:ea typeface="微软雅黑" panose="020B0503020204020204" pitchFamily="34" charset="-122"/>
              </a:rPr>
              <a:t>）如果某一规则得到满足要执行多个操作，这些操作的执行顺序无关紧要。</a:t>
            </a:r>
          </a:p>
          <a:p>
            <a:pPr indent="457200" algn="just">
              <a:lnSpc>
                <a:spcPct val="150000"/>
              </a:lnSpc>
              <a:buClrTx/>
              <a:buSzTx/>
              <a:buFontTx/>
            </a:pPr>
            <a:endParaRPr lang="zh-CN" altLang="en-US" sz="1800" dirty="0">
              <a:solidFill>
                <a:srgbClr val="595959"/>
              </a:solidFill>
              <a:latin typeface="微软雅黑" panose="020B0503020204020204" pitchFamily="34" charset="-122"/>
              <a:ea typeface="微软雅黑" panose="020B0503020204020204" pitchFamily="34" charset="-122"/>
            </a:endParaRPr>
          </a:p>
        </p:txBody>
      </p:sp>
      <p:sp>
        <p:nvSpPr>
          <p:cNvPr id="4" name="Title 1">
            <a:extLst>
              <a:ext uri="{FF2B5EF4-FFF2-40B4-BE49-F238E27FC236}">
                <a16:creationId xmlns:a16="http://schemas.microsoft.com/office/drawing/2014/main" id="{4CF0626F-77C8-4E89-B2ED-06D3109554C7}"/>
              </a:ext>
            </a:extLst>
          </p:cNvPr>
          <p:cNvSpPr txBox="1"/>
          <p:nvPr/>
        </p:nvSpPr>
        <p:spPr>
          <a:xfrm>
            <a:off x="1143635" y="266700"/>
            <a:ext cx="701421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适合使用决策表设计测试用例的情况</a:t>
            </a:r>
          </a:p>
        </p:txBody>
      </p:sp>
      <p:sp>
        <p:nvSpPr>
          <p:cNvPr id="2" name="TextBox 35">
            <a:extLst>
              <a:ext uri="{FF2B5EF4-FFF2-40B4-BE49-F238E27FC236}">
                <a16:creationId xmlns:a16="http://schemas.microsoft.com/office/drawing/2014/main" id="{14ADC07A-B1CC-CE17-8883-8F749780EF71}"/>
              </a:ext>
            </a:extLst>
          </p:cNvPr>
          <p:cNvSpPr txBox="1">
            <a:spLocks noChangeArrowheads="1"/>
          </p:cNvSpPr>
          <p:nvPr/>
        </p:nvSpPr>
        <p:spPr bwMode="auto">
          <a:xfrm>
            <a:off x="1086642" y="4653794"/>
            <a:ext cx="10017125" cy="905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indent="457200" algn="just">
              <a:lnSpc>
                <a:spcPct val="150000"/>
              </a:lnSpc>
              <a:buClrTx/>
              <a:buSzTx/>
              <a:buFontTx/>
            </a:pPr>
            <a:r>
              <a:rPr lang="zh-CN" altLang="en-US" sz="1800" dirty="0">
                <a:solidFill>
                  <a:srgbClr val="0070C0"/>
                </a:solidFill>
                <a:latin typeface="微软雅黑" panose="020B0503020204020204" pitchFamily="34" charset="-122"/>
                <a:ea typeface="微软雅黑" panose="020B0503020204020204" pitchFamily="34" charset="-122"/>
              </a:rPr>
              <a:t>决策表的优点</a:t>
            </a:r>
            <a:r>
              <a:rPr lang="zh-CN" altLang="en-US" sz="1800" dirty="0">
                <a:solidFill>
                  <a:srgbClr val="595959"/>
                </a:solidFill>
                <a:latin typeface="微软雅黑" panose="020B0503020204020204" pitchFamily="34" charset="-122"/>
                <a:ea typeface="微软雅黑" panose="020B0503020204020204" pitchFamily="34" charset="-122"/>
              </a:rPr>
              <a:t>是它能把复杂的问题按各种可能的情况一一列举出来，简明易懂，也可避免遗漏。其缺点是不能表达重复执行的动作，例如循环结构。</a:t>
            </a:r>
          </a:p>
        </p:txBody>
      </p:sp>
      <p:sp>
        <p:nvSpPr>
          <p:cNvPr id="7" name="TextBox 35">
            <a:extLst>
              <a:ext uri="{FF2B5EF4-FFF2-40B4-BE49-F238E27FC236}">
                <a16:creationId xmlns:a16="http://schemas.microsoft.com/office/drawing/2014/main" id="{54C03100-76A3-1C88-AC31-E92EBEBA10FD}"/>
              </a:ext>
            </a:extLst>
          </p:cNvPr>
          <p:cNvSpPr txBox="1">
            <a:spLocks noChangeArrowheads="1"/>
          </p:cNvSpPr>
          <p:nvPr/>
        </p:nvSpPr>
        <p:spPr bwMode="auto">
          <a:xfrm>
            <a:off x="975676" y="981794"/>
            <a:ext cx="5119529" cy="663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no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buClrTx/>
              <a:buSzTx/>
              <a:buFontTx/>
            </a:pPr>
            <a:r>
              <a:rPr lang="zh-CN" altLang="en-US" sz="1800" dirty="0">
                <a:solidFill>
                  <a:srgbClr val="0070C0"/>
                </a:solidFill>
                <a:latin typeface="微软雅黑" panose="020B0503020204020204" pitchFamily="34" charset="-122"/>
                <a:ea typeface="微软雅黑" panose="020B0503020204020204" pitchFamily="34" charset="-122"/>
              </a:rPr>
              <a:t>适合于使用决策表设计测试用例的条件：</a:t>
            </a:r>
          </a:p>
          <a:p>
            <a:pPr algn="just">
              <a:lnSpc>
                <a:spcPct val="150000"/>
              </a:lnSpc>
              <a:buClrTx/>
              <a:buSzTx/>
              <a:buFontTx/>
            </a:pPr>
            <a:endParaRPr lang="zh-CN" altLang="en-US" sz="1800" dirty="0">
              <a:solidFill>
                <a:srgbClr val="0070C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37844520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934B41-0DC7-2376-9639-3609F1918023}"/>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E71ED769-A053-1B96-5D67-FE0DDB8CFBBB}"/>
              </a:ext>
            </a:extLst>
          </p:cNvPr>
          <p:cNvSpPr txBox="1"/>
          <p:nvPr/>
        </p:nvSpPr>
        <p:spPr>
          <a:xfrm>
            <a:off x="1143635" y="266700"/>
            <a:ext cx="701421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因果图和决策表的关系</a:t>
            </a:r>
          </a:p>
        </p:txBody>
      </p:sp>
      <p:sp>
        <p:nvSpPr>
          <p:cNvPr id="2" name="TextBox 35">
            <a:extLst>
              <a:ext uri="{FF2B5EF4-FFF2-40B4-BE49-F238E27FC236}">
                <a16:creationId xmlns:a16="http://schemas.microsoft.com/office/drawing/2014/main" id="{51C5EE1D-6C07-3A61-833F-04F68AA61BD4}"/>
              </a:ext>
            </a:extLst>
          </p:cNvPr>
          <p:cNvSpPr txBox="1">
            <a:spLocks noChangeArrowheads="1"/>
          </p:cNvSpPr>
          <p:nvPr/>
        </p:nvSpPr>
        <p:spPr bwMode="auto">
          <a:xfrm>
            <a:off x="1086643" y="1053794"/>
            <a:ext cx="10017125" cy="215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indent="457200" algn="just">
              <a:lnSpc>
                <a:spcPct val="150000"/>
              </a:lnSpc>
              <a:buClrTx/>
              <a:buSzTx/>
              <a:buFontTx/>
            </a:pPr>
            <a:r>
              <a:rPr lang="zh-CN" altLang="en-US" sz="1800" dirty="0">
                <a:solidFill>
                  <a:srgbClr val="595959"/>
                </a:solidFill>
                <a:latin typeface="微软雅黑" panose="020B0503020204020204" pitchFamily="34" charset="-122"/>
                <a:ea typeface="微软雅黑" panose="020B0503020204020204" pitchFamily="34" charset="-122"/>
              </a:rPr>
              <a:t>因果图只是清晰地表达了</a:t>
            </a:r>
            <a:r>
              <a:rPr lang="zh-CN" altLang="en-US" sz="1800" dirty="0">
                <a:solidFill>
                  <a:srgbClr val="0070C0"/>
                </a:solidFill>
                <a:latin typeface="微软雅黑" panose="020B0503020204020204" pitchFamily="34" charset="-122"/>
                <a:ea typeface="微软雅黑" panose="020B0503020204020204" pitchFamily="34" charset="-122"/>
              </a:rPr>
              <a:t>需求分析的内容</a:t>
            </a:r>
            <a:r>
              <a:rPr lang="zh-CN" altLang="en-US" sz="1800" dirty="0">
                <a:solidFill>
                  <a:srgbClr val="595959"/>
                </a:solidFill>
                <a:latin typeface="微软雅黑" panose="020B0503020204020204" pitchFamily="34" charset="-122"/>
                <a:ea typeface="微软雅黑" panose="020B0503020204020204" pitchFamily="34" charset="-122"/>
              </a:rPr>
              <a:t>。如果</a:t>
            </a:r>
            <a:r>
              <a:rPr lang="zh-CN" altLang="en-US" sz="1800" dirty="0">
                <a:solidFill>
                  <a:srgbClr val="0070C0"/>
                </a:solidFill>
                <a:latin typeface="微软雅黑" panose="020B0503020204020204" pitchFamily="34" charset="-122"/>
                <a:ea typeface="微软雅黑" panose="020B0503020204020204" pitchFamily="34" charset="-122"/>
              </a:rPr>
              <a:t>要得到测试用例</a:t>
            </a:r>
            <a:r>
              <a:rPr lang="zh-CN" altLang="en-US" sz="1800" dirty="0">
                <a:solidFill>
                  <a:srgbClr val="595959"/>
                </a:solidFill>
                <a:latin typeface="微软雅黑" panose="020B0503020204020204" pitchFamily="34" charset="-122"/>
                <a:ea typeface="微软雅黑" panose="020B0503020204020204" pitchFamily="34" charset="-122"/>
              </a:rPr>
              <a:t>，就必须借助于决策表，也就是需要将</a:t>
            </a:r>
            <a:r>
              <a:rPr lang="zh-CN" altLang="en-US" sz="1800" dirty="0">
                <a:solidFill>
                  <a:srgbClr val="0070C0"/>
                </a:solidFill>
                <a:latin typeface="微软雅黑" panose="020B0503020204020204" pitchFamily="34" charset="-122"/>
                <a:ea typeface="微软雅黑" panose="020B0503020204020204" pitchFamily="34" charset="-122"/>
              </a:rPr>
              <a:t>因果图转化成决策表</a:t>
            </a:r>
            <a:r>
              <a:rPr lang="zh-CN" altLang="en-US" sz="1800" dirty="0">
                <a:solidFill>
                  <a:srgbClr val="595959"/>
                </a:solidFill>
                <a:latin typeface="微软雅黑" panose="020B0503020204020204" pitchFamily="34" charset="-122"/>
                <a:ea typeface="微软雅黑" panose="020B0503020204020204" pitchFamily="34" charset="-122"/>
              </a:rPr>
              <a:t>。</a:t>
            </a:r>
          </a:p>
          <a:p>
            <a:pPr indent="457200" algn="just">
              <a:lnSpc>
                <a:spcPct val="150000"/>
              </a:lnSpc>
              <a:buClrTx/>
              <a:buSzTx/>
              <a:buFontTx/>
            </a:pPr>
            <a:r>
              <a:rPr lang="zh-CN" altLang="en-US" sz="1800" dirty="0">
                <a:solidFill>
                  <a:srgbClr val="595959"/>
                </a:solidFill>
                <a:latin typeface="微软雅黑" panose="020B0503020204020204" pitchFamily="34" charset="-122"/>
                <a:ea typeface="微软雅黑" panose="020B0503020204020204" pitchFamily="34" charset="-122"/>
              </a:rPr>
              <a:t>   在因果图中已经分析了“因”和“果”，“因”和“果”直接就可以作为条件桩和动作桩。根据条件桩的取值得到条件项，利用条件项和因果图中原因与结果的关系，可以得到相应的规则，最终生成决策表。</a:t>
            </a:r>
          </a:p>
        </p:txBody>
      </p:sp>
    </p:spTree>
    <p:extLst>
      <p:ext uri="{BB962C8B-B14F-4D97-AF65-F5344CB8AC3E}">
        <p14:creationId xmlns:p14="http://schemas.microsoft.com/office/powerpoint/2010/main" val="46125200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Box 48"/>
          <p:cNvSpPr txBox="1"/>
          <p:nvPr/>
        </p:nvSpPr>
        <p:spPr>
          <a:xfrm>
            <a:off x="3970118" y="3014256"/>
            <a:ext cx="6733001" cy="829945"/>
          </a:xfrm>
          <a:prstGeom prst="rect">
            <a:avLst/>
          </a:prstGeom>
          <a:noFill/>
        </p:spPr>
        <p:txBody>
          <a:bodyPr wrap="square" lIns="91443" tIns="45720" rIns="91443" bIns="45720" rtlCol="0">
            <a:spAutoFit/>
          </a:bodyPr>
          <a:lstStyle/>
          <a:p>
            <a:r>
              <a:rPr lang="zh-CN" altLang="en-US" sz="4800" b="1" dirty="0">
                <a:solidFill>
                  <a:srgbClr val="0070C0"/>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正交实验设计</a:t>
            </a:r>
            <a:r>
              <a:rPr lang="zh-CN" altLang="en-US" sz="4800" b="1" dirty="0">
                <a:solidFill>
                  <a:srgbClr val="595959"/>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法</a:t>
            </a:r>
          </a:p>
        </p:txBody>
      </p:sp>
      <p:sp>
        <p:nvSpPr>
          <p:cNvPr id="2" name="TextBox 48"/>
          <p:cNvSpPr txBox="1"/>
          <p:nvPr/>
        </p:nvSpPr>
        <p:spPr>
          <a:xfrm>
            <a:off x="1626870" y="2809240"/>
            <a:ext cx="1734820" cy="1106805"/>
          </a:xfrm>
          <a:prstGeom prst="rect">
            <a:avLst/>
          </a:prstGeom>
          <a:noFill/>
        </p:spPr>
        <p:txBody>
          <a:bodyPr wrap="square" lIns="91443" tIns="45720" rIns="91443" bIns="45720" rtlCol="0">
            <a:spAutoFit/>
          </a:bodyPr>
          <a:lstStyle/>
          <a:p>
            <a:r>
              <a:rPr lang="en-US" altLang="en-GB" sz="6600" b="1" dirty="0">
                <a:solidFill>
                  <a:srgbClr val="FAFAFA"/>
                </a:solidFill>
                <a:latin typeface="微软雅黑" panose="020B0503020204020204" pitchFamily="34" charset="-122"/>
                <a:ea typeface="微软雅黑" panose="020B0503020204020204" pitchFamily="34" charset="-122"/>
                <a:cs typeface="+mn-ea"/>
                <a:sym typeface="+mn-lt"/>
              </a:rPr>
              <a:t>2.4</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p:cNvPicPr>
            <a:picLocks noChangeAspect="1"/>
          </p:cNvPicPr>
          <p:nvPr/>
        </p:nvPicPr>
        <p:blipFill>
          <a:blip r:embed="rId3"/>
          <a:stretch>
            <a:fillRect/>
          </a:stretch>
        </p:blipFill>
        <p:spPr>
          <a:xfrm>
            <a:off x="944880" y="2215515"/>
            <a:ext cx="2797810" cy="3898265"/>
          </a:xfrm>
          <a:prstGeom prst="rect">
            <a:avLst/>
          </a:prstGeom>
        </p:spPr>
      </p:pic>
      <p:sp>
        <p:nvSpPr>
          <p:cNvPr id="13" name="椭圆形标注 12"/>
          <p:cNvSpPr/>
          <p:nvPr/>
        </p:nvSpPr>
        <p:spPr>
          <a:xfrm>
            <a:off x="2968625" y="156019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p>
        </p:txBody>
      </p:sp>
      <p:sp>
        <p:nvSpPr>
          <p:cNvPr id="14" name="TextBox 35"/>
          <p:cNvSpPr txBox="1">
            <a:spLocks noChangeArrowheads="1"/>
          </p:cNvSpPr>
          <p:nvPr/>
        </p:nvSpPr>
        <p:spPr bwMode="auto">
          <a:xfrm>
            <a:off x="3247390" y="163830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p>
        </p:txBody>
      </p:sp>
      <p:sp>
        <p:nvSpPr>
          <p:cNvPr id="15" name="TextBox 35"/>
          <p:cNvSpPr txBox="1">
            <a:spLocks noChangeArrowheads="1"/>
          </p:cNvSpPr>
          <p:nvPr/>
        </p:nvSpPr>
        <p:spPr bwMode="auto">
          <a:xfrm>
            <a:off x="5935354" y="3213770"/>
            <a:ext cx="5669299" cy="10439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defRPr/>
            </a:pPr>
            <a:r>
              <a:rPr lang="zh-CN" sz="200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掌握正交实验设计</a:t>
            </a:r>
            <a:r>
              <a:rPr sz="200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法</a:t>
            </a:r>
            <a:r>
              <a:rPr lang="zh-CN" sz="200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的概述</a:t>
            </a:r>
            <a:r>
              <a:rPr sz="200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，能够</a:t>
            </a:r>
            <a:r>
              <a:rPr sz="2000">
                <a:solidFill>
                  <a:srgbClr val="0070C0"/>
                </a:solidFill>
                <a:latin typeface="微软雅黑" panose="020B0503020204020204" pitchFamily="34" charset="-122"/>
                <a:ea typeface="微软雅黑" panose="020B0503020204020204" pitchFamily="34" charset="-122"/>
                <a:cs typeface="+mn-ea"/>
                <a:sym typeface="字魂58号-创中黑" panose="00000500000000000000" pitchFamily="2" charset="-122"/>
              </a:rPr>
              <a:t>通过</a:t>
            </a:r>
            <a:r>
              <a:rPr sz="2000">
                <a:solidFill>
                  <a:srgbClr val="0070C0"/>
                </a:solidFill>
                <a:latin typeface="微软雅黑" panose="020B0503020204020204" pitchFamily="34" charset="-122"/>
                <a:ea typeface="微软雅黑" panose="020B0503020204020204" pitchFamily="34" charset="-122"/>
                <a:cs typeface="+mn-ea"/>
                <a:sym typeface="+mn-lt"/>
              </a:rPr>
              <a:t>正交实验设计</a:t>
            </a:r>
            <a:r>
              <a:rPr sz="2000">
                <a:solidFill>
                  <a:srgbClr val="0070C0"/>
                </a:solidFill>
                <a:latin typeface="微软雅黑" panose="020B0503020204020204" pitchFamily="34" charset="-122"/>
                <a:ea typeface="微软雅黑" panose="020B0503020204020204" pitchFamily="34" charset="-122"/>
                <a:cs typeface="+mn-ea"/>
                <a:sym typeface="字魂58号-创中黑" panose="00000500000000000000" pitchFamily="2" charset="-122"/>
              </a:rPr>
              <a:t>法设计测试用例</a:t>
            </a:r>
          </a:p>
        </p:txBody>
      </p:sp>
      <p:grpSp>
        <p:nvGrpSpPr>
          <p:cNvPr id="19" name="组合 18"/>
          <p:cNvGrpSpPr/>
          <p:nvPr/>
        </p:nvGrpSpPr>
        <p:grpSpPr>
          <a:xfrm>
            <a:off x="5452110" y="3540125"/>
            <a:ext cx="405130" cy="405130"/>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2.4.1	正交实验设计法概述</a:t>
            </a: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35"/>
          <p:cNvSpPr txBox="1">
            <a:spLocks noChangeArrowheads="1"/>
          </p:cNvSpPr>
          <p:nvPr/>
        </p:nvSpPr>
        <p:spPr bwMode="auto">
          <a:xfrm>
            <a:off x="4871085" y="1559560"/>
            <a:ext cx="6289675" cy="3860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indent="457200" algn="just">
              <a:lnSpc>
                <a:spcPct val="150000"/>
              </a:lnSpc>
              <a:buClrTx/>
              <a:buSzTx/>
              <a:buFontTx/>
            </a:pPr>
            <a:r>
              <a:rPr lang="zh-CN" altLang="en-US" sz="1800" dirty="0">
                <a:solidFill>
                  <a:srgbClr val="0070C0"/>
                </a:solidFill>
                <a:latin typeface="微软雅黑" panose="020B0503020204020204" pitchFamily="34" charset="-122"/>
                <a:ea typeface="微软雅黑" panose="020B0503020204020204" pitchFamily="34" charset="-122"/>
              </a:rPr>
              <a:t>正交实验设计法</a:t>
            </a:r>
            <a:r>
              <a:rPr lang="zh-CN" altLang="en-US" sz="1800" dirty="0">
                <a:solidFill>
                  <a:srgbClr val="595959"/>
                </a:solidFill>
                <a:latin typeface="微软雅黑" panose="020B0503020204020204" pitchFamily="34" charset="-122"/>
                <a:ea typeface="微软雅黑" panose="020B0503020204020204" pitchFamily="34" charset="-122"/>
              </a:rPr>
              <a:t>（Orthogonal experimental design）是指从</a:t>
            </a:r>
            <a:r>
              <a:rPr lang="zh-CN" altLang="en-US" sz="1800" dirty="0">
                <a:solidFill>
                  <a:srgbClr val="0070C0"/>
                </a:solidFill>
                <a:latin typeface="微软雅黑" panose="020B0503020204020204" pitchFamily="34" charset="-122"/>
                <a:ea typeface="微软雅黑" panose="020B0503020204020204" pitchFamily="34" charset="-122"/>
              </a:rPr>
              <a:t>大量的实验点中挑选出适量的</a:t>
            </a:r>
            <a:r>
              <a:rPr lang="zh-CN" altLang="en-US" sz="1800" dirty="0">
                <a:solidFill>
                  <a:srgbClr val="595959"/>
                </a:solidFill>
                <a:latin typeface="微软雅黑" panose="020B0503020204020204" pitchFamily="34" charset="-122"/>
                <a:ea typeface="微软雅黑" panose="020B0503020204020204" pitchFamily="34" charset="-122"/>
              </a:rPr>
              <a:t>、</a:t>
            </a:r>
            <a:r>
              <a:rPr lang="zh-CN" altLang="en-US" sz="1800" dirty="0">
                <a:solidFill>
                  <a:srgbClr val="0070C0"/>
                </a:solidFill>
                <a:latin typeface="微软雅黑" panose="020B0503020204020204" pitchFamily="34" charset="-122"/>
                <a:ea typeface="微软雅黑" panose="020B0503020204020204" pitchFamily="34" charset="-122"/>
              </a:rPr>
              <a:t>有代表性的点</a:t>
            </a:r>
            <a:r>
              <a:rPr lang="zh-CN" altLang="en-US" sz="1800" dirty="0">
                <a:solidFill>
                  <a:srgbClr val="595959"/>
                </a:solidFill>
                <a:latin typeface="微软雅黑" panose="020B0503020204020204" pitchFamily="34" charset="-122"/>
                <a:ea typeface="微软雅黑" panose="020B0503020204020204" pitchFamily="34" charset="-122"/>
              </a:rPr>
              <a:t>，依据G</a:t>
            </a:r>
            <a:r>
              <a:rPr lang="en-US" altLang="zh-CN" sz="1800" dirty="0">
                <a:solidFill>
                  <a:srgbClr val="595959"/>
                </a:solidFill>
                <a:latin typeface="微软雅黑" panose="020B0503020204020204" pitchFamily="34" charset="-122"/>
                <a:ea typeface="微软雅黑" panose="020B0503020204020204" pitchFamily="34" charset="-122"/>
              </a:rPr>
              <a:t>a</a:t>
            </a:r>
            <a:r>
              <a:rPr lang="zh-CN" altLang="en-US" sz="1800" dirty="0">
                <a:solidFill>
                  <a:srgbClr val="595959"/>
                </a:solidFill>
                <a:latin typeface="微软雅黑" panose="020B0503020204020204" pitchFamily="34" charset="-122"/>
                <a:ea typeface="微软雅黑" panose="020B0503020204020204" pitchFamily="34" charset="-122"/>
              </a:rPr>
              <a:t>lois理论导出“正交表”，从而合理地安排实验的一种</a:t>
            </a:r>
            <a:r>
              <a:rPr lang="zh-CN" altLang="en-US" sz="1800" dirty="0">
                <a:solidFill>
                  <a:srgbClr val="0070C0"/>
                </a:solidFill>
                <a:latin typeface="微软雅黑" panose="020B0503020204020204" pitchFamily="34" charset="-122"/>
                <a:ea typeface="微软雅黑" panose="020B0503020204020204" pitchFamily="34" charset="-122"/>
              </a:rPr>
              <a:t>实验设计方法</a:t>
            </a:r>
            <a:r>
              <a:rPr lang="zh-CN" altLang="en-US" sz="1800" dirty="0">
                <a:solidFill>
                  <a:srgbClr val="595959"/>
                </a:solidFill>
                <a:latin typeface="微软雅黑" panose="020B0503020204020204" pitchFamily="34" charset="-122"/>
                <a:ea typeface="微软雅黑" panose="020B0503020204020204" pitchFamily="34" charset="-122"/>
              </a:rPr>
              <a:t>。正交实验设计法是研究多因素、多水平问题的一种实验方法，在上生物课时，经常会用这种方法研究植物的生长状况。一株植物的生长状况会受到多种因素的影响，包括种子质量等内部因素的影响，还包括阳光、空气、水分、土壤等外部因素的影响。在软件测试中，如果</a:t>
            </a:r>
            <a:r>
              <a:rPr lang="zh-CN" altLang="en-US" sz="1800" dirty="0">
                <a:solidFill>
                  <a:srgbClr val="0070C0"/>
                </a:solidFill>
                <a:latin typeface="微软雅黑" panose="020B0503020204020204" pitchFamily="34" charset="-122"/>
                <a:ea typeface="微软雅黑" panose="020B0503020204020204" pitchFamily="34" charset="-122"/>
              </a:rPr>
              <a:t>软件比较复杂</a:t>
            </a:r>
            <a:r>
              <a:rPr lang="zh-CN" altLang="en-US" sz="1800" dirty="0">
                <a:solidFill>
                  <a:srgbClr val="595959"/>
                </a:solidFill>
                <a:latin typeface="微软雅黑" panose="020B0503020204020204" pitchFamily="34" charset="-122"/>
                <a:ea typeface="微软雅黑" panose="020B0503020204020204" pitchFamily="34" charset="-122"/>
              </a:rPr>
              <a:t>，也</a:t>
            </a:r>
            <a:r>
              <a:rPr lang="zh-CN" altLang="en-US" sz="1800" dirty="0">
                <a:solidFill>
                  <a:srgbClr val="0070C0"/>
                </a:solidFill>
                <a:latin typeface="微软雅黑" panose="020B0503020204020204" pitchFamily="34" charset="-122"/>
                <a:ea typeface="微软雅黑" panose="020B0503020204020204" pitchFamily="34" charset="-122"/>
              </a:rPr>
              <a:t>可以利用正交实验法设计测试用例对软件进行测试</a:t>
            </a:r>
            <a:r>
              <a:rPr lang="zh-CN" altLang="en-US" sz="1800" dirty="0">
                <a:solidFill>
                  <a:srgbClr val="595959"/>
                </a:solidFill>
                <a:latin typeface="微软雅黑" panose="020B0503020204020204" pitchFamily="34" charset="-122"/>
                <a:ea typeface="微软雅黑" panose="020B0503020204020204" pitchFamily="34" charset="-122"/>
              </a:rPr>
              <a:t>。</a:t>
            </a:r>
          </a:p>
        </p:txBody>
      </p:sp>
      <p:pic>
        <p:nvPicPr>
          <p:cNvPr id="33" name="图片 32"/>
          <p:cNvPicPr>
            <a:picLocks noChangeAspect="1"/>
          </p:cNvPicPr>
          <p:nvPr/>
        </p:nvPicPr>
        <p:blipFill>
          <a:blip r:embed="rId3"/>
          <a:stretch>
            <a:fillRect/>
          </a:stretch>
        </p:blipFill>
        <p:spPr>
          <a:xfrm>
            <a:off x="839386" y="1413456"/>
            <a:ext cx="3715858" cy="4006159"/>
          </a:xfrm>
          <a:prstGeom prst="rect">
            <a:avLst/>
          </a:prstGeom>
        </p:spPr>
      </p:pic>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2.4.1	正交实验设计法概述</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35"/>
          <p:cNvSpPr txBox="1">
            <a:spLocks noChangeArrowheads="1"/>
          </p:cNvSpPr>
          <p:nvPr/>
        </p:nvSpPr>
        <p:spPr bwMode="auto">
          <a:xfrm>
            <a:off x="1271270" y="909955"/>
            <a:ext cx="10161905" cy="5359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buClrTx/>
              <a:buSzTx/>
              <a:buFontTx/>
            </a:pPr>
            <a:r>
              <a:rPr lang="zh-CN" altLang="en-US" sz="1800" dirty="0">
                <a:solidFill>
                  <a:srgbClr val="0070C0"/>
                </a:solidFill>
                <a:latin typeface="微软雅黑" panose="020B0503020204020204" pitchFamily="34" charset="-122"/>
                <a:ea typeface="微软雅黑" panose="020B0503020204020204" pitchFamily="34" charset="-122"/>
              </a:rPr>
              <a:t>正交实验设计法包含3个关键因素</a:t>
            </a:r>
            <a:r>
              <a:rPr lang="zh-CN" altLang="en-US" sz="1800" dirty="0">
                <a:solidFill>
                  <a:srgbClr val="595959"/>
                </a:solidFill>
                <a:latin typeface="微软雅黑" panose="020B0503020204020204" pitchFamily="34" charset="-122"/>
                <a:ea typeface="微软雅黑" panose="020B0503020204020204" pitchFamily="34" charset="-122"/>
              </a:rPr>
              <a:t>，</a:t>
            </a:r>
            <a:r>
              <a:rPr lang="zh-CN" altLang="en-US" sz="1800">
                <a:solidFill>
                  <a:srgbClr val="595959"/>
                </a:solidFill>
                <a:latin typeface="微软雅黑" panose="020B0503020204020204" pitchFamily="34" charset="-122"/>
                <a:ea typeface="微软雅黑" panose="020B0503020204020204" pitchFamily="34" charset="-122"/>
              </a:rPr>
              <a:t>具体如下。</a:t>
            </a:r>
            <a:endParaRPr lang="zh-CN" altLang="en-US" sz="1800" dirty="0">
              <a:solidFill>
                <a:srgbClr val="595959"/>
              </a:solidFill>
              <a:latin typeface="微软雅黑" panose="020B0503020204020204" pitchFamily="34" charset="-122"/>
              <a:ea typeface="微软雅黑" panose="020B0503020204020204" pitchFamily="34" charset="-122"/>
            </a:endParaRPr>
          </a:p>
        </p:txBody>
      </p:sp>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2.4.1	正交实验设计法概述</a:t>
            </a:r>
          </a:p>
        </p:txBody>
      </p:sp>
      <p:sp>
        <p:nvSpPr>
          <p:cNvPr id="20" name="MH_SubTitle_1"/>
          <p:cNvSpPr/>
          <p:nvPr>
            <p:custDataLst>
              <p:tags r:id="rId1"/>
            </p:custDataLst>
          </p:nvPr>
        </p:nvSpPr>
        <p:spPr>
          <a:xfrm>
            <a:off x="2514620" y="1891742"/>
            <a:ext cx="2600325" cy="511175"/>
          </a:xfrm>
          <a:custGeom>
            <a:avLst/>
            <a:gdLst>
              <a:gd name="connsiteX0" fmla="*/ 0 w 2286028"/>
              <a:gd name="connsiteY0" fmla="*/ 0 h 449944"/>
              <a:gd name="connsiteX1" fmla="*/ 2061028 w 2286028"/>
              <a:gd name="connsiteY1" fmla="*/ 0 h 449944"/>
              <a:gd name="connsiteX2" fmla="*/ 2286028 w 2286028"/>
              <a:gd name="connsiteY2" fmla="*/ 224972 h 449944"/>
              <a:gd name="connsiteX3" fmla="*/ 2061028 w 2286028"/>
              <a:gd name="connsiteY3" fmla="*/ 449944 h 449944"/>
              <a:gd name="connsiteX4" fmla="*/ 2061018 w 2286028"/>
              <a:gd name="connsiteY4" fmla="*/ 449943 h 449944"/>
              <a:gd name="connsiteX5" fmla="*/ 0 w 2286028"/>
              <a:gd name="connsiteY5" fmla="*/ 449943 h 449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86028" h="449944">
                <a:moveTo>
                  <a:pt x="0" y="0"/>
                </a:moveTo>
                <a:lnTo>
                  <a:pt x="2061028" y="0"/>
                </a:lnTo>
                <a:cubicBezTo>
                  <a:pt x="2185292" y="0"/>
                  <a:pt x="2286028" y="100723"/>
                  <a:pt x="2286028" y="224972"/>
                </a:cubicBezTo>
                <a:cubicBezTo>
                  <a:pt x="2286028" y="349221"/>
                  <a:pt x="2185292" y="449944"/>
                  <a:pt x="2061028" y="449944"/>
                </a:cubicBezTo>
                <a:lnTo>
                  <a:pt x="2061018" y="449943"/>
                </a:lnTo>
                <a:lnTo>
                  <a:pt x="0" y="449943"/>
                </a:lnTo>
                <a:close/>
              </a:path>
            </a:pathLst>
          </a:cu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rm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rPr>
              <a:t>指标</a:t>
            </a:r>
          </a:p>
        </p:txBody>
      </p:sp>
      <p:sp>
        <p:nvSpPr>
          <p:cNvPr id="21" name="MH_Other_1"/>
          <p:cNvSpPr/>
          <p:nvPr>
            <p:custDataLst>
              <p:tags r:id="rId2"/>
            </p:custDataLst>
          </p:nvPr>
        </p:nvSpPr>
        <p:spPr>
          <a:xfrm>
            <a:off x="4633931" y="1932064"/>
            <a:ext cx="431800" cy="431800"/>
          </a:xfrm>
          <a:custGeom>
            <a:avLst/>
            <a:gdLst>
              <a:gd name="connsiteX0" fmla="*/ 162177 w 379914"/>
              <a:gd name="connsiteY0" fmla="*/ 97631 h 379866"/>
              <a:gd name="connsiteX1" fmla="*/ 219804 w 379914"/>
              <a:gd name="connsiteY1" fmla="*/ 189932 h 379866"/>
              <a:gd name="connsiteX2" fmla="*/ 162177 w 379914"/>
              <a:gd name="connsiteY2" fmla="*/ 282233 h 379866"/>
              <a:gd name="connsiteX3" fmla="*/ 198210 w 379914"/>
              <a:gd name="connsiteY3" fmla="*/ 282233 h 379866"/>
              <a:gd name="connsiteX4" fmla="*/ 255837 w 379914"/>
              <a:gd name="connsiteY4" fmla="*/ 189932 h 379866"/>
              <a:gd name="connsiteX5" fmla="*/ 198210 w 379914"/>
              <a:gd name="connsiteY5" fmla="*/ 97631 h 379866"/>
              <a:gd name="connsiteX6" fmla="*/ 189957 w 379914"/>
              <a:gd name="connsiteY6" fmla="*/ 0 h 379866"/>
              <a:gd name="connsiteX7" fmla="*/ 379914 w 379914"/>
              <a:gd name="connsiteY7" fmla="*/ 189933 h 379866"/>
              <a:gd name="connsiteX8" fmla="*/ 189957 w 379914"/>
              <a:gd name="connsiteY8" fmla="*/ 379866 h 379866"/>
              <a:gd name="connsiteX9" fmla="*/ 0 w 379914"/>
              <a:gd name="connsiteY9" fmla="*/ 189933 h 379866"/>
              <a:gd name="connsiteX10" fmla="*/ 189957 w 379914"/>
              <a:gd name="connsiteY10" fmla="*/ 0 h 37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9914" h="379866">
                <a:moveTo>
                  <a:pt x="162177" y="97631"/>
                </a:moveTo>
                <a:lnTo>
                  <a:pt x="219804" y="189932"/>
                </a:lnTo>
                <a:lnTo>
                  <a:pt x="162177" y="282233"/>
                </a:lnTo>
                <a:lnTo>
                  <a:pt x="198210" y="282233"/>
                </a:lnTo>
                <a:lnTo>
                  <a:pt x="255837" y="189932"/>
                </a:lnTo>
                <a:lnTo>
                  <a:pt x="198210" y="97631"/>
                </a:lnTo>
                <a:close/>
                <a:moveTo>
                  <a:pt x="189957" y="0"/>
                </a:moveTo>
                <a:cubicBezTo>
                  <a:pt x="294867" y="0"/>
                  <a:pt x="379914" y="85036"/>
                  <a:pt x="379914" y="189933"/>
                </a:cubicBezTo>
                <a:cubicBezTo>
                  <a:pt x="379914" y="294830"/>
                  <a:pt x="294867" y="379866"/>
                  <a:pt x="189957" y="379866"/>
                </a:cubicBezTo>
                <a:cubicBezTo>
                  <a:pt x="85047" y="379866"/>
                  <a:pt x="0" y="294830"/>
                  <a:pt x="0" y="189933"/>
                </a:cubicBezTo>
                <a:cubicBezTo>
                  <a:pt x="0" y="85036"/>
                  <a:pt x="85047" y="0"/>
                  <a:pt x="189957" y="0"/>
                </a:cubicBezTo>
                <a:close/>
              </a:path>
            </a:pathLst>
          </a:custGeom>
          <a:solidFill>
            <a:srgbClr val="FFFF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3600" b="0" i="0" u="none" strike="noStrike" kern="1200" cap="none" spc="0" normalizeH="0" baseline="0" noProof="0">
              <a:ln>
                <a:noFill/>
              </a:ln>
              <a:solidFill>
                <a:srgbClr val="84CBC5"/>
              </a:solidFill>
              <a:effectLst/>
              <a:uLnTx/>
              <a:uFillTx/>
              <a:latin typeface="微软雅黑" panose="020B0503020204020204" pitchFamily="34" charset="-122"/>
              <a:ea typeface="微软雅黑" panose="020B0503020204020204" pitchFamily="34" charset="-122"/>
              <a:cs typeface="+mn-lt"/>
            </a:endParaRPr>
          </a:p>
        </p:txBody>
      </p:sp>
      <p:sp>
        <p:nvSpPr>
          <p:cNvPr id="22" name="MH_Text_1"/>
          <p:cNvSpPr>
            <a:spLocks noChangeArrowheads="1"/>
          </p:cNvSpPr>
          <p:nvPr>
            <p:custDataLst>
              <p:tags r:id="rId3"/>
            </p:custDataLst>
          </p:nvPr>
        </p:nvSpPr>
        <p:spPr bwMode="auto">
          <a:xfrm>
            <a:off x="5206456" y="1819281"/>
            <a:ext cx="2976027" cy="7096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marR="0" lvl="0" indent="0" algn="l" defTabSz="914400" rtl="0" fontAlgn="auto">
              <a:lnSpc>
                <a:spcPts val="1800"/>
              </a:lnSpc>
              <a:spcBef>
                <a:spcPts val="0"/>
              </a:spcBef>
              <a:spcAft>
                <a:spcPts val="0"/>
              </a:spcAft>
              <a:buClrTx/>
              <a:buSzTx/>
              <a:buFontTx/>
              <a:buNone/>
              <a:defRPr/>
            </a:pPr>
            <a:r>
              <a:rPr lang="zh-CN" altLang="en-US" sz="1600" dirty="0">
                <a:solidFill>
                  <a:srgbClr val="0070C0"/>
                </a:solidFill>
                <a:latin typeface="微软雅黑" panose="020B0503020204020204" pitchFamily="34" charset="-122"/>
                <a:ea typeface="微软雅黑" panose="020B0503020204020204" pitchFamily="34" charset="-122"/>
                <a:sym typeface="+mn-ea"/>
              </a:rPr>
              <a:t>判断</a:t>
            </a:r>
            <a:r>
              <a:rPr lang="zh-CN" altLang="en-US" sz="1600" dirty="0">
                <a:solidFill>
                  <a:srgbClr val="595959"/>
                </a:solidFill>
                <a:latin typeface="微软雅黑" panose="020B0503020204020204" pitchFamily="34" charset="-122"/>
                <a:ea typeface="微软雅黑" panose="020B0503020204020204" pitchFamily="34" charset="-122"/>
                <a:sym typeface="+mn-ea"/>
              </a:rPr>
              <a:t>实验</a:t>
            </a:r>
            <a:r>
              <a:rPr lang="zh-CN" altLang="en-US" sz="1600" dirty="0">
                <a:solidFill>
                  <a:srgbClr val="0070C0"/>
                </a:solidFill>
                <a:latin typeface="微软雅黑" panose="020B0503020204020204" pitchFamily="34" charset="-122"/>
                <a:ea typeface="微软雅黑" panose="020B0503020204020204" pitchFamily="34" charset="-122"/>
                <a:sym typeface="+mn-ea"/>
              </a:rPr>
              <a:t>结果优劣的标准</a:t>
            </a:r>
            <a:r>
              <a:rPr lang="zh-CN" altLang="en-US" sz="1600" dirty="0">
                <a:solidFill>
                  <a:srgbClr val="595959"/>
                </a:solidFill>
                <a:latin typeface="微软雅黑" panose="020B0503020204020204" pitchFamily="34" charset="-122"/>
                <a:ea typeface="微软雅黑" panose="020B0503020204020204" pitchFamily="34" charset="-122"/>
                <a:sym typeface="+mn-ea"/>
              </a:rPr>
              <a:t>。</a:t>
            </a:r>
          </a:p>
        </p:txBody>
      </p:sp>
      <p:sp>
        <p:nvSpPr>
          <p:cNvPr id="23" name="MH_SubTitle_2"/>
          <p:cNvSpPr/>
          <p:nvPr>
            <p:custDataLst>
              <p:tags r:id="rId4"/>
            </p:custDataLst>
          </p:nvPr>
        </p:nvSpPr>
        <p:spPr>
          <a:xfrm>
            <a:off x="2514620" y="3097288"/>
            <a:ext cx="2600325" cy="511175"/>
          </a:xfrm>
          <a:custGeom>
            <a:avLst/>
            <a:gdLst>
              <a:gd name="connsiteX0" fmla="*/ 0 w 2286028"/>
              <a:gd name="connsiteY0" fmla="*/ 0 h 449944"/>
              <a:gd name="connsiteX1" fmla="*/ 2061028 w 2286028"/>
              <a:gd name="connsiteY1" fmla="*/ 0 h 449944"/>
              <a:gd name="connsiteX2" fmla="*/ 2286028 w 2286028"/>
              <a:gd name="connsiteY2" fmla="*/ 224972 h 449944"/>
              <a:gd name="connsiteX3" fmla="*/ 2061028 w 2286028"/>
              <a:gd name="connsiteY3" fmla="*/ 449944 h 449944"/>
              <a:gd name="connsiteX4" fmla="*/ 2061018 w 2286028"/>
              <a:gd name="connsiteY4" fmla="*/ 449943 h 449944"/>
              <a:gd name="connsiteX5" fmla="*/ 0 w 2286028"/>
              <a:gd name="connsiteY5" fmla="*/ 449943 h 449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86028" h="449944">
                <a:moveTo>
                  <a:pt x="0" y="0"/>
                </a:moveTo>
                <a:lnTo>
                  <a:pt x="2061028" y="0"/>
                </a:lnTo>
                <a:cubicBezTo>
                  <a:pt x="2185292" y="0"/>
                  <a:pt x="2286028" y="100723"/>
                  <a:pt x="2286028" y="224972"/>
                </a:cubicBezTo>
                <a:cubicBezTo>
                  <a:pt x="2286028" y="349221"/>
                  <a:pt x="2185292" y="449944"/>
                  <a:pt x="2061028" y="449944"/>
                </a:cubicBezTo>
                <a:lnTo>
                  <a:pt x="2061018" y="449943"/>
                </a:lnTo>
                <a:lnTo>
                  <a:pt x="0" y="449943"/>
                </a:lnTo>
                <a:close/>
              </a:path>
            </a:pathLst>
          </a:cu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rmAutofit/>
          </a:bodyPr>
          <a:lstStyle/>
          <a:p>
            <a:pPr lvl="0" algn="ctr">
              <a:spcBef>
                <a:spcPts val="0"/>
              </a:spcBef>
              <a:spcAft>
                <a:spcPts val="0"/>
              </a:spcAft>
              <a:buClrTx/>
              <a:buSzTx/>
              <a:buFontTx/>
              <a:defRPr/>
            </a:pPr>
            <a:r>
              <a:rPr lang="zh-CN" altLang="en-US" sz="2000" noProof="0" dirty="0">
                <a:ln>
                  <a:noFill/>
                </a:ln>
                <a:solidFill>
                  <a:srgbClr val="FFFFFF"/>
                </a:solidFill>
                <a:effectLst/>
                <a:uLnTx/>
                <a:uFillTx/>
                <a:latin typeface="微软雅黑" panose="020B0503020204020204" pitchFamily="34" charset="-122"/>
                <a:ea typeface="微软雅黑" panose="020B0503020204020204" pitchFamily="34" charset="-122"/>
                <a:sym typeface="+mn-ea"/>
              </a:rPr>
              <a:t>因子</a:t>
            </a:r>
          </a:p>
        </p:txBody>
      </p:sp>
      <p:sp>
        <p:nvSpPr>
          <p:cNvPr id="24" name="MH_Other_2"/>
          <p:cNvSpPr/>
          <p:nvPr>
            <p:custDataLst>
              <p:tags r:id="rId5"/>
            </p:custDataLst>
          </p:nvPr>
        </p:nvSpPr>
        <p:spPr>
          <a:xfrm>
            <a:off x="4633931" y="3136974"/>
            <a:ext cx="431800" cy="431800"/>
          </a:xfrm>
          <a:custGeom>
            <a:avLst/>
            <a:gdLst>
              <a:gd name="connsiteX0" fmla="*/ 162177 w 379914"/>
              <a:gd name="connsiteY0" fmla="*/ 97631 h 379866"/>
              <a:gd name="connsiteX1" fmla="*/ 219804 w 379914"/>
              <a:gd name="connsiteY1" fmla="*/ 189932 h 379866"/>
              <a:gd name="connsiteX2" fmla="*/ 162177 w 379914"/>
              <a:gd name="connsiteY2" fmla="*/ 282233 h 379866"/>
              <a:gd name="connsiteX3" fmla="*/ 198210 w 379914"/>
              <a:gd name="connsiteY3" fmla="*/ 282233 h 379866"/>
              <a:gd name="connsiteX4" fmla="*/ 255837 w 379914"/>
              <a:gd name="connsiteY4" fmla="*/ 189932 h 379866"/>
              <a:gd name="connsiteX5" fmla="*/ 198210 w 379914"/>
              <a:gd name="connsiteY5" fmla="*/ 97631 h 379866"/>
              <a:gd name="connsiteX6" fmla="*/ 189957 w 379914"/>
              <a:gd name="connsiteY6" fmla="*/ 0 h 379866"/>
              <a:gd name="connsiteX7" fmla="*/ 379914 w 379914"/>
              <a:gd name="connsiteY7" fmla="*/ 189933 h 379866"/>
              <a:gd name="connsiteX8" fmla="*/ 189957 w 379914"/>
              <a:gd name="connsiteY8" fmla="*/ 379866 h 379866"/>
              <a:gd name="connsiteX9" fmla="*/ 0 w 379914"/>
              <a:gd name="connsiteY9" fmla="*/ 189933 h 379866"/>
              <a:gd name="connsiteX10" fmla="*/ 189957 w 379914"/>
              <a:gd name="connsiteY10" fmla="*/ 0 h 37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9914" h="379866">
                <a:moveTo>
                  <a:pt x="162177" y="97631"/>
                </a:moveTo>
                <a:lnTo>
                  <a:pt x="219804" y="189932"/>
                </a:lnTo>
                <a:lnTo>
                  <a:pt x="162177" y="282233"/>
                </a:lnTo>
                <a:lnTo>
                  <a:pt x="198210" y="282233"/>
                </a:lnTo>
                <a:lnTo>
                  <a:pt x="255837" y="189932"/>
                </a:lnTo>
                <a:lnTo>
                  <a:pt x="198210" y="97631"/>
                </a:lnTo>
                <a:close/>
                <a:moveTo>
                  <a:pt x="189957" y="0"/>
                </a:moveTo>
                <a:cubicBezTo>
                  <a:pt x="294867" y="0"/>
                  <a:pt x="379914" y="85036"/>
                  <a:pt x="379914" y="189933"/>
                </a:cubicBezTo>
                <a:cubicBezTo>
                  <a:pt x="379914" y="294830"/>
                  <a:pt x="294867" y="379866"/>
                  <a:pt x="189957" y="379866"/>
                </a:cubicBezTo>
                <a:cubicBezTo>
                  <a:pt x="85047" y="379866"/>
                  <a:pt x="0" y="294830"/>
                  <a:pt x="0" y="189933"/>
                </a:cubicBezTo>
                <a:cubicBezTo>
                  <a:pt x="0" y="85036"/>
                  <a:pt x="85047" y="0"/>
                  <a:pt x="189957" y="0"/>
                </a:cubicBezTo>
                <a:close/>
              </a:path>
            </a:pathLst>
          </a:custGeom>
          <a:solidFill>
            <a:srgbClr val="FFFF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3600" b="0" i="0" u="none" strike="noStrike" kern="1200" cap="none" spc="0" normalizeH="0" baseline="0" noProof="0">
              <a:ln>
                <a:noFill/>
              </a:ln>
              <a:solidFill>
                <a:srgbClr val="84CBC5"/>
              </a:solidFill>
              <a:effectLst/>
              <a:uLnTx/>
              <a:uFillTx/>
              <a:latin typeface="微软雅黑" panose="020B0503020204020204" pitchFamily="34" charset="-122"/>
              <a:ea typeface="微软雅黑" panose="020B0503020204020204" pitchFamily="34" charset="-122"/>
              <a:cs typeface="+mn-lt"/>
            </a:endParaRPr>
          </a:p>
        </p:txBody>
      </p:sp>
      <p:sp>
        <p:nvSpPr>
          <p:cNvPr id="25" name="MH_Text_2"/>
          <p:cNvSpPr>
            <a:spLocks noChangeArrowheads="1"/>
          </p:cNvSpPr>
          <p:nvPr>
            <p:custDataLst>
              <p:tags r:id="rId6"/>
            </p:custDataLst>
          </p:nvPr>
        </p:nvSpPr>
        <p:spPr bwMode="auto">
          <a:xfrm>
            <a:off x="5206456" y="3024192"/>
            <a:ext cx="2904978" cy="709613"/>
          </a:xfrm>
          <a:prstGeom prst="rect">
            <a:avLst/>
          </a:prstGeom>
          <a:noFill/>
          <a:ln>
            <a:noFill/>
          </a:ln>
          <a:extLst>
            <a:ext uri="{909E8E84-426E-40DD-AFC4-6F175D3DCCD1}">
              <a14:hiddenFill xmlns:a14="http://schemas.microsoft.com/office/drawing/2010/main">
                <a:solidFill>
                  <a:srgbClr val="FFFFFF"/>
                </a:solidFill>
              </a14:hiddenFill>
            </a:ext>
          </a:extLst>
        </p:spPr>
        <p:txBody>
          <a:bodyPr anchor="ctr">
            <a:no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lvl="0" algn="l">
              <a:lnSpc>
                <a:spcPts val="1800"/>
              </a:lnSpc>
              <a:spcBef>
                <a:spcPts val="0"/>
              </a:spcBef>
              <a:spcAft>
                <a:spcPts val="0"/>
              </a:spcAft>
              <a:buClrTx/>
              <a:buSzTx/>
              <a:buFontTx/>
              <a:defRPr/>
            </a:pPr>
            <a:r>
              <a:rPr lang="zh-CN" altLang="en-US" sz="1600">
                <a:solidFill>
                  <a:srgbClr val="595959"/>
                </a:solidFill>
                <a:latin typeface="微软雅黑" panose="020B0503020204020204" pitchFamily="34" charset="-122"/>
                <a:ea typeface="微软雅黑" panose="020B0503020204020204" pitchFamily="34" charset="-122"/>
                <a:sym typeface="+mn-ea"/>
              </a:rPr>
              <a:t>也</a:t>
            </a:r>
            <a:r>
              <a:rPr lang="zh-CN" altLang="en-US" sz="1600" dirty="0">
                <a:solidFill>
                  <a:srgbClr val="595959"/>
                </a:solidFill>
                <a:latin typeface="微软雅黑" panose="020B0503020204020204" pitchFamily="34" charset="-122"/>
                <a:ea typeface="微软雅黑" panose="020B0503020204020204" pitchFamily="34" charset="-122"/>
                <a:sym typeface="+mn-ea"/>
              </a:rPr>
              <a:t>称为</a:t>
            </a:r>
            <a:r>
              <a:rPr lang="zh-CN" altLang="en-US" sz="1600">
                <a:solidFill>
                  <a:srgbClr val="595959"/>
                </a:solidFill>
                <a:latin typeface="微软雅黑" panose="020B0503020204020204" pitchFamily="34" charset="-122"/>
                <a:ea typeface="微软雅黑" panose="020B0503020204020204" pitchFamily="34" charset="-122"/>
                <a:sym typeface="+mn-ea"/>
              </a:rPr>
              <a:t>因素，它是</a:t>
            </a:r>
            <a:r>
              <a:rPr lang="zh-CN" altLang="en-US" sz="1600" dirty="0">
                <a:solidFill>
                  <a:srgbClr val="595959"/>
                </a:solidFill>
                <a:latin typeface="微软雅黑" panose="020B0503020204020204" pitchFamily="34" charset="-122"/>
                <a:ea typeface="微软雅黑" panose="020B0503020204020204" pitchFamily="34" charset="-122"/>
                <a:sym typeface="+mn-ea"/>
              </a:rPr>
              <a:t>指所有</a:t>
            </a:r>
            <a:r>
              <a:rPr lang="zh-CN" altLang="en-US" sz="1600" dirty="0">
                <a:solidFill>
                  <a:srgbClr val="0070C0"/>
                </a:solidFill>
                <a:latin typeface="微软雅黑" panose="020B0503020204020204" pitchFamily="34" charset="-122"/>
                <a:ea typeface="微软雅黑" panose="020B0503020204020204" pitchFamily="34" charset="-122"/>
                <a:sym typeface="+mn-ea"/>
              </a:rPr>
              <a:t>影响实验指标的条件</a:t>
            </a:r>
            <a:r>
              <a:rPr lang="zh-CN" altLang="en-US" sz="1600" dirty="0">
                <a:solidFill>
                  <a:srgbClr val="595959"/>
                </a:solidFill>
                <a:latin typeface="微软雅黑" panose="020B0503020204020204" pitchFamily="34" charset="-122"/>
                <a:ea typeface="微软雅黑" panose="020B0503020204020204" pitchFamily="34" charset="-122"/>
                <a:sym typeface="+mn-ea"/>
              </a:rPr>
              <a:t>。</a:t>
            </a:r>
          </a:p>
        </p:txBody>
      </p:sp>
      <p:sp>
        <p:nvSpPr>
          <p:cNvPr id="26" name="MH_SubTitle_3"/>
          <p:cNvSpPr/>
          <p:nvPr>
            <p:custDataLst>
              <p:tags r:id="rId7"/>
            </p:custDataLst>
          </p:nvPr>
        </p:nvSpPr>
        <p:spPr>
          <a:xfrm>
            <a:off x="2514620" y="4317544"/>
            <a:ext cx="2600325" cy="511175"/>
          </a:xfrm>
          <a:custGeom>
            <a:avLst/>
            <a:gdLst>
              <a:gd name="connsiteX0" fmla="*/ 0 w 2286028"/>
              <a:gd name="connsiteY0" fmla="*/ 0 h 449944"/>
              <a:gd name="connsiteX1" fmla="*/ 2061028 w 2286028"/>
              <a:gd name="connsiteY1" fmla="*/ 0 h 449944"/>
              <a:gd name="connsiteX2" fmla="*/ 2286028 w 2286028"/>
              <a:gd name="connsiteY2" fmla="*/ 224972 h 449944"/>
              <a:gd name="connsiteX3" fmla="*/ 2061028 w 2286028"/>
              <a:gd name="connsiteY3" fmla="*/ 449944 h 449944"/>
              <a:gd name="connsiteX4" fmla="*/ 2061018 w 2286028"/>
              <a:gd name="connsiteY4" fmla="*/ 449943 h 449944"/>
              <a:gd name="connsiteX5" fmla="*/ 0 w 2286028"/>
              <a:gd name="connsiteY5" fmla="*/ 449943 h 449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86028" h="449944">
                <a:moveTo>
                  <a:pt x="0" y="0"/>
                </a:moveTo>
                <a:lnTo>
                  <a:pt x="2061028" y="0"/>
                </a:lnTo>
                <a:cubicBezTo>
                  <a:pt x="2185292" y="0"/>
                  <a:pt x="2286028" y="100723"/>
                  <a:pt x="2286028" y="224972"/>
                </a:cubicBezTo>
                <a:cubicBezTo>
                  <a:pt x="2286028" y="349221"/>
                  <a:pt x="2185292" y="449944"/>
                  <a:pt x="2061028" y="449944"/>
                </a:cubicBezTo>
                <a:lnTo>
                  <a:pt x="2061018" y="449943"/>
                </a:lnTo>
                <a:lnTo>
                  <a:pt x="0" y="449943"/>
                </a:lnTo>
                <a:close/>
              </a:path>
            </a:pathLst>
          </a:cu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rmAutofit/>
          </a:bodyPr>
          <a:lstStyle/>
          <a:p>
            <a:pPr lvl="0" algn="ctr">
              <a:spcBef>
                <a:spcPts val="0"/>
              </a:spcBef>
              <a:spcAft>
                <a:spcPts val="0"/>
              </a:spcAft>
              <a:buClrTx/>
              <a:buSzTx/>
              <a:buFontTx/>
              <a:defRPr/>
            </a:pPr>
            <a:r>
              <a:rPr lang="zh-CN" altLang="en-US" sz="2000" noProof="0" dirty="0">
                <a:ln>
                  <a:noFill/>
                </a:ln>
                <a:solidFill>
                  <a:srgbClr val="FFFFFF"/>
                </a:solidFill>
                <a:effectLst/>
                <a:uLnTx/>
                <a:uFillTx/>
                <a:latin typeface="微软雅黑" panose="020B0503020204020204" pitchFamily="34" charset="-122"/>
                <a:ea typeface="微软雅黑" panose="020B0503020204020204" pitchFamily="34" charset="-122"/>
                <a:sym typeface="+mn-ea"/>
              </a:rPr>
              <a:t>因子的状态</a:t>
            </a:r>
          </a:p>
        </p:txBody>
      </p:sp>
      <p:sp>
        <p:nvSpPr>
          <p:cNvPr id="27" name="MH_Other_3"/>
          <p:cNvSpPr/>
          <p:nvPr>
            <p:custDataLst>
              <p:tags r:id="rId8"/>
            </p:custDataLst>
          </p:nvPr>
        </p:nvSpPr>
        <p:spPr>
          <a:xfrm>
            <a:off x="4633931" y="4357230"/>
            <a:ext cx="431800" cy="431800"/>
          </a:xfrm>
          <a:custGeom>
            <a:avLst/>
            <a:gdLst>
              <a:gd name="connsiteX0" fmla="*/ 162177 w 379914"/>
              <a:gd name="connsiteY0" fmla="*/ 97631 h 379866"/>
              <a:gd name="connsiteX1" fmla="*/ 219804 w 379914"/>
              <a:gd name="connsiteY1" fmla="*/ 189932 h 379866"/>
              <a:gd name="connsiteX2" fmla="*/ 162177 w 379914"/>
              <a:gd name="connsiteY2" fmla="*/ 282233 h 379866"/>
              <a:gd name="connsiteX3" fmla="*/ 198210 w 379914"/>
              <a:gd name="connsiteY3" fmla="*/ 282233 h 379866"/>
              <a:gd name="connsiteX4" fmla="*/ 255837 w 379914"/>
              <a:gd name="connsiteY4" fmla="*/ 189932 h 379866"/>
              <a:gd name="connsiteX5" fmla="*/ 198210 w 379914"/>
              <a:gd name="connsiteY5" fmla="*/ 97631 h 379866"/>
              <a:gd name="connsiteX6" fmla="*/ 189957 w 379914"/>
              <a:gd name="connsiteY6" fmla="*/ 0 h 379866"/>
              <a:gd name="connsiteX7" fmla="*/ 379914 w 379914"/>
              <a:gd name="connsiteY7" fmla="*/ 189933 h 379866"/>
              <a:gd name="connsiteX8" fmla="*/ 189957 w 379914"/>
              <a:gd name="connsiteY8" fmla="*/ 379866 h 379866"/>
              <a:gd name="connsiteX9" fmla="*/ 0 w 379914"/>
              <a:gd name="connsiteY9" fmla="*/ 189933 h 379866"/>
              <a:gd name="connsiteX10" fmla="*/ 189957 w 379914"/>
              <a:gd name="connsiteY10" fmla="*/ 0 h 37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9914" h="379866">
                <a:moveTo>
                  <a:pt x="162177" y="97631"/>
                </a:moveTo>
                <a:lnTo>
                  <a:pt x="219804" y="189932"/>
                </a:lnTo>
                <a:lnTo>
                  <a:pt x="162177" y="282233"/>
                </a:lnTo>
                <a:lnTo>
                  <a:pt x="198210" y="282233"/>
                </a:lnTo>
                <a:lnTo>
                  <a:pt x="255837" y="189932"/>
                </a:lnTo>
                <a:lnTo>
                  <a:pt x="198210" y="97631"/>
                </a:lnTo>
                <a:close/>
                <a:moveTo>
                  <a:pt x="189957" y="0"/>
                </a:moveTo>
                <a:cubicBezTo>
                  <a:pt x="294867" y="0"/>
                  <a:pt x="379914" y="85036"/>
                  <a:pt x="379914" y="189933"/>
                </a:cubicBezTo>
                <a:cubicBezTo>
                  <a:pt x="379914" y="294830"/>
                  <a:pt x="294867" y="379866"/>
                  <a:pt x="189957" y="379866"/>
                </a:cubicBezTo>
                <a:cubicBezTo>
                  <a:pt x="85047" y="379866"/>
                  <a:pt x="0" y="294830"/>
                  <a:pt x="0" y="189933"/>
                </a:cubicBezTo>
                <a:cubicBezTo>
                  <a:pt x="0" y="85036"/>
                  <a:pt x="85047" y="0"/>
                  <a:pt x="189957" y="0"/>
                </a:cubicBezTo>
                <a:close/>
              </a:path>
            </a:pathLst>
          </a:custGeom>
          <a:solidFill>
            <a:srgbClr val="FFFF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3600" b="0" i="0" u="none" strike="noStrike" kern="1200" cap="none" spc="0" normalizeH="0" baseline="0" noProof="0">
              <a:ln>
                <a:noFill/>
              </a:ln>
              <a:solidFill>
                <a:srgbClr val="84CBC5"/>
              </a:solidFill>
              <a:effectLst/>
              <a:uLnTx/>
              <a:uFillTx/>
              <a:latin typeface="微软雅黑" panose="020B0503020204020204" pitchFamily="34" charset="-122"/>
              <a:ea typeface="微软雅黑" panose="020B0503020204020204" pitchFamily="34" charset="-122"/>
              <a:cs typeface="+mn-lt"/>
            </a:endParaRPr>
          </a:p>
        </p:txBody>
      </p:sp>
      <p:sp>
        <p:nvSpPr>
          <p:cNvPr id="28" name="MH_Text_3"/>
          <p:cNvSpPr>
            <a:spLocks noChangeArrowheads="1"/>
          </p:cNvSpPr>
          <p:nvPr>
            <p:custDataLst>
              <p:tags r:id="rId9"/>
            </p:custDataLst>
          </p:nvPr>
        </p:nvSpPr>
        <p:spPr bwMode="auto">
          <a:xfrm>
            <a:off x="5206456" y="4246035"/>
            <a:ext cx="2904975" cy="709612"/>
          </a:xfrm>
          <a:prstGeom prst="rect">
            <a:avLst/>
          </a:prstGeom>
          <a:noFill/>
          <a:ln>
            <a:noFill/>
          </a:ln>
          <a:extLst>
            <a:ext uri="{909E8E84-426E-40DD-AFC4-6F175D3DCCD1}">
              <a14:hiddenFill xmlns:a14="http://schemas.microsoft.com/office/drawing/2010/main">
                <a:solidFill>
                  <a:srgbClr val="FFFFFF"/>
                </a:solidFill>
              </a14:hiddenFill>
            </a:ext>
          </a:extLst>
        </p:spPr>
        <p:txBody>
          <a:bodyPr anchor="ctr">
            <a:no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lvl="0" algn="l">
              <a:lnSpc>
                <a:spcPts val="1800"/>
              </a:lnSpc>
              <a:spcBef>
                <a:spcPts val="0"/>
              </a:spcBef>
              <a:spcAft>
                <a:spcPts val="0"/>
              </a:spcAft>
              <a:buClrTx/>
              <a:buSzTx/>
              <a:buFontTx/>
              <a:defRPr/>
            </a:pPr>
            <a:r>
              <a:rPr lang="zh-CN" altLang="en-US" sz="1600">
                <a:solidFill>
                  <a:srgbClr val="595959"/>
                </a:solidFill>
                <a:latin typeface="微软雅黑" panose="020B0503020204020204" pitchFamily="34" charset="-122"/>
                <a:ea typeface="微软雅黑" panose="020B0503020204020204" pitchFamily="34" charset="-122"/>
                <a:sym typeface="+mn-ea"/>
              </a:rPr>
              <a:t>也</a:t>
            </a:r>
            <a:r>
              <a:rPr lang="zh-CN" altLang="en-US" sz="1600" dirty="0">
                <a:solidFill>
                  <a:srgbClr val="595959"/>
                </a:solidFill>
                <a:latin typeface="微软雅黑" panose="020B0503020204020204" pitchFamily="34" charset="-122"/>
                <a:ea typeface="微软雅黑" panose="020B0503020204020204" pitchFamily="34" charset="-122"/>
                <a:sym typeface="+mn-ea"/>
              </a:rPr>
              <a:t>叫因子的水平</a:t>
            </a:r>
            <a:r>
              <a:rPr lang="zh-CN" altLang="en-US" sz="1600">
                <a:solidFill>
                  <a:srgbClr val="595959"/>
                </a:solidFill>
                <a:latin typeface="微软雅黑" panose="020B0503020204020204" pitchFamily="34" charset="-122"/>
                <a:ea typeface="微软雅黑" panose="020B0503020204020204" pitchFamily="34" charset="-122"/>
                <a:sym typeface="+mn-ea"/>
              </a:rPr>
              <a:t>，它是指</a:t>
            </a:r>
            <a:r>
              <a:rPr lang="zh-CN" altLang="en-US" sz="1600">
                <a:solidFill>
                  <a:srgbClr val="0070C0"/>
                </a:solidFill>
                <a:latin typeface="微软雅黑" panose="020B0503020204020204" pitchFamily="34" charset="-122"/>
                <a:ea typeface="微软雅黑" panose="020B0503020204020204" pitchFamily="34" charset="-122"/>
                <a:sym typeface="+mn-ea"/>
              </a:rPr>
              <a:t>因子</a:t>
            </a:r>
            <a:r>
              <a:rPr lang="zh-CN" altLang="en-US" sz="1600" dirty="0">
                <a:solidFill>
                  <a:srgbClr val="0070C0"/>
                </a:solidFill>
                <a:latin typeface="微软雅黑" panose="020B0503020204020204" pitchFamily="34" charset="-122"/>
                <a:ea typeface="微软雅黑" panose="020B0503020204020204" pitchFamily="34" charset="-122"/>
                <a:sym typeface="+mn-ea"/>
              </a:rPr>
              <a:t>变量的取值</a:t>
            </a:r>
            <a:r>
              <a:rPr lang="zh-CN" altLang="en-US" sz="1600" dirty="0">
                <a:solidFill>
                  <a:srgbClr val="595959"/>
                </a:solidFill>
                <a:latin typeface="微软雅黑" panose="020B0503020204020204" pitchFamily="34" charset="-122"/>
                <a:ea typeface="微软雅黑" panose="020B0503020204020204" pitchFamily="34" charset="-122"/>
                <a:sym typeface="+mn-ea"/>
              </a:rPr>
              <a:t>。</a:t>
            </a:r>
          </a:p>
        </p:txBody>
      </p:sp>
      <p:sp>
        <p:nvSpPr>
          <p:cNvPr id="29" name="MH_Title_1"/>
          <p:cNvSpPr/>
          <p:nvPr>
            <p:custDataLst>
              <p:tags r:id="rId10"/>
            </p:custDataLst>
          </p:nvPr>
        </p:nvSpPr>
        <p:spPr>
          <a:xfrm>
            <a:off x="1747596" y="2235607"/>
            <a:ext cx="498260" cy="2417757"/>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anchor="ctr">
            <a:norm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000" dirty="0">
                <a:solidFill>
                  <a:srgbClr val="0070C0"/>
                </a:solidFill>
                <a:latin typeface="微软雅黑" panose="020B0503020204020204" pitchFamily="34" charset="-122"/>
                <a:ea typeface="微软雅黑" panose="020B0503020204020204" pitchFamily="34" charset="-122"/>
                <a:sym typeface="+mn-ea"/>
              </a:rPr>
              <a:t>3个关键因素</a:t>
            </a:r>
            <a:endParaRPr kumimoji="0" lang="zh-CN" altLang="en-US" sz="2000" b="1" i="0" u="none" strike="noStrike" kern="1200" cap="none" spc="100" normalizeH="0" baseline="0" noProof="0" dirty="0">
              <a:ln>
                <a:noFill/>
              </a:ln>
              <a:solidFill>
                <a:srgbClr val="333333"/>
              </a:solidFill>
              <a:effectLst/>
              <a:uLnTx/>
              <a:uFillTx/>
              <a:latin typeface="微软雅黑" panose="020B0503020204020204" pitchFamily="34" charset="-122"/>
              <a:ea typeface="微软雅黑" panose="020B0503020204020204" pitchFamily="34" charset="-122"/>
            </a:endParaRPr>
          </a:p>
        </p:txBody>
      </p:sp>
      <p:cxnSp>
        <p:nvCxnSpPr>
          <p:cNvPr id="30" name="PA_直接连接符 2"/>
          <p:cNvCxnSpPr/>
          <p:nvPr>
            <p:custDataLst>
              <p:tags r:id="rId11"/>
            </p:custDataLst>
          </p:nvPr>
        </p:nvCxnSpPr>
        <p:spPr>
          <a:xfrm>
            <a:off x="1726850" y="1921805"/>
            <a:ext cx="0" cy="3045363"/>
          </a:xfrm>
          <a:prstGeom prst="line">
            <a:avLst/>
          </a:prstGeom>
          <a:ln>
            <a:solidFill>
              <a:srgbClr val="6BAFE1"/>
            </a:solidFill>
          </a:ln>
        </p:spPr>
        <p:style>
          <a:lnRef idx="1">
            <a:schemeClr val="accent1"/>
          </a:lnRef>
          <a:fillRef idx="0">
            <a:schemeClr val="accent1"/>
          </a:fillRef>
          <a:effectRef idx="0">
            <a:schemeClr val="accent1"/>
          </a:effectRef>
          <a:fontRef idx="minor">
            <a:schemeClr val="tx1"/>
          </a:fontRef>
        </p:style>
      </p:cxnSp>
      <p:cxnSp>
        <p:nvCxnSpPr>
          <p:cNvPr id="32" name="PA_直接连接符 2"/>
          <p:cNvCxnSpPr/>
          <p:nvPr>
            <p:custDataLst>
              <p:tags r:id="rId12"/>
            </p:custDataLst>
          </p:nvPr>
        </p:nvCxnSpPr>
        <p:spPr>
          <a:xfrm>
            <a:off x="2245856" y="1921803"/>
            <a:ext cx="0" cy="3045363"/>
          </a:xfrm>
          <a:prstGeom prst="line">
            <a:avLst/>
          </a:prstGeom>
          <a:ln>
            <a:solidFill>
              <a:srgbClr val="6BAFE1"/>
            </a:solidFill>
            <a:prstDash val="dash"/>
          </a:ln>
        </p:spPr>
        <p:style>
          <a:lnRef idx="1">
            <a:schemeClr val="accent1"/>
          </a:lnRef>
          <a:fillRef idx="0">
            <a:schemeClr val="accent1"/>
          </a:fillRef>
          <a:effectRef idx="0">
            <a:schemeClr val="accent1"/>
          </a:effectRef>
          <a:fontRef idx="minor">
            <a:schemeClr val="tx1"/>
          </a:fontRef>
        </p:style>
      </p:cxnSp>
      <p:cxnSp>
        <p:nvCxnSpPr>
          <p:cNvPr id="2" name="PA_StraightArrowConnector 4"/>
          <p:cNvCxnSpPr/>
          <p:nvPr>
            <p:custDataLst>
              <p:tags r:id="rId13"/>
            </p:custDataLst>
          </p:nvPr>
        </p:nvCxnSpPr>
        <p:spPr>
          <a:xfrm>
            <a:off x="8111435" y="2147329"/>
            <a:ext cx="979659" cy="0"/>
          </a:xfrm>
          <a:prstGeom prst="straightConnector1">
            <a:avLst/>
          </a:prstGeom>
          <a:ln w="12700">
            <a:solidFill>
              <a:srgbClr val="014076"/>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34" name="PA_StraightArrowConnector 4"/>
          <p:cNvCxnSpPr/>
          <p:nvPr>
            <p:custDataLst>
              <p:tags r:id="rId14"/>
            </p:custDataLst>
          </p:nvPr>
        </p:nvCxnSpPr>
        <p:spPr>
          <a:xfrm>
            <a:off x="8111434" y="3397125"/>
            <a:ext cx="979659" cy="0"/>
          </a:xfrm>
          <a:prstGeom prst="straightConnector1">
            <a:avLst/>
          </a:prstGeom>
          <a:ln w="12700">
            <a:solidFill>
              <a:srgbClr val="014076"/>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35" name="PA_StraightArrowConnector 4"/>
          <p:cNvCxnSpPr/>
          <p:nvPr>
            <p:custDataLst>
              <p:tags r:id="rId15"/>
            </p:custDataLst>
          </p:nvPr>
        </p:nvCxnSpPr>
        <p:spPr>
          <a:xfrm>
            <a:off x="8111431" y="4653364"/>
            <a:ext cx="979659" cy="0"/>
          </a:xfrm>
          <a:prstGeom prst="straightConnector1">
            <a:avLst/>
          </a:prstGeom>
          <a:ln w="12700">
            <a:solidFill>
              <a:srgbClr val="014076"/>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36" name="arrow-on-target_68291"/>
          <p:cNvSpPr>
            <a:spLocks noChangeAspect="1"/>
          </p:cNvSpPr>
          <p:nvPr/>
        </p:nvSpPr>
        <p:spPr bwMode="auto">
          <a:xfrm>
            <a:off x="9435038" y="4357481"/>
            <a:ext cx="609685" cy="609685"/>
          </a:xfrm>
          <a:custGeom>
            <a:avLst/>
            <a:gdLst>
              <a:gd name="connsiteX0" fmla="*/ 157638 w 338138"/>
              <a:gd name="connsiteY0" fmla="*/ 144463 h 338138"/>
              <a:gd name="connsiteX1" fmla="*/ 165544 w 338138"/>
              <a:gd name="connsiteY1" fmla="*/ 148443 h 338138"/>
              <a:gd name="connsiteX2" fmla="*/ 249865 w 338138"/>
              <a:gd name="connsiteY2" fmla="*/ 233341 h 338138"/>
              <a:gd name="connsiteX3" fmla="*/ 280167 w 338138"/>
              <a:gd name="connsiteY3" fmla="*/ 232015 h 338138"/>
              <a:gd name="connsiteX4" fmla="*/ 286755 w 338138"/>
              <a:gd name="connsiteY4" fmla="*/ 234668 h 338138"/>
              <a:gd name="connsiteX5" fmla="*/ 335503 w 338138"/>
              <a:gd name="connsiteY5" fmla="*/ 283750 h 338138"/>
              <a:gd name="connsiteX6" fmla="*/ 338138 w 338138"/>
              <a:gd name="connsiteY6" fmla="*/ 293036 h 338138"/>
              <a:gd name="connsiteX7" fmla="*/ 330233 w 338138"/>
              <a:gd name="connsiteY7" fmla="*/ 298342 h 338138"/>
              <a:gd name="connsiteX8" fmla="*/ 311788 w 338138"/>
              <a:gd name="connsiteY8" fmla="*/ 303648 h 338138"/>
              <a:gd name="connsiteX9" fmla="*/ 303883 w 338138"/>
              <a:gd name="connsiteY9" fmla="*/ 310281 h 338138"/>
              <a:gd name="connsiteX10" fmla="*/ 299930 w 338138"/>
              <a:gd name="connsiteY10" fmla="*/ 331505 h 338138"/>
              <a:gd name="connsiteX11" fmla="*/ 293343 w 338138"/>
              <a:gd name="connsiteY11" fmla="*/ 338138 h 338138"/>
              <a:gd name="connsiteX12" fmla="*/ 290708 w 338138"/>
              <a:gd name="connsiteY12" fmla="*/ 338138 h 338138"/>
              <a:gd name="connsiteX13" fmla="*/ 284120 w 338138"/>
              <a:gd name="connsiteY13" fmla="*/ 335485 h 338138"/>
              <a:gd name="connsiteX14" fmla="*/ 235372 w 338138"/>
              <a:gd name="connsiteY14" fmla="*/ 286403 h 338138"/>
              <a:gd name="connsiteX15" fmla="*/ 232737 w 338138"/>
              <a:gd name="connsiteY15" fmla="*/ 279770 h 338138"/>
              <a:gd name="connsiteX16" fmla="*/ 234054 w 338138"/>
              <a:gd name="connsiteY16" fmla="*/ 249260 h 338138"/>
              <a:gd name="connsiteX17" fmla="*/ 149733 w 338138"/>
              <a:gd name="connsiteY17" fmla="*/ 164361 h 338138"/>
              <a:gd name="connsiteX18" fmla="*/ 149733 w 338138"/>
              <a:gd name="connsiteY18" fmla="*/ 148443 h 338138"/>
              <a:gd name="connsiteX19" fmla="*/ 157638 w 338138"/>
              <a:gd name="connsiteY19" fmla="*/ 144463 h 338138"/>
              <a:gd name="connsiteX20" fmla="*/ 145922 w 338138"/>
              <a:gd name="connsiteY20" fmla="*/ 120650 h 338138"/>
              <a:gd name="connsiteX21" fmla="*/ 169863 w 338138"/>
              <a:gd name="connsiteY21" fmla="*/ 137383 h 338138"/>
              <a:gd name="connsiteX22" fmla="*/ 157893 w 338138"/>
              <a:gd name="connsiteY22" fmla="*/ 133522 h 338138"/>
              <a:gd name="connsiteX23" fmla="*/ 141931 w 338138"/>
              <a:gd name="connsiteY23" fmla="*/ 141245 h 338138"/>
              <a:gd name="connsiteX24" fmla="*/ 137941 w 338138"/>
              <a:gd name="connsiteY24" fmla="*/ 168275 h 338138"/>
              <a:gd name="connsiteX25" fmla="*/ 120650 w 338138"/>
              <a:gd name="connsiteY25" fmla="*/ 145106 h 338138"/>
              <a:gd name="connsiteX26" fmla="*/ 145922 w 338138"/>
              <a:gd name="connsiteY26" fmla="*/ 120650 h 338138"/>
              <a:gd name="connsiteX27" fmla="*/ 146051 w 338138"/>
              <a:gd name="connsiteY27" fmla="*/ 60325 h 338138"/>
              <a:gd name="connsiteX28" fmla="*/ 230188 w 338138"/>
              <a:gd name="connsiteY28" fmla="*/ 145257 h 338138"/>
              <a:gd name="connsiteX29" fmla="*/ 219671 w 338138"/>
              <a:gd name="connsiteY29" fmla="*/ 186395 h 338138"/>
              <a:gd name="connsiteX30" fmla="*/ 193378 w 338138"/>
              <a:gd name="connsiteY30" fmla="*/ 161181 h 338138"/>
              <a:gd name="connsiteX31" fmla="*/ 196007 w 338138"/>
              <a:gd name="connsiteY31" fmla="*/ 145257 h 338138"/>
              <a:gd name="connsiteX32" fmla="*/ 146051 w 338138"/>
              <a:gd name="connsiteY32" fmla="*/ 94828 h 338138"/>
              <a:gd name="connsiteX33" fmla="*/ 96094 w 338138"/>
              <a:gd name="connsiteY33" fmla="*/ 145257 h 338138"/>
              <a:gd name="connsiteX34" fmla="*/ 146051 w 338138"/>
              <a:gd name="connsiteY34" fmla="*/ 195685 h 338138"/>
              <a:gd name="connsiteX35" fmla="*/ 161827 w 338138"/>
              <a:gd name="connsiteY35" fmla="*/ 193031 h 338138"/>
              <a:gd name="connsiteX36" fmla="*/ 188119 w 338138"/>
              <a:gd name="connsiteY36" fmla="*/ 219572 h 338138"/>
              <a:gd name="connsiteX37" fmla="*/ 146051 w 338138"/>
              <a:gd name="connsiteY37" fmla="*/ 230188 h 338138"/>
              <a:gd name="connsiteX38" fmla="*/ 61913 w 338138"/>
              <a:gd name="connsiteY38" fmla="*/ 145257 h 338138"/>
              <a:gd name="connsiteX39" fmla="*/ 146051 w 338138"/>
              <a:gd name="connsiteY39" fmla="*/ 60325 h 338138"/>
              <a:gd name="connsiteX40" fmla="*/ 145257 w 338138"/>
              <a:gd name="connsiteY40" fmla="*/ 0 h 338138"/>
              <a:gd name="connsiteX41" fmla="*/ 290513 w 338138"/>
              <a:gd name="connsiteY41" fmla="*/ 145257 h 338138"/>
              <a:gd name="connsiteX42" fmla="*/ 269385 w 338138"/>
              <a:gd name="connsiteY42" fmla="*/ 221846 h 338138"/>
              <a:gd name="connsiteX43" fmla="*/ 254859 w 338138"/>
              <a:gd name="connsiteY43" fmla="*/ 221846 h 338138"/>
              <a:gd name="connsiteX44" fmla="*/ 239013 w 338138"/>
              <a:gd name="connsiteY44" fmla="*/ 206000 h 338138"/>
              <a:gd name="connsiteX45" fmla="*/ 256180 w 338138"/>
              <a:gd name="connsiteY45" fmla="*/ 145257 h 338138"/>
              <a:gd name="connsiteX46" fmla="*/ 145257 w 338138"/>
              <a:gd name="connsiteY46" fmla="*/ 34333 h 338138"/>
              <a:gd name="connsiteX47" fmla="*/ 34333 w 338138"/>
              <a:gd name="connsiteY47" fmla="*/ 145257 h 338138"/>
              <a:gd name="connsiteX48" fmla="*/ 145257 w 338138"/>
              <a:gd name="connsiteY48" fmla="*/ 256180 h 338138"/>
              <a:gd name="connsiteX49" fmla="*/ 206000 w 338138"/>
              <a:gd name="connsiteY49" fmla="*/ 239013 h 338138"/>
              <a:gd name="connsiteX50" fmla="*/ 221847 w 338138"/>
              <a:gd name="connsiteY50" fmla="*/ 254859 h 338138"/>
              <a:gd name="connsiteX51" fmla="*/ 221847 w 338138"/>
              <a:gd name="connsiteY51" fmla="*/ 269385 h 338138"/>
              <a:gd name="connsiteX52" fmla="*/ 145257 w 338138"/>
              <a:gd name="connsiteY52" fmla="*/ 290513 h 338138"/>
              <a:gd name="connsiteX53" fmla="*/ 0 w 338138"/>
              <a:gd name="connsiteY53" fmla="*/ 145257 h 338138"/>
              <a:gd name="connsiteX54" fmla="*/ 145257 w 338138"/>
              <a:gd name="connsiteY54" fmla="*/ 0 h 338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338138" h="338138">
                <a:moveTo>
                  <a:pt x="157638" y="144463"/>
                </a:moveTo>
                <a:cubicBezTo>
                  <a:pt x="160273" y="144463"/>
                  <a:pt x="162908" y="145790"/>
                  <a:pt x="165544" y="148443"/>
                </a:cubicBezTo>
                <a:cubicBezTo>
                  <a:pt x="165544" y="148443"/>
                  <a:pt x="165544" y="148443"/>
                  <a:pt x="249865" y="233341"/>
                </a:cubicBezTo>
                <a:cubicBezTo>
                  <a:pt x="249865" y="233341"/>
                  <a:pt x="249865" y="233341"/>
                  <a:pt x="280167" y="232015"/>
                </a:cubicBezTo>
                <a:cubicBezTo>
                  <a:pt x="282803" y="232015"/>
                  <a:pt x="285438" y="233341"/>
                  <a:pt x="286755" y="234668"/>
                </a:cubicBezTo>
                <a:cubicBezTo>
                  <a:pt x="286755" y="234668"/>
                  <a:pt x="286755" y="234668"/>
                  <a:pt x="335503" y="283750"/>
                </a:cubicBezTo>
                <a:cubicBezTo>
                  <a:pt x="338138" y="286403"/>
                  <a:pt x="338138" y="289056"/>
                  <a:pt x="338138" y="293036"/>
                </a:cubicBezTo>
                <a:cubicBezTo>
                  <a:pt x="336821" y="295689"/>
                  <a:pt x="334186" y="298342"/>
                  <a:pt x="330233" y="298342"/>
                </a:cubicBezTo>
                <a:cubicBezTo>
                  <a:pt x="330233" y="298342"/>
                  <a:pt x="330233" y="298342"/>
                  <a:pt x="311788" y="303648"/>
                </a:cubicBezTo>
                <a:cubicBezTo>
                  <a:pt x="307835" y="303648"/>
                  <a:pt x="305200" y="306301"/>
                  <a:pt x="303883" y="310281"/>
                </a:cubicBezTo>
                <a:cubicBezTo>
                  <a:pt x="303883" y="310281"/>
                  <a:pt x="303883" y="310281"/>
                  <a:pt x="299930" y="331505"/>
                </a:cubicBezTo>
                <a:cubicBezTo>
                  <a:pt x="298613" y="334158"/>
                  <a:pt x="295978" y="336812"/>
                  <a:pt x="293343" y="338138"/>
                </a:cubicBezTo>
                <a:cubicBezTo>
                  <a:pt x="292025" y="338138"/>
                  <a:pt x="292025" y="338138"/>
                  <a:pt x="290708" y="338138"/>
                </a:cubicBezTo>
                <a:cubicBezTo>
                  <a:pt x="288073" y="338138"/>
                  <a:pt x="285438" y="336812"/>
                  <a:pt x="284120" y="335485"/>
                </a:cubicBezTo>
                <a:cubicBezTo>
                  <a:pt x="284120" y="335485"/>
                  <a:pt x="284120" y="335485"/>
                  <a:pt x="235372" y="286403"/>
                </a:cubicBezTo>
                <a:cubicBezTo>
                  <a:pt x="232737" y="283750"/>
                  <a:pt x="232737" y="281097"/>
                  <a:pt x="232737" y="279770"/>
                </a:cubicBezTo>
                <a:cubicBezTo>
                  <a:pt x="232737" y="279770"/>
                  <a:pt x="232737" y="279770"/>
                  <a:pt x="234054" y="249260"/>
                </a:cubicBezTo>
                <a:cubicBezTo>
                  <a:pt x="234054" y="249260"/>
                  <a:pt x="234054" y="249260"/>
                  <a:pt x="149733" y="164361"/>
                </a:cubicBezTo>
                <a:cubicBezTo>
                  <a:pt x="144463" y="159055"/>
                  <a:pt x="144463" y="152422"/>
                  <a:pt x="149733" y="148443"/>
                </a:cubicBezTo>
                <a:cubicBezTo>
                  <a:pt x="151051" y="145790"/>
                  <a:pt x="155003" y="144463"/>
                  <a:pt x="157638" y="144463"/>
                </a:cubicBezTo>
                <a:close/>
                <a:moveTo>
                  <a:pt x="145922" y="120650"/>
                </a:moveTo>
                <a:cubicBezTo>
                  <a:pt x="157893" y="120650"/>
                  <a:pt x="167203" y="128373"/>
                  <a:pt x="169863" y="137383"/>
                </a:cubicBezTo>
                <a:cubicBezTo>
                  <a:pt x="167203" y="134809"/>
                  <a:pt x="161883" y="133522"/>
                  <a:pt x="157893" y="133522"/>
                </a:cubicBezTo>
                <a:cubicBezTo>
                  <a:pt x="151242" y="133522"/>
                  <a:pt x="145922" y="136096"/>
                  <a:pt x="141931" y="141245"/>
                </a:cubicBezTo>
                <a:cubicBezTo>
                  <a:pt x="133951" y="147680"/>
                  <a:pt x="132620" y="160552"/>
                  <a:pt x="137941" y="168275"/>
                </a:cubicBezTo>
                <a:cubicBezTo>
                  <a:pt x="128630" y="165701"/>
                  <a:pt x="120650" y="156691"/>
                  <a:pt x="120650" y="145106"/>
                </a:cubicBezTo>
                <a:cubicBezTo>
                  <a:pt x="120650" y="132234"/>
                  <a:pt x="132620" y="120650"/>
                  <a:pt x="145922" y="120650"/>
                </a:cubicBezTo>
                <a:close/>
                <a:moveTo>
                  <a:pt x="146051" y="60325"/>
                </a:moveTo>
                <a:cubicBezTo>
                  <a:pt x="192063" y="60325"/>
                  <a:pt x="230188" y="98810"/>
                  <a:pt x="230188" y="145257"/>
                </a:cubicBezTo>
                <a:cubicBezTo>
                  <a:pt x="230188" y="159854"/>
                  <a:pt x="226244" y="174452"/>
                  <a:pt x="219671" y="186395"/>
                </a:cubicBezTo>
                <a:lnTo>
                  <a:pt x="193378" y="161181"/>
                </a:lnTo>
                <a:cubicBezTo>
                  <a:pt x="196007" y="155873"/>
                  <a:pt x="196007" y="150565"/>
                  <a:pt x="196007" y="145257"/>
                </a:cubicBezTo>
                <a:cubicBezTo>
                  <a:pt x="196007" y="117388"/>
                  <a:pt x="173658" y="94828"/>
                  <a:pt x="146051" y="94828"/>
                </a:cubicBezTo>
                <a:cubicBezTo>
                  <a:pt x="118443" y="94828"/>
                  <a:pt x="96094" y="117388"/>
                  <a:pt x="96094" y="145257"/>
                </a:cubicBezTo>
                <a:cubicBezTo>
                  <a:pt x="96094" y="173125"/>
                  <a:pt x="118443" y="195685"/>
                  <a:pt x="146051" y="195685"/>
                </a:cubicBezTo>
                <a:cubicBezTo>
                  <a:pt x="151309" y="195685"/>
                  <a:pt x="156568" y="194358"/>
                  <a:pt x="161827" y="193031"/>
                </a:cubicBezTo>
                <a:cubicBezTo>
                  <a:pt x="161827" y="193031"/>
                  <a:pt x="161827" y="193031"/>
                  <a:pt x="188119" y="219572"/>
                </a:cubicBezTo>
                <a:cubicBezTo>
                  <a:pt x="174973" y="226207"/>
                  <a:pt x="161827" y="230188"/>
                  <a:pt x="146051" y="230188"/>
                </a:cubicBezTo>
                <a:cubicBezTo>
                  <a:pt x="100038" y="230188"/>
                  <a:pt x="61913" y="191703"/>
                  <a:pt x="61913" y="145257"/>
                </a:cubicBezTo>
                <a:cubicBezTo>
                  <a:pt x="61913" y="98810"/>
                  <a:pt x="100038" y="60325"/>
                  <a:pt x="146051" y="60325"/>
                </a:cubicBezTo>
                <a:close/>
                <a:moveTo>
                  <a:pt x="145257" y="0"/>
                </a:moveTo>
                <a:cubicBezTo>
                  <a:pt x="225808" y="0"/>
                  <a:pt x="290513" y="64705"/>
                  <a:pt x="290513" y="145257"/>
                </a:cubicBezTo>
                <a:cubicBezTo>
                  <a:pt x="290513" y="172987"/>
                  <a:pt x="282590" y="199398"/>
                  <a:pt x="269385" y="221846"/>
                </a:cubicBezTo>
                <a:cubicBezTo>
                  <a:pt x="269385" y="221846"/>
                  <a:pt x="269385" y="221846"/>
                  <a:pt x="254859" y="221846"/>
                </a:cubicBezTo>
                <a:cubicBezTo>
                  <a:pt x="254859" y="221846"/>
                  <a:pt x="254859" y="221846"/>
                  <a:pt x="239013" y="206000"/>
                </a:cubicBezTo>
                <a:cubicBezTo>
                  <a:pt x="249577" y="188833"/>
                  <a:pt x="256180" y="167705"/>
                  <a:pt x="256180" y="145257"/>
                </a:cubicBezTo>
                <a:cubicBezTo>
                  <a:pt x="256180" y="84513"/>
                  <a:pt x="207321" y="34333"/>
                  <a:pt x="145257" y="34333"/>
                </a:cubicBezTo>
                <a:cubicBezTo>
                  <a:pt x="84513" y="34333"/>
                  <a:pt x="34333" y="84513"/>
                  <a:pt x="34333" y="145257"/>
                </a:cubicBezTo>
                <a:cubicBezTo>
                  <a:pt x="34333" y="207321"/>
                  <a:pt x="84513" y="256180"/>
                  <a:pt x="145257" y="256180"/>
                </a:cubicBezTo>
                <a:cubicBezTo>
                  <a:pt x="167705" y="256180"/>
                  <a:pt x="188834" y="249577"/>
                  <a:pt x="206000" y="239013"/>
                </a:cubicBezTo>
                <a:cubicBezTo>
                  <a:pt x="206000" y="239013"/>
                  <a:pt x="206000" y="239013"/>
                  <a:pt x="221847" y="254859"/>
                </a:cubicBezTo>
                <a:cubicBezTo>
                  <a:pt x="221847" y="254859"/>
                  <a:pt x="221847" y="254859"/>
                  <a:pt x="221847" y="269385"/>
                </a:cubicBezTo>
                <a:cubicBezTo>
                  <a:pt x="199398" y="282590"/>
                  <a:pt x="172988" y="290513"/>
                  <a:pt x="145257" y="290513"/>
                </a:cubicBezTo>
                <a:cubicBezTo>
                  <a:pt x="64705" y="290513"/>
                  <a:pt x="0" y="225808"/>
                  <a:pt x="0" y="145257"/>
                </a:cubicBezTo>
                <a:cubicBezTo>
                  <a:pt x="0" y="64705"/>
                  <a:pt x="64705" y="0"/>
                  <a:pt x="145257" y="0"/>
                </a:cubicBezTo>
                <a:close/>
              </a:path>
            </a:pathLst>
          </a:custGeom>
          <a:solidFill>
            <a:srgbClr val="0070C0"/>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lt"/>
            </a:endParaRPr>
          </a:p>
        </p:txBody>
      </p:sp>
      <p:sp>
        <p:nvSpPr>
          <p:cNvPr id="37" name="computer-service_78951"/>
          <p:cNvSpPr>
            <a:spLocks noChangeAspect="1"/>
          </p:cNvSpPr>
          <p:nvPr/>
        </p:nvSpPr>
        <p:spPr bwMode="auto">
          <a:xfrm>
            <a:off x="9435038" y="1798006"/>
            <a:ext cx="609685" cy="565858"/>
          </a:xfrm>
          <a:custGeom>
            <a:avLst/>
            <a:gdLst>
              <a:gd name="connsiteX0" fmla="*/ 288132 w 338138"/>
              <a:gd name="connsiteY0" fmla="*/ 223343 h 313831"/>
              <a:gd name="connsiteX1" fmla="*/ 279400 w 338138"/>
              <a:gd name="connsiteY1" fmla="*/ 231281 h 313831"/>
              <a:gd name="connsiteX2" fmla="*/ 288132 w 338138"/>
              <a:gd name="connsiteY2" fmla="*/ 239219 h 313831"/>
              <a:gd name="connsiteX3" fmla="*/ 296864 w 338138"/>
              <a:gd name="connsiteY3" fmla="*/ 231281 h 313831"/>
              <a:gd name="connsiteX4" fmla="*/ 288132 w 338138"/>
              <a:gd name="connsiteY4" fmla="*/ 223343 h 313831"/>
              <a:gd name="connsiteX5" fmla="*/ 261938 w 338138"/>
              <a:gd name="connsiteY5" fmla="*/ 223343 h 313831"/>
              <a:gd name="connsiteX6" fmla="*/ 254000 w 338138"/>
              <a:gd name="connsiteY6" fmla="*/ 231281 h 313831"/>
              <a:gd name="connsiteX7" fmla="*/ 261938 w 338138"/>
              <a:gd name="connsiteY7" fmla="*/ 239219 h 313831"/>
              <a:gd name="connsiteX8" fmla="*/ 269876 w 338138"/>
              <a:gd name="connsiteY8" fmla="*/ 231281 h 313831"/>
              <a:gd name="connsiteX9" fmla="*/ 261938 w 338138"/>
              <a:gd name="connsiteY9" fmla="*/ 223343 h 313831"/>
              <a:gd name="connsiteX10" fmla="*/ 116535 w 338138"/>
              <a:gd name="connsiteY10" fmla="*/ 45543 h 313831"/>
              <a:gd name="connsiteX11" fmla="*/ 141773 w 338138"/>
              <a:gd name="connsiteY11" fmla="*/ 88073 h 313831"/>
              <a:gd name="connsiteX12" fmla="*/ 108565 w 338138"/>
              <a:gd name="connsiteY12" fmla="*/ 102693 h 313831"/>
              <a:gd name="connsiteX13" fmla="*/ 87312 w 338138"/>
              <a:gd name="connsiteY13" fmla="*/ 74783 h 313831"/>
              <a:gd name="connsiteX14" fmla="*/ 116535 w 338138"/>
              <a:gd name="connsiteY14" fmla="*/ 45543 h 313831"/>
              <a:gd name="connsiteX15" fmla="*/ 254349 w 338138"/>
              <a:gd name="connsiteY15" fmla="*/ 30428 h 313831"/>
              <a:gd name="connsiteX16" fmla="*/ 275361 w 338138"/>
              <a:gd name="connsiteY16" fmla="*/ 48787 h 313831"/>
              <a:gd name="connsiteX17" fmla="*/ 255662 w 338138"/>
              <a:gd name="connsiteY17" fmla="*/ 85507 h 313831"/>
              <a:gd name="connsiteX18" fmla="*/ 266168 w 338138"/>
              <a:gd name="connsiteY18" fmla="*/ 89441 h 313831"/>
              <a:gd name="connsiteX19" fmla="*/ 289806 w 338138"/>
              <a:gd name="connsiteY19" fmla="*/ 80261 h 313831"/>
              <a:gd name="connsiteX20" fmla="*/ 287180 w 338138"/>
              <a:gd name="connsiteY20" fmla="*/ 109113 h 313831"/>
              <a:gd name="connsiteX21" fmla="*/ 225458 w 338138"/>
              <a:gd name="connsiteY21" fmla="*/ 111735 h 313831"/>
              <a:gd name="connsiteX22" fmla="*/ 92823 w 338138"/>
              <a:gd name="connsiteY22" fmla="*/ 166815 h 313831"/>
              <a:gd name="connsiteX23" fmla="*/ 75751 w 338138"/>
              <a:gd name="connsiteY23" fmla="*/ 127472 h 313831"/>
              <a:gd name="connsiteX24" fmla="*/ 208386 w 338138"/>
              <a:gd name="connsiteY24" fmla="*/ 72393 h 313831"/>
              <a:gd name="connsiteX25" fmla="*/ 242530 w 338138"/>
              <a:gd name="connsiteY25" fmla="*/ 33050 h 313831"/>
              <a:gd name="connsiteX26" fmla="*/ 254349 w 338138"/>
              <a:gd name="connsiteY26" fmla="*/ 30428 h 313831"/>
              <a:gd name="connsiteX27" fmla="*/ 186871 w 338138"/>
              <a:gd name="connsiteY27" fmla="*/ 24906 h 313831"/>
              <a:gd name="connsiteX28" fmla="*/ 231775 w 338138"/>
              <a:gd name="connsiteY28" fmla="*/ 24906 h 313831"/>
              <a:gd name="connsiteX29" fmla="*/ 207282 w 338138"/>
              <a:gd name="connsiteY29" fmla="*/ 48190 h 313831"/>
              <a:gd name="connsiteX30" fmla="*/ 201839 w 338138"/>
              <a:gd name="connsiteY30" fmla="*/ 59831 h 313831"/>
              <a:gd name="connsiteX31" fmla="*/ 184150 w 338138"/>
              <a:gd name="connsiteY31" fmla="*/ 45603 h 313831"/>
              <a:gd name="connsiteX32" fmla="*/ 186871 w 338138"/>
              <a:gd name="connsiteY32" fmla="*/ 24906 h 313831"/>
              <a:gd name="connsiteX33" fmla="*/ 18492 w 338138"/>
              <a:gd name="connsiteY33" fmla="*/ 24906 h 313831"/>
              <a:gd name="connsiteX34" fmla="*/ 43588 w 338138"/>
              <a:gd name="connsiteY34" fmla="*/ 24906 h 313831"/>
              <a:gd name="connsiteX35" fmla="*/ 46230 w 338138"/>
              <a:gd name="connsiteY35" fmla="*/ 46015 h 313831"/>
              <a:gd name="connsiteX36" fmla="*/ 29059 w 338138"/>
              <a:gd name="connsiteY36" fmla="*/ 63166 h 313831"/>
              <a:gd name="connsiteX37" fmla="*/ 31700 w 338138"/>
              <a:gd name="connsiteY37" fmla="*/ 96148 h 313831"/>
              <a:gd name="connsiteX38" fmla="*/ 31700 w 338138"/>
              <a:gd name="connsiteY38" fmla="*/ 206969 h 313831"/>
              <a:gd name="connsiteX39" fmla="*/ 39626 w 338138"/>
              <a:gd name="connsiteY39" fmla="*/ 214884 h 313831"/>
              <a:gd name="connsiteX40" fmla="*/ 298512 w 338138"/>
              <a:gd name="connsiteY40" fmla="*/ 214884 h 313831"/>
              <a:gd name="connsiteX41" fmla="*/ 306438 w 338138"/>
              <a:gd name="connsiteY41" fmla="*/ 206969 h 313831"/>
              <a:gd name="connsiteX42" fmla="*/ 306438 w 338138"/>
              <a:gd name="connsiteY42" fmla="*/ 104064 h 313831"/>
              <a:gd name="connsiteX43" fmla="*/ 306438 w 338138"/>
              <a:gd name="connsiteY43" fmla="*/ 77678 h 313831"/>
              <a:gd name="connsiteX44" fmla="*/ 274737 w 338138"/>
              <a:gd name="connsiteY44" fmla="*/ 61846 h 313831"/>
              <a:gd name="connsiteX45" fmla="*/ 281341 w 338138"/>
              <a:gd name="connsiteY45" fmla="*/ 59208 h 313831"/>
              <a:gd name="connsiteX46" fmla="*/ 280021 w 338138"/>
              <a:gd name="connsiteY46" fmla="*/ 24906 h 313831"/>
              <a:gd name="connsiteX47" fmla="*/ 319646 w 338138"/>
              <a:gd name="connsiteY47" fmla="*/ 24906 h 313831"/>
              <a:gd name="connsiteX48" fmla="*/ 338138 w 338138"/>
              <a:gd name="connsiteY48" fmla="*/ 43376 h 313831"/>
              <a:gd name="connsiteX49" fmla="*/ 338138 w 338138"/>
              <a:gd name="connsiteY49" fmla="*/ 234674 h 313831"/>
              <a:gd name="connsiteX50" fmla="*/ 319646 w 338138"/>
              <a:gd name="connsiteY50" fmla="*/ 251825 h 313831"/>
              <a:gd name="connsiteX51" fmla="*/ 200769 w 338138"/>
              <a:gd name="connsiteY51" fmla="*/ 251825 h 313831"/>
              <a:gd name="connsiteX52" fmla="*/ 216620 w 338138"/>
              <a:gd name="connsiteY52" fmla="*/ 290084 h 313831"/>
              <a:gd name="connsiteX53" fmla="*/ 224545 w 338138"/>
              <a:gd name="connsiteY53" fmla="*/ 290084 h 313831"/>
              <a:gd name="connsiteX54" fmla="*/ 235112 w 338138"/>
              <a:gd name="connsiteY54" fmla="*/ 301958 h 313831"/>
              <a:gd name="connsiteX55" fmla="*/ 224545 w 338138"/>
              <a:gd name="connsiteY55" fmla="*/ 313831 h 313831"/>
              <a:gd name="connsiteX56" fmla="*/ 113593 w 338138"/>
              <a:gd name="connsiteY56" fmla="*/ 313831 h 313831"/>
              <a:gd name="connsiteX57" fmla="*/ 103026 w 338138"/>
              <a:gd name="connsiteY57" fmla="*/ 301958 h 313831"/>
              <a:gd name="connsiteX58" fmla="*/ 113593 w 338138"/>
              <a:gd name="connsiteY58" fmla="*/ 290084 h 313831"/>
              <a:gd name="connsiteX59" fmla="*/ 121518 w 338138"/>
              <a:gd name="connsiteY59" fmla="*/ 290084 h 313831"/>
              <a:gd name="connsiteX60" fmla="*/ 137369 w 338138"/>
              <a:gd name="connsiteY60" fmla="*/ 251825 h 313831"/>
              <a:gd name="connsiteX61" fmla="*/ 18492 w 338138"/>
              <a:gd name="connsiteY61" fmla="*/ 251825 h 313831"/>
              <a:gd name="connsiteX62" fmla="*/ 0 w 338138"/>
              <a:gd name="connsiteY62" fmla="*/ 234674 h 313831"/>
              <a:gd name="connsiteX63" fmla="*/ 0 w 338138"/>
              <a:gd name="connsiteY63" fmla="*/ 43376 h 313831"/>
              <a:gd name="connsiteX64" fmla="*/ 18492 w 338138"/>
              <a:gd name="connsiteY64" fmla="*/ 24906 h 313831"/>
              <a:gd name="connsiteX65" fmla="*/ 109666 w 338138"/>
              <a:gd name="connsiteY65" fmla="*/ 1 h 313831"/>
              <a:gd name="connsiteX66" fmla="*/ 126932 w 338138"/>
              <a:gd name="connsiteY66" fmla="*/ 267 h 313831"/>
              <a:gd name="connsiteX67" fmla="*/ 133580 w 338138"/>
              <a:gd name="connsiteY67" fmla="*/ 18637 h 313831"/>
              <a:gd name="connsiteX68" fmla="*/ 144218 w 338138"/>
              <a:gd name="connsiteY68" fmla="*/ 22573 h 313831"/>
              <a:gd name="connsiteX69" fmla="*/ 177460 w 338138"/>
              <a:gd name="connsiteY69" fmla="*/ 29134 h 313831"/>
              <a:gd name="connsiteX70" fmla="*/ 168152 w 338138"/>
              <a:gd name="connsiteY70" fmla="*/ 47504 h 313831"/>
              <a:gd name="connsiteX71" fmla="*/ 173471 w 338138"/>
              <a:gd name="connsiteY71" fmla="*/ 58001 h 313831"/>
              <a:gd name="connsiteX72" fmla="*/ 192087 w 338138"/>
              <a:gd name="connsiteY72" fmla="*/ 67186 h 313831"/>
              <a:gd name="connsiteX73" fmla="*/ 154855 w 338138"/>
              <a:gd name="connsiteY73" fmla="*/ 82931 h 313831"/>
              <a:gd name="connsiteX74" fmla="*/ 116294 w 338138"/>
              <a:gd name="connsiteY74" fmla="*/ 35695 h 313831"/>
              <a:gd name="connsiteX75" fmla="*/ 76403 w 338138"/>
              <a:gd name="connsiteY75" fmla="*/ 75059 h 313831"/>
              <a:gd name="connsiteX76" fmla="*/ 93689 w 338138"/>
              <a:gd name="connsiteY76" fmla="*/ 107862 h 313831"/>
              <a:gd name="connsiteX77" fmla="*/ 59117 w 338138"/>
              <a:gd name="connsiteY77" fmla="*/ 124919 h 313831"/>
              <a:gd name="connsiteX78" fmla="*/ 63106 w 338138"/>
              <a:gd name="connsiteY78" fmla="*/ 102613 h 313831"/>
              <a:gd name="connsiteX79" fmla="*/ 59117 w 338138"/>
              <a:gd name="connsiteY79" fmla="*/ 92116 h 313831"/>
              <a:gd name="connsiteX80" fmla="*/ 40501 w 338138"/>
              <a:gd name="connsiteY80" fmla="*/ 63249 h 313831"/>
              <a:gd name="connsiteX81" fmla="*/ 59117 w 338138"/>
              <a:gd name="connsiteY81" fmla="*/ 58001 h 313831"/>
              <a:gd name="connsiteX82" fmla="*/ 63106 w 338138"/>
              <a:gd name="connsiteY82" fmla="*/ 47504 h 313831"/>
              <a:gd name="connsiteX83" fmla="*/ 69755 w 338138"/>
              <a:gd name="connsiteY83" fmla="*/ 14700 h 313831"/>
              <a:gd name="connsiteX84" fmla="*/ 88370 w 338138"/>
              <a:gd name="connsiteY84" fmla="*/ 22573 h 313831"/>
              <a:gd name="connsiteX85" fmla="*/ 99008 w 338138"/>
              <a:gd name="connsiteY85" fmla="*/ 18637 h 313831"/>
              <a:gd name="connsiteX86" fmla="*/ 109666 w 338138"/>
              <a:gd name="connsiteY86" fmla="*/ 1 h 3138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Lst>
            <a:rect l="l" t="t" r="r" b="b"/>
            <a:pathLst>
              <a:path w="338138" h="313831">
                <a:moveTo>
                  <a:pt x="288132" y="223343"/>
                </a:moveTo>
                <a:cubicBezTo>
                  <a:pt x="283309" y="223343"/>
                  <a:pt x="279400" y="226897"/>
                  <a:pt x="279400" y="231281"/>
                </a:cubicBezTo>
                <a:cubicBezTo>
                  <a:pt x="279400" y="235665"/>
                  <a:pt x="283309" y="239219"/>
                  <a:pt x="288132" y="239219"/>
                </a:cubicBezTo>
                <a:cubicBezTo>
                  <a:pt x="292955" y="239219"/>
                  <a:pt x="296864" y="235665"/>
                  <a:pt x="296864" y="231281"/>
                </a:cubicBezTo>
                <a:cubicBezTo>
                  <a:pt x="296864" y="226897"/>
                  <a:pt x="292955" y="223343"/>
                  <a:pt x="288132" y="223343"/>
                </a:cubicBezTo>
                <a:close/>
                <a:moveTo>
                  <a:pt x="261938" y="223343"/>
                </a:moveTo>
                <a:cubicBezTo>
                  <a:pt x="257554" y="223343"/>
                  <a:pt x="254000" y="226897"/>
                  <a:pt x="254000" y="231281"/>
                </a:cubicBezTo>
                <a:cubicBezTo>
                  <a:pt x="254000" y="235665"/>
                  <a:pt x="257554" y="239219"/>
                  <a:pt x="261938" y="239219"/>
                </a:cubicBezTo>
                <a:cubicBezTo>
                  <a:pt x="266322" y="239219"/>
                  <a:pt x="269876" y="235665"/>
                  <a:pt x="269876" y="231281"/>
                </a:cubicBezTo>
                <a:cubicBezTo>
                  <a:pt x="269876" y="226897"/>
                  <a:pt x="266322" y="223343"/>
                  <a:pt x="261938" y="223343"/>
                </a:cubicBezTo>
                <a:close/>
                <a:moveTo>
                  <a:pt x="116535" y="45543"/>
                </a:moveTo>
                <a:cubicBezTo>
                  <a:pt x="137788" y="45543"/>
                  <a:pt x="152400" y="68137"/>
                  <a:pt x="141773" y="88073"/>
                </a:cubicBezTo>
                <a:cubicBezTo>
                  <a:pt x="141773" y="88073"/>
                  <a:pt x="141773" y="88073"/>
                  <a:pt x="108565" y="102693"/>
                </a:cubicBezTo>
                <a:cubicBezTo>
                  <a:pt x="96610" y="98706"/>
                  <a:pt x="87312" y="88073"/>
                  <a:pt x="87312" y="74783"/>
                </a:cubicBezTo>
                <a:cubicBezTo>
                  <a:pt x="87312" y="58834"/>
                  <a:pt x="100595" y="45543"/>
                  <a:pt x="116535" y="45543"/>
                </a:cubicBezTo>
                <a:close/>
                <a:moveTo>
                  <a:pt x="254349" y="30428"/>
                </a:moveTo>
                <a:cubicBezTo>
                  <a:pt x="271421" y="26493"/>
                  <a:pt x="284553" y="44853"/>
                  <a:pt x="275361" y="48787"/>
                </a:cubicBezTo>
                <a:cubicBezTo>
                  <a:pt x="242530" y="63213"/>
                  <a:pt x="243843" y="57967"/>
                  <a:pt x="255662" y="85507"/>
                </a:cubicBezTo>
                <a:cubicBezTo>
                  <a:pt x="256976" y="89441"/>
                  <a:pt x="262228" y="92064"/>
                  <a:pt x="266168" y="89441"/>
                </a:cubicBezTo>
                <a:cubicBezTo>
                  <a:pt x="266168" y="89441"/>
                  <a:pt x="266168" y="89441"/>
                  <a:pt x="289806" y="80261"/>
                </a:cubicBezTo>
                <a:cubicBezTo>
                  <a:pt x="297685" y="76327"/>
                  <a:pt x="301625" y="99933"/>
                  <a:pt x="287180" y="109113"/>
                </a:cubicBezTo>
                <a:cubicBezTo>
                  <a:pt x="260915" y="124850"/>
                  <a:pt x="259602" y="123538"/>
                  <a:pt x="225458" y="111735"/>
                </a:cubicBezTo>
                <a:cubicBezTo>
                  <a:pt x="225458" y="111735"/>
                  <a:pt x="225458" y="111735"/>
                  <a:pt x="92823" y="166815"/>
                </a:cubicBezTo>
                <a:cubicBezTo>
                  <a:pt x="66559" y="177306"/>
                  <a:pt x="50800" y="137964"/>
                  <a:pt x="75751" y="127472"/>
                </a:cubicBezTo>
                <a:cubicBezTo>
                  <a:pt x="75751" y="127472"/>
                  <a:pt x="75751" y="127472"/>
                  <a:pt x="208386" y="72393"/>
                </a:cubicBezTo>
                <a:cubicBezTo>
                  <a:pt x="217579" y="54033"/>
                  <a:pt x="222832" y="38296"/>
                  <a:pt x="242530" y="33050"/>
                </a:cubicBezTo>
                <a:cubicBezTo>
                  <a:pt x="242530" y="33050"/>
                  <a:pt x="242530" y="33050"/>
                  <a:pt x="254349" y="30428"/>
                </a:cubicBezTo>
                <a:close/>
                <a:moveTo>
                  <a:pt x="186871" y="24906"/>
                </a:moveTo>
                <a:cubicBezTo>
                  <a:pt x="186871" y="24906"/>
                  <a:pt x="186871" y="24906"/>
                  <a:pt x="231775" y="24906"/>
                </a:cubicBezTo>
                <a:cubicBezTo>
                  <a:pt x="220889" y="30080"/>
                  <a:pt x="212725" y="37841"/>
                  <a:pt x="207282" y="48190"/>
                </a:cubicBezTo>
                <a:cubicBezTo>
                  <a:pt x="207282" y="48190"/>
                  <a:pt x="207282" y="48190"/>
                  <a:pt x="201839" y="59831"/>
                </a:cubicBezTo>
                <a:cubicBezTo>
                  <a:pt x="200479" y="52070"/>
                  <a:pt x="193675" y="45603"/>
                  <a:pt x="184150" y="45603"/>
                </a:cubicBezTo>
                <a:cubicBezTo>
                  <a:pt x="190954" y="39135"/>
                  <a:pt x="190954" y="31374"/>
                  <a:pt x="186871" y="24906"/>
                </a:cubicBezTo>
                <a:close/>
                <a:moveTo>
                  <a:pt x="18492" y="24906"/>
                </a:moveTo>
                <a:cubicBezTo>
                  <a:pt x="18492" y="24906"/>
                  <a:pt x="18492" y="24906"/>
                  <a:pt x="43588" y="24906"/>
                </a:cubicBezTo>
                <a:cubicBezTo>
                  <a:pt x="39626" y="32822"/>
                  <a:pt x="40946" y="40738"/>
                  <a:pt x="46230" y="46015"/>
                </a:cubicBezTo>
                <a:cubicBezTo>
                  <a:pt x="36984" y="46015"/>
                  <a:pt x="29059" y="53931"/>
                  <a:pt x="29059" y="63166"/>
                </a:cubicBezTo>
                <a:cubicBezTo>
                  <a:pt x="29059" y="82955"/>
                  <a:pt x="27738" y="89552"/>
                  <a:pt x="31700" y="96148"/>
                </a:cubicBezTo>
                <a:cubicBezTo>
                  <a:pt x="31700" y="96148"/>
                  <a:pt x="31700" y="96148"/>
                  <a:pt x="31700" y="206969"/>
                </a:cubicBezTo>
                <a:cubicBezTo>
                  <a:pt x="31700" y="210926"/>
                  <a:pt x="35663" y="214884"/>
                  <a:pt x="39626" y="214884"/>
                </a:cubicBezTo>
                <a:cubicBezTo>
                  <a:pt x="39626" y="214884"/>
                  <a:pt x="39626" y="214884"/>
                  <a:pt x="298512" y="214884"/>
                </a:cubicBezTo>
                <a:cubicBezTo>
                  <a:pt x="302475" y="214884"/>
                  <a:pt x="306438" y="210926"/>
                  <a:pt x="306438" y="206969"/>
                </a:cubicBezTo>
                <a:cubicBezTo>
                  <a:pt x="306438" y="206969"/>
                  <a:pt x="306438" y="206969"/>
                  <a:pt x="306438" y="104064"/>
                </a:cubicBezTo>
                <a:cubicBezTo>
                  <a:pt x="309079" y="96148"/>
                  <a:pt x="310400" y="86913"/>
                  <a:pt x="306438" y="77678"/>
                </a:cubicBezTo>
                <a:cubicBezTo>
                  <a:pt x="306438" y="59208"/>
                  <a:pt x="306438" y="61846"/>
                  <a:pt x="274737" y="61846"/>
                </a:cubicBezTo>
                <a:cubicBezTo>
                  <a:pt x="274737" y="61846"/>
                  <a:pt x="274737" y="61846"/>
                  <a:pt x="281341" y="59208"/>
                </a:cubicBezTo>
                <a:cubicBezTo>
                  <a:pt x="293229" y="53931"/>
                  <a:pt x="294550" y="38099"/>
                  <a:pt x="280021" y="24906"/>
                </a:cubicBezTo>
                <a:cubicBezTo>
                  <a:pt x="280021" y="24906"/>
                  <a:pt x="280021" y="24906"/>
                  <a:pt x="319646" y="24906"/>
                </a:cubicBezTo>
                <a:cubicBezTo>
                  <a:pt x="330213" y="24906"/>
                  <a:pt x="338138" y="34141"/>
                  <a:pt x="338138" y="43376"/>
                </a:cubicBezTo>
                <a:cubicBezTo>
                  <a:pt x="338138" y="43376"/>
                  <a:pt x="338138" y="43376"/>
                  <a:pt x="338138" y="234674"/>
                </a:cubicBezTo>
                <a:cubicBezTo>
                  <a:pt x="338138" y="243909"/>
                  <a:pt x="330213" y="251825"/>
                  <a:pt x="319646" y="251825"/>
                </a:cubicBezTo>
                <a:cubicBezTo>
                  <a:pt x="319646" y="251825"/>
                  <a:pt x="319646" y="251825"/>
                  <a:pt x="200769" y="251825"/>
                </a:cubicBezTo>
                <a:cubicBezTo>
                  <a:pt x="200769" y="251825"/>
                  <a:pt x="200769" y="251825"/>
                  <a:pt x="216620" y="290084"/>
                </a:cubicBezTo>
                <a:cubicBezTo>
                  <a:pt x="216620" y="290084"/>
                  <a:pt x="216620" y="290084"/>
                  <a:pt x="224545" y="290084"/>
                </a:cubicBezTo>
                <a:cubicBezTo>
                  <a:pt x="229828" y="290084"/>
                  <a:pt x="235112" y="295361"/>
                  <a:pt x="235112" y="301958"/>
                </a:cubicBezTo>
                <a:cubicBezTo>
                  <a:pt x="235112" y="308554"/>
                  <a:pt x="229828" y="313831"/>
                  <a:pt x="224545" y="313831"/>
                </a:cubicBezTo>
                <a:cubicBezTo>
                  <a:pt x="224545" y="313831"/>
                  <a:pt x="224545" y="313831"/>
                  <a:pt x="113593" y="313831"/>
                </a:cubicBezTo>
                <a:cubicBezTo>
                  <a:pt x="108310" y="313831"/>
                  <a:pt x="103026" y="308554"/>
                  <a:pt x="103026" y="301958"/>
                </a:cubicBezTo>
                <a:cubicBezTo>
                  <a:pt x="103026" y="295361"/>
                  <a:pt x="108310" y="290084"/>
                  <a:pt x="113593" y="290084"/>
                </a:cubicBezTo>
                <a:cubicBezTo>
                  <a:pt x="113593" y="290084"/>
                  <a:pt x="113593" y="290084"/>
                  <a:pt x="121518" y="290084"/>
                </a:cubicBezTo>
                <a:cubicBezTo>
                  <a:pt x="121518" y="290084"/>
                  <a:pt x="121518" y="290084"/>
                  <a:pt x="137369" y="251825"/>
                </a:cubicBezTo>
                <a:cubicBezTo>
                  <a:pt x="137369" y="251825"/>
                  <a:pt x="137369" y="251825"/>
                  <a:pt x="18492" y="251825"/>
                </a:cubicBezTo>
                <a:cubicBezTo>
                  <a:pt x="7925" y="251825"/>
                  <a:pt x="0" y="243909"/>
                  <a:pt x="0" y="234674"/>
                </a:cubicBezTo>
                <a:cubicBezTo>
                  <a:pt x="0" y="234674"/>
                  <a:pt x="0" y="234674"/>
                  <a:pt x="0" y="43376"/>
                </a:cubicBezTo>
                <a:cubicBezTo>
                  <a:pt x="0" y="34141"/>
                  <a:pt x="7925" y="24906"/>
                  <a:pt x="18492" y="24906"/>
                </a:cubicBezTo>
                <a:close/>
                <a:moveTo>
                  <a:pt x="109666" y="1"/>
                </a:moveTo>
                <a:cubicBezTo>
                  <a:pt x="113718" y="21"/>
                  <a:pt x="119286" y="267"/>
                  <a:pt x="126932" y="267"/>
                </a:cubicBezTo>
                <a:cubicBezTo>
                  <a:pt x="134910" y="267"/>
                  <a:pt x="133580" y="10764"/>
                  <a:pt x="133580" y="18637"/>
                </a:cubicBezTo>
                <a:cubicBezTo>
                  <a:pt x="137569" y="19949"/>
                  <a:pt x="140229" y="21261"/>
                  <a:pt x="144218" y="22573"/>
                </a:cubicBezTo>
                <a:cubicBezTo>
                  <a:pt x="158845" y="6828"/>
                  <a:pt x="154855" y="8140"/>
                  <a:pt x="177460" y="29134"/>
                </a:cubicBezTo>
                <a:cubicBezTo>
                  <a:pt x="182779" y="35695"/>
                  <a:pt x="174801" y="40943"/>
                  <a:pt x="168152" y="47504"/>
                </a:cubicBezTo>
                <a:cubicBezTo>
                  <a:pt x="170812" y="50128"/>
                  <a:pt x="172142" y="54065"/>
                  <a:pt x="173471" y="58001"/>
                </a:cubicBezTo>
                <a:cubicBezTo>
                  <a:pt x="188098" y="58001"/>
                  <a:pt x="192087" y="55377"/>
                  <a:pt x="192087" y="67186"/>
                </a:cubicBezTo>
                <a:cubicBezTo>
                  <a:pt x="192087" y="67186"/>
                  <a:pt x="192087" y="67186"/>
                  <a:pt x="154855" y="82931"/>
                </a:cubicBezTo>
                <a:cubicBezTo>
                  <a:pt x="160174" y="58001"/>
                  <a:pt x="140229" y="35695"/>
                  <a:pt x="116294" y="35695"/>
                </a:cubicBezTo>
                <a:cubicBezTo>
                  <a:pt x="93689" y="35695"/>
                  <a:pt x="76403" y="52753"/>
                  <a:pt x="76403" y="75059"/>
                </a:cubicBezTo>
                <a:cubicBezTo>
                  <a:pt x="76403" y="88180"/>
                  <a:pt x="83052" y="101301"/>
                  <a:pt x="93689" y="107862"/>
                </a:cubicBezTo>
                <a:cubicBezTo>
                  <a:pt x="73744" y="117047"/>
                  <a:pt x="67095" y="118359"/>
                  <a:pt x="59117" y="124919"/>
                </a:cubicBezTo>
                <a:cubicBezTo>
                  <a:pt x="48479" y="114422"/>
                  <a:pt x="49809" y="115734"/>
                  <a:pt x="63106" y="102613"/>
                </a:cubicBezTo>
                <a:cubicBezTo>
                  <a:pt x="61776" y="98677"/>
                  <a:pt x="60447" y="96053"/>
                  <a:pt x="59117" y="92116"/>
                </a:cubicBezTo>
                <a:cubicBezTo>
                  <a:pt x="36512" y="92116"/>
                  <a:pt x="40501" y="94740"/>
                  <a:pt x="40501" y="63249"/>
                </a:cubicBezTo>
                <a:cubicBezTo>
                  <a:pt x="40501" y="55377"/>
                  <a:pt x="51139" y="58001"/>
                  <a:pt x="59117" y="58001"/>
                </a:cubicBezTo>
                <a:cubicBezTo>
                  <a:pt x="60447" y="54065"/>
                  <a:pt x="61776" y="50128"/>
                  <a:pt x="63106" y="47504"/>
                </a:cubicBezTo>
                <a:cubicBezTo>
                  <a:pt x="47150" y="31759"/>
                  <a:pt x="48479" y="35695"/>
                  <a:pt x="69755" y="14700"/>
                </a:cubicBezTo>
                <a:cubicBezTo>
                  <a:pt x="76403" y="8140"/>
                  <a:pt x="81722" y="17325"/>
                  <a:pt x="88370" y="22573"/>
                </a:cubicBezTo>
                <a:cubicBezTo>
                  <a:pt x="91030" y="21261"/>
                  <a:pt x="95019" y="19949"/>
                  <a:pt x="99008" y="18637"/>
                </a:cubicBezTo>
                <a:cubicBezTo>
                  <a:pt x="99008" y="1907"/>
                  <a:pt x="97512" y="-61"/>
                  <a:pt x="109666" y="1"/>
                </a:cubicBezTo>
                <a:close/>
              </a:path>
            </a:pathLst>
          </a:custGeom>
          <a:solidFill>
            <a:srgbClr val="0070C0"/>
          </a:solidFill>
          <a:ln>
            <a:noFill/>
          </a:ln>
        </p:spPr>
        <p:txBody>
          <a:bodyPr/>
          <a:lstStyle/>
          <a:p>
            <a:endParaRPr lang="zh-CN" altLang="en-US"/>
          </a:p>
        </p:txBody>
      </p:sp>
      <p:sp>
        <p:nvSpPr>
          <p:cNvPr id="38" name="graph_134483"/>
          <p:cNvSpPr>
            <a:spLocks noChangeAspect="1"/>
          </p:cNvSpPr>
          <p:nvPr/>
        </p:nvSpPr>
        <p:spPr bwMode="auto">
          <a:xfrm>
            <a:off x="9435038" y="3005673"/>
            <a:ext cx="609685" cy="555432"/>
          </a:xfrm>
          <a:custGeom>
            <a:avLst/>
            <a:gdLst>
              <a:gd name="connsiteX0" fmla="*/ 260506 w 331788"/>
              <a:gd name="connsiteY0" fmla="*/ 76839 h 302264"/>
              <a:gd name="connsiteX1" fmla="*/ 326604 w 331788"/>
              <a:gd name="connsiteY1" fmla="*/ 76839 h 302264"/>
              <a:gd name="connsiteX2" fmla="*/ 326604 w 331788"/>
              <a:gd name="connsiteY2" fmla="*/ 291959 h 302264"/>
              <a:gd name="connsiteX3" fmla="*/ 331788 w 331788"/>
              <a:gd name="connsiteY3" fmla="*/ 297111 h 302264"/>
              <a:gd name="connsiteX4" fmla="*/ 326604 w 331788"/>
              <a:gd name="connsiteY4" fmla="*/ 302264 h 302264"/>
              <a:gd name="connsiteX5" fmla="*/ 5184 w 331788"/>
              <a:gd name="connsiteY5" fmla="*/ 302264 h 302264"/>
              <a:gd name="connsiteX6" fmla="*/ 0 w 331788"/>
              <a:gd name="connsiteY6" fmla="*/ 297111 h 302264"/>
              <a:gd name="connsiteX7" fmla="*/ 5184 w 331788"/>
              <a:gd name="connsiteY7" fmla="*/ 291959 h 302264"/>
              <a:gd name="connsiteX8" fmla="*/ 11664 w 331788"/>
              <a:gd name="connsiteY8" fmla="*/ 291959 h 302264"/>
              <a:gd name="connsiteX9" fmla="*/ 11664 w 331788"/>
              <a:gd name="connsiteY9" fmla="*/ 214670 h 302264"/>
              <a:gd name="connsiteX10" fmla="*/ 77763 w 331788"/>
              <a:gd name="connsiteY10" fmla="*/ 214670 h 302264"/>
              <a:gd name="connsiteX11" fmla="*/ 77763 w 331788"/>
              <a:gd name="connsiteY11" fmla="*/ 291959 h 302264"/>
              <a:gd name="connsiteX12" fmla="*/ 94612 w 331788"/>
              <a:gd name="connsiteY12" fmla="*/ 291959 h 302264"/>
              <a:gd name="connsiteX13" fmla="*/ 94612 w 331788"/>
              <a:gd name="connsiteY13" fmla="*/ 165721 h 302264"/>
              <a:gd name="connsiteX14" fmla="*/ 160710 w 331788"/>
              <a:gd name="connsiteY14" fmla="*/ 165721 h 302264"/>
              <a:gd name="connsiteX15" fmla="*/ 160710 w 331788"/>
              <a:gd name="connsiteY15" fmla="*/ 291959 h 302264"/>
              <a:gd name="connsiteX16" fmla="*/ 177559 w 331788"/>
              <a:gd name="connsiteY16" fmla="*/ 291959 h 302264"/>
              <a:gd name="connsiteX17" fmla="*/ 177559 w 331788"/>
              <a:gd name="connsiteY17" fmla="*/ 121924 h 302264"/>
              <a:gd name="connsiteX18" fmla="*/ 243657 w 331788"/>
              <a:gd name="connsiteY18" fmla="*/ 121924 h 302264"/>
              <a:gd name="connsiteX19" fmla="*/ 243657 w 331788"/>
              <a:gd name="connsiteY19" fmla="*/ 291959 h 302264"/>
              <a:gd name="connsiteX20" fmla="*/ 260506 w 331788"/>
              <a:gd name="connsiteY20" fmla="*/ 291959 h 302264"/>
              <a:gd name="connsiteX21" fmla="*/ 260506 w 331788"/>
              <a:gd name="connsiteY21" fmla="*/ 76839 h 302264"/>
              <a:gd name="connsiteX22" fmla="*/ 212230 w 331788"/>
              <a:gd name="connsiteY22" fmla="*/ 334 h 302264"/>
              <a:gd name="connsiteX23" fmla="*/ 259954 w 331788"/>
              <a:gd name="connsiteY23" fmla="*/ 4179 h 302264"/>
              <a:gd name="connsiteX24" fmla="*/ 261244 w 331788"/>
              <a:gd name="connsiteY24" fmla="*/ 5460 h 302264"/>
              <a:gd name="connsiteX25" fmla="*/ 262534 w 331788"/>
              <a:gd name="connsiteY25" fmla="*/ 5460 h 302264"/>
              <a:gd name="connsiteX26" fmla="*/ 263823 w 331788"/>
              <a:gd name="connsiteY26" fmla="*/ 6742 h 302264"/>
              <a:gd name="connsiteX27" fmla="*/ 263823 w 331788"/>
              <a:gd name="connsiteY27" fmla="*/ 8024 h 302264"/>
              <a:gd name="connsiteX28" fmla="*/ 265113 w 331788"/>
              <a:gd name="connsiteY28" fmla="*/ 8024 h 302264"/>
              <a:gd name="connsiteX29" fmla="*/ 265113 w 331788"/>
              <a:gd name="connsiteY29" fmla="*/ 9305 h 302264"/>
              <a:gd name="connsiteX30" fmla="*/ 265113 w 331788"/>
              <a:gd name="connsiteY30" fmla="*/ 10587 h 302264"/>
              <a:gd name="connsiteX31" fmla="*/ 265113 w 331788"/>
              <a:gd name="connsiteY31" fmla="*/ 11869 h 302264"/>
              <a:gd name="connsiteX32" fmla="*/ 263823 w 331788"/>
              <a:gd name="connsiteY32" fmla="*/ 11869 h 302264"/>
              <a:gd name="connsiteX33" fmla="*/ 244476 w 331788"/>
              <a:gd name="connsiteY33" fmla="*/ 55445 h 302264"/>
              <a:gd name="connsiteX34" fmla="*/ 239316 w 331788"/>
              <a:gd name="connsiteY34" fmla="*/ 58008 h 302264"/>
              <a:gd name="connsiteX35" fmla="*/ 238026 w 331788"/>
              <a:gd name="connsiteY35" fmla="*/ 58008 h 302264"/>
              <a:gd name="connsiteX36" fmla="*/ 234157 w 331788"/>
              <a:gd name="connsiteY36" fmla="*/ 50318 h 302264"/>
              <a:gd name="connsiteX37" fmla="*/ 247055 w 331788"/>
              <a:gd name="connsiteY37" fmla="*/ 23403 h 302264"/>
              <a:gd name="connsiteX38" fmla="*/ 47129 w 331788"/>
              <a:gd name="connsiteY38" fmla="*/ 137470 h 302264"/>
              <a:gd name="connsiteX39" fmla="*/ 44549 w 331788"/>
              <a:gd name="connsiteY39" fmla="*/ 138752 h 302264"/>
              <a:gd name="connsiteX40" fmla="*/ 40680 w 331788"/>
              <a:gd name="connsiteY40" fmla="*/ 136189 h 302264"/>
              <a:gd name="connsiteX41" fmla="*/ 41970 w 331788"/>
              <a:gd name="connsiteY41" fmla="*/ 128499 h 302264"/>
              <a:gd name="connsiteX42" fmla="*/ 241896 w 331788"/>
              <a:gd name="connsiteY42" fmla="*/ 13150 h 302264"/>
              <a:gd name="connsiteX43" fmla="*/ 212230 w 331788"/>
              <a:gd name="connsiteY43" fmla="*/ 10587 h 302264"/>
              <a:gd name="connsiteX44" fmla="*/ 207070 w 331788"/>
              <a:gd name="connsiteY44" fmla="*/ 5460 h 302264"/>
              <a:gd name="connsiteX45" fmla="*/ 212230 w 331788"/>
              <a:gd name="connsiteY45" fmla="*/ 334 h 3022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331788" h="302264">
                <a:moveTo>
                  <a:pt x="260506" y="76839"/>
                </a:moveTo>
                <a:cubicBezTo>
                  <a:pt x="260506" y="76839"/>
                  <a:pt x="260506" y="76839"/>
                  <a:pt x="326604" y="76839"/>
                </a:cubicBezTo>
                <a:cubicBezTo>
                  <a:pt x="326604" y="76839"/>
                  <a:pt x="326604" y="76839"/>
                  <a:pt x="326604" y="291959"/>
                </a:cubicBezTo>
                <a:cubicBezTo>
                  <a:pt x="329196" y="291959"/>
                  <a:pt x="331788" y="294535"/>
                  <a:pt x="331788" y="297111"/>
                </a:cubicBezTo>
                <a:cubicBezTo>
                  <a:pt x="331788" y="299688"/>
                  <a:pt x="329196" y="302264"/>
                  <a:pt x="326604" y="302264"/>
                </a:cubicBezTo>
                <a:cubicBezTo>
                  <a:pt x="326604" y="302264"/>
                  <a:pt x="326604" y="302264"/>
                  <a:pt x="5184" y="302264"/>
                </a:cubicBezTo>
                <a:cubicBezTo>
                  <a:pt x="2592" y="302264"/>
                  <a:pt x="0" y="299688"/>
                  <a:pt x="0" y="297111"/>
                </a:cubicBezTo>
                <a:cubicBezTo>
                  <a:pt x="0" y="294535"/>
                  <a:pt x="2592" y="291959"/>
                  <a:pt x="5184" y="291959"/>
                </a:cubicBezTo>
                <a:cubicBezTo>
                  <a:pt x="5184" y="291959"/>
                  <a:pt x="5184" y="291959"/>
                  <a:pt x="11664" y="291959"/>
                </a:cubicBezTo>
                <a:cubicBezTo>
                  <a:pt x="11664" y="291959"/>
                  <a:pt x="11664" y="291959"/>
                  <a:pt x="11664" y="214670"/>
                </a:cubicBezTo>
                <a:cubicBezTo>
                  <a:pt x="11664" y="214670"/>
                  <a:pt x="11664" y="214670"/>
                  <a:pt x="77763" y="214670"/>
                </a:cubicBezTo>
                <a:cubicBezTo>
                  <a:pt x="77763" y="214670"/>
                  <a:pt x="77763" y="214670"/>
                  <a:pt x="77763" y="291959"/>
                </a:cubicBezTo>
                <a:cubicBezTo>
                  <a:pt x="77763" y="291959"/>
                  <a:pt x="77763" y="291959"/>
                  <a:pt x="94612" y="291959"/>
                </a:cubicBezTo>
                <a:cubicBezTo>
                  <a:pt x="94612" y="291959"/>
                  <a:pt x="94612" y="291959"/>
                  <a:pt x="94612" y="165721"/>
                </a:cubicBezTo>
                <a:cubicBezTo>
                  <a:pt x="94612" y="165721"/>
                  <a:pt x="94612" y="165721"/>
                  <a:pt x="160710" y="165721"/>
                </a:cubicBezTo>
                <a:cubicBezTo>
                  <a:pt x="160710" y="165721"/>
                  <a:pt x="160710" y="165721"/>
                  <a:pt x="160710" y="291959"/>
                </a:cubicBezTo>
                <a:cubicBezTo>
                  <a:pt x="160710" y="291959"/>
                  <a:pt x="160710" y="291959"/>
                  <a:pt x="177559" y="291959"/>
                </a:cubicBezTo>
                <a:cubicBezTo>
                  <a:pt x="177559" y="291959"/>
                  <a:pt x="177559" y="291959"/>
                  <a:pt x="177559" y="121924"/>
                </a:cubicBezTo>
                <a:cubicBezTo>
                  <a:pt x="177559" y="121924"/>
                  <a:pt x="177559" y="121924"/>
                  <a:pt x="243657" y="121924"/>
                </a:cubicBezTo>
                <a:cubicBezTo>
                  <a:pt x="243657" y="121924"/>
                  <a:pt x="243657" y="121924"/>
                  <a:pt x="243657" y="291959"/>
                </a:cubicBezTo>
                <a:cubicBezTo>
                  <a:pt x="243657" y="291959"/>
                  <a:pt x="243657" y="291959"/>
                  <a:pt x="260506" y="291959"/>
                </a:cubicBezTo>
                <a:cubicBezTo>
                  <a:pt x="260506" y="291959"/>
                  <a:pt x="260506" y="291959"/>
                  <a:pt x="260506" y="76839"/>
                </a:cubicBezTo>
                <a:close/>
                <a:moveTo>
                  <a:pt x="212230" y="334"/>
                </a:moveTo>
                <a:cubicBezTo>
                  <a:pt x="212230" y="334"/>
                  <a:pt x="212230" y="334"/>
                  <a:pt x="259954" y="4179"/>
                </a:cubicBezTo>
                <a:cubicBezTo>
                  <a:pt x="259954" y="4179"/>
                  <a:pt x="261244" y="4179"/>
                  <a:pt x="261244" y="5460"/>
                </a:cubicBezTo>
                <a:cubicBezTo>
                  <a:pt x="262534" y="5460"/>
                  <a:pt x="262534" y="5460"/>
                  <a:pt x="262534" y="5460"/>
                </a:cubicBezTo>
                <a:cubicBezTo>
                  <a:pt x="262534" y="5460"/>
                  <a:pt x="263823" y="6742"/>
                  <a:pt x="263823" y="6742"/>
                </a:cubicBezTo>
                <a:cubicBezTo>
                  <a:pt x="263823" y="6742"/>
                  <a:pt x="263823" y="8024"/>
                  <a:pt x="263823" y="8024"/>
                </a:cubicBezTo>
                <a:cubicBezTo>
                  <a:pt x="263823" y="8024"/>
                  <a:pt x="265113" y="8024"/>
                  <a:pt x="265113" y="8024"/>
                </a:cubicBezTo>
                <a:cubicBezTo>
                  <a:pt x="265113" y="8024"/>
                  <a:pt x="265113" y="8024"/>
                  <a:pt x="265113" y="9305"/>
                </a:cubicBezTo>
                <a:cubicBezTo>
                  <a:pt x="265113" y="9305"/>
                  <a:pt x="265113" y="10587"/>
                  <a:pt x="265113" y="10587"/>
                </a:cubicBezTo>
                <a:cubicBezTo>
                  <a:pt x="265113" y="10587"/>
                  <a:pt x="265113" y="11869"/>
                  <a:pt x="265113" y="11869"/>
                </a:cubicBezTo>
                <a:cubicBezTo>
                  <a:pt x="263823" y="11869"/>
                  <a:pt x="263823" y="11869"/>
                  <a:pt x="263823" y="11869"/>
                </a:cubicBezTo>
                <a:cubicBezTo>
                  <a:pt x="263823" y="11869"/>
                  <a:pt x="263823" y="11869"/>
                  <a:pt x="244476" y="55445"/>
                </a:cubicBezTo>
                <a:cubicBezTo>
                  <a:pt x="244476" y="56726"/>
                  <a:pt x="241896" y="58008"/>
                  <a:pt x="239316" y="58008"/>
                </a:cubicBezTo>
                <a:cubicBezTo>
                  <a:pt x="239316" y="58008"/>
                  <a:pt x="238026" y="58008"/>
                  <a:pt x="238026" y="58008"/>
                </a:cubicBezTo>
                <a:cubicBezTo>
                  <a:pt x="234157" y="56726"/>
                  <a:pt x="232867" y="52881"/>
                  <a:pt x="234157" y="50318"/>
                </a:cubicBezTo>
                <a:cubicBezTo>
                  <a:pt x="234157" y="50318"/>
                  <a:pt x="234157" y="50318"/>
                  <a:pt x="247055" y="23403"/>
                </a:cubicBezTo>
                <a:cubicBezTo>
                  <a:pt x="247055" y="23403"/>
                  <a:pt x="247055" y="23403"/>
                  <a:pt x="47129" y="137470"/>
                </a:cubicBezTo>
                <a:cubicBezTo>
                  <a:pt x="47129" y="138752"/>
                  <a:pt x="45839" y="138752"/>
                  <a:pt x="44549" y="138752"/>
                </a:cubicBezTo>
                <a:cubicBezTo>
                  <a:pt x="43260" y="138752"/>
                  <a:pt x="40680" y="137470"/>
                  <a:pt x="40680" y="136189"/>
                </a:cubicBezTo>
                <a:cubicBezTo>
                  <a:pt x="38100" y="133625"/>
                  <a:pt x="39390" y="129780"/>
                  <a:pt x="41970" y="128499"/>
                </a:cubicBezTo>
                <a:cubicBezTo>
                  <a:pt x="41970" y="128499"/>
                  <a:pt x="41970" y="128499"/>
                  <a:pt x="241896" y="13150"/>
                </a:cubicBezTo>
                <a:cubicBezTo>
                  <a:pt x="241896" y="13150"/>
                  <a:pt x="241896" y="13150"/>
                  <a:pt x="212230" y="10587"/>
                </a:cubicBezTo>
                <a:cubicBezTo>
                  <a:pt x="208360" y="10587"/>
                  <a:pt x="207070" y="8024"/>
                  <a:pt x="207070" y="5460"/>
                </a:cubicBezTo>
                <a:cubicBezTo>
                  <a:pt x="207070" y="1615"/>
                  <a:pt x="209650" y="-948"/>
                  <a:pt x="212230" y="334"/>
                </a:cubicBezTo>
                <a:close/>
              </a:path>
            </a:pathLst>
          </a:custGeom>
          <a:solidFill>
            <a:srgbClr val="0070C0"/>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lt"/>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35"/>
          <p:cNvSpPr txBox="1">
            <a:spLocks noChangeArrowheads="1"/>
          </p:cNvSpPr>
          <p:nvPr/>
        </p:nvSpPr>
        <p:spPr bwMode="auto">
          <a:xfrm>
            <a:off x="1271270" y="909955"/>
            <a:ext cx="10161905" cy="302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buClrTx/>
              <a:buSzTx/>
              <a:buFontTx/>
            </a:pPr>
            <a:r>
              <a:rPr lang="zh-CN" altLang="en-US" sz="1800" dirty="0">
                <a:solidFill>
                  <a:srgbClr val="595959"/>
                </a:solidFill>
                <a:latin typeface="微软雅黑" panose="020B0503020204020204" pitchFamily="34" charset="-122"/>
                <a:ea typeface="微软雅黑" panose="020B0503020204020204" pitchFamily="34" charset="-122"/>
              </a:rPr>
              <a:t>利用正交实验设计法设计测试用例时，可以按照以下3个步骤进行。</a:t>
            </a:r>
          </a:p>
          <a:p>
            <a:pPr algn="just">
              <a:lnSpc>
                <a:spcPct val="150000"/>
              </a:lnSpc>
              <a:buClrTx/>
              <a:buSzTx/>
              <a:buFontTx/>
            </a:pPr>
            <a:r>
              <a:rPr lang="zh-CN" altLang="en-US" sz="1800" b="1" dirty="0">
                <a:solidFill>
                  <a:srgbClr val="595959"/>
                </a:solidFill>
                <a:latin typeface="微软雅黑" panose="020B0503020204020204" pitchFamily="34" charset="-122"/>
                <a:ea typeface="微软雅黑" panose="020B0503020204020204" pitchFamily="34" charset="-122"/>
              </a:rPr>
              <a:t>1.</a:t>
            </a:r>
            <a:r>
              <a:rPr lang="en-US" altLang="zh-CN" sz="1800" b="1" dirty="0">
                <a:solidFill>
                  <a:srgbClr val="595959"/>
                </a:solidFill>
                <a:latin typeface="微软雅黑" panose="020B0503020204020204" pitchFamily="34" charset="-122"/>
                <a:ea typeface="微软雅黑" panose="020B0503020204020204" pitchFamily="34" charset="-122"/>
              </a:rPr>
              <a:t> </a:t>
            </a:r>
            <a:r>
              <a:rPr lang="zh-CN" altLang="en-US" sz="1800" b="1" dirty="0">
                <a:solidFill>
                  <a:srgbClr val="595959"/>
                </a:solidFill>
                <a:latin typeface="微软雅黑" panose="020B0503020204020204" pitchFamily="34" charset="-122"/>
                <a:ea typeface="微软雅黑" panose="020B0503020204020204" pitchFamily="34" charset="-122"/>
              </a:rPr>
              <a:t>提取因子，构造</a:t>
            </a:r>
            <a:r>
              <a:rPr lang="zh-CN" altLang="en-US" sz="1800" b="1" dirty="0">
                <a:solidFill>
                  <a:srgbClr val="0070C0"/>
                </a:solidFill>
                <a:latin typeface="微软雅黑" panose="020B0503020204020204" pitchFamily="34" charset="-122"/>
                <a:ea typeface="微软雅黑" panose="020B0503020204020204" pitchFamily="34" charset="-122"/>
              </a:rPr>
              <a:t>因子-状态表</a:t>
            </a:r>
          </a:p>
          <a:p>
            <a:pPr indent="457200" algn="just">
              <a:lnSpc>
                <a:spcPct val="150000"/>
              </a:lnSpc>
              <a:buClrTx/>
              <a:buSzTx/>
              <a:buFontTx/>
            </a:pPr>
            <a:r>
              <a:rPr lang="zh-CN" altLang="en-US" sz="1800" dirty="0">
                <a:solidFill>
                  <a:srgbClr val="595959"/>
                </a:solidFill>
                <a:latin typeface="微软雅黑" panose="020B0503020204020204" pitchFamily="34" charset="-122"/>
                <a:ea typeface="微软雅黑" panose="020B0503020204020204" pitchFamily="34" charset="-122"/>
              </a:rPr>
              <a:t>分析软件的需求规格说明书得到影响软件功能的因子，确定因子可以有哪些取值，即</a:t>
            </a:r>
            <a:r>
              <a:rPr lang="zh-CN" altLang="en-US" sz="1800" dirty="0">
                <a:solidFill>
                  <a:srgbClr val="0070C0"/>
                </a:solidFill>
                <a:latin typeface="微软雅黑" panose="020B0503020204020204" pitchFamily="34" charset="-122"/>
                <a:ea typeface="微软雅黑" panose="020B0503020204020204" pitchFamily="34" charset="-122"/>
              </a:rPr>
              <a:t>确定因子的状态</a:t>
            </a:r>
            <a:r>
              <a:rPr lang="zh-CN" altLang="en-US" sz="1800" dirty="0">
                <a:solidFill>
                  <a:srgbClr val="595959"/>
                </a:solidFill>
                <a:latin typeface="微软雅黑" panose="020B0503020204020204" pitchFamily="34" charset="-122"/>
                <a:ea typeface="微软雅黑" panose="020B0503020204020204" pitchFamily="34" charset="-122"/>
              </a:rPr>
              <a:t>。例如，某一软件的运行受到操作系统和数据库的影响，因此影响其运行的因子有操作系统和数据库，而</a:t>
            </a:r>
            <a:r>
              <a:rPr lang="zh-CN" altLang="en-US" sz="1800" dirty="0">
                <a:solidFill>
                  <a:srgbClr val="0070C0"/>
                </a:solidFill>
                <a:latin typeface="微软雅黑" panose="020B0503020204020204" pitchFamily="34" charset="-122"/>
                <a:ea typeface="微软雅黑" panose="020B0503020204020204" pitchFamily="34" charset="-122"/>
              </a:rPr>
              <a:t>操作系统有Windows、Linux、</a:t>
            </a:r>
            <a:r>
              <a:rPr lang="en-US" altLang="zh-CN" sz="1800" dirty="0">
                <a:solidFill>
                  <a:srgbClr val="0070C0"/>
                </a:solidFill>
                <a:latin typeface="微软雅黑" panose="020B0503020204020204" pitchFamily="34" charset="-122"/>
                <a:ea typeface="微软雅黑" panose="020B0503020204020204" pitchFamily="34" charset="-122"/>
              </a:rPr>
              <a:t>macOS</a:t>
            </a:r>
            <a:r>
              <a:rPr lang="zh-CN" altLang="en-US" sz="1800" dirty="0">
                <a:solidFill>
                  <a:srgbClr val="595959"/>
                </a:solidFill>
                <a:latin typeface="微软雅黑" panose="020B0503020204020204" pitchFamily="34" charset="-122"/>
                <a:ea typeface="微软雅黑" panose="020B0503020204020204" pitchFamily="34" charset="-122"/>
              </a:rPr>
              <a:t>这</a:t>
            </a:r>
            <a:r>
              <a:rPr lang="en-US" altLang="zh-CN" sz="1800" dirty="0">
                <a:solidFill>
                  <a:srgbClr val="595959"/>
                </a:solidFill>
                <a:latin typeface="微软雅黑" panose="020B0503020204020204" pitchFamily="34" charset="-122"/>
                <a:ea typeface="微软雅黑" panose="020B0503020204020204" pitchFamily="34" charset="-122"/>
              </a:rPr>
              <a:t>3</a:t>
            </a:r>
            <a:r>
              <a:rPr lang="zh-CN" altLang="en-US" sz="1800" dirty="0">
                <a:solidFill>
                  <a:srgbClr val="595959"/>
                </a:solidFill>
                <a:latin typeface="微软雅黑" panose="020B0503020204020204" pitchFamily="34" charset="-122"/>
                <a:ea typeface="微软雅黑" panose="020B0503020204020204" pitchFamily="34" charset="-122"/>
              </a:rPr>
              <a:t>个取值，</a:t>
            </a:r>
            <a:r>
              <a:rPr lang="zh-CN" altLang="en-US" sz="1800" dirty="0">
                <a:solidFill>
                  <a:srgbClr val="0070C0"/>
                </a:solidFill>
                <a:latin typeface="微软雅黑" panose="020B0503020204020204" pitchFamily="34" charset="-122"/>
                <a:ea typeface="微软雅黑" panose="020B0503020204020204" pitchFamily="34" charset="-122"/>
              </a:rPr>
              <a:t>数据库有MySQL、MongoDB、Oracle</a:t>
            </a:r>
            <a:r>
              <a:rPr lang="zh-CN" altLang="en-US" sz="1800" dirty="0">
                <a:solidFill>
                  <a:srgbClr val="595959"/>
                </a:solidFill>
                <a:latin typeface="微软雅黑" panose="020B0503020204020204" pitchFamily="34" charset="-122"/>
                <a:ea typeface="微软雅黑" panose="020B0503020204020204" pitchFamily="34" charset="-122"/>
              </a:rPr>
              <a:t>这</a:t>
            </a:r>
            <a:r>
              <a:rPr lang="en-US" altLang="zh-CN" sz="1800" dirty="0">
                <a:solidFill>
                  <a:srgbClr val="595959"/>
                </a:solidFill>
                <a:latin typeface="微软雅黑" panose="020B0503020204020204" pitchFamily="34" charset="-122"/>
                <a:ea typeface="微软雅黑" panose="020B0503020204020204" pitchFamily="34" charset="-122"/>
              </a:rPr>
              <a:t>3</a:t>
            </a:r>
            <a:r>
              <a:rPr lang="zh-CN" altLang="en-US" sz="1800" dirty="0">
                <a:solidFill>
                  <a:srgbClr val="595959"/>
                </a:solidFill>
                <a:latin typeface="微软雅黑" panose="020B0503020204020204" pitchFamily="34" charset="-122"/>
                <a:ea typeface="微软雅黑" panose="020B0503020204020204" pitchFamily="34" charset="-122"/>
              </a:rPr>
              <a:t>个取值，所以</a:t>
            </a:r>
            <a:r>
              <a:rPr lang="zh-CN" altLang="en-US" sz="1800" dirty="0">
                <a:solidFill>
                  <a:srgbClr val="0070C0"/>
                </a:solidFill>
                <a:latin typeface="微软雅黑" panose="020B0503020204020204" pitchFamily="34" charset="-122"/>
                <a:ea typeface="微软雅黑" panose="020B0503020204020204" pitchFamily="34" charset="-122"/>
              </a:rPr>
              <a:t>操作系统</a:t>
            </a:r>
            <a:r>
              <a:rPr lang="zh-CN" altLang="en-US" sz="1800" dirty="0">
                <a:solidFill>
                  <a:srgbClr val="595959"/>
                </a:solidFill>
                <a:latin typeface="微软雅黑" panose="020B0503020204020204" pitchFamily="34" charset="-122"/>
                <a:ea typeface="微软雅黑" panose="020B0503020204020204" pitchFamily="34" charset="-122"/>
              </a:rPr>
              <a:t>的</a:t>
            </a:r>
            <a:r>
              <a:rPr lang="zh-CN" altLang="en-US" sz="1800" dirty="0">
                <a:solidFill>
                  <a:srgbClr val="0070C0"/>
                </a:solidFill>
                <a:latin typeface="微软雅黑" panose="020B0503020204020204" pitchFamily="34" charset="-122"/>
                <a:ea typeface="微软雅黑" panose="020B0503020204020204" pitchFamily="34" charset="-122"/>
              </a:rPr>
              <a:t>因子状态数为3</a:t>
            </a:r>
            <a:r>
              <a:rPr lang="zh-CN" altLang="en-US" sz="1800" dirty="0">
                <a:solidFill>
                  <a:srgbClr val="595959"/>
                </a:solidFill>
                <a:latin typeface="微软雅黑" panose="020B0503020204020204" pitchFamily="34" charset="-122"/>
                <a:ea typeface="微软雅黑" panose="020B0503020204020204" pitchFamily="34" charset="-122"/>
              </a:rPr>
              <a:t>，</a:t>
            </a:r>
            <a:r>
              <a:rPr lang="zh-CN" altLang="en-US" sz="1800" dirty="0">
                <a:solidFill>
                  <a:srgbClr val="0070C0"/>
                </a:solidFill>
                <a:latin typeface="微软雅黑" panose="020B0503020204020204" pitchFamily="34" charset="-122"/>
                <a:ea typeface="微软雅黑" panose="020B0503020204020204" pitchFamily="34" charset="-122"/>
              </a:rPr>
              <a:t>数据库的因子状态数为3</a:t>
            </a:r>
            <a:r>
              <a:rPr lang="zh-CN" altLang="en-US" sz="1800" dirty="0">
                <a:solidFill>
                  <a:srgbClr val="595959"/>
                </a:solidFill>
                <a:latin typeface="微软雅黑" panose="020B0503020204020204" pitchFamily="34" charset="-122"/>
                <a:ea typeface="微软雅黑" panose="020B0503020204020204" pitchFamily="34" charset="-122"/>
              </a:rPr>
              <a:t>。据此构造该软件运行功能的</a:t>
            </a:r>
            <a:r>
              <a:rPr lang="zh-CN" altLang="en-US" sz="1800" dirty="0">
                <a:solidFill>
                  <a:srgbClr val="0070C0"/>
                </a:solidFill>
                <a:latin typeface="微软雅黑" panose="020B0503020204020204" pitchFamily="34" charset="-122"/>
                <a:ea typeface="微软雅黑" panose="020B0503020204020204" pitchFamily="34" charset="-122"/>
              </a:rPr>
              <a:t>因子-状态表</a:t>
            </a:r>
            <a:r>
              <a:rPr lang="zh-CN" altLang="en-US" sz="1800" dirty="0">
                <a:solidFill>
                  <a:srgbClr val="595959"/>
                </a:solidFill>
                <a:latin typeface="微软雅黑" panose="020B0503020204020204" pitchFamily="34" charset="-122"/>
                <a:ea typeface="微软雅黑" panose="020B0503020204020204" pitchFamily="34" charset="-122"/>
              </a:rPr>
              <a:t>，如下表所示。</a:t>
            </a:r>
          </a:p>
        </p:txBody>
      </p:sp>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2.4.1	正交实验设计法概述</a:t>
            </a:r>
          </a:p>
        </p:txBody>
      </p:sp>
      <p:graphicFrame>
        <p:nvGraphicFramePr>
          <p:cNvPr id="4" name="表格 3"/>
          <p:cNvGraphicFramePr/>
          <p:nvPr>
            <p:custDataLst>
              <p:tags r:id="rId1"/>
            </p:custDataLst>
          </p:nvPr>
        </p:nvGraphicFramePr>
        <p:xfrm>
          <a:off x="2997835" y="4076065"/>
          <a:ext cx="6193790" cy="1744980"/>
        </p:xfrm>
        <a:graphic>
          <a:graphicData uri="http://schemas.openxmlformats.org/drawingml/2006/table">
            <a:tbl>
              <a:tblPr firstRow="1" bandRow="1">
                <a:tableStyleId>{5C22544A-7EE6-4342-B048-85BDC9FD1C3A}</a:tableStyleId>
              </a:tblPr>
              <a:tblGrid>
                <a:gridCol w="1727200">
                  <a:extLst>
                    <a:ext uri="{9D8B030D-6E8A-4147-A177-3AD203B41FA5}">
                      <a16:colId xmlns:a16="http://schemas.microsoft.com/office/drawing/2014/main" val="20000"/>
                    </a:ext>
                  </a:extLst>
                </a:gridCol>
                <a:gridCol w="1628140">
                  <a:extLst>
                    <a:ext uri="{9D8B030D-6E8A-4147-A177-3AD203B41FA5}">
                      <a16:colId xmlns:a16="http://schemas.microsoft.com/office/drawing/2014/main" val="20001"/>
                    </a:ext>
                  </a:extLst>
                </a:gridCol>
                <a:gridCol w="1456690">
                  <a:extLst>
                    <a:ext uri="{9D8B030D-6E8A-4147-A177-3AD203B41FA5}">
                      <a16:colId xmlns:a16="http://schemas.microsoft.com/office/drawing/2014/main" val="20002"/>
                    </a:ext>
                  </a:extLst>
                </a:gridCol>
                <a:gridCol w="1381760">
                  <a:extLst>
                    <a:ext uri="{9D8B030D-6E8A-4147-A177-3AD203B41FA5}">
                      <a16:colId xmlns:a16="http://schemas.microsoft.com/office/drawing/2014/main" val="20003"/>
                    </a:ext>
                  </a:extLst>
                </a:gridCol>
              </a:tblGrid>
              <a:tr h="605790">
                <a:tc>
                  <a:txBody>
                    <a:bodyPr/>
                    <a:lstStyle/>
                    <a:p>
                      <a:pPr algn="ctr">
                        <a:lnSpc>
                          <a:spcPct val="90000"/>
                        </a:lnSpc>
                        <a:buNone/>
                      </a:pPr>
                      <a:r>
                        <a:rPr lang="zh-CN" altLang="en-US" sz="1800" b="1">
                          <a:latin typeface="微软雅黑" panose="020B0503020204020204" pitchFamily="34" charset="-122"/>
                          <a:ea typeface="微软雅黑" panose="020B0503020204020204" pitchFamily="34" charset="-122"/>
                        </a:rPr>
                        <a:t>因子</a:t>
                      </a:r>
                    </a:p>
                  </a:txBody>
                  <a:tcPr anchor="ctr"/>
                </a:tc>
                <a:tc gridSpan="3">
                  <a:txBody>
                    <a:bodyPr/>
                    <a:lstStyle/>
                    <a:p>
                      <a:pPr algn="ctr">
                        <a:lnSpc>
                          <a:spcPct val="90000"/>
                        </a:lnSpc>
                        <a:buNone/>
                      </a:pPr>
                      <a:r>
                        <a:rPr lang="zh-CN" altLang="en-US" sz="1800">
                          <a:latin typeface="微软雅黑" panose="020B0503020204020204" pitchFamily="34" charset="-122"/>
                          <a:ea typeface="微软雅黑" panose="020B0503020204020204" pitchFamily="34" charset="-122"/>
                        </a:rPr>
                        <a:t>因子的状态</a:t>
                      </a:r>
                    </a:p>
                  </a:txBody>
                  <a:tcPr anchor="ctr"/>
                </a:tc>
                <a:tc hMerge="1">
                  <a:txBody>
                    <a:bodyPr/>
                    <a:lstStyle/>
                    <a:p>
                      <a:endParaRPr lang="zh-CN"/>
                    </a:p>
                  </a:txBody>
                  <a:tcPr anchor="ctr"/>
                </a:tc>
                <a:tc hMerge="1">
                  <a:txBody>
                    <a:bodyPr/>
                    <a:lstStyle/>
                    <a:p>
                      <a:endParaRPr lang="zh-CN"/>
                    </a:p>
                  </a:txBody>
                  <a:tcPr anchor="ctr"/>
                </a:tc>
                <a:extLst>
                  <a:ext uri="{0D108BD9-81ED-4DB2-BD59-A6C34878D82A}">
                    <a16:rowId xmlns:a16="http://schemas.microsoft.com/office/drawing/2014/main" val="10000"/>
                  </a:ext>
                </a:extLst>
              </a:tr>
              <a:tr h="588645">
                <a:tc>
                  <a:txBody>
                    <a:bodyPr/>
                    <a:lstStyle/>
                    <a:p>
                      <a:pPr algn="ctr">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操作系统</a:t>
                      </a:r>
                    </a:p>
                  </a:txBody>
                  <a:tcPr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Windows</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Linux</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macOS</a:t>
                      </a:r>
                    </a:p>
                  </a:txBody>
                  <a:tcPr marL="68580" marR="68580" marT="0" marB="0" anchor="ctr"/>
                </a:tc>
                <a:extLst>
                  <a:ext uri="{0D108BD9-81ED-4DB2-BD59-A6C34878D82A}">
                    <a16:rowId xmlns:a16="http://schemas.microsoft.com/office/drawing/2014/main" val="10001"/>
                  </a:ext>
                </a:extLst>
              </a:tr>
              <a:tr h="550545">
                <a:tc>
                  <a:txBody>
                    <a:bodyPr/>
                    <a:lstStyle/>
                    <a:p>
                      <a:pPr algn="ctr">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数据库</a:t>
                      </a:r>
                    </a:p>
                  </a:txBody>
                  <a:tcPr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MySQL</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MongoDB</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Oracle</a:t>
                      </a:r>
                    </a:p>
                  </a:txBody>
                  <a:tcPr marL="68580" marR="68580" marT="0" marB="0" anchor="ctr"/>
                </a:tc>
                <a:extLst>
                  <a:ext uri="{0D108BD9-81ED-4DB2-BD59-A6C34878D82A}">
                    <a16:rowId xmlns:a16="http://schemas.microsoft.com/office/drawing/2014/main" val="10002"/>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35"/>
          <p:cNvSpPr txBox="1">
            <a:spLocks noChangeArrowheads="1"/>
          </p:cNvSpPr>
          <p:nvPr/>
        </p:nvSpPr>
        <p:spPr bwMode="auto">
          <a:xfrm>
            <a:off x="1271270" y="837565"/>
            <a:ext cx="10161905" cy="427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buClrTx/>
              <a:buSzTx/>
              <a:buFontTx/>
            </a:pPr>
            <a:r>
              <a:rPr lang="en-US" altLang="zh-CN" sz="1800" b="1" dirty="0">
                <a:solidFill>
                  <a:srgbClr val="595959"/>
                </a:solidFill>
                <a:latin typeface="微软雅黑" panose="020B0503020204020204" pitchFamily="34" charset="-122"/>
                <a:ea typeface="微软雅黑" panose="020B0503020204020204" pitchFamily="34" charset="-122"/>
              </a:rPr>
              <a:t>2</a:t>
            </a:r>
            <a:r>
              <a:rPr lang="zh-CN" altLang="en-US" sz="1800" b="1" dirty="0">
                <a:solidFill>
                  <a:srgbClr val="595959"/>
                </a:solidFill>
                <a:latin typeface="微软雅黑" panose="020B0503020204020204" pitchFamily="34" charset="-122"/>
                <a:ea typeface="微软雅黑" panose="020B0503020204020204" pitchFamily="34" charset="-122"/>
              </a:rPr>
              <a:t>.</a:t>
            </a:r>
            <a:r>
              <a:rPr lang="en-US" altLang="zh-CN" sz="1800" b="1" dirty="0">
                <a:solidFill>
                  <a:srgbClr val="595959"/>
                </a:solidFill>
                <a:latin typeface="微软雅黑" panose="020B0503020204020204" pitchFamily="34" charset="-122"/>
                <a:ea typeface="微软雅黑" panose="020B0503020204020204" pitchFamily="34" charset="-122"/>
              </a:rPr>
              <a:t> </a:t>
            </a:r>
            <a:r>
              <a:rPr lang="zh-CN" altLang="en-US" sz="1800" b="1" dirty="0">
                <a:solidFill>
                  <a:srgbClr val="595959"/>
                </a:solidFill>
                <a:latin typeface="微软雅黑" panose="020B0503020204020204" pitchFamily="34" charset="-122"/>
                <a:ea typeface="微软雅黑" panose="020B0503020204020204" pitchFamily="34" charset="-122"/>
              </a:rPr>
              <a:t>加权筛选，简化因子-状态表</a:t>
            </a:r>
          </a:p>
          <a:p>
            <a:pPr indent="457200" algn="just">
              <a:lnSpc>
                <a:spcPct val="150000"/>
              </a:lnSpc>
              <a:buClrTx/>
              <a:buSzTx/>
              <a:buFontTx/>
            </a:pPr>
            <a:r>
              <a:rPr lang="zh-CN" altLang="en-US" sz="1800" dirty="0">
                <a:solidFill>
                  <a:srgbClr val="595959"/>
                </a:solidFill>
                <a:latin typeface="微软雅黑" panose="020B0503020204020204" pitchFamily="34" charset="-122"/>
                <a:ea typeface="微软雅黑" panose="020B0503020204020204" pitchFamily="34" charset="-122"/>
              </a:rPr>
              <a:t>在实际软件测试中，软件的因子及因子的状态会有很多，每个因子及其状态对软件的影响也大不相同，如果把这些因子及其状态都划分到因子-状态表中，最后生成的测试用例会相当庞大，从而会影响软件测试的效率。因此需要</a:t>
            </a:r>
            <a:r>
              <a:rPr lang="zh-CN" altLang="en-US" sz="1800" dirty="0">
                <a:solidFill>
                  <a:srgbClr val="0070C0"/>
                </a:solidFill>
                <a:latin typeface="微软雅黑" panose="020B0503020204020204" pitchFamily="34" charset="-122"/>
                <a:ea typeface="微软雅黑" panose="020B0503020204020204" pitchFamily="34" charset="-122"/>
              </a:rPr>
              <a:t>根据因子及其状态的重要程度进行加权筛选</a:t>
            </a:r>
            <a:r>
              <a:rPr lang="zh-CN" altLang="en-US" sz="1800" dirty="0">
                <a:solidFill>
                  <a:srgbClr val="595959"/>
                </a:solidFill>
                <a:latin typeface="微软雅黑" panose="020B0503020204020204" pitchFamily="34" charset="-122"/>
                <a:ea typeface="微软雅黑" panose="020B0503020204020204" pitchFamily="34" charset="-122"/>
              </a:rPr>
              <a:t>，</a:t>
            </a:r>
            <a:r>
              <a:rPr lang="zh-CN" altLang="en-US" sz="1800" dirty="0">
                <a:solidFill>
                  <a:srgbClr val="0070C0"/>
                </a:solidFill>
                <a:latin typeface="微软雅黑" panose="020B0503020204020204" pitchFamily="34" charset="-122"/>
                <a:ea typeface="微软雅黑" panose="020B0503020204020204" pitchFamily="34" charset="-122"/>
              </a:rPr>
              <a:t>选出重要的因子及其状态</a:t>
            </a:r>
            <a:r>
              <a:rPr lang="zh-CN" altLang="en-US" sz="1800" dirty="0">
                <a:solidFill>
                  <a:srgbClr val="595959"/>
                </a:solidFill>
                <a:latin typeface="微软雅黑" panose="020B0503020204020204" pitchFamily="34" charset="-122"/>
                <a:ea typeface="微软雅黑" panose="020B0503020204020204" pitchFamily="34" charset="-122"/>
              </a:rPr>
              <a:t>，</a:t>
            </a:r>
            <a:r>
              <a:rPr lang="zh-CN" altLang="en-US" sz="1800" dirty="0">
                <a:solidFill>
                  <a:srgbClr val="0070C0"/>
                </a:solidFill>
                <a:latin typeface="微软雅黑" panose="020B0503020204020204" pitchFamily="34" charset="-122"/>
                <a:ea typeface="微软雅黑" panose="020B0503020204020204" pitchFamily="34" charset="-122"/>
              </a:rPr>
              <a:t>简化因子-状态表</a:t>
            </a:r>
            <a:r>
              <a:rPr lang="zh-CN" altLang="en-US" sz="1800" dirty="0">
                <a:solidFill>
                  <a:srgbClr val="595959"/>
                </a:solidFill>
                <a:latin typeface="微软雅黑" panose="020B0503020204020204" pitchFamily="34" charset="-122"/>
                <a:ea typeface="微软雅黑" panose="020B0503020204020204" pitchFamily="34" charset="-122"/>
              </a:rPr>
              <a:t>。</a:t>
            </a:r>
          </a:p>
          <a:p>
            <a:pPr indent="457200" algn="just">
              <a:lnSpc>
                <a:spcPct val="150000"/>
              </a:lnSpc>
              <a:buClrTx/>
              <a:buSzTx/>
              <a:buFontTx/>
            </a:pPr>
            <a:r>
              <a:rPr lang="zh-CN" altLang="en-US" sz="1800" dirty="0">
                <a:solidFill>
                  <a:srgbClr val="0070C0"/>
                </a:solidFill>
                <a:latin typeface="微软雅黑" panose="020B0503020204020204" pitchFamily="34" charset="-122"/>
                <a:ea typeface="微软雅黑" panose="020B0503020204020204" pitchFamily="34" charset="-122"/>
              </a:rPr>
              <a:t>加权筛选</a:t>
            </a:r>
            <a:r>
              <a:rPr lang="zh-CN" altLang="en-US" sz="1800" dirty="0">
                <a:solidFill>
                  <a:srgbClr val="595959"/>
                </a:solidFill>
                <a:latin typeface="微软雅黑" panose="020B0503020204020204" pitchFamily="34" charset="-122"/>
                <a:ea typeface="微软雅黑" panose="020B0503020204020204" pitchFamily="34" charset="-122"/>
              </a:rPr>
              <a:t>是指根据因子或因子的状态的重要程度、出现频率等因素计算因子和因子的状态的权值，</a:t>
            </a:r>
            <a:r>
              <a:rPr lang="zh-CN" altLang="en-US" sz="1800" dirty="0">
                <a:solidFill>
                  <a:srgbClr val="0070C0"/>
                </a:solidFill>
                <a:latin typeface="微软雅黑" panose="020B0503020204020204" pitchFamily="34" charset="-122"/>
                <a:ea typeface="微软雅黑" panose="020B0503020204020204" pitchFamily="34" charset="-122"/>
              </a:rPr>
              <a:t>权值越大</a:t>
            </a:r>
            <a:r>
              <a:rPr lang="zh-CN" altLang="en-US" sz="1800" dirty="0">
                <a:solidFill>
                  <a:srgbClr val="595959"/>
                </a:solidFill>
                <a:latin typeface="微软雅黑" panose="020B0503020204020204" pitchFamily="34" charset="-122"/>
                <a:ea typeface="微软雅黑" panose="020B0503020204020204" pitchFamily="34" charset="-122"/>
              </a:rPr>
              <a:t>，</a:t>
            </a:r>
            <a:r>
              <a:rPr lang="zh-CN" altLang="en-US" sz="1800" dirty="0">
                <a:solidFill>
                  <a:srgbClr val="0070C0"/>
                </a:solidFill>
                <a:latin typeface="微软雅黑" panose="020B0503020204020204" pitchFamily="34" charset="-122"/>
                <a:ea typeface="微软雅黑" panose="020B0503020204020204" pitchFamily="34" charset="-122"/>
              </a:rPr>
              <a:t>表明因子或因子的状态越重要，而权值越小，表明因子或因子的状态的重要性越小</a:t>
            </a:r>
            <a:r>
              <a:rPr lang="zh-CN" altLang="en-US" sz="1800" dirty="0">
                <a:solidFill>
                  <a:srgbClr val="595959"/>
                </a:solidFill>
                <a:latin typeface="微软雅黑" panose="020B0503020204020204" pitchFamily="34" charset="-122"/>
                <a:ea typeface="微软雅黑" panose="020B0503020204020204" pitchFamily="34" charset="-122"/>
              </a:rPr>
              <a:t>。加权筛选之后，可以去掉一部分权值较小的因子或因子的状态，使得最后生成的测试用例集缩减到允许的范围。</a:t>
            </a:r>
          </a:p>
          <a:p>
            <a:pPr algn="just">
              <a:lnSpc>
                <a:spcPct val="150000"/>
              </a:lnSpc>
              <a:buClrTx/>
              <a:buSzTx/>
              <a:buFontTx/>
            </a:pPr>
            <a:endParaRPr lang="zh-CN" altLang="en-US" sz="1800" dirty="0">
              <a:solidFill>
                <a:srgbClr val="595959"/>
              </a:solidFill>
              <a:latin typeface="微软雅黑" panose="020B0503020204020204" pitchFamily="34" charset="-122"/>
              <a:ea typeface="微软雅黑" panose="020B0503020204020204" pitchFamily="34" charset="-122"/>
            </a:endParaRPr>
          </a:p>
        </p:txBody>
      </p:sp>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2.4.1	正交实验设计法概述</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414780" y="981710"/>
            <a:ext cx="9338945" cy="2999740"/>
          </a:xfrm>
          <a:prstGeom prst="rect">
            <a:avLst/>
          </a:prstGeom>
          <a:noFill/>
        </p:spPr>
        <p:txBody>
          <a:bodyPr wrap="square" rtlCol="0" anchor="t">
            <a:spAutoFit/>
          </a:bodyPr>
          <a:lstStyle/>
          <a:p>
            <a:pPr algn="just">
              <a:lnSpc>
                <a:spcPct val="150000"/>
              </a:lnSpc>
            </a:pPr>
            <a:r>
              <a:rPr lang="zh-CN" altLang="en-US" sz="1800" b="1" dirty="0">
                <a:solidFill>
                  <a:srgbClr val="595959"/>
                </a:solidFill>
                <a:latin typeface="微软雅黑" panose="020B0503020204020204" pitchFamily="34" charset="-122"/>
                <a:ea typeface="微软雅黑" panose="020B0503020204020204" pitchFamily="34" charset="-122"/>
                <a:sym typeface="+mn-ea"/>
              </a:rPr>
              <a:t>3.</a:t>
            </a:r>
            <a:r>
              <a:rPr lang="en-US" altLang="zh-CN" sz="1800" b="1" dirty="0">
                <a:solidFill>
                  <a:srgbClr val="595959"/>
                </a:solidFill>
                <a:latin typeface="微软雅黑" panose="020B0503020204020204" pitchFamily="34" charset="-122"/>
                <a:ea typeface="微软雅黑" panose="020B0503020204020204" pitchFamily="34" charset="-122"/>
                <a:sym typeface="+mn-ea"/>
              </a:rPr>
              <a:t> </a:t>
            </a:r>
            <a:r>
              <a:rPr lang="zh-CN" altLang="en-US" sz="1800" b="1" dirty="0">
                <a:solidFill>
                  <a:srgbClr val="595959"/>
                </a:solidFill>
                <a:latin typeface="微软雅黑" panose="020B0503020204020204" pitchFamily="34" charset="-122"/>
                <a:ea typeface="微软雅黑" panose="020B0503020204020204" pitchFamily="34" charset="-122"/>
                <a:sym typeface="+mn-ea"/>
              </a:rPr>
              <a:t>构建正交表，设计测试用例</a:t>
            </a:r>
            <a:endParaRPr lang="zh-CN" altLang="en-US" sz="1800" b="1" dirty="0">
              <a:solidFill>
                <a:srgbClr val="595959"/>
              </a:solidFill>
              <a:latin typeface="微软雅黑" panose="020B0503020204020204" pitchFamily="34" charset="-122"/>
              <a:ea typeface="微软雅黑" panose="020B0503020204020204" pitchFamily="34" charset="-122"/>
            </a:endParaRPr>
          </a:p>
          <a:p>
            <a:pPr algn="just">
              <a:lnSpc>
                <a:spcPct val="150000"/>
              </a:lnSpc>
              <a:buClrTx/>
              <a:buSzTx/>
              <a:buFontTx/>
            </a:pPr>
            <a:r>
              <a:rPr lang="zh-CN" altLang="en-US" sz="1800" dirty="0">
                <a:solidFill>
                  <a:srgbClr val="595959"/>
                </a:solidFill>
                <a:latin typeface="微软雅黑" panose="020B0503020204020204" pitchFamily="34" charset="-122"/>
                <a:ea typeface="微软雅黑" panose="020B0503020204020204" pitchFamily="34" charset="-122"/>
                <a:sym typeface="+mn-ea"/>
              </a:rPr>
              <a:t>正交表的表示形式为L</a:t>
            </a:r>
            <a:r>
              <a:rPr lang="zh-CN" altLang="en-US" sz="1800" baseline="-25000" dirty="0">
                <a:solidFill>
                  <a:srgbClr val="595959"/>
                </a:solidFill>
                <a:latin typeface="微软雅黑" panose="020B0503020204020204" pitchFamily="34" charset="-122"/>
                <a:ea typeface="微软雅黑" panose="020B0503020204020204" pitchFamily="34" charset="-122"/>
                <a:sym typeface="+mn-ea"/>
              </a:rPr>
              <a:t>n</a:t>
            </a:r>
            <a:r>
              <a:rPr lang="zh-CN" altLang="en-US" sz="1800" dirty="0">
                <a:solidFill>
                  <a:srgbClr val="595959"/>
                </a:solidFill>
                <a:latin typeface="微软雅黑" panose="020B0503020204020204" pitchFamily="34" charset="-122"/>
                <a:ea typeface="微软雅黑" panose="020B0503020204020204" pitchFamily="34" charset="-122"/>
                <a:sym typeface="+mn-ea"/>
              </a:rPr>
              <a:t>（t</a:t>
            </a:r>
            <a:r>
              <a:rPr lang="zh-CN" altLang="en-US" sz="1800" baseline="30000" dirty="0">
                <a:solidFill>
                  <a:srgbClr val="595959"/>
                </a:solidFill>
                <a:latin typeface="微软雅黑" panose="020B0503020204020204" pitchFamily="34" charset="-122"/>
                <a:ea typeface="微软雅黑" panose="020B0503020204020204" pitchFamily="34" charset="-122"/>
                <a:sym typeface="+mn-ea"/>
              </a:rPr>
              <a:t>c</a:t>
            </a:r>
            <a:r>
              <a:rPr lang="zh-CN" altLang="en-US" sz="1800" dirty="0">
                <a:solidFill>
                  <a:srgbClr val="595959"/>
                </a:solidFill>
                <a:latin typeface="微软雅黑" panose="020B0503020204020204" pitchFamily="34" charset="-122"/>
                <a:ea typeface="微软雅黑" panose="020B0503020204020204" pitchFamily="34" charset="-122"/>
                <a:sym typeface="+mn-ea"/>
              </a:rPr>
              <a:t>），具体说明如下。</a:t>
            </a:r>
            <a:endParaRPr lang="zh-CN" altLang="en-US" sz="1800" dirty="0">
              <a:solidFill>
                <a:srgbClr val="595959"/>
              </a:solidFill>
              <a:latin typeface="微软雅黑" panose="020B0503020204020204" pitchFamily="34" charset="-122"/>
              <a:ea typeface="微软雅黑" panose="020B0503020204020204" pitchFamily="34" charset="-122"/>
            </a:endParaRPr>
          </a:p>
          <a:p>
            <a:pPr marL="285750" indent="-285750" algn="just">
              <a:lnSpc>
                <a:spcPct val="150000"/>
              </a:lnSpc>
              <a:buClrTx/>
              <a:buSzTx/>
              <a:buFont typeface="Wingdings" panose="05000000000000000000" charset="0"/>
              <a:buChar char="l"/>
            </a:pPr>
            <a:r>
              <a:rPr lang="zh-CN" altLang="en-US" sz="1800" dirty="0">
                <a:solidFill>
                  <a:srgbClr val="0070C0"/>
                </a:solidFill>
                <a:latin typeface="微软雅黑" panose="020B0503020204020204" pitchFamily="34" charset="-122"/>
                <a:ea typeface="微软雅黑" panose="020B0503020204020204" pitchFamily="34" charset="-122"/>
                <a:sym typeface="+mn-ea"/>
              </a:rPr>
              <a:t>L</a:t>
            </a:r>
            <a:r>
              <a:rPr lang="zh-CN" altLang="en-US" sz="1800" dirty="0">
                <a:solidFill>
                  <a:srgbClr val="595959"/>
                </a:solidFill>
                <a:latin typeface="微软雅黑" panose="020B0503020204020204" pitchFamily="34" charset="-122"/>
                <a:ea typeface="微软雅黑" panose="020B0503020204020204" pitchFamily="34" charset="-122"/>
                <a:sym typeface="+mn-ea"/>
              </a:rPr>
              <a:t>表示</a:t>
            </a:r>
            <a:r>
              <a:rPr lang="zh-CN" altLang="en-US" sz="1800" dirty="0">
                <a:solidFill>
                  <a:srgbClr val="0070C0"/>
                </a:solidFill>
                <a:latin typeface="微软雅黑" panose="020B0503020204020204" pitchFamily="34" charset="-122"/>
                <a:ea typeface="微软雅黑" panose="020B0503020204020204" pitchFamily="34" charset="-122"/>
                <a:sym typeface="+mn-ea"/>
              </a:rPr>
              <a:t>正交表</a:t>
            </a:r>
            <a:r>
              <a:rPr lang="zh-CN" altLang="en-US" sz="1800" dirty="0">
                <a:solidFill>
                  <a:srgbClr val="595959"/>
                </a:solidFill>
                <a:latin typeface="微软雅黑" panose="020B0503020204020204" pitchFamily="34" charset="-122"/>
                <a:ea typeface="微软雅黑" panose="020B0503020204020204" pitchFamily="34" charset="-122"/>
                <a:sym typeface="+mn-ea"/>
              </a:rPr>
              <a:t>。</a:t>
            </a:r>
            <a:endParaRPr lang="zh-CN" altLang="en-US" sz="1800" dirty="0">
              <a:solidFill>
                <a:srgbClr val="595959"/>
              </a:solidFill>
              <a:latin typeface="微软雅黑" panose="020B0503020204020204" pitchFamily="34" charset="-122"/>
              <a:ea typeface="微软雅黑" panose="020B0503020204020204" pitchFamily="34" charset="-122"/>
            </a:endParaRPr>
          </a:p>
          <a:p>
            <a:pPr marL="285750" indent="-285750" algn="just">
              <a:lnSpc>
                <a:spcPct val="150000"/>
              </a:lnSpc>
              <a:buClrTx/>
              <a:buSzTx/>
              <a:buFont typeface="Wingdings" panose="05000000000000000000" charset="0"/>
              <a:buChar char="l"/>
            </a:pPr>
            <a:r>
              <a:rPr lang="zh-CN" altLang="en-US" sz="1800" dirty="0">
                <a:solidFill>
                  <a:srgbClr val="0070C0"/>
                </a:solidFill>
                <a:latin typeface="微软雅黑" panose="020B0503020204020204" pitchFamily="34" charset="-122"/>
                <a:ea typeface="微软雅黑" panose="020B0503020204020204" pitchFamily="34" charset="-122"/>
                <a:sym typeface="+mn-ea"/>
              </a:rPr>
              <a:t>n</a:t>
            </a:r>
            <a:r>
              <a:rPr lang="zh-CN" altLang="en-US" sz="1800" dirty="0">
                <a:solidFill>
                  <a:srgbClr val="595959"/>
                </a:solidFill>
                <a:latin typeface="微软雅黑" panose="020B0503020204020204" pitchFamily="34" charset="-122"/>
                <a:ea typeface="微软雅黑" panose="020B0503020204020204" pitchFamily="34" charset="-122"/>
                <a:sym typeface="+mn-ea"/>
              </a:rPr>
              <a:t>为</a:t>
            </a:r>
            <a:r>
              <a:rPr lang="zh-CN" altLang="en-US" sz="1800" dirty="0">
                <a:solidFill>
                  <a:srgbClr val="0070C0"/>
                </a:solidFill>
                <a:latin typeface="微软雅黑" panose="020B0503020204020204" pitchFamily="34" charset="-122"/>
                <a:ea typeface="微软雅黑" panose="020B0503020204020204" pitchFamily="34" charset="-122"/>
                <a:sym typeface="+mn-ea"/>
              </a:rPr>
              <a:t>正交表的行数</a:t>
            </a:r>
            <a:r>
              <a:rPr lang="zh-CN" altLang="en-US" sz="1800" dirty="0">
                <a:solidFill>
                  <a:srgbClr val="595959"/>
                </a:solidFill>
                <a:latin typeface="微软雅黑" panose="020B0503020204020204" pitchFamily="34" charset="-122"/>
                <a:ea typeface="微软雅黑" panose="020B0503020204020204" pitchFamily="34" charset="-122"/>
                <a:sym typeface="+mn-ea"/>
              </a:rPr>
              <a:t>，正交表的每一行可以用于设计一个测试用例，因此</a:t>
            </a:r>
            <a:r>
              <a:rPr lang="zh-CN" altLang="en-US" sz="1800" dirty="0">
                <a:solidFill>
                  <a:srgbClr val="0070C0"/>
                </a:solidFill>
                <a:latin typeface="微软雅黑" panose="020B0503020204020204" pitchFamily="34" charset="-122"/>
                <a:ea typeface="微软雅黑" panose="020B0503020204020204" pitchFamily="34" charset="-122"/>
                <a:sym typeface="+mn-ea"/>
              </a:rPr>
              <a:t>行数n</a:t>
            </a:r>
            <a:r>
              <a:rPr lang="zh-CN" altLang="en-US" sz="1800" dirty="0">
                <a:solidFill>
                  <a:srgbClr val="595959"/>
                </a:solidFill>
                <a:latin typeface="微软雅黑" panose="020B0503020204020204" pitchFamily="34" charset="-122"/>
                <a:ea typeface="微软雅黑" panose="020B0503020204020204" pitchFamily="34" charset="-122"/>
                <a:sym typeface="+mn-ea"/>
              </a:rPr>
              <a:t>也表示可以设计的</a:t>
            </a:r>
            <a:r>
              <a:rPr lang="zh-CN" altLang="en-US" sz="1800" dirty="0">
                <a:solidFill>
                  <a:srgbClr val="0070C0"/>
                </a:solidFill>
                <a:latin typeface="微软雅黑" panose="020B0503020204020204" pitchFamily="34" charset="-122"/>
                <a:ea typeface="微软雅黑" panose="020B0503020204020204" pitchFamily="34" charset="-122"/>
                <a:sym typeface="+mn-ea"/>
              </a:rPr>
              <a:t>测试用例的数目</a:t>
            </a:r>
            <a:r>
              <a:rPr lang="zh-CN" altLang="en-US" sz="1800" dirty="0">
                <a:solidFill>
                  <a:srgbClr val="595959"/>
                </a:solidFill>
                <a:latin typeface="微软雅黑" panose="020B0503020204020204" pitchFamily="34" charset="-122"/>
                <a:ea typeface="微软雅黑" panose="020B0503020204020204" pitchFamily="34" charset="-122"/>
                <a:sym typeface="+mn-ea"/>
              </a:rPr>
              <a:t>。</a:t>
            </a:r>
            <a:endParaRPr lang="zh-CN" altLang="en-US" sz="1800" dirty="0">
              <a:solidFill>
                <a:srgbClr val="595959"/>
              </a:solidFill>
              <a:latin typeface="微软雅黑" panose="020B0503020204020204" pitchFamily="34" charset="-122"/>
              <a:ea typeface="微软雅黑" panose="020B0503020204020204" pitchFamily="34" charset="-122"/>
            </a:endParaRPr>
          </a:p>
          <a:p>
            <a:pPr marL="285750" indent="-285750" algn="just">
              <a:lnSpc>
                <a:spcPct val="150000"/>
              </a:lnSpc>
              <a:buClrTx/>
              <a:buSzTx/>
              <a:buFont typeface="Wingdings" panose="05000000000000000000" charset="0"/>
              <a:buChar char="l"/>
            </a:pPr>
            <a:r>
              <a:rPr lang="zh-CN" altLang="en-US" sz="1800" dirty="0">
                <a:solidFill>
                  <a:srgbClr val="0070C0"/>
                </a:solidFill>
                <a:latin typeface="微软雅黑" panose="020B0503020204020204" pitchFamily="34" charset="-122"/>
                <a:ea typeface="微软雅黑" panose="020B0503020204020204" pitchFamily="34" charset="-122"/>
                <a:sym typeface="+mn-ea"/>
              </a:rPr>
              <a:t>c</a:t>
            </a:r>
            <a:r>
              <a:rPr lang="zh-CN" altLang="en-US" sz="1800" dirty="0">
                <a:solidFill>
                  <a:srgbClr val="595959"/>
                </a:solidFill>
                <a:latin typeface="微软雅黑" panose="020B0503020204020204" pitchFamily="34" charset="-122"/>
                <a:ea typeface="微软雅黑" panose="020B0503020204020204" pitchFamily="34" charset="-122"/>
                <a:sym typeface="+mn-ea"/>
              </a:rPr>
              <a:t>表示正交实验的因子数目，即</a:t>
            </a:r>
            <a:r>
              <a:rPr lang="zh-CN" altLang="en-US" sz="1800" dirty="0">
                <a:solidFill>
                  <a:srgbClr val="0070C0"/>
                </a:solidFill>
                <a:latin typeface="微软雅黑" panose="020B0503020204020204" pitchFamily="34" charset="-122"/>
                <a:ea typeface="微软雅黑" panose="020B0503020204020204" pitchFamily="34" charset="-122"/>
                <a:sym typeface="+mn-ea"/>
              </a:rPr>
              <a:t>正交表的列数</a:t>
            </a:r>
            <a:r>
              <a:rPr lang="zh-CN" altLang="en-US" sz="1800" dirty="0">
                <a:solidFill>
                  <a:srgbClr val="595959"/>
                </a:solidFill>
                <a:latin typeface="微软雅黑" panose="020B0503020204020204" pitchFamily="34" charset="-122"/>
                <a:ea typeface="微软雅黑" panose="020B0503020204020204" pitchFamily="34" charset="-122"/>
                <a:sym typeface="+mn-ea"/>
              </a:rPr>
              <a:t>，因此正交表是一个n行c列的表。</a:t>
            </a:r>
            <a:endParaRPr lang="zh-CN" altLang="en-US" sz="1800" dirty="0">
              <a:solidFill>
                <a:srgbClr val="595959"/>
              </a:solidFill>
              <a:latin typeface="微软雅黑" panose="020B0503020204020204" pitchFamily="34" charset="-122"/>
              <a:ea typeface="微软雅黑" panose="020B0503020204020204" pitchFamily="34" charset="-122"/>
            </a:endParaRPr>
          </a:p>
          <a:p>
            <a:pPr marL="285750" indent="-285750" algn="just">
              <a:lnSpc>
                <a:spcPct val="150000"/>
              </a:lnSpc>
              <a:buClrTx/>
              <a:buSzTx/>
              <a:buFont typeface="Wingdings" panose="05000000000000000000" charset="0"/>
              <a:buChar char="l"/>
            </a:pPr>
            <a:r>
              <a:rPr lang="zh-CN" altLang="en-US" sz="1800" dirty="0">
                <a:solidFill>
                  <a:srgbClr val="0070C0"/>
                </a:solidFill>
                <a:latin typeface="微软雅黑" panose="020B0503020204020204" pitchFamily="34" charset="-122"/>
                <a:ea typeface="微软雅黑" panose="020B0503020204020204" pitchFamily="34" charset="-122"/>
                <a:sym typeface="+mn-ea"/>
              </a:rPr>
              <a:t>t称为水平数</a:t>
            </a:r>
            <a:r>
              <a:rPr lang="zh-CN" altLang="en-US" sz="1800" dirty="0">
                <a:solidFill>
                  <a:srgbClr val="595959"/>
                </a:solidFill>
                <a:latin typeface="微软雅黑" panose="020B0503020204020204" pitchFamily="34" charset="-122"/>
                <a:ea typeface="微软雅黑" panose="020B0503020204020204" pitchFamily="34" charset="-122"/>
                <a:sym typeface="+mn-ea"/>
              </a:rPr>
              <a:t>，表示每个因子能够取得的最大值，即</a:t>
            </a:r>
            <a:r>
              <a:rPr lang="zh-CN" altLang="en-US" sz="1800" dirty="0">
                <a:solidFill>
                  <a:srgbClr val="0070C0"/>
                </a:solidFill>
                <a:latin typeface="微软雅黑" panose="020B0503020204020204" pitchFamily="34" charset="-122"/>
                <a:ea typeface="微软雅黑" panose="020B0503020204020204" pitchFamily="34" charset="-122"/>
                <a:sym typeface="+mn-ea"/>
              </a:rPr>
              <a:t>因子有多少个状态</a:t>
            </a:r>
            <a:r>
              <a:rPr lang="zh-CN" altLang="en-US" sz="1800" dirty="0">
                <a:solidFill>
                  <a:srgbClr val="595959"/>
                </a:solidFill>
                <a:latin typeface="微软雅黑" panose="020B0503020204020204" pitchFamily="34" charset="-122"/>
                <a:ea typeface="微软雅黑" panose="020B0503020204020204" pitchFamily="34" charset="-122"/>
                <a:sym typeface="+mn-ea"/>
              </a:rPr>
              <a:t>。</a:t>
            </a:r>
          </a:p>
        </p:txBody>
      </p:sp>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2.4.1	正交实验设计法概述</a:t>
            </a:r>
          </a:p>
        </p:txBody>
      </p:sp>
      <p:sp>
        <p:nvSpPr>
          <p:cNvPr id="4" name="文本框 3">
            <a:extLst>
              <a:ext uri="{FF2B5EF4-FFF2-40B4-BE49-F238E27FC236}">
                <a16:creationId xmlns:a16="http://schemas.microsoft.com/office/drawing/2014/main" id="{B8ABB00E-4D6D-85F1-4029-14EDEFC93359}"/>
              </a:ext>
            </a:extLst>
          </p:cNvPr>
          <p:cNvSpPr txBox="1"/>
          <p:nvPr/>
        </p:nvSpPr>
        <p:spPr>
          <a:xfrm>
            <a:off x="4583206" y="4653794"/>
            <a:ext cx="2544021" cy="581057"/>
          </a:xfrm>
          <a:prstGeom prst="rect">
            <a:avLst/>
          </a:prstGeom>
          <a:noFill/>
        </p:spPr>
        <p:txBody>
          <a:bodyPr wrap="square">
            <a:spAutoFit/>
          </a:bodyPr>
          <a:lstStyle/>
          <a:p>
            <a:pPr algn="just">
              <a:lnSpc>
                <a:spcPct val="150000"/>
              </a:lnSpc>
              <a:buClrTx/>
              <a:buSzTx/>
              <a:buFontTx/>
            </a:pPr>
            <a:r>
              <a:rPr lang="en-US" altLang="zh-CN" b="1" dirty="0">
                <a:solidFill>
                  <a:srgbClr val="0070C0"/>
                </a:solidFill>
                <a:latin typeface="微软雅黑" panose="020B0503020204020204" pitchFamily="34" charset="-122"/>
                <a:ea typeface="微软雅黑" panose="020B0503020204020204" pitchFamily="34" charset="-122"/>
                <a:sym typeface="+mn-ea"/>
              </a:rPr>
              <a:t>n</a:t>
            </a:r>
            <a:r>
              <a:rPr lang="en-US" altLang="zh-CN" sz="2400" b="1" dirty="0">
                <a:solidFill>
                  <a:srgbClr val="0070C0"/>
                </a:solidFill>
                <a:latin typeface="微软雅黑" panose="020B0503020204020204" pitchFamily="34" charset="-122"/>
                <a:ea typeface="微软雅黑" panose="020B0503020204020204" pitchFamily="34" charset="-122"/>
                <a:sym typeface="+mn-ea"/>
              </a:rPr>
              <a:t> = (</a:t>
            </a:r>
            <a:r>
              <a:rPr lang="en-US" altLang="zh-CN" b="1" dirty="0">
                <a:solidFill>
                  <a:srgbClr val="0070C0"/>
                </a:solidFill>
                <a:latin typeface="微软雅黑" panose="020B0503020204020204" pitchFamily="34" charset="-122"/>
                <a:ea typeface="微软雅黑" panose="020B0503020204020204" pitchFamily="34" charset="-122"/>
                <a:sym typeface="+mn-ea"/>
              </a:rPr>
              <a:t>t</a:t>
            </a:r>
            <a:r>
              <a:rPr lang="en-US" altLang="zh-CN" sz="2400" b="1" dirty="0">
                <a:solidFill>
                  <a:srgbClr val="0070C0"/>
                </a:solidFill>
                <a:latin typeface="微软雅黑" panose="020B0503020204020204" pitchFamily="34" charset="-122"/>
                <a:ea typeface="微软雅黑" panose="020B0503020204020204" pitchFamily="34" charset="-122"/>
                <a:sym typeface="+mn-ea"/>
              </a:rPr>
              <a:t>-1)*c + 1</a:t>
            </a:r>
            <a:endParaRPr lang="zh-CN" altLang="en-US" sz="2400" b="1" dirty="0">
              <a:solidFill>
                <a:srgbClr val="0070C0"/>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425575" y="909955"/>
            <a:ext cx="9338945" cy="1337945"/>
          </a:xfrm>
          <a:prstGeom prst="rect">
            <a:avLst/>
          </a:prstGeom>
          <a:noFill/>
        </p:spPr>
        <p:txBody>
          <a:bodyPr wrap="square" rtlCol="0" anchor="t">
            <a:spAutoFit/>
          </a:bodyPr>
          <a:lstStyle/>
          <a:p>
            <a:pPr algn="just">
              <a:lnSpc>
                <a:spcPct val="150000"/>
              </a:lnSpc>
              <a:buClrTx/>
              <a:buSzTx/>
              <a:buFontTx/>
            </a:pPr>
            <a:r>
              <a:rPr lang="zh-CN" altLang="en-US" sz="1800" dirty="0">
                <a:solidFill>
                  <a:srgbClr val="595959"/>
                </a:solidFill>
                <a:latin typeface="微软雅黑" panose="020B0503020204020204" pitchFamily="34" charset="-122"/>
                <a:ea typeface="微软雅黑" panose="020B0503020204020204" pitchFamily="34" charset="-122"/>
                <a:sym typeface="+mn-ea"/>
              </a:rPr>
              <a:t>例如L</a:t>
            </a:r>
            <a:r>
              <a:rPr lang="zh-CN" altLang="en-US" sz="1800" baseline="-25000" dirty="0">
                <a:solidFill>
                  <a:srgbClr val="595959"/>
                </a:solidFill>
                <a:latin typeface="微软雅黑" panose="020B0503020204020204" pitchFamily="34" charset="-122"/>
                <a:ea typeface="微软雅黑" panose="020B0503020204020204" pitchFamily="34" charset="-122"/>
                <a:sym typeface="+mn-ea"/>
              </a:rPr>
              <a:t>4</a:t>
            </a:r>
            <a:r>
              <a:rPr lang="zh-CN" altLang="en-US" sz="1800" dirty="0">
                <a:solidFill>
                  <a:srgbClr val="595959"/>
                </a:solidFill>
                <a:latin typeface="微软雅黑" panose="020B0503020204020204" pitchFamily="34" charset="-122"/>
                <a:ea typeface="微软雅黑" panose="020B0503020204020204" pitchFamily="34" charset="-122"/>
                <a:sym typeface="+mn-ea"/>
              </a:rPr>
              <a:t>（</a:t>
            </a:r>
            <a:r>
              <a:rPr lang="en-US" altLang="zh-CN" sz="1800" dirty="0">
                <a:solidFill>
                  <a:schemeClr val="tx1">
                    <a:lumMod val="65000"/>
                    <a:lumOff val="35000"/>
                  </a:schemeClr>
                </a:solidFill>
                <a:latin typeface="微软雅黑" panose="020B0503020204020204" pitchFamily="34" charset="-122"/>
                <a:ea typeface="微软雅黑" panose="020B0503020204020204" pitchFamily="34" charset="-122"/>
                <a:cs typeface="Lucida Sans Unicode" panose="020B0602030504020204"/>
                <a:sym typeface="+mn-ea"/>
              </a:rPr>
              <a:t>2</a:t>
            </a:r>
            <a:r>
              <a:rPr lang="en-US" altLang="zh-CN" sz="1800" baseline="30000" dirty="0">
                <a:solidFill>
                  <a:schemeClr val="tx1">
                    <a:lumMod val="65000"/>
                    <a:lumOff val="35000"/>
                  </a:schemeClr>
                </a:solidFill>
                <a:latin typeface="微软雅黑" panose="020B0503020204020204" pitchFamily="34" charset="-122"/>
                <a:ea typeface="微软雅黑" panose="020B0503020204020204" pitchFamily="34" charset="-122"/>
                <a:cs typeface="Lucida Sans Unicode" panose="020B0602030504020204"/>
                <a:sym typeface="+mn-ea"/>
              </a:rPr>
              <a:t>3</a:t>
            </a:r>
            <a:r>
              <a:rPr lang="zh-CN" altLang="en-US" sz="1800">
                <a:solidFill>
                  <a:srgbClr val="595959"/>
                </a:solidFill>
                <a:latin typeface="微软雅黑" panose="020B0503020204020204" pitchFamily="34" charset="-122"/>
                <a:ea typeface="微软雅黑" panose="020B0503020204020204" pitchFamily="34" charset="-122"/>
                <a:sym typeface="+mn-ea"/>
              </a:rPr>
              <a:t>）是较为简单</a:t>
            </a:r>
            <a:r>
              <a:rPr lang="zh-CN" altLang="en-US" sz="1800" dirty="0">
                <a:solidFill>
                  <a:srgbClr val="595959"/>
                </a:solidFill>
                <a:latin typeface="微软雅黑" panose="020B0503020204020204" pitchFamily="34" charset="-122"/>
                <a:ea typeface="微软雅黑" panose="020B0503020204020204" pitchFamily="34" charset="-122"/>
                <a:sym typeface="+mn-ea"/>
              </a:rPr>
              <a:t>的正交表，它表示该实验</a:t>
            </a:r>
            <a:r>
              <a:rPr lang="zh-CN" altLang="en-US" sz="1800" dirty="0">
                <a:solidFill>
                  <a:srgbClr val="0070C0"/>
                </a:solidFill>
                <a:latin typeface="微软雅黑" panose="020B0503020204020204" pitchFamily="34" charset="-122"/>
                <a:ea typeface="微软雅黑" panose="020B0503020204020204" pitchFamily="34" charset="-122"/>
                <a:sym typeface="+mn-ea"/>
              </a:rPr>
              <a:t>有3个因子</a:t>
            </a:r>
            <a:r>
              <a:rPr lang="zh-CN" altLang="en-US" sz="1800" dirty="0">
                <a:solidFill>
                  <a:srgbClr val="595959"/>
                </a:solidFill>
                <a:latin typeface="微软雅黑" panose="020B0503020204020204" pitchFamily="34" charset="-122"/>
                <a:ea typeface="微软雅黑" panose="020B0503020204020204" pitchFamily="34" charset="-122"/>
                <a:sym typeface="+mn-ea"/>
              </a:rPr>
              <a:t>，每个因子</a:t>
            </a:r>
            <a:r>
              <a:rPr lang="zh-CN" altLang="en-US" sz="1800" dirty="0">
                <a:solidFill>
                  <a:srgbClr val="0070C0"/>
                </a:solidFill>
                <a:latin typeface="微软雅黑" panose="020B0503020204020204" pitchFamily="34" charset="-122"/>
                <a:ea typeface="微软雅黑" panose="020B0503020204020204" pitchFamily="34" charset="-122"/>
                <a:sym typeface="+mn-ea"/>
              </a:rPr>
              <a:t>有2个状态</a:t>
            </a:r>
            <a:r>
              <a:rPr lang="zh-CN" altLang="en-US" sz="1800" dirty="0">
                <a:solidFill>
                  <a:srgbClr val="595959"/>
                </a:solidFill>
                <a:latin typeface="微软雅黑" panose="020B0503020204020204" pitchFamily="34" charset="-122"/>
                <a:ea typeface="微软雅黑" panose="020B0503020204020204" pitchFamily="34" charset="-122"/>
                <a:sym typeface="+mn-ea"/>
              </a:rPr>
              <a:t>，可以做</a:t>
            </a:r>
            <a:r>
              <a:rPr lang="zh-CN" altLang="en-US" sz="1800" dirty="0">
                <a:solidFill>
                  <a:srgbClr val="0070C0"/>
                </a:solidFill>
                <a:latin typeface="微软雅黑" panose="020B0503020204020204" pitchFamily="34" charset="-122"/>
                <a:ea typeface="微软雅黑" panose="020B0503020204020204" pitchFamily="34" charset="-122"/>
                <a:sym typeface="+mn-ea"/>
              </a:rPr>
              <a:t>4</a:t>
            </a:r>
            <a:r>
              <a:rPr lang="zh-CN" altLang="en-US" sz="1800">
                <a:solidFill>
                  <a:srgbClr val="0070C0"/>
                </a:solidFill>
                <a:latin typeface="微软雅黑" panose="020B0503020204020204" pitchFamily="34" charset="-122"/>
                <a:ea typeface="微软雅黑" panose="020B0503020204020204" pitchFamily="34" charset="-122"/>
                <a:sym typeface="+mn-ea"/>
              </a:rPr>
              <a:t>次实验</a:t>
            </a:r>
            <a:r>
              <a:rPr lang="zh-CN" altLang="en-US" sz="1800" dirty="0">
                <a:solidFill>
                  <a:srgbClr val="595959"/>
                </a:solidFill>
                <a:latin typeface="微软雅黑" panose="020B0503020204020204" pitchFamily="34" charset="-122"/>
                <a:ea typeface="微软雅黑" panose="020B0503020204020204" pitchFamily="34" charset="-122"/>
                <a:sym typeface="+mn-ea"/>
              </a:rPr>
              <a:t>。</a:t>
            </a:r>
            <a:r>
              <a:rPr lang="zh-CN" altLang="en-US" sz="1800">
                <a:solidFill>
                  <a:srgbClr val="595959"/>
                </a:solidFill>
                <a:latin typeface="微软雅黑" panose="020B0503020204020204" pitchFamily="34" charset="-122"/>
                <a:ea typeface="微软雅黑" panose="020B0503020204020204" pitchFamily="34" charset="-122"/>
                <a:sym typeface="+mn-ea"/>
              </a:rPr>
              <a:t>如果</a:t>
            </a:r>
            <a:r>
              <a:rPr lang="zh-CN" altLang="en-US" sz="1800" dirty="0">
                <a:solidFill>
                  <a:srgbClr val="595959"/>
                </a:solidFill>
                <a:latin typeface="微软雅黑" panose="020B0503020204020204" pitchFamily="34" charset="-122"/>
                <a:ea typeface="微软雅黑" panose="020B0503020204020204" pitchFamily="34" charset="-122"/>
                <a:sym typeface="+mn-ea"/>
              </a:rPr>
              <a:t>用0和1表示每个因子的2种状态，则该</a:t>
            </a:r>
            <a:r>
              <a:rPr lang="zh-CN" altLang="en-US" sz="1800" dirty="0">
                <a:solidFill>
                  <a:srgbClr val="0070C0"/>
                </a:solidFill>
                <a:latin typeface="微软雅黑" panose="020B0503020204020204" pitchFamily="34" charset="-122"/>
                <a:ea typeface="微软雅黑" panose="020B0503020204020204" pitchFamily="34" charset="-122"/>
                <a:sym typeface="+mn-ea"/>
              </a:rPr>
              <a:t>正交表就是一个4行3列的表</a:t>
            </a:r>
            <a:r>
              <a:rPr lang="zh-CN" altLang="en-US" sz="1800" dirty="0">
                <a:solidFill>
                  <a:srgbClr val="595959"/>
                </a:solidFill>
                <a:latin typeface="微软雅黑" panose="020B0503020204020204" pitchFamily="34" charset="-122"/>
                <a:ea typeface="微软雅黑" panose="020B0503020204020204" pitchFamily="34" charset="-122"/>
                <a:sym typeface="+mn-ea"/>
              </a:rPr>
              <a:t>。</a:t>
            </a:r>
            <a:r>
              <a:rPr lang="zh-CN" altLang="en-US" sz="1800" dirty="0">
                <a:solidFill>
                  <a:srgbClr val="0070C0"/>
                </a:solidFill>
                <a:latin typeface="微软雅黑" panose="020B0503020204020204" pitchFamily="34" charset="-122"/>
                <a:ea typeface="微软雅黑" panose="020B0503020204020204" pitchFamily="34" charset="-122"/>
                <a:sym typeface="+mn-ea"/>
              </a:rPr>
              <a:t>L</a:t>
            </a:r>
            <a:r>
              <a:rPr lang="zh-CN" altLang="en-US" sz="1800" baseline="-25000" dirty="0">
                <a:solidFill>
                  <a:srgbClr val="0070C0"/>
                </a:solidFill>
                <a:latin typeface="微软雅黑" panose="020B0503020204020204" pitchFamily="34" charset="-122"/>
                <a:ea typeface="微软雅黑" panose="020B0503020204020204" pitchFamily="34" charset="-122"/>
                <a:sym typeface="+mn-ea"/>
              </a:rPr>
              <a:t>4</a:t>
            </a:r>
            <a:r>
              <a:rPr lang="zh-CN" altLang="en-US" sz="1800" dirty="0">
                <a:solidFill>
                  <a:srgbClr val="0070C0"/>
                </a:solidFill>
                <a:latin typeface="微软雅黑" panose="020B0503020204020204" pitchFamily="34" charset="-122"/>
                <a:ea typeface="微软雅黑" panose="020B0503020204020204" pitchFamily="34" charset="-122"/>
                <a:sym typeface="+mn-ea"/>
              </a:rPr>
              <a:t>（</a:t>
            </a:r>
            <a:r>
              <a:rPr lang="en-US" altLang="zh-CN" sz="1800" dirty="0">
                <a:solidFill>
                  <a:srgbClr val="0070C0"/>
                </a:solidFill>
                <a:latin typeface="微软雅黑" panose="020B0503020204020204" pitchFamily="34" charset="-122"/>
                <a:ea typeface="微软雅黑" panose="020B0503020204020204" pitchFamily="34" charset="-122"/>
                <a:cs typeface="Lucida Sans Unicode" panose="020B0602030504020204"/>
                <a:sym typeface="+mn-ea"/>
              </a:rPr>
              <a:t>2</a:t>
            </a:r>
            <a:r>
              <a:rPr lang="en-US" altLang="zh-CN" sz="1800" baseline="30000" dirty="0">
                <a:solidFill>
                  <a:srgbClr val="0070C0"/>
                </a:solidFill>
                <a:latin typeface="微软雅黑" panose="020B0503020204020204" pitchFamily="34" charset="-122"/>
                <a:ea typeface="微软雅黑" panose="020B0503020204020204" pitchFamily="34" charset="-122"/>
                <a:cs typeface="Lucida Sans Unicode" panose="020B0602030504020204"/>
                <a:sym typeface="+mn-ea"/>
              </a:rPr>
              <a:t>3</a:t>
            </a:r>
            <a:r>
              <a:rPr lang="zh-CN" altLang="en-US" sz="1800" dirty="0">
                <a:solidFill>
                  <a:srgbClr val="0070C0"/>
                </a:solidFill>
                <a:latin typeface="微软雅黑" panose="020B0503020204020204" pitchFamily="34" charset="-122"/>
                <a:ea typeface="微软雅黑" panose="020B0503020204020204" pitchFamily="34" charset="-122"/>
                <a:sym typeface="+mn-ea"/>
              </a:rPr>
              <a:t>）正交表</a:t>
            </a:r>
            <a:r>
              <a:rPr lang="zh-CN" altLang="en-US" sz="1800" dirty="0">
                <a:solidFill>
                  <a:srgbClr val="595959"/>
                </a:solidFill>
                <a:latin typeface="微软雅黑" panose="020B0503020204020204" pitchFamily="34" charset="-122"/>
                <a:ea typeface="微软雅黑" panose="020B0503020204020204" pitchFamily="34" charset="-122"/>
                <a:sym typeface="+mn-ea"/>
              </a:rPr>
              <a:t>如下表所示。</a:t>
            </a:r>
          </a:p>
        </p:txBody>
      </p:sp>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2.4.1	正交实验设计法概述</a:t>
            </a:r>
          </a:p>
        </p:txBody>
      </p:sp>
      <p:graphicFrame>
        <p:nvGraphicFramePr>
          <p:cNvPr id="4" name="表格 3"/>
          <p:cNvGraphicFramePr/>
          <p:nvPr>
            <p:custDataLst>
              <p:tags r:id="rId1"/>
            </p:custDataLst>
          </p:nvPr>
        </p:nvGraphicFramePr>
        <p:xfrm>
          <a:off x="2639060" y="2421890"/>
          <a:ext cx="6193792" cy="3451860"/>
        </p:xfrm>
        <a:graphic>
          <a:graphicData uri="http://schemas.openxmlformats.org/drawingml/2006/table">
            <a:tbl>
              <a:tblPr firstRow="1" bandRow="1">
                <a:tableStyleId>{5C22544A-7EE6-4342-B048-85BDC9FD1C3A}</a:tableStyleId>
              </a:tblPr>
              <a:tblGrid>
                <a:gridCol w="1728146">
                  <a:extLst>
                    <a:ext uri="{9D8B030D-6E8A-4147-A177-3AD203B41FA5}">
                      <a16:colId xmlns:a16="http://schemas.microsoft.com/office/drawing/2014/main" val="20000"/>
                    </a:ext>
                  </a:extLst>
                </a:gridCol>
                <a:gridCol w="1627195">
                  <a:extLst>
                    <a:ext uri="{9D8B030D-6E8A-4147-A177-3AD203B41FA5}">
                      <a16:colId xmlns:a16="http://schemas.microsoft.com/office/drawing/2014/main" val="20001"/>
                    </a:ext>
                  </a:extLst>
                </a:gridCol>
                <a:gridCol w="1456691">
                  <a:extLst>
                    <a:ext uri="{9D8B030D-6E8A-4147-A177-3AD203B41FA5}">
                      <a16:colId xmlns:a16="http://schemas.microsoft.com/office/drawing/2014/main" val="20002"/>
                    </a:ext>
                  </a:extLst>
                </a:gridCol>
                <a:gridCol w="1381760">
                  <a:extLst>
                    <a:ext uri="{9D8B030D-6E8A-4147-A177-3AD203B41FA5}">
                      <a16:colId xmlns:a16="http://schemas.microsoft.com/office/drawing/2014/main" val="20003"/>
                    </a:ext>
                  </a:extLst>
                </a:gridCol>
              </a:tblGrid>
              <a:tr h="605790">
                <a:tc rowSpan="2">
                  <a:txBody>
                    <a:bodyPr/>
                    <a:lstStyle/>
                    <a:p>
                      <a:pPr algn="ctr">
                        <a:lnSpc>
                          <a:spcPct val="90000"/>
                        </a:lnSpc>
                        <a:buNone/>
                      </a:pPr>
                      <a:endParaRPr lang="zh-CN" altLang="en-US" sz="1800" b="1">
                        <a:latin typeface="微软雅黑" panose="020B0503020204020204" pitchFamily="34" charset="-122"/>
                        <a:ea typeface="微软雅黑" panose="020B0503020204020204" pitchFamily="34" charset="-122"/>
                      </a:endParaRPr>
                    </a:p>
                  </a:txBody>
                  <a:tcPr anchor="ctr"/>
                </a:tc>
                <a:tc gridSpan="3">
                  <a:txBody>
                    <a:bodyPr/>
                    <a:lstStyle/>
                    <a:p>
                      <a:pPr algn="ctr">
                        <a:lnSpc>
                          <a:spcPct val="90000"/>
                        </a:lnSpc>
                        <a:buNone/>
                      </a:pPr>
                      <a:r>
                        <a:rPr lang="zh-CN" altLang="en-US" sz="1800">
                          <a:latin typeface="微软雅黑" panose="020B0503020204020204" pitchFamily="34" charset="-122"/>
                          <a:ea typeface="微软雅黑" panose="020B0503020204020204" pitchFamily="34" charset="-122"/>
                        </a:rPr>
                        <a:t>列</a:t>
                      </a:r>
                      <a:endParaRPr lang="en-US" altLang="zh-CN" sz="1800">
                        <a:latin typeface="微软雅黑" panose="020B0503020204020204" pitchFamily="34" charset="-122"/>
                        <a:ea typeface="微软雅黑" panose="020B0503020204020204" pitchFamily="34" charset="-122"/>
                      </a:endParaRPr>
                    </a:p>
                  </a:txBody>
                  <a:tcPr anchor="ctr"/>
                </a:tc>
                <a:tc hMerge="1">
                  <a:txBody>
                    <a:bodyPr/>
                    <a:lstStyle/>
                    <a:p>
                      <a:endParaRPr lang="zh-CN"/>
                    </a:p>
                  </a:txBody>
                  <a:tcPr anchor="ctr"/>
                </a:tc>
                <a:tc hMerge="1">
                  <a:txBody>
                    <a:bodyPr/>
                    <a:lstStyle/>
                    <a:p>
                      <a:endParaRPr lang="zh-CN"/>
                    </a:p>
                  </a:txBody>
                  <a:tcPr anchor="ctr"/>
                </a:tc>
                <a:extLst>
                  <a:ext uri="{0D108BD9-81ED-4DB2-BD59-A6C34878D82A}">
                    <a16:rowId xmlns:a16="http://schemas.microsoft.com/office/drawing/2014/main" val="10000"/>
                  </a:ext>
                </a:extLst>
              </a:tr>
              <a:tr h="605790">
                <a:tc vMerge="1">
                  <a:txBody>
                    <a:bodyPr/>
                    <a:lstStyle/>
                    <a:p>
                      <a:endParaRPr lang="zh-CN"/>
                    </a:p>
                  </a:txBody>
                  <a:tcPr anchor="ctr"/>
                </a:tc>
                <a:tc>
                  <a:txBody>
                    <a:bodyPr/>
                    <a:lstStyle/>
                    <a:p>
                      <a:pPr marL="0" algn="ctr" defTabSz="1219200" rtl="0" eaLnBrk="1" latinLnBrk="0" hangingPunct="1">
                        <a:lnSpc>
                          <a:spcPct val="90000"/>
                        </a:lnSpc>
                        <a:buNone/>
                      </a:pPr>
                      <a:r>
                        <a:rPr lang="en-US" altLang="zh-CN" sz="1800" b="1" kern="1200">
                          <a:solidFill>
                            <a:schemeClr val="lt1"/>
                          </a:solidFill>
                          <a:latin typeface="微软雅黑" panose="020B0503020204020204" pitchFamily="34" charset="-122"/>
                          <a:ea typeface="微软雅黑" panose="020B0503020204020204" pitchFamily="34" charset="-122"/>
                          <a:cs typeface="+mn-cs"/>
                        </a:rPr>
                        <a:t>1</a:t>
                      </a:r>
                    </a:p>
                  </a:txBody>
                  <a:tcPr anchor="ctr">
                    <a:solidFill>
                      <a:srgbClr val="1369B2"/>
                    </a:solidFill>
                  </a:tcPr>
                </a:tc>
                <a:tc>
                  <a:txBody>
                    <a:bodyPr/>
                    <a:lstStyle/>
                    <a:p>
                      <a:pPr marL="0" algn="ctr" defTabSz="1219200" rtl="0" eaLnBrk="1" latinLnBrk="0" hangingPunct="1">
                        <a:lnSpc>
                          <a:spcPct val="90000"/>
                        </a:lnSpc>
                        <a:buNone/>
                      </a:pPr>
                      <a:r>
                        <a:rPr lang="en-US" altLang="zh-CN" sz="1800" b="1" kern="1200">
                          <a:solidFill>
                            <a:schemeClr val="lt1"/>
                          </a:solidFill>
                          <a:latin typeface="微软雅黑" panose="020B0503020204020204" pitchFamily="34" charset="-122"/>
                          <a:ea typeface="微软雅黑" panose="020B0503020204020204" pitchFamily="34" charset="-122"/>
                          <a:cs typeface="+mn-cs"/>
                        </a:rPr>
                        <a:t>2</a:t>
                      </a:r>
                    </a:p>
                  </a:txBody>
                  <a:tcPr anchor="ctr">
                    <a:solidFill>
                      <a:srgbClr val="1369B2"/>
                    </a:solidFill>
                  </a:tcPr>
                </a:tc>
                <a:tc>
                  <a:txBody>
                    <a:bodyPr/>
                    <a:lstStyle/>
                    <a:p>
                      <a:pPr marL="0" algn="ctr" defTabSz="1219200" rtl="0" eaLnBrk="1" latinLnBrk="0" hangingPunct="1">
                        <a:lnSpc>
                          <a:spcPct val="90000"/>
                        </a:lnSpc>
                        <a:buNone/>
                      </a:pPr>
                      <a:r>
                        <a:rPr lang="en-US" altLang="zh-CN" sz="1800" b="1" kern="1200">
                          <a:solidFill>
                            <a:schemeClr val="lt1"/>
                          </a:solidFill>
                          <a:latin typeface="微软雅黑" panose="020B0503020204020204" pitchFamily="34" charset="-122"/>
                          <a:ea typeface="微软雅黑" panose="020B0503020204020204" pitchFamily="34" charset="-122"/>
                          <a:cs typeface="+mn-cs"/>
                        </a:rPr>
                        <a:t>3</a:t>
                      </a:r>
                    </a:p>
                  </a:txBody>
                  <a:tcPr anchor="ctr">
                    <a:solidFill>
                      <a:srgbClr val="1369B2"/>
                    </a:solidFill>
                  </a:tcPr>
                </a:tc>
                <a:extLst>
                  <a:ext uri="{0D108BD9-81ED-4DB2-BD59-A6C34878D82A}">
                    <a16:rowId xmlns:a16="http://schemas.microsoft.com/office/drawing/2014/main" val="10001"/>
                  </a:ext>
                </a:extLst>
              </a:tr>
              <a:tr h="588645">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1</a:t>
                      </a:r>
                    </a:p>
                  </a:txBody>
                  <a:tcPr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1</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1</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1</a:t>
                      </a:r>
                    </a:p>
                  </a:txBody>
                  <a:tcPr marL="68580" marR="68580" marT="0" marB="0" anchor="ctr"/>
                </a:tc>
                <a:extLst>
                  <a:ext uri="{0D108BD9-81ED-4DB2-BD59-A6C34878D82A}">
                    <a16:rowId xmlns:a16="http://schemas.microsoft.com/office/drawing/2014/main" val="10002"/>
                  </a:ext>
                </a:extLst>
              </a:tr>
              <a:tr h="550545">
                <a:tc>
                  <a:txBody>
                    <a:bodyPr/>
                    <a:lstStyle/>
                    <a:p>
                      <a:pPr algn="ctr">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2</a:t>
                      </a:r>
                    </a:p>
                  </a:txBody>
                  <a:tcPr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1</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0</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0</a:t>
                      </a:r>
                    </a:p>
                  </a:txBody>
                  <a:tcPr marL="68580" marR="68580" marT="0" marB="0" anchor="ctr"/>
                </a:tc>
                <a:extLst>
                  <a:ext uri="{0D108BD9-81ED-4DB2-BD59-A6C34878D82A}">
                    <a16:rowId xmlns:a16="http://schemas.microsoft.com/office/drawing/2014/main" val="10003"/>
                  </a:ext>
                </a:extLst>
              </a:tr>
              <a:tr h="550545">
                <a:tc>
                  <a:txBody>
                    <a:bodyPr/>
                    <a:lstStyle/>
                    <a:p>
                      <a:pPr algn="ctr">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3</a:t>
                      </a:r>
                    </a:p>
                  </a:txBody>
                  <a:tcPr anchor="ctr"/>
                </a:tc>
                <a:tc>
                  <a:txBody>
                    <a:bodyPr/>
                    <a:lstStyle/>
                    <a:p>
                      <a:pPr algn="ctr">
                        <a:spcAft>
                          <a:spcPts val="0"/>
                        </a:spcAft>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0</a:t>
                      </a:r>
                    </a:p>
                  </a:txBody>
                  <a:tcPr marL="68580" marR="68580" marT="0" marB="0" anchor="ctr"/>
                </a:tc>
                <a:tc>
                  <a:txBody>
                    <a:bodyPr/>
                    <a:lstStyle/>
                    <a:p>
                      <a:pPr algn="ctr">
                        <a:spcAft>
                          <a:spcPts val="0"/>
                        </a:spcAft>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1</a:t>
                      </a:r>
                    </a:p>
                  </a:txBody>
                  <a:tcPr marL="68580" marR="68580" marT="0" marB="0" anchor="ctr"/>
                </a:tc>
                <a:tc>
                  <a:txBody>
                    <a:bodyPr/>
                    <a:lstStyle/>
                    <a:p>
                      <a:pPr algn="ctr">
                        <a:spcAft>
                          <a:spcPts val="0"/>
                        </a:spcAft>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0</a:t>
                      </a:r>
                    </a:p>
                  </a:txBody>
                  <a:tcPr marL="68580" marR="68580" marT="0" marB="0" anchor="ctr"/>
                </a:tc>
                <a:extLst>
                  <a:ext uri="{0D108BD9-81ED-4DB2-BD59-A6C34878D82A}">
                    <a16:rowId xmlns:a16="http://schemas.microsoft.com/office/drawing/2014/main" val="10004"/>
                  </a:ext>
                </a:extLst>
              </a:tr>
              <a:tr h="550545">
                <a:tc>
                  <a:txBody>
                    <a:bodyPr/>
                    <a:lstStyle/>
                    <a:p>
                      <a:pPr algn="ctr">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4</a:t>
                      </a:r>
                    </a:p>
                  </a:txBody>
                  <a:tcPr anchor="ctr"/>
                </a:tc>
                <a:tc>
                  <a:txBody>
                    <a:bodyPr/>
                    <a:lstStyle/>
                    <a:p>
                      <a:pPr algn="ctr">
                        <a:spcAft>
                          <a:spcPts val="0"/>
                        </a:spcAft>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0</a:t>
                      </a:r>
                    </a:p>
                  </a:txBody>
                  <a:tcPr marL="68580" marR="68580" marT="0" marB="0" anchor="ctr"/>
                </a:tc>
                <a:tc>
                  <a:txBody>
                    <a:bodyPr/>
                    <a:lstStyle/>
                    <a:p>
                      <a:pPr algn="ctr">
                        <a:spcAft>
                          <a:spcPts val="0"/>
                        </a:spcAft>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0</a:t>
                      </a:r>
                    </a:p>
                  </a:txBody>
                  <a:tcPr marL="68580" marR="68580" marT="0" marB="0" anchor="ctr"/>
                </a:tc>
                <a:tc>
                  <a:txBody>
                    <a:bodyPr/>
                    <a:lstStyle/>
                    <a:p>
                      <a:pPr algn="ctr">
                        <a:spcAft>
                          <a:spcPts val="0"/>
                        </a:spcAft>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1</a:t>
                      </a:r>
                    </a:p>
                  </a:txBody>
                  <a:tcPr marL="68580" marR="68580" marT="0" marB="0" anchor="ctr"/>
                </a:tc>
                <a:extLst>
                  <a:ext uri="{0D108BD9-81ED-4DB2-BD59-A6C34878D82A}">
                    <a16:rowId xmlns:a16="http://schemas.microsoft.com/office/drawing/2014/main" val="10005"/>
                  </a:ext>
                </a:extLst>
              </a:tr>
            </a:tbl>
          </a:graphicData>
        </a:graphic>
      </p:graphicFrame>
      <p:sp>
        <p:nvSpPr>
          <p:cNvPr id="6" name="文本框 5"/>
          <p:cNvSpPr txBox="1"/>
          <p:nvPr/>
        </p:nvSpPr>
        <p:spPr>
          <a:xfrm>
            <a:off x="3287206" y="2853794"/>
            <a:ext cx="400050" cy="337185"/>
          </a:xfrm>
          <a:prstGeom prst="rect">
            <a:avLst/>
          </a:prstGeom>
          <a:noFill/>
        </p:spPr>
        <p:txBody>
          <a:bodyPr wrap="square" rtlCol="0">
            <a:spAutoFit/>
          </a:bodyPr>
          <a:lstStyle/>
          <a:p>
            <a:r>
              <a:rPr lang="zh-CN" altLang="en-US" sz="1600" b="1" dirty="0">
                <a:solidFill>
                  <a:schemeClr val="bg1"/>
                </a:solidFill>
                <a:latin typeface="微软雅黑" panose="020B0503020204020204" pitchFamily="34" charset="-122"/>
                <a:ea typeface="微软雅黑" panose="020B0503020204020204" pitchFamily="34" charset="-122"/>
              </a:rPr>
              <a:t>行</a:t>
            </a: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425575" y="909955"/>
            <a:ext cx="9338945" cy="1289905"/>
          </a:xfrm>
          <a:prstGeom prst="rect">
            <a:avLst/>
          </a:prstGeom>
          <a:noFill/>
        </p:spPr>
        <p:txBody>
          <a:bodyPr wrap="square" rtlCol="0" anchor="t">
            <a:spAutoFit/>
          </a:bodyPr>
          <a:lstStyle/>
          <a:p>
            <a:pPr indent="457200" algn="just">
              <a:lnSpc>
                <a:spcPct val="150000"/>
              </a:lnSpc>
              <a:buClrTx/>
              <a:buSzTx/>
              <a:buFontTx/>
            </a:pPr>
            <a:r>
              <a:rPr lang="zh-CN" altLang="en-US" sz="1800" dirty="0">
                <a:solidFill>
                  <a:srgbClr val="595959"/>
                </a:solidFill>
                <a:latin typeface="微软雅黑" panose="020B0503020204020204" pitchFamily="34" charset="-122"/>
                <a:ea typeface="微软雅黑" panose="020B0503020204020204" pitchFamily="34" charset="-122"/>
                <a:sym typeface="+mn-ea"/>
              </a:rPr>
              <a:t>混合正交表往往难以确定测试用例的数目，此时用n表示测试用例的数目，这种情况下，读者可以</a:t>
            </a:r>
            <a:r>
              <a:rPr lang="zh-CN" altLang="en-US" sz="1800" dirty="0">
                <a:solidFill>
                  <a:srgbClr val="0070C0"/>
                </a:solidFill>
                <a:latin typeface="微软雅黑" panose="020B0503020204020204" pitchFamily="34" charset="-122"/>
                <a:ea typeface="微软雅黑" panose="020B0503020204020204" pitchFamily="34" charset="-122"/>
                <a:sym typeface="+mn-ea"/>
              </a:rPr>
              <a:t>登录正交表的权威网站</a:t>
            </a:r>
            <a:r>
              <a:rPr lang="zh-CN" altLang="en-US" sz="1800" dirty="0">
                <a:solidFill>
                  <a:srgbClr val="595959"/>
                </a:solidFill>
                <a:latin typeface="微软雅黑" panose="020B0503020204020204" pitchFamily="34" charset="-122"/>
                <a:ea typeface="微软雅黑" panose="020B0503020204020204" pitchFamily="34" charset="-122"/>
                <a:sym typeface="+mn-ea"/>
              </a:rPr>
              <a:t>，</a:t>
            </a:r>
            <a:r>
              <a:rPr lang="zh-CN" altLang="en-US" sz="1800" dirty="0">
                <a:solidFill>
                  <a:srgbClr val="0070C0"/>
                </a:solidFill>
                <a:latin typeface="微软雅黑" panose="020B0503020204020204" pitchFamily="34" charset="-122"/>
                <a:ea typeface="微软雅黑" panose="020B0503020204020204" pitchFamily="34" charset="-122"/>
                <a:sym typeface="+mn-ea"/>
              </a:rPr>
              <a:t>查询n值</a:t>
            </a:r>
            <a:r>
              <a:rPr lang="zh-CN" altLang="en-US" sz="1800" dirty="0">
                <a:solidFill>
                  <a:srgbClr val="595959"/>
                </a:solidFill>
                <a:latin typeface="微软雅黑" panose="020B0503020204020204" pitchFamily="34" charset="-122"/>
                <a:ea typeface="微软雅黑" panose="020B0503020204020204" pitchFamily="34" charset="-122"/>
                <a:sym typeface="+mn-ea"/>
              </a:rPr>
              <a:t>。</a:t>
            </a:r>
            <a:r>
              <a:rPr lang="zh-CN" altLang="en-US" sz="1800" dirty="0">
                <a:solidFill>
                  <a:srgbClr val="0070C0"/>
                </a:solidFill>
                <a:latin typeface="微软雅黑" panose="020B0503020204020204" pitchFamily="34" charset="-122"/>
                <a:ea typeface="微软雅黑" panose="020B0503020204020204" pitchFamily="34" charset="-122"/>
                <a:sym typeface="+mn-ea"/>
              </a:rPr>
              <a:t>正交表查询网站主页</a:t>
            </a:r>
            <a:r>
              <a:rPr lang="zh-CN" altLang="en-US" sz="1800" dirty="0">
                <a:solidFill>
                  <a:srgbClr val="595959"/>
                </a:solidFill>
                <a:latin typeface="微软雅黑" panose="020B0503020204020204" pitchFamily="34" charset="-122"/>
                <a:ea typeface="微软雅黑" panose="020B0503020204020204" pitchFamily="34" charset="-122"/>
                <a:sym typeface="+mn-ea"/>
              </a:rPr>
              <a:t>如下图所示。</a:t>
            </a:r>
            <a:endParaRPr lang="en-US" altLang="zh-CN" sz="1800" dirty="0">
              <a:solidFill>
                <a:srgbClr val="595959"/>
              </a:solidFill>
              <a:latin typeface="微软雅黑" panose="020B0503020204020204" pitchFamily="34" charset="-122"/>
              <a:ea typeface="微软雅黑" panose="020B0503020204020204" pitchFamily="34" charset="-122"/>
              <a:sym typeface="+mn-ea"/>
            </a:endParaRPr>
          </a:p>
          <a:p>
            <a:pPr indent="457200" algn="just">
              <a:lnSpc>
                <a:spcPct val="150000"/>
              </a:lnSpc>
              <a:buClrTx/>
              <a:buSzTx/>
              <a:buFontTx/>
            </a:pPr>
            <a:r>
              <a:rPr lang="en-US" altLang="zh-CN" sz="1800" dirty="0">
                <a:solidFill>
                  <a:srgbClr val="0070C0"/>
                </a:solidFill>
                <a:latin typeface="微软雅黑" panose="020B0503020204020204" pitchFamily="34" charset="-122"/>
                <a:ea typeface="微软雅黑" panose="020B0503020204020204" pitchFamily="34" charset="-122"/>
                <a:sym typeface="+mn-ea"/>
              </a:rPr>
              <a:t>https://support.sas.com/techsup/technote/ts723_Designs.txt</a:t>
            </a:r>
            <a:endParaRPr lang="zh-CN" altLang="en-US" sz="1800" dirty="0">
              <a:solidFill>
                <a:srgbClr val="0070C0"/>
              </a:solidFill>
              <a:latin typeface="微软雅黑" panose="020B0503020204020204" pitchFamily="34" charset="-122"/>
              <a:ea typeface="微软雅黑" panose="020B0503020204020204" pitchFamily="34" charset="-122"/>
              <a:sym typeface="+mn-ea"/>
            </a:endParaRPr>
          </a:p>
        </p:txBody>
      </p:sp>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2.4.1	正交实验设计法概述</a:t>
            </a:r>
          </a:p>
        </p:txBody>
      </p:sp>
      <p:pic>
        <p:nvPicPr>
          <p:cNvPr id="8" name="图片 7" descr="11"/>
          <p:cNvPicPr>
            <a:picLocks noChangeAspect="1"/>
          </p:cNvPicPr>
          <p:nvPr/>
        </p:nvPicPr>
        <p:blipFill>
          <a:blip r:embed="rId2"/>
          <a:stretch>
            <a:fillRect/>
          </a:stretch>
        </p:blipFill>
        <p:spPr>
          <a:xfrm>
            <a:off x="3719206" y="2199860"/>
            <a:ext cx="5420360" cy="4392733"/>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425575" y="909955"/>
            <a:ext cx="9338945" cy="874407"/>
          </a:xfrm>
          <a:prstGeom prst="rect">
            <a:avLst/>
          </a:prstGeom>
          <a:noFill/>
        </p:spPr>
        <p:txBody>
          <a:bodyPr wrap="square" rtlCol="0" anchor="t">
            <a:spAutoFit/>
          </a:bodyPr>
          <a:lstStyle/>
          <a:p>
            <a:pPr indent="457200" algn="just">
              <a:lnSpc>
                <a:spcPct val="150000"/>
              </a:lnSpc>
              <a:buClrTx/>
              <a:buSzTx/>
              <a:buFontTx/>
            </a:pPr>
            <a:r>
              <a:rPr lang="zh-CN" altLang="en-US" sz="1800" dirty="0">
                <a:solidFill>
                  <a:srgbClr val="595959"/>
                </a:solidFill>
                <a:latin typeface="微软雅黑" panose="020B0503020204020204" pitchFamily="34" charset="-122"/>
                <a:ea typeface="微软雅黑" panose="020B0503020204020204" pitchFamily="34" charset="-122"/>
                <a:sym typeface="+mn-ea"/>
              </a:rPr>
              <a:t>上一页的图中，读者</a:t>
            </a:r>
            <a:r>
              <a:rPr lang="zh-CN" altLang="en-US" sz="1800" dirty="0">
                <a:solidFill>
                  <a:srgbClr val="0070C0"/>
                </a:solidFill>
                <a:latin typeface="微软雅黑" panose="020B0503020204020204" pitchFamily="34" charset="-122"/>
                <a:ea typeface="微软雅黑" panose="020B0503020204020204" pitchFamily="34" charset="-122"/>
                <a:sym typeface="+mn-ea"/>
              </a:rPr>
              <a:t>可以查询</a:t>
            </a:r>
            <a:r>
              <a:rPr lang="zh-CN" altLang="en-US" sz="1800" dirty="0">
                <a:solidFill>
                  <a:srgbClr val="595959"/>
                </a:solidFill>
                <a:latin typeface="微软雅黑" panose="020B0503020204020204" pitchFamily="34" charset="-122"/>
                <a:ea typeface="微软雅黑" panose="020B0503020204020204" pitchFamily="34" charset="-122"/>
                <a:sym typeface="+mn-ea"/>
              </a:rPr>
              <a:t>到</a:t>
            </a:r>
            <a:r>
              <a:rPr lang="zh-CN" altLang="en-US" sz="1800" dirty="0">
                <a:solidFill>
                  <a:srgbClr val="0070C0"/>
                </a:solidFill>
                <a:latin typeface="微软雅黑" panose="020B0503020204020204" pitchFamily="34" charset="-122"/>
                <a:ea typeface="微软雅黑" panose="020B0503020204020204" pitchFamily="34" charset="-122"/>
                <a:sym typeface="+mn-ea"/>
              </a:rPr>
              <a:t>不同因子数</a:t>
            </a:r>
            <a:r>
              <a:rPr lang="zh-CN" altLang="en-US" sz="1800" dirty="0">
                <a:solidFill>
                  <a:srgbClr val="595959"/>
                </a:solidFill>
                <a:latin typeface="微软雅黑" panose="020B0503020204020204" pitchFamily="34" charset="-122"/>
                <a:ea typeface="微软雅黑" panose="020B0503020204020204" pitchFamily="34" charset="-122"/>
                <a:sym typeface="+mn-ea"/>
              </a:rPr>
              <a:t>、</a:t>
            </a:r>
            <a:r>
              <a:rPr lang="zh-CN" altLang="en-US" sz="1800" dirty="0">
                <a:solidFill>
                  <a:srgbClr val="0070C0"/>
                </a:solidFill>
                <a:latin typeface="微软雅黑" panose="020B0503020204020204" pitchFamily="34" charset="-122"/>
                <a:ea typeface="微软雅黑" panose="020B0503020204020204" pitchFamily="34" charset="-122"/>
                <a:sym typeface="+mn-ea"/>
              </a:rPr>
              <a:t>不同水平数</a:t>
            </a:r>
            <a:r>
              <a:rPr lang="zh-CN" altLang="en-US" sz="1800" dirty="0">
                <a:solidFill>
                  <a:srgbClr val="595959"/>
                </a:solidFill>
                <a:latin typeface="微软雅黑" panose="020B0503020204020204" pitchFamily="34" charset="-122"/>
                <a:ea typeface="微软雅黑" panose="020B0503020204020204" pitchFamily="34" charset="-122"/>
                <a:sym typeface="+mn-ea"/>
              </a:rPr>
              <a:t>的</a:t>
            </a:r>
            <a:r>
              <a:rPr lang="zh-CN" altLang="en-US" sz="1800" dirty="0">
                <a:solidFill>
                  <a:srgbClr val="0070C0"/>
                </a:solidFill>
                <a:latin typeface="微软雅黑" panose="020B0503020204020204" pitchFamily="34" charset="-122"/>
                <a:ea typeface="微软雅黑" panose="020B0503020204020204" pitchFamily="34" charset="-122"/>
                <a:sym typeface="+mn-ea"/>
              </a:rPr>
              <a:t>正交表的n值</a:t>
            </a:r>
            <a:r>
              <a:rPr lang="zh-CN" altLang="en-US" sz="1800" dirty="0">
                <a:solidFill>
                  <a:srgbClr val="595959"/>
                </a:solidFill>
                <a:latin typeface="微软雅黑" panose="020B0503020204020204" pitchFamily="34" charset="-122"/>
                <a:ea typeface="微软雅黑" panose="020B0503020204020204" pitchFamily="34" charset="-122"/>
                <a:sym typeface="+mn-ea"/>
              </a:rPr>
              <a:t>。在正交表查询网站查找到</a:t>
            </a:r>
            <a:r>
              <a:rPr lang="en-US" altLang="zh-CN" sz="1800" dirty="0">
                <a:solidFill>
                  <a:schemeClr val="tx1">
                    <a:lumMod val="65000"/>
                    <a:lumOff val="35000"/>
                  </a:schemeClr>
                </a:solidFill>
                <a:latin typeface="微软雅黑" panose="020B0503020204020204" pitchFamily="34" charset="-122"/>
                <a:ea typeface="微软雅黑" panose="020B0503020204020204" pitchFamily="34" charset="-122"/>
                <a:cs typeface="Lucida Sans Unicode" panose="020B0602030504020204"/>
                <a:sym typeface="+mn-ea"/>
              </a:rPr>
              <a:t>2</a:t>
            </a:r>
            <a:r>
              <a:rPr lang="en-US" altLang="zh-CN" sz="1800" baseline="30000" dirty="0">
                <a:solidFill>
                  <a:schemeClr val="tx1">
                    <a:lumMod val="65000"/>
                    <a:lumOff val="35000"/>
                  </a:schemeClr>
                </a:solidFill>
                <a:latin typeface="微软雅黑" panose="020B0503020204020204" pitchFamily="34" charset="-122"/>
                <a:ea typeface="微软雅黑" panose="020B0503020204020204" pitchFamily="34" charset="-122"/>
                <a:cs typeface="Lucida Sans Unicode" panose="020B0602030504020204"/>
                <a:sym typeface="+mn-ea"/>
              </a:rPr>
              <a:t>4</a:t>
            </a:r>
            <a:r>
              <a:rPr lang="zh-CN" altLang="en-US" sz="1800" dirty="0">
                <a:solidFill>
                  <a:srgbClr val="595959"/>
                </a:solidFill>
                <a:latin typeface="微软雅黑" panose="020B0503020204020204" pitchFamily="34" charset="-122"/>
                <a:ea typeface="微软雅黑" panose="020B0503020204020204" pitchFamily="34" charset="-122"/>
                <a:sym typeface="+mn-ea"/>
              </a:rPr>
              <a:t>×</a:t>
            </a:r>
            <a:r>
              <a:rPr lang="en-US" altLang="zh-CN" sz="1800" dirty="0">
                <a:solidFill>
                  <a:schemeClr val="tx1">
                    <a:lumMod val="65000"/>
                    <a:lumOff val="35000"/>
                  </a:schemeClr>
                </a:solidFill>
                <a:latin typeface="微软雅黑" panose="020B0503020204020204" pitchFamily="34" charset="-122"/>
                <a:ea typeface="微软雅黑" panose="020B0503020204020204" pitchFamily="34" charset="-122"/>
                <a:cs typeface="Lucida Sans Unicode" panose="020B0602030504020204"/>
                <a:sym typeface="+mn-ea"/>
              </a:rPr>
              <a:t>4</a:t>
            </a:r>
            <a:r>
              <a:rPr lang="en-US" altLang="zh-CN" sz="1800" baseline="30000" dirty="0">
                <a:solidFill>
                  <a:schemeClr val="tx1">
                    <a:lumMod val="65000"/>
                    <a:lumOff val="35000"/>
                  </a:schemeClr>
                </a:solidFill>
                <a:latin typeface="微软雅黑" panose="020B0503020204020204" pitchFamily="34" charset="-122"/>
                <a:ea typeface="微软雅黑" panose="020B0503020204020204" pitchFamily="34" charset="-122"/>
                <a:cs typeface="Lucida Sans Unicode" panose="020B0602030504020204"/>
                <a:sym typeface="+mn-ea"/>
              </a:rPr>
              <a:t>1</a:t>
            </a:r>
            <a:r>
              <a:rPr lang="zh-CN" altLang="en-US" sz="1800" dirty="0">
                <a:solidFill>
                  <a:srgbClr val="595959"/>
                </a:solidFill>
                <a:latin typeface="微软雅黑" panose="020B0503020204020204" pitchFamily="34" charset="-122"/>
                <a:ea typeface="微软雅黑" panose="020B0503020204020204" pitchFamily="34" charset="-122"/>
                <a:sym typeface="+mn-ea"/>
              </a:rPr>
              <a:t>的正交表n值为8。</a:t>
            </a:r>
            <a:r>
              <a:rPr lang="zh-CN" altLang="en-US" sz="1800" dirty="0">
                <a:solidFill>
                  <a:srgbClr val="0070C0"/>
                </a:solidFill>
                <a:latin typeface="微软雅黑" panose="020B0503020204020204" pitchFamily="34" charset="-122"/>
                <a:ea typeface="微软雅黑" panose="020B0503020204020204" pitchFamily="34" charset="-122"/>
                <a:sym typeface="+mn-ea"/>
              </a:rPr>
              <a:t>L8(</a:t>
            </a:r>
            <a:r>
              <a:rPr lang="en-US" altLang="zh-CN" sz="1800" dirty="0">
                <a:solidFill>
                  <a:srgbClr val="0070C0"/>
                </a:solidFill>
                <a:latin typeface="微软雅黑" panose="020B0503020204020204" pitchFamily="34" charset="-122"/>
                <a:ea typeface="微软雅黑" panose="020B0503020204020204" pitchFamily="34" charset="-122"/>
                <a:cs typeface="Lucida Sans Unicode" panose="020B0602030504020204"/>
                <a:sym typeface="+mn-ea"/>
              </a:rPr>
              <a:t>2</a:t>
            </a:r>
            <a:r>
              <a:rPr lang="en-US" altLang="zh-CN" sz="1800" baseline="30000" dirty="0">
                <a:solidFill>
                  <a:srgbClr val="0070C0"/>
                </a:solidFill>
                <a:latin typeface="微软雅黑" panose="020B0503020204020204" pitchFamily="34" charset="-122"/>
                <a:ea typeface="微软雅黑" panose="020B0503020204020204" pitchFamily="34" charset="-122"/>
                <a:cs typeface="Lucida Sans Unicode" panose="020B0602030504020204"/>
                <a:sym typeface="+mn-ea"/>
              </a:rPr>
              <a:t>4</a:t>
            </a:r>
            <a:r>
              <a:rPr lang="zh-CN" altLang="en-US" sz="1800" dirty="0">
                <a:solidFill>
                  <a:srgbClr val="0070C0"/>
                </a:solidFill>
                <a:latin typeface="微软雅黑" panose="020B0503020204020204" pitchFamily="34" charset="-122"/>
                <a:ea typeface="微软雅黑" panose="020B0503020204020204" pitchFamily="34" charset="-122"/>
                <a:sym typeface="+mn-ea"/>
              </a:rPr>
              <a:t>×</a:t>
            </a:r>
            <a:r>
              <a:rPr lang="en-US" altLang="zh-CN" sz="1800" dirty="0">
                <a:solidFill>
                  <a:srgbClr val="0070C0"/>
                </a:solidFill>
                <a:latin typeface="微软雅黑" panose="020B0503020204020204" pitchFamily="34" charset="-122"/>
                <a:ea typeface="微软雅黑" panose="020B0503020204020204" pitchFamily="34" charset="-122"/>
                <a:cs typeface="Lucida Sans Unicode" panose="020B0602030504020204"/>
                <a:sym typeface="+mn-ea"/>
              </a:rPr>
              <a:t>4</a:t>
            </a:r>
            <a:r>
              <a:rPr lang="en-US" altLang="zh-CN" sz="1800" baseline="30000" dirty="0">
                <a:solidFill>
                  <a:srgbClr val="0070C0"/>
                </a:solidFill>
                <a:latin typeface="微软雅黑" panose="020B0503020204020204" pitchFamily="34" charset="-122"/>
                <a:ea typeface="微软雅黑" panose="020B0503020204020204" pitchFamily="34" charset="-122"/>
                <a:cs typeface="Lucida Sans Unicode" panose="020B0602030504020204"/>
                <a:sym typeface="+mn-ea"/>
              </a:rPr>
              <a:t>1</a:t>
            </a:r>
            <a:r>
              <a:rPr lang="zh-CN" altLang="en-US" sz="1800" dirty="0">
                <a:solidFill>
                  <a:srgbClr val="0070C0"/>
                </a:solidFill>
                <a:latin typeface="微软雅黑" panose="020B0503020204020204" pitchFamily="34" charset="-122"/>
                <a:ea typeface="微软雅黑" panose="020B0503020204020204" pitchFamily="34" charset="-122"/>
                <a:sym typeface="+mn-ea"/>
              </a:rPr>
              <a:t>)的正交表设计</a:t>
            </a:r>
            <a:r>
              <a:rPr lang="zh-CN" altLang="en-US" sz="1800" dirty="0">
                <a:solidFill>
                  <a:srgbClr val="595959"/>
                </a:solidFill>
                <a:latin typeface="微软雅黑" panose="020B0503020204020204" pitchFamily="34" charset="-122"/>
                <a:ea typeface="微软雅黑" panose="020B0503020204020204" pitchFamily="34" charset="-122"/>
                <a:sym typeface="+mn-ea"/>
              </a:rPr>
              <a:t>如下表所示。</a:t>
            </a:r>
          </a:p>
        </p:txBody>
      </p:sp>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2.4.1	正交实验设计法概述</a:t>
            </a:r>
          </a:p>
        </p:txBody>
      </p:sp>
      <p:graphicFrame>
        <p:nvGraphicFramePr>
          <p:cNvPr id="4" name="表格 3"/>
          <p:cNvGraphicFramePr/>
          <p:nvPr>
            <p:custDataLst>
              <p:tags r:id="rId1"/>
            </p:custDataLst>
          </p:nvPr>
        </p:nvGraphicFramePr>
        <p:xfrm>
          <a:off x="2207206" y="1831975"/>
          <a:ext cx="7560001" cy="4642824"/>
        </p:xfrm>
        <a:graphic>
          <a:graphicData uri="http://schemas.openxmlformats.org/drawingml/2006/table">
            <a:tbl>
              <a:tblPr firstRow="1" bandRow="1">
                <a:tableStyleId>{5C22544A-7EE6-4342-B048-85BDC9FD1C3A}</a:tableStyleId>
              </a:tblPr>
              <a:tblGrid>
                <a:gridCol w="1457519">
                  <a:extLst>
                    <a:ext uri="{9D8B030D-6E8A-4147-A177-3AD203B41FA5}">
                      <a16:colId xmlns:a16="http://schemas.microsoft.com/office/drawing/2014/main" val="20000"/>
                    </a:ext>
                  </a:extLst>
                </a:gridCol>
                <a:gridCol w="1374332">
                  <a:extLst>
                    <a:ext uri="{9D8B030D-6E8A-4147-A177-3AD203B41FA5}">
                      <a16:colId xmlns:a16="http://schemas.microsoft.com/office/drawing/2014/main" val="20001"/>
                    </a:ext>
                  </a:extLst>
                </a:gridCol>
                <a:gridCol w="1229635">
                  <a:extLst>
                    <a:ext uri="{9D8B030D-6E8A-4147-A177-3AD203B41FA5}">
                      <a16:colId xmlns:a16="http://schemas.microsoft.com/office/drawing/2014/main" val="20002"/>
                    </a:ext>
                  </a:extLst>
                </a:gridCol>
                <a:gridCol w="1166367">
                  <a:extLst>
                    <a:ext uri="{9D8B030D-6E8A-4147-A177-3AD203B41FA5}">
                      <a16:colId xmlns:a16="http://schemas.microsoft.com/office/drawing/2014/main" val="20003"/>
                    </a:ext>
                  </a:extLst>
                </a:gridCol>
                <a:gridCol w="1165781">
                  <a:extLst>
                    <a:ext uri="{9D8B030D-6E8A-4147-A177-3AD203B41FA5}">
                      <a16:colId xmlns:a16="http://schemas.microsoft.com/office/drawing/2014/main" val="20004"/>
                    </a:ext>
                  </a:extLst>
                </a:gridCol>
                <a:gridCol w="1166367">
                  <a:extLst>
                    <a:ext uri="{9D8B030D-6E8A-4147-A177-3AD203B41FA5}">
                      <a16:colId xmlns:a16="http://schemas.microsoft.com/office/drawing/2014/main" val="20005"/>
                    </a:ext>
                  </a:extLst>
                </a:gridCol>
              </a:tblGrid>
              <a:tr h="626594">
                <a:tc rowSpan="2">
                  <a:txBody>
                    <a:bodyPr/>
                    <a:lstStyle/>
                    <a:p>
                      <a:pPr algn="ctr">
                        <a:lnSpc>
                          <a:spcPct val="90000"/>
                        </a:lnSpc>
                        <a:buNone/>
                      </a:pPr>
                      <a:r>
                        <a:rPr lang="zh-CN" altLang="en-US" sz="1800" b="1">
                          <a:latin typeface="微软雅黑" panose="020B0503020204020204" pitchFamily="34" charset="-122"/>
                          <a:ea typeface="微软雅黑" panose="020B0503020204020204" pitchFamily="34" charset="-122"/>
                        </a:rPr>
                        <a:t>行</a:t>
                      </a:r>
                    </a:p>
                  </a:txBody>
                  <a:tcPr anchor="ctr"/>
                </a:tc>
                <a:tc gridSpan="5">
                  <a:txBody>
                    <a:bodyPr/>
                    <a:lstStyle/>
                    <a:p>
                      <a:pPr algn="ctr">
                        <a:lnSpc>
                          <a:spcPct val="90000"/>
                        </a:lnSpc>
                        <a:buNone/>
                      </a:pPr>
                      <a:r>
                        <a:rPr lang="zh-CN" altLang="en-US" sz="1800">
                          <a:latin typeface="微软雅黑" panose="020B0503020204020204" pitchFamily="34" charset="-122"/>
                          <a:ea typeface="微软雅黑" panose="020B0503020204020204" pitchFamily="34" charset="-122"/>
                        </a:rPr>
                        <a:t>列</a:t>
                      </a:r>
                      <a:endParaRPr lang="en-US" altLang="zh-CN" sz="1800">
                        <a:latin typeface="微软雅黑" panose="020B0503020204020204" pitchFamily="34" charset="-122"/>
                        <a:ea typeface="微软雅黑" panose="020B0503020204020204" pitchFamily="34" charset="-122"/>
                      </a:endParaRPr>
                    </a:p>
                  </a:txBody>
                  <a:tcPr anchor="ctr"/>
                </a:tc>
                <a:tc hMerge="1">
                  <a:txBody>
                    <a:bodyPr/>
                    <a:lstStyle/>
                    <a:p>
                      <a:endParaRPr lang="zh-CN"/>
                    </a:p>
                  </a:txBody>
                  <a:tcPr anchor="ctr"/>
                </a:tc>
                <a:tc hMerge="1">
                  <a:txBody>
                    <a:bodyPr/>
                    <a:lstStyle/>
                    <a:p>
                      <a:endParaRPr lang="zh-CN"/>
                    </a:p>
                  </a:txBody>
                  <a:tcPr anchor="ctr"/>
                </a:tc>
                <a:tc hMerge="1">
                  <a:txBody>
                    <a:bodyPr/>
                    <a:lstStyle/>
                    <a:p>
                      <a:endParaRPr lang="zh-CN"/>
                    </a:p>
                  </a:txBody>
                  <a:tcPr anchor="ctr"/>
                </a:tc>
                <a:tc hMerge="1">
                  <a:txBody>
                    <a:bodyPr/>
                    <a:lstStyle/>
                    <a:p>
                      <a:endParaRPr lang="zh-CN"/>
                    </a:p>
                  </a:txBody>
                  <a:tcPr anchor="ctr"/>
                </a:tc>
                <a:extLst>
                  <a:ext uri="{0D108BD9-81ED-4DB2-BD59-A6C34878D82A}">
                    <a16:rowId xmlns:a16="http://schemas.microsoft.com/office/drawing/2014/main" val="10000"/>
                  </a:ext>
                </a:extLst>
              </a:tr>
              <a:tr h="626594">
                <a:tc vMerge="1">
                  <a:txBody>
                    <a:bodyPr/>
                    <a:lstStyle/>
                    <a:p>
                      <a:endParaRPr lang="zh-CN"/>
                    </a:p>
                  </a:txBody>
                  <a:tcPr anchor="ctr"/>
                </a:tc>
                <a:tc>
                  <a:txBody>
                    <a:bodyPr/>
                    <a:lstStyle/>
                    <a:p>
                      <a:pPr marL="0" algn="ctr" defTabSz="1219200" rtl="0" eaLnBrk="1" latinLnBrk="0" hangingPunct="1">
                        <a:lnSpc>
                          <a:spcPct val="90000"/>
                        </a:lnSpc>
                        <a:buNone/>
                      </a:pPr>
                      <a:r>
                        <a:rPr lang="en-US" altLang="zh-CN" sz="1800" b="1" kern="1200">
                          <a:solidFill>
                            <a:schemeClr val="lt1"/>
                          </a:solidFill>
                          <a:latin typeface="微软雅黑" panose="020B0503020204020204" pitchFamily="34" charset="-122"/>
                          <a:ea typeface="微软雅黑" panose="020B0503020204020204" pitchFamily="34" charset="-122"/>
                          <a:cs typeface="+mn-cs"/>
                        </a:rPr>
                        <a:t>1</a:t>
                      </a:r>
                    </a:p>
                  </a:txBody>
                  <a:tcPr anchor="ctr">
                    <a:solidFill>
                      <a:srgbClr val="1369B2"/>
                    </a:solidFill>
                  </a:tcPr>
                </a:tc>
                <a:tc>
                  <a:txBody>
                    <a:bodyPr/>
                    <a:lstStyle/>
                    <a:p>
                      <a:pPr marL="0" algn="ctr" defTabSz="1219200" rtl="0" eaLnBrk="1" latinLnBrk="0" hangingPunct="1">
                        <a:lnSpc>
                          <a:spcPct val="90000"/>
                        </a:lnSpc>
                        <a:buNone/>
                      </a:pPr>
                      <a:r>
                        <a:rPr lang="en-US" altLang="zh-CN" sz="1800" b="1" kern="1200">
                          <a:solidFill>
                            <a:schemeClr val="lt1"/>
                          </a:solidFill>
                          <a:latin typeface="微软雅黑" panose="020B0503020204020204" pitchFamily="34" charset="-122"/>
                          <a:ea typeface="微软雅黑" panose="020B0503020204020204" pitchFamily="34" charset="-122"/>
                          <a:cs typeface="+mn-cs"/>
                        </a:rPr>
                        <a:t>2</a:t>
                      </a:r>
                    </a:p>
                  </a:txBody>
                  <a:tcPr anchor="ctr">
                    <a:solidFill>
                      <a:srgbClr val="1369B2"/>
                    </a:solidFill>
                  </a:tcPr>
                </a:tc>
                <a:tc>
                  <a:txBody>
                    <a:bodyPr/>
                    <a:lstStyle/>
                    <a:p>
                      <a:pPr marL="0" algn="ctr" defTabSz="1219200" rtl="0" eaLnBrk="1" latinLnBrk="0" hangingPunct="1">
                        <a:lnSpc>
                          <a:spcPct val="90000"/>
                        </a:lnSpc>
                        <a:buNone/>
                      </a:pPr>
                      <a:r>
                        <a:rPr lang="en-US" altLang="zh-CN" sz="1800" b="1" kern="1200">
                          <a:solidFill>
                            <a:schemeClr val="lt1"/>
                          </a:solidFill>
                          <a:latin typeface="微软雅黑" panose="020B0503020204020204" pitchFamily="34" charset="-122"/>
                          <a:ea typeface="微软雅黑" panose="020B0503020204020204" pitchFamily="34" charset="-122"/>
                          <a:cs typeface="+mn-cs"/>
                        </a:rPr>
                        <a:t>3</a:t>
                      </a:r>
                    </a:p>
                  </a:txBody>
                  <a:tcPr anchor="ctr">
                    <a:solidFill>
                      <a:srgbClr val="1369B2"/>
                    </a:solidFill>
                  </a:tcPr>
                </a:tc>
                <a:tc>
                  <a:txBody>
                    <a:bodyPr/>
                    <a:lstStyle/>
                    <a:p>
                      <a:pPr marL="0" algn="ctr" defTabSz="1219200" rtl="0" eaLnBrk="1" latinLnBrk="0" hangingPunct="1">
                        <a:lnSpc>
                          <a:spcPct val="90000"/>
                        </a:lnSpc>
                        <a:buNone/>
                      </a:pPr>
                      <a:r>
                        <a:rPr lang="en-US" altLang="zh-CN" sz="1800" b="1" kern="1200">
                          <a:solidFill>
                            <a:schemeClr val="lt1"/>
                          </a:solidFill>
                          <a:latin typeface="微软雅黑" panose="020B0503020204020204" pitchFamily="34" charset="-122"/>
                          <a:ea typeface="微软雅黑" panose="020B0503020204020204" pitchFamily="34" charset="-122"/>
                          <a:cs typeface="+mn-cs"/>
                        </a:rPr>
                        <a:t>4</a:t>
                      </a:r>
                    </a:p>
                  </a:txBody>
                  <a:tcPr anchor="ctr">
                    <a:solidFill>
                      <a:srgbClr val="1369B2"/>
                    </a:solidFill>
                  </a:tcPr>
                </a:tc>
                <a:tc>
                  <a:txBody>
                    <a:bodyPr/>
                    <a:lstStyle/>
                    <a:p>
                      <a:pPr marL="0" algn="ctr" defTabSz="1219200" rtl="0" eaLnBrk="1" latinLnBrk="0" hangingPunct="1">
                        <a:lnSpc>
                          <a:spcPct val="90000"/>
                        </a:lnSpc>
                        <a:buNone/>
                      </a:pPr>
                      <a:r>
                        <a:rPr lang="en-US" altLang="zh-CN" sz="1800" b="1" kern="1200">
                          <a:solidFill>
                            <a:schemeClr val="lt1"/>
                          </a:solidFill>
                          <a:latin typeface="微软雅黑" panose="020B0503020204020204" pitchFamily="34" charset="-122"/>
                          <a:ea typeface="微软雅黑" panose="020B0503020204020204" pitchFamily="34" charset="-122"/>
                          <a:cs typeface="+mn-cs"/>
                        </a:rPr>
                        <a:t>5</a:t>
                      </a:r>
                    </a:p>
                  </a:txBody>
                  <a:tcPr anchor="ctr">
                    <a:solidFill>
                      <a:srgbClr val="1369B2"/>
                    </a:solidFill>
                  </a:tcPr>
                </a:tc>
                <a:extLst>
                  <a:ext uri="{0D108BD9-81ED-4DB2-BD59-A6C34878D82A}">
                    <a16:rowId xmlns:a16="http://schemas.microsoft.com/office/drawing/2014/main" val="10001"/>
                  </a:ext>
                </a:extLst>
              </a:tr>
              <a:tr h="419436">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1</a:t>
                      </a:r>
                    </a:p>
                  </a:txBody>
                  <a:tcPr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0</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0</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0</a:t>
                      </a:r>
                    </a:p>
                  </a:txBody>
                  <a:tcPr marL="68580" marR="68580" marT="0" marB="0" anchor="ctr"/>
                </a:tc>
                <a:tc>
                  <a:txBody>
                    <a:bodyPr/>
                    <a:lstStyle/>
                    <a:p>
                      <a:pPr algn="ctr">
                        <a:spcAft>
                          <a:spcPts val="0"/>
                        </a:spcAft>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0</a:t>
                      </a:r>
                    </a:p>
                  </a:txBody>
                  <a:tcPr marL="68580" marR="68580" marT="0" marB="0" anchor="ctr"/>
                </a:tc>
                <a:tc>
                  <a:txBody>
                    <a:bodyPr/>
                    <a:lstStyle/>
                    <a:p>
                      <a:pPr algn="ctr">
                        <a:spcAft>
                          <a:spcPts val="0"/>
                        </a:spcAft>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0</a:t>
                      </a:r>
                    </a:p>
                  </a:txBody>
                  <a:tcPr marL="68580" marR="68580" marT="0" marB="0" anchor="ctr"/>
                </a:tc>
                <a:extLst>
                  <a:ext uri="{0D108BD9-81ED-4DB2-BD59-A6C34878D82A}">
                    <a16:rowId xmlns:a16="http://schemas.microsoft.com/office/drawing/2014/main" val="10002"/>
                  </a:ext>
                </a:extLst>
              </a:tr>
              <a:tr h="423420">
                <a:tc>
                  <a:txBody>
                    <a:bodyPr/>
                    <a:lstStyle/>
                    <a:p>
                      <a:pPr algn="ctr">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2</a:t>
                      </a:r>
                    </a:p>
                  </a:txBody>
                  <a:tcPr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0</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0</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1</a:t>
                      </a:r>
                    </a:p>
                  </a:txBody>
                  <a:tcPr marL="68580" marR="68580" marT="0" marB="0" anchor="ctr"/>
                </a:tc>
                <a:tc>
                  <a:txBody>
                    <a:bodyPr/>
                    <a:lstStyle/>
                    <a:p>
                      <a:pPr algn="ctr">
                        <a:spcAft>
                          <a:spcPts val="0"/>
                        </a:spcAft>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1</a:t>
                      </a:r>
                    </a:p>
                  </a:txBody>
                  <a:tcPr marL="68580" marR="68580" marT="0" marB="0" anchor="ctr"/>
                </a:tc>
                <a:tc>
                  <a:txBody>
                    <a:bodyPr/>
                    <a:lstStyle/>
                    <a:p>
                      <a:pPr algn="ctr">
                        <a:spcAft>
                          <a:spcPts val="0"/>
                        </a:spcAft>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2</a:t>
                      </a:r>
                    </a:p>
                  </a:txBody>
                  <a:tcPr marL="68580" marR="68580" marT="0" marB="0" anchor="ctr"/>
                </a:tc>
                <a:extLst>
                  <a:ext uri="{0D108BD9-81ED-4DB2-BD59-A6C34878D82A}">
                    <a16:rowId xmlns:a16="http://schemas.microsoft.com/office/drawing/2014/main" val="10003"/>
                  </a:ext>
                </a:extLst>
              </a:tr>
              <a:tr h="449030">
                <a:tc>
                  <a:txBody>
                    <a:bodyPr/>
                    <a:lstStyle/>
                    <a:p>
                      <a:pPr algn="ctr">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3</a:t>
                      </a:r>
                    </a:p>
                  </a:txBody>
                  <a:tcPr anchor="ctr"/>
                </a:tc>
                <a:tc>
                  <a:txBody>
                    <a:bodyPr/>
                    <a:lstStyle/>
                    <a:p>
                      <a:pPr algn="ctr">
                        <a:spcAft>
                          <a:spcPts val="0"/>
                        </a:spcAft>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0</a:t>
                      </a:r>
                    </a:p>
                  </a:txBody>
                  <a:tcPr marL="68580" marR="68580" marT="0" marB="0" anchor="ctr"/>
                </a:tc>
                <a:tc>
                  <a:txBody>
                    <a:bodyPr/>
                    <a:lstStyle/>
                    <a:p>
                      <a:pPr algn="ctr">
                        <a:spcAft>
                          <a:spcPts val="0"/>
                        </a:spcAft>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1</a:t>
                      </a:r>
                    </a:p>
                  </a:txBody>
                  <a:tcPr marL="68580" marR="68580" marT="0" marB="0" anchor="ctr"/>
                </a:tc>
                <a:tc>
                  <a:txBody>
                    <a:bodyPr/>
                    <a:lstStyle/>
                    <a:p>
                      <a:pPr algn="ctr">
                        <a:spcAft>
                          <a:spcPts val="0"/>
                        </a:spcAft>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0</a:t>
                      </a:r>
                    </a:p>
                  </a:txBody>
                  <a:tcPr marL="68580" marR="68580" marT="0" marB="0" anchor="ctr"/>
                </a:tc>
                <a:tc>
                  <a:txBody>
                    <a:bodyPr/>
                    <a:lstStyle/>
                    <a:p>
                      <a:pPr algn="ctr">
                        <a:spcAft>
                          <a:spcPts val="0"/>
                        </a:spcAft>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1</a:t>
                      </a:r>
                    </a:p>
                  </a:txBody>
                  <a:tcPr marL="68580" marR="68580" marT="0" marB="0" anchor="ctr"/>
                </a:tc>
                <a:tc>
                  <a:txBody>
                    <a:bodyPr/>
                    <a:lstStyle/>
                    <a:p>
                      <a:pPr algn="ctr">
                        <a:spcAft>
                          <a:spcPts val="0"/>
                        </a:spcAft>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1</a:t>
                      </a:r>
                    </a:p>
                  </a:txBody>
                  <a:tcPr marL="68580" marR="68580" marT="0" marB="0" anchor="ctr"/>
                </a:tc>
                <a:extLst>
                  <a:ext uri="{0D108BD9-81ED-4DB2-BD59-A6C34878D82A}">
                    <a16:rowId xmlns:a16="http://schemas.microsoft.com/office/drawing/2014/main" val="10004"/>
                  </a:ext>
                </a:extLst>
              </a:tr>
              <a:tr h="389273">
                <a:tc>
                  <a:txBody>
                    <a:bodyPr/>
                    <a:lstStyle/>
                    <a:p>
                      <a:pPr algn="ctr">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4</a:t>
                      </a:r>
                    </a:p>
                  </a:txBody>
                  <a:tcPr anchor="ctr"/>
                </a:tc>
                <a:tc>
                  <a:txBody>
                    <a:bodyPr/>
                    <a:lstStyle/>
                    <a:p>
                      <a:pPr algn="ctr">
                        <a:spcAft>
                          <a:spcPts val="0"/>
                        </a:spcAft>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0</a:t>
                      </a:r>
                    </a:p>
                  </a:txBody>
                  <a:tcPr marL="68580" marR="68580" marT="0" marB="0" anchor="ctr"/>
                </a:tc>
                <a:tc>
                  <a:txBody>
                    <a:bodyPr/>
                    <a:lstStyle/>
                    <a:p>
                      <a:pPr algn="ctr">
                        <a:spcAft>
                          <a:spcPts val="0"/>
                        </a:spcAft>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1</a:t>
                      </a:r>
                    </a:p>
                  </a:txBody>
                  <a:tcPr marL="68580" marR="68580" marT="0" marB="0" anchor="ctr"/>
                </a:tc>
                <a:tc>
                  <a:txBody>
                    <a:bodyPr/>
                    <a:lstStyle/>
                    <a:p>
                      <a:pPr algn="ctr">
                        <a:spcAft>
                          <a:spcPts val="0"/>
                        </a:spcAft>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1</a:t>
                      </a:r>
                    </a:p>
                  </a:txBody>
                  <a:tcPr marL="68580" marR="68580" marT="0" marB="0" anchor="ctr"/>
                </a:tc>
                <a:tc>
                  <a:txBody>
                    <a:bodyPr/>
                    <a:lstStyle/>
                    <a:p>
                      <a:pPr algn="ctr">
                        <a:spcAft>
                          <a:spcPts val="0"/>
                        </a:spcAft>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0</a:t>
                      </a:r>
                    </a:p>
                  </a:txBody>
                  <a:tcPr marL="68580" marR="68580" marT="0" marB="0" anchor="ctr"/>
                </a:tc>
                <a:tc>
                  <a:txBody>
                    <a:bodyPr/>
                    <a:lstStyle/>
                    <a:p>
                      <a:pPr algn="ctr">
                        <a:spcAft>
                          <a:spcPts val="0"/>
                        </a:spcAft>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3</a:t>
                      </a:r>
                    </a:p>
                  </a:txBody>
                  <a:tcPr marL="68580" marR="68580" marT="0" marB="0" anchor="ctr"/>
                </a:tc>
                <a:extLst>
                  <a:ext uri="{0D108BD9-81ED-4DB2-BD59-A6C34878D82A}">
                    <a16:rowId xmlns:a16="http://schemas.microsoft.com/office/drawing/2014/main" val="10005"/>
                  </a:ext>
                </a:extLst>
              </a:tr>
              <a:tr h="448461">
                <a:tc>
                  <a:txBody>
                    <a:bodyPr/>
                    <a:lstStyle/>
                    <a:p>
                      <a:pPr algn="ctr">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5</a:t>
                      </a:r>
                    </a:p>
                  </a:txBody>
                  <a:tcPr anchor="ctr"/>
                </a:tc>
                <a:tc>
                  <a:txBody>
                    <a:bodyPr/>
                    <a:lstStyle/>
                    <a:p>
                      <a:pPr algn="ctr">
                        <a:spcAft>
                          <a:spcPts val="0"/>
                        </a:spcAft>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1</a:t>
                      </a:r>
                    </a:p>
                  </a:txBody>
                  <a:tcPr marL="68580" marR="68580" marT="0" marB="0" anchor="ctr"/>
                </a:tc>
                <a:tc>
                  <a:txBody>
                    <a:bodyPr/>
                    <a:lstStyle/>
                    <a:p>
                      <a:pPr algn="ctr">
                        <a:spcAft>
                          <a:spcPts val="0"/>
                        </a:spcAft>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0</a:t>
                      </a:r>
                    </a:p>
                  </a:txBody>
                  <a:tcPr marL="68580" marR="68580" marT="0" marB="0" anchor="ctr"/>
                </a:tc>
                <a:tc>
                  <a:txBody>
                    <a:bodyPr/>
                    <a:lstStyle/>
                    <a:p>
                      <a:pPr algn="ctr">
                        <a:spcAft>
                          <a:spcPts val="0"/>
                        </a:spcAft>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0</a:t>
                      </a:r>
                    </a:p>
                  </a:txBody>
                  <a:tcPr marL="68580" marR="68580" marT="0" marB="0" anchor="ctr"/>
                </a:tc>
                <a:tc>
                  <a:txBody>
                    <a:bodyPr/>
                    <a:lstStyle/>
                    <a:p>
                      <a:pPr algn="ctr">
                        <a:spcAft>
                          <a:spcPts val="0"/>
                        </a:spcAft>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1</a:t>
                      </a:r>
                    </a:p>
                  </a:txBody>
                  <a:tcPr marL="68580" marR="68580" marT="0" marB="0" anchor="ctr"/>
                </a:tc>
                <a:tc>
                  <a:txBody>
                    <a:bodyPr/>
                    <a:lstStyle/>
                    <a:p>
                      <a:pPr algn="ctr">
                        <a:spcAft>
                          <a:spcPts val="0"/>
                        </a:spcAft>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3</a:t>
                      </a:r>
                    </a:p>
                  </a:txBody>
                  <a:tcPr marL="68580" marR="68580" marT="0" marB="0" anchor="ctr"/>
                </a:tc>
                <a:extLst>
                  <a:ext uri="{0D108BD9-81ED-4DB2-BD59-A6C34878D82A}">
                    <a16:rowId xmlns:a16="http://schemas.microsoft.com/office/drawing/2014/main" val="10006"/>
                  </a:ext>
                </a:extLst>
              </a:tr>
              <a:tr h="405778">
                <a:tc>
                  <a:txBody>
                    <a:bodyPr/>
                    <a:lstStyle/>
                    <a:p>
                      <a:pPr algn="ctr">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6</a:t>
                      </a:r>
                    </a:p>
                  </a:txBody>
                  <a:tcPr anchor="ctr"/>
                </a:tc>
                <a:tc>
                  <a:txBody>
                    <a:bodyPr/>
                    <a:lstStyle/>
                    <a:p>
                      <a:pPr algn="ctr">
                        <a:spcAft>
                          <a:spcPts val="0"/>
                        </a:spcAft>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1</a:t>
                      </a:r>
                    </a:p>
                  </a:txBody>
                  <a:tcPr marL="68580" marR="68580" marT="0" marB="0" anchor="ctr"/>
                </a:tc>
                <a:tc>
                  <a:txBody>
                    <a:bodyPr/>
                    <a:lstStyle/>
                    <a:p>
                      <a:pPr algn="ctr">
                        <a:spcAft>
                          <a:spcPts val="0"/>
                        </a:spcAft>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0</a:t>
                      </a:r>
                    </a:p>
                  </a:txBody>
                  <a:tcPr marL="68580" marR="68580" marT="0" marB="0" anchor="ctr"/>
                </a:tc>
                <a:tc>
                  <a:txBody>
                    <a:bodyPr/>
                    <a:lstStyle/>
                    <a:p>
                      <a:pPr algn="ctr">
                        <a:spcAft>
                          <a:spcPts val="0"/>
                        </a:spcAft>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1</a:t>
                      </a:r>
                    </a:p>
                  </a:txBody>
                  <a:tcPr marL="68580" marR="68580" marT="0" marB="0" anchor="ctr"/>
                </a:tc>
                <a:tc>
                  <a:txBody>
                    <a:bodyPr/>
                    <a:lstStyle/>
                    <a:p>
                      <a:pPr algn="ctr">
                        <a:spcAft>
                          <a:spcPts val="0"/>
                        </a:spcAft>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0</a:t>
                      </a:r>
                    </a:p>
                  </a:txBody>
                  <a:tcPr marL="68580" marR="68580" marT="0" marB="0" anchor="ctr"/>
                </a:tc>
                <a:tc>
                  <a:txBody>
                    <a:bodyPr/>
                    <a:lstStyle/>
                    <a:p>
                      <a:pPr algn="ctr">
                        <a:spcAft>
                          <a:spcPts val="0"/>
                        </a:spcAft>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1</a:t>
                      </a:r>
                    </a:p>
                  </a:txBody>
                  <a:tcPr marL="68580" marR="68580" marT="0" marB="0" anchor="ctr"/>
                </a:tc>
                <a:extLst>
                  <a:ext uri="{0D108BD9-81ED-4DB2-BD59-A6C34878D82A}">
                    <a16:rowId xmlns:a16="http://schemas.microsoft.com/office/drawing/2014/main" val="10007"/>
                  </a:ext>
                </a:extLst>
              </a:tr>
              <a:tr h="414314">
                <a:tc>
                  <a:txBody>
                    <a:bodyPr/>
                    <a:lstStyle/>
                    <a:p>
                      <a:pPr algn="ctr">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7</a:t>
                      </a:r>
                    </a:p>
                  </a:txBody>
                  <a:tcPr anchor="ctr"/>
                </a:tc>
                <a:tc>
                  <a:txBody>
                    <a:bodyPr/>
                    <a:lstStyle/>
                    <a:p>
                      <a:pPr algn="ctr">
                        <a:spcAft>
                          <a:spcPts val="0"/>
                        </a:spcAft>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1</a:t>
                      </a:r>
                    </a:p>
                  </a:txBody>
                  <a:tcPr marL="68580" marR="68580" marT="0" marB="0" anchor="ctr"/>
                </a:tc>
                <a:tc>
                  <a:txBody>
                    <a:bodyPr/>
                    <a:lstStyle/>
                    <a:p>
                      <a:pPr algn="ctr">
                        <a:spcAft>
                          <a:spcPts val="0"/>
                        </a:spcAft>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1</a:t>
                      </a:r>
                    </a:p>
                  </a:txBody>
                  <a:tcPr marL="68580" marR="68580" marT="0" marB="0" anchor="ctr"/>
                </a:tc>
                <a:tc>
                  <a:txBody>
                    <a:bodyPr/>
                    <a:lstStyle/>
                    <a:p>
                      <a:pPr algn="ctr">
                        <a:spcAft>
                          <a:spcPts val="0"/>
                        </a:spcAft>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0</a:t>
                      </a:r>
                    </a:p>
                  </a:txBody>
                  <a:tcPr marL="68580" marR="68580" marT="0" marB="0" anchor="ctr"/>
                </a:tc>
                <a:tc>
                  <a:txBody>
                    <a:bodyPr/>
                    <a:lstStyle/>
                    <a:p>
                      <a:pPr algn="ctr">
                        <a:spcAft>
                          <a:spcPts val="0"/>
                        </a:spcAft>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0</a:t>
                      </a:r>
                    </a:p>
                  </a:txBody>
                  <a:tcPr marL="68580" marR="68580" marT="0" marB="0" anchor="ctr"/>
                </a:tc>
                <a:tc>
                  <a:txBody>
                    <a:bodyPr/>
                    <a:lstStyle/>
                    <a:p>
                      <a:pPr algn="ctr">
                        <a:spcAft>
                          <a:spcPts val="0"/>
                        </a:spcAft>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2</a:t>
                      </a:r>
                    </a:p>
                  </a:txBody>
                  <a:tcPr marL="68580" marR="68580" marT="0" marB="0" anchor="ctr"/>
                </a:tc>
                <a:extLst>
                  <a:ext uri="{0D108BD9-81ED-4DB2-BD59-A6C34878D82A}">
                    <a16:rowId xmlns:a16="http://schemas.microsoft.com/office/drawing/2014/main" val="10008"/>
                  </a:ext>
                </a:extLst>
              </a:tr>
              <a:tr h="439924">
                <a:tc>
                  <a:txBody>
                    <a:bodyPr/>
                    <a:lstStyle/>
                    <a:p>
                      <a:pPr algn="ctr">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8</a:t>
                      </a:r>
                    </a:p>
                  </a:txBody>
                  <a:tcPr anchor="ctr"/>
                </a:tc>
                <a:tc>
                  <a:txBody>
                    <a:bodyPr/>
                    <a:lstStyle/>
                    <a:p>
                      <a:pPr algn="ctr">
                        <a:spcAft>
                          <a:spcPts val="0"/>
                        </a:spcAft>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1</a:t>
                      </a:r>
                    </a:p>
                  </a:txBody>
                  <a:tcPr marL="68580" marR="68580" marT="0" marB="0" anchor="ctr"/>
                </a:tc>
                <a:tc>
                  <a:txBody>
                    <a:bodyPr/>
                    <a:lstStyle/>
                    <a:p>
                      <a:pPr algn="ctr">
                        <a:spcAft>
                          <a:spcPts val="0"/>
                        </a:spcAft>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1</a:t>
                      </a:r>
                    </a:p>
                  </a:txBody>
                  <a:tcPr marL="68580" marR="68580" marT="0" marB="0" anchor="ctr"/>
                </a:tc>
                <a:tc>
                  <a:txBody>
                    <a:bodyPr/>
                    <a:lstStyle/>
                    <a:p>
                      <a:pPr algn="ctr">
                        <a:spcAft>
                          <a:spcPts val="0"/>
                        </a:spcAft>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1</a:t>
                      </a:r>
                    </a:p>
                  </a:txBody>
                  <a:tcPr marL="68580" marR="68580" marT="0" marB="0" anchor="ctr"/>
                </a:tc>
                <a:tc>
                  <a:txBody>
                    <a:bodyPr/>
                    <a:lstStyle/>
                    <a:p>
                      <a:pPr algn="ctr">
                        <a:spcAft>
                          <a:spcPts val="0"/>
                        </a:spcAft>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1</a:t>
                      </a:r>
                    </a:p>
                  </a:txBody>
                  <a:tcPr marL="68580" marR="68580" marT="0" marB="0" anchor="ctr"/>
                </a:tc>
                <a:tc>
                  <a:txBody>
                    <a:bodyPr/>
                    <a:lstStyle/>
                    <a:p>
                      <a:pPr algn="ctr">
                        <a:spcAft>
                          <a:spcPts val="0"/>
                        </a:spcAft>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0</a:t>
                      </a:r>
                    </a:p>
                  </a:txBody>
                  <a:tcPr marL="68580" marR="68580" marT="0" marB="0" anchor="ctr"/>
                </a:tc>
                <a:extLst>
                  <a:ext uri="{0D108BD9-81ED-4DB2-BD59-A6C34878D82A}">
                    <a16:rowId xmlns:a16="http://schemas.microsoft.com/office/drawing/2014/main" val="10009"/>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35"/>
          <p:cNvSpPr txBox="1">
            <a:spLocks noChangeArrowheads="1"/>
          </p:cNvSpPr>
          <p:nvPr/>
        </p:nvSpPr>
        <p:spPr bwMode="auto">
          <a:xfrm>
            <a:off x="4871085" y="1559560"/>
            <a:ext cx="6289675" cy="2613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indent="457200" algn="just">
              <a:lnSpc>
                <a:spcPct val="150000"/>
              </a:lnSpc>
              <a:buClrTx/>
              <a:buSzTx/>
              <a:buFontTx/>
            </a:pPr>
            <a:r>
              <a:rPr lang="zh-CN" altLang="en-US" sz="1800" dirty="0">
                <a:solidFill>
                  <a:srgbClr val="595959"/>
                </a:solidFill>
                <a:latin typeface="微软雅黑" panose="020B0503020204020204" pitchFamily="34" charset="-122"/>
                <a:ea typeface="微软雅黑" panose="020B0503020204020204" pitchFamily="34" charset="-122"/>
              </a:rPr>
              <a:t>对于受多因子、多水平影响的软件，</a:t>
            </a:r>
            <a:r>
              <a:rPr lang="zh-CN" altLang="en-US" sz="1800" dirty="0">
                <a:solidFill>
                  <a:srgbClr val="0070C0"/>
                </a:solidFill>
                <a:latin typeface="微软雅黑" panose="020B0503020204020204" pitchFamily="34" charset="-122"/>
                <a:ea typeface="微软雅黑" panose="020B0503020204020204" pitchFamily="34" charset="-122"/>
              </a:rPr>
              <a:t>正交实验法可以高效、适量地生成测试用例</a:t>
            </a:r>
            <a:r>
              <a:rPr lang="zh-CN" altLang="en-US" sz="1800" dirty="0">
                <a:solidFill>
                  <a:srgbClr val="595959"/>
                </a:solidFill>
                <a:latin typeface="微软雅黑" panose="020B0503020204020204" pitchFamily="34" charset="-122"/>
                <a:ea typeface="微软雅黑" panose="020B0503020204020204" pitchFamily="34" charset="-122"/>
              </a:rPr>
              <a:t>，</a:t>
            </a:r>
            <a:r>
              <a:rPr lang="zh-CN" altLang="en-US" sz="1800" dirty="0">
                <a:solidFill>
                  <a:srgbClr val="0070C0"/>
                </a:solidFill>
                <a:latin typeface="微软雅黑" panose="020B0503020204020204" pitchFamily="34" charset="-122"/>
                <a:ea typeface="微软雅黑" panose="020B0503020204020204" pitchFamily="34" charset="-122"/>
              </a:rPr>
              <a:t>减少测试工作量</a:t>
            </a:r>
            <a:r>
              <a:rPr lang="zh-CN" altLang="en-US" sz="1800" dirty="0">
                <a:solidFill>
                  <a:srgbClr val="595959"/>
                </a:solidFill>
                <a:latin typeface="微软雅黑" panose="020B0503020204020204" pitchFamily="34" charset="-122"/>
                <a:ea typeface="微软雅黑" panose="020B0503020204020204" pitchFamily="34" charset="-122"/>
              </a:rPr>
              <a:t>，并且利用正交实验法得到的</a:t>
            </a:r>
            <a:r>
              <a:rPr lang="zh-CN" altLang="en-US" sz="1800" dirty="0">
                <a:solidFill>
                  <a:srgbClr val="0070C0"/>
                </a:solidFill>
                <a:latin typeface="微软雅黑" panose="020B0503020204020204" pitchFamily="34" charset="-122"/>
                <a:ea typeface="微软雅黑" panose="020B0503020204020204" pitchFamily="34" charset="-122"/>
              </a:rPr>
              <a:t>测试用例</a:t>
            </a:r>
            <a:r>
              <a:rPr lang="zh-CN" altLang="en-US" sz="1800" dirty="0">
                <a:solidFill>
                  <a:srgbClr val="595959"/>
                </a:solidFill>
                <a:latin typeface="微软雅黑" panose="020B0503020204020204" pitchFamily="34" charset="-122"/>
                <a:ea typeface="微软雅黑" panose="020B0503020204020204" pitchFamily="34" charset="-122"/>
              </a:rPr>
              <a:t>具</a:t>
            </a:r>
            <a:r>
              <a:rPr lang="zh-CN" altLang="en-US" sz="1800" dirty="0">
                <a:solidFill>
                  <a:srgbClr val="0070C0"/>
                </a:solidFill>
                <a:latin typeface="微软雅黑" panose="020B0503020204020204" pitchFamily="34" charset="-122"/>
                <a:ea typeface="微软雅黑" panose="020B0503020204020204" pitchFamily="34" charset="-122"/>
              </a:rPr>
              <a:t>有一定的覆盖率</a:t>
            </a:r>
            <a:r>
              <a:rPr lang="zh-CN" altLang="en-US" sz="1800" dirty="0">
                <a:solidFill>
                  <a:srgbClr val="595959"/>
                </a:solidFill>
                <a:latin typeface="微软雅黑" panose="020B0503020204020204" pitchFamily="34" charset="-122"/>
                <a:ea typeface="微软雅黑" panose="020B0503020204020204" pitchFamily="34" charset="-122"/>
              </a:rPr>
              <a:t>，</a:t>
            </a:r>
            <a:r>
              <a:rPr lang="zh-CN" altLang="en-US" sz="1800" dirty="0">
                <a:solidFill>
                  <a:srgbClr val="0070C0"/>
                </a:solidFill>
                <a:latin typeface="微软雅黑" panose="020B0503020204020204" pitchFamily="34" charset="-122"/>
                <a:ea typeface="微软雅黑" panose="020B0503020204020204" pitchFamily="34" charset="-122"/>
              </a:rPr>
              <a:t>检错率</a:t>
            </a:r>
            <a:r>
              <a:rPr lang="zh-CN" altLang="en-US" sz="1800" dirty="0">
                <a:solidFill>
                  <a:srgbClr val="595959"/>
                </a:solidFill>
                <a:latin typeface="微软雅黑" panose="020B0503020204020204" pitchFamily="34" charset="-122"/>
                <a:ea typeface="微软雅黑" panose="020B0503020204020204" pitchFamily="34" charset="-122"/>
              </a:rPr>
              <a:t>可</a:t>
            </a:r>
            <a:r>
              <a:rPr lang="zh-CN" altLang="en-US" sz="1800" dirty="0">
                <a:solidFill>
                  <a:srgbClr val="0070C0"/>
                </a:solidFill>
                <a:latin typeface="微软雅黑" panose="020B0503020204020204" pitchFamily="34" charset="-122"/>
                <a:ea typeface="微软雅黑" panose="020B0503020204020204" pitchFamily="34" charset="-122"/>
              </a:rPr>
              <a:t>在50%以上</a:t>
            </a:r>
            <a:r>
              <a:rPr lang="zh-CN" altLang="en-US" sz="1800" dirty="0">
                <a:solidFill>
                  <a:srgbClr val="595959"/>
                </a:solidFill>
                <a:latin typeface="微软雅黑" panose="020B0503020204020204" pitchFamily="34" charset="-122"/>
                <a:ea typeface="微软雅黑" panose="020B0503020204020204" pitchFamily="34" charset="-122"/>
              </a:rPr>
              <a:t>。正交实验法虽然好用，但在选择正交表时要注意先</a:t>
            </a:r>
            <a:r>
              <a:rPr lang="zh-CN" altLang="en-US" sz="1800" dirty="0">
                <a:solidFill>
                  <a:srgbClr val="0070C0"/>
                </a:solidFill>
                <a:latin typeface="微软雅黑" panose="020B0503020204020204" pitchFamily="34" charset="-122"/>
                <a:ea typeface="微软雅黑" panose="020B0503020204020204" pitchFamily="34" charset="-122"/>
              </a:rPr>
              <a:t>确定实验因子、因子的状态及它们之间的交互作用</a:t>
            </a:r>
            <a:r>
              <a:rPr lang="zh-CN" altLang="en-US" sz="1800" dirty="0">
                <a:solidFill>
                  <a:srgbClr val="595959"/>
                </a:solidFill>
                <a:latin typeface="微软雅黑" panose="020B0503020204020204" pitchFamily="34" charset="-122"/>
                <a:ea typeface="微软雅黑" panose="020B0503020204020204" pitchFamily="34" charset="-122"/>
              </a:rPr>
              <a:t>，同时还要</a:t>
            </a:r>
            <a:r>
              <a:rPr lang="zh-CN" altLang="en-US" sz="1800" dirty="0">
                <a:solidFill>
                  <a:srgbClr val="0070C0"/>
                </a:solidFill>
                <a:latin typeface="微软雅黑" panose="020B0503020204020204" pitchFamily="34" charset="-122"/>
                <a:ea typeface="微软雅黑" panose="020B0503020204020204" pitchFamily="34" charset="-122"/>
              </a:rPr>
              <a:t>考虑实验的精度要求、费用、时长</a:t>
            </a:r>
            <a:r>
              <a:rPr lang="zh-CN" altLang="en-US" sz="1800" dirty="0">
                <a:solidFill>
                  <a:srgbClr val="595959"/>
                </a:solidFill>
                <a:latin typeface="微软雅黑" panose="020B0503020204020204" pitchFamily="34" charset="-122"/>
                <a:ea typeface="微软雅黑" panose="020B0503020204020204" pitchFamily="34" charset="-122"/>
              </a:rPr>
              <a:t>等因素。</a:t>
            </a:r>
          </a:p>
        </p:txBody>
      </p:sp>
      <p:pic>
        <p:nvPicPr>
          <p:cNvPr id="33" name="图片 32"/>
          <p:cNvPicPr>
            <a:picLocks noChangeAspect="1"/>
          </p:cNvPicPr>
          <p:nvPr/>
        </p:nvPicPr>
        <p:blipFill>
          <a:blip r:embed="rId3"/>
          <a:stretch>
            <a:fillRect/>
          </a:stretch>
        </p:blipFill>
        <p:spPr>
          <a:xfrm>
            <a:off x="839386" y="1413456"/>
            <a:ext cx="3715858" cy="4006159"/>
          </a:xfrm>
          <a:prstGeom prst="rect">
            <a:avLst/>
          </a:prstGeom>
        </p:spPr>
      </p:pic>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2.4.1	正交实验设计法概述</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p:cNvPicPr>
            <a:picLocks noChangeAspect="1"/>
          </p:cNvPicPr>
          <p:nvPr/>
        </p:nvPicPr>
        <p:blipFill>
          <a:blip r:embed="rId3"/>
          <a:stretch>
            <a:fillRect/>
          </a:stretch>
        </p:blipFill>
        <p:spPr>
          <a:xfrm>
            <a:off x="944880" y="2215515"/>
            <a:ext cx="2797810" cy="3898265"/>
          </a:xfrm>
          <a:prstGeom prst="rect">
            <a:avLst/>
          </a:prstGeom>
        </p:spPr>
      </p:pic>
      <p:sp>
        <p:nvSpPr>
          <p:cNvPr id="13" name="椭圆形标注 12"/>
          <p:cNvSpPr/>
          <p:nvPr/>
        </p:nvSpPr>
        <p:spPr>
          <a:xfrm>
            <a:off x="2968625" y="156019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p>
        </p:txBody>
      </p:sp>
      <p:sp>
        <p:nvSpPr>
          <p:cNvPr id="14" name="TextBox 35"/>
          <p:cNvSpPr txBox="1">
            <a:spLocks noChangeArrowheads="1"/>
          </p:cNvSpPr>
          <p:nvPr/>
        </p:nvSpPr>
        <p:spPr bwMode="auto">
          <a:xfrm>
            <a:off x="3247390" y="163830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p>
        </p:txBody>
      </p:sp>
      <p:sp>
        <p:nvSpPr>
          <p:cNvPr id="15" name="TextBox 35"/>
          <p:cNvSpPr txBox="1">
            <a:spLocks noChangeArrowheads="1"/>
          </p:cNvSpPr>
          <p:nvPr/>
        </p:nvSpPr>
        <p:spPr bwMode="auto">
          <a:xfrm>
            <a:off x="5791835" y="3213735"/>
            <a:ext cx="5958840" cy="10439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defRPr/>
            </a:pPr>
            <a:r>
              <a:rPr lang="zh-CN" sz="200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掌握</a:t>
            </a:r>
            <a:r>
              <a:rPr lang="zh-CN" sz="200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微信Web页面运行环境正交实验设计</a:t>
            </a:r>
            <a:r>
              <a:rPr sz="200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，能够</a:t>
            </a:r>
            <a:r>
              <a:rPr lang="zh-CN" sz="2000">
                <a:solidFill>
                  <a:srgbClr val="0070C0"/>
                </a:solidFill>
                <a:latin typeface="微软雅黑" panose="020B0503020204020204" pitchFamily="34" charset="-122"/>
                <a:ea typeface="微软雅黑" panose="020B0503020204020204" pitchFamily="34" charset="-122"/>
                <a:cs typeface="+mn-ea"/>
                <a:sym typeface="字魂58号-创中黑" panose="00000500000000000000" pitchFamily="2" charset="-122"/>
              </a:rPr>
              <a:t>根据正交表生成微信Web页面运行环境的测试用例</a:t>
            </a:r>
          </a:p>
        </p:txBody>
      </p:sp>
      <p:grpSp>
        <p:nvGrpSpPr>
          <p:cNvPr id="19" name="组合 18"/>
          <p:cNvGrpSpPr/>
          <p:nvPr/>
        </p:nvGrpSpPr>
        <p:grpSpPr>
          <a:xfrm>
            <a:off x="5308600" y="3540125"/>
            <a:ext cx="405130" cy="405130"/>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1" name="Title 1"/>
          <p:cNvSpPr txBox="1"/>
          <p:nvPr/>
        </p:nvSpPr>
        <p:spPr>
          <a:xfrm>
            <a:off x="1143635" y="266700"/>
            <a:ext cx="736917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2.4.2	实例一：微信Web页面运行环境正交实验设计</a:t>
            </a: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35"/>
          <p:cNvSpPr txBox="1">
            <a:spLocks noChangeArrowheads="1"/>
          </p:cNvSpPr>
          <p:nvPr/>
        </p:nvSpPr>
        <p:spPr bwMode="auto">
          <a:xfrm>
            <a:off x="4942840" y="1557655"/>
            <a:ext cx="6289675" cy="42754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buClrTx/>
              <a:buSzTx/>
              <a:buFontTx/>
            </a:pPr>
            <a:r>
              <a:rPr lang="zh-CN" altLang="en-US" sz="1800" dirty="0">
                <a:solidFill>
                  <a:srgbClr val="595959"/>
                </a:solidFill>
                <a:latin typeface="微软雅黑" panose="020B0503020204020204" pitchFamily="34" charset="-122"/>
                <a:ea typeface="微软雅黑" panose="020B0503020204020204" pitchFamily="34" charset="-122"/>
              </a:rPr>
              <a:t>微信是一款手机App软件，但也有Web版微信可以登录。如果要测试微信Web页面运行环境，需要考虑多种因素，在众多的因素中，可以选出几个</a:t>
            </a:r>
            <a:r>
              <a:rPr lang="zh-CN" altLang="en-US" sz="1800" dirty="0">
                <a:solidFill>
                  <a:srgbClr val="0070C0"/>
                </a:solidFill>
                <a:latin typeface="微软雅黑" panose="020B0503020204020204" pitchFamily="34" charset="-122"/>
                <a:ea typeface="微软雅黑" panose="020B0503020204020204" pitchFamily="34" charset="-122"/>
              </a:rPr>
              <a:t>影响比较大的因素</a:t>
            </a:r>
            <a:r>
              <a:rPr lang="zh-CN" altLang="en-US" sz="1800" dirty="0">
                <a:solidFill>
                  <a:srgbClr val="595959"/>
                </a:solidFill>
                <a:latin typeface="微软雅黑" panose="020B0503020204020204" pitchFamily="34" charset="-122"/>
                <a:ea typeface="微软雅黑" panose="020B0503020204020204" pitchFamily="34" charset="-122"/>
              </a:rPr>
              <a:t>，例如</a:t>
            </a:r>
            <a:r>
              <a:rPr lang="zh-CN" altLang="en-US" sz="1800" dirty="0">
                <a:solidFill>
                  <a:srgbClr val="0070C0"/>
                </a:solidFill>
                <a:latin typeface="微软雅黑" panose="020B0503020204020204" pitchFamily="34" charset="-122"/>
                <a:ea typeface="微软雅黑" panose="020B0503020204020204" pitchFamily="34" charset="-122"/>
              </a:rPr>
              <a:t>服务器、操作系统、网络和浏览器</a:t>
            </a:r>
            <a:r>
              <a:rPr lang="zh-CN" altLang="en-US" sz="1800" dirty="0">
                <a:solidFill>
                  <a:srgbClr val="595959"/>
                </a:solidFill>
                <a:latin typeface="微软雅黑" panose="020B0503020204020204" pitchFamily="34" charset="-122"/>
                <a:ea typeface="微软雅黑" panose="020B0503020204020204" pitchFamily="34" charset="-122"/>
              </a:rPr>
              <a:t>。对于选取出的4个影响因素，每个因素又有不同的取值。同样，在每个因素的多个值中，可以选出几个比较重要的值，具体如下。</a:t>
            </a:r>
          </a:p>
          <a:p>
            <a:pPr marL="285750" indent="-285750" algn="just">
              <a:lnSpc>
                <a:spcPct val="150000"/>
              </a:lnSpc>
              <a:buClrTx/>
              <a:buSzTx/>
              <a:buFont typeface="Wingdings" panose="05000000000000000000" charset="0"/>
              <a:buChar char="l"/>
            </a:pPr>
            <a:r>
              <a:rPr lang="zh-CN" altLang="en-US" sz="1800" dirty="0">
                <a:solidFill>
                  <a:srgbClr val="595959"/>
                </a:solidFill>
                <a:latin typeface="微软雅黑" panose="020B0503020204020204" pitchFamily="34" charset="-122"/>
                <a:ea typeface="微软雅黑" panose="020B0503020204020204" pitchFamily="34" charset="-122"/>
              </a:rPr>
              <a:t>服务器：</a:t>
            </a:r>
            <a:r>
              <a:rPr lang="zh-CN" altLang="en-US" sz="1800" dirty="0">
                <a:solidFill>
                  <a:srgbClr val="0070C0"/>
                </a:solidFill>
                <a:latin typeface="微软雅黑" panose="020B0503020204020204" pitchFamily="34" charset="-122"/>
                <a:ea typeface="微软雅黑" panose="020B0503020204020204" pitchFamily="34" charset="-122"/>
              </a:rPr>
              <a:t>IIS、Apache、Jetty</a:t>
            </a:r>
            <a:r>
              <a:rPr lang="zh-CN" altLang="en-US" sz="1800" dirty="0">
                <a:solidFill>
                  <a:srgbClr val="595959"/>
                </a:solidFill>
                <a:latin typeface="微软雅黑" panose="020B0503020204020204" pitchFamily="34" charset="-122"/>
                <a:ea typeface="微软雅黑" panose="020B0503020204020204" pitchFamily="34" charset="-122"/>
              </a:rPr>
              <a:t>。</a:t>
            </a:r>
          </a:p>
          <a:p>
            <a:pPr marL="285750" indent="-285750" algn="just">
              <a:lnSpc>
                <a:spcPct val="150000"/>
              </a:lnSpc>
              <a:buClrTx/>
              <a:buSzTx/>
              <a:buFont typeface="Wingdings" panose="05000000000000000000" charset="0"/>
              <a:buChar char="l"/>
            </a:pPr>
            <a:r>
              <a:rPr lang="zh-CN" altLang="en-US" sz="1800" dirty="0">
                <a:solidFill>
                  <a:srgbClr val="595959"/>
                </a:solidFill>
                <a:latin typeface="微软雅黑" panose="020B0503020204020204" pitchFamily="34" charset="-122"/>
                <a:ea typeface="微软雅黑" panose="020B0503020204020204" pitchFamily="34" charset="-122"/>
              </a:rPr>
              <a:t>操作系统：</a:t>
            </a:r>
            <a:r>
              <a:rPr lang="en-US" altLang="zh-CN" sz="1800" dirty="0">
                <a:solidFill>
                  <a:srgbClr val="0070C0"/>
                </a:solidFill>
                <a:latin typeface="微软雅黑" panose="020B0503020204020204" pitchFamily="34" charset="-122"/>
                <a:ea typeface="微软雅黑" panose="020B0503020204020204" pitchFamily="34" charset="-122"/>
              </a:rPr>
              <a:t>MacOS</a:t>
            </a:r>
            <a:r>
              <a:rPr lang="zh-CN" altLang="en-US" sz="1800" dirty="0">
                <a:solidFill>
                  <a:srgbClr val="0070C0"/>
                </a:solidFill>
                <a:latin typeface="微软雅黑" panose="020B0503020204020204" pitchFamily="34" charset="-122"/>
                <a:ea typeface="微软雅黑" panose="020B0503020204020204" pitchFamily="34" charset="-122"/>
              </a:rPr>
              <a:t>、Linux、</a:t>
            </a:r>
            <a:r>
              <a:rPr lang="en-US" altLang="zh-CN" sz="1800" dirty="0">
                <a:solidFill>
                  <a:srgbClr val="0070C0"/>
                </a:solidFill>
                <a:latin typeface="微软雅黑" panose="020B0503020204020204" pitchFamily="34" charset="-122"/>
                <a:ea typeface="微软雅黑" panose="020B0503020204020204" pitchFamily="34" charset="-122"/>
              </a:rPr>
              <a:t>Windows</a:t>
            </a:r>
            <a:r>
              <a:rPr lang="zh-CN" altLang="en-US" sz="1800" dirty="0">
                <a:solidFill>
                  <a:srgbClr val="595959"/>
                </a:solidFill>
                <a:latin typeface="微软雅黑" panose="020B0503020204020204" pitchFamily="34" charset="-122"/>
                <a:ea typeface="微软雅黑" panose="020B0503020204020204" pitchFamily="34" charset="-122"/>
              </a:rPr>
              <a:t>。</a:t>
            </a:r>
          </a:p>
          <a:p>
            <a:pPr marL="285750" indent="-285750" algn="just">
              <a:lnSpc>
                <a:spcPct val="150000"/>
              </a:lnSpc>
              <a:buClrTx/>
              <a:buSzTx/>
              <a:buFont typeface="Wingdings" panose="05000000000000000000" charset="0"/>
              <a:buChar char="l"/>
            </a:pPr>
            <a:r>
              <a:rPr lang="zh-CN" altLang="en-US" sz="1800" dirty="0">
                <a:solidFill>
                  <a:srgbClr val="595959"/>
                </a:solidFill>
                <a:latin typeface="微软雅黑" panose="020B0503020204020204" pitchFamily="34" charset="-122"/>
                <a:ea typeface="微软雅黑" panose="020B0503020204020204" pitchFamily="34" charset="-122"/>
              </a:rPr>
              <a:t>网络：</a:t>
            </a:r>
            <a:r>
              <a:rPr lang="en-US" altLang="zh-CN" sz="1800" dirty="0">
                <a:solidFill>
                  <a:srgbClr val="0070C0"/>
                </a:solidFill>
                <a:latin typeface="微软雅黑" panose="020B0503020204020204" pitchFamily="34" charset="-122"/>
                <a:ea typeface="微软雅黑" panose="020B0503020204020204" pitchFamily="34" charset="-122"/>
              </a:rPr>
              <a:t>4G</a:t>
            </a:r>
            <a:r>
              <a:rPr lang="zh-CN" altLang="en-US" sz="1800" dirty="0">
                <a:solidFill>
                  <a:srgbClr val="0070C0"/>
                </a:solidFill>
                <a:latin typeface="微软雅黑" panose="020B0503020204020204" pitchFamily="34" charset="-122"/>
                <a:ea typeface="微软雅黑" panose="020B0503020204020204" pitchFamily="34" charset="-122"/>
              </a:rPr>
              <a:t>、</a:t>
            </a:r>
            <a:r>
              <a:rPr lang="en-US" altLang="zh-CN" sz="1800" dirty="0">
                <a:solidFill>
                  <a:srgbClr val="0070C0"/>
                </a:solidFill>
                <a:latin typeface="微软雅黑" panose="020B0503020204020204" pitchFamily="34" charset="-122"/>
                <a:ea typeface="微软雅黑" panose="020B0503020204020204" pitchFamily="34" charset="-122"/>
              </a:rPr>
              <a:t>5G</a:t>
            </a:r>
            <a:r>
              <a:rPr lang="zh-CN" altLang="en-US" sz="1800" dirty="0">
                <a:solidFill>
                  <a:srgbClr val="0070C0"/>
                </a:solidFill>
                <a:latin typeface="微软雅黑" panose="020B0503020204020204" pitchFamily="34" charset="-122"/>
                <a:ea typeface="微软雅黑" panose="020B0503020204020204" pitchFamily="34" charset="-122"/>
              </a:rPr>
              <a:t>、</a:t>
            </a:r>
            <a:r>
              <a:rPr lang="en-US" altLang="zh-CN" sz="1800" dirty="0">
                <a:solidFill>
                  <a:srgbClr val="0070C0"/>
                </a:solidFill>
                <a:latin typeface="微软雅黑" panose="020B0503020204020204" pitchFamily="34" charset="-122"/>
                <a:ea typeface="微软雅黑" panose="020B0503020204020204" pitchFamily="34" charset="-122"/>
              </a:rPr>
              <a:t>5GA</a:t>
            </a:r>
            <a:r>
              <a:rPr lang="zh-CN" altLang="en-US" sz="1800" dirty="0">
                <a:solidFill>
                  <a:srgbClr val="595959"/>
                </a:solidFill>
                <a:latin typeface="微软雅黑" panose="020B0503020204020204" pitchFamily="34" charset="-122"/>
                <a:ea typeface="微软雅黑" panose="020B0503020204020204" pitchFamily="34" charset="-122"/>
              </a:rPr>
              <a:t>。</a:t>
            </a:r>
          </a:p>
          <a:p>
            <a:pPr marL="285750" indent="-285750" algn="just">
              <a:lnSpc>
                <a:spcPct val="150000"/>
              </a:lnSpc>
              <a:buClrTx/>
              <a:buSzTx/>
              <a:buFont typeface="Wingdings" panose="05000000000000000000" charset="0"/>
              <a:buChar char="l"/>
            </a:pPr>
            <a:r>
              <a:rPr lang="zh-CN" altLang="en-US" sz="1800" dirty="0">
                <a:solidFill>
                  <a:srgbClr val="595959"/>
                </a:solidFill>
                <a:latin typeface="微软雅黑" panose="020B0503020204020204" pitchFamily="34" charset="-122"/>
                <a:ea typeface="微软雅黑" panose="020B0503020204020204" pitchFamily="34" charset="-122"/>
              </a:rPr>
              <a:t>浏览器：</a:t>
            </a:r>
            <a:r>
              <a:rPr lang="en-US" altLang="zh-CN" sz="1800" dirty="0">
                <a:solidFill>
                  <a:srgbClr val="0070C0"/>
                </a:solidFill>
                <a:latin typeface="微软雅黑" panose="020B0503020204020204" pitchFamily="34" charset="-122"/>
                <a:ea typeface="微软雅黑" panose="020B0503020204020204" pitchFamily="34" charset="-122"/>
              </a:rPr>
              <a:t>Edge</a:t>
            </a:r>
            <a:r>
              <a:rPr lang="zh-CN" altLang="en-US" sz="1800" dirty="0">
                <a:solidFill>
                  <a:srgbClr val="0070C0"/>
                </a:solidFill>
                <a:latin typeface="微软雅黑" panose="020B0503020204020204" pitchFamily="34" charset="-122"/>
                <a:ea typeface="微软雅黑" panose="020B0503020204020204" pitchFamily="34" charset="-122"/>
              </a:rPr>
              <a:t>、FireFox、 Chrome </a:t>
            </a:r>
            <a:r>
              <a:rPr lang="zh-CN" altLang="en-US" sz="1800" dirty="0">
                <a:solidFill>
                  <a:srgbClr val="595959"/>
                </a:solidFill>
                <a:latin typeface="微软雅黑" panose="020B0503020204020204" pitchFamily="34" charset="-122"/>
                <a:ea typeface="微软雅黑" panose="020B0503020204020204" pitchFamily="34" charset="-122"/>
              </a:rPr>
              <a:t>。</a:t>
            </a:r>
          </a:p>
        </p:txBody>
      </p:sp>
      <p:pic>
        <p:nvPicPr>
          <p:cNvPr id="33" name="图片 32"/>
          <p:cNvPicPr>
            <a:picLocks noChangeAspect="1"/>
          </p:cNvPicPr>
          <p:nvPr/>
        </p:nvPicPr>
        <p:blipFill>
          <a:blip r:embed="rId3"/>
          <a:stretch>
            <a:fillRect/>
          </a:stretch>
        </p:blipFill>
        <p:spPr>
          <a:xfrm>
            <a:off x="839386" y="1413456"/>
            <a:ext cx="3715858" cy="4006159"/>
          </a:xfrm>
          <a:prstGeom prst="rect">
            <a:avLst/>
          </a:prstGeom>
        </p:spPr>
      </p:pic>
      <p:sp>
        <p:nvSpPr>
          <p:cNvPr id="31" name="Title 1"/>
          <p:cNvSpPr txBox="1"/>
          <p:nvPr/>
        </p:nvSpPr>
        <p:spPr>
          <a:xfrm>
            <a:off x="1143635" y="266700"/>
            <a:ext cx="736917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2.4.2	实例一：微信Web页面运行环境正交实验设计</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35"/>
          <p:cNvSpPr txBox="1">
            <a:spLocks noChangeArrowheads="1"/>
          </p:cNvSpPr>
          <p:nvPr/>
        </p:nvSpPr>
        <p:spPr bwMode="auto">
          <a:xfrm>
            <a:off x="1046480" y="772795"/>
            <a:ext cx="10372090" cy="178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indent="457200" algn="just">
              <a:lnSpc>
                <a:spcPct val="150000"/>
              </a:lnSpc>
              <a:buClrTx/>
              <a:buSzTx/>
              <a:buFontTx/>
            </a:pPr>
            <a:r>
              <a:rPr lang="zh-CN" altLang="en-US" sz="1800" dirty="0">
                <a:solidFill>
                  <a:srgbClr val="595959"/>
                </a:solidFill>
                <a:latin typeface="微软雅黑" panose="020B0503020204020204" pitchFamily="34" charset="-122"/>
                <a:ea typeface="微软雅黑" panose="020B0503020204020204" pitchFamily="34" charset="-122"/>
              </a:rPr>
              <a:t>微信Web页面运行环境正交实验中有4个因子，即服务器、操作系统、插件、浏览器，每个因子又有3个水平，因此该</a:t>
            </a:r>
            <a:r>
              <a:rPr lang="zh-CN" altLang="en-US" sz="1800" dirty="0">
                <a:solidFill>
                  <a:srgbClr val="0070C0"/>
                </a:solidFill>
                <a:latin typeface="微软雅黑" panose="020B0503020204020204" pitchFamily="34" charset="-122"/>
                <a:ea typeface="微软雅黑" panose="020B0503020204020204" pitchFamily="34" charset="-122"/>
              </a:rPr>
              <a:t>正交表是一个4因子3水平正交表</a:t>
            </a:r>
            <a:r>
              <a:rPr lang="zh-CN" altLang="en-US" sz="1800" dirty="0">
                <a:solidFill>
                  <a:srgbClr val="595959"/>
                </a:solidFill>
                <a:latin typeface="微软雅黑" panose="020B0503020204020204" pitchFamily="34" charset="-122"/>
                <a:ea typeface="微软雅黑" panose="020B0503020204020204" pitchFamily="34" charset="-122"/>
              </a:rPr>
              <a:t>。通过查询正交表查询网站可得</a:t>
            </a:r>
            <a:r>
              <a:rPr lang="zh-CN" altLang="en-US" sz="1800" dirty="0">
                <a:solidFill>
                  <a:srgbClr val="0070C0"/>
                </a:solidFill>
                <a:latin typeface="微软雅黑" panose="020B0503020204020204" pitchFamily="34" charset="-122"/>
                <a:ea typeface="微软雅黑" panose="020B0503020204020204" pitchFamily="34" charset="-122"/>
              </a:rPr>
              <a:t>其n值为9</a:t>
            </a:r>
            <a:r>
              <a:rPr lang="zh-CN" altLang="en-US" sz="1800" dirty="0">
                <a:solidFill>
                  <a:srgbClr val="595959"/>
                </a:solidFill>
                <a:latin typeface="微软雅黑" panose="020B0503020204020204" pitchFamily="34" charset="-122"/>
                <a:ea typeface="微软雅黑" panose="020B0503020204020204" pitchFamily="34" charset="-122"/>
              </a:rPr>
              <a:t>，即L</a:t>
            </a:r>
            <a:r>
              <a:rPr lang="zh-CN" altLang="en-US" sz="1800" baseline="-25000" dirty="0">
                <a:solidFill>
                  <a:srgbClr val="595959"/>
                </a:solidFill>
                <a:latin typeface="微软雅黑" panose="020B0503020204020204" pitchFamily="34" charset="-122"/>
                <a:ea typeface="微软雅黑" panose="020B0503020204020204" pitchFamily="34" charset="-122"/>
              </a:rPr>
              <a:t>9</a:t>
            </a:r>
            <a:r>
              <a:rPr lang="zh-CN" altLang="en-US" sz="1800" dirty="0">
                <a:solidFill>
                  <a:srgbClr val="595959"/>
                </a:solidFill>
                <a:latin typeface="微软雅黑" panose="020B0503020204020204" pitchFamily="34" charset="-122"/>
                <a:ea typeface="微软雅黑" panose="020B0503020204020204" pitchFamily="34" charset="-122"/>
              </a:rPr>
              <a:t>(</a:t>
            </a:r>
            <a:r>
              <a:rPr lang="en-US" altLang="zh-CN" sz="1800" dirty="0">
                <a:solidFill>
                  <a:schemeClr val="tx1">
                    <a:lumMod val="65000"/>
                    <a:lumOff val="35000"/>
                  </a:schemeClr>
                </a:solidFill>
                <a:latin typeface="微软雅黑" panose="020B0503020204020204" pitchFamily="34" charset="-122"/>
                <a:ea typeface="微软雅黑" panose="020B0503020204020204" pitchFamily="34" charset="-122"/>
                <a:cs typeface="Lucida Sans Unicode" panose="020B0602030504020204"/>
                <a:sym typeface="+mn-ea"/>
              </a:rPr>
              <a:t>3</a:t>
            </a:r>
            <a:r>
              <a:rPr lang="en-US" altLang="zh-CN" sz="1800" baseline="30000" dirty="0">
                <a:solidFill>
                  <a:schemeClr val="tx1">
                    <a:lumMod val="65000"/>
                    <a:lumOff val="35000"/>
                  </a:schemeClr>
                </a:solidFill>
                <a:latin typeface="微软雅黑" panose="020B0503020204020204" pitchFamily="34" charset="-122"/>
                <a:ea typeface="微软雅黑" panose="020B0503020204020204" pitchFamily="34" charset="-122"/>
                <a:cs typeface="Lucida Sans Unicode" panose="020B0602030504020204"/>
                <a:sym typeface="+mn-ea"/>
              </a:rPr>
              <a:t>4</a:t>
            </a:r>
            <a:r>
              <a:rPr lang="zh-CN" altLang="en-US" sz="1800" dirty="0">
                <a:solidFill>
                  <a:srgbClr val="595959"/>
                </a:solidFill>
                <a:latin typeface="微软雅黑" panose="020B0503020204020204" pitchFamily="34" charset="-122"/>
                <a:ea typeface="微软雅黑" panose="020B0503020204020204" pitchFamily="34" charset="-122"/>
              </a:rPr>
              <a:t>)。如果按照上述水平的所列顺序，从左至右为每个水平编号0、1、2，则生成一个9行4列的正交表。</a:t>
            </a:r>
            <a:r>
              <a:rPr lang="zh-CN" altLang="en-US" sz="1800" dirty="0">
                <a:solidFill>
                  <a:srgbClr val="0070C0"/>
                </a:solidFill>
                <a:latin typeface="微软雅黑" panose="020B0503020204020204" pitchFamily="34" charset="-122"/>
                <a:ea typeface="微软雅黑" panose="020B0503020204020204" pitchFamily="34" charset="-122"/>
              </a:rPr>
              <a:t>L</a:t>
            </a:r>
            <a:r>
              <a:rPr lang="zh-CN" altLang="en-US" sz="1800" baseline="-25000" dirty="0">
                <a:solidFill>
                  <a:srgbClr val="0070C0"/>
                </a:solidFill>
                <a:latin typeface="微软雅黑" panose="020B0503020204020204" pitchFamily="34" charset="-122"/>
                <a:ea typeface="微软雅黑" panose="020B0503020204020204" pitchFamily="34" charset="-122"/>
              </a:rPr>
              <a:t>9</a:t>
            </a:r>
            <a:r>
              <a:rPr lang="zh-CN" altLang="en-US" sz="1800" dirty="0">
                <a:solidFill>
                  <a:srgbClr val="0070C0"/>
                </a:solidFill>
                <a:latin typeface="微软雅黑" panose="020B0503020204020204" pitchFamily="34" charset="-122"/>
                <a:ea typeface="微软雅黑" panose="020B0503020204020204" pitchFamily="34" charset="-122"/>
              </a:rPr>
              <a:t>(</a:t>
            </a:r>
            <a:r>
              <a:rPr lang="en-US" altLang="zh-CN" sz="1800" dirty="0">
                <a:solidFill>
                  <a:srgbClr val="0070C0"/>
                </a:solidFill>
                <a:latin typeface="微软雅黑" panose="020B0503020204020204" pitchFamily="34" charset="-122"/>
                <a:ea typeface="微软雅黑" panose="020B0503020204020204" pitchFamily="34" charset="-122"/>
                <a:cs typeface="Lucida Sans Unicode" panose="020B0602030504020204"/>
                <a:sym typeface="+mn-ea"/>
              </a:rPr>
              <a:t>3</a:t>
            </a:r>
            <a:r>
              <a:rPr lang="en-US" altLang="zh-CN" sz="1800" baseline="30000" dirty="0">
                <a:solidFill>
                  <a:srgbClr val="0070C0"/>
                </a:solidFill>
                <a:latin typeface="微软雅黑" panose="020B0503020204020204" pitchFamily="34" charset="-122"/>
                <a:ea typeface="微软雅黑" panose="020B0503020204020204" pitchFamily="34" charset="-122"/>
                <a:cs typeface="Lucida Sans Unicode" panose="020B0602030504020204"/>
                <a:sym typeface="+mn-ea"/>
              </a:rPr>
              <a:t>4</a:t>
            </a:r>
            <a:r>
              <a:rPr lang="zh-CN" altLang="en-US" sz="1800" dirty="0">
                <a:solidFill>
                  <a:srgbClr val="0070C0"/>
                </a:solidFill>
                <a:latin typeface="微软雅黑" panose="020B0503020204020204" pitchFamily="34" charset="-122"/>
                <a:ea typeface="微软雅黑" panose="020B0503020204020204" pitchFamily="34" charset="-122"/>
              </a:rPr>
              <a:t>)正交表</a:t>
            </a:r>
            <a:r>
              <a:rPr lang="zh-CN" altLang="en-US" sz="1800" dirty="0">
                <a:solidFill>
                  <a:srgbClr val="595959"/>
                </a:solidFill>
                <a:latin typeface="微软雅黑" panose="020B0503020204020204" pitchFamily="34" charset="-122"/>
                <a:ea typeface="微软雅黑" panose="020B0503020204020204" pitchFamily="34" charset="-122"/>
              </a:rPr>
              <a:t>如下表所示。</a:t>
            </a:r>
          </a:p>
        </p:txBody>
      </p:sp>
      <p:sp>
        <p:nvSpPr>
          <p:cNvPr id="31" name="Title 1"/>
          <p:cNvSpPr txBox="1"/>
          <p:nvPr/>
        </p:nvSpPr>
        <p:spPr>
          <a:xfrm>
            <a:off x="1143635" y="266700"/>
            <a:ext cx="736917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2.4.2	实例一：微信Web页面运行环境正交实验设计</a:t>
            </a:r>
          </a:p>
        </p:txBody>
      </p:sp>
      <p:graphicFrame>
        <p:nvGraphicFramePr>
          <p:cNvPr id="4" name="表格 3"/>
          <p:cNvGraphicFramePr/>
          <p:nvPr>
            <p:custDataLst>
              <p:tags r:id="rId1"/>
            </p:custDataLst>
          </p:nvPr>
        </p:nvGraphicFramePr>
        <p:xfrm>
          <a:off x="2927206" y="2486890"/>
          <a:ext cx="6408000" cy="4191768"/>
        </p:xfrm>
        <a:graphic>
          <a:graphicData uri="http://schemas.openxmlformats.org/drawingml/2006/table">
            <a:tbl>
              <a:tblPr firstRow="1" bandRow="1">
                <a:tableStyleId>{5C22544A-7EE6-4342-B048-85BDC9FD1C3A}</a:tableStyleId>
              </a:tblPr>
              <a:tblGrid>
                <a:gridCol w="1460794">
                  <a:extLst>
                    <a:ext uri="{9D8B030D-6E8A-4147-A177-3AD203B41FA5}">
                      <a16:colId xmlns:a16="http://schemas.microsoft.com/office/drawing/2014/main" val="20000"/>
                    </a:ext>
                  </a:extLst>
                </a:gridCol>
                <a:gridCol w="1377421">
                  <a:extLst>
                    <a:ext uri="{9D8B030D-6E8A-4147-A177-3AD203B41FA5}">
                      <a16:colId xmlns:a16="http://schemas.microsoft.com/office/drawing/2014/main" val="20001"/>
                    </a:ext>
                  </a:extLst>
                </a:gridCol>
                <a:gridCol w="1232398">
                  <a:extLst>
                    <a:ext uri="{9D8B030D-6E8A-4147-A177-3AD203B41FA5}">
                      <a16:colId xmlns:a16="http://schemas.microsoft.com/office/drawing/2014/main" val="20002"/>
                    </a:ext>
                  </a:extLst>
                </a:gridCol>
                <a:gridCol w="1168987">
                  <a:extLst>
                    <a:ext uri="{9D8B030D-6E8A-4147-A177-3AD203B41FA5}">
                      <a16:colId xmlns:a16="http://schemas.microsoft.com/office/drawing/2014/main" val="20003"/>
                    </a:ext>
                  </a:extLst>
                </a:gridCol>
                <a:gridCol w="1168400">
                  <a:extLst>
                    <a:ext uri="{9D8B030D-6E8A-4147-A177-3AD203B41FA5}">
                      <a16:colId xmlns:a16="http://schemas.microsoft.com/office/drawing/2014/main" val="20004"/>
                    </a:ext>
                  </a:extLst>
                </a:gridCol>
              </a:tblGrid>
              <a:tr h="449964">
                <a:tc rowSpan="2">
                  <a:txBody>
                    <a:bodyPr/>
                    <a:lstStyle/>
                    <a:p>
                      <a:pPr algn="ctr">
                        <a:lnSpc>
                          <a:spcPct val="90000"/>
                        </a:lnSpc>
                        <a:buNone/>
                      </a:pPr>
                      <a:r>
                        <a:rPr lang="zh-CN" altLang="en-US" sz="1800" b="1">
                          <a:latin typeface="微软雅黑" panose="020B0503020204020204" pitchFamily="34" charset="-122"/>
                          <a:ea typeface="微软雅黑" panose="020B0503020204020204" pitchFamily="34" charset="-122"/>
                        </a:rPr>
                        <a:t>行</a:t>
                      </a:r>
                    </a:p>
                  </a:txBody>
                  <a:tcPr anchor="ctr"/>
                </a:tc>
                <a:tc gridSpan="4">
                  <a:txBody>
                    <a:bodyPr/>
                    <a:lstStyle/>
                    <a:p>
                      <a:pPr algn="ctr">
                        <a:lnSpc>
                          <a:spcPct val="90000"/>
                        </a:lnSpc>
                        <a:buNone/>
                      </a:pPr>
                      <a:r>
                        <a:rPr lang="zh-CN" altLang="en-US" sz="1800">
                          <a:latin typeface="微软雅黑" panose="020B0503020204020204" pitchFamily="34" charset="-122"/>
                          <a:ea typeface="微软雅黑" panose="020B0503020204020204" pitchFamily="34" charset="-122"/>
                        </a:rPr>
                        <a:t>列</a:t>
                      </a:r>
                      <a:endParaRPr lang="en-US" altLang="zh-CN" sz="1800">
                        <a:latin typeface="微软雅黑" panose="020B0503020204020204" pitchFamily="34" charset="-122"/>
                        <a:ea typeface="微软雅黑" panose="020B0503020204020204" pitchFamily="34" charset="-122"/>
                      </a:endParaRPr>
                    </a:p>
                  </a:txBody>
                  <a:tcPr anchor="ctr"/>
                </a:tc>
                <a:tc hMerge="1">
                  <a:txBody>
                    <a:bodyPr/>
                    <a:lstStyle/>
                    <a:p>
                      <a:endParaRPr lang="zh-CN"/>
                    </a:p>
                  </a:txBody>
                  <a:tcPr anchor="ctr"/>
                </a:tc>
                <a:tc hMerge="1">
                  <a:txBody>
                    <a:bodyPr/>
                    <a:lstStyle/>
                    <a:p>
                      <a:endParaRPr lang="zh-CN"/>
                    </a:p>
                  </a:txBody>
                  <a:tcPr anchor="ctr"/>
                </a:tc>
                <a:tc hMerge="1">
                  <a:txBody>
                    <a:bodyPr/>
                    <a:lstStyle/>
                    <a:p>
                      <a:endParaRPr lang="zh-CN"/>
                    </a:p>
                  </a:txBody>
                  <a:tcPr anchor="ctr"/>
                </a:tc>
                <a:extLst>
                  <a:ext uri="{0D108BD9-81ED-4DB2-BD59-A6C34878D82A}">
                    <a16:rowId xmlns:a16="http://schemas.microsoft.com/office/drawing/2014/main" val="10000"/>
                  </a:ext>
                </a:extLst>
              </a:tr>
              <a:tr h="449964">
                <a:tc vMerge="1">
                  <a:txBody>
                    <a:bodyPr/>
                    <a:lstStyle/>
                    <a:p>
                      <a:endParaRPr lang="zh-CN"/>
                    </a:p>
                  </a:txBody>
                  <a:tcPr anchor="ctr"/>
                </a:tc>
                <a:tc>
                  <a:txBody>
                    <a:bodyPr/>
                    <a:lstStyle/>
                    <a:p>
                      <a:pPr marL="0" algn="ctr" defTabSz="1219200" rtl="0" eaLnBrk="1" latinLnBrk="0" hangingPunct="1">
                        <a:lnSpc>
                          <a:spcPct val="90000"/>
                        </a:lnSpc>
                        <a:buNone/>
                      </a:pPr>
                      <a:r>
                        <a:rPr lang="en-US" altLang="zh-CN" sz="1800" b="1" kern="1200">
                          <a:solidFill>
                            <a:schemeClr val="lt1"/>
                          </a:solidFill>
                          <a:latin typeface="微软雅黑" panose="020B0503020204020204" pitchFamily="34" charset="-122"/>
                          <a:ea typeface="微软雅黑" panose="020B0503020204020204" pitchFamily="34" charset="-122"/>
                          <a:cs typeface="+mn-cs"/>
                        </a:rPr>
                        <a:t>1</a:t>
                      </a:r>
                    </a:p>
                  </a:txBody>
                  <a:tcPr anchor="ctr">
                    <a:solidFill>
                      <a:srgbClr val="1369B2"/>
                    </a:solidFill>
                  </a:tcPr>
                </a:tc>
                <a:tc>
                  <a:txBody>
                    <a:bodyPr/>
                    <a:lstStyle/>
                    <a:p>
                      <a:pPr marL="0" algn="ctr" defTabSz="1219200" rtl="0" eaLnBrk="1" latinLnBrk="0" hangingPunct="1">
                        <a:lnSpc>
                          <a:spcPct val="90000"/>
                        </a:lnSpc>
                        <a:buNone/>
                      </a:pPr>
                      <a:r>
                        <a:rPr lang="en-US" altLang="zh-CN" sz="1800" b="1" kern="1200">
                          <a:solidFill>
                            <a:schemeClr val="lt1"/>
                          </a:solidFill>
                          <a:latin typeface="微软雅黑" panose="020B0503020204020204" pitchFamily="34" charset="-122"/>
                          <a:ea typeface="微软雅黑" panose="020B0503020204020204" pitchFamily="34" charset="-122"/>
                          <a:cs typeface="+mn-cs"/>
                        </a:rPr>
                        <a:t>2</a:t>
                      </a:r>
                    </a:p>
                  </a:txBody>
                  <a:tcPr anchor="ctr">
                    <a:solidFill>
                      <a:srgbClr val="1369B2"/>
                    </a:solidFill>
                  </a:tcPr>
                </a:tc>
                <a:tc>
                  <a:txBody>
                    <a:bodyPr/>
                    <a:lstStyle/>
                    <a:p>
                      <a:pPr marL="0" algn="ctr" defTabSz="1219200" rtl="0" eaLnBrk="1" latinLnBrk="0" hangingPunct="1">
                        <a:lnSpc>
                          <a:spcPct val="90000"/>
                        </a:lnSpc>
                        <a:buNone/>
                      </a:pPr>
                      <a:r>
                        <a:rPr lang="en-US" altLang="zh-CN" sz="1800" b="1" kern="1200">
                          <a:solidFill>
                            <a:schemeClr val="lt1"/>
                          </a:solidFill>
                          <a:latin typeface="微软雅黑" panose="020B0503020204020204" pitchFamily="34" charset="-122"/>
                          <a:ea typeface="微软雅黑" panose="020B0503020204020204" pitchFamily="34" charset="-122"/>
                          <a:cs typeface="+mn-cs"/>
                        </a:rPr>
                        <a:t>3</a:t>
                      </a:r>
                    </a:p>
                  </a:txBody>
                  <a:tcPr anchor="ctr">
                    <a:solidFill>
                      <a:srgbClr val="1369B2"/>
                    </a:solidFill>
                  </a:tcPr>
                </a:tc>
                <a:tc>
                  <a:txBody>
                    <a:bodyPr/>
                    <a:lstStyle/>
                    <a:p>
                      <a:pPr marL="0" algn="ctr" defTabSz="1219200" rtl="0" eaLnBrk="1" latinLnBrk="0" hangingPunct="1">
                        <a:lnSpc>
                          <a:spcPct val="90000"/>
                        </a:lnSpc>
                        <a:buNone/>
                      </a:pPr>
                      <a:r>
                        <a:rPr lang="en-US" altLang="zh-CN" sz="1800" b="1" kern="1200">
                          <a:solidFill>
                            <a:schemeClr val="lt1"/>
                          </a:solidFill>
                          <a:latin typeface="微软雅黑" panose="020B0503020204020204" pitchFamily="34" charset="-122"/>
                          <a:ea typeface="微软雅黑" panose="020B0503020204020204" pitchFamily="34" charset="-122"/>
                          <a:cs typeface="+mn-cs"/>
                        </a:rPr>
                        <a:t>4</a:t>
                      </a:r>
                    </a:p>
                  </a:txBody>
                  <a:tcPr anchor="ctr">
                    <a:solidFill>
                      <a:srgbClr val="1369B2"/>
                    </a:solidFill>
                  </a:tcPr>
                </a:tc>
                <a:extLst>
                  <a:ext uri="{0D108BD9-81ED-4DB2-BD59-A6C34878D82A}">
                    <a16:rowId xmlns:a16="http://schemas.microsoft.com/office/drawing/2014/main" val="10001"/>
                  </a:ext>
                </a:extLst>
              </a:tr>
              <a:tr h="312046">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1</a:t>
                      </a:r>
                    </a:p>
                  </a:txBody>
                  <a:tcPr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0</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0</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0</a:t>
                      </a:r>
                    </a:p>
                  </a:txBody>
                  <a:tcPr marL="68580" marR="68580" marT="0" marB="0" anchor="ctr"/>
                </a:tc>
                <a:tc>
                  <a:txBody>
                    <a:bodyPr/>
                    <a:lstStyle/>
                    <a:p>
                      <a:pPr algn="ctr">
                        <a:spcAft>
                          <a:spcPts val="0"/>
                        </a:spcAft>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0</a:t>
                      </a:r>
                    </a:p>
                  </a:txBody>
                  <a:tcPr marL="68580" marR="68580" marT="0" marB="0" anchor="ctr"/>
                </a:tc>
                <a:extLst>
                  <a:ext uri="{0D108BD9-81ED-4DB2-BD59-A6C34878D82A}">
                    <a16:rowId xmlns:a16="http://schemas.microsoft.com/office/drawing/2014/main" val="10002"/>
                  </a:ext>
                </a:extLst>
              </a:tr>
              <a:tr h="323761">
                <a:tc>
                  <a:txBody>
                    <a:bodyPr/>
                    <a:lstStyle/>
                    <a:p>
                      <a:pPr algn="ctr">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2</a:t>
                      </a:r>
                    </a:p>
                  </a:txBody>
                  <a:tcPr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0</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1</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2</a:t>
                      </a:r>
                    </a:p>
                  </a:txBody>
                  <a:tcPr marL="68580" marR="68580" marT="0" marB="0" anchor="ctr"/>
                </a:tc>
                <a:tc>
                  <a:txBody>
                    <a:bodyPr/>
                    <a:lstStyle/>
                    <a:p>
                      <a:pPr algn="ctr">
                        <a:spcAft>
                          <a:spcPts val="0"/>
                        </a:spcAft>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1</a:t>
                      </a:r>
                    </a:p>
                  </a:txBody>
                  <a:tcPr marL="68580" marR="68580" marT="0" marB="0" anchor="ctr"/>
                </a:tc>
                <a:extLst>
                  <a:ext uri="{0D108BD9-81ED-4DB2-BD59-A6C34878D82A}">
                    <a16:rowId xmlns:a16="http://schemas.microsoft.com/office/drawing/2014/main" val="10003"/>
                  </a:ext>
                </a:extLst>
              </a:tr>
              <a:tr h="363699">
                <a:tc>
                  <a:txBody>
                    <a:bodyPr/>
                    <a:lstStyle/>
                    <a:p>
                      <a:pPr algn="ctr">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3</a:t>
                      </a:r>
                    </a:p>
                  </a:txBody>
                  <a:tcPr anchor="ctr"/>
                </a:tc>
                <a:tc>
                  <a:txBody>
                    <a:bodyPr/>
                    <a:lstStyle/>
                    <a:p>
                      <a:pPr algn="ctr">
                        <a:spcAft>
                          <a:spcPts val="0"/>
                        </a:spcAft>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0</a:t>
                      </a:r>
                    </a:p>
                  </a:txBody>
                  <a:tcPr marL="68580" marR="68580" marT="0" marB="0" anchor="ctr"/>
                </a:tc>
                <a:tc>
                  <a:txBody>
                    <a:bodyPr/>
                    <a:lstStyle/>
                    <a:p>
                      <a:pPr algn="ctr">
                        <a:spcAft>
                          <a:spcPts val="0"/>
                        </a:spcAft>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2</a:t>
                      </a:r>
                    </a:p>
                  </a:txBody>
                  <a:tcPr marL="68580" marR="68580" marT="0" marB="0" anchor="ctr"/>
                </a:tc>
                <a:tc>
                  <a:txBody>
                    <a:bodyPr/>
                    <a:lstStyle/>
                    <a:p>
                      <a:pPr algn="ctr">
                        <a:spcAft>
                          <a:spcPts val="0"/>
                        </a:spcAft>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1</a:t>
                      </a:r>
                    </a:p>
                  </a:txBody>
                  <a:tcPr marL="68580" marR="68580" marT="0" marB="0" anchor="ctr"/>
                </a:tc>
                <a:tc>
                  <a:txBody>
                    <a:bodyPr/>
                    <a:lstStyle/>
                    <a:p>
                      <a:pPr algn="ctr">
                        <a:spcAft>
                          <a:spcPts val="0"/>
                        </a:spcAft>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2</a:t>
                      </a:r>
                    </a:p>
                  </a:txBody>
                  <a:tcPr marL="68580" marR="68580" marT="0" marB="0" anchor="ctr"/>
                </a:tc>
                <a:extLst>
                  <a:ext uri="{0D108BD9-81ED-4DB2-BD59-A6C34878D82A}">
                    <a16:rowId xmlns:a16="http://schemas.microsoft.com/office/drawing/2014/main" val="10004"/>
                  </a:ext>
                </a:extLst>
              </a:tr>
              <a:tr h="299799">
                <a:tc>
                  <a:txBody>
                    <a:bodyPr/>
                    <a:lstStyle/>
                    <a:p>
                      <a:pPr algn="ctr">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4</a:t>
                      </a:r>
                    </a:p>
                  </a:txBody>
                  <a:tcPr anchor="ctr"/>
                </a:tc>
                <a:tc>
                  <a:txBody>
                    <a:bodyPr/>
                    <a:lstStyle/>
                    <a:p>
                      <a:pPr algn="ctr">
                        <a:spcAft>
                          <a:spcPts val="0"/>
                        </a:spcAft>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1</a:t>
                      </a:r>
                    </a:p>
                  </a:txBody>
                  <a:tcPr marL="68580" marR="68580" marT="0" marB="0" anchor="ctr"/>
                </a:tc>
                <a:tc>
                  <a:txBody>
                    <a:bodyPr/>
                    <a:lstStyle/>
                    <a:p>
                      <a:pPr algn="ctr">
                        <a:spcAft>
                          <a:spcPts val="0"/>
                        </a:spcAft>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0</a:t>
                      </a:r>
                    </a:p>
                  </a:txBody>
                  <a:tcPr marL="68580" marR="68580" marT="0" marB="0" anchor="ctr"/>
                </a:tc>
                <a:tc>
                  <a:txBody>
                    <a:bodyPr/>
                    <a:lstStyle/>
                    <a:p>
                      <a:pPr algn="ctr">
                        <a:spcAft>
                          <a:spcPts val="0"/>
                        </a:spcAft>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2</a:t>
                      </a:r>
                    </a:p>
                  </a:txBody>
                  <a:tcPr marL="68580" marR="68580" marT="0" marB="0" anchor="ctr"/>
                </a:tc>
                <a:tc>
                  <a:txBody>
                    <a:bodyPr/>
                    <a:lstStyle/>
                    <a:p>
                      <a:pPr algn="ctr">
                        <a:spcAft>
                          <a:spcPts val="0"/>
                        </a:spcAft>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2</a:t>
                      </a:r>
                    </a:p>
                  </a:txBody>
                  <a:tcPr marL="68580" marR="68580" marT="0" marB="0" anchor="ctr"/>
                </a:tc>
                <a:extLst>
                  <a:ext uri="{0D108BD9-81ED-4DB2-BD59-A6C34878D82A}">
                    <a16:rowId xmlns:a16="http://schemas.microsoft.com/office/drawing/2014/main" val="10005"/>
                  </a:ext>
                </a:extLst>
              </a:tr>
              <a:tr h="347724">
                <a:tc>
                  <a:txBody>
                    <a:bodyPr/>
                    <a:lstStyle/>
                    <a:p>
                      <a:pPr algn="ctr">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5</a:t>
                      </a:r>
                    </a:p>
                  </a:txBody>
                  <a:tcPr anchor="ctr"/>
                </a:tc>
                <a:tc>
                  <a:txBody>
                    <a:bodyPr/>
                    <a:lstStyle/>
                    <a:p>
                      <a:pPr algn="ctr">
                        <a:spcAft>
                          <a:spcPts val="0"/>
                        </a:spcAft>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1</a:t>
                      </a:r>
                    </a:p>
                  </a:txBody>
                  <a:tcPr marL="68580" marR="68580" marT="0" marB="0" anchor="ctr"/>
                </a:tc>
                <a:tc>
                  <a:txBody>
                    <a:bodyPr/>
                    <a:lstStyle/>
                    <a:p>
                      <a:pPr algn="ctr">
                        <a:spcAft>
                          <a:spcPts val="0"/>
                        </a:spcAft>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1</a:t>
                      </a:r>
                    </a:p>
                  </a:txBody>
                  <a:tcPr marL="68580" marR="68580" marT="0" marB="0" anchor="ctr"/>
                </a:tc>
                <a:tc>
                  <a:txBody>
                    <a:bodyPr/>
                    <a:lstStyle/>
                    <a:p>
                      <a:pPr algn="ctr">
                        <a:spcAft>
                          <a:spcPts val="0"/>
                        </a:spcAft>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1</a:t>
                      </a:r>
                    </a:p>
                  </a:txBody>
                  <a:tcPr marL="68580" marR="68580" marT="0" marB="0" anchor="ctr"/>
                </a:tc>
                <a:tc>
                  <a:txBody>
                    <a:bodyPr/>
                    <a:lstStyle/>
                    <a:p>
                      <a:pPr algn="ctr">
                        <a:spcAft>
                          <a:spcPts val="0"/>
                        </a:spcAft>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0</a:t>
                      </a:r>
                    </a:p>
                  </a:txBody>
                  <a:tcPr marL="68580" marR="68580" marT="0" marB="0" anchor="ctr"/>
                </a:tc>
                <a:extLst>
                  <a:ext uri="{0D108BD9-81ED-4DB2-BD59-A6C34878D82A}">
                    <a16:rowId xmlns:a16="http://schemas.microsoft.com/office/drawing/2014/main" val="10006"/>
                  </a:ext>
                </a:extLst>
              </a:tr>
              <a:tr h="315241">
                <a:tc>
                  <a:txBody>
                    <a:bodyPr/>
                    <a:lstStyle/>
                    <a:p>
                      <a:pPr algn="ctr">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6</a:t>
                      </a:r>
                    </a:p>
                  </a:txBody>
                  <a:tcPr anchor="ctr"/>
                </a:tc>
                <a:tc>
                  <a:txBody>
                    <a:bodyPr/>
                    <a:lstStyle/>
                    <a:p>
                      <a:pPr algn="ctr">
                        <a:spcAft>
                          <a:spcPts val="0"/>
                        </a:spcAft>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1</a:t>
                      </a:r>
                    </a:p>
                  </a:txBody>
                  <a:tcPr marL="68580" marR="68580" marT="0" marB="0" anchor="ctr"/>
                </a:tc>
                <a:tc>
                  <a:txBody>
                    <a:bodyPr/>
                    <a:lstStyle/>
                    <a:p>
                      <a:pPr algn="ctr">
                        <a:spcAft>
                          <a:spcPts val="0"/>
                        </a:spcAft>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2</a:t>
                      </a:r>
                    </a:p>
                  </a:txBody>
                  <a:tcPr marL="68580" marR="68580" marT="0" marB="0" anchor="ctr"/>
                </a:tc>
                <a:tc>
                  <a:txBody>
                    <a:bodyPr/>
                    <a:lstStyle/>
                    <a:p>
                      <a:pPr algn="ctr">
                        <a:spcAft>
                          <a:spcPts val="0"/>
                        </a:spcAft>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0</a:t>
                      </a:r>
                    </a:p>
                  </a:txBody>
                  <a:tcPr marL="68580" marR="68580" marT="0" marB="0" anchor="ctr"/>
                </a:tc>
                <a:tc>
                  <a:txBody>
                    <a:bodyPr/>
                    <a:lstStyle/>
                    <a:p>
                      <a:pPr algn="ctr">
                        <a:spcAft>
                          <a:spcPts val="0"/>
                        </a:spcAft>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1</a:t>
                      </a:r>
                    </a:p>
                  </a:txBody>
                  <a:tcPr marL="68580" marR="68580" marT="0" marB="0" anchor="ctr"/>
                </a:tc>
                <a:extLst>
                  <a:ext uri="{0D108BD9-81ED-4DB2-BD59-A6C34878D82A}">
                    <a16:rowId xmlns:a16="http://schemas.microsoft.com/office/drawing/2014/main" val="10007"/>
                  </a:ext>
                </a:extLst>
              </a:tr>
              <a:tr h="315774">
                <a:tc>
                  <a:txBody>
                    <a:bodyPr/>
                    <a:lstStyle/>
                    <a:p>
                      <a:pPr algn="ctr">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7</a:t>
                      </a:r>
                    </a:p>
                  </a:txBody>
                  <a:tcPr anchor="ctr"/>
                </a:tc>
                <a:tc>
                  <a:txBody>
                    <a:bodyPr/>
                    <a:lstStyle/>
                    <a:p>
                      <a:pPr algn="ctr">
                        <a:spcAft>
                          <a:spcPts val="0"/>
                        </a:spcAft>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2</a:t>
                      </a:r>
                    </a:p>
                  </a:txBody>
                  <a:tcPr marL="68580" marR="68580" marT="0" marB="0" anchor="ctr"/>
                </a:tc>
                <a:tc>
                  <a:txBody>
                    <a:bodyPr/>
                    <a:lstStyle/>
                    <a:p>
                      <a:pPr algn="ctr">
                        <a:spcAft>
                          <a:spcPts val="0"/>
                        </a:spcAft>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0</a:t>
                      </a:r>
                    </a:p>
                  </a:txBody>
                  <a:tcPr marL="68580" marR="68580" marT="0" marB="0" anchor="ctr"/>
                </a:tc>
                <a:tc>
                  <a:txBody>
                    <a:bodyPr/>
                    <a:lstStyle/>
                    <a:p>
                      <a:pPr algn="ctr">
                        <a:spcAft>
                          <a:spcPts val="0"/>
                        </a:spcAft>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1</a:t>
                      </a:r>
                    </a:p>
                  </a:txBody>
                  <a:tcPr marL="68580" marR="68580" marT="0" marB="0" anchor="ctr"/>
                </a:tc>
                <a:tc>
                  <a:txBody>
                    <a:bodyPr/>
                    <a:lstStyle/>
                    <a:p>
                      <a:pPr algn="ctr">
                        <a:spcAft>
                          <a:spcPts val="0"/>
                        </a:spcAft>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1</a:t>
                      </a:r>
                    </a:p>
                  </a:txBody>
                  <a:tcPr marL="68580" marR="68580" marT="0" marB="0" anchor="ctr"/>
                </a:tc>
                <a:extLst>
                  <a:ext uri="{0D108BD9-81ED-4DB2-BD59-A6C34878D82A}">
                    <a16:rowId xmlns:a16="http://schemas.microsoft.com/office/drawing/2014/main" val="10008"/>
                  </a:ext>
                </a:extLst>
              </a:tr>
              <a:tr h="298734">
                <a:tc>
                  <a:txBody>
                    <a:bodyPr/>
                    <a:lstStyle/>
                    <a:p>
                      <a:pPr algn="ctr">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8</a:t>
                      </a:r>
                    </a:p>
                  </a:txBody>
                  <a:tcPr anchor="ctr"/>
                </a:tc>
                <a:tc>
                  <a:txBody>
                    <a:bodyPr/>
                    <a:lstStyle/>
                    <a:p>
                      <a:pPr algn="ctr">
                        <a:spcAft>
                          <a:spcPts val="0"/>
                        </a:spcAft>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2</a:t>
                      </a:r>
                    </a:p>
                  </a:txBody>
                  <a:tcPr marL="68580" marR="68580" marT="0" marB="0" anchor="ctr"/>
                </a:tc>
                <a:tc>
                  <a:txBody>
                    <a:bodyPr/>
                    <a:lstStyle/>
                    <a:p>
                      <a:pPr algn="ctr">
                        <a:spcAft>
                          <a:spcPts val="0"/>
                        </a:spcAft>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1</a:t>
                      </a:r>
                    </a:p>
                  </a:txBody>
                  <a:tcPr marL="68580" marR="68580" marT="0" marB="0" anchor="ctr"/>
                </a:tc>
                <a:tc>
                  <a:txBody>
                    <a:bodyPr/>
                    <a:lstStyle/>
                    <a:p>
                      <a:pPr algn="ctr">
                        <a:spcAft>
                          <a:spcPts val="0"/>
                        </a:spcAft>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0</a:t>
                      </a:r>
                    </a:p>
                  </a:txBody>
                  <a:tcPr marL="68580" marR="68580" marT="0" marB="0" anchor="ctr"/>
                </a:tc>
                <a:tc>
                  <a:txBody>
                    <a:bodyPr/>
                    <a:lstStyle/>
                    <a:p>
                      <a:pPr algn="ctr">
                        <a:spcAft>
                          <a:spcPts val="0"/>
                        </a:spcAft>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2</a:t>
                      </a:r>
                    </a:p>
                  </a:txBody>
                  <a:tcPr marL="68580" marR="68580" marT="0" marB="0" anchor="ctr"/>
                </a:tc>
                <a:extLst>
                  <a:ext uri="{0D108BD9-81ED-4DB2-BD59-A6C34878D82A}">
                    <a16:rowId xmlns:a16="http://schemas.microsoft.com/office/drawing/2014/main" val="10009"/>
                  </a:ext>
                </a:extLst>
              </a:tr>
              <a:tr h="347191">
                <a:tc>
                  <a:txBody>
                    <a:bodyPr/>
                    <a:lstStyle/>
                    <a:p>
                      <a:pPr algn="ctr">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9</a:t>
                      </a:r>
                    </a:p>
                  </a:txBody>
                  <a:tcPr anchor="ctr"/>
                </a:tc>
                <a:tc>
                  <a:txBody>
                    <a:bodyPr/>
                    <a:lstStyle/>
                    <a:p>
                      <a:pPr algn="ctr">
                        <a:spcAft>
                          <a:spcPts val="0"/>
                        </a:spcAft>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2</a:t>
                      </a:r>
                    </a:p>
                  </a:txBody>
                  <a:tcPr marL="68580" marR="68580" marT="0" marB="0" anchor="ctr"/>
                </a:tc>
                <a:tc>
                  <a:txBody>
                    <a:bodyPr/>
                    <a:lstStyle/>
                    <a:p>
                      <a:pPr algn="ctr">
                        <a:spcAft>
                          <a:spcPts val="0"/>
                        </a:spcAft>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2</a:t>
                      </a:r>
                    </a:p>
                  </a:txBody>
                  <a:tcPr marL="68580" marR="68580" marT="0" marB="0" anchor="ctr"/>
                </a:tc>
                <a:tc>
                  <a:txBody>
                    <a:bodyPr/>
                    <a:lstStyle/>
                    <a:p>
                      <a:pPr algn="ctr">
                        <a:spcAft>
                          <a:spcPts val="0"/>
                        </a:spcAft>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2</a:t>
                      </a:r>
                    </a:p>
                  </a:txBody>
                  <a:tcPr marL="68580" marR="68580" marT="0" marB="0" anchor="ctr"/>
                </a:tc>
                <a:tc>
                  <a:txBody>
                    <a:bodyPr/>
                    <a:lstStyle/>
                    <a:p>
                      <a:pPr algn="ctr">
                        <a:spcAft>
                          <a:spcPts val="0"/>
                        </a:spcAft>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0</a:t>
                      </a:r>
                    </a:p>
                  </a:txBody>
                  <a:tcPr marL="68580" marR="68580" marT="0" marB="0" anchor="ctr"/>
                </a:tc>
                <a:extLst>
                  <a:ext uri="{0D108BD9-81ED-4DB2-BD59-A6C34878D82A}">
                    <a16:rowId xmlns:a16="http://schemas.microsoft.com/office/drawing/2014/main" val="10010"/>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35"/>
          <p:cNvSpPr txBox="1">
            <a:spLocks noChangeArrowheads="1"/>
          </p:cNvSpPr>
          <p:nvPr/>
        </p:nvSpPr>
        <p:spPr bwMode="auto">
          <a:xfrm>
            <a:off x="1046480" y="772795"/>
            <a:ext cx="10372090" cy="905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indent="457200" algn="just">
              <a:lnSpc>
                <a:spcPct val="150000"/>
              </a:lnSpc>
              <a:buClrTx/>
              <a:buSzTx/>
              <a:buFontTx/>
            </a:pPr>
            <a:r>
              <a:rPr lang="zh-CN" altLang="en-US" sz="1800" dirty="0">
                <a:solidFill>
                  <a:srgbClr val="595959"/>
                </a:solidFill>
                <a:latin typeface="微软雅黑" panose="020B0503020204020204" pitchFamily="34" charset="-122"/>
                <a:ea typeface="微软雅黑" panose="020B0503020204020204" pitchFamily="34" charset="-122"/>
              </a:rPr>
              <a:t>L</a:t>
            </a:r>
            <a:r>
              <a:rPr lang="zh-CN" altLang="en-US" sz="1800" baseline="-25000" dirty="0">
                <a:solidFill>
                  <a:srgbClr val="595959"/>
                </a:solidFill>
                <a:latin typeface="微软雅黑" panose="020B0503020204020204" pitchFamily="34" charset="-122"/>
                <a:ea typeface="微软雅黑" panose="020B0503020204020204" pitchFamily="34" charset="-122"/>
              </a:rPr>
              <a:t>9</a:t>
            </a:r>
            <a:r>
              <a:rPr lang="zh-CN" altLang="en-US" sz="1800" dirty="0">
                <a:solidFill>
                  <a:srgbClr val="595959"/>
                </a:solidFill>
                <a:latin typeface="微软雅黑" panose="020B0503020204020204" pitchFamily="34" charset="-122"/>
                <a:ea typeface="微软雅黑" panose="020B0503020204020204" pitchFamily="34" charset="-122"/>
              </a:rPr>
              <a:t>(</a:t>
            </a:r>
            <a:r>
              <a:rPr lang="en-US" altLang="zh-CN" sz="1800" dirty="0">
                <a:solidFill>
                  <a:schemeClr val="tx1">
                    <a:lumMod val="65000"/>
                    <a:lumOff val="35000"/>
                  </a:schemeClr>
                </a:solidFill>
                <a:latin typeface="微软雅黑" panose="020B0503020204020204" pitchFamily="34" charset="-122"/>
                <a:ea typeface="微软雅黑" panose="020B0503020204020204" pitchFamily="34" charset="-122"/>
                <a:cs typeface="Lucida Sans Unicode" panose="020B0602030504020204"/>
                <a:sym typeface="+mn-ea"/>
              </a:rPr>
              <a:t>3</a:t>
            </a:r>
            <a:r>
              <a:rPr lang="en-US" altLang="zh-CN" sz="1800" baseline="30000" dirty="0">
                <a:solidFill>
                  <a:schemeClr val="tx1">
                    <a:lumMod val="65000"/>
                    <a:lumOff val="35000"/>
                  </a:schemeClr>
                </a:solidFill>
                <a:latin typeface="微软雅黑" panose="020B0503020204020204" pitchFamily="34" charset="-122"/>
                <a:ea typeface="微软雅黑" panose="020B0503020204020204" pitchFamily="34" charset="-122"/>
                <a:cs typeface="Lucida Sans Unicode" panose="020B0602030504020204"/>
                <a:sym typeface="+mn-ea"/>
              </a:rPr>
              <a:t>4</a:t>
            </a:r>
            <a:r>
              <a:rPr lang="zh-CN" altLang="en-US" sz="1800" dirty="0">
                <a:solidFill>
                  <a:srgbClr val="595959"/>
                </a:solidFill>
                <a:latin typeface="微软雅黑" panose="020B0503020204020204" pitchFamily="34" charset="-122"/>
                <a:ea typeface="微软雅黑" panose="020B0503020204020204" pitchFamily="34" charset="-122"/>
              </a:rPr>
              <a:t>)正交表中的水平编号分别代表因子的不同取值，将因子、状态映射到正交表，可生成具体的测试用例，</a:t>
            </a:r>
            <a:r>
              <a:rPr lang="zh-CN" altLang="en-US" sz="1800" dirty="0">
                <a:solidFill>
                  <a:srgbClr val="0070C0"/>
                </a:solidFill>
                <a:latin typeface="微软雅黑" panose="020B0503020204020204" pitchFamily="34" charset="-122"/>
                <a:ea typeface="微软雅黑" panose="020B0503020204020204" pitchFamily="34" charset="-122"/>
              </a:rPr>
              <a:t>微信Web页面运行环境测试用例</a:t>
            </a:r>
            <a:r>
              <a:rPr lang="zh-CN" altLang="en-US" sz="1800" dirty="0">
                <a:solidFill>
                  <a:srgbClr val="595959"/>
                </a:solidFill>
                <a:latin typeface="微软雅黑" panose="020B0503020204020204" pitchFamily="34" charset="-122"/>
                <a:ea typeface="微软雅黑" panose="020B0503020204020204" pitchFamily="34" charset="-122"/>
              </a:rPr>
              <a:t>如下表所示。</a:t>
            </a:r>
          </a:p>
        </p:txBody>
      </p:sp>
      <p:sp>
        <p:nvSpPr>
          <p:cNvPr id="31" name="Title 1"/>
          <p:cNvSpPr txBox="1"/>
          <p:nvPr/>
        </p:nvSpPr>
        <p:spPr>
          <a:xfrm>
            <a:off x="1143635" y="266700"/>
            <a:ext cx="736917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2.4.2	实例一：微信Web页面运行环境正交实验设计</a:t>
            </a:r>
          </a:p>
        </p:txBody>
      </p:sp>
      <p:graphicFrame>
        <p:nvGraphicFramePr>
          <p:cNvPr id="4" name="表格 3"/>
          <p:cNvGraphicFramePr/>
          <p:nvPr>
            <p:custDataLst>
              <p:tags r:id="rId1"/>
            </p:custDataLst>
            <p:extLst>
              <p:ext uri="{D42A27DB-BD31-4B8C-83A1-F6EECF244321}">
                <p14:modId xmlns:p14="http://schemas.microsoft.com/office/powerpoint/2010/main" val="2343526218"/>
              </p:ext>
            </p:extLst>
          </p:nvPr>
        </p:nvGraphicFramePr>
        <p:xfrm>
          <a:off x="2423160" y="1845945"/>
          <a:ext cx="7200046" cy="4521927"/>
        </p:xfrm>
        <a:graphic>
          <a:graphicData uri="http://schemas.openxmlformats.org/drawingml/2006/table">
            <a:tbl>
              <a:tblPr firstRow="1" bandRow="1">
                <a:tableStyleId>{5C22544A-7EE6-4342-B048-85BDC9FD1C3A}</a:tableStyleId>
              </a:tblPr>
              <a:tblGrid>
                <a:gridCol w="1641352">
                  <a:extLst>
                    <a:ext uri="{9D8B030D-6E8A-4147-A177-3AD203B41FA5}">
                      <a16:colId xmlns:a16="http://schemas.microsoft.com/office/drawing/2014/main" val="20000"/>
                    </a:ext>
                  </a:extLst>
                </a:gridCol>
                <a:gridCol w="1408475">
                  <a:extLst>
                    <a:ext uri="{9D8B030D-6E8A-4147-A177-3AD203B41FA5}">
                      <a16:colId xmlns:a16="http://schemas.microsoft.com/office/drawing/2014/main" val="20001"/>
                    </a:ext>
                  </a:extLst>
                </a:gridCol>
                <a:gridCol w="1523924">
                  <a:extLst>
                    <a:ext uri="{9D8B030D-6E8A-4147-A177-3AD203B41FA5}">
                      <a16:colId xmlns:a16="http://schemas.microsoft.com/office/drawing/2014/main" val="20002"/>
                    </a:ext>
                  </a:extLst>
                </a:gridCol>
                <a:gridCol w="1313477">
                  <a:extLst>
                    <a:ext uri="{9D8B030D-6E8A-4147-A177-3AD203B41FA5}">
                      <a16:colId xmlns:a16="http://schemas.microsoft.com/office/drawing/2014/main" val="20003"/>
                    </a:ext>
                  </a:extLst>
                </a:gridCol>
                <a:gridCol w="1312818">
                  <a:extLst>
                    <a:ext uri="{9D8B030D-6E8A-4147-A177-3AD203B41FA5}">
                      <a16:colId xmlns:a16="http://schemas.microsoft.com/office/drawing/2014/main" val="20004"/>
                    </a:ext>
                  </a:extLst>
                </a:gridCol>
              </a:tblGrid>
              <a:tr h="458347">
                <a:tc rowSpan="2">
                  <a:txBody>
                    <a:bodyPr/>
                    <a:lstStyle/>
                    <a:p>
                      <a:pPr algn="ctr">
                        <a:lnSpc>
                          <a:spcPct val="90000"/>
                        </a:lnSpc>
                        <a:buNone/>
                      </a:pPr>
                      <a:r>
                        <a:rPr lang="zh-CN" altLang="en-US" sz="1800" b="1">
                          <a:latin typeface="微软雅黑" panose="020B0503020204020204" pitchFamily="34" charset="-122"/>
                          <a:ea typeface="微软雅黑" panose="020B0503020204020204" pitchFamily="34" charset="-122"/>
                        </a:rPr>
                        <a:t>行</a:t>
                      </a:r>
                    </a:p>
                  </a:txBody>
                  <a:tcPr anchor="ctr"/>
                </a:tc>
                <a:tc gridSpan="4">
                  <a:txBody>
                    <a:bodyPr/>
                    <a:lstStyle/>
                    <a:p>
                      <a:pPr algn="ctr">
                        <a:lnSpc>
                          <a:spcPct val="90000"/>
                        </a:lnSpc>
                        <a:buNone/>
                      </a:pPr>
                      <a:r>
                        <a:rPr lang="zh-CN" altLang="en-US" sz="1800">
                          <a:latin typeface="微软雅黑" panose="020B0503020204020204" pitchFamily="34" charset="-122"/>
                          <a:ea typeface="微软雅黑" panose="020B0503020204020204" pitchFamily="34" charset="-122"/>
                        </a:rPr>
                        <a:t>列</a:t>
                      </a:r>
                      <a:endParaRPr lang="en-US" altLang="zh-CN" sz="1800">
                        <a:latin typeface="微软雅黑" panose="020B0503020204020204" pitchFamily="34" charset="-122"/>
                        <a:ea typeface="微软雅黑" panose="020B0503020204020204" pitchFamily="34" charset="-122"/>
                      </a:endParaRPr>
                    </a:p>
                  </a:txBody>
                  <a:tcPr anchor="ctr"/>
                </a:tc>
                <a:tc hMerge="1">
                  <a:txBody>
                    <a:bodyPr/>
                    <a:lstStyle/>
                    <a:p>
                      <a:endParaRPr lang="zh-CN"/>
                    </a:p>
                  </a:txBody>
                  <a:tcPr anchor="ctr"/>
                </a:tc>
                <a:tc hMerge="1">
                  <a:txBody>
                    <a:bodyPr/>
                    <a:lstStyle/>
                    <a:p>
                      <a:endParaRPr lang="zh-CN"/>
                    </a:p>
                  </a:txBody>
                  <a:tcPr anchor="ctr"/>
                </a:tc>
                <a:tc hMerge="1">
                  <a:txBody>
                    <a:bodyPr/>
                    <a:lstStyle/>
                    <a:p>
                      <a:endParaRPr lang="zh-CN"/>
                    </a:p>
                  </a:txBody>
                  <a:tcPr anchor="ctr"/>
                </a:tc>
                <a:extLst>
                  <a:ext uri="{0D108BD9-81ED-4DB2-BD59-A6C34878D82A}">
                    <a16:rowId xmlns:a16="http://schemas.microsoft.com/office/drawing/2014/main" val="10000"/>
                  </a:ext>
                </a:extLst>
              </a:tr>
              <a:tr h="458347">
                <a:tc vMerge="1">
                  <a:txBody>
                    <a:bodyPr/>
                    <a:lstStyle/>
                    <a:p>
                      <a:endParaRPr lang="zh-CN"/>
                    </a:p>
                  </a:txBody>
                  <a:tcPr anchor="ctr"/>
                </a:tc>
                <a:tc>
                  <a:txBody>
                    <a:bodyPr/>
                    <a:lstStyle/>
                    <a:p>
                      <a:pPr marL="0" algn="ctr" defTabSz="1219200" rtl="0" eaLnBrk="1" latinLnBrk="0" hangingPunct="1">
                        <a:lnSpc>
                          <a:spcPct val="90000"/>
                        </a:lnSpc>
                        <a:buNone/>
                      </a:pPr>
                      <a:r>
                        <a:rPr lang="en-US" altLang="zh-CN" sz="1800" b="1" kern="1200">
                          <a:solidFill>
                            <a:schemeClr val="lt1"/>
                          </a:solidFill>
                          <a:latin typeface="微软雅黑" panose="020B0503020204020204" pitchFamily="34" charset="-122"/>
                          <a:ea typeface="微软雅黑" panose="020B0503020204020204" pitchFamily="34" charset="-122"/>
                          <a:cs typeface="+mn-cs"/>
                        </a:rPr>
                        <a:t>服务器</a:t>
                      </a:r>
                    </a:p>
                  </a:txBody>
                  <a:tcPr anchor="ctr">
                    <a:solidFill>
                      <a:srgbClr val="1369B2"/>
                    </a:solidFill>
                  </a:tcPr>
                </a:tc>
                <a:tc>
                  <a:txBody>
                    <a:bodyPr/>
                    <a:lstStyle/>
                    <a:p>
                      <a:pPr marL="0" algn="ctr" defTabSz="1219200" rtl="0" eaLnBrk="1" latinLnBrk="0" hangingPunct="1">
                        <a:lnSpc>
                          <a:spcPct val="90000"/>
                        </a:lnSpc>
                        <a:buNone/>
                      </a:pPr>
                      <a:r>
                        <a:rPr lang="en-US" altLang="zh-CN" sz="1800" b="1" kern="1200">
                          <a:solidFill>
                            <a:schemeClr val="lt1"/>
                          </a:solidFill>
                          <a:latin typeface="微软雅黑" panose="020B0503020204020204" pitchFamily="34" charset="-122"/>
                          <a:ea typeface="微软雅黑" panose="020B0503020204020204" pitchFamily="34" charset="-122"/>
                          <a:cs typeface="+mn-cs"/>
                        </a:rPr>
                        <a:t>操作系统</a:t>
                      </a:r>
                    </a:p>
                  </a:txBody>
                  <a:tcPr anchor="ctr">
                    <a:solidFill>
                      <a:srgbClr val="1369B2"/>
                    </a:solidFill>
                  </a:tcPr>
                </a:tc>
                <a:tc>
                  <a:txBody>
                    <a:bodyPr/>
                    <a:lstStyle/>
                    <a:p>
                      <a:pPr marL="0" algn="ctr" defTabSz="1219200" rtl="0" eaLnBrk="1" latinLnBrk="0" hangingPunct="1">
                        <a:lnSpc>
                          <a:spcPct val="90000"/>
                        </a:lnSpc>
                        <a:buNone/>
                      </a:pPr>
                      <a:r>
                        <a:rPr lang="zh-CN" altLang="en-US" sz="1800" b="1" kern="1200" dirty="0">
                          <a:solidFill>
                            <a:schemeClr val="lt1"/>
                          </a:solidFill>
                          <a:latin typeface="微软雅黑" panose="020B0503020204020204" pitchFamily="34" charset="-122"/>
                          <a:ea typeface="微软雅黑" panose="020B0503020204020204" pitchFamily="34" charset="-122"/>
                          <a:cs typeface="+mn-cs"/>
                        </a:rPr>
                        <a:t>网络</a:t>
                      </a:r>
                      <a:endParaRPr lang="en-US" altLang="zh-CN" sz="1800" b="1" kern="1200" dirty="0">
                        <a:solidFill>
                          <a:schemeClr val="lt1"/>
                        </a:solidFill>
                        <a:latin typeface="微软雅黑" panose="020B0503020204020204" pitchFamily="34" charset="-122"/>
                        <a:ea typeface="微软雅黑" panose="020B0503020204020204" pitchFamily="34" charset="-122"/>
                        <a:cs typeface="+mn-cs"/>
                      </a:endParaRPr>
                    </a:p>
                  </a:txBody>
                  <a:tcPr anchor="ctr">
                    <a:solidFill>
                      <a:srgbClr val="1369B2"/>
                    </a:solidFill>
                  </a:tcPr>
                </a:tc>
                <a:tc>
                  <a:txBody>
                    <a:bodyPr/>
                    <a:lstStyle/>
                    <a:p>
                      <a:pPr marL="0" algn="ctr" defTabSz="1219200" rtl="0" eaLnBrk="1" latinLnBrk="0" hangingPunct="1">
                        <a:lnSpc>
                          <a:spcPct val="90000"/>
                        </a:lnSpc>
                        <a:buNone/>
                      </a:pPr>
                      <a:r>
                        <a:rPr lang="zh-CN" altLang="en-US" sz="1800" b="1" kern="1200">
                          <a:solidFill>
                            <a:schemeClr val="lt1"/>
                          </a:solidFill>
                          <a:latin typeface="微软雅黑" panose="020B0503020204020204" pitchFamily="34" charset="-122"/>
                          <a:ea typeface="微软雅黑" panose="020B0503020204020204" pitchFamily="34" charset="-122"/>
                          <a:cs typeface="+mn-cs"/>
                        </a:rPr>
                        <a:t>浏览器</a:t>
                      </a:r>
                    </a:p>
                  </a:txBody>
                  <a:tcPr anchor="ctr">
                    <a:solidFill>
                      <a:srgbClr val="1369B2"/>
                    </a:solidFill>
                  </a:tcPr>
                </a:tc>
                <a:extLst>
                  <a:ext uri="{0D108BD9-81ED-4DB2-BD59-A6C34878D82A}">
                    <a16:rowId xmlns:a16="http://schemas.microsoft.com/office/drawing/2014/main" val="10001"/>
                  </a:ext>
                </a:extLst>
              </a:tr>
              <a:tr h="317859">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1</a:t>
                      </a:r>
                    </a:p>
                  </a:txBody>
                  <a:tcPr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sym typeface="+mn-ea"/>
                        </a:rPr>
                        <a:t>IIS</a:t>
                      </a:r>
                    </a:p>
                  </a:txBody>
                  <a:tcPr marL="68580" marR="68580" marT="0" marB="0" anchor="ctr"/>
                </a:tc>
                <a:tc>
                  <a:txBody>
                    <a:bodyPr/>
                    <a:lstStyle/>
                    <a:p>
                      <a:pPr algn="ctr">
                        <a:spcAft>
                          <a:spcPts val="0"/>
                        </a:spcAft>
                      </a:pPr>
                      <a:r>
                        <a:rPr lang="en-US" sz="1800" kern="1200" dirty="0">
                          <a:solidFill>
                            <a:srgbClr val="595959"/>
                          </a:solidFill>
                          <a:latin typeface="微软雅黑" panose="020B0503020204020204" pitchFamily="34" charset="-122"/>
                          <a:ea typeface="微软雅黑" panose="020B0503020204020204" pitchFamily="34" charset="-122"/>
                          <a:cs typeface="+mn-cs"/>
                        </a:rPr>
                        <a:t>MacOS</a:t>
                      </a:r>
                    </a:p>
                  </a:txBody>
                  <a:tcPr marL="68580" marR="68580" marT="0" marB="0" anchor="ctr"/>
                </a:tc>
                <a:tc>
                  <a:txBody>
                    <a:bodyPr/>
                    <a:lstStyle/>
                    <a:p>
                      <a:pPr algn="ctr">
                        <a:spcAft>
                          <a:spcPts val="0"/>
                        </a:spcAft>
                      </a:pPr>
                      <a:r>
                        <a:rPr lang="en-US" altLang="zh-CN" sz="1800" kern="1200" dirty="0">
                          <a:solidFill>
                            <a:srgbClr val="595959"/>
                          </a:solidFill>
                          <a:latin typeface="微软雅黑" panose="020B0503020204020204" pitchFamily="34" charset="-122"/>
                          <a:ea typeface="微软雅黑" panose="020B0503020204020204" pitchFamily="34" charset="-122"/>
                          <a:cs typeface="+mn-cs"/>
                        </a:rPr>
                        <a:t>4G</a:t>
                      </a:r>
                      <a:endParaRPr lang="zh-CN" altLang="en-US" sz="1800" kern="1200" dirty="0">
                        <a:solidFill>
                          <a:srgbClr val="595959"/>
                        </a:solidFill>
                        <a:latin typeface="微软雅黑" panose="020B0503020204020204" pitchFamily="34" charset="-122"/>
                        <a:ea typeface="微软雅黑" panose="020B0503020204020204" pitchFamily="34" charset="-122"/>
                        <a:cs typeface="+mn-cs"/>
                      </a:endParaRPr>
                    </a:p>
                  </a:txBody>
                  <a:tcPr marL="68580" marR="68580" marT="0" marB="0" anchor="ctr"/>
                </a:tc>
                <a:tc>
                  <a:txBody>
                    <a:bodyPr/>
                    <a:lstStyle/>
                    <a:p>
                      <a:pPr algn="ctr">
                        <a:spcAft>
                          <a:spcPts val="0"/>
                        </a:spcAft>
                        <a:buNone/>
                      </a:pPr>
                      <a:r>
                        <a:rPr lang="en-US" altLang="en-US" sz="1800" kern="1200" dirty="0">
                          <a:solidFill>
                            <a:srgbClr val="595959"/>
                          </a:solidFill>
                          <a:latin typeface="微软雅黑" panose="020B0503020204020204" pitchFamily="34" charset="-122"/>
                          <a:ea typeface="微软雅黑" panose="020B0503020204020204" pitchFamily="34" charset="-122"/>
                          <a:cs typeface="+mn-cs"/>
                        </a:rPr>
                        <a:t>Edge</a:t>
                      </a:r>
                    </a:p>
                  </a:txBody>
                  <a:tcPr marL="68580" marR="68580" marT="0" marB="0" anchor="ctr"/>
                </a:tc>
                <a:extLst>
                  <a:ext uri="{0D108BD9-81ED-4DB2-BD59-A6C34878D82A}">
                    <a16:rowId xmlns:a16="http://schemas.microsoft.com/office/drawing/2014/main" val="10002"/>
                  </a:ext>
                </a:extLst>
              </a:tr>
              <a:tr h="468653">
                <a:tc>
                  <a:txBody>
                    <a:bodyPr/>
                    <a:lstStyle/>
                    <a:p>
                      <a:pPr algn="ctr">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2</a:t>
                      </a:r>
                    </a:p>
                  </a:txBody>
                  <a:tcPr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IIS</a:t>
                      </a:r>
                    </a:p>
                  </a:txBody>
                  <a:tcPr marL="68580" marR="68580" marT="0" marB="0" anchor="ctr"/>
                </a:tc>
                <a:tc>
                  <a:txBody>
                    <a:bodyPr/>
                    <a:lstStyle/>
                    <a:p>
                      <a:pPr algn="ctr">
                        <a:spcAft>
                          <a:spcPts val="0"/>
                        </a:spcAft>
                      </a:pPr>
                      <a:r>
                        <a:rPr lang="en-US" sz="1800" kern="1200" dirty="0">
                          <a:solidFill>
                            <a:srgbClr val="595959"/>
                          </a:solidFill>
                          <a:latin typeface="微软雅黑" panose="020B0503020204020204" pitchFamily="34" charset="-122"/>
                          <a:ea typeface="微软雅黑" panose="020B0503020204020204" pitchFamily="34" charset="-122"/>
                          <a:cs typeface="+mn-cs"/>
                        </a:rPr>
                        <a:t>Windows</a:t>
                      </a:r>
                    </a:p>
                  </a:txBody>
                  <a:tcPr marL="68580" marR="68580" marT="0" marB="0" anchor="ctr"/>
                </a:tc>
                <a:tc>
                  <a:txBody>
                    <a:bodyPr/>
                    <a:lstStyle/>
                    <a:p>
                      <a:pPr algn="ctr">
                        <a:spcAft>
                          <a:spcPts val="0"/>
                        </a:spcAft>
                      </a:pPr>
                      <a:r>
                        <a:rPr lang="en-US" sz="1800" kern="1200" dirty="0">
                          <a:solidFill>
                            <a:srgbClr val="595959"/>
                          </a:solidFill>
                          <a:latin typeface="微软雅黑" panose="020B0503020204020204" pitchFamily="34" charset="-122"/>
                          <a:ea typeface="微软雅黑" panose="020B0503020204020204" pitchFamily="34" charset="-122"/>
                          <a:cs typeface="+mn-cs"/>
                        </a:rPr>
                        <a:t>5G</a:t>
                      </a:r>
                    </a:p>
                  </a:txBody>
                  <a:tcPr marL="68580" marR="68580" marT="0" marB="0" anchor="ctr"/>
                </a:tc>
                <a:tc>
                  <a:txBody>
                    <a:bodyPr/>
                    <a:lstStyle/>
                    <a:p>
                      <a:pPr algn="ctr">
                        <a:spcAft>
                          <a:spcPts val="0"/>
                        </a:spcAft>
                        <a:buNone/>
                      </a:pPr>
                      <a:r>
                        <a:rPr lang="en-US" altLang="en-US" sz="1800" kern="1200" dirty="0">
                          <a:solidFill>
                            <a:srgbClr val="595959"/>
                          </a:solidFill>
                          <a:latin typeface="微软雅黑" panose="020B0503020204020204" pitchFamily="34" charset="-122"/>
                          <a:ea typeface="微软雅黑" panose="020B0503020204020204" pitchFamily="34" charset="-122"/>
                          <a:cs typeface="+mn-cs"/>
                        </a:rPr>
                        <a:t>Chrome</a:t>
                      </a:r>
                    </a:p>
                  </a:txBody>
                  <a:tcPr marL="68580" marR="68580" marT="0" marB="0" anchor="ctr"/>
                </a:tc>
                <a:extLst>
                  <a:ext uri="{0D108BD9-81ED-4DB2-BD59-A6C34878D82A}">
                    <a16:rowId xmlns:a16="http://schemas.microsoft.com/office/drawing/2014/main" val="10003"/>
                  </a:ext>
                </a:extLst>
              </a:tr>
              <a:tr h="370474">
                <a:tc>
                  <a:txBody>
                    <a:bodyPr/>
                    <a:lstStyle/>
                    <a:p>
                      <a:pPr algn="ctr">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3</a:t>
                      </a:r>
                    </a:p>
                  </a:txBody>
                  <a:tcPr anchor="ctr"/>
                </a:tc>
                <a:tc>
                  <a:txBody>
                    <a:bodyPr/>
                    <a:lstStyle/>
                    <a:p>
                      <a:pPr algn="ctr">
                        <a:spcAft>
                          <a:spcPts val="0"/>
                        </a:spcAft>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IIS</a:t>
                      </a:r>
                    </a:p>
                  </a:txBody>
                  <a:tcPr marL="68580" marR="68580" marT="0" marB="0" anchor="ctr"/>
                </a:tc>
                <a:tc>
                  <a:txBody>
                    <a:bodyPr/>
                    <a:lstStyle/>
                    <a:p>
                      <a:pPr algn="ctr">
                        <a:spcAft>
                          <a:spcPts val="0"/>
                        </a:spcAft>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Linux</a:t>
                      </a:r>
                    </a:p>
                  </a:txBody>
                  <a:tcPr marL="68580" marR="68580" marT="0" marB="0" anchor="ctr"/>
                </a:tc>
                <a:tc>
                  <a:txBody>
                    <a:bodyPr/>
                    <a:lstStyle/>
                    <a:p>
                      <a:pPr algn="ctr">
                        <a:spcAft>
                          <a:spcPts val="0"/>
                        </a:spcAft>
                        <a:buNone/>
                      </a:pPr>
                      <a:r>
                        <a:rPr lang="en-US" altLang="zh-CN" sz="1800" kern="1200" dirty="0">
                          <a:solidFill>
                            <a:srgbClr val="595959"/>
                          </a:solidFill>
                          <a:latin typeface="微软雅黑" panose="020B0503020204020204" pitchFamily="34" charset="-122"/>
                          <a:ea typeface="微软雅黑" panose="020B0503020204020204" pitchFamily="34" charset="-122"/>
                          <a:cs typeface="+mn-cs"/>
                        </a:rPr>
                        <a:t>5GA</a:t>
                      </a:r>
                      <a:endParaRPr lang="zh-CN" altLang="en-US" sz="1800" kern="1200" dirty="0">
                        <a:solidFill>
                          <a:srgbClr val="595959"/>
                        </a:solidFill>
                        <a:latin typeface="微软雅黑" panose="020B0503020204020204" pitchFamily="34" charset="-122"/>
                        <a:ea typeface="微软雅黑" panose="020B0503020204020204" pitchFamily="34" charset="-122"/>
                        <a:cs typeface="+mn-cs"/>
                      </a:endParaRPr>
                    </a:p>
                  </a:txBody>
                  <a:tcPr marL="68580" marR="68580" marT="0" marB="0" anchor="ctr"/>
                </a:tc>
                <a:tc>
                  <a:txBody>
                    <a:bodyPr/>
                    <a:lstStyle/>
                    <a:p>
                      <a:pPr algn="ctr">
                        <a:spcAft>
                          <a:spcPts val="0"/>
                        </a:spcAft>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FireFox</a:t>
                      </a:r>
                    </a:p>
                  </a:txBody>
                  <a:tcPr marL="68580" marR="68580" marT="0" marB="0" anchor="ctr"/>
                </a:tc>
                <a:extLst>
                  <a:ext uri="{0D108BD9-81ED-4DB2-BD59-A6C34878D82A}">
                    <a16:rowId xmlns:a16="http://schemas.microsoft.com/office/drawing/2014/main" val="10004"/>
                  </a:ext>
                </a:extLst>
              </a:tr>
              <a:tr h="312435">
                <a:tc>
                  <a:txBody>
                    <a:bodyPr/>
                    <a:lstStyle/>
                    <a:p>
                      <a:pPr algn="ctr">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4</a:t>
                      </a:r>
                    </a:p>
                  </a:txBody>
                  <a:tcPr anchor="ctr"/>
                </a:tc>
                <a:tc>
                  <a:txBody>
                    <a:bodyPr/>
                    <a:lstStyle/>
                    <a:p>
                      <a:pPr algn="ctr">
                        <a:spcAft>
                          <a:spcPts val="0"/>
                        </a:spcAft>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Apache</a:t>
                      </a:r>
                    </a:p>
                  </a:txBody>
                  <a:tcPr marL="68580" marR="68580" marT="0" marB="0" anchor="ctr"/>
                </a:tc>
                <a:tc>
                  <a:txBody>
                    <a:bodyPr/>
                    <a:lstStyle/>
                    <a:p>
                      <a:pPr algn="ctr">
                        <a:spcAft>
                          <a:spcPts val="0"/>
                        </a:spcAft>
                      </a:pPr>
                      <a:r>
                        <a:rPr lang="en-US" sz="1800" kern="1200" dirty="0">
                          <a:solidFill>
                            <a:srgbClr val="595959"/>
                          </a:solidFill>
                          <a:latin typeface="微软雅黑" panose="020B0503020204020204" pitchFamily="34" charset="-122"/>
                          <a:ea typeface="微软雅黑" panose="020B0503020204020204" pitchFamily="34" charset="-122"/>
                          <a:cs typeface="+mn-cs"/>
                        </a:rPr>
                        <a:t>MacOS</a:t>
                      </a:r>
                    </a:p>
                  </a:txBody>
                  <a:tcPr marL="68580" marR="68580" marT="0" marB="0" anchor="ctr"/>
                </a:tc>
                <a:tc>
                  <a:txBody>
                    <a:bodyPr/>
                    <a:lstStyle/>
                    <a:p>
                      <a:pPr algn="ctr">
                        <a:spcAft>
                          <a:spcPts val="0"/>
                        </a:spcAft>
                        <a:buNone/>
                      </a:pPr>
                      <a:r>
                        <a:rPr lang="en-US" sz="1800" kern="1200" dirty="0">
                          <a:solidFill>
                            <a:srgbClr val="595959"/>
                          </a:solidFill>
                          <a:latin typeface="微软雅黑" panose="020B0503020204020204" pitchFamily="34" charset="-122"/>
                          <a:ea typeface="微软雅黑" panose="020B0503020204020204" pitchFamily="34" charset="-122"/>
                          <a:cs typeface="+mn-cs"/>
                          <a:sym typeface="+mn-ea"/>
                        </a:rPr>
                        <a:t>5G</a:t>
                      </a:r>
                      <a:endParaRPr lang="en-US" altLang="en-US" sz="1800" kern="1200" dirty="0">
                        <a:solidFill>
                          <a:srgbClr val="595959"/>
                        </a:solidFill>
                        <a:latin typeface="微软雅黑" panose="020B0503020204020204" pitchFamily="34" charset="-122"/>
                        <a:ea typeface="微软雅黑" panose="020B0503020204020204" pitchFamily="34" charset="-122"/>
                        <a:cs typeface="+mn-cs"/>
                      </a:endParaRPr>
                    </a:p>
                  </a:txBody>
                  <a:tcPr marL="68580" marR="68580" marT="0" marB="0" anchor="ctr"/>
                </a:tc>
                <a:tc>
                  <a:txBody>
                    <a:bodyPr/>
                    <a:lstStyle/>
                    <a:p>
                      <a:pPr algn="ctr">
                        <a:spcAft>
                          <a:spcPts val="0"/>
                        </a:spcAft>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FireFox</a:t>
                      </a:r>
                    </a:p>
                  </a:txBody>
                  <a:tcPr marL="68580" marR="68580" marT="0" marB="0" anchor="ctr"/>
                </a:tc>
                <a:extLst>
                  <a:ext uri="{0D108BD9-81ED-4DB2-BD59-A6C34878D82A}">
                    <a16:rowId xmlns:a16="http://schemas.microsoft.com/office/drawing/2014/main" val="10005"/>
                  </a:ext>
                </a:extLst>
              </a:tr>
              <a:tr h="468653">
                <a:tc>
                  <a:txBody>
                    <a:bodyPr/>
                    <a:lstStyle/>
                    <a:p>
                      <a:pPr algn="ctr">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5</a:t>
                      </a:r>
                    </a:p>
                  </a:txBody>
                  <a:tcPr anchor="ctr"/>
                </a:tc>
                <a:tc>
                  <a:txBody>
                    <a:bodyPr/>
                    <a:lstStyle/>
                    <a:p>
                      <a:pPr algn="ctr">
                        <a:spcAft>
                          <a:spcPts val="0"/>
                        </a:spcAft>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Apache</a:t>
                      </a:r>
                    </a:p>
                  </a:txBody>
                  <a:tcPr marL="68580" marR="68580" marT="0" marB="0" anchor="ctr"/>
                </a:tc>
                <a:tc>
                  <a:txBody>
                    <a:bodyPr/>
                    <a:lstStyle/>
                    <a:p>
                      <a:pPr algn="ctr">
                        <a:spcAft>
                          <a:spcPts val="0"/>
                        </a:spcAft>
                      </a:pPr>
                      <a:r>
                        <a:rPr lang="en-US" sz="1800" kern="1200" dirty="0">
                          <a:solidFill>
                            <a:srgbClr val="595959"/>
                          </a:solidFill>
                          <a:latin typeface="微软雅黑" panose="020B0503020204020204" pitchFamily="34" charset="-122"/>
                          <a:ea typeface="微软雅黑" panose="020B0503020204020204" pitchFamily="34" charset="-122"/>
                          <a:cs typeface="+mn-cs"/>
                        </a:rPr>
                        <a:t>Windows</a:t>
                      </a:r>
                    </a:p>
                  </a:txBody>
                  <a:tcPr marL="68580" marR="68580" marT="0" marB="0" anchor="ctr"/>
                </a:tc>
                <a:tc>
                  <a:txBody>
                    <a:bodyPr/>
                    <a:lstStyle/>
                    <a:p>
                      <a:pPr algn="ctr">
                        <a:spcAft>
                          <a:spcPts val="0"/>
                        </a:spcAft>
                        <a:buNone/>
                      </a:pPr>
                      <a:r>
                        <a:rPr lang="en-US" altLang="en-US" sz="1800" kern="1200" dirty="0">
                          <a:solidFill>
                            <a:srgbClr val="595959"/>
                          </a:solidFill>
                          <a:latin typeface="微软雅黑" panose="020B0503020204020204" pitchFamily="34" charset="-122"/>
                          <a:ea typeface="微软雅黑" panose="020B0503020204020204" pitchFamily="34" charset="-122"/>
                          <a:cs typeface="+mn-cs"/>
                          <a:sym typeface="+mn-ea"/>
                        </a:rPr>
                        <a:t>5GA</a:t>
                      </a:r>
                      <a:endParaRPr lang="en-US" altLang="en-US" sz="1800" kern="1200" dirty="0">
                        <a:solidFill>
                          <a:srgbClr val="595959"/>
                        </a:solidFill>
                        <a:latin typeface="微软雅黑" panose="020B0503020204020204" pitchFamily="34" charset="-122"/>
                        <a:ea typeface="微软雅黑" panose="020B0503020204020204" pitchFamily="34" charset="-122"/>
                        <a:cs typeface="+mn-cs"/>
                      </a:endParaRPr>
                    </a:p>
                  </a:txBody>
                  <a:tcPr marL="68580" marR="68580" marT="0" marB="0" anchor="ctr"/>
                </a:tc>
                <a:tc>
                  <a:txBody>
                    <a:bodyPr/>
                    <a:lstStyle/>
                    <a:p>
                      <a:pPr algn="ctr">
                        <a:spcAft>
                          <a:spcPts val="0"/>
                        </a:spcAft>
                        <a:buNone/>
                      </a:pPr>
                      <a:r>
                        <a:rPr lang="en-US" altLang="en-US" sz="1800" kern="1200" dirty="0">
                          <a:solidFill>
                            <a:srgbClr val="595959"/>
                          </a:solidFill>
                          <a:latin typeface="微软雅黑" panose="020B0503020204020204" pitchFamily="34" charset="-122"/>
                          <a:ea typeface="微软雅黑" panose="020B0503020204020204" pitchFamily="34" charset="-122"/>
                          <a:cs typeface="+mn-cs"/>
                        </a:rPr>
                        <a:t>Edge</a:t>
                      </a:r>
                    </a:p>
                  </a:txBody>
                  <a:tcPr marL="68580" marR="68580" marT="0" marB="0" anchor="ctr"/>
                </a:tc>
                <a:extLst>
                  <a:ext uri="{0D108BD9-81ED-4DB2-BD59-A6C34878D82A}">
                    <a16:rowId xmlns:a16="http://schemas.microsoft.com/office/drawing/2014/main" val="10006"/>
                  </a:ext>
                </a:extLst>
              </a:tr>
              <a:tr h="321114">
                <a:tc>
                  <a:txBody>
                    <a:bodyPr/>
                    <a:lstStyle/>
                    <a:p>
                      <a:pPr algn="ctr">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6</a:t>
                      </a:r>
                    </a:p>
                  </a:txBody>
                  <a:tcPr anchor="ctr"/>
                </a:tc>
                <a:tc>
                  <a:txBody>
                    <a:bodyPr/>
                    <a:lstStyle/>
                    <a:p>
                      <a:pPr algn="ctr">
                        <a:spcAft>
                          <a:spcPts val="0"/>
                        </a:spcAft>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Apache</a:t>
                      </a:r>
                    </a:p>
                  </a:txBody>
                  <a:tcPr marL="68580" marR="68580" marT="0" marB="0" anchor="ctr"/>
                </a:tc>
                <a:tc>
                  <a:txBody>
                    <a:bodyPr/>
                    <a:lstStyle/>
                    <a:p>
                      <a:pPr algn="ctr">
                        <a:spcAft>
                          <a:spcPts val="0"/>
                        </a:spcAft>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Linux</a:t>
                      </a:r>
                    </a:p>
                  </a:txBody>
                  <a:tcPr marL="68580" marR="68580" marT="0" marB="0" anchor="ctr"/>
                </a:tc>
                <a:tc>
                  <a:txBody>
                    <a:bodyPr/>
                    <a:lstStyle/>
                    <a:p>
                      <a:pPr algn="ctr">
                        <a:spcAft>
                          <a:spcPts val="0"/>
                        </a:spcAft>
                        <a:buNone/>
                      </a:pPr>
                      <a:r>
                        <a:rPr lang="en-US" altLang="zh-CN" sz="1800" kern="1200" dirty="0">
                          <a:solidFill>
                            <a:srgbClr val="595959"/>
                          </a:solidFill>
                          <a:latin typeface="微软雅黑" panose="020B0503020204020204" pitchFamily="34" charset="-122"/>
                          <a:ea typeface="微软雅黑" panose="020B0503020204020204" pitchFamily="34" charset="-122"/>
                          <a:cs typeface="+mn-cs"/>
                        </a:rPr>
                        <a:t>4G</a:t>
                      </a:r>
                      <a:endParaRPr lang="zh-CN" altLang="en-US" sz="1800" kern="1200" dirty="0">
                        <a:solidFill>
                          <a:srgbClr val="595959"/>
                        </a:solidFill>
                        <a:latin typeface="微软雅黑" panose="020B0503020204020204" pitchFamily="34" charset="-122"/>
                        <a:ea typeface="微软雅黑" panose="020B0503020204020204" pitchFamily="34" charset="-122"/>
                        <a:cs typeface="+mn-cs"/>
                      </a:endParaRPr>
                    </a:p>
                  </a:txBody>
                  <a:tcPr marL="68580" marR="68580" marT="0" marB="0" anchor="ctr"/>
                </a:tc>
                <a:tc>
                  <a:txBody>
                    <a:bodyPr/>
                    <a:lstStyle/>
                    <a:p>
                      <a:pPr algn="ctr">
                        <a:spcAft>
                          <a:spcPts val="0"/>
                        </a:spcAft>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Chrome</a:t>
                      </a:r>
                    </a:p>
                  </a:txBody>
                  <a:tcPr marL="68580" marR="68580" marT="0" marB="0" anchor="ctr"/>
                </a:tc>
                <a:extLst>
                  <a:ext uri="{0D108BD9-81ED-4DB2-BD59-A6C34878D82A}">
                    <a16:rowId xmlns:a16="http://schemas.microsoft.com/office/drawing/2014/main" val="10007"/>
                  </a:ext>
                </a:extLst>
              </a:tr>
              <a:tr h="321656">
                <a:tc>
                  <a:txBody>
                    <a:bodyPr/>
                    <a:lstStyle/>
                    <a:p>
                      <a:pPr algn="ctr">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7</a:t>
                      </a:r>
                    </a:p>
                  </a:txBody>
                  <a:tcPr anchor="ctr"/>
                </a:tc>
                <a:tc>
                  <a:txBody>
                    <a:bodyPr/>
                    <a:lstStyle/>
                    <a:p>
                      <a:pPr algn="ctr">
                        <a:spcAft>
                          <a:spcPts val="0"/>
                        </a:spcAft>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Jetty</a:t>
                      </a:r>
                    </a:p>
                  </a:txBody>
                  <a:tcPr marL="68580" marR="68580" marT="0" marB="0" anchor="ctr"/>
                </a:tc>
                <a:tc>
                  <a:txBody>
                    <a:bodyPr/>
                    <a:lstStyle/>
                    <a:p>
                      <a:pPr algn="ctr">
                        <a:spcAft>
                          <a:spcPts val="0"/>
                        </a:spcAft>
                      </a:pPr>
                      <a:r>
                        <a:rPr lang="en-US" sz="1800" kern="1200" dirty="0">
                          <a:solidFill>
                            <a:srgbClr val="595959"/>
                          </a:solidFill>
                          <a:latin typeface="微软雅黑" panose="020B0503020204020204" pitchFamily="34" charset="-122"/>
                          <a:ea typeface="微软雅黑" panose="020B0503020204020204" pitchFamily="34" charset="-122"/>
                          <a:cs typeface="+mn-cs"/>
                        </a:rPr>
                        <a:t>MacOS</a:t>
                      </a:r>
                    </a:p>
                  </a:txBody>
                  <a:tcPr marL="68580" marR="68580" marT="0" marB="0" anchor="ctr"/>
                </a:tc>
                <a:tc>
                  <a:txBody>
                    <a:bodyPr/>
                    <a:lstStyle/>
                    <a:p>
                      <a:pPr algn="ctr">
                        <a:spcAft>
                          <a:spcPts val="0"/>
                        </a:spcAft>
                        <a:buNone/>
                      </a:pPr>
                      <a:r>
                        <a:rPr lang="en-US" altLang="en-US" sz="1800" kern="1200" dirty="0">
                          <a:solidFill>
                            <a:srgbClr val="595959"/>
                          </a:solidFill>
                          <a:latin typeface="微软雅黑" panose="020B0503020204020204" pitchFamily="34" charset="-122"/>
                          <a:ea typeface="微软雅黑" panose="020B0503020204020204" pitchFamily="34" charset="-122"/>
                          <a:cs typeface="+mn-cs"/>
                          <a:sym typeface="+mn-ea"/>
                        </a:rPr>
                        <a:t>5GA</a:t>
                      </a:r>
                      <a:endParaRPr lang="en-US" altLang="en-US" sz="1800" kern="1200" dirty="0">
                        <a:solidFill>
                          <a:srgbClr val="595959"/>
                        </a:solidFill>
                        <a:latin typeface="微软雅黑" panose="020B0503020204020204" pitchFamily="34" charset="-122"/>
                        <a:ea typeface="微软雅黑" panose="020B0503020204020204" pitchFamily="34" charset="-122"/>
                        <a:cs typeface="+mn-cs"/>
                      </a:endParaRPr>
                    </a:p>
                  </a:txBody>
                  <a:tcPr marL="68580" marR="68580" marT="0" marB="0" anchor="ctr"/>
                </a:tc>
                <a:tc>
                  <a:txBody>
                    <a:bodyPr/>
                    <a:lstStyle/>
                    <a:p>
                      <a:pPr algn="ctr">
                        <a:spcAft>
                          <a:spcPts val="0"/>
                        </a:spcAft>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Chrome</a:t>
                      </a:r>
                    </a:p>
                  </a:txBody>
                  <a:tcPr marL="68580" marR="68580" marT="0" marB="0" anchor="ctr"/>
                </a:tc>
                <a:extLst>
                  <a:ext uri="{0D108BD9-81ED-4DB2-BD59-A6C34878D82A}">
                    <a16:rowId xmlns:a16="http://schemas.microsoft.com/office/drawing/2014/main" val="10008"/>
                  </a:ext>
                </a:extLst>
              </a:tr>
              <a:tr h="468653">
                <a:tc>
                  <a:txBody>
                    <a:bodyPr/>
                    <a:lstStyle/>
                    <a:p>
                      <a:pPr algn="ctr">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8</a:t>
                      </a:r>
                    </a:p>
                  </a:txBody>
                  <a:tcPr anchor="ctr"/>
                </a:tc>
                <a:tc>
                  <a:txBody>
                    <a:bodyPr/>
                    <a:lstStyle/>
                    <a:p>
                      <a:pPr algn="ctr">
                        <a:spcAft>
                          <a:spcPts val="0"/>
                        </a:spcAft>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Jetty</a:t>
                      </a:r>
                    </a:p>
                  </a:txBody>
                  <a:tcPr marL="68580" marR="68580" marT="0" marB="0" anchor="ctr"/>
                </a:tc>
                <a:tc>
                  <a:txBody>
                    <a:bodyPr/>
                    <a:lstStyle/>
                    <a:p>
                      <a:pPr algn="ctr">
                        <a:spcAft>
                          <a:spcPts val="0"/>
                        </a:spcAft>
                      </a:pPr>
                      <a:r>
                        <a:rPr lang="en-US" sz="1800" kern="1200" dirty="0">
                          <a:solidFill>
                            <a:srgbClr val="595959"/>
                          </a:solidFill>
                          <a:latin typeface="微软雅黑" panose="020B0503020204020204" pitchFamily="34" charset="-122"/>
                          <a:ea typeface="微软雅黑" panose="020B0503020204020204" pitchFamily="34" charset="-122"/>
                          <a:cs typeface="+mn-cs"/>
                        </a:rPr>
                        <a:t>Windows</a:t>
                      </a:r>
                    </a:p>
                  </a:txBody>
                  <a:tcPr marL="68580" marR="68580" marT="0" marB="0" anchor="ctr"/>
                </a:tc>
                <a:tc>
                  <a:txBody>
                    <a:bodyPr/>
                    <a:lstStyle/>
                    <a:p>
                      <a:pPr algn="ctr">
                        <a:spcAft>
                          <a:spcPts val="0"/>
                        </a:spcAft>
                        <a:buNone/>
                      </a:pPr>
                      <a:r>
                        <a:rPr lang="en-US" altLang="en-US" sz="1800" kern="1200" dirty="0">
                          <a:solidFill>
                            <a:srgbClr val="595959"/>
                          </a:solidFill>
                          <a:latin typeface="微软雅黑" panose="020B0503020204020204" pitchFamily="34" charset="-122"/>
                          <a:ea typeface="微软雅黑" panose="020B0503020204020204" pitchFamily="34" charset="-122"/>
                          <a:cs typeface="+mn-cs"/>
                          <a:sym typeface="+mn-ea"/>
                        </a:rPr>
                        <a:t>4G</a:t>
                      </a:r>
                      <a:endParaRPr lang="en-US" altLang="en-US" sz="1800" kern="1200" dirty="0">
                        <a:solidFill>
                          <a:srgbClr val="595959"/>
                        </a:solidFill>
                        <a:latin typeface="微软雅黑" panose="020B0503020204020204" pitchFamily="34" charset="-122"/>
                        <a:ea typeface="微软雅黑" panose="020B0503020204020204" pitchFamily="34" charset="-122"/>
                        <a:cs typeface="+mn-cs"/>
                      </a:endParaRPr>
                    </a:p>
                  </a:txBody>
                  <a:tcPr marL="68580" marR="68580" marT="0" marB="0" anchor="ctr"/>
                </a:tc>
                <a:tc>
                  <a:txBody>
                    <a:bodyPr/>
                    <a:lstStyle/>
                    <a:p>
                      <a:pPr algn="ctr">
                        <a:spcAft>
                          <a:spcPts val="0"/>
                        </a:spcAft>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FireFox</a:t>
                      </a:r>
                    </a:p>
                  </a:txBody>
                  <a:tcPr marL="68580" marR="68580" marT="0" marB="0" anchor="ctr"/>
                </a:tc>
                <a:extLst>
                  <a:ext uri="{0D108BD9-81ED-4DB2-BD59-A6C34878D82A}">
                    <a16:rowId xmlns:a16="http://schemas.microsoft.com/office/drawing/2014/main" val="10009"/>
                  </a:ext>
                </a:extLst>
              </a:tr>
              <a:tr h="353659">
                <a:tc>
                  <a:txBody>
                    <a:bodyPr/>
                    <a:lstStyle/>
                    <a:p>
                      <a:pPr algn="ctr">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9</a:t>
                      </a:r>
                    </a:p>
                  </a:txBody>
                  <a:tcPr anchor="ctr"/>
                </a:tc>
                <a:tc>
                  <a:txBody>
                    <a:bodyPr/>
                    <a:lstStyle/>
                    <a:p>
                      <a:pPr algn="ctr">
                        <a:spcAft>
                          <a:spcPts val="0"/>
                        </a:spcAft>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Jetty</a:t>
                      </a:r>
                    </a:p>
                  </a:txBody>
                  <a:tcPr marL="68580" marR="68580" marT="0" marB="0" anchor="ctr"/>
                </a:tc>
                <a:tc>
                  <a:txBody>
                    <a:bodyPr/>
                    <a:lstStyle/>
                    <a:p>
                      <a:pPr algn="ctr">
                        <a:spcAft>
                          <a:spcPts val="0"/>
                        </a:spcAft>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Linux</a:t>
                      </a:r>
                    </a:p>
                  </a:txBody>
                  <a:tcPr marL="68580" marR="68580" marT="0" marB="0" anchor="ctr"/>
                </a:tc>
                <a:tc>
                  <a:txBody>
                    <a:bodyPr/>
                    <a:lstStyle/>
                    <a:p>
                      <a:pPr algn="ctr">
                        <a:spcAft>
                          <a:spcPts val="0"/>
                        </a:spcAft>
                        <a:buNone/>
                      </a:pPr>
                      <a:r>
                        <a:rPr lang="en-US" sz="1800" kern="1200" dirty="0">
                          <a:solidFill>
                            <a:srgbClr val="595959"/>
                          </a:solidFill>
                          <a:latin typeface="微软雅黑" panose="020B0503020204020204" pitchFamily="34" charset="-122"/>
                          <a:ea typeface="微软雅黑" panose="020B0503020204020204" pitchFamily="34" charset="-122"/>
                          <a:cs typeface="+mn-cs"/>
                          <a:sym typeface="+mn-ea"/>
                        </a:rPr>
                        <a:t>5G</a:t>
                      </a:r>
                      <a:endParaRPr lang="en-US" altLang="en-US" sz="1800" kern="1200" dirty="0">
                        <a:solidFill>
                          <a:srgbClr val="595959"/>
                        </a:solidFill>
                        <a:latin typeface="微软雅黑" panose="020B0503020204020204" pitchFamily="34" charset="-122"/>
                        <a:ea typeface="微软雅黑" panose="020B0503020204020204" pitchFamily="34" charset="-122"/>
                        <a:cs typeface="+mn-cs"/>
                      </a:endParaRPr>
                    </a:p>
                  </a:txBody>
                  <a:tcPr marL="68580" marR="68580" marT="0" marB="0" anchor="ctr"/>
                </a:tc>
                <a:tc>
                  <a:txBody>
                    <a:bodyPr/>
                    <a:lstStyle/>
                    <a:p>
                      <a:pPr algn="ctr">
                        <a:spcAft>
                          <a:spcPts val="0"/>
                        </a:spcAft>
                        <a:buNone/>
                      </a:pPr>
                      <a:r>
                        <a:rPr lang="en-US" altLang="en-US" sz="1800" kern="1200" dirty="0">
                          <a:solidFill>
                            <a:srgbClr val="595959"/>
                          </a:solidFill>
                          <a:latin typeface="微软雅黑" panose="020B0503020204020204" pitchFamily="34" charset="-122"/>
                          <a:ea typeface="微软雅黑" panose="020B0503020204020204" pitchFamily="34" charset="-122"/>
                          <a:cs typeface="+mn-cs"/>
                        </a:rPr>
                        <a:t>Edge</a:t>
                      </a:r>
                    </a:p>
                  </a:txBody>
                  <a:tcPr marL="68580" marR="68580" marT="0" marB="0" anchor="ctr"/>
                </a:tc>
                <a:extLst>
                  <a:ext uri="{0D108BD9-81ED-4DB2-BD59-A6C34878D82A}">
                    <a16:rowId xmlns:a16="http://schemas.microsoft.com/office/drawing/2014/main" val="10010"/>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p:cNvPicPr>
            <a:picLocks noChangeAspect="1"/>
          </p:cNvPicPr>
          <p:nvPr/>
        </p:nvPicPr>
        <p:blipFill>
          <a:blip r:embed="rId3"/>
          <a:stretch>
            <a:fillRect/>
          </a:stretch>
        </p:blipFill>
        <p:spPr>
          <a:xfrm>
            <a:off x="944880" y="2215515"/>
            <a:ext cx="2797810" cy="3898265"/>
          </a:xfrm>
          <a:prstGeom prst="rect">
            <a:avLst/>
          </a:prstGeom>
        </p:spPr>
      </p:pic>
      <p:sp>
        <p:nvSpPr>
          <p:cNvPr id="13" name="椭圆形标注 12"/>
          <p:cNvSpPr/>
          <p:nvPr/>
        </p:nvSpPr>
        <p:spPr>
          <a:xfrm>
            <a:off x="2968625" y="156019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p>
        </p:txBody>
      </p:sp>
      <p:sp>
        <p:nvSpPr>
          <p:cNvPr id="14" name="TextBox 35"/>
          <p:cNvSpPr txBox="1">
            <a:spLocks noChangeArrowheads="1"/>
          </p:cNvSpPr>
          <p:nvPr/>
        </p:nvSpPr>
        <p:spPr bwMode="auto">
          <a:xfrm>
            <a:off x="3247390" y="163830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p>
        </p:txBody>
      </p:sp>
      <p:sp>
        <p:nvSpPr>
          <p:cNvPr id="15" name="TextBox 35"/>
          <p:cNvSpPr txBox="1">
            <a:spLocks noChangeArrowheads="1"/>
          </p:cNvSpPr>
          <p:nvPr/>
        </p:nvSpPr>
        <p:spPr bwMode="auto">
          <a:xfrm>
            <a:off x="5791835" y="3213735"/>
            <a:ext cx="5958840" cy="10439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defRPr/>
            </a:pPr>
            <a:r>
              <a:rPr lang="zh-CN" sz="200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掌握</a:t>
            </a:r>
            <a:r>
              <a:rPr lang="zh-CN" sz="200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用户筛选功能正交实验设计</a:t>
            </a:r>
            <a:r>
              <a:rPr sz="200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，能够</a:t>
            </a:r>
            <a:r>
              <a:rPr lang="zh-CN" sz="2000">
                <a:solidFill>
                  <a:srgbClr val="0070C0"/>
                </a:solidFill>
                <a:latin typeface="微软雅黑" panose="020B0503020204020204" pitchFamily="34" charset="-122"/>
                <a:ea typeface="微软雅黑" panose="020B0503020204020204" pitchFamily="34" charset="-122"/>
                <a:cs typeface="+mn-ea"/>
                <a:sym typeface="字魂58号-创中黑" panose="00000500000000000000" pitchFamily="2" charset="-122"/>
              </a:rPr>
              <a:t>根据正交表生成</a:t>
            </a:r>
            <a:r>
              <a:rPr lang="zh-CN" sz="2000">
                <a:solidFill>
                  <a:srgbClr val="0070C0"/>
                </a:solidFill>
                <a:latin typeface="微软雅黑" panose="020B0503020204020204" pitchFamily="34" charset="-122"/>
                <a:ea typeface="微软雅黑" panose="020B0503020204020204" pitchFamily="34" charset="-122"/>
                <a:cs typeface="+mn-ea"/>
                <a:sym typeface="+mn-lt"/>
              </a:rPr>
              <a:t>用户筛选功能</a:t>
            </a:r>
            <a:r>
              <a:rPr lang="zh-CN" sz="2000">
                <a:solidFill>
                  <a:srgbClr val="0070C0"/>
                </a:solidFill>
                <a:latin typeface="微软雅黑" panose="020B0503020204020204" pitchFamily="34" charset="-122"/>
                <a:ea typeface="微软雅黑" panose="020B0503020204020204" pitchFamily="34" charset="-122"/>
                <a:cs typeface="+mn-ea"/>
                <a:sym typeface="字魂58号-创中黑" panose="00000500000000000000" pitchFamily="2" charset="-122"/>
              </a:rPr>
              <a:t>的测试用例</a:t>
            </a:r>
          </a:p>
        </p:txBody>
      </p:sp>
      <p:grpSp>
        <p:nvGrpSpPr>
          <p:cNvPr id="19" name="组合 18"/>
          <p:cNvGrpSpPr/>
          <p:nvPr/>
        </p:nvGrpSpPr>
        <p:grpSpPr>
          <a:xfrm>
            <a:off x="5308600" y="3540125"/>
            <a:ext cx="405130" cy="405130"/>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1" name="Title 1"/>
          <p:cNvSpPr txBox="1"/>
          <p:nvPr/>
        </p:nvSpPr>
        <p:spPr>
          <a:xfrm>
            <a:off x="1143635" y="266700"/>
            <a:ext cx="736917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2.4.3	实例二：用户筛选功能正交实验设计</a:t>
            </a: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35"/>
          <p:cNvSpPr txBox="1">
            <a:spLocks noChangeArrowheads="1"/>
          </p:cNvSpPr>
          <p:nvPr/>
        </p:nvSpPr>
        <p:spPr bwMode="auto">
          <a:xfrm>
            <a:off x="4942840" y="1557655"/>
            <a:ext cx="6289675" cy="427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buClrTx/>
              <a:buSzTx/>
              <a:buFontTx/>
            </a:pPr>
            <a:r>
              <a:rPr lang="zh-CN" altLang="en-US" sz="1800" dirty="0">
                <a:solidFill>
                  <a:srgbClr val="595959"/>
                </a:solidFill>
                <a:latin typeface="微软雅黑" panose="020B0503020204020204" pitchFamily="34" charset="-122"/>
                <a:ea typeface="微软雅黑" panose="020B0503020204020204" pitchFamily="34" charset="-122"/>
              </a:rPr>
              <a:t>假设有一个招聘求职软件，招聘人员可以根据多个因素来筛选</a:t>
            </a:r>
            <a:r>
              <a:rPr lang="zh-CN" altLang="en-US" sz="1800">
                <a:solidFill>
                  <a:srgbClr val="595959"/>
                </a:solidFill>
                <a:latin typeface="微软雅黑" panose="020B0503020204020204" pitchFamily="34" charset="-122"/>
                <a:ea typeface="微软雅黑" panose="020B0503020204020204" pitchFamily="34" charset="-122"/>
              </a:rPr>
              <a:t>求职者。下面</a:t>
            </a:r>
            <a:r>
              <a:rPr lang="zh-CN" altLang="en-US" sz="1800" dirty="0">
                <a:solidFill>
                  <a:srgbClr val="595959"/>
                </a:solidFill>
                <a:latin typeface="微软雅黑" panose="020B0503020204020204" pitchFamily="34" charset="-122"/>
                <a:ea typeface="微软雅黑" panose="020B0503020204020204" pitchFamily="34" charset="-122"/>
              </a:rPr>
              <a:t>选择</a:t>
            </a:r>
            <a:r>
              <a:rPr lang="zh-CN" altLang="en-US" sz="1800">
                <a:solidFill>
                  <a:srgbClr val="0070C0"/>
                </a:solidFill>
                <a:latin typeface="微软雅黑" panose="020B0503020204020204" pitchFamily="34" charset="-122"/>
                <a:ea typeface="微软雅黑" panose="020B0503020204020204" pitchFamily="34" charset="-122"/>
              </a:rPr>
              <a:t>城市、招聘岗位、</a:t>
            </a:r>
            <a:r>
              <a:rPr lang="zh-CN" altLang="en-US" sz="1800" dirty="0">
                <a:solidFill>
                  <a:srgbClr val="0070C0"/>
                </a:solidFill>
                <a:latin typeface="微软雅黑" panose="020B0503020204020204" pitchFamily="34" charset="-122"/>
                <a:ea typeface="微软雅黑" panose="020B0503020204020204" pitchFamily="34" charset="-122"/>
              </a:rPr>
              <a:t>学历、计算机等级和工作经验作为关键因素</a:t>
            </a:r>
            <a:r>
              <a:rPr lang="zh-CN" altLang="en-US" sz="1800" dirty="0">
                <a:solidFill>
                  <a:srgbClr val="595959"/>
                </a:solidFill>
                <a:latin typeface="微软雅黑" panose="020B0503020204020204" pitchFamily="34" charset="-122"/>
                <a:ea typeface="微软雅黑" panose="020B0503020204020204" pitchFamily="34" charset="-122"/>
              </a:rPr>
              <a:t>，每个因素都有不同的取值，</a:t>
            </a:r>
            <a:r>
              <a:rPr lang="zh-CN" altLang="en-US" sz="1800">
                <a:solidFill>
                  <a:srgbClr val="595959"/>
                </a:solidFill>
                <a:latin typeface="微软雅黑" panose="020B0503020204020204" pitchFamily="34" charset="-122"/>
                <a:ea typeface="微软雅黑" panose="020B0503020204020204" pitchFamily="34" charset="-122"/>
              </a:rPr>
              <a:t>具体如下。</a:t>
            </a:r>
            <a:endParaRPr lang="zh-CN" altLang="en-US" sz="1800" dirty="0">
              <a:solidFill>
                <a:srgbClr val="595959"/>
              </a:solidFill>
              <a:latin typeface="微软雅黑" panose="020B0503020204020204" pitchFamily="34" charset="-122"/>
              <a:ea typeface="微软雅黑" panose="020B0503020204020204" pitchFamily="34" charset="-122"/>
            </a:endParaRPr>
          </a:p>
          <a:p>
            <a:pPr marL="285750" indent="-285750" algn="just">
              <a:lnSpc>
                <a:spcPct val="150000"/>
              </a:lnSpc>
              <a:buClrTx/>
              <a:buSzTx/>
              <a:buFont typeface="Wingdings" panose="05000000000000000000" charset="0"/>
              <a:buChar char="l"/>
            </a:pPr>
            <a:r>
              <a:rPr lang="zh-CN" altLang="en-US" sz="1800" dirty="0">
                <a:solidFill>
                  <a:srgbClr val="595959"/>
                </a:solidFill>
                <a:latin typeface="微软雅黑" panose="020B0503020204020204" pitchFamily="34" charset="-122"/>
                <a:ea typeface="微软雅黑" panose="020B0503020204020204" pitchFamily="34" charset="-122"/>
              </a:rPr>
              <a:t>城市：</a:t>
            </a:r>
            <a:r>
              <a:rPr lang="zh-CN" altLang="en-US" sz="1800" dirty="0">
                <a:solidFill>
                  <a:srgbClr val="0070C0"/>
                </a:solidFill>
                <a:latin typeface="微软雅黑" panose="020B0503020204020204" pitchFamily="34" charset="-122"/>
                <a:ea typeface="微软雅黑" panose="020B0503020204020204" pitchFamily="34" charset="-122"/>
              </a:rPr>
              <a:t>北京、上海、深圳、广州</a:t>
            </a:r>
            <a:r>
              <a:rPr lang="zh-CN" altLang="en-US" sz="1800" dirty="0">
                <a:solidFill>
                  <a:srgbClr val="595959"/>
                </a:solidFill>
                <a:latin typeface="微软雅黑" panose="020B0503020204020204" pitchFamily="34" charset="-122"/>
                <a:ea typeface="微软雅黑" panose="020B0503020204020204" pitchFamily="34" charset="-122"/>
              </a:rPr>
              <a:t>。</a:t>
            </a:r>
          </a:p>
          <a:p>
            <a:pPr marL="285750" indent="-285750" algn="just">
              <a:lnSpc>
                <a:spcPct val="150000"/>
              </a:lnSpc>
              <a:buClrTx/>
              <a:buSzTx/>
              <a:buFont typeface="Wingdings" panose="05000000000000000000" charset="0"/>
              <a:buChar char="l"/>
            </a:pPr>
            <a:r>
              <a:rPr lang="zh-CN" altLang="en-US" sz="1800">
                <a:solidFill>
                  <a:srgbClr val="595959"/>
                </a:solidFill>
                <a:latin typeface="微软雅黑" panose="020B0503020204020204" pitchFamily="34" charset="-122"/>
                <a:ea typeface="微软雅黑" panose="020B0503020204020204" pitchFamily="34" charset="-122"/>
              </a:rPr>
              <a:t>招聘岗位：</a:t>
            </a:r>
            <a:r>
              <a:rPr lang="zh-CN" altLang="en-US" sz="1800">
                <a:solidFill>
                  <a:srgbClr val="0070C0"/>
                </a:solidFill>
                <a:latin typeface="微软雅黑" panose="020B0503020204020204" pitchFamily="34" charset="-122"/>
                <a:ea typeface="微软雅黑" panose="020B0503020204020204" pitchFamily="34" charset="-122"/>
              </a:rPr>
              <a:t>产品运营、产品经理、软件测试、软件工程师</a:t>
            </a:r>
            <a:r>
              <a:rPr lang="zh-CN" altLang="en-US" sz="1800">
                <a:solidFill>
                  <a:srgbClr val="595959"/>
                </a:solidFill>
                <a:latin typeface="微软雅黑" panose="020B0503020204020204" pitchFamily="34" charset="-122"/>
                <a:ea typeface="微软雅黑" panose="020B0503020204020204" pitchFamily="34" charset="-122"/>
              </a:rPr>
              <a:t>。</a:t>
            </a:r>
            <a:endParaRPr lang="zh-CN" altLang="en-US" sz="1800" dirty="0">
              <a:solidFill>
                <a:srgbClr val="595959"/>
              </a:solidFill>
              <a:latin typeface="微软雅黑" panose="020B0503020204020204" pitchFamily="34" charset="-122"/>
              <a:ea typeface="微软雅黑" panose="020B0503020204020204" pitchFamily="34" charset="-122"/>
            </a:endParaRPr>
          </a:p>
          <a:p>
            <a:pPr marL="285750" indent="-285750" algn="just">
              <a:lnSpc>
                <a:spcPct val="150000"/>
              </a:lnSpc>
              <a:buClrTx/>
              <a:buSzTx/>
              <a:buFont typeface="Wingdings" panose="05000000000000000000" charset="0"/>
              <a:buChar char="l"/>
            </a:pPr>
            <a:r>
              <a:rPr lang="zh-CN" altLang="en-US" sz="1800">
                <a:solidFill>
                  <a:srgbClr val="595959"/>
                </a:solidFill>
                <a:latin typeface="微软雅黑" panose="020B0503020204020204" pitchFamily="34" charset="-122"/>
                <a:ea typeface="微软雅黑" panose="020B0503020204020204" pitchFamily="34" charset="-122"/>
              </a:rPr>
              <a:t>学历：</a:t>
            </a:r>
            <a:r>
              <a:rPr lang="zh-CN" altLang="en-US" sz="1800">
                <a:solidFill>
                  <a:srgbClr val="0070C0"/>
                </a:solidFill>
                <a:latin typeface="微软雅黑" panose="020B0503020204020204" pitchFamily="34" charset="-122"/>
                <a:ea typeface="微软雅黑" panose="020B0503020204020204" pitchFamily="34" charset="-122"/>
              </a:rPr>
              <a:t>高中、专科、本科、研究生</a:t>
            </a:r>
            <a:r>
              <a:rPr lang="zh-CN" altLang="en-US" sz="1800">
                <a:solidFill>
                  <a:srgbClr val="595959"/>
                </a:solidFill>
                <a:latin typeface="微软雅黑" panose="020B0503020204020204" pitchFamily="34" charset="-122"/>
                <a:ea typeface="微软雅黑" panose="020B0503020204020204" pitchFamily="34" charset="-122"/>
              </a:rPr>
              <a:t>。</a:t>
            </a:r>
            <a:endParaRPr lang="zh-CN" altLang="en-US" sz="1800" dirty="0">
              <a:solidFill>
                <a:srgbClr val="595959"/>
              </a:solidFill>
              <a:latin typeface="微软雅黑" panose="020B0503020204020204" pitchFamily="34" charset="-122"/>
              <a:ea typeface="微软雅黑" panose="020B0503020204020204" pitchFamily="34" charset="-122"/>
            </a:endParaRPr>
          </a:p>
          <a:p>
            <a:pPr marL="285750" indent="-285750" algn="just">
              <a:lnSpc>
                <a:spcPct val="150000"/>
              </a:lnSpc>
              <a:buClrTx/>
              <a:buSzTx/>
              <a:buFont typeface="Wingdings" panose="05000000000000000000" charset="0"/>
              <a:buChar char="l"/>
            </a:pPr>
            <a:r>
              <a:rPr lang="zh-CN" altLang="en-US" sz="1800" dirty="0">
                <a:solidFill>
                  <a:srgbClr val="595959"/>
                </a:solidFill>
                <a:latin typeface="微软雅黑" panose="020B0503020204020204" pitchFamily="34" charset="-122"/>
                <a:ea typeface="微软雅黑" panose="020B0503020204020204" pitchFamily="34" charset="-122"/>
              </a:rPr>
              <a:t>计算机等级：</a:t>
            </a:r>
            <a:r>
              <a:rPr lang="zh-CN" altLang="en-US" sz="1800" dirty="0">
                <a:solidFill>
                  <a:srgbClr val="0070C0"/>
                </a:solidFill>
                <a:latin typeface="微软雅黑" panose="020B0503020204020204" pitchFamily="34" charset="-122"/>
                <a:ea typeface="微软雅黑" panose="020B0503020204020204" pitchFamily="34" charset="-122"/>
              </a:rPr>
              <a:t>计算机一级、计算机二级、计算机三级、计算机四级</a:t>
            </a:r>
            <a:r>
              <a:rPr lang="zh-CN" altLang="en-US" sz="1800" dirty="0">
                <a:solidFill>
                  <a:srgbClr val="595959"/>
                </a:solidFill>
                <a:latin typeface="微软雅黑" panose="020B0503020204020204" pitchFamily="34" charset="-122"/>
                <a:ea typeface="微软雅黑" panose="020B0503020204020204" pitchFamily="34" charset="-122"/>
              </a:rPr>
              <a:t>。</a:t>
            </a:r>
          </a:p>
          <a:p>
            <a:pPr marL="285750" indent="-285750" algn="just">
              <a:lnSpc>
                <a:spcPct val="150000"/>
              </a:lnSpc>
              <a:buClrTx/>
              <a:buSzTx/>
              <a:buFont typeface="Wingdings" panose="05000000000000000000" charset="0"/>
              <a:buChar char="l"/>
            </a:pPr>
            <a:r>
              <a:rPr lang="zh-CN" altLang="en-US" sz="1800" dirty="0">
                <a:solidFill>
                  <a:srgbClr val="595959"/>
                </a:solidFill>
                <a:latin typeface="微软雅黑" panose="020B0503020204020204" pitchFamily="34" charset="-122"/>
                <a:ea typeface="微软雅黑" panose="020B0503020204020204" pitchFamily="34" charset="-122"/>
              </a:rPr>
              <a:t>工作经验：</a:t>
            </a:r>
            <a:r>
              <a:rPr lang="zh-CN" altLang="en-US" sz="1800" dirty="0">
                <a:solidFill>
                  <a:srgbClr val="0070C0"/>
                </a:solidFill>
                <a:latin typeface="微软雅黑" panose="020B0503020204020204" pitchFamily="34" charset="-122"/>
                <a:ea typeface="微软雅黑" panose="020B0503020204020204" pitchFamily="34" charset="-122"/>
              </a:rPr>
              <a:t>1年、2年、3年</a:t>
            </a:r>
            <a:r>
              <a:rPr lang="zh-CN" altLang="en-US" sz="1800">
                <a:solidFill>
                  <a:srgbClr val="0070C0"/>
                </a:solidFill>
                <a:latin typeface="微软雅黑" panose="020B0503020204020204" pitchFamily="34" charset="-122"/>
                <a:ea typeface="微软雅黑" panose="020B0503020204020204" pitchFamily="34" charset="-122"/>
              </a:rPr>
              <a:t>、4年</a:t>
            </a:r>
            <a:r>
              <a:rPr lang="zh-CN" altLang="en-US" sz="1800">
                <a:solidFill>
                  <a:srgbClr val="595959"/>
                </a:solidFill>
                <a:latin typeface="微软雅黑" panose="020B0503020204020204" pitchFamily="34" charset="-122"/>
                <a:ea typeface="微软雅黑" panose="020B0503020204020204" pitchFamily="34" charset="-122"/>
              </a:rPr>
              <a:t>。</a:t>
            </a:r>
            <a:endParaRPr lang="zh-CN" altLang="en-US" sz="1800" dirty="0">
              <a:solidFill>
                <a:srgbClr val="595959"/>
              </a:solidFill>
              <a:latin typeface="微软雅黑" panose="020B0503020204020204" pitchFamily="34" charset="-122"/>
              <a:ea typeface="微软雅黑" panose="020B0503020204020204" pitchFamily="34" charset="-122"/>
            </a:endParaRPr>
          </a:p>
        </p:txBody>
      </p:sp>
      <p:pic>
        <p:nvPicPr>
          <p:cNvPr id="33" name="图片 32"/>
          <p:cNvPicPr>
            <a:picLocks noChangeAspect="1"/>
          </p:cNvPicPr>
          <p:nvPr/>
        </p:nvPicPr>
        <p:blipFill>
          <a:blip r:embed="rId3"/>
          <a:stretch>
            <a:fillRect/>
          </a:stretch>
        </p:blipFill>
        <p:spPr>
          <a:xfrm>
            <a:off x="839386" y="1413456"/>
            <a:ext cx="3715858" cy="4006159"/>
          </a:xfrm>
          <a:prstGeom prst="rect">
            <a:avLst/>
          </a:prstGeom>
        </p:spPr>
      </p:pic>
      <p:sp>
        <p:nvSpPr>
          <p:cNvPr id="2" name="Title 1"/>
          <p:cNvSpPr txBox="1"/>
          <p:nvPr/>
        </p:nvSpPr>
        <p:spPr>
          <a:xfrm>
            <a:off x="1143635" y="266700"/>
            <a:ext cx="736917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2.4.3	实例二：用户筛选功能正交实验设计</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35"/>
          <p:cNvSpPr txBox="1">
            <a:spLocks noChangeArrowheads="1"/>
          </p:cNvSpPr>
          <p:nvPr/>
        </p:nvSpPr>
        <p:spPr bwMode="auto">
          <a:xfrm>
            <a:off x="911225" y="861060"/>
            <a:ext cx="9968865" cy="4896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buClrTx/>
              <a:buSzTx/>
              <a:buFontTx/>
            </a:pPr>
            <a:r>
              <a:rPr lang="zh-CN" altLang="en-US" sz="1800" dirty="0">
                <a:solidFill>
                  <a:srgbClr val="595959"/>
                </a:solidFill>
                <a:latin typeface="微软雅黑" panose="020B0503020204020204" pitchFamily="34" charset="-122"/>
                <a:ea typeface="微软雅黑" panose="020B0503020204020204" pitchFamily="34" charset="-122"/>
              </a:rPr>
              <a:t>在官网</a:t>
            </a:r>
            <a:r>
              <a:rPr lang="zh-CN" altLang="en-US" sz="1800" dirty="0">
                <a:solidFill>
                  <a:srgbClr val="0070C0"/>
                </a:solidFill>
                <a:latin typeface="微软雅黑" panose="020B0503020204020204" pitchFamily="34" charset="-122"/>
                <a:ea typeface="微软雅黑" panose="020B0503020204020204" pitchFamily="34" charset="-122"/>
              </a:rPr>
              <a:t>下载Allpairs</a:t>
            </a:r>
            <a:r>
              <a:rPr lang="zh-CN" altLang="en-US" sz="1800" dirty="0">
                <a:solidFill>
                  <a:srgbClr val="595959"/>
                </a:solidFill>
                <a:latin typeface="微软雅黑" panose="020B0503020204020204" pitchFamily="34" charset="-122"/>
                <a:ea typeface="微软雅黑" panose="020B0503020204020204" pitchFamily="34" charset="-122"/>
              </a:rPr>
              <a:t>工具。 </a:t>
            </a:r>
          </a:p>
        </p:txBody>
      </p:sp>
      <p:sp>
        <p:nvSpPr>
          <p:cNvPr id="2" name="Title 1"/>
          <p:cNvSpPr txBox="1"/>
          <p:nvPr/>
        </p:nvSpPr>
        <p:spPr>
          <a:xfrm>
            <a:off x="1143635" y="266700"/>
            <a:ext cx="736917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2.4.3	实例二：用户筛选功能正交实验设计</a:t>
            </a:r>
          </a:p>
        </p:txBody>
      </p:sp>
      <p:sp>
        <p:nvSpPr>
          <p:cNvPr id="29" name="椭圆 28"/>
          <p:cNvSpPr/>
          <p:nvPr/>
        </p:nvSpPr>
        <p:spPr>
          <a:xfrm>
            <a:off x="695067" y="1341460"/>
            <a:ext cx="383645" cy="38364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t>1</a:t>
            </a:r>
            <a:endParaRPr kumimoji="1" lang="zh-CN" altLang="en-US" dirty="0"/>
          </a:p>
        </p:txBody>
      </p:sp>
      <p:sp>
        <p:nvSpPr>
          <p:cNvPr id="59" name="椭圆 58"/>
          <p:cNvSpPr/>
          <p:nvPr/>
        </p:nvSpPr>
        <p:spPr>
          <a:xfrm>
            <a:off x="695425" y="4084451"/>
            <a:ext cx="383645" cy="38364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t>2</a:t>
            </a:r>
            <a:endParaRPr kumimoji="1" lang="zh-CN" altLang="en-US" dirty="0"/>
          </a:p>
        </p:txBody>
      </p:sp>
      <p:sp>
        <p:nvSpPr>
          <p:cNvPr id="30" name="椭圆 29"/>
          <p:cNvSpPr/>
          <p:nvPr/>
        </p:nvSpPr>
        <p:spPr>
          <a:xfrm>
            <a:off x="5903763" y="1773285"/>
            <a:ext cx="383645" cy="38364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t>3</a:t>
            </a:r>
            <a:endParaRPr kumimoji="1" lang="zh-CN" altLang="en-US" dirty="0"/>
          </a:p>
        </p:txBody>
      </p:sp>
      <p:sp>
        <p:nvSpPr>
          <p:cNvPr id="6" name="文本框 5">
            <a:extLst>
              <a:ext uri="{FF2B5EF4-FFF2-40B4-BE49-F238E27FC236}">
                <a16:creationId xmlns:a16="http://schemas.microsoft.com/office/drawing/2014/main" id="{A01E8A38-5F10-F475-2FAC-353AEE5FB797}"/>
              </a:ext>
            </a:extLst>
          </p:cNvPr>
          <p:cNvSpPr txBox="1"/>
          <p:nvPr/>
        </p:nvSpPr>
        <p:spPr>
          <a:xfrm>
            <a:off x="3773035" y="909824"/>
            <a:ext cx="8514171" cy="461665"/>
          </a:xfrm>
          <a:prstGeom prst="rect">
            <a:avLst/>
          </a:prstGeom>
          <a:noFill/>
        </p:spPr>
        <p:txBody>
          <a:bodyPr wrap="square">
            <a:spAutoFit/>
          </a:bodyPr>
          <a:lstStyle/>
          <a:p>
            <a:r>
              <a:rPr lang="zh-CN" altLang="en-US" dirty="0">
                <a:solidFill>
                  <a:srgbClr val="0070C0"/>
                </a:solidFill>
                <a:latin typeface="Times New Roman" panose="02020603050405020304" pitchFamily="18" charset="0"/>
                <a:cs typeface="Times New Roman" panose="02020603050405020304" pitchFamily="18" charset="0"/>
              </a:rPr>
              <a:t>https://www.softpedia.com/dyn-search.php?search_term=allpairs</a:t>
            </a:r>
          </a:p>
        </p:txBody>
      </p:sp>
      <p:pic>
        <p:nvPicPr>
          <p:cNvPr id="10" name="图片 9">
            <a:extLst>
              <a:ext uri="{FF2B5EF4-FFF2-40B4-BE49-F238E27FC236}">
                <a16:creationId xmlns:a16="http://schemas.microsoft.com/office/drawing/2014/main" id="{6805B46F-E099-D1CD-872D-DD6EA97177E4}"/>
              </a:ext>
            </a:extLst>
          </p:cNvPr>
          <p:cNvPicPr>
            <a:picLocks noChangeAspect="1"/>
          </p:cNvPicPr>
          <p:nvPr/>
        </p:nvPicPr>
        <p:blipFill>
          <a:blip r:embed="rId3"/>
          <a:stretch>
            <a:fillRect/>
          </a:stretch>
        </p:blipFill>
        <p:spPr>
          <a:xfrm>
            <a:off x="1179155" y="1399506"/>
            <a:ext cx="3948512" cy="2625243"/>
          </a:xfrm>
          <a:prstGeom prst="rect">
            <a:avLst/>
          </a:prstGeom>
        </p:spPr>
      </p:pic>
      <p:pic>
        <p:nvPicPr>
          <p:cNvPr id="12" name="图片 11">
            <a:extLst>
              <a:ext uri="{FF2B5EF4-FFF2-40B4-BE49-F238E27FC236}">
                <a16:creationId xmlns:a16="http://schemas.microsoft.com/office/drawing/2014/main" id="{A5CE8041-7287-7ED1-8E4D-8EF9EA9DC9C7}"/>
              </a:ext>
            </a:extLst>
          </p:cNvPr>
          <p:cNvPicPr>
            <a:picLocks noChangeAspect="1"/>
          </p:cNvPicPr>
          <p:nvPr/>
        </p:nvPicPr>
        <p:blipFill>
          <a:blip r:embed="rId4"/>
          <a:stretch>
            <a:fillRect/>
          </a:stretch>
        </p:blipFill>
        <p:spPr>
          <a:xfrm>
            <a:off x="1143635" y="4276273"/>
            <a:ext cx="4368435" cy="2477433"/>
          </a:xfrm>
          <a:prstGeom prst="rect">
            <a:avLst/>
          </a:prstGeom>
        </p:spPr>
      </p:pic>
      <p:pic>
        <p:nvPicPr>
          <p:cNvPr id="14" name="图片 13">
            <a:extLst>
              <a:ext uri="{FF2B5EF4-FFF2-40B4-BE49-F238E27FC236}">
                <a16:creationId xmlns:a16="http://schemas.microsoft.com/office/drawing/2014/main" id="{C6E8170D-5E1A-166B-87E5-98BF88AB1DFA}"/>
              </a:ext>
            </a:extLst>
          </p:cNvPr>
          <p:cNvPicPr>
            <a:picLocks noChangeAspect="1"/>
          </p:cNvPicPr>
          <p:nvPr/>
        </p:nvPicPr>
        <p:blipFill>
          <a:blip r:embed="rId5"/>
          <a:stretch>
            <a:fillRect/>
          </a:stretch>
        </p:blipFill>
        <p:spPr>
          <a:xfrm>
            <a:off x="6510342" y="1965107"/>
            <a:ext cx="4464934" cy="1528339"/>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a:extLst>
              <a:ext uri="{FF2B5EF4-FFF2-40B4-BE49-F238E27FC236}">
                <a16:creationId xmlns:a16="http://schemas.microsoft.com/office/drawing/2014/main" id="{D1479B30-768D-1DE0-6CE3-5EC7722BDBB0}"/>
              </a:ext>
            </a:extLst>
          </p:cNvPr>
          <p:cNvPicPr>
            <a:picLocks noChangeAspect="1"/>
          </p:cNvPicPr>
          <p:nvPr/>
        </p:nvPicPr>
        <p:blipFill>
          <a:blip r:embed="rId3"/>
          <a:stretch>
            <a:fillRect/>
          </a:stretch>
        </p:blipFill>
        <p:spPr>
          <a:xfrm>
            <a:off x="1114313" y="1931720"/>
            <a:ext cx="4641351" cy="1651775"/>
          </a:xfrm>
          <a:prstGeom prst="rect">
            <a:avLst/>
          </a:prstGeom>
        </p:spPr>
      </p:pic>
      <p:sp>
        <p:nvSpPr>
          <p:cNvPr id="47" name="TextBox 35"/>
          <p:cNvSpPr txBox="1">
            <a:spLocks noChangeArrowheads="1"/>
          </p:cNvSpPr>
          <p:nvPr/>
        </p:nvSpPr>
        <p:spPr bwMode="auto">
          <a:xfrm>
            <a:off x="911225" y="861060"/>
            <a:ext cx="9968865" cy="5359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buClrTx/>
              <a:buSzTx/>
              <a:buFontTx/>
            </a:pPr>
            <a:r>
              <a:rPr lang="zh-CN" altLang="en-US" sz="1800" dirty="0">
                <a:solidFill>
                  <a:srgbClr val="0070C0"/>
                </a:solidFill>
                <a:latin typeface="微软雅黑" panose="020B0503020204020204" pitchFamily="34" charset="-122"/>
                <a:ea typeface="微软雅黑" panose="020B0503020204020204" pitchFamily="34" charset="-122"/>
              </a:rPr>
              <a:t>使用Allpairs工具</a:t>
            </a:r>
            <a:r>
              <a:rPr lang="zh-CN" altLang="en-US" sz="1800" dirty="0">
                <a:solidFill>
                  <a:srgbClr val="595959"/>
                </a:solidFill>
                <a:latin typeface="微软雅黑" panose="020B0503020204020204" pitchFamily="34" charset="-122"/>
                <a:ea typeface="微软雅黑" panose="020B0503020204020204" pitchFamily="34" charset="-122"/>
              </a:rPr>
              <a:t>自动</a:t>
            </a:r>
            <a:r>
              <a:rPr lang="zh-CN" altLang="en-US" sz="1800" dirty="0">
                <a:solidFill>
                  <a:srgbClr val="0070C0"/>
                </a:solidFill>
                <a:latin typeface="微软雅黑" panose="020B0503020204020204" pitchFamily="34" charset="-122"/>
                <a:ea typeface="微软雅黑" panose="020B0503020204020204" pitchFamily="34" charset="-122"/>
              </a:rPr>
              <a:t>生成</a:t>
            </a:r>
            <a:r>
              <a:rPr lang="zh-CN" altLang="en-US" sz="1800" dirty="0">
                <a:solidFill>
                  <a:srgbClr val="595959"/>
                </a:solidFill>
                <a:latin typeface="微软雅黑" panose="020B0503020204020204" pitchFamily="34" charset="-122"/>
                <a:ea typeface="微软雅黑" panose="020B0503020204020204" pitchFamily="34" charset="-122"/>
              </a:rPr>
              <a:t>一个</a:t>
            </a:r>
            <a:r>
              <a:rPr lang="zh-CN" altLang="en-US" sz="1800" dirty="0">
                <a:solidFill>
                  <a:srgbClr val="0070C0"/>
                </a:solidFill>
                <a:latin typeface="微软雅黑" panose="020B0503020204020204" pitchFamily="34" charset="-122"/>
                <a:ea typeface="微软雅黑" panose="020B0503020204020204" pitchFamily="34" charset="-122"/>
              </a:rPr>
              <a:t>5因子4水平</a:t>
            </a:r>
            <a:r>
              <a:rPr lang="zh-CN" altLang="en-US" sz="1800" dirty="0">
                <a:solidFill>
                  <a:srgbClr val="595959"/>
                </a:solidFill>
                <a:latin typeface="微软雅黑" panose="020B0503020204020204" pitchFamily="34" charset="-122"/>
                <a:ea typeface="微软雅黑" panose="020B0503020204020204" pitchFamily="34" charset="-122"/>
              </a:rPr>
              <a:t>的</a:t>
            </a:r>
            <a:r>
              <a:rPr lang="zh-CN" altLang="en-US" sz="1800" dirty="0">
                <a:solidFill>
                  <a:srgbClr val="0070C0"/>
                </a:solidFill>
                <a:latin typeface="微软雅黑" panose="020B0503020204020204" pitchFamily="34" charset="-122"/>
                <a:ea typeface="微软雅黑" panose="020B0503020204020204" pitchFamily="34" charset="-122"/>
              </a:rPr>
              <a:t>正交表</a:t>
            </a:r>
            <a:r>
              <a:rPr lang="zh-CN" altLang="en-US" sz="1800" dirty="0">
                <a:solidFill>
                  <a:srgbClr val="595959"/>
                </a:solidFill>
                <a:latin typeface="微软雅黑" panose="020B0503020204020204" pitchFamily="34" charset="-122"/>
                <a:ea typeface="微软雅黑" panose="020B0503020204020204" pitchFamily="34" charset="-122"/>
              </a:rPr>
              <a:t>。</a:t>
            </a:r>
          </a:p>
        </p:txBody>
      </p:sp>
      <p:sp>
        <p:nvSpPr>
          <p:cNvPr id="2" name="Title 1"/>
          <p:cNvSpPr txBox="1"/>
          <p:nvPr/>
        </p:nvSpPr>
        <p:spPr>
          <a:xfrm>
            <a:off x="1143635" y="266700"/>
            <a:ext cx="736917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2.4.3	实例二：用户筛选功能正交实验设计</a:t>
            </a:r>
          </a:p>
        </p:txBody>
      </p:sp>
      <p:sp>
        <p:nvSpPr>
          <p:cNvPr id="29" name="椭圆 28"/>
          <p:cNvSpPr/>
          <p:nvPr/>
        </p:nvSpPr>
        <p:spPr>
          <a:xfrm>
            <a:off x="766822" y="1723095"/>
            <a:ext cx="383645" cy="38364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t>4</a:t>
            </a:r>
            <a:endParaRPr kumimoji="1" lang="zh-CN" altLang="en-US" dirty="0"/>
          </a:p>
        </p:txBody>
      </p:sp>
      <p:sp>
        <p:nvSpPr>
          <p:cNvPr id="59" name="椭圆 58"/>
          <p:cNvSpPr/>
          <p:nvPr/>
        </p:nvSpPr>
        <p:spPr>
          <a:xfrm>
            <a:off x="719402" y="5156426"/>
            <a:ext cx="383645" cy="38364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t>5</a:t>
            </a:r>
            <a:endParaRPr kumimoji="1" lang="zh-CN" altLang="en-US" dirty="0"/>
          </a:p>
        </p:txBody>
      </p:sp>
      <p:sp>
        <p:nvSpPr>
          <p:cNvPr id="30" name="椭圆 29"/>
          <p:cNvSpPr/>
          <p:nvPr/>
        </p:nvSpPr>
        <p:spPr>
          <a:xfrm>
            <a:off x="5903763" y="1773285"/>
            <a:ext cx="383645" cy="38364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t>6</a:t>
            </a:r>
            <a:endParaRPr kumimoji="1" lang="zh-CN" altLang="en-US" dirty="0"/>
          </a:p>
        </p:txBody>
      </p:sp>
      <p:sp>
        <p:nvSpPr>
          <p:cNvPr id="6" name="文本框 5"/>
          <p:cNvSpPr txBox="1"/>
          <p:nvPr/>
        </p:nvSpPr>
        <p:spPr>
          <a:xfrm>
            <a:off x="2423160" y="1485265"/>
            <a:ext cx="1403985" cy="368300"/>
          </a:xfrm>
          <a:prstGeom prst="rect">
            <a:avLst/>
          </a:prstGeom>
          <a:noFill/>
        </p:spPr>
        <p:txBody>
          <a:bodyPr wrap="square" rtlCol="0" anchor="t">
            <a:spAutoFit/>
          </a:bodyPr>
          <a:lstStyle/>
          <a:p>
            <a:r>
              <a:rPr lang="zh-CN" altLang="en-US" sz="1800" dirty="0">
                <a:solidFill>
                  <a:srgbClr val="0070C0"/>
                </a:solidFill>
                <a:latin typeface="微软雅黑" panose="020B0503020204020204" pitchFamily="34" charset="-122"/>
                <a:ea typeface="微软雅黑" panose="020B0503020204020204" pitchFamily="34" charset="-122"/>
              </a:rPr>
              <a:t>test.txt文件</a:t>
            </a:r>
          </a:p>
        </p:txBody>
      </p:sp>
      <p:sp>
        <p:nvSpPr>
          <p:cNvPr id="7" name="文本框 6"/>
          <p:cNvSpPr txBox="1"/>
          <p:nvPr/>
        </p:nvSpPr>
        <p:spPr>
          <a:xfrm>
            <a:off x="2350770" y="3924935"/>
            <a:ext cx="1798320" cy="368300"/>
          </a:xfrm>
          <a:prstGeom prst="rect">
            <a:avLst/>
          </a:prstGeom>
          <a:noFill/>
        </p:spPr>
        <p:txBody>
          <a:bodyPr wrap="square" rtlCol="0" anchor="t">
            <a:spAutoFit/>
          </a:bodyPr>
          <a:lstStyle/>
          <a:p>
            <a:r>
              <a:rPr lang="zh-CN" altLang="en-US" sz="1800" dirty="0">
                <a:solidFill>
                  <a:srgbClr val="0070C0"/>
                </a:solidFill>
                <a:latin typeface="微软雅黑" panose="020B0503020204020204" pitchFamily="34" charset="-122"/>
                <a:ea typeface="微软雅黑" panose="020B0503020204020204" pitchFamily="34" charset="-122"/>
              </a:rPr>
              <a:t>cmd命令窗口</a:t>
            </a:r>
          </a:p>
        </p:txBody>
      </p:sp>
      <p:sp>
        <p:nvSpPr>
          <p:cNvPr id="8" name="文本框 7"/>
          <p:cNvSpPr txBox="1"/>
          <p:nvPr/>
        </p:nvSpPr>
        <p:spPr>
          <a:xfrm>
            <a:off x="7607300" y="1521460"/>
            <a:ext cx="2953385" cy="368300"/>
          </a:xfrm>
          <a:prstGeom prst="rect">
            <a:avLst/>
          </a:prstGeom>
          <a:noFill/>
        </p:spPr>
        <p:txBody>
          <a:bodyPr wrap="square" rtlCol="0" anchor="t">
            <a:spAutoFit/>
          </a:bodyPr>
          <a:lstStyle/>
          <a:p>
            <a:r>
              <a:rPr lang="zh-CN" altLang="en-US" sz="1800" dirty="0">
                <a:solidFill>
                  <a:srgbClr val="0070C0"/>
                </a:solidFill>
                <a:latin typeface="微软雅黑" panose="020B0503020204020204" pitchFamily="34" charset="-122"/>
                <a:ea typeface="微软雅黑" panose="020B0503020204020204" pitchFamily="34" charset="-122"/>
              </a:rPr>
              <a:t>执行过后的目录</a:t>
            </a:r>
          </a:p>
        </p:txBody>
      </p:sp>
      <p:pic>
        <p:nvPicPr>
          <p:cNvPr id="14" name="图片 13">
            <a:extLst>
              <a:ext uri="{FF2B5EF4-FFF2-40B4-BE49-F238E27FC236}">
                <a16:creationId xmlns:a16="http://schemas.microsoft.com/office/drawing/2014/main" id="{6C352D97-F5FC-DD48-C879-7ABD2DA5B558}"/>
              </a:ext>
            </a:extLst>
          </p:cNvPr>
          <p:cNvPicPr>
            <a:picLocks noChangeAspect="1"/>
          </p:cNvPicPr>
          <p:nvPr/>
        </p:nvPicPr>
        <p:blipFill>
          <a:blip r:embed="rId4"/>
          <a:stretch>
            <a:fillRect/>
          </a:stretch>
        </p:blipFill>
        <p:spPr>
          <a:xfrm>
            <a:off x="855395" y="5866166"/>
            <a:ext cx="6751905" cy="327688"/>
          </a:xfrm>
          <a:prstGeom prst="rect">
            <a:avLst/>
          </a:prstGeom>
        </p:spPr>
      </p:pic>
      <p:pic>
        <p:nvPicPr>
          <p:cNvPr id="16" name="图片 15">
            <a:extLst>
              <a:ext uri="{FF2B5EF4-FFF2-40B4-BE49-F238E27FC236}">
                <a16:creationId xmlns:a16="http://schemas.microsoft.com/office/drawing/2014/main" id="{B0F5DE61-7DC3-B39B-E8D0-D48C1560B205}"/>
              </a:ext>
            </a:extLst>
          </p:cNvPr>
          <p:cNvPicPr>
            <a:picLocks noChangeAspect="1"/>
          </p:cNvPicPr>
          <p:nvPr/>
        </p:nvPicPr>
        <p:blipFill>
          <a:blip r:embed="rId5"/>
          <a:stretch>
            <a:fillRect/>
          </a:stretch>
        </p:blipFill>
        <p:spPr>
          <a:xfrm>
            <a:off x="6398160" y="2056741"/>
            <a:ext cx="5596625" cy="269246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1143635" y="266700"/>
            <a:ext cx="736917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2.4.3	实例二：用户筛选功能正交实验设计</a:t>
            </a:r>
          </a:p>
        </p:txBody>
      </p:sp>
      <p:sp>
        <p:nvSpPr>
          <p:cNvPr id="29" name="椭圆 28"/>
          <p:cNvSpPr/>
          <p:nvPr/>
        </p:nvSpPr>
        <p:spPr>
          <a:xfrm>
            <a:off x="2494657" y="1341460"/>
            <a:ext cx="383645" cy="38364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t>7</a:t>
            </a:r>
            <a:endParaRPr kumimoji="1" lang="zh-CN" altLang="en-US" dirty="0"/>
          </a:p>
        </p:txBody>
      </p:sp>
      <p:sp>
        <p:nvSpPr>
          <p:cNvPr id="6" name="文本框 5"/>
          <p:cNvSpPr txBox="1"/>
          <p:nvPr/>
        </p:nvSpPr>
        <p:spPr>
          <a:xfrm>
            <a:off x="4726940" y="1054100"/>
            <a:ext cx="2380615" cy="368300"/>
          </a:xfrm>
          <a:prstGeom prst="rect">
            <a:avLst/>
          </a:prstGeom>
          <a:noFill/>
        </p:spPr>
        <p:txBody>
          <a:bodyPr wrap="square" rtlCol="0" anchor="t">
            <a:spAutoFit/>
          </a:bodyPr>
          <a:lstStyle/>
          <a:p>
            <a:r>
              <a:rPr lang="zh-CN" altLang="en-US" sz="1800" dirty="0">
                <a:solidFill>
                  <a:srgbClr val="0070C0"/>
                </a:solidFill>
                <a:latin typeface="微软雅黑" panose="020B0503020204020204" pitchFamily="34" charset="-122"/>
                <a:ea typeface="微软雅黑" panose="020B0503020204020204" pitchFamily="34" charset="-122"/>
              </a:rPr>
              <a:t>test01.excel正交表</a:t>
            </a:r>
          </a:p>
        </p:txBody>
      </p:sp>
      <p:pic>
        <p:nvPicPr>
          <p:cNvPr id="4" name="图片 3">
            <a:extLst>
              <a:ext uri="{FF2B5EF4-FFF2-40B4-BE49-F238E27FC236}">
                <a16:creationId xmlns:a16="http://schemas.microsoft.com/office/drawing/2014/main" id="{983F4311-45DA-993D-623E-753A80DC5ADF}"/>
              </a:ext>
            </a:extLst>
          </p:cNvPr>
          <p:cNvPicPr>
            <a:picLocks noChangeAspect="1"/>
          </p:cNvPicPr>
          <p:nvPr/>
        </p:nvPicPr>
        <p:blipFill>
          <a:blip r:embed="rId3"/>
          <a:stretch>
            <a:fillRect/>
          </a:stretch>
        </p:blipFill>
        <p:spPr>
          <a:xfrm>
            <a:off x="2999206" y="1629794"/>
            <a:ext cx="6513202" cy="4035719"/>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Box 48"/>
          <p:cNvSpPr txBox="1"/>
          <p:nvPr/>
        </p:nvSpPr>
        <p:spPr>
          <a:xfrm>
            <a:off x="3970118" y="3014256"/>
            <a:ext cx="6733001" cy="829945"/>
          </a:xfrm>
          <a:prstGeom prst="rect">
            <a:avLst/>
          </a:prstGeom>
          <a:noFill/>
        </p:spPr>
        <p:txBody>
          <a:bodyPr wrap="square" lIns="91443" tIns="45720" rIns="91443" bIns="45720" rtlCol="0">
            <a:spAutoFit/>
          </a:bodyPr>
          <a:lstStyle/>
          <a:p>
            <a:r>
              <a:rPr lang="zh-CN" altLang="en-US" sz="4800" b="1" dirty="0">
                <a:solidFill>
                  <a:srgbClr val="0070C0"/>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场景</a:t>
            </a:r>
            <a:r>
              <a:rPr lang="zh-CN" altLang="en-US" sz="4800" b="1" dirty="0">
                <a:solidFill>
                  <a:srgbClr val="595959"/>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法</a:t>
            </a:r>
          </a:p>
        </p:txBody>
      </p:sp>
      <p:sp>
        <p:nvSpPr>
          <p:cNvPr id="2" name="TextBox 48"/>
          <p:cNvSpPr txBox="1"/>
          <p:nvPr/>
        </p:nvSpPr>
        <p:spPr>
          <a:xfrm>
            <a:off x="1626870" y="2809240"/>
            <a:ext cx="1734820" cy="1106805"/>
          </a:xfrm>
          <a:prstGeom prst="rect">
            <a:avLst/>
          </a:prstGeom>
          <a:noFill/>
        </p:spPr>
        <p:txBody>
          <a:bodyPr wrap="square" lIns="91443" tIns="45720" rIns="91443" bIns="45720" rtlCol="0">
            <a:spAutoFit/>
          </a:bodyPr>
          <a:lstStyle/>
          <a:p>
            <a:r>
              <a:rPr lang="en-US" altLang="en-GB" sz="6600" b="1" dirty="0">
                <a:solidFill>
                  <a:srgbClr val="FAFAFA"/>
                </a:solidFill>
                <a:latin typeface="微软雅黑" panose="020B0503020204020204" pitchFamily="34" charset="-122"/>
                <a:ea typeface="微软雅黑" panose="020B0503020204020204" pitchFamily="34" charset="-122"/>
                <a:cs typeface="+mn-ea"/>
                <a:sym typeface="+mn-lt"/>
              </a:rPr>
              <a:t>2.5</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p:cNvPicPr>
            <a:picLocks noChangeAspect="1"/>
          </p:cNvPicPr>
          <p:nvPr/>
        </p:nvPicPr>
        <p:blipFill>
          <a:blip r:embed="rId3"/>
          <a:stretch>
            <a:fillRect/>
          </a:stretch>
        </p:blipFill>
        <p:spPr>
          <a:xfrm>
            <a:off x="944880" y="2215515"/>
            <a:ext cx="2797810" cy="3898265"/>
          </a:xfrm>
          <a:prstGeom prst="rect">
            <a:avLst/>
          </a:prstGeom>
        </p:spPr>
      </p:pic>
      <p:sp>
        <p:nvSpPr>
          <p:cNvPr id="13" name="椭圆形标注 12"/>
          <p:cNvSpPr/>
          <p:nvPr/>
        </p:nvSpPr>
        <p:spPr>
          <a:xfrm>
            <a:off x="2968625" y="156019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p>
        </p:txBody>
      </p:sp>
      <p:sp>
        <p:nvSpPr>
          <p:cNvPr id="14" name="TextBox 35"/>
          <p:cNvSpPr txBox="1">
            <a:spLocks noChangeArrowheads="1"/>
          </p:cNvSpPr>
          <p:nvPr/>
        </p:nvSpPr>
        <p:spPr bwMode="auto">
          <a:xfrm>
            <a:off x="3247390" y="163830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p>
        </p:txBody>
      </p:sp>
      <p:sp>
        <p:nvSpPr>
          <p:cNvPr id="15" name="TextBox 35"/>
          <p:cNvSpPr txBox="1">
            <a:spLocks noChangeArrowheads="1"/>
          </p:cNvSpPr>
          <p:nvPr/>
        </p:nvSpPr>
        <p:spPr bwMode="auto">
          <a:xfrm>
            <a:off x="5951220" y="3362960"/>
            <a:ext cx="5838190" cy="582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defRPr/>
            </a:pPr>
            <a:r>
              <a:rPr lang="zh-CN" sz="200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掌握场景</a:t>
            </a:r>
            <a:r>
              <a:rPr sz="200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法</a:t>
            </a:r>
            <a:r>
              <a:rPr lang="zh-CN" sz="200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的概述</a:t>
            </a:r>
            <a:r>
              <a:rPr sz="200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，能够</a:t>
            </a:r>
            <a:r>
              <a:rPr sz="2000">
                <a:solidFill>
                  <a:srgbClr val="0070C0"/>
                </a:solidFill>
                <a:latin typeface="微软雅黑" panose="020B0503020204020204" pitchFamily="34" charset="-122"/>
                <a:ea typeface="微软雅黑" panose="020B0503020204020204" pitchFamily="34" charset="-122"/>
                <a:cs typeface="+mn-ea"/>
                <a:sym typeface="字魂58号-创中黑" panose="00000500000000000000" pitchFamily="2" charset="-122"/>
              </a:rPr>
              <a:t>通过</a:t>
            </a:r>
            <a:r>
              <a:rPr lang="zh-CN" sz="2000">
                <a:solidFill>
                  <a:srgbClr val="0070C0"/>
                </a:solidFill>
                <a:latin typeface="微软雅黑" panose="020B0503020204020204" pitchFamily="34" charset="-122"/>
                <a:ea typeface="微软雅黑" panose="020B0503020204020204" pitchFamily="34" charset="-122"/>
                <a:cs typeface="+mn-ea"/>
                <a:sym typeface="+mn-lt"/>
              </a:rPr>
              <a:t>场景</a:t>
            </a:r>
            <a:r>
              <a:rPr sz="2000">
                <a:solidFill>
                  <a:srgbClr val="0070C0"/>
                </a:solidFill>
                <a:latin typeface="微软雅黑" panose="020B0503020204020204" pitchFamily="34" charset="-122"/>
                <a:ea typeface="微软雅黑" panose="020B0503020204020204" pitchFamily="34" charset="-122"/>
                <a:cs typeface="+mn-ea"/>
                <a:sym typeface="字魂58号-创中黑" panose="00000500000000000000" pitchFamily="2" charset="-122"/>
              </a:rPr>
              <a:t>法设计测试用例</a:t>
            </a:r>
          </a:p>
        </p:txBody>
      </p:sp>
      <p:grpSp>
        <p:nvGrpSpPr>
          <p:cNvPr id="19" name="组合 18"/>
          <p:cNvGrpSpPr/>
          <p:nvPr/>
        </p:nvGrpSpPr>
        <p:grpSpPr>
          <a:xfrm>
            <a:off x="5452110" y="3540125"/>
            <a:ext cx="405130" cy="405130"/>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2.5.1	场景法概述</a:t>
            </a: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35"/>
          <p:cNvSpPr txBox="1">
            <a:spLocks noChangeArrowheads="1"/>
          </p:cNvSpPr>
          <p:nvPr/>
        </p:nvSpPr>
        <p:spPr bwMode="auto">
          <a:xfrm>
            <a:off x="4871085" y="1774190"/>
            <a:ext cx="6289675" cy="17824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indent="457200" algn="just">
              <a:lnSpc>
                <a:spcPct val="150000"/>
              </a:lnSpc>
              <a:buClrTx/>
              <a:buSzTx/>
              <a:buFontTx/>
            </a:pPr>
            <a:r>
              <a:rPr lang="zh-CN" altLang="en-US" sz="1800" dirty="0">
                <a:solidFill>
                  <a:srgbClr val="0070C0"/>
                </a:solidFill>
                <a:latin typeface="微软雅黑" panose="020B0503020204020204" pitchFamily="34" charset="-122"/>
                <a:ea typeface="微软雅黑" panose="020B0503020204020204" pitchFamily="34" charset="-122"/>
              </a:rPr>
              <a:t>场景法也叫流程图法</a:t>
            </a:r>
            <a:r>
              <a:rPr lang="zh-CN" altLang="en-US" sz="1800" dirty="0">
                <a:solidFill>
                  <a:srgbClr val="595959"/>
                </a:solidFill>
                <a:latin typeface="微软雅黑" panose="020B0503020204020204" pitchFamily="34" charset="-122"/>
                <a:ea typeface="微软雅黑" panose="020B0503020204020204" pitchFamily="34" charset="-122"/>
              </a:rPr>
              <a:t>，是指通过模拟用户操作软件时的场景来对系统的功能或业务流程进行测试。场景法通常</a:t>
            </a:r>
            <a:r>
              <a:rPr lang="zh-CN" altLang="en-US" sz="1800" dirty="0">
                <a:solidFill>
                  <a:srgbClr val="0070C0"/>
                </a:solidFill>
                <a:latin typeface="微软雅黑" panose="020B0503020204020204" pitchFamily="34" charset="-122"/>
                <a:ea typeface="微软雅黑" panose="020B0503020204020204" pitchFamily="34" charset="-122"/>
              </a:rPr>
              <a:t>用于测试多个功能之间的组合使用情况</a:t>
            </a:r>
            <a:r>
              <a:rPr lang="zh-CN" altLang="en-US" sz="1800" dirty="0">
                <a:solidFill>
                  <a:srgbClr val="595959"/>
                </a:solidFill>
                <a:latin typeface="微软雅黑" panose="020B0503020204020204" pitchFamily="34" charset="-122"/>
                <a:ea typeface="微软雅黑" panose="020B0503020204020204" pitchFamily="34" charset="-122"/>
              </a:rPr>
              <a:t>，以及用于</a:t>
            </a:r>
            <a:r>
              <a:rPr lang="zh-CN" altLang="en-US" sz="1800" dirty="0">
                <a:solidFill>
                  <a:srgbClr val="0070C0"/>
                </a:solidFill>
                <a:latin typeface="微软雅黑" panose="020B0503020204020204" pitchFamily="34" charset="-122"/>
                <a:ea typeface="微软雅黑" panose="020B0503020204020204" pitchFamily="34" charset="-122"/>
              </a:rPr>
              <a:t>集成测试</a:t>
            </a:r>
            <a:r>
              <a:rPr lang="zh-CN" altLang="en-US" sz="1800" dirty="0">
                <a:solidFill>
                  <a:srgbClr val="595959"/>
                </a:solidFill>
                <a:latin typeface="微软雅黑" panose="020B0503020204020204" pitchFamily="34" charset="-122"/>
                <a:ea typeface="微软雅黑" panose="020B0503020204020204" pitchFamily="34" charset="-122"/>
              </a:rPr>
              <a:t>、</a:t>
            </a:r>
            <a:r>
              <a:rPr lang="zh-CN" altLang="en-US" sz="1800" dirty="0">
                <a:solidFill>
                  <a:srgbClr val="0070C0"/>
                </a:solidFill>
                <a:latin typeface="微软雅黑" panose="020B0503020204020204" pitchFamily="34" charset="-122"/>
                <a:ea typeface="微软雅黑" panose="020B0503020204020204" pitchFamily="34" charset="-122"/>
              </a:rPr>
              <a:t>系统测试</a:t>
            </a:r>
            <a:r>
              <a:rPr lang="zh-CN" altLang="en-US" sz="1800" dirty="0">
                <a:solidFill>
                  <a:srgbClr val="595959"/>
                </a:solidFill>
                <a:latin typeface="微软雅黑" panose="020B0503020204020204" pitchFamily="34" charset="-122"/>
                <a:ea typeface="微软雅黑" panose="020B0503020204020204" pitchFamily="34" charset="-122"/>
              </a:rPr>
              <a:t>和</a:t>
            </a:r>
            <a:r>
              <a:rPr lang="zh-CN" altLang="en-US" sz="1800" dirty="0">
                <a:solidFill>
                  <a:srgbClr val="0070C0"/>
                </a:solidFill>
                <a:latin typeface="微软雅黑" panose="020B0503020204020204" pitchFamily="34" charset="-122"/>
                <a:ea typeface="微软雅黑" panose="020B0503020204020204" pitchFamily="34" charset="-122"/>
              </a:rPr>
              <a:t>验收测试</a:t>
            </a:r>
            <a:r>
              <a:rPr lang="zh-CN" altLang="en-US" sz="1800" dirty="0">
                <a:solidFill>
                  <a:srgbClr val="595959"/>
                </a:solidFill>
                <a:latin typeface="微软雅黑" panose="020B0503020204020204" pitchFamily="34" charset="-122"/>
                <a:ea typeface="微软雅黑" panose="020B0503020204020204" pitchFamily="34" charset="-122"/>
              </a:rPr>
              <a:t>阶段。</a:t>
            </a:r>
          </a:p>
        </p:txBody>
      </p:sp>
      <p:pic>
        <p:nvPicPr>
          <p:cNvPr id="33" name="图片 32"/>
          <p:cNvPicPr>
            <a:picLocks noChangeAspect="1"/>
          </p:cNvPicPr>
          <p:nvPr/>
        </p:nvPicPr>
        <p:blipFill>
          <a:blip r:embed="rId3"/>
          <a:stretch>
            <a:fillRect/>
          </a:stretch>
        </p:blipFill>
        <p:spPr>
          <a:xfrm>
            <a:off x="839386" y="1413456"/>
            <a:ext cx="3715858" cy="4006159"/>
          </a:xfrm>
          <a:prstGeom prst="rect">
            <a:avLst/>
          </a:prstGeom>
        </p:spPr>
      </p:pic>
      <p:sp>
        <p:nvSpPr>
          <p:cNvPr id="2"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2.5.1	场景法概述</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35"/>
          <p:cNvSpPr txBox="1">
            <a:spLocks noChangeArrowheads="1"/>
          </p:cNvSpPr>
          <p:nvPr/>
        </p:nvSpPr>
        <p:spPr bwMode="auto">
          <a:xfrm>
            <a:off x="1343025" y="838200"/>
            <a:ext cx="9796780" cy="1367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indent="457200" algn="just">
              <a:lnSpc>
                <a:spcPct val="150000"/>
              </a:lnSpc>
              <a:buClrTx/>
              <a:buSzTx/>
              <a:buFontTx/>
            </a:pPr>
            <a:r>
              <a:rPr lang="zh-CN" altLang="en-US" sz="1800" dirty="0">
                <a:solidFill>
                  <a:srgbClr val="595959"/>
                </a:solidFill>
                <a:latin typeface="微软雅黑" panose="020B0503020204020204" pitchFamily="34" charset="-122"/>
                <a:ea typeface="微软雅黑" panose="020B0503020204020204" pitchFamily="34" charset="-122"/>
              </a:rPr>
              <a:t>根据用户操作流程的正确性来划分时，</a:t>
            </a:r>
            <a:r>
              <a:rPr lang="zh-CN" altLang="en-US" sz="1800" dirty="0">
                <a:solidFill>
                  <a:srgbClr val="0070C0"/>
                </a:solidFill>
                <a:latin typeface="微软雅黑" panose="020B0503020204020204" pitchFamily="34" charset="-122"/>
                <a:ea typeface="微软雅黑" panose="020B0503020204020204" pitchFamily="34" charset="-122"/>
              </a:rPr>
              <a:t>场景法将用户的操作流程分为基本流和备选流</a:t>
            </a:r>
            <a:r>
              <a:rPr lang="zh-CN" altLang="en-US" sz="1800" dirty="0">
                <a:solidFill>
                  <a:srgbClr val="595959"/>
                </a:solidFill>
                <a:latin typeface="微软雅黑" panose="020B0503020204020204" pitchFamily="34" charset="-122"/>
                <a:ea typeface="微软雅黑" panose="020B0503020204020204" pitchFamily="34" charset="-122"/>
              </a:rPr>
              <a:t>。基本流也称为</a:t>
            </a:r>
            <a:r>
              <a:rPr lang="zh-CN" altLang="en-US" sz="1800" dirty="0">
                <a:solidFill>
                  <a:srgbClr val="0070C0"/>
                </a:solidFill>
                <a:latin typeface="微软雅黑" panose="020B0503020204020204" pitchFamily="34" charset="-122"/>
                <a:ea typeface="微软雅黑" panose="020B0503020204020204" pitchFamily="34" charset="-122"/>
              </a:rPr>
              <a:t>有效流</a:t>
            </a:r>
            <a:r>
              <a:rPr lang="zh-CN" altLang="en-US" sz="1800" dirty="0">
                <a:solidFill>
                  <a:srgbClr val="595959"/>
                </a:solidFill>
                <a:latin typeface="微软雅黑" panose="020B0503020204020204" pitchFamily="34" charset="-122"/>
                <a:ea typeface="微软雅黑" panose="020B0503020204020204" pitchFamily="34" charset="-122"/>
              </a:rPr>
              <a:t>，用来</a:t>
            </a:r>
            <a:r>
              <a:rPr lang="zh-CN" altLang="en-US" sz="1800" dirty="0">
                <a:solidFill>
                  <a:srgbClr val="0070C0"/>
                </a:solidFill>
                <a:latin typeface="微软雅黑" panose="020B0503020204020204" pitchFamily="34" charset="-122"/>
                <a:ea typeface="微软雅黑" panose="020B0503020204020204" pitchFamily="34" charset="-122"/>
              </a:rPr>
              <a:t>模拟用户正确的操作</a:t>
            </a:r>
            <a:r>
              <a:rPr lang="zh-CN" altLang="en-US" sz="1800" dirty="0">
                <a:solidFill>
                  <a:srgbClr val="595959"/>
                </a:solidFill>
                <a:latin typeface="微软雅黑" panose="020B0503020204020204" pitchFamily="34" charset="-122"/>
                <a:ea typeface="微软雅黑" panose="020B0503020204020204" pitchFamily="34" charset="-122"/>
              </a:rPr>
              <a:t>流程；备选流也称为</a:t>
            </a:r>
            <a:r>
              <a:rPr lang="zh-CN" altLang="en-US" sz="1800" dirty="0">
                <a:solidFill>
                  <a:srgbClr val="0070C0"/>
                </a:solidFill>
                <a:latin typeface="微软雅黑" panose="020B0503020204020204" pitchFamily="34" charset="-122"/>
                <a:ea typeface="微软雅黑" panose="020B0503020204020204" pitchFamily="34" charset="-122"/>
              </a:rPr>
              <a:t>无效流</a:t>
            </a:r>
            <a:r>
              <a:rPr lang="zh-CN" altLang="en-US" sz="1800" dirty="0">
                <a:solidFill>
                  <a:srgbClr val="595959"/>
                </a:solidFill>
                <a:latin typeface="微软雅黑" panose="020B0503020204020204" pitchFamily="34" charset="-122"/>
                <a:ea typeface="微软雅黑" panose="020B0503020204020204" pitchFamily="34" charset="-122"/>
              </a:rPr>
              <a:t>、</a:t>
            </a:r>
            <a:r>
              <a:rPr lang="zh-CN" altLang="en-US" sz="1800" dirty="0">
                <a:solidFill>
                  <a:srgbClr val="0070C0"/>
                </a:solidFill>
                <a:latin typeface="微软雅黑" panose="020B0503020204020204" pitchFamily="34" charset="-122"/>
                <a:ea typeface="微软雅黑" panose="020B0503020204020204" pitchFamily="34" charset="-122"/>
              </a:rPr>
              <a:t>错误流</a:t>
            </a:r>
            <a:r>
              <a:rPr lang="zh-CN" altLang="en-US" sz="1800" dirty="0">
                <a:solidFill>
                  <a:srgbClr val="595959"/>
                </a:solidFill>
                <a:latin typeface="微软雅黑" panose="020B0503020204020204" pitchFamily="34" charset="-122"/>
                <a:ea typeface="微软雅黑" panose="020B0503020204020204" pitchFamily="34" charset="-122"/>
              </a:rPr>
              <a:t>，用来</a:t>
            </a:r>
            <a:r>
              <a:rPr lang="zh-CN" altLang="en-US" sz="1800" dirty="0">
                <a:solidFill>
                  <a:srgbClr val="0070C0"/>
                </a:solidFill>
                <a:latin typeface="微软雅黑" panose="020B0503020204020204" pitchFamily="34" charset="-122"/>
                <a:ea typeface="微软雅黑" panose="020B0503020204020204" pitchFamily="34" charset="-122"/>
              </a:rPr>
              <a:t>模拟用户错误的操作</a:t>
            </a:r>
            <a:r>
              <a:rPr lang="zh-CN" altLang="en-US" sz="1800" dirty="0">
                <a:solidFill>
                  <a:srgbClr val="595959"/>
                </a:solidFill>
                <a:latin typeface="微软雅黑" panose="020B0503020204020204" pitchFamily="34" charset="-122"/>
                <a:ea typeface="微软雅黑" panose="020B0503020204020204" pitchFamily="34" charset="-122"/>
              </a:rPr>
              <a:t>流程。</a:t>
            </a:r>
            <a:r>
              <a:rPr lang="zh-CN" altLang="en-US" sz="1800" dirty="0">
                <a:solidFill>
                  <a:srgbClr val="0070C0"/>
                </a:solidFill>
                <a:latin typeface="微软雅黑" panose="020B0503020204020204" pitchFamily="34" charset="-122"/>
                <a:ea typeface="微软雅黑" panose="020B0503020204020204" pitchFamily="34" charset="-122"/>
              </a:rPr>
              <a:t>基本流和备选流</a:t>
            </a:r>
            <a:r>
              <a:rPr lang="zh-CN" altLang="en-US" sz="1800" dirty="0">
                <a:solidFill>
                  <a:srgbClr val="595959"/>
                </a:solidFill>
                <a:latin typeface="微软雅黑" panose="020B0503020204020204" pitchFamily="34" charset="-122"/>
                <a:ea typeface="微软雅黑" panose="020B0503020204020204" pitchFamily="34" charset="-122"/>
              </a:rPr>
              <a:t>如下图所示。</a:t>
            </a:r>
          </a:p>
        </p:txBody>
      </p:sp>
      <p:sp>
        <p:nvSpPr>
          <p:cNvPr id="2"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2.5.1	场景法概述</a:t>
            </a:r>
          </a:p>
        </p:txBody>
      </p:sp>
      <p:pic>
        <p:nvPicPr>
          <p:cNvPr id="3" name="图片 2" descr="555"/>
          <p:cNvPicPr>
            <a:picLocks noChangeAspect="1"/>
          </p:cNvPicPr>
          <p:nvPr/>
        </p:nvPicPr>
        <p:blipFill>
          <a:blip r:embed="rId3"/>
          <a:stretch>
            <a:fillRect/>
          </a:stretch>
        </p:blipFill>
        <p:spPr>
          <a:xfrm>
            <a:off x="4295140" y="2133600"/>
            <a:ext cx="4269105" cy="391668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35"/>
          <p:cNvSpPr txBox="1">
            <a:spLocks noChangeArrowheads="1"/>
          </p:cNvSpPr>
          <p:nvPr/>
        </p:nvSpPr>
        <p:spPr bwMode="auto">
          <a:xfrm>
            <a:off x="1343025" y="838200"/>
            <a:ext cx="9796780" cy="4690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indent="457200" algn="just">
              <a:lnSpc>
                <a:spcPct val="150000"/>
              </a:lnSpc>
              <a:buClrTx/>
              <a:buSzTx/>
              <a:buFontTx/>
            </a:pPr>
            <a:r>
              <a:rPr lang="zh-CN" altLang="en-US" sz="1800" dirty="0">
                <a:solidFill>
                  <a:srgbClr val="595959"/>
                </a:solidFill>
                <a:latin typeface="微软雅黑" panose="020B0503020204020204" pitchFamily="34" charset="-122"/>
                <a:ea typeface="微软雅黑" panose="020B0503020204020204" pitchFamily="34" charset="-122"/>
              </a:rPr>
              <a:t>由上一页中的基本流和备选流图可知，基本流有1条，备选流有4条。备选流可以从基本流开始，例如备选流1、备选流2和备选流3；备选流也可以从备选流开始，例如备选流4。通过分析上一页中的</a:t>
            </a:r>
            <a:r>
              <a:rPr lang="zh-CN" altLang="en-US" sz="1800" dirty="0">
                <a:solidFill>
                  <a:srgbClr val="595959"/>
                </a:solidFill>
                <a:latin typeface="微软雅黑" panose="020B0503020204020204" pitchFamily="34" charset="-122"/>
                <a:ea typeface="微软雅黑" panose="020B0503020204020204" pitchFamily="34" charset="-122"/>
                <a:sym typeface="+mn-ea"/>
              </a:rPr>
              <a:t>基本流和备选流</a:t>
            </a:r>
            <a:r>
              <a:rPr lang="zh-CN" altLang="en-US" sz="1800" dirty="0">
                <a:solidFill>
                  <a:srgbClr val="595959"/>
                </a:solidFill>
                <a:latin typeface="微软雅黑" panose="020B0503020204020204" pitchFamily="34" charset="-122"/>
                <a:ea typeface="微软雅黑" panose="020B0503020204020204" pitchFamily="34" charset="-122"/>
              </a:rPr>
              <a:t>图，可以</a:t>
            </a:r>
            <a:r>
              <a:rPr lang="zh-CN" altLang="en-US" sz="1800" dirty="0">
                <a:solidFill>
                  <a:srgbClr val="0070C0"/>
                </a:solidFill>
                <a:latin typeface="微软雅黑" panose="020B0503020204020204" pitchFamily="34" charset="-122"/>
                <a:ea typeface="微软雅黑" panose="020B0503020204020204" pitchFamily="34" charset="-122"/>
              </a:rPr>
              <a:t>确定</a:t>
            </a:r>
            <a:r>
              <a:rPr lang="zh-CN" altLang="en-US" sz="1800" dirty="0">
                <a:solidFill>
                  <a:srgbClr val="595959"/>
                </a:solidFill>
                <a:latin typeface="微软雅黑" panose="020B0503020204020204" pitchFamily="34" charset="-122"/>
                <a:ea typeface="微软雅黑" panose="020B0503020204020204" pitchFamily="34" charset="-122"/>
              </a:rPr>
              <a:t>的</a:t>
            </a:r>
            <a:r>
              <a:rPr lang="zh-CN" altLang="en-US" sz="1800" dirty="0">
                <a:solidFill>
                  <a:srgbClr val="0070C0"/>
                </a:solidFill>
                <a:latin typeface="微软雅黑" panose="020B0503020204020204" pitchFamily="34" charset="-122"/>
                <a:ea typeface="微软雅黑" panose="020B0503020204020204" pitchFamily="34" charset="-122"/>
              </a:rPr>
              <a:t>测试场景</a:t>
            </a:r>
            <a:r>
              <a:rPr lang="zh-CN" altLang="en-US" sz="1800" dirty="0">
                <a:solidFill>
                  <a:srgbClr val="595959"/>
                </a:solidFill>
                <a:latin typeface="微软雅黑" panose="020B0503020204020204" pitchFamily="34" charset="-122"/>
                <a:ea typeface="微软雅黑" panose="020B0503020204020204" pitchFamily="34" charset="-122"/>
              </a:rPr>
              <a:t>如下。                  </a:t>
            </a:r>
          </a:p>
          <a:p>
            <a:pPr marL="285750" indent="-285750" algn="just">
              <a:lnSpc>
                <a:spcPct val="150000"/>
              </a:lnSpc>
              <a:buClrTx/>
              <a:buSzTx/>
              <a:buFont typeface="Wingdings" panose="05000000000000000000" charset="0"/>
              <a:buChar char="l"/>
            </a:pPr>
            <a:r>
              <a:rPr lang="zh-CN" altLang="en-US" sz="1800" dirty="0">
                <a:solidFill>
                  <a:srgbClr val="595959"/>
                </a:solidFill>
                <a:latin typeface="微软雅黑" panose="020B0503020204020204" pitchFamily="34" charset="-122"/>
                <a:ea typeface="微软雅黑" panose="020B0503020204020204" pitchFamily="34" charset="-122"/>
              </a:rPr>
              <a:t>场景1：</a:t>
            </a:r>
            <a:r>
              <a:rPr lang="zh-CN" altLang="en-US" sz="1800" dirty="0">
                <a:solidFill>
                  <a:srgbClr val="0070C0"/>
                </a:solidFill>
                <a:latin typeface="微软雅黑" panose="020B0503020204020204" pitchFamily="34" charset="-122"/>
                <a:ea typeface="微软雅黑" panose="020B0503020204020204" pitchFamily="34" charset="-122"/>
              </a:rPr>
              <a:t>基本流</a:t>
            </a:r>
            <a:r>
              <a:rPr lang="zh-CN" altLang="en-US" sz="1800" dirty="0">
                <a:solidFill>
                  <a:srgbClr val="595959"/>
                </a:solidFill>
                <a:latin typeface="微软雅黑" panose="020B0503020204020204" pitchFamily="34" charset="-122"/>
                <a:ea typeface="微软雅黑" panose="020B0503020204020204" pitchFamily="34" charset="-122"/>
              </a:rPr>
              <a:t>。</a:t>
            </a:r>
          </a:p>
          <a:p>
            <a:pPr marL="285750" indent="-285750" algn="just">
              <a:lnSpc>
                <a:spcPct val="150000"/>
              </a:lnSpc>
              <a:buClrTx/>
              <a:buSzTx/>
              <a:buFont typeface="Wingdings" panose="05000000000000000000" charset="0"/>
              <a:buChar char="l"/>
            </a:pPr>
            <a:r>
              <a:rPr lang="zh-CN" altLang="en-US" sz="1800" dirty="0">
                <a:solidFill>
                  <a:srgbClr val="595959"/>
                </a:solidFill>
                <a:latin typeface="微软雅黑" panose="020B0503020204020204" pitchFamily="34" charset="-122"/>
                <a:ea typeface="微软雅黑" panose="020B0503020204020204" pitchFamily="34" charset="-122"/>
              </a:rPr>
              <a:t>场景2：</a:t>
            </a:r>
            <a:r>
              <a:rPr lang="zh-CN" altLang="en-US" sz="1800" dirty="0">
                <a:solidFill>
                  <a:srgbClr val="0070C0"/>
                </a:solidFill>
                <a:latin typeface="微软雅黑" panose="020B0503020204020204" pitchFamily="34" charset="-122"/>
                <a:ea typeface="微软雅黑" panose="020B0503020204020204" pitchFamily="34" charset="-122"/>
              </a:rPr>
              <a:t>基本流→备选流1</a:t>
            </a:r>
            <a:r>
              <a:rPr lang="zh-CN" altLang="en-US" sz="1800" dirty="0">
                <a:solidFill>
                  <a:srgbClr val="595959"/>
                </a:solidFill>
                <a:latin typeface="微软雅黑" panose="020B0503020204020204" pitchFamily="34" charset="-122"/>
                <a:ea typeface="微软雅黑" panose="020B0503020204020204" pitchFamily="34" charset="-122"/>
              </a:rPr>
              <a:t>。</a:t>
            </a:r>
          </a:p>
          <a:p>
            <a:pPr marL="285750" indent="-285750" algn="just">
              <a:lnSpc>
                <a:spcPct val="150000"/>
              </a:lnSpc>
              <a:buClrTx/>
              <a:buSzTx/>
              <a:buFont typeface="Wingdings" panose="05000000000000000000" charset="0"/>
              <a:buChar char="l"/>
            </a:pPr>
            <a:r>
              <a:rPr lang="zh-CN" altLang="en-US" sz="1800" dirty="0">
                <a:solidFill>
                  <a:srgbClr val="595959"/>
                </a:solidFill>
                <a:latin typeface="微软雅黑" panose="020B0503020204020204" pitchFamily="34" charset="-122"/>
                <a:ea typeface="微软雅黑" panose="020B0503020204020204" pitchFamily="34" charset="-122"/>
              </a:rPr>
              <a:t>场景3：</a:t>
            </a:r>
            <a:r>
              <a:rPr lang="zh-CN" altLang="en-US" sz="1800" dirty="0">
                <a:solidFill>
                  <a:srgbClr val="0070C0"/>
                </a:solidFill>
                <a:latin typeface="微软雅黑" panose="020B0503020204020204" pitchFamily="34" charset="-122"/>
                <a:ea typeface="微软雅黑" panose="020B0503020204020204" pitchFamily="34" charset="-122"/>
              </a:rPr>
              <a:t>基本流→备选流1→备选流2</a:t>
            </a:r>
            <a:r>
              <a:rPr lang="zh-CN" altLang="en-US" sz="1800" dirty="0">
                <a:solidFill>
                  <a:srgbClr val="595959"/>
                </a:solidFill>
                <a:latin typeface="微软雅黑" panose="020B0503020204020204" pitchFamily="34" charset="-122"/>
                <a:ea typeface="微软雅黑" panose="020B0503020204020204" pitchFamily="34" charset="-122"/>
              </a:rPr>
              <a:t>。</a:t>
            </a:r>
          </a:p>
          <a:p>
            <a:pPr marL="285750" indent="-285750" algn="just">
              <a:lnSpc>
                <a:spcPct val="150000"/>
              </a:lnSpc>
              <a:buClrTx/>
              <a:buSzTx/>
              <a:buFont typeface="Wingdings" panose="05000000000000000000" charset="0"/>
              <a:buChar char="l"/>
            </a:pPr>
            <a:r>
              <a:rPr lang="zh-CN" altLang="en-US" sz="1800" dirty="0">
                <a:solidFill>
                  <a:srgbClr val="595959"/>
                </a:solidFill>
                <a:latin typeface="微软雅黑" panose="020B0503020204020204" pitchFamily="34" charset="-122"/>
                <a:ea typeface="微软雅黑" panose="020B0503020204020204" pitchFamily="34" charset="-122"/>
              </a:rPr>
              <a:t>场景4：</a:t>
            </a:r>
            <a:r>
              <a:rPr lang="zh-CN" altLang="en-US" sz="1800" dirty="0">
                <a:solidFill>
                  <a:srgbClr val="0070C0"/>
                </a:solidFill>
                <a:latin typeface="微软雅黑" panose="020B0503020204020204" pitchFamily="34" charset="-122"/>
                <a:ea typeface="微软雅黑" panose="020B0503020204020204" pitchFamily="34" charset="-122"/>
              </a:rPr>
              <a:t>基本流→备选流1→备选流3</a:t>
            </a:r>
            <a:r>
              <a:rPr lang="zh-CN" altLang="en-US" sz="1800" dirty="0">
                <a:solidFill>
                  <a:srgbClr val="595959"/>
                </a:solidFill>
                <a:latin typeface="微软雅黑" panose="020B0503020204020204" pitchFamily="34" charset="-122"/>
                <a:ea typeface="微软雅黑" panose="020B0503020204020204" pitchFamily="34" charset="-122"/>
              </a:rPr>
              <a:t>。</a:t>
            </a:r>
          </a:p>
          <a:p>
            <a:pPr marL="285750" indent="-285750" algn="just">
              <a:lnSpc>
                <a:spcPct val="150000"/>
              </a:lnSpc>
              <a:buClrTx/>
              <a:buSzTx/>
              <a:buFont typeface="Wingdings" panose="05000000000000000000" charset="0"/>
              <a:buChar char="l"/>
            </a:pPr>
            <a:r>
              <a:rPr lang="zh-CN" altLang="en-US" sz="1800" dirty="0">
                <a:solidFill>
                  <a:srgbClr val="595959"/>
                </a:solidFill>
                <a:latin typeface="微软雅黑" panose="020B0503020204020204" pitchFamily="34" charset="-122"/>
                <a:ea typeface="微软雅黑" panose="020B0503020204020204" pitchFamily="34" charset="-122"/>
              </a:rPr>
              <a:t>场景5：</a:t>
            </a:r>
            <a:r>
              <a:rPr lang="zh-CN" altLang="en-US" sz="1800" dirty="0">
                <a:solidFill>
                  <a:srgbClr val="0070C0"/>
                </a:solidFill>
                <a:latin typeface="微软雅黑" panose="020B0503020204020204" pitchFamily="34" charset="-122"/>
                <a:ea typeface="微软雅黑" panose="020B0503020204020204" pitchFamily="34" charset="-122"/>
              </a:rPr>
              <a:t>基本流→备选流1→备选流3→备选流4</a:t>
            </a:r>
            <a:r>
              <a:rPr lang="zh-CN" altLang="en-US" sz="1800" dirty="0">
                <a:solidFill>
                  <a:srgbClr val="595959"/>
                </a:solidFill>
                <a:latin typeface="微软雅黑" panose="020B0503020204020204" pitchFamily="34" charset="-122"/>
                <a:ea typeface="微软雅黑" panose="020B0503020204020204" pitchFamily="34" charset="-122"/>
              </a:rPr>
              <a:t>。</a:t>
            </a:r>
          </a:p>
          <a:p>
            <a:pPr marL="285750" indent="-285750" algn="just">
              <a:lnSpc>
                <a:spcPct val="150000"/>
              </a:lnSpc>
              <a:buClrTx/>
              <a:buSzTx/>
              <a:buFont typeface="Wingdings" panose="05000000000000000000" charset="0"/>
              <a:buChar char="l"/>
            </a:pPr>
            <a:r>
              <a:rPr lang="zh-CN" altLang="en-US" sz="1800" dirty="0">
                <a:solidFill>
                  <a:srgbClr val="595959"/>
                </a:solidFill>
                <a:latin typeface="微软雅黑" panose="020B0503020204020204" pitchFamily="34" charset="-122"/>
                <a:ea typeface="微软雅黑" panose="020B0503020204020204" pitchFamily="34" charset="-122"/>
              </a:rPr>
              <a:t>场景6：</a:t>
            </a:r>
            <a:r>
              <a:rPr lang="zh-CN" altLang="en-US" sz="1800" dirty="0">
                <a:solidFill>
                  <a:srgbClr val="0070C0"/>
                </a:solidFill>
                <a:latin typeface="微软雅黑" panose="020B0503020204020204" pitchFamily="34" charset="-122"/>
                <a:ea typeface="微软雅黑" panose="020B0503020204020204" pitchFamily="34" charset="-122"/>
              </a:rPr>
              <a:t>基本流→备选流2</a:t>
            </a:r>
            <a:r>
              <a:rPr lang="zh-CN" altLang="en-US" sz="1800" dirty="0">
                <a:solidFill>
                  <a:srgbClr val="595959"/>
                </a:solidFill>
                <a:latin typeface="微软雅黑" panose="020B0503020204020204" pitchFamily="34" charset="-122"/>
                <a:ea typeface="微软雅黑" panose="020B0503020204020204" pitchFamily="34" charset="-122"/>
              </a:rPr>
              <a:t>。</a:t>
            </a:r>
          </a:p>
          <a:p>
            <a:pPr marL="285750" indent="-285750" algn="just">
              <a:lnSpc>
                <a:spcPct val="150000"/>
              </a:lnSpc>
              <a:buClrTx/>
              <a:buSzTx/>
              <a:buFont typeface="Wingdings" panose="05000000000000000000" charset="0"/>
              <a:buChar char="l"/>
            </a:pPr>
            <a:r>
              <a:rPr lang="zh-CN" altLang="en-US" sz="1800" dirty="0">
                <a:solidFill>
                  <a:srgbClr val="595959"/>
                </a:solidFill>
                <a:latin typeface="微软雅黑" panose="020B0503020204020204" pitchFamily="34" charset="-122"/>
                <a:ea typeface="微软雅黑" panose="020B0503020204020204" pitchFamily="34" charset="-122"/>
              </a:rPr>
              <a:t>场景7：</a:t>
            </a:r>
            <a:r>
              <a:rPr lang="zh-CN" altLang="en-US" sz="1800" dirty="0">
                <a:solidFill>
                  <a:srgbClr val="0070C0"/>
                </a:solidFill>
                <a:latin typeface="微软雅黑" panose="020B0503020204020204" pitchFamily="34" charset="-122"/>
                <a:ea typeface="微软雅黑" panose="020B0503020204020204" pitchFamily="34" charset="-122"/>
              </a:rPr>
              <a:t>基本流→备选流3</a:t>
            </a:r>
            <a:r>
              <a:rPr lang="zh-CN" altLang="en-US" sz="1800" dirty="0">
                <a:solidFill>
                  <a:srgbClr val="595959"/>
                </a:solidFill>
                <a:latin typeface="微软雅黑" panose="020B0503020204020204" pitchFamily="34" charset="-122"/>
                <a:ea typeface="微软雅黑" panose="020B0503020204020204" pitchFamily="34" charset="-122"/>
              </a:rPr>
              <a:t>。</a:t>
            </a:r>
          </a:p>
          <a:p>
            <a:pPr marL="285750" indent="-285750" algn="just">
              <a:lnSpc>
                <a:spcPct val="150000"/>
              </a:lnSpc>
              <a:buClrTx/>
              <a:buSzTx/>
              <a:buFont typeface="Wingdings" panose="05000000000000000000" charset="0"/>
              <a:buChar char="l"/>
            </a:pPr>
            <a:r>
              <a:rPr lang="zh-CN" altLang="en-US" sz="1800" dirty="0">
                <a:solidFill>
                  <a:srgbClr val="595959"/>
                </a:solidFill>
                <a:latin typeface="微软雅黑" panose="020B0503020204020204" pitchFamily="34" charset="-122"/>
                <a:ea typeface="微软雅黑" panose="020B0503020204020204" pitchFamily="34" charset="-122"/>
              </a:rPr>
              <a:t>场景8：</a:t>
            </a:r>
            <a:r>
              <a:rPr lang="zh-CN" altLang="en-US" sz="1800" dirty="0">
                <a:solidFill>
                  <a:srgbClr val="0070C0"/>
                </a:solidFill>
                <a:latin typeface="微软雅黑" panose="020B0503020204020204" pitchFamily="34" charset="-122"/>
                <a:ea typeface="微软雅黑" panose="020B0503020204020204" pitchFamily="34" charset="-122"/>
              </a:rPr>
              <a:t>基本流→备选流3→备选流4</a:t>
            </a:r>
            <a:r>
              <a:rPr lang="zh-CN" altLang="en-US" sz="1800" dirty="0">
                <a:solidFill>
                  <a:srgbClr val="595959"/>
                </a:solidFill>
                <a:latin typeface="微软雅黑" panose="020B0503020204020204" pitchFamily="34" charset="-122"/>
                <a:ea typeface="微软雅黑" panose="020B0503020204020204" pitchFamily="34" charset="-122"/>
              </a:rPr>
              <a:t>。</a:t>
            </a:r>
          </a:p>
        </p:txBody>
      </p:sp>
      <p:sp>
        <p:nvSpPr>
          <p:cNvPr id="2"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2.5.1	场景法概述</a:t>
            </a:r>
          </a:p>
        </p:txBody>
      </p:sp>
      <p:pic>
        <p:nvPicPr>
          <p:cNvPr id="5" name="图片 4" descr="555">
            <a:extLst>
              <a:ext uri="{FF2B5EF4-FFF2-40B4-BE49-F238E27FC236}">
                <a16:creationId xmlns:a16="http://schemas.microsoft.com/office/drawing/2014/main" id="{7F07370C-4633-DAA9-175E-17F0D52D76E7}"/>
              </a:ext>
            </a:extLst>
          </p:cNvPr>
          <p:cNvPicPr>
            <a:picLocks noChangeAspect="1"/>
          </p:cNvPicPr>
          <p:nvPr/>
        </p:nvPicPr>
        <p:blipFill>
          <a:blip r:embed="rId3"/>
          <a:stretch>
            <a:fillRect/>
          </a:stretch>
        </p:blipFill>
        <p:spPr>
          <a:xfrm>
            <a:off x="7823206" y="2145351"/>
            <a:ext cx="3688051" cy="3383594"/>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35"/>
          <p:cNvSpPr txBox="1">
            <a:spLocks noChangeArrowheads="1"/>
          </p:cNvSpPr>
          <p:nvPr/>
        </p:nvSpPr>
        <p:spPr bwMode="auto">
          <a:xfrm>
            <a:off x="1343206" y="796688"/>
            <a:ext cx="9796780" cy="30315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indent="457200" algn="just">
              <a:lnSpc>
                <a:spcPct val="150000"/>
              </a:lnSpc>
              <a:buClrTx/>
              <a:buSzTx/>
              <a:buFontTx/>
            </a:pPr>
            <a:r>
              <a:rPr lang="zh-CN" altLang="en-US" sz="1800" dirty="0">
                <a:solidFill>
                  <a:srgbClr val="595959"/>
                </a:solidFill>
                <a:latin typeface="微软雅黑" panose="020B0503020204020204" pitchFamily="34" charset="-122"/>
                <a:ea typeface="微软雅黑" panose="020B0503020204020204" pitchFamily="34" charset="-122"/>
              </a:rPr>
              <a:t>在场景法中每一个场景是一条流程路径，根据</a:t>
            </a:r>
            <a:r>
              <a:rPr lang="zh-CN" altLang="en-US" sz="1800" dirty="0">
                <a:solidFill>
                  <a:srgbClr val="0070C0"/>
                </a:solidFill>
                <a:latin typeface="微软雅黑" panose="020B0503020204020204" pitchFamily="34" charset="-122"/>
                <a:ea typeface="微软雅黑" panose="020B0503020204020204" pitchFamily="34" charset="-122"/>
              </a:rPr>
              <a:t>流程路径的数量即可设计测试用例</a:t>
            </a:r>
            <a:r>
              <a:rPr lang="zh-CN" altLang="en-US" sz="1800" dirty="0">
                <a:solidFill>
                  <a:srgbClr val="595959"/>
                </a:solidFill>
                <a:latin typeface="微软雅黑" panose="020B0503020204020204" pitchFamily="34" charset="-122"/>
                <a:ea typeface="微软雅黑" panose="020B0503020204020204" pitchFamily="34" charset="-122"/>
              </a:rPr>
              <a:t>。使用场景法设计测试用例可以按照以下4个步骤进行。               </a:t>
            </a:r>
          </a:p>
          <a:p>
            <a:pPr marL="285750" indent="-285750" algn="just">
              <a:lnSpc>
                <a:spcPct val="150000"/>
              </a:lnSpc>
              <a:buClrTx/>
              <a:buSzTx/>
              <a:buFont typeface="Wingdings" panose="05000000000000000000" charset="0"/>
              <a:buChar char="l"/>
            </a:pPr>
            <a:r>
              <a:rPr lang="zh-CN" altLang="en-US" sz="1800" dirty="0">
                <a:solidFill>
                  <a:srgbClr val="595959"/>
                </a:solidFill>
                <a:latin typeface="微软雅黑" panose="020B0503020204020204" pitchFamily="34" charset="-122"/>
                <a:ea typeface="微软雅黑" panose="020B0503020204020204" pitchFamily="34" charset="-122"/>
              </a:rPr>
              <a:t>步骤1：</a:t>
            </a:r>
            <a:r>
              <a:rPr lang="zh-CN" altLang="en-US" sz="1800" dirty="0">
                <a:solidFill>
                  <a:srgbClr val="0070C0"/>
                </a:solidFill>
                <a:latin typeface="微软雅黑" panose="020B0503020204020204" pitchFamily="34" charset="-122"/>
                <a:ea typeface="微软雅黑" panose="020B0503020204020204" pitchFamily="34" charset="-122"/>
              </a:rPr>
              <a:t>分析需求规格说明书</a:t>
            </a:r>
            <a:r>
              <a:rPr lang="zh-CN" altLang="en-US" sz="1800" dirty="0">
                <a:solidFill>
                  <a:srgbClr val="595959"/>
                </a:solidFill>
                <a:latin typeface="微软雅黑" panose="020B0503020204020204" pitchFamily="34" charset="-122"/>
                <a:ea typeface="微软雅黑" panose="020B0503020204020204" pitchFamily="34" charset="-122"/>
              </a:rPr>
              <a:t>。</a:t>
            </a:r>
          </a:p>
          <a:p>
            <a:pPr marL="285750" indent="-285750" algn="just">
              <a:lnSpc>
                <a:spcPct val="150000"/>
              </a:lnSpc>
              <a:buClrTx/>
              <a:buSzTx/>
              <a:buFont typeface="Wingdings" panose="05000000000000000000" charset="0"/>
              <a:buChar char="l"/>
            </a:pPr>
            <a:r>
              <a:rPr lang="zh-CN" altLang="en-US" sz="1800" dirty="0">
                <a:solidFill>
                  <a:srgbClr val="595959"/>
                </a:solidFill>
                <a:latin typeface="微软雅黑" panose="020B0503020204020204" pitchFamily="34" charset="-122"/>
                <a:ea typeface="微软雅黑" panose="020B0503020204020204" pitchFamily="34" charset="-122"/>
              </a:rPr>
              <a:t>步骤2：根据需求规格说明书</a:t>
            </a:r>
            <a:r>
              <a:rPr lang="zh-CN" altLang="en-US" sz="1800" dirty="0">
                <a:solidFill>
                  <a:srgbClr val="0070C0"/>
                </a:solidFill>
                <a:latin typeface="微软雅黑" panose="020B0503020204020204" pitchFamily="34" charset="-122"/>
                <a:ea typeface="微软雅黑" panose="020B0503020204020204" pitchFamily="34" charset="-122"/>
              </a:rPr>
              <a:t>绘制流程图</a:t>
            </a:r>
            <a:r>
              <a:rPr lang="zh-CN" altLang="en-US" sz="1800" dirty="0">
                <a:solidFill>
                  <a:srgbClr val="595959"/>
                </a:solidFill>
                <a:latin typeface="微软雅黑" panose="020B0503020204020204" pitchFamily="34" charset="-122"/>
                <a:ea typeface="微软雅黑" panose="020B0503020204020204" pitchFamily="34" charset="-122"/>
              </a:rPr>
              <a:t>。</a:t>
            </a:r>
          </a:p>
          <a:p>
            <a:pPr marL="285750" indent="-285750" algn="just">
              <a:lnSpc>
                <a:spcPct val="150000"/>
              </a:lnSpc>
              <a:buClrTx/>
              <a:buSzTx/>
              <a:buFont typeface="Wingdings" panose="05000000000000000000" charset="0"/>
              <a:buChar char="l"/>
            </a:pPr>
            <a:r>
              <a:rPr lang="zh-CN" altLang="en-US" sz="1800" dirty="0">
                <a:solidFill>
                  <a:srgbClr val="595959"/>
                </a:solidFill>
                <a:latin typeface="微软雅黑" panose="020B0503020204020204" pitchFamily="34" charset="-122"/>
                <a:ea typeface="微软雅黑" panose="020B0503020204020204" pitchFamily="34" charset="-122"/>
              </a:rPr>
              <a:t>步骤3：根据流程图</a:t>
            </a:r>
            <a:r>
              <a:rPr lang="zh-CN" altLang="en-US" sz="1800" dirty="0">
                <a:solidFill>
                  <a:srgbClr val="0070C0"/>
                </a:solidFill>
                <a:latin typeface="微软雅黑" panose="020B0503020204020204" pitchFamily="34" charset="-122"/>
                <a:ea typeface="微软雅黑" panose="020B0503020204020204" pitchFamily="34" charset="-122"/>
              </a:rPr>
              <a:t>确定测试场景</a:t>
            </a:r>
            <a:r>
              <a:rPr lang="zh-CN" altLang="en-US" sz="1800" dirty="0">
                <a:solidFill>
                  <a:srgbClr val="595959"/>
                </a:solidFill>
                <a:latin typeface="微软雅黑" panose="020B0503020204020204" pitchFamily="34" charset="-122"/>
                <a:ea typeface="微软雅黑" panose="020B0503020204020204" pitchFamily="34" charset="-122"/>
              </a:rPr>
              <a:t>。</a:t>
            </a:r>
          </a:p>
          <a:p>
            <a:pPr marL="285750" indent="-285750" algn="just">
              <a:lnSpc>
                <a:spcPct val="150000"/>
              </a:lnSpc>
              <a:buClrTx/>
              <a:buSzTx/>
              <a:buFont typeface="Wingdings" panose="05000000000000000000" charset="0"/>
              <a:buChar char="l"/>
            </a:pPr>
            <a:r>
              <a:rPr lang="zh-CN" altLang="en-US" sz="1800" dirty="0">
                <a:solidFill>
                  <a:srgbClr val="595959"/>
                </a:solidFill>
                <a:latin typeface="微软雅黑" panose="020B0503020204020204" pitchFamily="34" charset="-122"/>
                <a:ea typeface="微软雅黑" panose="020B0503020204020204" pitchFamily="34" charset="-122"/>
              </a:rPr>
              <a:t>步骤4：根据测试场景</a:t>
            </a:r>
            <a:r>
              <a:rPr lang="zh-CN" altLang="en-US" sz="1800" dirty="0">
                <a:solidFill>
                  <a:srgbClr val="0070C0"/>
                </a:solidFill>
                <a:latin typeface="微软雅黑" panose="020B0503020204020204" pitchFamily="34" charset="-122"/>
                <a:ea typeface="微软雅黑" panose="020B0503020204020204" pitchFamily="34" charset="-122"/>
              </a:rPr>
              <a:t>设计测试用例</a:t>
            </a:r>
            <a:r>
              <a:rPr lang="zh-CN" altLang="en-US" sz="1800" dirty="0">
                <a:solidFill>
                  <a:srgbClr val="595959"/>
                </a:solidFill>
                <a:latin typeface="微软雅黑" panose="020B0503020204020204" pitchFamily="34" charset="-122"/>
                <a:ea typeface="微软雅黑" panose="020B0503020204020204" pitchFamily="34" charset="-122"/>
              </a:rPr>
              <a:t>。</a:t>
            </a:r>
          </a:p>
          <a:p>
            <a:pPr indent="0" algn="just">
              <a:lnSpc>
                <a:spcPct val="150000"/>
              </a:lnSpc>
              <a:buClrTx/>
              <a:buSzTx/>
              <a:buFont typeface="Wingdings" panose="05000000000000000000" charset="0"/>
              <a:buNone/>
            </a:pPr>
            <a:r>
              <a:rPr lang="zh-CN" altLang="en-US" sz="1800" dirty="0">
                <a:solidFill>
                  <a:srgbClr val="0070C0"/>
                </a:solidFill>
                <a:latin typeface="微软雅黑" panose="020B0503020204020204" pitchFamily="34" charset="-122"/>
                <a:ea typeface="微软雅黑" panose="020B0503020204020204" pitchFamily="34" charset="-122"/>
              </a:rPr>
              <a:t>流程图常用的符号名称与说明</a:t>
            </a:r>
            <a:r>
              <a:rPr lang="zh-CN" altLang="en-US" sz="1800" dirty="0">
                <a:solidFill>
                  <a:srgbClr val="595959"/>
                </a:solidFill>
                <a:latin typeface="微软雅黑" panose="020B0503020204020204" pitchFamily="34" charset="-122"/>
                <a:ea typeface="微软雅黑" panose="020B0503020204020204" pitchFamily="34" charset="-122"/>
              </a:rPr>
              <a:t>如下表所示。</a:t>
            </a:r>
          </a:p>
        </p:txBody>
      </p:sp>
      <p:sp>
        <p:nvSpPr>
          <p:cNvPr id="2"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2.5.1	场景法概述</a:t>
            </a:r>
          </a:p>
        </p:txBody>
      </p:sp>
      <p:graphicFrame>
        <p:nvGraphicFramePr>
          <p:cNvPr id="4" name="表格 3"/>
          <p:cNvGraphicFramePr/>
          <p:nvPr>
            <p:custDataLst>
              <p:tags r:id="rId1"/>
            </p:custDataLst>
          </p:nvPr>
        </p:nvGraphicFramePr>
        <p:xfrm>
          <a:off x="3503206" y="3828283"/>
          <a:ext cx="5643245" cy="2869565"/>
        </p:xfrm>
        <a:graphic>
          <a:graphicData uri="http://schemas.openxmlformats.org/drawingml/2006/table">
            <a:tbl>
              <a:tblPr firstRow="1" bandRow="1">
                <a:tableStyleId>{5C22544A-7EE6-4342-B048-85BDC9FD1C3A}</a:tableStyleId>
              </a:tblPr>
              <a:tblGrid>
                <a:gridCol w="1511935">
                  <a:extLst>
                    <a:ext uri="{9D8B030D-6E8A-4147-A177-3AD203B41FA5}">
                      <a16:colId xmlns:a16="http://schemas.microsoft.com/office/drawing/2014/main" val="20000"/>
                    </a:ext>
                  </a:extLst>
                </a:gridCol>
                <a:gridCol w="1537335">
                  <a:extLst>
                    <a:ext uri="{9D8B030D-6E8A-4147-A177-3AD203B41FA5}">
                      <a16:colId xmlns:a16="http://schemas.microsoft.com/office/drawing/2014/main" val="20001"/>
                    </a:ext>
                  </a:extLst>
                </a:gridCol>
                <a:gridCol w="2593975">
                  <a:extLst>
                    <a:ext uri="{9D8B030D-6E8A-4147-A177-3AD203B41FA5}">
                      <a16:colId xmlns:a16="http://schemas.microsoft.com/office/drawing/2014/main" val="20002"/>
                    </a:ext>
                  </a:extLst>
                </a:gridCol>
              </a:tblGrid>
              <a:tr h="605790">
                <a:tc>
                  <a:txBody>
                    <a:bodyPr/>
                    <a:lstStyle/>
                    <a:p>
                      <a:pPr algn="ctr">
                        <a:lnSpc>
                          <a:spcPct val="90000"/>
                        </a:lnSpc>
                        <a:buNone/>
                      </a:pPr>
                      <a:r>
                        <a:rPr lang="zh-CN" altLang="en-US" sz="1800" b="1">
                          <a:latin typeface="微软雅黑" panose="020B0503020204020204" pitchFamily="34" charset="-122"/>
                          <a:ea typeface="微软雅黑" panose="020B0503020204020204" pitchFamily="34" charset="-122"/>
                        </a:rPr>
                        <a:t>符号</a:t>
                      </a:r>
                    </a:p>
                  </a:txBody>
                  <a:tcPr anchor="ctr"/>
                </a:tc>
                <a:tc>
                  <a:txBody>
                    <a:bodyPr/>
                    <a:lstStyle/>
                    <a:p>
                      <a:pPr algn="ctr">
                        <a:lnSpc>
                          <a:spcPct val="90000"/>
                        </a:lnSpc>
                        <a:buNone/>
                      </a:pPr>
                      <a:r>
                        <a:rPr lang="en-US" altLang="zh-CN" sz="1800">
                          <a:latin typeface="微软雅黑" panose="020B0503020204020204" pitchFamily="34" charset="-122"/>
                          <a:ea typeface="微软雅黑" panose="020B0503020204020204" pitchFamily="34" charset="-122"/>
                        </a:rPr>
                        <a:t>名称</a:t>
                      </a:r>
                    </a:p>
                  </a:txBody>
                  <a:tcPr anchor="ctr"/>
                </a:tc>
                <a:tc>
                  <a:txBody>
                    <a:bodyPr/>
                    <a:lstStyle/>
                    <a:p>
                      <a:pPr algn="ctr">
                        <a:lnSpc>
                          <a:spcPct val="90000"/>
                        </a:lnSpc>
                        <a:buNone/>
                      </a:pPr>
                      <a:r>
                        <a:rPr lang="en-US" altLang="zh-CN" sz="1800">
                          <a:latin typeface="微软雅黑" panose="020B0503020204020204" pitchFamily="34" charset="-122"/>
                          <a:ea typeface="微软雅黑" panose="020B0503020204020204" pitchFamily="34" charset="-122"/>
                        </a:rPr>
                        <a:t>说明</a:t>
                      </a:r>
                    </a:p>
                  </a:txBody>
                  <a:tcPr anchor="ctr"/>
                </a:tc>
                <a:extLst>
                  <a:ext uri="{0D108BD9-81ED-4DB2-BD59-A6C34878D82A}">
                    <a16:rowId xmlns:a16="http://schemas.microsoft.com/office/drawing/2014/main" val="10000"/>
                  </a:ext>
                </a:extLst>
              </a:tr>
              <a:tr h="464185">
                <a:tc>
                  <a:txBody>
                    <a:bodyPr/>
                    <a:lstStyle/>
                    <a:p>
                      <a:pPr algn="ctr">
                        <a:buNone/>
                      </a:pPr>
                      <a:endParaRPr lang="en-US" altLang="zh-CN" sz="1600">
                        <a:latin typeface="微软雅黑" panose="020B0503020204020204" pitchFamily="34" charset="-122"/>
                        <a:ea typeface="微软雅黑" panose="020B0503020204020204" pitchFamily="34" charset="-122"/>
                      </a:endParaRPr>
                    </a:p>
                  </a:txBody>
                  <a:tcPr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椭圆</a:t>
                      </a:r>
                    </a:p>
                  </a:txBody>
                  <a:tcPr marL="68580" marR="68580" marT="0" marB="0" anchor="ctr"/>
                </a:tc>
                <a:tc>
                  <a:txBody>
                    <a:bodyPr/>
                    <a:lstStyle/>
                    <a:p>
                      <a:pPr algn="l">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表示流程的开始或结束</a:t>
                      </a:r>
                    </a:p>
                  </a:txBody>
                  <a:tcPr marL="68580" marR="68580" marT="0" marB="0" anchor="ctr"/>
                </a:tc>
                <a:extLst>
                  <a:ext uri="{0D108BD9-81ED-4DB2-BD59-A6C34878D82A}">
                    <a16:rowId xmlns:a16="http://schemas.microsoft.com/office/drawing/2014/main" val="10001"/>
                  </a:ext>
                </a:extLst>
              </a:tr>
              <a:tr h="464820">
                <a:tc>
                  <a:txBody>
                    <a:bodyPr/>
                    <a:lstStyle/>
                    <a:p>
                      <a:pPr algn="ctr">
                        <a:buClrTx/>
                        <a:buSzTx/>
                        <a:buFontTx/>
                        <a:buNone/>
                      </a:pPr>
                      <a:endParaRPr lang="en-US" altLang="zh-CN" sz="1600">
                        <a:latin typeface="微软雅黑" panose="020B0503020204020204" pitchFamily="34" charset="-122"/>
                        <a:ea typeface="微软雅黑" panose="020B0503020204020204" pitchFamily="34" charset="-122"/>
                      </a:endParaRPr>
                    </a:p>
                  </a:txBody>
                  <a:tcPr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平行四边形</a:t>
                      </a:r>
                    </a:p>
                  </a:txBody>
                  <a:tcPr marL="68580" marR="68580" marT="0" marB="0" anchor="ctr"/>
                </a:tc>
                <a:tc>
                  <a:txBody>
                    <a:bodyPr/>
                    <a:lstStyle/>
                    <a:p>
                      <a:pPr algn="l">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表示流程的输入或输出</a:t>
                      </a:r>
                    </a:p>
                  </a:txBody>
                  <a:tcPr marL="68580" marR="68580" marT="0" marB="0" anchor="ctr"/>
                </a:tc>
                <a:extLst>
                  <a:ext uri="{0D108BD9-81ED-4DB2-BD59-A6C34878D82A}">
                    <a16:rowId xmlns:a16="http://schemas.microsoft.com/office/drawing/2014/main" val="10002"/>
                  </a:ext>
                </a:extLst>
              </a:tr>
              <a:tr h="454660">
                <a:tc>
                  <a:txBody>
                    <a:bodyPr/>
                    <a:lstStyle/>
                    <a:p>
                      <a:pPr algn="ctr">
                        <a:buClrTx/>
                        <a:buSzTx/>
                        <a:buFontTx/>
                        <a:buNone/>
                      </a:pPr>
                      <a:endParaRPr lang="en-US" altLang="zh-CN" sz="1600">
                        <a:latin typeface="微软雅黑" panose="020B0503020204020204" pitchFamily="34" charset="-122"/>
                        <a:ea typeface="微软雅黑" panose="020B0503020204020204" pitchFamily="34" charset="-122"/>
                      </a:endParaRPr>
                    </a:p>
                  </a:txBody>
                  <a:tcPr anchor="ctr"/>
                </a:tc>
                <a:tc>
                  <a:txBody>
                    <a:bodyPr/>
                    <a:lstStyle/>
                    <a:p>
                      <a:pPr algn="ctr">
                        <a:spcAft>
                          <a:spcPts val="0"/>
                        </a:spcAft>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长方形</a:t>
                      </a:r>
                    </a:p>
                  </a:txBody>
                  <a:tcPr marL="68580" marR="68580" marT="0" marB="0" anchor="ctr"/>
                </a:tc>
                <a:tc>
                  <a:txBody>
                    <a:bodyPr/>
                    <a:lstStyle/>
                    <a:p>
                      <a:pPr algn="l">
                        <a:spcAft>
                          <a:spcPts val="0"/>
                        </a:spcAft>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表示处理或执行</a:t>
                      </a:r>
                    </a:p>
                  </a:txBody>
                  <a:tcPr marL="68580" marR="68580" marT="0" marB="0" anchor="ctr"/>
                </a:tc>
                <a:extLst>
                  <a:ext uri="{0D108BD9-81ED-4DB2-BD59-A6C34878D82A}">
                    <a16:rowId xmlns:a16="http://schemas.microsoft.com/office/drawing/2014/main" val="10003"/>
                  </a:ext>
                </a:extLst>
              </a:tr>
              <a:tr h="415925">
                <a:tc>
                  <a:txBody>
                    <a:bodyPr/>
                    <a:lstStyle/>
                    <a:p>
                      <a:pPr algn="ctr">
                        <a:buClrTx/>
                        <a:buSzTx/>
                        <a:buFontTx/>
                        <a:buNone/>
                      </a:pPr>
                      <a:endParaRPr lang="en-US" altLang="zh-CN" sz="1600">
                        <a:latin typeface="微软雅黑" panose="020B0503020204020204" pitchFamily="34" charset="-122"/>
                        <a:ea typeface="微软雅黑" panose="020B0503020204020204" pitchFamily="34" charset="-122"/>
                      </a:endParaRPr>
                    </a:p>
                  </a:txBody>
                  <a:tcPr anchor="ctr"/>
                </a:tc>
                <a:tc>
                  <a:txBody>
                    <a:bodyPr/>
                    <a:lstStyle/>
                    <a:p>
                      <a:pPr algn="ctr">
                        <a:spcAft>
                          <a:spcPts val="0"/>
                        </a:spcAft>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菱形</a:t>
                      </a:r>
                    </a:p>
                  </a:txBody>
                  <a:tcPr marL="68580" marR="68580" marT="0" marB="0" anchor="ctr"/>
                </a:tc>
                <a:tc>
                  <a:txBody>
                    <a:bodyPr/>
                    <a:lstStyle/>
                    <a:p>
                      <a:pPr algn="l">
                        <a:spcAft>
                          <a:spcPts val="0"/>
                        </a:spcAft>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表示对某个条件的判断</a:t>
                      </a:r>
                    </a:p>
                  </a:txBody>
                  <a:tcPr marL="68580" marR="68580" marT="0" marB="0" anchor="ctr"/>
                </a:tc>
                <a:extLst>
                  <a:ext uri="{0D108BD9-81ED-4DB2-BD59-A6C34878D82A}">
                    <a16:rowId xmlns:a16="http://schemas.microsoft.com/office/drawing/2014/main" val="10004"/>
                  </a:ext>
                </a:extLst>
              </a:tr>
              <a:tr h="464185">
                <a:tc>
                  <a:txBody>
                    <a:bodyPr/>
                    <a:lstStyle/>
                    <a:p>
                      <a:pPr algn="ctr">
                        <a:buClrTx/>
                        <a:buSzTx/>
                        <a:buFontTx/>
                        <a:buNone/>
                      </a:pPr>
                      <a:endParaRPr lang="en-US" altLang="zh-CN" sz="1600">
                        <a:latin typeface="微软雅黑" panose="020B0503020204020204" pitchFamily="34" charset="-122"/>
                        <a:ea typeface="微软雅黑" panose="020B0503020204020204" pitchFamily="34" charset="-122"/>
                      </a:endParaRPr>
                    </a:p>
                  </a:txBody>
                  <a:tcPr anchor="ctr"/>
                </a:tc>
                <a:tc>
                  <a:txBody>
                    <a:bodyPr/>
                    <a:lstStyle/>
                    <a:p>
                      <a:pPr algn="ctr">
                        <a:spcAft>
                          <a:spcPts val="0"/>
                        </a:spcAft>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箭头</a:t>
                      </a:r>
                    </a:p>
                  </a:txBody>
                  <a:tcPr marL="68580" marR="68580" marT="0" marB="0" anchor="ctr"/>
                </a:tc>
                <a:tc>
                  <a:txBody>
                    <a:bodyPr/>
                    <a:lstStyle/>
                    <a:p>
                      <a:pPr algn="l">
                        <a:spcAft>
                          <a:spcPts val="0"/>
                        </a:spcAft>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表示流程进行的方向</a:t>
                      </a:r>
                    </a:p>
                  </a:txBody>
                  <a:tcPr marL="68580" marR="68580" marT="0" marB="0" anchor="ctr"/>
                </a:tc>
                <a:extLst>
                  <a:ext uri="{0D108BD9-81ED-4DB2-BD59-A6C34878D82A}">
                    <a16:rowId xmlns:a16="http://schemas.microsoft.com/office/drawing/2014/main" val="10005"/>
                  </a:ext>
                </a:extLst>
              </a:tr>
            </a:tbl>
          </a:graphicData>
        </a:graphic>
      </p:graphicFrame>
      <p:sp>
        <p:nvSpPr>
          <p:cNvPr id="15" name="圆角矩形 15"/>
          <p:cNvSpPr/>
          <p:nvPr/>
        </p:nvSpPr>
        <p:spPr>
          <a:xfrm>
            <a:off x="4132194" y="4540580"/>
            <a:ext cx="419100" cy="200025"/>
          </a:xfrm>
          <a:prstGeom prst="roundRect">
            <a:avLst/>
          </a:prstGeom>
          <a:noFill/>
          <a:ln>
            <a:solidFill>
              <a:srgbClr val="59595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sp>
        <p:nvSpPr>
          <p:cNvPr id="16" name="平行四边形 16"/>
          <p:cNvSpPr/>
          <p:nvPr/>
        </p:nvSpPr>
        <p:spPr>
          <a:xfrm>
            <a:off x="4135424" y="4999789"/>
            <a:ext cx="371475" cy="200025"/>
          </a:xfrm>
          <a:prstGeom prst="parallelogram">
            <a:avLst/>
          </a:prstGeom>
          <a:noFill/>
          <a:ln>
            <a:solidFill>
              <a:srgbClr val="59595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sp>
        <p:nvSpPr>
          <p:cNvPr id="18" name="菱形 18"/>
          <p:cNvSpPr/>
          <p:nvPr/>
        </p:nvSpPr>
        <p:spPr>
          <a:xfrm>
            <a:off x="4165214" y="5921879"/>
            <a:ext cx="353060" cy="314325"/>
          </a:xfrm>
          <a:prstGeom prst="diamond">
            <a:avLst/>
          </a:prstGeom>
          <a:noFill/>
          <a:ln>
            <a:solidFill>
              <a:srgbClr val="59595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sp>
        <p:nvSpPr>
          <p:cNvPr id="17" name="矩形 17"/>
          <p:cNvSpPr/>
          <p:nvPr/>
        </p:nvSpPr>
        <p:spPr>
          <a:xfrm>
            <a:off x="4105400" y="5486331"/>
            <a:ext cx="371475" cy="238125"/>
          </a:xfrm>
          <a:prstGeom prst="rect">
            <a:avLst/>
          </a:prstGeom>
          <a:noFill/>
          <a:ln>
            <a:solidFill>
              <a:srgbClr val="59595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cxnSp>
        <p:nvCxnSpPr>
          <p:cNvPr id="6" name="直接箭头连接符 5"/>
          <p:cNvCxnSpPr/>
          <p:nvPr/>
        </p:nvCxnSpPr>
        <p:spPr>
          <a:xfrm>
            <a:off x="3961161" y="6525794"/>
            <a:ext cx="720000" cy="0"/>
          </a:xfrm>
          <a:prstGeom prst="straightConnector1">
            <a:avLst/>
          </a:prstGeom>
          <a:ln w="28575">
            <a:solidFill>
              <a:srgbClr val="595959"/>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p:cNvPicPr>
            <a:picLocks noChangeAspect="1"/>
          </p:cNvPicPr>
          <p:nvPr/>
        </p:nvPicPr>
        <p:blipFill>
          <a:blip r:embed="rId3"/>
          <a:stretch>
            <a:fillRect/>
          </a:stretch>
        </p:blipFill>
        <p:spPr>
          <a:xfrm>
            <a:off x="944880" y="2215515"/>
            <a:ext cx="2797810" cy="3898265"/>
          </a:xfrm>
          <a:prstGeom prst="rect">
            <a:avLst/>
          </a:prstGeom>
        </p:spPr>
      </p:pic>
      <p:sp>
        <p:nvSpPr>
          <p:cNvPr id="13" name="椭圆形标注 12"/>
          <p:cNvSpPr/>
          <p:nvPr/>
        </p:nvSpPr>
        <p:spPr>
          <a:xfrm>
            <a:off x="2968625" y="156019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p>
        </p:txBody>
      </p:sp>
      <p:sp>
        <p:nvSpPr>
          <p:cNvPr id="14" name="TextBox 35"/>
          <p:cNvSpPr txBox="1">
            <a:spLocks noChangeArrowheads="1"/>
          </p:cNvSpPr>
          <p:nvPr/>
        </p:nvSpPr>
        <p:spPr bwMode="auto">
          <a:xfrm>
            <a:off x="3247390" y="163830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p>
        </p:txBody>
      </p:sp>
      <p:sp>
        <p:nvSpPr>
          <p:cNvPr id="15" name="TextBox 35"/>
          <p:cNvSpPr txBox="1">
            <a:spLocks noChangeArrowheads="1"/>
          </p:cNvSpPr>
          <p:nvPr/>
        </p:nvSpPr>
        <p:spPr bwMode="auto">
          <a:xfrm>
            <a:off x="5791835" y="3213735"/>
            <a:ext cx="5958840" cy="10439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defRPr/>
            </a:pPr>
            <a:r>
              <a:rPr lang="zh-CN" sz="200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掌握</a:t>
            </a:r>
            <a:r>
              <a:rPr lang="zh-CN" sz="200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电商网站购物场景分析</a:t>
            </a:r>
            <a:r>
              <a:rPr sz="200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，能够</a:t>
            </a:r>
            <a:r>
              <a:rPr lang="zh-CN" sz="2000">
                <a:solidFill>
                  <a:srgbClr val="0070C0"/>
                </a:solidFill>
                <a:latin typeface="微软雅黑" panose="020B0503020204020204" pitchFamily="34" charset="-122"/>
                <a:ea typeface="微软雅黑" panose="020B0503020204020204" pitchFamily="34" charset="-122"/>
                <a:cs typeface="+mn-ea"/>
              </a:rPr>
              <a:t>通过场景法测试用户在电商网站购物的过程</a:t>
            </a:r>
          </a:p>
        </p:txBody>
      </p:sp>
      <p:grpSp>
        <p:nvGrpSpPr>
          <p:cNvPr id="19" name="组合 18"/>
          <p:cNvGrpSpPr/>
          <p:nvPr/>
        </p:nvGrpSpPr>
        <p:grpSpPr>
          <a:xfrm>
            <a:off x="5308600" y="3540125"/>
            <a:ext cx="405130" cy="405130"/>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1" name="Title 1"/>
          <p:cNvSpPr txBox="1"/>
          <p:nvPr/>
        </p:nvSpPr>
        <p:spPr>
          <a:xfrm>
            <a:off x="1143635" y="266700"/>
            <a:ext cx="736917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2.5.2	实例一：电商网站购物场景分析</a:t>
            </a: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35"/>
          <p:cNvSpPr txBox="1">
            <a:spLocks noChangeArrowheads="1"/>
          </p:cNvSpPr>
          <p:nvPr/>
        </p:nvSpPr>
        <p:spPr bwMode="auto">
          <a:xfrm>
            <a:off x="4942840" y="1557655"/>
            <a:ext cx="6289675" cy="427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indent="457200" algn="just">
              <a:lnSpc>
                <a:spcPct val="150000"/>
              </a:lnSpc>
              <a:buClrTx/>
              <a:buSzTx/>
              <a:buFontTx/>
            </a:pPr>
            <a:r>
              <a:rPr lang="zh-CN" altLang="en-US" sz="1800" dirty="0">
                <a:solidFill>
                  <a:srgbClr val="595959"/>
                </a:solidFill>
                <a:latin typeface="微软雅黑" panose="020B0503020204020204" pitchFamily="34" charset="-122"/>
                <a:ea typeface="微软雅黑" panose="020B0503020204020204" pitchFamily="34" charset="-122"/>
              </a:rPr>
              <a:t>如今电商行业的发展非常迅速，许多公司开始研发电商网站，为用户提供更多的购物渠道。假设某公司研发了一个</a:t>
            </a:r>
            <a:r>
              <a:rPr lang="zh-CN" altLang="en-US" sz="1800" dirty="0">
                <a:solidFill>
                  <a:srgbClr val="0070C0"/>
                </a:solidFill>
                <a:latin typeface="微软雅黑" panose="020B0503020204020204" pitchFamily="34" charset="-122"/>
                <a:ea typeface="微软雅黑" panose="020B0503020204020204" pitchFamily="34" charset="-122"/>
              </a:rPr>
              <a:t>电商网站</a:t>
            </a:r>
            <a:r>
              <a:rPr lang="zh-CN" altLang="en-US" sz="1800" dirty="0">
                <a:solidFill>
                  <a:srgbClr val="595959"/>
                </a:solidFill>
                <a:latin typeface="微软雅黑" panose="020B0503020204020204" pitchFamily="34" charset="-122"/>
                <a:ea typeface="微软雅黑" panose="020B0503020204020204" pitchFamily="34" charset="-122"/>
              </a:rPr>
              <a:t>，现需要测试人员</a:t>
            </a:r>
            <a:r>
              <a:rPr lang="zh-CN" altLang="en-US" sz="1800" dirty="0">
                <a:solidFill>
                  <a:srgbClr val="0070C0"/>
                </a:solidFill>
                <a:latin typeface="微软雅黑" panose="020B0503020204020204" pitchFamily="34" charset="-122"/>
                <a:ea typeface="微软雅黑" panose="020B0503020204020204" pitchFamily="34" charset="-122"/>
              </a:rPr>
              <a:t>按照“注册→登录→挑选商品→将商品加入购物车→支付→查看订单”的流程进行测试</a:t>
            </a:r>
            <a:r>
              <a:rPr lang="zh-CN" altLang="en-US" sz="1800" dirty="0">
                <a:solidFill>
                  <a:srgbClr val="595959"/>
                </a:solidFill>
                <a:latin typeface="微软雅黑" panose="020B0503020204020204" pitchFamily="34" charset="-122"/>
                <a:ea typeface="微软雅黑" panose="020B0503020204020204" pitchFamily="34" charset="-122"/>
              </a:rPr>
              <a:t>。在使用电商网站进行购物时，首先进行注册，如果注册失败，则需要重新注册，直到注册成功后才可以登录电商网站。如果登录失败，则需要重新登录。该电商网站的支付方式有3种，分别是微信、银行卡和支付宝，如果这3种方式都支付失败，则需要返回支付环节重新支付，直到支付成功后才能查看订单。</a:t>
            </a:r>
          </a:p>
        </p:txBody>
      </p:sp>
      <p:pic>
        <p:nvPicPr>
          <p:cNvPr id="33" name="图片 32"/>
          <p:cNvPicPr>
            <a:picLocks noChangeAspect="1"/>
          </p:cNvPicPr>
          <p:nvPr/>
        </p:nvPicPr>
        <p:blipFill>
          <a:blip r:embed="rId3"/>
          <a:stretch>
            <a:fillRect/>
          </a:stretch>
        </p:blipFill>
        <p:spPr>
          <a:xfrm>
            <a:off x="839386" y="1413456"/>
            <a:ext cx="3715858" cy="4006159"/>
          </a:xfrm>
          <a:prstGeom prst="rect">
            <a:avLst/>
          </a:prstGeom>
        </p:spPr>
      </p:pic>
      <p:sp>
        <p:nvSpPr>
          <p:cNvPr id="31" name="Title 1"/>
          <p:cNvSpPr txBox="1"/>
          <p:nvPr/>
        </p:nvSpPr>
        <p:spPr>
          <a:xfrm>
            <a:off x="1143635" y="266700"/>
            <a:ext cx="736917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2.5.2	实例一：电商网站购物场景分析</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35"/>
          <p:cNvSpPr txBox="1">
            <a:spLocks noChangeArrowheads="1"/>
          </p:cNvSpPr>
          <p:nvPr/>
        </p:nvSpPr>
        <p:spPr bwMode="auto">
          <a:xfrm>
            <a:off x="1198880" y="838200"/>
            <a:ext cx="5688326" cy="13675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buClrTx/>
              <a:buSzTx/>
              <a:buFontTx/>
            </a:pPr>
            <a:r>
              <a:rPr lang="zh-CN" altLang="en-US" sz="1800" dirty="0">
                <a:solidFill>
                  <a:srgbClr val="595959"/>
                </a:solidFill>
                <a:latin typeface="微软雅黑" panose="020B0503020204020204" pitchFamily="34" charset="-122"/>
                <a:ea typeface="微软雅黑" panose="020B0503020204020204" pitchFamily="34" charset="-122"/>
              </a:rPr>
              <a:t>下面通过场景法测试用户在电商网站购物的过程。首先通过</a:t>
            </a:r>
            <a:r>
              <a:rPr lang="zh-CN" altLang="en-US" sz="1800" dirty="0">
                <a:solidFill>
                  <a:srgbClr val="0070C0"/>
                </a:solidFill>
                <a:latin typeface="微软雅黑" panose="020B0503020204020204" pitchFamily="34" charset="-122"/>
                <a:ea typeface="微软雅黑" panose="020B0503020204020204" pitchFamily="34" charset="-122"/>
              </a:rPr>
              <a:t>分析</a:t>
            </a:r>
            <a:r>
              <a:rPr lang="zh-CN" altLang="en-US" sz="1800" dirty="0">
                <a:solidFill>
                  <a:srgbClr val="595959"/>
                </a:solidFill>
                <a:latin typeface="微软雅黑" panose="020B0503020204020204" pitchFamily="34" charset="-122"/>
                <a:ea typeface="微软雅黑" panose="020B0503020204020204" pitchFamily="34" charset="-122"/>
              </a:rPr>
              <a:t>前面的</a:t>
            </a:r>
            <a:r>
              <a:rPr lang="zh-CN" altLang="en-US" sz="1800" dirty="0">
                <a:solidFill>
                  <a:srgbClr val="0070C0"/>
                </a:solidFill>
                <a:latin typeface="微软雅黑" panose="020B0503020204020204" pitchFamily="34" charset="-122"/>
                <a:ea typeface="微软雅黑" panose="020B0503020204020204" pitchFamily="34" charset="-122"/>
              </a:rPr>
              <a:t>需求描述</a:t>
            </a:r>
            <a:r>
              <a:rPr lang="zh-CN" altLang="en-US" sz="1800" dirty="0">
                <a:solidFill>
                  <a:srgbClr val="595959"/>
                </a:solidFill>
                <a:latin typeface="微软雅黑" panose="020B0503020204020204" pitchFamily="34" charset="-122"/>
                <a:ea typeface="微软雅黑" panose="020B0503020204020204" pitchFamily="34" charset="-122"/>
              </a:rPr>
              <a:t>，然后画出用户在电商网站购物的流程图。</a:t>
            </a:r>
            <a:r>
              <a:rPr lang="zh-CN" altLang="en-US" sz="1800" dirty="0">
                <a:solidFill>
                  <a:srgbClr val="0070C0"/>
                </a:solidFill>
                <a:latin typeface="微软雅黑" panose="020B0503020204020204" pitchFamily="34" charset="-122"/>
                <a:ea typeface="微软雅黑" panose="020B0503020204020204" pitchFamily="34" charset="-122"/>
              </a:rPr>
              <a:t>购物</a:t>
            </a:r>
            <a:r>
              <a:rPr lang="zh-CN" altLang="en-US" sz="1800">
                <a:solidFill>
                  <a:srgbClr val="0070C0"/>
                </a:solidFill>
                <a:latin typeface="微软雅黑" panose="020B0503020204020204" pitchFamily="34" charset="-122"/>
                <a:ea typeface="微软雅黑" panose="020B0503020204020204" pitchFamily="34" charset="-122"/>
              </a:rPr>
              <a:t>流程图</a:t>
            </a:r>
            <a:r>
              <a:rPr lang="zh-CN" altLang="en-US" sz="1800">
                <a:solidFill>
                  <a:srgbClr val="595959"/>
                </a:solidFill>
                <a:latin typeface="微软雅黑" panose="020B0503020204020204" pitchFamily="34" charset="-122"/>
                <a:ea typeface="微软雅黑" panose="020B0503020204020204" pitchFamily="34" charset="-122"/>
              </a:rPr>
              <a:t>如右图</a:t>
            </a:r>
            <a:r>
              <a:rPr lang="zh-CN" altLang="en-US" sz="1800" dirty="0">
                <a:solidFill>
                  <a:srgbClr val="595959"/>
                </a:solidFill>
                <a:latin typeface="微软雅黑" panose="020B0503020204020204" pitchFamily="34" charset="-122"/>
                <a:ea typeface="微软雅黑" panose="020B0503020204020204" pitchFamily="34" charset="-122"/>
              </a:rPr>
              <a:t>所示。</a:t>
            </a:r>
          </a:p>
        </p:txBody>
      </p:sp>
      <p:sp>
        <p:nvSpPr>
          <p:cNvPr id="31" name="Title 1"/>
          <p:cNvSpPr txBox="1"/>
          <p:nvPr/>
        </p:nvSpPr>
        <p:spPr>
          <a:xfrm>
            <a:off x="1143635" y="266700"/>
            <a:ext cx="736917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2.5.2	实例一：电商网站购物场景分析</a:t>
            </a:r>
          </a:p>
        </p:txBody>
      </p:sp>
      <p:pic>
        <p:nvPicPr>
          <p:cNvPr id="2" name="图片 1" descr="666"/>
          <p:cNvPicPr>
            <a:picLocks noChangeAspect="1"/>
          </p:cNvPicPr>
          <p:nvPr/>
        </p:nvPicPr>
        <p:blipFill>
          <a:blip r:embed="rId3"/>
          <a:stretch>
            <a:fillRect/>
          </a:stretch>
        </p:blipFill>
        <p:spPr>
          <a:xfrm>
            <a:off x="7895206" y="981794"/>
            <a:ext cx="2388730" cy="5787207"/>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35"/>
          <p:cNvSpPr txBox="1">
            <a:spLocks noChangeArrowheads="1"/>
          </p:cNvSpPr>
          <p:nvPr/>
        </p:nvSpPr>
        <p:spPr bwMode="auto">
          <a:xfrm>
            <a:off x="1198880" y="981710"/>
            <a:ext cx="9907270" cy="42754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buClrTx/>
              <a:buSzTx/>
              <a:buFontTx/>
            </a:pPr>
            <a:r>
              <a:rPr lang="zh-CN" altLang="en-US" sz="1800" dirty="0">
                <a:solidFill>
                  <a:srgbClr val="0070C0"/>
                </a:solidFill>
                <a:latin typeface="微软雅黑" panose="020B0503020204020204" pitchFamily="34" charset="-122"/>
                <a:ea typeface="微软雅黑" panose="020B0503020204020204" pitchFamily="34" charset="-122"/>
              </a:rPr>
              <a:t>分析</a:t>
            </a:r>
            <a:r>
              <a:rPr lang="zh-CN" altLang="en-US" sz="1800" dirty="0">
                <a:solidFill>
                  <a:srgbClr val="595959"/>
                </a:solidFill>
                <a:latin typeface="微软雅黑" panose="020B0503020204020204" pitchFamily="34" charset="-122"/>
                <a:ea typeface="微软雅黑" panose="020B0503020204020204" pitchFamily="34" charset="-122"/>
              </a:rPr>
              <a:t>上一页中的</a:t>
            </a:r>
            <a:r>
              <a:rPr lang="zh-CN" altLang="en-US" sz="1800" dirty="0">
                <a:solidFill>
                  <a:srgbClr val="0070C0"/>
                </a:solidFill>
                <a:latin typeface="微软雅黑" panose="020B0503020204020204" pitchFamily="34" charset="-122"/>
                <a:ea typeface="微软雅黑" panose="020B0503020204020204" pitchFamily="34" charset="-122"/>
                <a:sym typeface="+mn-ea"/>
              </a:rPr>
              <a:t>购物流程图</a:t>
            </a:r>
            <a:r>
              <a:rPr lang="zh-CN" altLang="en-US" sz="1800" dirty="0">
                <a:solidFill>
                  <a:srgbClr val="595959"/>
                </a:solidFill>
                <a:latin typeface="微软雅黑" panose="020B0503020204020204" pitchFamily="34" charset="-122"/>
                <a:ea typeface="微软雅黑" panose="020B0503020204020204" pitchFamily="34" charset="-122"/>
              </a:rPr>
              <a:t>可知，</a:t>
            </a:r>
            <a:r>
              <a:rPr lang="zh-CN" altLang="en-US" sz="1800" dirty="0">
                <a:solidFill>
                  <a:srgbClr val="0070C0"/>
                </a:solidFill>
                <a:latin typeface="微软雅黑" panose="020B0503020204020204" pitchFamily="34" charset="-122"/>
                <a:ea typeface="微软雅黑" panose="020B0503020204020204" pitchFamily="34" charset="-122"/>
              </a:rPr>
              <a:t>基本流有1条</a:t>
            </a:r>
            <a:r>
              <a:rPr lang="zh-CN" altLang="en-US" sz="1800" dirty="0">
                <a:solidFill>
                  <a:srgbClr val="595959"/>
                </a:solidFill>
                <a:latin typeface="微软雅黑" panose="020B0503020204020204" pitchFamily="34" charset="-122"/>
                <a:ea typeface="微软雅黑" panose="020B0503020204020204" pitchFamily="34" charset="-122"/>
              </a:rPr>
              <a:t>，</a:t>
            </a:r>
            <a:r>
              <a:rPr lang="zh-CN" altLang="en-US" sz="1800" dirty="0">
                <a:solidFill>
                  <a:srgbClr val="0070C0"/>
                </a:solidFill>
                <a:latin typeface="微软雅黑" panose="020B0503020204020204" pitchFamily="34" charset="-122"/>
                <a:ea typeface="微软雅黑" panose="020B0503020204020204" pitchFamily="34" charset="-122"/>
              </a:rPr>
              <a:t>备选流有3条</a:t>
            </a:r>
            <a:r>
              <a:rPr lang="zh-CN" altLang="en-US" sz="1800" dirty="0">
                <a:solidFill>
                  <a:srgbClr val="595959"/>
                </a:solidFill>
                <a:latin typeface="微软雅黑" panose="020B0503020204020204" pitchFamily="34" charset="-122"/>
                <a:ea typeface="微软雅黑" panose="020B0503020204020204" pitchFamily="34" charset="-122"/>
              </a:rPr>
              <a:t>，具体如下。</a:t>
            </a:r>
          </a:p>
          <a:p>
            <a:pPr marL="285750" indent="-285750" algn="just">
              <a:lnSpc>
                <a:spcPct val="150000"/>
              </a:lnSpc>
              <a:buClrTx/>
              <a:buSzTx/>
              <a:buFont typeface="Wingdings" panose="05000000000000000000" charset="0"/>
              <a:buChar char="l"/>
            </a:pPr>
            <a:r>
              <a:rPr lang="zh-CN" altLang="en-US" sz="1800" dirty="0">
                <a:solidFill>
                  <a:srgbClr val="595959"/>
                </a:solidFill>
                <a:latin typeface="微软雅黑" panose="020B0503020204020204" pitchFamily="34" charset="-122"/>
                <a:ea typeface="微软雅黑" panose="020B0503020204020204" pitchFamily="34" charset="-122"/>
              </a:rPr>
              <a:t>基本流：注册→登录→挑选商品→将商品加入购物车→支付→查看订单。</a:t>
            </a:r>
          </a:p>
          <a:p>
            <a:pPr marL="285750" indent="-285750" algn="just">
              <a:lnSpc>
                <a:spcPct val="150000"/>
              </a:lnSpc>
              <a:buClrTx/>
              <a:buSzTx/>
              <a:buFont typeface="Wingdings" panose="05000000000000000000" charset="0"/>
              <a:buChar char="l"/>
            </a:pPr>
            <a:r>
              <a:rPr lang="zh-CN" altLang="en-US" sz="1800" dirty="0">
                <a:solidFill>
                  <a:srgbClr val="595959"/>
                </a:solidFill>
                <a:latin typeface="微软雅黑" panose="020B0503020204020204" pitchFamily="34" charset="-122"/>
                <a:ea typeface="微软雅黑" panose="020B0503020204020204" pitchFamily="34" charset="-122"/>
              </a:rPr>
              <a:t>备选流1：注册失败。</a:t>
            </a:r>
          </a:p>
          <a:p>
            <a:pPr marL="285750" indent="-285750" algn="just">
              <a:lnSpc>
                <a:spcPct val="150000"/>
              </a:lnSpc>
              <a:buClrTx/>
              <a:buSzTx/>
              <a:buFont typeface="Wingdings" panose="05000000000000000000" charset="0"/>
              <a:buChar char="l"/>
            </a:pPr>
            <a:r>
              <a:rPr lang="zh-CN" altLang="en-US" sz="1800" dirty="0">
                <a:solidFill>
                  <a:srgbClr val="595959"/>
                </a:solidFill>
                <a:latin typeface="微软雅黑" panose="020B0503020204020204" pitchFamily="34" charset="-122"/>
                <a:ea typeface="微软雅黑" panose="020B0503020204020204" pitchFamily="34" charset="-122"/>
              </a:rPr>
              <a:t>备选流2：注册成功→登录失败。</a:t>
            </a:r>
          </a:p>
          <a:p>
            <a:pPr marL="285750" indent="-285750" algn="just">
              <a:lnSpc>
                <a:spcPct val="150000"/>
              </a:lnSpc>
              <a:buClrTx/>
              <a:buSzTx/>
              <a:buFont typeface="Wingdings" panose="05000000000000000000" charset="0"/>
              <a:buChar char="l"/>
            </a:pPr>
            <a:r>
              <a:rPr lang="zh-CN" altLang="en-US" sz="1800" dirty="0">
                <a:solidFill>
                  <a:srgbClr val="595959"/>
                </a:solidFill>
                <a:latin typeface="微软雅黑" panose="020B0503020204020204" pitchFamily="34" charset="-122"/>
                <a:ea typeface="微软雅黑" panose="020B0503020204020204" pitchFamily="34" charset="-122"/>
              </a:rPr>
              <a:t>备选流3：注册成功→登录成功→挑选商品→将商品加入购物车→支付失败。</a:t>
            </a:r>
          </a:p>
          <a:p>
            <a:pPr algn="just">
              <a:lnSpc>
                <a:spcPct val="150000"/>
              </a:lnSpc>
              <a:buClrTx/>
              <a:buSzTx/>
              <a:buFontTx/>
            </a:pPr>
            <a:r>
              <a:rPr lang="zh-CN" altLang="en-US" sz="1800" dirty="0">
                <a:solidFill>
                  <a:srgbClr val="595959"/>
                </a:solidFill>
                <a:latin typeface="微软雅黑" panose="020B0503020204020204" pitchFamily="34" charset="-122"/>
                <a:ea typeface="微软雅黑" panose="020B0503020204020204" pitchFamily="34" charset="-122"/>
              </a:rPr>
              <a:t>通过对基本流和备选流的分析，可以得出</a:t>
            </a:r>
            <a:r>
              <a:rPr lang="zh-CN" altLang="en-US" sz="1800" dirty="0">
                <a:solidFill>
                  <a:srgbClr val="0070C0"/>
                </a:solidFill>
                <a:latin typeface="微软雅黑" panose="020B0503020204020204" pitchFamily="34" charset="-122"/>
                <a:ea typeface="微软雅黑" panose="020B0503020204020204" pitchFamily="34" charset="-122"/>
              </a:rPr>
              <a:t>4个测试场景</a:t>
            </a:r>
            <a:r>
              <a:rPr lang="zh-CN" altLang="en-US" sz="1800" dirty="0">
                <a:solidFill>
                  <a:srgbClr val="595959"/>
                </a:solidFill>
                <a:latin typeface="微软雅黑" panose="020B0503020204020204" pitchFamily="34" charset="-122"/>
                <a:ea typeface="微软雅黑" panose="020B0503020204020204" pitchFamily="34" charset="-122"/>
              </a:rPr>
              <a:t>，具体如下。</a:t>
            </a:r>
          </a:p>
          <a:p>
            <a:pPr marL="285750" indent="-285750" algn="just">
              <a:lnSpc>
                <a:spcPct val="150000"/>
              </a:lnSpc>
              <a:buClrTx/>
              <a:buSzTx/>
              <a:buFont typeface="Wingdings" panose="05000000000000000000" charset="0"/>
              <a:buChar char="l"/>
            </a:pPr>
            <a:r>
              <a:rPr lang="zh-CN" altLang="en-US" sz="1800" dirty="0">
                <a:solidFill>
                  <a:srgbClr val="595959"/>
                </a:solidFill>
                <a:latin typeface="微软雅黑" panose="020B0503020204020204" pitchFamily="34" charset="-122"/>
                <a:ea typeface="微软雅黑" panose="020B0503020204020204" pitchFamily="34" charset="-122"/>
              </a:rPr>
              <a:t>场景1：基本流。</a:t>
            </a:r>
          </a:p>
          <a:p>
            <a:pPr marL="285750" indent="-285750" algn="just">
              <a:lnSpc>
                <a:spcPct val="150000"/>
              </a:lnSpc>
              <a:buClrTx/>
              <a:buSzTx/>
              <a:buFont typeface="Wingdings" panose="05000000000000000000" charset="0"/>
              <a:buChar char="l"/>
            </a:pPr>
            <a:r>
              <a:rPr lang="zh-CN" altLang="en-US" sz="1800" dirty="0">
                <a:solidFill>
                  <a:srgbClr val="595959"/>
                </a:solidFill>
                <a:latin typeface="微软雅黑" panose="020B0503020204020204" pitchFamily="34" charset="-122"/>
                <a:ea typeface="微软雅黑" panose="020B0503020204020204" pitchFamily="34" charset="-122"/>
              </a:rPr>
              <a:t>场景2：基本流+备选流1。</a:t>
            </a:r>
          </a:p>
          <a:p>
            <a:pPr marL="285750" indent="-285750" algn="just">
              <a:lnSpc>
                <a:spcPct val="150000"/>
              </a:lnSpc>
              <a:buClrTx/>
              <a:buSzTx/>
              <a:buFont typeface="Wingdings" panose="05000000000000000000" charset="0"/>
              <a:buChar char="l"/>
            </a:pPr>
            <a:r>
              <a:rPr lang="zh-CN" altLang="en-US" sz="1800" dirty="0">
                <a:solidFill>
                  <a:srgbClr val="595959"/>
                </a:solidFill>
                <a:latin typeface="微软雅黑" panose="020B0503020204020204" pitchFamily="34" charset="-122"/>
                <a:ea typeface="微软雅黑" panose="020B0503020204020204" pitchFamily="34" charset="-122"/>
              </a:rPr>
              <a:t>场景3：基本流+备选流2。</a:t>
            </a:r>
          </a:p>
          <a:p>
            <a:pPr marL="285750" indent="-285750" algn="just">
              <a:lnSpc>
                <a:spcPct val="150000"/>
              </a:lnSpc>
              <a:buClrTx/>
              <a:buSzTx/>
              <a:buFont typeface="Wingdings" panose="05000000000000000000" charset="0"/>
              <a:buChar char="l"/>
            </a:pPr>
            <a:r>
              <a:rPr lang="zh-CN" altLang="en-US" sz="1800" dirty="0">
                <a:solidFill>
                  <a:srgbClr val="595959"/>
                </a:solidFill>
                <a:latin typeface="微软雅黑" panose="020B0503020204020204" pitchFamily="34" charset="-122"/>
                <a:ea typeface="微软雅黑" panose="020B0503020204020204" pitchFamily="34" charset="-122"/>
              </a:rPr>
              <a:t>场景4：基本流+备选流3。</a:t>
            </a:r>
          </a:p>
        </p:txBody>
      </p:sp>
      <p:sp>
        <p:nvSpPr>
          <p:cNvPr id="31" name="Title 1"/>
          <p:cNvSpPr txBox="1"/>
          <p:nvPr/>
        </p:nvSpPr>
        <p:spPr>
          <a:xfrm>
            <a:off x="1143635" y="266700"/>
            <a:ext cx="736917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2.5.2	实例一：电商网站购物场景分析</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35"/>
          <p:cNvSpPr txBox="1">
            <a:spLocks noChangeArrowheads="1"/>
          </p:cNvSpPr>
          <p:nvPr/>
        </p:nvSpPr>
        <p:spPr bwMode="auto">
          <a:xfrm>
            <a:off x="1198880" y="838200"/>
            <a:ext cx="9907270" cy="951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buClrTx/>
              <a:buSzTx/>
              <a:buFontTx/>
            </a:pPr>
            <a:r>
              <a:rPr lang="zh-CN" altLang="en-US" sz="1800" dirty="0">
                <a:solidFill>
                  <a:srgbClr val="595959"/>
                </a:solidFill>
                <a:latin typeface="微软雅黑" panose="020B0503020204020204" pitchFamily="34" charset="-122"/>
                <a:ea typeface="微软雅黑" panose="020B0503020204020204" pitchFamily="34" charset="-122"/>
              </a:rPr>
              <a:t>在使用场景法设计测试用例时，每一个场景对应一</a:t>
            </a:r>
            <a:r>
              <a:rPr lang="zh-CN" altLang="en-US" sz="1800">
                <a:solidFill>
                  <a:srgbClr val="595959"/>
                </a:solidFill>
                <a:latin typeface="微软雅黑" panose="020B0503020204020204" pitchFamily="34" charset="-122"/>
                <a:ea typeface="微软雅黑" panose="020B0503020204020204" pitchFamily="34" charset="-122"/>
              </a:rPr>
              <a:t>个测试用例。下面</a:t>
            </a:r>
            <a:r>
              <a:rPr lang="zh-CN" altLang="en-US" sz="1800" dirty="0">
                <a:solidFill>
                  <a:srgbClr val="0070C0"/>
                </a:solidFill>
                <a:latin typeface="微软雅黑" panose="020B0503020204020204" pitchFamily="34" charset="-122"/>
                <a:ea typeface="微软雅黑" panose="020B0503020204020204" pitchFamily="34" charset="-122"/>
              </a:rPr>
              <a:t>根据</a:t>
            </a:r>
            <a:r>
              <a:rPr lang="zh-CN" altLang="en-US" sz="1800" dirty="0">
                <a:solidFill>
                  <a:srgbClr val="595959"/>
                </a:solidFill>
                <a:latin typeface="微软雅黑" panose="020B0503020204020204" pitchFamily="34" charset="-122"/>
                <a:ea typeface="微软雅黑" panose="020B0503020204020204" pitchFamily="34" charset="-122"/>
              </a:rPr>
              <a:t>这</a:t>
            </a:r>
            <a:r>
              <a:rPr lang="zh-CN" altLang="en-US" sz="1800" dirty="0">
                <a:solidFill>
                  <a:srgbClr val="0070C0"/>
                </a:solidFill>
                <a:latin typeface="微软雅黑" panose="020B0503020204020204" pitchFamily="34" charset="-122"/>
                <a:ea typeface="微软雅黑" panose="020B0503020204020204" pitchFamily="34" charset="-122"/>
              </a:rPr>
              <a:t>4个测试场景</a:t>
            </a:r>
            <a:r>
              <a:rPr lang="zh-CN" altLang="en-US" sz="1800" dirty="0">
                <a:solidFill>
                  <a:srgbClr val="595959"/>
                </a:solidFill>
                <a:latin typeface="微软雅黑" panose="020B0503020204020204" pitchFamily="34" charset="-122"/>
                <a:ea typeface="微软雅黑" panose="020B0503020204020204" pitchFamily="34" charset="-122"/>
              </a:rPr>
              <a:t>来</a:t>
            </a:r>
            <a:r>
              <a:rPr lang="zh-CN" altLang="en-US" sz="1800" dirty="0">
                <a:solidFill>
                  <a:srgbClr val="0070C0"/>
                </a:solidFill>
                <a:latin typeface="微软雅黑" panose="020B0503020204020204" pitchFamily="34" charset="-122"/>
                <a:ea typeface="微软雅黑" panose="020B0503020204020204" pitchFamily="34" charset="-122"/>
              </a:rPr>
              <a:t>设计测试用例</a:t>
            </a:r>
            <a:r>
              <a:rPr lang="zh-CN" altLang="en-US" sz="1800" dirty="0">
                <a:solidFill>
                  <a:srgbClr val="595959"/>
                </a:solidFill>
                <a:latin typeface="微软雅黑" panose="020B0503020204020204" pitchFamily="34" charset="-122"/>
                <a:ea typeface="微软雅黑" panose="020B0503020204020204" pitchFamily="34" charset="-122"/>
              </a:rPr>
              <a:t>，</a:t>
            </a:r>
            <a:r>
              <a:rPr lang="zh-CN" altLang="en-US" sz="1800" dirty="0">
                <a:solidFill>
                  <a:srgbClr val="0070C0"/>
                </a:solidFill>
                <a:latin typeface="微软雅黑" panose="020B0503020204020204" pitchFamily="34" charset="-122"/>
                <a:ea typeface="微软雅黑" panose="020B0503020204020204" pitchFamily="34" charset="-122"/>
              </a:rPr>
              <a:t>电商网站购物的测试用例</a:t>
            </a:r>
            <a:r>
              <a:rPr lang="zh-CN" altLang="en-US" sz="1800" dirty="0">
                <a:solidFill>
                  <a:srgbClr val="595959"/>
                </a:solidFill>
                <a:latin typeface="微软雅黑" panose="020B0503020204020204" pitchFamily="34" charset="-122"/>
                <a:ea typeface="微软雅黑" panose="020B0503020204020204" pitchFamily="34" charset="-122"/>
              </a:rPr>
              <a:t>如下表所示。</a:t>
            </a:r>
          </a:p>
        </p:txBody>
      </p:sp>
      <p:sp>
        <p:nvSpPr>
          <p:cNvPr id="31" name="Title 1"/>
          <p:cNvSpPr txBox="1"/>
          <p:nvPr/>
        </p:nvSpPr>
        <p:spPr>
          <a:xfrm>
            <a:off x="1143635" y="266700"/>
            <a:ext cx="736917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2.5.2	实例一：电商网站购物场景分析</a:t>
            </a:r>
          </a:p>
        </p:txBody>
      </p:sp>
      <p:graphicFrame>
        <p:nvGraphicFramePr>
          <p:cNvPr id="2" name="表格 1"/>
          <p:cNvGraphicFramePr/>
          <p:nvPr>
            <p:custDataLst>
              <p:tags r:id="rId1"/>
            </p:custDataLst>
          </p:nvPr>
        </p:nvGraphicFramePr>
        <p:xfrm>
          <a:off x="2063115" y="2061845"/>
          <a:ext cx="7574915" cy="3392805"/>
        </p:xfrm>
        <a:graphic>
          <a:graphicData uri="http://schemas.openxmlformats.org/drawingml/2006/table">
            <a:tbl>
              <a:tblPr firstRow="1" bandRow="1">
                <a:tableStyleId>{5C22544A-7EE6-4342-B048-85BDC9FD1C3A}</a:tableStyleId>
              </a:tblPr>
              <a:tblGrid>
                <a:gridCol w="1576070">
                  <a:extLst>
                    <a:ext uri="{9D8B030D-6E8A-4147-A177-3AD203B41FA5}">
                      <a16:colId xmlns:a16="http://schemas.microsoft.com/office/drawing/2014/main" val="20000"/>
                    </a:ext>
                  </a:extLst>
                </a:gridCol>
                <a:gridCol w="1448021">
                  <a:extLst>
                    <a:ext uri="{9D8B030D-6E8A-4147-A177-3AD203B41FA5}">
                      <a16:colId xmlns:a16="http://schemas.microsoft.com/office/drawing/2014/main" val="20001"/>
                    </a:ext>
                  </a:extLst>
                </a:gridCol>
                <a:gridCol w="3049684">
                  <a:extLst>
                    <a:ext uri="{9D8B030D-6E8A-4147-A177-3AD203B41FA5}">
                      <a16:colId xmlns:a16="http://schemas.microsoft.com/office/drawing/2014/main" val="20002"/>
                    </a:ext>
                  </a:extLst>
                </a:gridCol>
                <a:gridCol w="1501140">
                  <a:extLst>
                    <a:ext uri="{9D8B030D-6E8A-4147-A177-3AD203B41FA5}">
                      <a16:colId xmlns:a16="http://schemas.microsoft.com/office/drawing/2014/main" val="20003"/>
                    </a:ext>
                  </a:extLst>
                </a:gridCol>
              </a:tblGrid>
              <a:tr h="615315">
                <a:tc>
                  <a:txBody>
                    <a:bodyPr/>
                    <a:lstStyle/>
                    <a:p>
                      <a:pPr algn="ctr">
                        <a:lnSpc>
                          <a:spcPct val="90000"/>
                        </a:lnSpc>
                        <a:buNone/>
                      </a:pPr>
                      <a:r>
                        <a:rPr lang="zh-CN" altLang="en-US" sz="1800" b="1">
                          <a:latin typeface="微软雅黑" panose="020B0503020204020204" pitchFamily="34" charset="-122"/>
                          <a:ea typeface="微软雅黑" panose="020B0503020204020204" pitchFamily="34" charset="-122"/>
                        </a:rPr>
                        <a:t>测试用例</a:t>
                      </a:r>
                    </a:p>
                  </a:txBody>
                  <a:tcPr anchor="ctr"/>
                </a:tc>
                <a:tc>
                  <a:txBody>
                    <a:bodyPr/>
                    <a:lstStyle/>
                    <a:p>
                      <a:pPr algn="ctr">
                        <a:lnSpc>
                          <a:spcPct val="90000"/>
                        </a:lnSpc>
                        <a:buNone/>
                      </a:pPr>
                      <a:r>
                        <a:rPr lang="zh-CN" altLang="en-US" sz="1800">
                          <a:latin typeface="微软雅黑" panose="020B0503020204020204" pitchFamily="34" charset="-122"/>
                          <a:ea typeface="微软雅黑" panose="020B0503020204020204" pitchFamily="34" charset="-122"/>
                        </a:rPr>
                        <a:t>测试场景</a:t>
                      </a:r>
                    </a:p>
                  </a:txBody>
                  <a:tcPr anchor="ctr"/>
                </a:tc>
                <a:tc>
                  <a:txBody>
                    <a:bodyPr/>
                    <a:lstStyle/>
                    <a:p>
                      <a:pPr algn="ctr">
                        <a:lnSpc>
                          <a:spcPct val="90000"/>
                        </a:lnSpc>
                        <a:buNone/>
                      </a:pPr>
                      <a:r>
                        <a:rPr lang="zh-CN" altLang="en-US" sz="1800">
                          <a:latin typeface="微软雅黑" panose="020B0503020204020204" pitchFamily="34" charset="-122"/>
                          <a:ea typeface="微软雅黑" panose="020B0503020204020204" pitchFamily="34" charset="-122"/>
                        </a:rPr>
                        <a:t>测试数据</a:t>
                      </a:r>
                    </a:p>
                  </a:txBody>
                  <a:tcPr anchor="ctr"/>
                </a:tc>
                <a:tc>
                  <a:txBody>
                    <a:bodyPr/>
                    <a:lstStyle/>
                    <a:p>
                      <a:pPr algn="ctr">
                        <a:lnSpc>
                          <a:spcPct val="90000"/>
                        </a:lnSpc>
                        <a:buNone/>
                      </a:pPr>
                      <a:r>
                        <a:rPr lang="zh-CN" altLang="en-US" sz="1800">
                          <a:latin typeface="微软雅黑" panose="020B0503020204020204" pitchFamily="34" charset="-122"/>
                          <a:ea typeface="微软雅黑" panose="020B0503020204020204" pitchFamily="34" charset="-122"/>
                        </a:rPr>
                        <a:t>预期结果</a:t>
                      </a:r>
                    </a:p>
                  </a:txBody>
                  <a:tcPr anchor="ctr"/>
                </a:tc>
                <a:extLst>
                  <a:ext uri="{0D108BD9-81ED-4DB2-BD59-A6C34878D82A}">
                    <a16:rowId xmlns:a16="http://schemas.microsoft.com/office/drawing/2014/main" val="10000"/>
                  </a:ext>
                </a:extLst>
              </a:tr>
              <a:tr h="825500">
                <a:tc>
                  <a:txBody>
                    <a:bodyPr/>
                    <a:lstStyle/>
                    <a:p>
                      <a:pPr algn="ctr">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test1</a:t>
                      </a:r>
                    </a:p>
                  </a:txBody>
                  <a:tcPr anchor="ctr"/>
                </a:tc>
                <a:tc>
                  <a:txBody>
                    <a:bodyPr/>
                    <a:lstStyle/>
                    <a:p>
                      <a:pPr algn="ctr">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场景1</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有效的账号密码，微信、银行卡、支付宝均支付成功</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成功购物</a:t>
                      </a:r>
                    </a:p>
                  </a:txBody>
                  <a:tcPr anchor="ctr"/>
                </a:tc>
                <a:extLst>
                  <a:ext uri="{0D108BD9-81ED-4DB2-BD59-A6C34878D82A}">
                    <a16:rowId xmlns:a16="http://schemas.microsoft.com/office/drawing/2014/main" val="10001"/>
                  </a:ext>
                </a:extLst>
              </a:tr>
              <a:tr h="559435">
                <a:tc>
                  <a:txBody>
                    <a:bodyPr/>
                    <a:lstStyle/>
                    <a:p>
                      <a:pPr algn="ctr">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test2</a:t>
                      </a:r>
                    </a:p>
                  </a:txBody>
                  <a:tcPr anchor="ctr"/>
                </a:tc>
                <a:tc>
                  <a:txBody>
                    <a:bodyPr/>
                    <a:lstStyle/>
                    <a:p>
                      <a:pPr algn="ctr">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场景</a:t>
                      </a:r>
                      <a:r>
                        <a:rPr lang="en-US" altLang="zh-CN" sz="1800" kern="1200">
                          <a:solidFill>
                            <a:srgbClr val="595959"/>
                          </a:solidFill>
                          <a:latin typeface="微软雅黑" panose="020B0503020204020204" pitchFamily="34" charset="-122"/>
                          <a:ea typeface="微软雅黑" panose="020B0503020204020204" pitchFamily="34" charset="-122"/>
                          <a:cs typeface="+mn-cs"/>
                        </a:rPr>
                        <a:t>2</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无效的注册账号</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注册失败</a:t>
                      </a:r>
                    </a:p>
                  </a:txBody>
                  <a:tcPr anchor="ctr"/>
                </a:tc>
                <a:extLst>
                  <a:ext uri="{0D108BD9-81ED-4DB2-BD59-A6C34878D82A}">
                    <a16:rowId xmlns:a16="http://schemas.microsoft.com/office/drawing/2014/main" val="10002"/>
                  </a:ext>
                </a:extLst>
              </a:tr>
              <a:tr h="567055">
                <a:tc>
                  <a:txBody>
                    <a:bodyPr/>
                    <a:lstStyle/>
                    <a:p>
                      <a:pPr algn="ctr">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test3</a:t>
                      </a:r>
                    </a:p>
                  </a:txBody>
                  <a:tcPr anchor="ctr"/>
                </a:tc>
                <a:tc>
                  <a:txBody>
                    <a:bodyPr/>
                    <a:lstStyle/>
                    <a:p>
                      <a:pPr algn="ctr">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场景</a:t>
                      </a:r>
                      <a:r>
                        <a:rPr lang="en-US" altLang="zh-CN" sz="1800" kern="1200">
                          <a:solidFill>
                            <a:srgbClr val="595959"/>
                          </a:solidFill>
                          <a:latin typeface="微软雅黑" panose="020B0503020204020204" pitchFamily="34" charset="-122"/>
                          <a:ea typeface="微软雅黑" panose="020B0503020204020204" pitchFamily="34" charset="-122"/>
                          <a:cs typeface="+mn-cs"/>
                        </a:rPr>
                        <a:t>3</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账号或密码错误</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登录失败</a:t>
                      </a:r>
                    </a:p>
                  </a:txBody>
                  <a:tcPr anchor="ctr"/>
                </a:tc>
                <a:extLst>
                  <a:ext uri="{0D108BD9-81ED-4DB2-BD59-A6C34878D82A}">
                    <a16:rowId xmlns:a16="http://schemas.microsoft.com/office/drawing/2014/main" val="10003"/>
                  </a:ext>
                </a:extLst>
              </a:tr>
              <a:tr h="825500">
                <a:tc>
                  <a:txBody>
                    <a:bodyPr/>
                    <a:lstStyle/>
                    <a:p>
                      <a:pPr algn="ctr">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test4</a:t>
                      </a:r>
                    </a:p>
                  </a:txBody>
                  <a:tcPr anchor="ctr"/>
                </a:tc>
                <a:tc>
                  <a:txBody>
                    <a:bodyPr/>
                    <a:lstStyle/>
                    <a:p>
                      <a:pPr algn="ctr">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场景</a:t>
                      </a:r>
                      <a:r>
                        <a:rPr lang="en-US" altLang="zh-CN" sz="1800" kern="1200">
                          <a:solidFill>
                            <a:srgbClr val="595959"/>
                          </a:solidFill>
                          <a:latin typeface="微软雅黑" panose="020B0503020204020204" pitchFamily="34" charset="-122"/>
                          <a:ea typeface="微软雅黑" panose="020B0503020204020204" pitchFamily="34" charset="-122"/>
                          <a:cs typeface="+mn-cs"/>
                        </a:rPr>
                        <a:t>4</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有效的账号</a:t>
                      </a:r>
                      <a:r>
                        <a:rPr lang="zh-CN" altLang="en-US" sz="1800" kern="1200">
                          <a:solidFill>
                            <a:srgbClr val="595959"/>
                          </a:solidFill>
                          <a:latin typeface="微软雅黑" panose="020B0503020204020204" pitchFamily="34" charset="-122"/>
                          <a:ea typeface="微软雅黑" panose="020B0503020204020204" pitchFamily="34" charset="-122"/>
                          <a:cs typeface="+mn-cs"/>
                        </a:rPr>
                        <a:t>和</a:t>
                      </a:r>
                      <a:r>
                        <a:rPr lang="en-US" altLang="zh-CN" sz="1800" kern="1200">
                          <a:solidFill>
                            <a:srgbClr val="595959"/>
                          </a:solidFill>
                          <a:latin typeface="微软雅黑" panose="020B0503020204020204" pitchFamily="34" charset="-122"/>
                          <a:ea typeface="微软雅黑" panose="020B0503020204020204" pitchFamily="34" charset="-122"/>
                          <a:cs typeface="+mn-cs"/>
                        </a:rPr>
                        <a:t>密码，</a:t>
                      </a:r>
                      <a:r>
                        <a:rPr lang="zh-CN" altLang="en-US" sz="1800" kern="1200">
                          <a:solidFill>
                            <a:srgbClr val="595959"/>
                          </a:solidFill>
                          <a:latin typeface="微软雅黑" panose="020B0503020204020204" pitchFamily="34" charset="-122"/>
                          <a:ea typeface="微软雅黑" panose="020B0503020204020204" pitchFamily="34" charset="-122"/>
                          <a:cs typeface="+mn-cs"/>
                        </a:rPr>
                        <a:t>用</a:t>
                      </a:r>
                      <a:r>
                        <a:rPr lang="en-US" altLang="zh-CN" sz="1800" kern="1200">
                          <a:solidFill>
                            <a:srgbClr val="595959"/>
                          </a:solidFill>
                          <a:latin typeface="微软雅黑" panose="020B0503020204020204" pitchFamily="34" charset="-122"/>
                          <a:ea typeface="微软雅黑" panose="020B0503020204020204" pitchFamily="34" charset="-122"/>
                          <a:cs typeface="+mn-cs"/>
                        </a:rPr>
                        <a:t>微信、银行卡、支付宝均支付失败</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支付失败</a:t>
                      </a:r>
                    </a:p>
                  </a:txBody>
                  <a:tcPr anchor="ctr"/>
                </a:tc>
                <a:extLst>
                  <a:ext uri="{0D108BD9-81ED-4DB2-BD59-A6C34878D82A}">
                    <a16:rowId xmlns:a16="http://schemas.microsoft.com/office/drawing/2014/main" val="10004"/>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p:cNvPicPr>
            <a:picLocks noChangeAspect="1"/>
          </p:cNvPicPr>
          <p:nvPr/>
        </p:nvPicPr>
        <p:blipFill>
          <a:blip r:embed="rId3"/>
          <a:stretch>
            <a:fillRect/>
          </a:stretch>
        </p:blipFill>
        <p:spPr>
          <a:xfrm>
            <a:off x="944880" y="2215515"/>
            <a:ext cx="2797810" cy="3898265"/>
          </a:xfrm>
          <a:prstGeom prst="rect">
            <a:avLst/>
          </a:prstGeom>
        </p:spPr>
      </p:pic>
      <p:sp>
        <p:nvSpPr>
          <p:cNvPr id="13" name="椭圆形标注 12"/>
          <p:cNvSpPr/>
          <p:nvPr/>
        </p:nvSpPr>
        <p:spPr>
          <a:xfrm>
            <a:off x="2968625" y="156019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p>
        </p:txBody>
      </p:sp>
      <p:sp>
        <p:nvSpPr>
          <p:cNvPr id="14" name="TextBox 35"/>
          <p:cNvSpPr txBox="1">
            <a:spLocks noChangeArrowheads="1"/>
          </p:cNvSpPr>
          <p:nvPr/>
        </p:nvSpPr>
        <p:spPr bwMode="auto">
          <a:xfrm>
            <a:off x="3247390" y="163830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p>
        </p:txBody>
      </p:sp>
      <p:sp>
        <p:nvSpPr>
          <p:cNvPr id="15" name="TextBox 35"/>
          <p:cNvSpPr txBox="1">
            <a:spLocks noChangeArrowheads="1"/>
          </p:cNvSpPr>
          <p:nvPr/>
        </p:nvSpPr>
        <p:spPr bwMode="auto">
          <a:xfrm>
            <a:off x="5791835" y="3213735"/>
            <a:ext cx="5958840" cy="10439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defRPr/>
            </a:pPr>
            <a:r>
              <a:rPr lang="zh-CN" sz="200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掌握</a:t>
            </a:r>
            <a:r>
              <a:rPr lang="zh-CN" altLang="en-US" sz="2000">
                <a:solidFill>
                  <a:srgbClr val="595959"/>
                </a:solidFill>
                <a:latin typeface="微软雅黑" panose="020B0503020204020204" pitchFamily="34" charset="-122"/>
                <a:ea typeface="微软雅黑" panose="020B0503020204020204" pitchFamily="34" charset="-122"/>
                <a:cs typeface="+mn-ea"/>
                <a:sym typeface="+mn-lt"/>
              </a:rPr>
              <a:t>ATM取款</a:t>
            </a:r>
            <a:r>
              <a:rPr lang="zh-CN" altLang="en-US" sz="2000" dirty="0">
                <a:solidFill>
                  <a:srgbClr val="595959"/>
                </a:solidFill>
                <a:latin typeface="微软雅黑" panose="020B0503020204020204" pitchFamily="34" charset="-122"/>
                <a:ea typeface="微软雅黑" panose="020B0503020204020204" pitchFamily="34" charset="-122"/>
                <a:cs typeface="+mn-ea"/>
                <a:sym typeface="+mn-lt"/>
              </a:rPr>
              <a:t>场景分析</a:t>
            </a:r>
            <a:r>
              <a:rPr sz="200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，能够</a:t>
            </a:r>
            <a:r>
              <a:rPr lang="zh-CN" sz="2000">
                <a:solidFill>
                  <a:srgbClr val="0070C0"/>
                </a:solidFill>
                <a:latin typeface="微软雅黑" panose="020B0503020204020204" pitchFamily="34" charset="-122"/>
                <a:ea typeface="微软雅黑" panose="020B0503020204020204" pitchFamily="34" charset="-122"/>
                <a:cs typeface="+mn-ea"/>
              </a:rPr>
              <a:t>通过场景法测试某银行ATM取款业务流程</a:t>
            </a:r>
          </a:p>
        </p:txBody>
      </p:sp>
      <p:grpSp>
        <p:nvGrpSpPr>
          <p:cNvPr id="19" name="组合 18"/>
          <p:cNvGrpSpPr/>
          <p:nvPr/>
        </p:nvGrpSpPr>
        <p:grpSpPr>
          <a:xfrm>
            <a:off x="5308600" y="3540125"/>
            <a:ext cx="405130" cy="405130"/>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1" name="Title 1"/>
          <p:cNvSpPr txBox="1"/>
          <p:nvPr/>
        </p:nvSpPr>
        <p:spPr>
          <a:xfrm>
            <a:off x="1143635" y="266700"/>
            <a:ext cx="736917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2.5.3	实例二</a:t>
            </a:r>
            <a:r>
              <a:rPr lang="zh-CN" altLang="en-US" sz="2400" b="1">
                <a:solidFill>
                  <a:srgbClr val="595959"/>
                </a:solidFill>
                <a:latin typeface="微软雅黑" panose="020B0503020204020204" pitchFamily="34" charset="-122"/>
                <a:ea typeface="微软雅黑" panose="020B0503020204020204" pitchFamily="34" charset="-122"/>
                <a:cs typeface="+mn-ea"/>
                <a:sym typeface="+mn-lt"/>
              </a:rPr>
              <a:t>：ATM取款</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场景分析</a:t>
            </a: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35"/>
          <p:cNvSpPr txBox="1">
            <a:spLocks noChangeArrowheads="1"/>
          </p:cNvSpPr>
          <p:nvPr/>
        </p:nvSpPr>
        <p:spPr bwMode="auto">
          <a:xfrm>
            <a:off x="1271270" y="981710"/>
            <a:ext cx="9812020" cy="34470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indent="457200" algn="just">
              <a:lnSpc>
                <a:spcPct val="150000"/>
              </a:lnSpc>
              <a:buClrTx/>
              <a:buSzTx/>
              <a:buFontTx/>
            </a:pPr>
            <a:r>
              <a:rPr lang="zh-CN" altLang="en-US" sz="1800" dirty="0">
                <a:solidFill>
                  <a:srgbClr val="595959"/>
                </a:solidFill>
                <a:latin typeface="微软雅黑" panose="020B0503020204020204" pitchFamily="34" charset="-122"/>
                <a:ea typeface="微软雅黑" panose="020B0503020204020204" pitchFamily="34" charset="-122"/>
                <a:cs typeface="+mn-ea"/>
              </a:rPr>
              <a:t>ATM(Automated Teller Machine，自动柜员机) 可用于提取现金、查询存款余额、转账等。假设需要使用场景法测试某银行ATM的取款业务流程，银行给出的需求规格说明是：用户在ATM中</a:t>
            </a:r>
            <a:r>
              <a:rPr lang="zh-CN" altLang="en-US" sz="1800" dirty="0">
                <a:solidFill>
                  <a:srgbClr val="0070C0"/>
                </a:solidFill>
                <a:latin typeface="微软雅黑" panose="020B0503020204020204" pitchFamily="34" charset="-122"/>
                <a:ea typeface="微软雅黑" panose="020B0503020204020204" pitchFamily="34" charset="-122"/>
                <a:cs typeface="+mn-ea"/>
              </a:rPr>
              <a:t>插入有效的银行卡</a:t>
            </a:r>
            <a:r>
              <a:rPr lang="zh-CN" altLang="en-US" sz="1800" dirty="0">
                <a:solidFill>
                  <a:srgbClr val="595959"/>
                </a:solidFill>
                <a:latin typeface="微软雅黑" panose="020B0503020204020204" pitchFamily="34" charset="-122"/>
                <a:ea typeface="微软雅黑" panose="020B0503020204020204" pitchFamily="34" charset="-122"/>
                <a:cs typeface="+mn-ea"/>
              </a:rPr>
              <a:t>，</a:t>
            </a:r>
            <a:r>
              <a:rPr lang="zh-CN" altLang="en-US" sz="1800" dirty="0">
                <a:solidFill>
                  <a:srgbClr val="0070C0"/>
                </a:solidFill>
                <a:latin typeface="微软雅黑" panose="020B0503020204020204" pitchFamily="34" charset="-122"/>
                <a:ea typeface="微软雅黑" panose="020B0503020204020204" pitchFamily="34" charset="-122"/>
                <a:cs typeface="+mn-ea"/>
              </a:rPr>
              <a:t>输入正确的密码</a:t>
            </a:r>
            <a:r>
              <a:rPr lang="zh-CN" altLang="en-US" sz="1800" dirty="0">
                <a:solidFill>
                  <a:srgbClr val="595959"/>
                </a:solidFill>
                <a:latin typeface="微软雅黑" panose="020B0503020204020204" pitchFamily="34" charset="-122"/>
                <a:ea typeface="微软雅黑" panose="020B0503020204020204" pitchFamily="34" charset="-122"/>
                <a:cs typeface="+mn-ea"/>
              </a:rPr>
              <a:t>后选择取款业务，然后</a:t>
            </a:r>
            <a:r>
              <a:rPr lang="zh-CN" altLang="en-US" sz="1800" dirty="0">
                <a:solidFill>
                  <a:srgbClr val="0070C0"/>
                </a:solidFill>
                <a:latin typeface="微软雅黑" panose="020B0503020204020204" pitchFamily="34" charset="-122"/>
                <a:ea typeface="微软雅黑" panose="020B0503020204020204" pitchFamily="34" charset="-122"/>
                <a:cs typeface="+mn-ea"/>
              </a:rPr>
              <a:t>输入取款金额</a:t>
            </a:r>
            <a:r>
              <a:rPr lang="zh-CN" altLang="en-US" sz="1800" dirty="0">
                <a:solidFill>
                  <a:srgbClr val="595959"/>
                </a:solidFill>
                <a:latin typeface="微软雅黑" panose="020B0503020204020204" pitchFamily="34" charset="-122"/>
                <a:ea typeface="微软雅黑" panose="020B0503020204020204" pitchFamily="34" charset="-122"/>
                <a:cs typeface="+mn-ea"/>
              </a:rPr>
              <a:t>，待</a:t>
            </a:r>
            <a:r>
              <a:rPr lang="zh-CN" altLang="en-US" sz="1800" dirty="0">
                <a:solidFill>
                  <a:srgbClr val="0070C0"/>
                </a:solidFill>
                <a:latin typeface="微软雅黑" panose="020B0503020204020204" pitchFamily="34" charset="-122"/>
                <a:ea typeface="微软雅黑" panose="020B0503020204020204" pitchFamily="34" charset="-122"/>
                <a:cs typeface="+mn-ea"/>
              </a:rPr>
              <a:t>出钞后选择退卡</a:t>
            </a:r>
            <a:r>
              <a:rPr lang="zh-CN" altLang="en-US" sz="1800" dirty="0">
                <a:solidFill>
                  <a:srgbClr val="595959"/>
                </a:solidFill>
                <a:latin typeface="微软雅黑" panose="020B0503020204020204" pitchFamily="34" charset="-122"/>
                <a:ea typeface="微软雅黑" panose="020B0503020204020204" pitchFamily="34" charset="-122"/>
                <a:cs typeface="+mn-ea"/>
              </a:rPr>
              <a:t>即可完成取款。在</a:t>
            </a:r>
            <a:r>
              <a:rPr lang="zh-CN" altLang="en-US" sz="1800" dirty="0">
                <a:solidFill>
                  <a:srgbClr val="0070C0"/>
                </a:solidFill>
                <a:latin typeface="微软雅黑" panose="020B0503020204020204" pitchFamily="34" charset="-122"/>
                <a:ea typeface="微软雅黑" panose="020B0503020204020204" pitchFamily="34" charset="-122"/>
                <a:cs typeface="+mn-ea"/>
              </a:rPr>
              <a:t>取款的过程</a:t>
            </a:r>
            <a:r>
              <a:rPr lang="zh-CN" altLang="en-US" sz="1800" dirty="0">
                <a:solidFill>
                  <a:srgbClr val="595959"/>
                </a:solidFill>
                <a:latin typeface="微软雅黑" panose="020B0503020204020204" pitchFamily="34" charset="-122"/>
                <a:ea typeface="微软雅黑" panose="020B0503020204020204" pitchFamily="34" charset="-122"/>
                <a:cs typeface="+mn-ea"/>
              </a:rPr>
              <a:t>中，如果出现以下</a:t>
            </a:r>
            <a:r>
              <a:rPr lang="zh-CN" altLang="en-US" sz="1800" dirty="0">
                <a:solidFill>
                  <a:srgbClr val="0070C0"/>
                </a:solidFill>
                <a:latin typeface="微软雅黑" panose="020B0503020204020204" pitchFamily="34" charset="-122"/>
                <a:ea typeface="微软雅黑" panose="020B0503020204020204" pitchFamily="34" charset="-122"/>
                <a:cs typeface="+mn-ea"/>
              </a:rPr>
              <a:t>4种情况将取款失败</a:t>
            </a:r>
            <a:r>
              <a:rPr lang="zh-CN" altLang="en-US" sz="1800" dirty="0">
                <a:solidFill>
                  <a:srgbClr val="595959"/>
                </a:solidFill>
                <a:latin typeface="微软雅黑" panose="020B0503020204020204" pitchFamily="34" charset="-122"/>
                <a:ea typeface="微软雅黑" panose="020B0503020204020204" pitchFamily="34" charset="-122"/>
                <a:cs typeface="+mn-ea"/>
              </a:rPr>
              <a:t>，结束流程。</a:t>
            </a:r>
          </a:p>
          <a:p>
            <a:pPr marL="285750" indent="-285750" algn="just">
              <a:lnSpc>
                <a:spcPct val="150000"/>
              </a:lnSpc>
              <a:buClrTx/>
              <a:buSzTx/>
              <a:buFont typeface="Wingdings" panose="05000000000000000000" charset="0"/>
              <a:buChar char="l"/>
            </a:pPr>
            <a:r>
              <a:rPr lang="zh-CN" altLang="en-US" sz="1800" dirty="0">
                <a:solidFill>
                  <a:srgbClr val="0070C0"/>
                </a:solidFill>
                <a:latin typeface="微软雅黑" panose="020B0503020204020204" pitchFamily="34" charset="-122"/>
                <a:ea typeface="微软雅黑" panose="020B0503020204020204" pitchFamily="34" charset="-122"/>
                <a:cs typeface="+mn-ea"/>
              </a:rPr>
              <a:t>密码</a:t>
            </a:r>
            <a:r>
              <a:rPr lang="zh-CN" altLang="en-US" sz="1800" dirty="0">
                <a:solidFill>
                  <a:srgbClr val="595959"/>
                </a:solidFill>
                <a:latin typeface="微软雅黑" panose="020B0503020204020204" pitchFamily="34" charset="-122"/>
                <a:ea typeface="微软雅黑" panose="020B0503020204020204" pitchFamily="34" charset="-122"/>
                <a:cs typeface="+mn-ea"/>
              </a:rPr>
              <a:t>输入</a:t>
            </a:r>
            <a:r>
              <a:rPr lang="zh-CN" altLang="en-US" sz="1800" dirty="0">
                <a:solidFill>
                  <a:srgbClr val="0070C0"/>
                </a:solidFill>
                <a:latin typeface="微软雅黑" panose="020B0503020204020204" pitchFamily="34" charset="-122"/>
                <a:ea typeface="微软雅黑" panose="020B0503020204020204" pitchFamily="34" charset="-122"/>
                <a:cs typeface="+mn-ea"/>
              </a:rPr>
              <a:t>错误</a:t>
            </a:r>
            <a:r>
              <a:rPr lang="zh-CN" altLang="en-US" sz="1800" dirty="0">
                <a:solidFill>
                  <a:srgbClr val="595959"/>
                </a:solidFill>
                <a:latin typeface="微软雅黑" panose="020B0503020204020204" pitchFamily="34" charset="-122"/>
                <a:ea typeface="微软雅黑" panose="020B0503020204020204" pitchFamily="34" charset="-122"/>
                <a:cs typeface="+mn-ea"/>
              </a:rPr>
              <a:t>的次数</a:t>
            </a:r>
            <a:r>
              <a:rPr lang="zh-CN" altLang="en-US" sz="1800" dirty="0">
                <a:solidFill>
                  <a:srgbClr val="0070C0"/>
                </a:solidFill>
                <a:latin typeface="微软雅黑" panose="020B0503020204020204" pitchFamily="34" charset="-122"/>
                <a:ea typeface="微软雅黑" panose="020B0503020204020204" pitchFamily="34" charset="-122"/>
                <a:cs typeface="+mn-ea"/>
              </a:rPr>
              <a:t>超过3次</a:t>
            </a:r>
            <a:r>
              <a:rPr lang="zh-CN" altLang="en-US" sz="1800" dirty="0">
                <a:solidFill>
                  <a:srgbClr val="595959"/>
                </a:solidFill>
                <a:latin typeface="微软雅黑" panose="020B0503020204020204" pitchFamily="34" charset="-122"/>
                <a:ea typeface="微软雅黑" panose="020B0503020204020204" pitchFamily="34" charset="-122"/>
                <a:cs typeface="+mn-ea"/>
              </a:rPr>
              <a:t>。</a:t>
            </a:r>
          </a:p>
          <a:p>
            <a:pPr marL="285750" indent="-285750" algn="just">
              <a:lnSpc>
                <a:spcPct val="150000"/>
              </a:lnSpc>
              <a:buClrTx/>
              <a:buSzTx/>
              <a:buFont typeface="Wingdings" panose="05000000000000000000" charset="0"/>
              <a:buChar char="l"/>
            </a:pPr>
            <a:r>
              <a:rPr lang="zh-CN" altLang="en-US" sz="1800" dirty="0">
                <a:solidFill>
                  <a:srgbClr val="595959"/>
                </a:solidFill>
                <a:latin typeface="微软雅黑" panose="020B0503020204020204" pitchFamily="34" charset="-122"/>
                <a:ea typeface="微软雅黑" panose="020B0503020204020204" pitchFamily="34" charset="-122"/>
                <a:cs typeface="+mn-ea"/>
              </a:rPr>
              <a:t>输入的</a:t>
            </a:r>
            <a:r>
              <a:rPr lang="zh-CN" altLang="en-US" sz="1800" dirty="0">
                <a:solidFill>
                  <a:srgbClr val="0070C0"/>
                </a:solidFill>
                <a:latin typeface="微软雅黑" panose="020B0503020204020204" pitchFamily="34" charset="-122"/>
                <a:ea typeface="微软雅黑" panose="020B0503020204020204" pitchFamily="34" charset="-122"/>
                <a:cs typeface="+mn-ea"/>
              </a:rPr>
              <a:t>取款金额不是100的倍数</a:t>
            </a:r>
            <a:r>
              <a:rPr lang="zh-CN" altLang="en-US" sz="1800" dirty="0">
                <a:solidFill>
                  <a:srgbClr val="595959"/>
                </a:solidFill>
                <a:latin typeface="微软雅黑" panose="020B0503020204020204" pitchFamily="34" charset="-122"/>
                <a:ea typeface="微软雅黑" panose="020B0503020204020204" pitchFamily="34" charset="-122"/>
                <a:cs typeface="+mn-ea"/>
              </a:rPr>
              <a:t>。</a:t>
            </a:r>
          </a:p>
          <a:p>
            <a:pPr marL="285750" indent="-285750" algn="just">
              <a:lnSpc>
                <a:spcPct val="150000"/>
              </a:lnSpc>
              <a:buClrTx/>
              <a:buSzTx/>
              <a:buFont typeface="Wingdings" panose="05000000000000000000" charset="0"/>
              <a:buChar char="l"/>
            </a:pPr>
            <a:r>
              <a:rPr lang="zh-CN" altLang="en-US" sz="1800" dirty="0">
                <a:solidFill>
                  <a:srgbClr val="595959"/>
                </a:solidFill>
                <a:latin typeface="微软雅黑" panose="020B0503020204020204" pitchFamily="34" charset="-122"/>
                <a:ea typeface="微软雅黑" panose="020B0503020204020204" pitchFamily="34" charset="-122"/>
                <a:cs typeface="+mn-ea"/>
              </a:rPr>
              <a:t>输入的</a:t>
            </a:r>
            <a:r>
              <a:rPr lang="zh-CN" altLang="en-US" sz="1800" dirty="0">
                <a:solidFill>
                  <a:srgbClr val="0070C0"/>
                </a:solidFill>
                <a:latin typeface="微软雅黑" panose="020B0503020204020204" pitchFamily="34" charset="-122"/>
                <a:ea typeface="微软雅黑" panose="020B0503020204020204" pitchFamily="34" charset="-122"/>
                <a:cs typeface="+mn-ea"/>
              </a:rPr>
              <a:t>取款金额大于账户余额</a:t>
            </a:r>
            <a:r>
              <a:rPr lang="zh-CN" altLang="en-US" sz="1800" dirty="0">
                <a:solidFill>
                  <a:srgbClr val="595959"/>
                </a:solidFill>
                <a:latin typeface="微软雅黑" panose="020B0503020204020204" pitchFamily="34" charset="-122"/>
                <a:ea typeface="微软雅黑" panose="020B0503020204020204" pitchFamily="34" charset="-122"/>
                <a:cs typeface="+mn-ea"/>
              </a:rPr>
              <a:t>。</a:t>
            </a:r>
          </a:p>
          <a:p>
            <a:pPr marL="285750" indent="-285750" algn="just">
              <a:lnSpc>
                <a:spcPct val="150000"/>
              </a:lnSpc>
              <a:buClrTx/>
              <a:buSzTx/>
              <a:buFont typeface="Wingdings" panose="05000000000000000000" charset="0"/>
              <a:buChar char="l"/>
            </a:pPr>
            <a:r>
              <a:rPr lang="zh-CN" altLang="en-US" sz="1800" dirty="0">
                <a:solidFill>
                  <a:srgbClr val="595959"/>
                </a:solidFill>
                <a:latin typeface="微软雅黑" panose="020B0503020204020204" pitchFamily="34" charset="-122"/>
                <a:ea typeface="微软雅黑" panose="020B0503020204020204" pitchFamily="34" charset="-122"/>
                <a:cs typeface="+mn-ea"/>
              </a:rPr>
              <a:t>输入的</a:t>
            </a:r>
            <a:r>
              <a:rPr lang="zh-CN" altLang="en-US" sz="1800" dirty="0">
                <a:solidFill>
                  <a:srgbClr val="0070C0"/>
                </a:solidFill>
                <a:latin typeface="微软雅黑" panose="020B0503020204020204" pitchFamily="34" charset="-122"/>
                <a:ea typeface="微软雅黑" panose="020B0503020204020204" pitchFamily="34" charset="-122"/>
                <a:cs typeface="+mn-ea"/>
              </a:rPr>
              <a:t>取款金额大于ATM取款额度</a:t>
            </a:r>
            <a:r>
              <a:rPr lang="zh-CN" altLang="en-US" sz="1800" dirty="0">
                <a:solidFill>
                  <a:srgbClr val="595959"/>
                </a:solidFill>
                <a:latin typeface="微软雅黑" panose="020B0503020204020204" pitchFamily="34" charset="-122"/>
                <a:ea typeface="微软雅黑" panose="020B0503020204020204" pitchFamily="34" charset="-122"/>
                <a:cs typeface="+mn-ea"/>
              </a:rPr>
              <a:t>。</a:t>
            </a:r>
          </a:p>
        </p:txBody>
      </p:sp>
      <p:sp>
        <p:nvSpPr>
          <p:cNvPr id="2" name="Title 1"/>
          <p:cNvSpPr txBox="1"/>
          <p:nvPr/>
        </p:nvSpPr>
        <p:spPr>
          <a:xfrm>
            <a:off x="1143635" y="266700"/>
            <a:ext cx="736917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2.5.3	实例二</a:t>
            </a:r>
            <a:r>
              <a:rPr lang="zh-CN" altLang="en-US" sz="2400" b="1">
                <a:solidFill>
                  <a:srgbClr val="595959"/>
                </a:solidFill>
                <a:latin typeface="微软雅黑" panose="020B0503020204020204" pitchFamily="34" charset="-122"/>
                <a:ea typeface="微软雅黑" panose="020B0503020204020204" pitchFamily="34" charset="-122"/>
                <a:cs typeface="+mn-ea"/>
                <a:sym typeface="+mn-lt"/>
              </a:rPr>
              <a:t>：ATM取款</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场景分析</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35"/>
          <p:cNvSpPr txBox="1">
            <a:spLocks noChangeArrowheads="1"/>
          </p:cNvSpPr>
          <p:nvPr/>
        </p:nvSpPr>
        <p:spPr bwMode="auto">
          <a:xfrm>
            <a:off x="1271270" y="838200"/>
            <a:ext cx="9812020" cy="5359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buClrTx/>
              <a:buSzTx/>
              <a:buFontTx/>
            </a:pPr>
            <a:r>
              <a:rPr lang="zh-CN" altLang="en-US" sz="1800" dirty="0">
                <a:solidFill>
                  <a:srgbClr val="595959"/>
                </a:solidFill>
                <a:latin typeface="微软雅黑" panose="020B0503020204020204" pitchFamily="34" charset="-122"/>
                <a:ea typeface="微软雅黑" panose="020B0503020204020204" pitchFamily="34" charset="-122"/>
                <a:cs typeface="+mn-ea"/>
              </a:rPr>
              <a:t>下面通过前面需求规格说明，画出取款的流程图</a:t>
            </a:r>
            <a:r>
              <a:rPr lang="zh-CN" altLang="en-US" sz="1800">
                <a:solidFill>
                  <a:srgbClr val="595959"/>
                </a:solidFill>
                <a:latin typeface="微软雅黑" panose="020B0503020204020204" pitchFamily="34" charset="-122"/>
                <a:ea typeface="微软雅黑" panose="020B0503020204020204" pitchFamily="34" charset="-122"/>
                <a:cs typeface="+mn-ea"/>
              </a:rPr>
              <a:t>。</a:t>
            </a:r>
            <a:r>
              <a:rPr lang="zh-CN" altLang="en-US" sz="1800">
                <a:solidFill>
                  <a:srgbClr val="0070C0"/>
                </a:solidFill>
                <a:latin typeface="微软雅黑" panose="020B0503020204020204" pitchFamily="34" charset="-122"/>
                <a:ea typeface="微软雅黑" panose="020B0503020204020204" pitchFamily="34" charset="-122"/>
                <a:cs typeface="+mn-ea"/>
              </a:rPr>
              <a:t>ATM取款</a:t>
            </a:r>
            <a:r>
              <a:rPr lang="zh-CN" altLang="en-US" sz="1800" dirty="0">
                <a:solidFill>
                  <a:srgbClr val="0070C0"/>
                </a:solidFill>
                <a:latin typeface="微软雅黑" panose="020B0503020204020204" pitchFamily="34" charset="-122"/>
                <a:ea typeface="微软雅黑" panose="020B0503020204020204" pitchFamily="34" charset="-122"/>
                <a:cs typeface="+mn-ea"/>
              </a:rPr>
              <a:t>流程图</a:t>
            </a:r>
            <a:r>
              <a:rPr lang="zh-CN" altLang="en-US" sz="1800" dirty="0">
                <a:solidFill>
                  <a:srgbClr val="595959"/>
                </a:solidFill>
                <a:latin typeface="微软雅黑" panose="020B0503020204020204" pitchFamily="34" charset="-122"/>
                <a:ea typeface="微软雅黑" panose="020B0503020204020204" pitchFamily="34" charset="-122"/>
                <a:cs typeface="+mn-ea"/>
              </a:rPr>
              <a:t>如下图所示。</a:t>
            </a:r>
          </a:p>
        </p:txBody>
      </p:sp>
      <p:sp>
        <p:nvSpPr>
          <p:cNvPr id="2" name="Title 1"/>
          <p:cNvSpPr txBox="1"/>
          <p:nvPr/>
        </p:nvSpPr>
        <p:spPr>
          <a:xfrm>
            <a:off x="1143635" y="266700"/>
            <a:ext cx="736917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2.5.3	实例二</a:t>
            </a:r>
            <a:r>
              <a:rPr lang="zh-CN" altLang="en-US" sz="2400" b="1">
                <a:solidFill>
                  <a:srgbClr val="595959"/>
                </a:solidFill>
                <a:latin typeface="微软雅黑" panose="020B0503020204020204" pitchFamily="34" charset="-122"/>
                <a:ea typeface="微软雅黑" panose="020B0503020204020204" pitchFamily="34" charset="-122"/>
                <a:cs typeface="+mn-ea"/>
                <a:sym typeface="+mn-lt"/>
              </a:rPr>
              <a:t>：ATM取款</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场景分析</a:t>
            </a:r>
          </a:p>
        </p:txBody>
      </p:sp>
      <p:pic>
        <p:nvPicPr>
          <p:cNvPr id="11" name="图片 10">
            <a:extLst>
              <a:ext uri="{FF2B5EF4-FFF2-40B4-BE49-F238E27FC236}">
                <a16:creationId xmlns:a16="http://schemas.microsoft.com/office/drawing/2014/main" id="{CA0BBC00-B3B0-AEB7-3CB2-47E511C71800}"/>
              </a:ext>
            </a:extLst>
          </p:cNvPr>
          <p:cNvPicPr>
            <a:picLocks noChangeAspect="1"/>
          </p:cNvPicPr>
          <p:nvPr/>
        </p:nvPicPr>
        <p:blipFill>
          <a:blip r:embed="rId3"/>
          <a:stretch>
            <a:fillRect/>
          </a:stretch>
        </p:blipFill>
        <p:spPr>
          <a:xfrm>
            <a:off x="4335058" y="1465345"/>
            <a:ext cx="3520296" cy="5208494"/>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35"/>
          <p:cNvSpPr txBox="1">
            <a:spLocks noChangeArrowheads="1"/>
          </p:cNvSpPr>
          <p:nvPr/>
        </p:nvSpPr>
        <p:spPr bwMode="auto">
          <a:xfrm>
            <a:off x="1271270" y="838200"/>
            <a:ext cx="9812020" cy="593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buClrTx/>
              <a:buSzTx/>
              <a:buFontTx/>
            </a:pPr>
            <a:r>
              <a:rPr lang="zh-CN" altLang="en-US" sz="1800">
                <a:solidFill>
                  <a:srgbClr val="595959"/>
                </a:solidFill>
                <a:latin typeface="微软雅黑" panose="020B0503020204020204" pitchFamily="34" charset="-122"/>
                <a:ea typeface="微软雅黑" panose="020B0503020204020204" pitchFamily="34" charset="-122"/>
                <a:cs typeface="+mn-ea"/>
              </a:rPr>
              <a:t>分析</a:t>
            </a:r>
            <a:r>
              <a:rPr lang="zh-CN" altLang="en-US" sz="1800">
                <a:solidFill>
                  <a:srgbClr val="0070C0"/>
                </a:solidFill>
                <a:latin typeface="微软雅黑" panose="020B0503020204020204" pitchFamily="34" charset="-122"/>
                <a:ea typeface="微软雅黑" panose="020B0503020204020204" pitchFamily="34" charset="-122"/>
                <a:cs typeface="+mn-ea"/>
                <a:sym typeface="+mn-ea"/>
              </a:rPr>
              <a:t>ATM取款流程</a:t>
            </a:r>
            <a:r>
              <a:rPr lang="zh-CN" altLang="en-US" sz="1800">
                <a:solidFill>
                  <a:srgbClr val="595959"/>
                </a:solidFill>
                <a:latin typeface="微软雅黑" panose="020B0503020204020204" pitchFamily="34" charset="-122"/>
                <a:ea typeface="微软雅黑" panose="020B0503020204020204" pitchFamily="34" charset="-122"/>
                <a:cs typeface="+mn-ea"/>
              </a:rPr>
              <a:t>图可知，</a:t>
            </a:r>
            <a:r>
              <a:rPr lang="zh-CN" altLang="en-US" sz="1800">
                <a:solidFill>
                  <a:srgbClr val="0070C0"/>
                </a:solidFill>
                <a:latin typeface="微软雅黑" panose="020B0503020204020204" pitchFamily="34" charset="-122"/>
                <a:ea typeface="微软雅黑" panose="020B0503020204020204" pitchFamily="34" charset="-122"/>
                <a:cs typeface="+mn-ea"/>
              </a:rPr>
              <a:t>基本</a:t>
            </a:r>
            <a:r>
              <a:rPr lang="zh-CN" altLang="en-US" sz="1800" dirty="0">
                <a:solidFill>
                  <a:srgbClr val="0070C0"/>
                </a:solidFill>
                <a:latin typeface="微软雅黑" panose="020B0503020204020204" pitchFamily="34" charset="-122"/>
                <a:ea typeface="微软雅黑" panose="020B0503020204020204" pitchFamily="34" charset="-122"/>
                <a:cs typeface="+mn-ea"/>
              </a:rPr>
              <a:t>流有1条</a:t>
            </a:r>
            <a:r>
              <a:rPr lang="zh-CN" altLang="en-US" sz="1800" dirty="0">
                <a:solidFill>
                  <a:srgbClr val="595959"/>
                </a:solidFill>
                <a:latin typeface="微软雅黑" panose="020B0503020204020204" pitchFamily="34" charset="-122"/>
                <a:ea typeface="微软雅黑" panose="020B0503020204020204" pitchFamily="34" charset="-122"/>
                <a:cs typeface="+mn-ea"/>
              </a:rPr>
              <a:t>，</a:t>
            </a:r>
            <a:r>
              <a:rPr lang="zh-CN" altLang="en-US" sz="1800" dirty="0">
                <a:solidFill>
                  <a:srgbClr val="0070C0"/>
                </a:solidFill>
                <a:latin typeface="微软雅黑" panose="020B0503020204020204" pitchFamily="34" charset="-122"/>
                <a:ea typeface="微软雅黑" panose="020B0503020204020204" pitchFamily="34" charset="-122"/>
                <a:cs typeface="+mn-ea"/>
              </a:rPr>
              <a:t>备选流有5条</a:t>
            </a:r>
            <a:r>
              <a:rPr lang="zh-CN" altLang="en-US" sz="1800" dirty="0">
                <a:solidFill>
                  <a:srgbClr val="595959"/>
                </a:solidFill>
                <a:latin typeface="微软雅黑" panose="020B0503020204020204" pitchFamily="34" charset="-122"/>
                <a:ea typeface="微软雅黑" panose="020B0503020204020204" pitchFamily="34" charset="-122"/>
                <a:cs typeface="+mn-ea"/>
              </a:rPr>
              <a:t>，</a:t>
            </a:r>
            <a:r>
              <a:rPr lang="zh-CN" altLang="en-US" sz="1800">
                <a:solidFill>
                  <a:srgbClr val="595959"/>
                </a:solidFill>
                <a:latin typeface="微软雅黑" panose="020B0503020204020204" pitchFamily="34" charset="-122"/>
                <a:ea typeface="微软雅黑" panose="020B0503020204020204" pitchFamily="34" charset="-122"/>
                <a:cs typeface="+mn-ea"/>
              </a:rPr>
              <a:t>具体如下。</a:t>
            </a:r>
            <a:endParaRPr lang="zh-CN" altLang="en-US" sz="1800" dirty="0">
              <a:solidFill>
                <a:srgbClr val="595959"/>
              </a:solidFill>
              <a:latin typeface="微软雅黑" panose="020B0503020204020204" pitchFamily="34" charset="-122"/>
              <a:ea typeface="微软雅黑" panose="020B0503020204020204" pitchFamily="34" charset="-122"/>
              <a:cs typeface="+mn-ea"/>
            </a:endParaRPr>
          </a:p>
          <a:p>
            <a:pPr marL="285750" indent="-285750" algn="just">
              <a:lnSpc>
                <a:spcPct val="150000"/>
              </a:lnSpc>
              <a:buClrTx/>
              <a:buSzTx/>
              <a:buFont typeface="Wingdings" panose="05000000000000000000" charset="0"/>
              <a:buChar char="l"/>
            </a:pPr>
            <a:r>
              <a:rPr lang="zh-CN" altLang="en-US" sz="1800" dirty="0">
                <a:solidFill>
                  <a:srgbClr val="595959"/>
                </a:solidFill>
                <a:latin typeface="微软雅黑" panose="020B0503020204020204" pitchFamily="34" charset="-122"/>
                <a:ea typeface="微软雅黑" panose="020B0503020204020204" pitchFamily="34" charset="-122"/>
                <a:cs typeface="+mn-ea"/>
              </a:rPr>
              <a:t>基本流：插卡→输入密码→选择取款→输入取款金额→出钞→退卡。</a:t>
            </a:r>
          </a:p>
          <a:p>
            <a:pPr marL="285750" indent="-285750" algn="just">
              <a:lnSpc>
                <a:spcPct val="150000"/>
              </a:lnSpc>
              <a:buClrTx/>
              <a:buSzTx/>
              <a:buFont typeface="Wingdings" panose="05000000000000000000" charset="0"/>
              <a:buChar char="l"/>
            </a:pPr>
            <a:r>
              <a:rPr lang="zh-CN" altLang="en-US" sz="1800" dirty="0">
                <a:solidFill>
                  <a:srgbClr val="595959"/>
                </a:solidFill>
                <a:latin typeface="微软雅黑" panose="020B0503020204020204" pitchFamily="34" charset="-122"/>
                <a:ea typeface="微软雅黑" panose="020B0503020204020204" pitchFamily="34" charset="-122"/>
                <a:cs typeface="+mn-ea"/>
              </a:rPr>
              <a:t>备选流1：插卡→输入</a:t>
            </a:r>
            <a:r>
              <a:rPr lang="zh-CN" altLang="en-US" sz="1800" dirty="0">
                <a:solidFill>
                  <a:srgbClr val="0070C0"/>
                </a:solidFill>
                <a:latin typeface="微软雅黑" panose="020B0503020204020204" pitchFamily="34" charset="-122"/>
                <a:ea typeface="微软雅黑" panose="020B0503020204020204" pitchFamily="34" charset="-122"/>
                <a:cs typeface="+mn-ea"/>
              </a:rPr>
              <a:t>密码错误</a:t>
            </a:r>
            <a:r>
              <a:rPr lang="zh-CN" altLang="en-US" sz="1800" dirty="0">
                <a:solidFill>
                  <a:srgbClr val="595959"/>
                </a:solidFill>
                <a:latin typeface="微软雅黑" panose="020B0503020204020204" pitchFamily="34" charset="-122"/>
                <a:ea typeface="微软雅黑" panose="020B0503020204020204" pitchFamily="34" charset="-122"/>
                <a:cs typeface="+mn-ea"/>
              </a:rPr>
              <a:t>（</a:t>
            </a:r>
            <a:r>
              <a:rPr lang="zh-CN" altLang="en-US" sz="1800" dirty="0">
                <a:solidFill>
                  <a:srgbClr val="0070C0"/>
                </a:solidFill>
                <a:latin typeface="微软雅黑" panose="020B0503020204020204" pitchFamily="34" charset="-122"/>
                <a:ea typeface="微软雅黑" panose="020B0503020204020204" pitchFamily="34" charset="-122"/>
                <a:cs typeface="+mn-ea"/>
              </a:rPr>
              <a:t>3次以内</a:t>
            </a:r>
            <a:r>
              <a:rPr lang="zh-CN" altLang="en-US" sz="1800" dirty="0">
                <a:solidFill>
                  <a:srgbClr val="595959"/>
                </a:solidFill>
                <a:latin typeface="微软雅黑" panose="020B0503020204020204" pitchFamily="34" charset="-122"/>
                <a:ea typeface="微软雅黑" panose="020B0503020204020204" pitchFamily="34" charset="-122"/>
                <a:cs typeface="+mn-ea"/>
              </a:rPr>
              <a:t>）→选择取款→输入取款金额→出钞→退卡。</a:t>
            </a:r>
          </a:p>
          <a:p>
            <a:pPr marL="285750" indent="-285750" algn="just">
              <a:lnSpc>
                <a:spcPct val="150000"/>
              </a:lnSpc>
              <a:buClrTx/>
              <a:buSzTx/>
              <a:buFont typeface="Wingdings" panose="05000000000000000000" charset="0"/>
              <a:buChar char="l"/>
            </a:pPr>
            <a:r>
              <a:rPr lang="zh-CN" altLang="en-US" sz="1800" dirty="0">
                <a:solidFill>
                  <a:srgbClr val="595959"/>
                </a:solidFill>
                <a:latin typeface="微软雅黑" panose="020B0503020204020204" pitchFamily="34" charset="-122"/>
                <a:ea typeface="微软雅黑" panose="020B0503020204020204" pitchFamily="34" charset="-122"/>
                <a:cs typeface="+mn-ea"/>
              </a:rPr>
              <a:t>备选流2：插卡→输入</a:t>
            </a:r>
            <a:r>
              <a:rPr lang="zh-CN" altLang="en-US" sz="1800" dirty="0">
                <a:solidFill>
                  <a:srgbClr val="0070C0"/>
                </a:solidFill>
                <a:latin typeface="微软雅黑" panose="020B0503020204020204" pitchFamily="34" charset="-122"/>
                <a:ea typeface="微软雅黑" panose="020B0503020204020204" pitchFamily="34" charset="-122"/>
                <a:cs typeface="+mn-ea"/>
              </a:rPr>
              <a:t>密码错误</a:t>
            </a:r>
            <a:r>
              <a:rPr lang="zh-CN" altLang="en-US" sz="1800" dirty="0">
                <a:solidFill>
                  <a:srgbClr val="595959"/>
                </a:solidFill>
                <a:latin typeface="微软雅黑" panose="020B0503020204020204" pitchFamily="34" charset="-122"/>
                <a:ea typeface="微软雅黑" panose="020B0503020204020204" pitchFamily="34" charset="-122"/>
                <a:cs typeface="+mn-ea"/>
              </a:rPr>
              <a:t>（</a:t>
            </a:r>
            <a:r>
              <a:rPr lang="zh-CN" altLang="en-US" sz="1800" dirty="0">
                <a:solidFill>
                  <a:srgbClr val="0070C0"/>
                </a:solidFill>
                <a:latin typeface="微软雅黑" panose="020B0503020204020204" pitchFamily="34" charset="-122"/>
                <a:ea typeface="微软雅黑" panose="020B0503020204020204" pitchFamily="34" charset="-122"/>
                <a:cs typeface="+mn-ea"/>
              </a:rPr>
              <a:t>超过3次</a:t>
            </a:r>
            <a:r>
              <a:rPr lang="zh-CN" altLang="en-US" sz="1800" dirty="0">
                <a:solidFill>
                  <a:srgbClr val="595959"/>
                </a:solidFill>
                <a:latin typeface="微软雅黑" panose="020B0503020204020204" pitchFamily="34" charset="-122"/>
                <a:ea typeface="微软雅黑" panose="020B0503020204020204" pitchFamily="34" charset="-122"/>
                <a:cs typeface="+mn-ea"/>
              </a:rPr>
              <a:t>）→退卡。</a:t>
            </a:r>
          </a:p>
          <a:p>
            <a:pPr marL="285750" indent="-285750" algn="just">
              <a:lnSpc>
                <a:spcPct val="150000"/>
              </a:lnSpc>
              <a:buClrTx/>
              <a:buSzTx/>
              <a:buFont typeface="Wingdings" panose="05000000000000000000" charset="0"/>
              <a:buChar char="l"/>
            </a:pPr>
            <a:r>
              <a:rPr lang="zh-CN" altLang="en-US" sz="1800" dirty="0">
                <a:solidFill>
                  <a:srgbClr val="595959"/>
                </a:solidFill>
                <a:latin typeface="微软雅黑" panose="020B0503020204020204" pitchFamily="34" charset="-122"/>
                <a:ea typeface="微软雅黑" panose="020B0503020204020204" pitchFamily="34" charset="-122"/>
                <a:cs typeface="+mn-ea"/>
              </a:rPr>
              <a:t>备选流3：插卡→输入密码→选择取款→输入的</a:t>
            </a:r>
            <a:r>
              <a:rPr lang="zh-CN" altLang="en-US" sz="1800" dirty="0">
                <a:solidFill>
                  <a:srgbClr val="0070C0"/>
                </a:solidFill>
                <a:latin typeface="微软雅黑" panose="020B0503020204020204" pitchFamily="34" charset="-122"/>
                <a:ea typeface="微软雅黑" panose="020B0503020204020204" pitchFamily="34" charset="-122"/>
                <a:cs typeface="+mn-ea"/>
              </a:rPr>
              <a:t>取款金额不是100的倍数</a:t>
            </a:r>
            <a:r>
              <a:rPr lang="zh-CN" altLang="en-US" sz="1800" dirty="0">
                <a:solidFill>
                  <a:srgbClr val="595959"/>
                </a:solidFill>
                <a:latin typeface="微软雅黑" panose="020B0503020204020204" pitchFamily="34" charset="-122"/>
                <a:ea typeface="微软雅黑" panose="020B0503020204020204" pitchFamily="34" charset="-122"/>
                <a:cs typeface="+mn-ea"/>
              </a:rPr>
              <a:t>→退卡。</a:t>
            </a:r>
          </a:p>
          <a:p>
            <a:pPr marL="285750" indent="-285750" algn="just">
              <a:lnSpc>
                <a:spcPct val="150000"/>
              </a:lnSpc>
              <a:buClrTx/>
              <a:buSzTx/>
              <a:buFont typeface="Wingdings" panose="05000000000000000000" charset="0"/>
              <a:buChar char="l"/>
            </a:pPr>
            <a:r>
              <a:rPr lang="zh-CN" altLang="en-US" sz="1800" dirty="0">
                <a:solidFill>
                  <a:srgbClr val="595959"/>
                </a:solidFill>
                <a:latin typeface="微软雅黑" panose="020B0503020204020204" pitchFamily="34" charset="-122"/>
                <a:ea typeface="微软雅黑" panose="020B0503020204020204" pitchFamily="34" charset="-122"/>
                <a:cs typeface="+mn-ea"/>
              </a:rPr>
              <a:t>备选流4：插卡→输入密码→选择取款→输入的</a:t>
            </a:r>
            <a:r>
              <a:rPr lang="zh-CN" altLang="en-US" sz="1800" dirty="0">
                <a:solidFill>
                  <a:srgbClr val="0070C0"/>
                </a:solidFill>
                <a:latin typeface="微软雅黑" panose="020B0503020204020204" pitchFamily="34" charset="-122"/>
                <a:ea typeface="微软雅黑" panose="020B0503020204020204" pitchFamily="34" charset="-122"/>
                <a:cs typeface="+mn-ea"/>
              </a:rPr>
              <a:t>取款金额大于账户余额</a:t>
            </a:r>
            <a:r>
              <a:rPr lang="zh-CN" altLang="en-US" sz="1800" dirty="0">
                <a:solidFill>
                  <a:srgbClr val="595959"/>
                </a:solidFill>
                <a:latin typeface="微软雅黑" panose="020B0503020204020204" pitchFamily="34" charset="-122"/>
                <a:ea typeface="微软雅黑" panose="020B0503020204020204" pitchFamily="34" charset="-122"/>
                <a:cs typeface="+mn-ea"/>
              </a:rPr>
              <a:t>→退卡。</a:t>
            </a:r>
          </a:p>
          <a:p>
            <a:pPr marL="285750" indent="-285750" algn="just">
              <a:lnSpc>
                <a:spcPct val="150000"/>
              </a:lnSpc>
              <a:buClrTx/>
              <a:buSzTx/>
              <a:buFont typeface="Wingdings" panose="05000000000000000000" charset="0"/>
              <a:buChar char="l"/>
            </a:pPr>
            <a:r>
              <a:rPr lang="zh-CN" altLang="en-US" sz="1800" dirty="0">
                <a:solidFill>
                  <a:srgbClr val="595959"/>
                </a:solidFill>
                <a:latin typeface="微软雅黑" panose="020B0503020204020204" pitchFamily="34" charset="-122"/>
                <a:ea typeface="微软雅黑" panose="020B0503020204020204" pitchFamily="34" charset="-122"/>
                <a:cs typeface="+mn-ea"/>
              </a:rPr>
              <a:t>备选流5：插卡→输入密码→选择取款→输入的</a:t>
            </a:r>
            <a:r>
              <a:rPr lang="zh-CN" altLang="en-US" sz="1800" dirty="0">
                <a:solidFill>
                  <a:srgbClr val="0070C0"/>
                </a:solidFill>
                <a:latin typeface="微软雅黑" panose="020B0503020204020204" pitchFamily="34" charset="-122"/>
                <a:ea typeface="微软雅黑" panose="020B0503020204020204" pitchFamily="34" charset="-122"/>
                <a:cs typeface="+mn-ea"/>
              </a:rPr>
              <a:t>取款金额大于ATM取款额度</a:t>
            </a:r>
            <a:r>
              <a:rPr lang="zh-CN" altLang="en-US" sz="1800" dirty="0">
                <a:solidFill>
                  <a:srgbClr val="595959"/>
                </a:solidFill>
                <a:latin typeface="微软雅黑" panose="020B0503020204020204" pitchFamily="34" charset="-122"/>
                <a:ea typeface="微软雅黑" panose="020B0503020204020204" pitchFamily="34" charset="-122"/>
                <a:cs typeface="+mn-ea"/>
              </a:rPr>
              <a:t>→退卡。</a:t>
            </a:r>
          </a:p>
          <a:p>
            <a:pPr algn="just">
              <a:lnSpc>
                <a:spcPct val="150000"/>
              </a:lnSpc>
              <a:buClrTx/>
              <a:buSzTx/>
              <a:buFontTx/>
            </a:pPr>
            <a:r>
              <a:rPr lang="zh-CN" altLang="en-US" sz="1800" dirty="0">
                <a:solidFill>
                  <a:srgbClr val="595959"/>
                </a:solidFill>
                <a:latin typeface="微软雅黑" panose="020B0503020204020204" pitchFamily="34" charset="-122"/>
                <a:ea typeface="微软雅黑" panose="020B0503020204020204" pitchFamily="34" charset="-122"/>
                <a:cs typeface="+mn-ea"/>
              </a:rPr>
              <a:t>通过对基本流和备选流的分析，可以得出</a:t>
            </a:r>
            <a:r>
              <a:rPr lang="zh-CN" altLang="en-US" sz="1800" dirty="0">
                <a:solidFill>
                  <a:srgbClr val="0070C0"/>
                </a:solidFill>
                <a:latin typeface="微软雅黑" panose="020B0503020204020204" pitchFamily="34" charset="-122"/>
                <a:ea typeface="微软雅黑" panose="020B0503020204020204" pitchFamily="34" charset="-122"/>
                <a:cs typeface="+mn-ea"/>
              </a:rPr>
              <a:t>6个测试场景</a:t>
            </a:r>
            <a:r>
              <a:rPr lang="zh-CN" altLang="en-US" sz="1800" dirty="0">
                <a:solidFill>
                  <a:srgbClr val="595959"/>
                </a:solidFill>
                <a:latin typeface="微软雅黑" panose="020B0503020204020204" pitchFamily="34" charset="-122"/>
                <a:ea typeface="微软雅黑" panose="020B0503020204020204" pitchFamily="34" charset="-122"/>
                <a:cs typeface="+mn-ea"/>
              </a:rPr>
              <a:t>，</a:t>
            </a:r>
            <a:r>
              <a:rPr lang="zh-CN" altLang="en-US" sz="1800">
                <a:solidFill>
                  <a:srgbClr val="595959"/>
                </a:solidFill>
                <a:latin typeface="微软雅黑" panose="020B0503020204020204" pitchFamily="34" charset="-122"/>
                <a:ea typeface="微软雅黑" panose="020B0503020204020204" pitchFamily="34" charset="-122"/>
                <a:cs typeface="+mn-ea"/>
              </a:rPr>
              <a:t>具体如下。</a:t>
            </a:r>
            <a:endParaRPr lang="zh-CN" altLang="en-US" sz="1800" dirty="0">
              <a:solidFill>
                <a:srgbClr val="595959"/>
              </a:solidFill>
              <a:latin typeface="微软雅黑" panose="020B0503020204020204" pitchFamily="34" charset="-122"/>
              <a:ea typeface="微软雅黑" panose="020B0503020204020204" pitchFamily="34" charset="-122"/>
              <a:cs typeface="+mn-ea"/>
            </a:endParaRPr>
          </a:p>
          <a:p>
            <a:pPr marL="285750" indent="-285750" algn="just">
              <a:lnSpc>
                <a:spcPct val="150000"/>
              </a:lnSpc>
              <a:buClrTx/>
              <a:buSzTx/>
              <a:buFont typeface="Wingdings" panose="05000000000000000000" charset="0"/>
              <a:buChar char="l"/>
            </a:pPr>
            <a:r>
              <a:rPr lang="zh-CN" altLang="en-US" sz="1800" dirty="0">
                <a:solidFill>
                  <a:srgbClr val="595959"/>
                </a:solidFill>
                <a:latin typeface="微软雅黑" panose="020B0503020204020204" pitchFamily="34" charset="-122"/>
                <a:ea typeface="微软雅黑" panose="020B0503020204020204" pitchFamily="34" charset="-122"/>
                <a:cs typeface="+mn-ea"/>
              </a:rPr>
              <a:t>场景1：基本流。</a:t>
            </a:r>
          </a:p>
          <a:p>
            <a:pPr marL="285750" indent="-285750" algn="just">
              <a:lnSpc>
                <a:spcPct val="150000"/>
              </a:lnSpc>
              <a:buClrTx/>
              <a:buSzTx/>
              <a:buFont typeface="Wingdings" panose="05000000000000000000" charset="0"/>
              <a:buChar char="l"/>
            </a:pPr>
            <a:r>
              <a:rPr lang="zh-CN" altLang="en-US" sz="1800" dirty="0">
                <a:solidFill>
                  <a:srgbClr val="595959"/>
                </a:solidFill>
                <a:latin typeface="微软雅黑" panose="020B0503020204020204" pitchFamily="34" charset="-122"/>
                <a:ea typeface="微软雅黑" panose="020B0503020204020204" pitchFamily="34" charset="-122"/>
                <a:cs typeface="+mn-ea"/>
              </a:rPr>
              <a:t>场景2：基本流+备选流1。</a:t>
            </a:r>
          </a:p>
          <a:p>
            <a:pPr marL="285750" indent="-285750" algn="just">
              <a:lnSpc>
                <a:spcPct val="150000"/>
              </a:lnSpc>
              <a:buClrTx/>
              <a:buSzTx/>
              <a:buFont typeface="Wingdings" panose="05000000000000000000" charset="0"/>
              <a:buChar char="l"/>
            </a:pPr>
            <a:r>
              <a:rPr lang="zh-CN" altLang="en-US" sz="1800" dirty="0">
                <a:solidFill>
                  <a:srgbClr val="595959"/>
                </a:solidFill>
                <a:latin typeface="微软雅黑" panose="020B0503020204020204" pitchFamily="34" charset="-122"/>
                <a:ea typeface="微软雅黑" panose="020B0503020204020204" pitchFamily="34" charset="-122"/>
                <a:cs typeface="+mn-ea"/>
              </a:rPr>
              <a:t>场景3：基本流+备选流1+备选流3。</a:t>
            </a:r>
          </a:p>
          <a:p>
            <a:pPr marL="285750" indent="-285750" algn="just">
              <a:lnSpc>
                <a:spcPct val="150000"/>
              </a:lnSpc>
              <a:buClrTx/>
              <a:buSzTx/>
              <a:buFont typeface="Wingdings" panose="05000000000000000000" charset="0"/>
              <a:buChar char="l"/>
            </a:pPr>
            <a:r>
              <a:rPr lang="zh-CN" altLang="en-US" sz="1800" dirty="0">
                <a:solidFill>
                  <a:srgbClr val="595959"/>
                </a:solidFill>
                <a:latin typeface="微软雅黑" panose="020B0503020204020204" pitchFamily="34" charset="-122"/>
                <a:ea typeface="微软雅黑" panose="020B0503020204020204" pitchFamily="34" charset="-122"/>
                <a:cs typeface="+mn-ea"/>
              </a:rPr>
              <a:t>场景4：基本流+备选流1+备选流4。</a:t>
            </a:r>
          </a:p>
          <a:p>
            <a:pPr marL="285750" indent="-285750" algn="just">
              <a:lnSpc>
                <a:spcPct val="150000"/>
              </a:lnSpc>
              <a:buClrTx/>
              <a:buSzTx/>
              <a:buFont typeface="Wingdings" panose="05000000000000000000" charset="0"/>
              <a:buChar char="l"/>
            </a:pPr>
            <a:r>
              <a:rPr lang="zh-CN" altLang="en-US" sz="1800" dirty="0">
                <a:solidFill>
                  <a:srgbClr val="595959"/>
                </a:solidFill>
                <a:latin typeface="微软雅黑" panose="020B0503020204020204" pitchFamily="34" charset="-122"/>
                <a:ea typeface="微软雅黑" panose="020B0503020204020204" pitchFamily="34" charset="-122"/>
                <a:cs typeface="+mn-ea"/>
              </a:rPr>
              <a:t>场景5：基本流+备选流1+备选流5。</a:t>
            </a:r>
          </a:p>
          <a:p>
            <a:pPr marL="285750" indent="-285750" algn="just">
              <a:lnSpc>
                <a:spcPct val="150000"/>
              </a:lnSpc>
              <a:buClrTx/>
              <a:buSzTx/>
              <a:buFont typeface="Wingdings" panose="05000000000000000000" charset="0"/>
              <a:buChar char="l"/>
            </a:pPr>
            <a:r>
              <a:rPr lang="zh-CN" altLang="en-US" sz="1800" dirty="0">
                <a:solidFill>
                  <a:srgbClr val="595959"/>
                </a:solidFill>
                <a:latin typeface="微软雅黑" panose="020B0503020204020204" pitchFamily="34" charset="-122"/>
                <a:ea typeface="微软雅黑" panose="020B0503020204020204" pitchFamily="34" charset="-122"/>
                <a:cs typeface="+mn-ea"/>
              </a:rPr>
              <a:t>场景6：基本流+备选流2。</a:t>
            </a:r>
          </a:p>
        </p:txBody>
      </p:sp>
      <p:sp>
        <p:nvSpPr>
          <p:cNvPr id="2" name="Title 1"/>
          <p:cNvSpPr txBox="1"/>
          <p:nvPr/>
        </p:nvSpPr>
        <p:spPr>
          <a:xfrm>
            <a:off x="1143635" y="266700"/>
            <a:ext cx="736917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2.5.3	实例二</a:t>
            </a:r>
            <a:r>
              <a:rPr lang="zh-CN" altLang="en-US" sz="2400" b="1">
                <a:solidFill>
                  <a:srgbClr val="595959"/>
                </a:solidFill>
                <a:latin typeface="微软雅黑" panose="020B0503020204020204" pitchFamily="34" charset="-122"/>
                <a:ea typeface="微软雅黑" panose="020B0503020204020204" pitchFamily="34" charset="-122"/>
                <a:cs typeface="+mn-ea"/>
                <a:sym typeface="+mn-lt"/>
              </a:rPr>
              <a:t>：ATM取款</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场景分析</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35"/>
          <p:cNvSpPr txBox="1">
            <a:spLocks noChangeArrowheads="1"/>
          </p:cNvSpPr>
          <p:nvPr/>
        </p:nvSpPr>
        <p:spPr bwMode="auto">
          <a:xfrm>
            <a:off x="1271270" y="838200"/>
            <a:ext cx="9941560" cy="951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buClrTx/>
              <a:buSzTx/>
              <a:buFontTx/>
            </a:pPr>
            <a:r>
              <a:rPr lang="zh-CN" altLang="en-US" sz="1800" dirty="0">
                <a:solidFill>
                  <a:srgbClr val="595959"/>
                </a:solidFill>
                <a:latin typeface="微软雅黑" panose="020B0503020204020204" pitchFamily="34" charset="-122"/>
                <a:ea typeface="微软雅黑" panose="020B0503020204020204" pitchFamily="34" charset="-122"/>
                <a:cs typeface="+mn-ea"/>
              </a:rPr>
              <a:t>下面根据前面列出的6个测试场景来设计测试用例，假设测试的</a:t>
            </a:r>
            <a:r>
              <a:rPr lang="zh-CN" altLang="en-US" sz="1800">
                <a:solidFill>
                  <a:srgbClr val="595959"/>
                </a:solidFill>
                <a:latin typeface="微软雅黑" panose="020B0503020204020204" pitchFamily="34" charset="-122"/>
                <a:ea typeface="微软雅黑" panose="020B0503020204020204" pitchFamily="34" charset="-122"/>
                <a:cs typeface="+mn-ea"/>
              </a:rPr>
              <a:t>银行卡有效，</a:t>
            </a:r>
            <a:r>
              <a:rPr lang="zh-CN" altLang="en-US" sz="1800" dirty="0">
                <a:solidFill>
                  <a:srgbClr val="595959"/>
                </a:solidFill>
                <a:latin typeface="微软雅黑" panose="020B0503020204020204" pitchFamily="34" charset="-122"/>
                <a:ea typeface="微软雅黑" panose="020B0503020204020204" pitchFamily="34" charset="-122"/>
                <a:cs typeface="+mn-ea"/>
              </a:rPr>
              <a:t>密码为123456，账户余额为5000元</a:t>
            </a:r>
            <a:r>
              <a:rPr lang="zh-CN" altLang="en-US" sz="1800">
                <a:solidFill>
                  <a:srgbClr val="595959"/>
                </a:solidFill>
                <a:latin typeface="微软雅黑" panose="020B0503020204020204" pitchFamily="34" charset="-122"/>
                <a:ea typeface="微软雅黑" panose="020B0503020204020204" pitchFamily="34" charset="-122"/>
                <a:cs typeface="+mn-ea"/>
              </a:rPr>
              <a:t>，ATM取款</a:t>
            </a:r>
            <a:r>
              <a:rPr lang="zh-CN" altLang="en-US" sz="1800" dirty="0">
                <a:solidFill>
                  <a:srgbClr val="595959"/>
                </a:solidFill>
                <a:latin typeface="微软雅黑" panose="020B0503020204020204" pitchFamily="34" charset="-122"/>
                <a:ea typeface="微软雅黑" panose="020B0503020204020204" pitchFamily="34" charset="-122"/>
                <a:cs typeface="+mn-ea"/>
              </a:rPr>
              <a:t>额度为3000元</a:t>
            </a:r>
            <a:r>
              <a:rPr lang="zh-CN" altLang="en-US" sz="1800">
                <a:solidFill>
                  <a:srgbClr val="595959"/>
                </a:solidFill>
                <a:latin typeface="微软雅黑" panose="020B0503020204020204" pitchFamily="34" charset="-122"/>
                <a:ea typeface="微软雅黑" panose="020B0503020204020204" pitchFamily="34" charset="-122"/>
                <a:cs typeface="+mn-ea"/>
              </a:rPr>
              <a:t>。</a:t>
            </a:r>
            <a:r>
              <a:rPr lang="zh-CN" altLang="en-US" sz="1800">
                <a:solidFill>
                  <a:srgbClr val="0070C0"/>
                </a:solidFill>
                <a:latin typeface="微软雅黑" panose="020B0503020204020204" pitchFamily="34" charset="-122"/>
                <a:ea typeface="微软雅黑" panose="020B0503020204020204" pitchFamily="34" charset="-122"/>
                <a:cs typeface="+mn-ea"/>
              </a:rPr>
              <a:t>ATM取款</a:t>
            </a:r>
            <a:r>
              <a:rPr lang="zh-CN" altLang="en-US" sz="1800" dirty="0">
                <a:solidFill>
                  <a:srgbClr val="0070C0"/>
                </a:solidFill>
                <a:latin typeface="微软雅黑" panose="020B0503020204020204" pitchFamily="34" charset="-122"/>
                <a:ea typeface="微软雅黑" panose="020B0503020204020204" pitchFamily="34" charset="-122"/>
                <a:cs typeface="+mn-ea"/>
              </a:rPr>
              <a:t>的测试用例</a:t>
            </a:r>
            <a:r>
              <a:rPr lang="zh-CN" altLang="en-US" sz="1800" dirty="0">
                <a:solidFill>
                  <a:srgbClr val="595959"/>
                </a:solidFill>
                <a:latin typeface="微软雅黑" panose="020B0503020204020204" pitchFamily="34" charset="-122"/>
                <a:ea typeface="微软雅黑" panose="020B0503020204020204" pitchFamily="34" charset="-122"/>
                <a:cs typeface="+mn-ea"/>
              </a:rPr>
              <a:t>如下表所示。</a:t>
            </a:r>
          </a:p>
        </p:txBody>
      </p:sp>
      <p:sp>
        <p:nvSpPr>
          <p:cNvPr id="2" name="Title 1"/>
          <p:cNvSpPr txBox="1"/>
          <p:nvPr/>
        </p:nvSpPr>
        <p:spPr>
          <a:xfrm>
            <a:off x="1143635" y="266700"/>
            <a:ext cx="736917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2.5.3	实例二</a:t>
            </a:r>
            <a:r>
              <a:rPr lang="zh-CN" altLang="en-US" sz="2400" b="1">
                <a:solidFill>
                  <a:srgbClr val="595959"/>
                </a:solidFill>
                <a:latin typeface="微软雅黑" panose="020B0503020204020204" pitchFamily="34" charset="-122"/>
                <a:ea typeface="微软雅黑" panose="020B0503020204020204" pitchFamily="34" charset="-122"/>
                <a:cs typeface="+mn-ea"/>
                <a:sym typeface="+mn-lt"/>
              </a:rPr>
              <a:t>：ATM取款</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场景分析</a:t>
            </a:r>
          </a:p>
        </p:txBody>
      </p:sp>
      <p:graphicFrame>
        <p:nvGraphicFramePr>
          <p:cNvPr id="3" name="表格 2"/>
          <p:cNvGraphicFramePr/>
          <p:nvPr>
            <p:custDataLst>
              <p:tags r:id="rId1"/>
            </p:custDataLst>
          </p:nvPr>
        </p:nvGraphicFramePr>
        <p:xfrm>
          <a:off x="1847206" y="1989794"/>
          <a:ext cx="9144000" cy="4455795"/>
        </p:xfrm>
        <a:graphic>
          <a:graphicData uri="http://schemas.openxmlformats.org/drawingml/2006/table">
            <a:tbl>
              <a:tblPr firstRow="1" bandRow="1">
                <a:tableStyleId>{5C22544A-7EE6-4342-B048-85BDC9FD1C3A}</a:tableStyleId>
              </a:tblPr>
              <a:tblGrid>
                <a:gridCol w="1434465">
                  <a:extLst>
                    <a:ext uri="{9D8B030D-6E8A-4147-A177-3AD203B41FA5}">
                      <a16:colId xmlns:a16="http://schemas.microsoft.com/office/drawing/2014/main" val="20000"/>
                    </a:ext>
                  </a:extLst>
                </a:gridCol>
                <a:gridCol w="1344930">
                  <a:extLst>
                    <a:ext uri="{9D8B030D-6E8A-4147-A177-3AD203B41FA5}">
                      <a16:colId xmlns:a16="http://schemas.microsoft.com/office/drawing/2014/main" val="20001"/>
                    </a:ext>
                  </a:extLst>
                </a:gridCol>
                <a:gridCol w="3772605">
                  <a:extLst>
                    <a:ext uri="{9D8B030D-6E8A-4147-A177-3AD203B41FA5}">
                      <a16:colId xmlns:a16="http://schemas.microsoft.com/office/drawing/2014/main" val="20002"/>
                    </a:ext>
                  </a:extLst>
                </a:gridCol>
                <a:gridCol w="2592000">
                  <a:extLst>
                    <a:ext uri="{9D8B030D-6E8A-4147-A177-3AD203B41FA5}">
                      <a16:colId xmlns:a16="http://schemas.microsoft.com/office/drawing/2014/main" val="20003"/>
                    </a:ext>
                  </a:extLst>
                </a:gridCol>
              </a:tblGrid>
              <a:tr h="615315">
                <a:tc>
                  <a:txBody>
                    <a:bodyPr/>
                    <a:lstStyle/>
                    <a:p>
                      <a:pPr algn="ctr">
                        <a:lnSpc>
                          <a:spcPct val="90000"/>
                        </a:lnSpc>
                        <a:buNone/>
                      </a:pPr>
                      <a:r>
                        <a:rPr lang="zh-CN" altLang="en-US" sz="1800" b="1">
                          <a:latin typeface="微软雅黑" panose="020B0503020204020204" pitchFamily="34" charset="-122"/>
                          <a:ea typeface="微软雅黑" panose="020B0503020204020204" pitchFamily="34" charset="-122"/>
                        </a:rPr>
                        <a:t>测试用例</a:t>
                      </a:r>
                    </a:p>
                  </a:txBody>
                  <a:tcPr anchor="ctr"/>
                </a:tc>
                <a:tc>
                  <a:txBody>
                    <a:bodyPr/>
                    <a:lstStyle/>
                    <a:p>
                      <a:pPr algn="ctr">
                        <a:lnSpc>
                          <a:spcPct val="90000"/>
                        </a:lnSpc>
                        <a:buNone/>
                      </a:pPr>
                      <a:r>
                        <a:rPr lang="zh-CN" altLang="en-US" sz="1800">
                          <a:latin typeface="微软雅黑" panose="020B0503020204020204" pitchFamily="34" charset="-122"/>
                          <a:ea typeface="微软雅黑" panose="020B0503020204020204" pitchFamily="34" charset="-122"/>
                        </a:rPr>
                        <a:t>测试场景</a:t>
                      </a:r>
                    </a:p>
                  </a:txBody>
                  <a:tcPr anchor="ctr"/>
                </a:tc>
                <a:tc>
                  <a:txBody>
                    <a:bodyPr/>
                    <a:lstStyle/>
                    <a:p>
                      <a:pPr algn="ctr">
                        <a:lnSpc>
                          <a:spcPct val="90000"/>
                        </a:lnSpc>
                        <a:buNone/>
                      </a:pPr>
                      <a:r>
                        <a:rPr lang="zh-CN" altLang="en-US" sz="1800">
                          <a:latin typeface="微软雅黑" panose="020B0503020204020204" pitchFamily="34" charset="-122"/>
                          <a:ea typeface="微软雅黑" panose="020B0503020204020204" pitchFamily="34" charset="-122"/>
                        </a:rPr>
                        <a:t>测试数据</a:t>
                      </a:r>
                    </a:p>
                  </a:txBody>
                  <a:tcPr anchor="ctr"/>
                </a:tc>
                <a:tc>
                  <a:txBody>
                    <a:bodyPr/>
                    <a:lstStyle/>
                    <a:p>
                      <a:pPr algn="ctr">
                        <a:lnSpc>
                          <a:spcPct val="90000"/>
                        </a:lnSpc>
                        <a:buNone/>
                      </a:pPr>
                      <a:r>
                        <a:rPr lang="zh-CN" altLang="en-US" sz="1800">
                          <a:latin typeface="微软雅黑" panose="020B0503020204020204" pitchFamily="34" charset="-122"/>
                          <a:ea typeface="微软雅黑" panose="020B0503020204020204" pitchFamily="34" charset="-122"/>
                        </a:rPr>
                        <a:t>预期结果</a:t>
                      </a:r>
                    </a:p>
                  </a:txBody>
                  <a:tcPr anchor="ctr"/>
                </a:tc>
                <a:extLst>
                  <a:ext uri="{0D108BD9-81ED-4DB2-BD59-A6C34878D82A}">
                    <a16:rowId xmlns:a16="http://schemas.microsoft.com/office/drawing/2014/main" val="10000"/>
                  </a:ext>
                </a:extLst>
              </a:tr>
              <a:tr h="825500">
                <a:tc>
                  <a:txBody>
                    <a:bodyPr/>
                    <a:lstStyle/>
                    <a:p>
                      <a:pPr algn="ctr">
                        <a:buNone/>
                      </a:pPr>
                      <a:r>
                        <a:rPr lang="zh-CN" altLang="en-US" sz="1800" kern="1200">
                          <a:solidFill>
                            <a:srgbClr val="595959"/>
                          </a:solidFill>
                          <a:latin typeface="微软雅黑" panose="020B0503020204020204" pitchFamily="34" charset="-122"/>
                          <a:ea typeface="微软雅黑" panose="020B0503020204020204" pitchFamily="34" charset="-122"/>
                          <a:cs typeface="+mn-ea"/>
                        </a:rPr>
                        <a:t>test1</a:t>
                      </a:r>
                    </a:p>
                  </a:txBody>
                  <a:tcPr anchor="ctr"/>
                </a:tc>
                <a:tc>
                  <a:txBody>
                    <a:bodyPr/>
                    <a:lstStyle/>
                    <a:p>
                      <a:pPr algn="ctr">
                        <a:buNone/>
                      </a:pPr>
                      <a:r>
                        <a:rPr lang="zh-CN" altLang="en-US" sz="1800" kern="1200">
                          <a:solidFill>
                            <a:srgbClr val="595959"/>
                          </a:solidFill>
                          <a:latin typeface="微软雅黑" panose="020B0503020204020204" pitchFamily="34" charset="-122"/>
                          <a:ea typeface="微软雅黑" panose="020B0503020204020204" pitchFamily="34" charset="-122"/>
                          <a:cs typeface="+mn-ea"/>
                        </a:rPr>
                        <a:t>场景1</a:t>
                      </a:r>
                    </a:p>
                  </a:txBody>
                  <a:tcPr anchor="ctr"/>
                </a:tc>
                <a:tc>
                  <a:txBody>
                    <a:bodyPr/>
                    <a:lstStyle/>
                    <a:p>
                      <a:pPr algn="l">
                        <a:buNone/>
                      </a:pPr>
                      <a:r>
                        <a:rPr lang="en-US" altLang="zh-CN" sz="1800" kern="1200">
                          <a:solidFill>
                            <a:srgbClr val="595959"/>
                          </a:solidFill>
                          <a:latin typeface="微软雅黑" panose="020B0503020204020204" pitchFamily="34" charset="-122"/>
                          <a:ea typeface="微软雅黑" panose="020B0503020204020204" pitchFamily="34" charset="-122"/>
                          <a:cs typeface="+mn-ea"/>
                        </a:rPr>
                        <a:t>1.插入有效的银行卡</a:t>
                      </a:r>
                      <a:r>
                        <a:rPr lang="zh-CN" altLang="en-US" sz="1800" kern="1200">
                          <a:solidFill>
                            <a:srgbClr val="595959"/>
                          </a:solidFill>
                          <a:latin typeface="微软雅黑" panose="020B0503020204020204" pitchFamily="34" charset="-122"/>
                          <a:ea typeface="微软雅黑" panose="020B0503020204020204" pitchFamily="34" charset="-122"/>
                          <a:cs typeface="+mn-ea"/>
                        </a:rPr>
                        <a:t>；</a:t>
                      </a:r>
                      <a:endParaRPr lang="en-US" altLang="zh-CN" sz="1800" kern="1200">
                        <a:solidFill>
                          <a:srgbClr val="595959"/>
                        </a:solidFill>
                        <a:latin typeface="微软雅黑" panose="020B0503020204020204" pitchFamily="34" charset="-122"/>
                        <a:ea typeface="微软雅黑" panose="020B0503020204020204" pitchFamily="34" charset="-122"/>
                        <a:cs typeface="+mn-ea"/>
                      </a:endParaRPr>
                    </a:p>
                    <a:p>
                      <a:pPr algn="l">
                        <a:buNone/>
                      </a:pPr>
                      <a:r>
                        <a:rPr lang="en-US" altLang="zh-CN" sz="1800" kern="1200">
                          <a:solidFill>
                            <a:srgbClr val="595959"/>
                          </a:solidFill>
                          <a:latin typeface="微软雅黑" panose="020B0503020204020204" pitchFamily="34" charset="-122"/>
                          <a:ea typeface="微软雅黑" panose="020B0503020204020204" pitchFamily="34" charset="-122"/>
                          <a:cs typeface="+mn-ea"/>
                        </a:rPr>
                        <a:t>2.输入密码123456</a:t>
                      </a:r>
                      <a:r>
                        <a:rPr lang="zh-CN" altLang="en-US" sz="1800" kern="1200">
                          <a:solidFill>
                            <a:srgbClr val="595959"/>
                          </a:solidFill>
                          <a:latin typeface="微软雅黑" panose="020B0503020204020204" pitchFamily="34" charset="-122"/>
                          <a:ea typeface="微软雅黑" panose="020B0503020204020204" pitchFamily="34" charset="-122"/>
                          <a:cs typeface="+mn-ea"/>
                        </a:rPr>
                        <a:t>；</a:t>
                      </a:r>
                      <a:endParaRPr lang="en-US" altLang="zh-CN" sz="1800" kern="1200">
                        <a:solidFill>
                          <a:srgbClr val="595959"/>
                        </a:solidFill>
                        <a:latin typeface="微软雅黑" panose="020B0503020204020204" pitchFamily="34" charset="-122"/>
                        <a:ea typeface="微软雅黑" panose="020B0503020204020204" pitchFamily="34" charset="-122"/>
                        <a:cs typeface="+mn-ea"/>
                      </a:endParaRPr>
                    </a:p>
                    <a:p>
                      <a:pPr algn="l">
                        <a:buNone/>
                      </a:pPr>
                      <a:r>
                        <a:rPr lang="en-US" altLang="zh-CN" sz="1800" kern="1200">
                          <a:solidFill>
                            <a:srgbClr val="595959"/>
                          </a:solidFill>
                          <a:latin typeface="微软雅黑" panose="020B0503020204020204" pitchFamily="34" charset="-122"/>
                          <a:ea typeface="微软雅黑" panose="020B0503020204020204" pitchFamily="34" charset="-122"/>
                          <a:cs typeface="+mn-ea"/>
                        </a:rPr>
                        <a:t>3.输入取款金额为1000</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ea"/>
                        </a:rPr>
                        <a:t>取出1000元钞票并退卡</a:t>
                      </a:r>
                    </a:p>
                  </a:txBody>
                  <a:tcPr anchor="ctr"/>
                </a:tc>
                <a:extLst>
                  <a:ext uri="{0D108BD9-81ED-4DB2-BD59-A6C34878D82A}">
                    <a16:rowId xmlns:a16="http://schemas.microsoft.com/office/drawing/2014/main" val="10001"/>
                  </a:ext>
                </a:extLst>
              </a:tr>
              <a:tr h="559435">
                <a:tc>
                  <a:txBody>
                    <a:bodyPr/>
                    <a:lstStyle/>
                    <a:p>
                      <a:pPr algn="ctr">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ea"/>
                        </a:rPr>
                        <a:t>test2</a:t>
                      </a:r>
                    </a:p>
                  </a:txBody>
                  <a:tcPr anchor="ctr"/>
                </a:tc>
                <a:tc>
                  <a:txBody>
                    <a:bodyPr/>
                    <a:lstStyle/>
                    <a:p>
                      <a:pPr algn="ctr">
                        <a:buNone/>
                      </a:pPr>
                      <a:r>
                        <a:rPr lang="zh-CN" altLang="en-US" sz="1800" kern="1200">
                          <a:solidFill>
                            <a:srgbClr val="595959"/>
                          </a:solidFill>
                          <a:latin typeface="微软雅黑" panose="020B0503020204020204" pitchFamily="34" charset="-122"/>
                          <a:ea typeface="微软雅黑" panose="020B0503020204020204" pitchFamily="34" charset="-122"/>
                          <a:cs typeface="+mn-ea"/>
                        </a:rPr>
                        <a:t>场景</a:t>
                      </a:r>
                      <a:r>
                        <a:rPr lang="en-US" altLang="zh-CN" sz="1800" kern="1200">
                          <a:solidFill>
                            <a:srgbClr val="595959"/>
                          </a:solidFill>
                          <a:latin typeface="微软雅黑" panose="020B0503020204020204" pitchFamily="34" charset="-122"/>
                          <a:ea typeface="微软雅黑" panose="020B0503020204020204" pitchFamily="34" charset="-122"/>
                          <a:cs typeface="+mn-ea"/>
                        </a:rPr>
                        <a:t>2</a:t>
                      </a:r>
                    </a:p>
                  </a:txBody>
                  <a:tcPr anchor="ctr"/>
                </a:tc>
                <a:tc>
                  <a:txBody>
                    <a:bodyPr/>
                    <a:lstStyle/>
                    <a:p>
                      <a:pPr algn="l">
                        <a:buNone/>
                      </a:pPr>
                      <a:r>
                        <a:rPr lang="en-US" altLang="zh-CN" sz="1800" kern="1200">
                          <a:solidFill>
                            <a:srgbClr val="595959"/>
                          </a:solidFill>
                          <a:latin typeface="微软雅黑" panose="020B0503020204020204" pitchFamily="34" charset="-122"/>
                          <a:ea typeface="微软雅黑" panose="020B0503020204020204" pitchFamily="34" charset="-122"/>
                          <a:cs typeface="+mn-ea"/>
                        </a:rPr>
                        <a:t>1.插入有效的银行卡</a:t>
                      </a:r>
                      <a:r>
                        <a:rPr lang="zh-CN" altLang="en-US" sz="1800" kern="1200">
                          <a:solidFill>
                            <a:srgbClr val="595959"/>
                          </a:solidFill>
                          <a:latin typeface="微软雅黑" panose="020B0503020204020204" pitchFamily="34" charset="-122"/>
                          <a:ea typeface="微软雅黑" panose="020B0503020204020204" pitchFamily="34" charset="-122"/>
                          <a:cs typeface="+mn-ea"/>
                        </a:rPr>
                        <a:t>；</a:t>
                      </a:r>
                      <a:endParaRPr lang="en-US" altLang="zh-CN" sz="1800" kern="1200">
                        <a:solidFill>
                          <a:srgbClr val="595959"/>
                        </a:solidFill>
                        <a:latin typeface="微软雅黑" panose="020B0503020204020204" pitchFamily="34" charset="-122"/>
                        <a:ea typeface="微软雅黑" panose="020B0503020204020204" pitchFamily="34" charset="-122"/>
                        <a:cs typeface="+mn-ea"/>
                      </a:endParaRPr>
                    </a:p>
                    <a:p>
                      <a:pPr algn="l">
                        <a:buNone/>
                      </a:pPr>
                      <a:r>
                        <a:rPr lang="en-US" altLang="zh-CN" sz="1800" kern="1200">
                          <a:solidFill>
                            <a:srgbClr val="595959"/>
                          </a:solidFill>
                          <a:latin typeface="微软雅黑" panose="020B0503020204020204" pitchFamily="34" charset="-122"/>
                          <a:ea typeface="微软雅黑" panose="020B0503020204020204" pitchFamily="34" charset="-122"/>
                          <a:cs typeface="+mn-ea"/>
                        </a:rPr>
                        <a:t>2.输入密码123455（第1次输入）</a:t>
                      </a:r>
                      <a:r>
                        <a:rPr lang="zh-CN" altLang="en-US" sz="1800" kern="1200">
                          <a:solidFill>
                            <a:srgbClr val="595959"/>
                          </a:solidFill>
                          <a:latin typeface="微软雅黑" panose="020B0503020204020204" pitchFamily="34" charset="-122"/>
                          <a:ea typeface="微软雅黑" panose="020B0503020204020204" pitchFamily="34" charset="-122"/>
                          <a:cs typeface="+mn-ea"/>
                        </a:rPr>
                        <a:t>；</a:t>
                      </a:r>
                      <a:endParaRPr lang="en-US" altLang="zh-CN" sz="1800" kern="1200">
                        <a:solidFill>
                          <a:srgbClr val="595959"/>
                        </a:solidFill>
                        <a:latin typeface="微软雅黑" panose="020B0503020204020204" pitchFamily="34" charset="-122"/>
                        <a:ea typeface="微软雅黑" panose="020B0503020204020204" pitchFamily="34" charset="-122"/>
                        <a:cs typeface="+mn-ea"/>
                      </a:endParaRPr>
                    </a:p>
                    <a:p>
                      <a:pPr algn="l">
                        <a:buNone/>
                      </a:pPr>
                      <a:r>
                        <a:rPr lang="en-US" altLang="zh-CN" sz="1800" kern="1200">
                          <a:solidFill>
                            <a:srgbClr val="595959"/>
                          </a:solidFill>
                          <a:latin typeface="微软雅黑" panose="020B0503020204020204" pitchFamily="34" charset="-122"/>
                          <a:ea typeface="微软雅黑" panose="020B0503020204020204" pitchFamily="34" charset="-122"/>
                          <a:cs typeface="+mn-ea"/>
                        </a:rPr>
                        <a:t>3.输入密码123450（第2次输入）</a:t>
                      </a:r>
                      <a:r>
                        <a:rPr lang="zh-CN" altLang="en-US" sz="1800" kern="1200">
                          <a:solidFill>
                            <a:srgbClr val="595959"/>
                          </a:solidFill>
                          <a:latin typeface="微软雅黑" panose="020B0503020204020204" pitchFamily="34" charset="-122"/>
                          <a:ea typeface="微软雅黑" panose="020B0503020204020204" pitchFamily="34" charset="-122"/>
                          <a:cs typeface="+mn-ea"/>
                        </a:rPr>
                        <a:t>；</a:t>
                      </a:r>
                      <a:endParaRPr lang="en-US" altLang="zh-CN" sz="1800" kern="1200">
                        <a:solidFill>
                          <a:srgbClr val="595959"/>
                        </a:solidFill>
                        <a:latin typeface="微软雅黑" panose="020B0503020204020204" pitchFamily="34" charset="-122"/>
                        <a:ea typeface="微软雅黑" panose="020B0503020204020204" pitchFamily="34" charset="-122"/>
                        <a:cs typeface="+mn-ea"/>
                      </a:endParaRPr>
                    </a:p>
                    <a:p>
                      <a:pPr algn="l">
                        <a:buNone/>
                      </a:pPr>
                      <a:r>
                        <a:rPr lang="en-US" altLang="zh-CN" sz="1800" kern="1200">
                          <a:solidFill>
                            <a:srgbClr val="595959"/>
                          </a:solidFill>
                          <a:latin typeface="微软雅黑" panose="020B0503020204020204" pitchFamily="34" charset="-122"/>
                          <a:ea typeface="微软雅黑" panose="020B0503020204020204" pitchFamily="34" charset="-122"/>
                          <a:cs typeface="+mn-ea"/>
                        </a:rPr>
                        <a:t>4.输入密码123456（第3次输入）</a:t>
                      </a:r>
                      <a:r>
                        <a:rPr lang="zh-CN" altLang="en-US" sz="1800" kern="1200">
                          <a:solidFill>
                            <a:srgbClr val="595959"/>
                          </a:solidFill>
                          <a:latin typeface="微软雅黑" panose="020B0503020204020204" pitchFamily="34" charset="-122"/>
                          <a:ea typeface="微软雅黑" panose="020B0503020204020204" pitchFamily="34" charset="-122"/>
                          <a:cs typeface="+mn-ea"/>
                        </a:rPr>
                        <a:t>；</a:t>
                      </a:r>
                      <a:endParaRPr lang="en-US" altLang="zh-CN" sz="1800" kern="1200">
                        <a:solidFill>
                          <a:srgbClr val="595959"/>
                        </a:solidFill>
                        <a:latin typeface="微软雅黑" panose="020B0503020204020204" pitchFamily="34" charset="-122"/>
                        <a:ea typeface="微软雅黑" panose="020B0503020204020204" pitchFamily="34" charset="-122"/>
                        <a:cs typeface="+mn-ea"/>
                      </a:endParaRPr>
                    </a:p>
                    <a:p>
                      <a:pPr algn="l">
                        <a:buNone/>
                      </a:pPr>
                      <a:r>
                        <a:rPr lang="en-US" altLang="zh-CN" sz="1800" kern="1200">
                          <a:solidFill>
                            <a:srgbClr val="595959"/>
                          </a:solidFill>
                          <a:latin typeface="微软雅黑" panose="020B0503020204020204" pitchFamily="34" charset="-122"/>
                          <a:ea typeface="微软雅黑" panose="020B0503020204020204" pitchFamily="34" charset="-122"/>
                          <a:cs typeface="+mn-ea"/>
                        </a:rPr>
                        <a:t>5.输入取款金额为1000</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ea"/>
                        </a:rPr>
                        <a:t>取出1000元钞票并退卡</a:t>
                      </a:r>
                    </a:p>
                  </a:txBody>
                  <a:tcPr anchor="ctr"/>
                </a:tc>
                <a:extLst>
                  <a:ext uri="{0D108BD9-81ED-4DB2-BD59-A6C34878D82A}">
                    <a16:rowId xmlns:a16="http://schemas.microsoft.com/office/drawing/2014/main" val="10002"/>
                  </a:ext>
                </a:extLst>
              </a:tr>
              <a:tr h="567055">
                <a:tc>
                  <a:txBody>
                    <a:bodyPr/>
                    <a:lstStyle/>
                    <a:p>
                      <a:pPr algn="ctr">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ea"/>
                        </a:rPr>
                        <a:t>test3</a:t>
                      </a:r>
                    </a:p>
                  </a:txBody>
                  <a:tcPr anchor="ctr"/>
                </a:tc>
                <a:tc>
                  <a:txBody>
                    <a:bodyPr/>
                    <a:lstStyle/>
                    <a:p>
                      <a:pPr algn="ctr">
                        <a:buNone/>
                      </a:pPr>
                      <a:r>
                        <a:rPr lang="zh-CN" altLang="en-US" sz="1800" kern="1200">
                          <a:solidFill>
                            <a:srgbClr val="595959"/>
                          </a:solidFill>
                          <a:latin typeface="微软雅黑" panose="020B0503020204020204" pitchFamily="34" charset="-122"/>
                          <a:ea typeface="微软雅黑" panose="020B0503020204020204" pitchFamily="34" charset="-122"/>
                          <a:cs typeface="+mn-ea"/>
                        </a:rPr>
                        <a:t>场景</a:t>
                      </a:r>
                      <a:r>
                        <a:rPr lang="en-US" altLang="zh-CN" sz="1800" kern="1200">
                          <a:solidFill>
                            <a:srgbClr val="595959"/>
                          </a:solidFill>
                          <a:latin typeface="微软雅黑" panose="020B0503020204020204" pitchFamily="34" charset="-122"/>
                          <a:ea typeface="微软雅黑" panose="020B0503020204020204" pitchFamily="34" charset="-122"/>
                          <a:cs typeface="+mn-ea"/>
                        </a:rPr>
                        <a:t>3</a:t>
                      </a:r>
                    </a:p>
                  </a:txBody>
                  <a:tcPr anchor="ctr"/>
                </a:tc>
                <a:tc>
                  <a:txBody>
                    <a:bodyPr/>
                    <a:lstStyle/>
                    <a:p>
                      <a:pPr algn="l">
                        <a:buNone/>
                      </a:pPr>
                      <a:r>
                        <a:rPr lang="en-US" altLang="zh-CN" sz="1800" kern="1200">
                          <a:solidFill>
                            <a:srgbClr val="595959"/>
                          </a:solidFill>
                          <a:latin typeface="微软雅黑" panose="020B0503020204020204" pitchFamily="34" charset="-122"/>
                          <a:ea typeface="微软雅黑" panose="020B0503020204020204" pitchFamily="34" charset="-122"/>
                          <a:cs typeface="+mn-ea"/>
                        </a:rPr>
                        <a:t>1.插入有效的银行卡</a:t>
                      </a:r>
                      <a:r>
                        <a:rPr lang="zh-CN" altLang="en-US" sz="1800" kern="1200">
                          <a:solidFill>
                            <a:srgbClr val="595959"/>
                          </a:solidFill>
                          <a:latin typeface="微软雅黑" panose="020B0503020204020204" pitchFamily="34" charset="-122"/>
                          <a:ea typeface="微软雅黑" panose="020B0503020204020204" pitchFamily="34" charset="-122"/>
                          <a:cs typeface="+mn-ea"/>
                        </a:rPr>
                        <a:t>；</a:t>
                      </a:r>
                      <a:endParaRPr lang="en-US" altLang="zh-CN" sz="1800" kern="1200">
                        <a:solidFill>
                          <a:srgbClr val="595959"/>
                        </a:solidFill>
                        <a:latin typeface="微软雅黑" panose="020B0503020204020204" pitchFamily="34" charset="-122"/>
                        <a:ea typeface="微软雅黑" panose="020B0503020204020204" pitchFamily="34" charset="-122"/>
                        <a:cs typeface="+mn-ea"/>
                      </a:endParaRPr>
                    </a:p>
                    <a:p>
                      <a:pPr algn="l">
                        <a:buNone/>
                      </a:pPr>
                      <a:r>
                        <a:rPr lang="en-US" altLang="zh-CN" sz="1800" kern="1200">
                          <a:solidFill>
                            <a:srgbClr val="595959"/>
                          </a:solidFill>
                          <a:latin typeface="微软雅黑" panose="020B0503020204020204" pitchFamily="34" charset="-122"/>
                          <a:ea typeface="微软雅黑" panose="020B0503020204020204" pitchFamily="34" charset="-122"/>
                          <a:cs typeface="+mn-ea"/>
                        </a:rPr>
                        <a:t>2.输入密码123455（第1次输入）</a:t>
                      </a:r>
                      <a:r>
                        <a:rPr lang="zh-CN" altLang="en-US" sz="1800" kern="1200">
                          <a:solidFill>
                            <a:srgbClr val="595959"/>
                          </a:solidFill>
                          <a:latin typeface="微软雅黑" panose="020B0503020204020204" pitchFamily="34" charset="-122"/>
                          <a:ea typeface="微软雅黑" panose="020B0503020204020204" pitchFamily="34" charset="-122"/>
                          <a:cs typeface="+mn-ea"/>
                        </a:rPr>
                        <a:t>；</a:t>
                      </a:r>
                      <a:endParaRPr lang="en-US" altLang="zh-CN" sz="1800" kern="1200">
                        <a:solidFill>
                          <a:srgbClr val="595959"/>
                        </a:solidFill>
                        <a:latin typeface="微软雅黑" panose="020B0503020204020204" pitchFamily="34" charset="-122"/>
                        <a:ea typeface="微软雅黑" panose="020B0503020204020204" pitchFamily="34" charset="-122"/>
                        <a:cs typeface="+mn-ea"/>
                      </a:endParaRPr>
                    </a:p>
                    <a:p>
                      <a:pPr algn="l">
                        <a:buNone/>
                      </a:pPr>
                      <a:r>
                        <a:rPr lang="en-US" altLang="zh-CN" sz="1800" kern="1200">
                          <a:solidFill>
                            <a:srgbClr val="595959"/>
                          </a:solidFill>
                          <a:latin typeface="微软雅黑" panose="020B0503020204020204" pitchFamily="34" charset="-122"/>
                          <a:ea typeface="微软雅黑" panose="020B0503020204020204" pitchFamily="34" charset="-122"/>
                          <a:cs typeface="+mn-ea"/>
                        </a:rPr>
                        <a:t>3.输入密码123450（第2次输入）</a:t>
                      </a:r>
                      <a:r>
                        <a:rPr lang="zh-CN" altLang="en-US" sz="1800" kern="1200">
                          <a:solidFill>
                            <a:srgbClr val="595959"/>
                          </a:solidFill>
                          <a:latin typeface="微软雅黑" panose="020B0503020204020204" pitchFamily="34" charset="-122"/>
                          <a:ea typeface="微软雅黑" panose="020B0503020204020204" pitchFamily="34" charset="-122"/>
                          <a:cs typeface="+mn-ea"/>
                        </a:rPr>
                        <a:t>；</a:t>
                      </a:r>
                      <a:endParaRPr lang="en-US" altLang="zh-CN" sz="1800" kern="1200">
                        <a:solidFill>
                          <a:srgbClr val="595959"/>
                        </a:solidFill>
                        <a:latin typeface="微软雅黑" panose="020B0503020204020204" pitchFamily="34" charset="-122"/>
                        <a:ea typeface="微软雅黑" panose="020B0503020204020204" pitchFamily="34" charset="-122"/>
                        <a:cs typeface="+mn-ea"/>
                      </a:endParaRPr>
                    </a:p>
                    <a:p>
                      <a:pPr algn="l">
                        <a:buNone/>
                      </a:pPr>
                      <a:r>
                        <a:rPr lang="en-US" altLang="zh-CN" sz="1800" kern="1200">
                          <a:solidFill>
                            <a:srgbClr val="595959"/>
                          </a:solidFill>
                          <a:latin typeface="微软雅黑" panose="020B0503020204020204" pitchFamily="34" charset="-122"/>
                          <a:ea typeface="微软雅黑" panose="020B0503020204020204" pitchFamily="34" charset="-122"/>
                          <a:cs typeface="+mn-ea"/>
                        </a:rPr>
                        <a:t>4.输入密码123456（第3次输入）</a:t>
                      </a:r>
                      <a:r>
                        <a:rPr lang="zh-CN" altLang="en-US" sz="1800" kern="1200">
                          <a:solidFill>
                            <a:srgbClr val="595959"/>
                          </a:solidFill>
                          <a:latin typeface="微软雅黑" panose="020B0503020204020204" pitchFamily="34" charset="-122"/>
                          <a:ea typeface="微软雅黑" panose="020B0503020204020204" pitchFamily="34" charset="-122"/>
                          <a:cs typeface="+mn-ea"/>
                        </a:rPr>
                        <a:t>；</a:t>
                      </a:r>
                      <a:endParaRPr lang="en-US" altLang="zh-CN" sz="1800" kern="1200">
                        <a:solidFill>
                          <a:srgbClr val="595959"/>
                        </a:solidFill>
                        <a:latin typeface="微软雅黑" panose="020B0503020204020204" pitchFamily="34" charset="-122"/>
                        <a:ea typeface="微软雅黑" panose="020B0503020204020204" pitchFamily="34" charset="-122"/>
                        <a:cs typeface="+mn-ea"/>
                      </a:endParaRPr>
                    </a:p>
                    <a:p>
                      <a:pPr algn="l">
                        <a:buNone/>
                      </a:pPr>
                      <a:r>
                        <a:rPr lang="en-US" altLang="zh-CN" sz="1800" kern="1200">
                          <a:solidFill>
                            <a:srgbClr val="595959"/>
                          </a:solidFill>
                          <a:latin typeface="微软雅黑" panose="020B0503020204020204" pitchFamily="34" charset="-122"/>
                          <a:ea typeface="微软雅黑" panose="020B0503020204020204" pitchFamily="34" charset="-122"/>
                          <a:cs typeface="+mn-ea"/>
                        </a:rPr>
                        <a:t>5.输入取款金额为1551</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ea"/>
                        </a:rPr>
                        <a:t>取款失败并退卡</a:t>
                      </a:r>
                    </a:p>
                  </a:txBody>
                  <a:tcPr anchor="ctr"/>
                </a:tc>
                <a:extLst>
                  <a:ext uri="{0D108BD9-81ED-4DB2-BD59-A6C34878D82A}">
                    <a16:rowId xmlns:a16="http://schemas.microsoft.com/office/drawing/2014/main" val="10003"/>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1143635" y="266700"/>
            <a:ext cx="736917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2.5.3	实例二</a:t>
            </a:r>
            <a:r>
              <a:rPr lang="zh-CN" altLang="en-US" sz="2400" b="1">
                <a:solidFill>
                  <a:srgbClr val="595959"/>
                </a:solidFill>
                <a:latin typeface="微软雅黑" panose="020B0503020204020204" pitchFamily="34" charset="-122"/>
                <a:ea typeface="微软雅黑" panose="020B0503020204020204" pitchFamily="34" charset="-122"/>
                <a:cs typeface="+mn-ea"/>
                <a:sym typeface="+mn-lt"/>
              </a:rPr>
              <a:t>：ATM取款</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场景分析</a:t>
            </a:r>
          </a:p>
        </p:txBody>
      </p:sp>
      <p:graphicFrame>
        <p:nvGraphicFramePr>
          <p:cNvPr id="3" name="表格 2"/>
          <p:cNvGraphicFramePr/>
          <p:nvPr>
            <p:custDataLst>
              <p:tags r:id="rId1"/>
            </p:custDataLst>
          </p:nvPr>
        </p:nvGraphicFramePr>
        <p:xfrm>
          <a:off x="1991360" y="1341120"/>
          <a:ext cx="8855846" cy="4730115"/>
        </p:xfrm>
        <a:graphic>
          <a:graphicData uri="http://schemas.openxmlformats.org/drawingml/2006/table">
            <a:tbl>
              <a:tblPr firstRow="1" bandRow="1">
                <a:tableStyleId>{5C22544A-7EE6-4342-B048-85BDC9FD1C3A}</a:tableStyleId>
              </a:tblPr>
              <a:tblGrid>
                <a:gridCol w="1434465">
                  <a:extLst>
                    <a:ext uri="{9D8B030D-6E8A-4147-A177-3AD203B41FA5}">
                      <a16:colId xmlns:a16="http://schemas.microsoft.com/office/drawing/2014/main" val="20000"/>
                    </a:ext>
                  </a:extLst>
                </a:gridCol>
                <a:gridCol w="1344930">
                  <a:extLst>
                    <a:ext uri="{9D8B030D-6E8A-4147-A177-3AD203B41FA5}">
                      <a16:colId xmlns:a16="http://schemas.microsoft.com/office/drawing/2014/main" val="20001"/>
                    </a:ext>
                  </a:extLst>
                </a:gridCol>
                <a:gridCol w="3700451">
                  <a:extLst>
                    <a:ext uri="{9D8B030D-6E8A-4147-A177-3AD203B41FA5}">
                      <a16:colId xmlns:a16="http://schemas.microsoft.com/office/drawing/2014/main" val="20002"/>
                    </a:ext>
                  </a:extLst>
                </a:gridCol>
                <a:gridCol w="2376000">
                  <a:extLst>
                    <a:ext uri="{9D8B030D-6E8A-4147-A177-3AD203B41FA5}">
                      <a16:colId xmlns:a16="http://schemas.microsoft.com/office/drawing/2014/main" val="20003"/>
                    </a:ext>
                  </a:extLst>
                </a:gridCol>
              </a:tblGrid>
              <a:tr h="615315">
                <a:tc>
                  <a:txBody>
                    <a:bodyPr/>
                    <a:lstStyle/>
                    <a:p>
                      <a:pPr algn="ctr">
                        <a:lnSpc>
                          <a:spcPct val="90000"/>
                        </a:lnSpc>
                        <a:buNone/>
                      </a:pPr>
                      <a:r>
                        <a:rPr lang="zh-CN" altLang="en-US" sz="1800" b="1">
                          <a:latin typeface="微软雅黑" panose="020B0503020204020204" pitchFamily="34" charset="-122"/>
                          <a:ea typeface="微软雅黑" panose="020B0503020204020204" pitchFamily="34" charset="-122"/>
                        </a:rPr>
                        <a:t>测试用例</a:t>
                      </a:r>
                    </a:p>
                  </a:txBody>
                  <a:tcPr anchor="ctr"/>
                </a:tc>
                <a:tc>
                  <a:txBody>
                    <a:bodyPr/>
                    <a:lstStyle/>
                    <a:p>
                      <a:pPr algn="ctr">
                        <a:lnSpc>
                          <a:spcPct val="90000"/>
                        </a:lnSpc>
                        <a:buNone/>
                      </a:pPr>
                      <a:r>
                        <a:rPr lang="zh-CN" altLang="en-US" sz="1800">
                          <a:latin typeface="微软雅黑" panose="020B0503020204020204" pitchFamily="34" charset="-122"/>
                          <a:ea typeface="微软雅黑" panose="020B0503020204020204" pitchFamily="34" charset="-122"/>
                        </a:rPr>
                        <a:t>测试场景</a:t>
                      </a:r>
                    </a:p>
                  </a:txBody>
                  <a:tcPr anchor="ctr"/>
                </a:tc>
                <a:tc>
                  <a:txBody>
                    <a:bodyPr/>
                    <a:lstStyle/>
                    <a:p>
                      <a:pPr algn="ctr">
                        <a:lnSpc>
                          <a:spcPct val="90000"/>
                        </a:lnSpc>
                        <a:buNone/>
                      </a:pPr>
                      <a:r>
                        <a:rPr lang="zh-CN" altLang="en-US" sz="1800">
                          <a:latin typeface="微软雅黑" panose="020B0503020204020204" pitchFamily="34" charset="-122"/>
                          <a:ea typeface="微软雅黑" panose="020B0503020204020204" pitchFamily="34" charset="-122"/>
                        </a:rPr>
                        <a:t>测试数据</a:t>
                      </a:r>
                    </a:p>
                  </a:txBody>
                  <a:tcPr anchor="ctr"/>
                </a:tc>
                <a:tc>
                  <a:txBody>
                    <a:bodyPr/>
                    <a:lstStyle/>
                    <a:p>
                      <a:pPr algn="ctr">
                        <a:lnSpc>
                          <a:spcPct val="90000"/>
                        </a:lnSpc>
                        <a:buNone/>
                      </a:pPr>
                      <a:r>
                        <a:rPr lang="zh-CN" altLang="en-US" sz="1800">
                          <a:latin typeface="微软雅黑" panose="020B0503020204020204" pitchFamily="34" charset="-122"/>
                          <a:ea typeface="微软雅黑" panose="020B0503020204020204" pitchFamily="34" charset="-122"/>
                        </a:rPr>
                        <a:t>预期结果</a:t>
                      </a:r>
                    </a:p>
                  </a:txBody>
                  <a:tcPr anchor="ctr"/>
                </a:tc>
                <a:extLst>
                  <a:ext uri="{0D108BD9-81ED-4DB2-BD59-A6C34878D82A}">
                    <a16:rowId xmlns:a16="http://schemas.microsoft.com/office/drawing/2014/main" val="10000"/>
                  </a:ext>
                </a:extLst>
              </a:tr>
              <a:tr h="825500">
                <a:tc>
                  <a:txBody>
                    <a:bodyPr/>
                    <a:lstStyle/>
                    <a:p>
                      <a:pPr marL="0" algn="ctr" defTabSz="1219200" rtl="0" eaLnBrk="1" latinLnBrk="0" hangingPunct="1">
                        <a:buNone/>
                      </a:pPr>
                      <a:r>
                        <a:rPr lang="zh-CN" altLang="en-US" sz="1800" kern="1200">
                          <a:solidFill>
                            <a:srgbClr val="595959"/>
                          </a:solidFill>
                          <a:latin typeface="微软雅黑" panose="020B0503020204020204" pitchFamily="34" charset="-122"/>
                          <a:ea typeface="微软雅黑" panose="020B0503020204020204" pitchFamily="34" charset="-122"/>
                          <a:cs typeface="+mn-ea"/>
                        </a:rPr>
                        <a:t>test</a:t>
                      </a:r>
                      <a:r>
                        <a:rPr lang="en-US" altLang="zh-CN" sz="1800" kern="1200">
                          <a:solidFill>
                            <a:srgbClr val="595959"/>
                          </a:solidFill>
                          <a:latin typeface="微软雅黑" panose="020B0503020204020204" pitchFamily="34" charset="-122"/>
                          <a:ea typeface="微软雅黑" panose="020B0503020204020204" pitchFamily="34" charset="-122"/>
                          <a:cs typeface="+mn-ea"/>
                        </a:rPr>
                        <a:t>4</a:t>
                      </a:r>
                    </a:p>
                  </a:txBody>
                  <a:tcPr anchor="ctr"/>
                </a:tc>
                <a:tc>
                  <a:txBody>
                    <a:bodyPr/>
                    <a:lstStyle/>
                    <a:p>
                      <a:pPr marL="0" algn="ctr" defTabSz="1219200" rtl="0" eaLnBrk="1" latinLnBrk="0" hangingPunct="1">
                        <a:buNone/>
                      </a:pPr>
                      <a:r>
                        <a:rPr lang="zh-CN" altLang="en-US" sz="1800" kern="1200">
                          <a:solidFill>
                            <a:srgbClr val="595959"/>
                          </a:solidFill>
                          <a:latin typeface="微软雅黑" panose="020B0503020204020204" pitchFamily="34" charset="-122"/>
                          <a:ea typeface="微软雅黑" panose="020B0503020204020204" pitchFamily="34" charset="-122"/>
                          <a:cs typeface="+mn-ea"/>
                        </a:rPr>
                        <a:t>场景</a:t>
                      </a:r>
                      <a:r>
                        <a:rPr lang="en-US" altLang="zh-CN" sz="1800" kern="1200">
                          <a:solidFill>
                            <a:srgbClr val="595959"/>
                          </a:solidFill>
                          <a:latin typeface="微软雅黑" panose="020B0503020204020204" pitchFamily="34" charset="-122"/>
                          <a:ea typeface="微软雅黑" panose="020B0503020204020204" pitchFamily="34" charset="-122"/>
                          <a:cs typeface="+mn-ea"/>
                        </a:rPr>
                        <a:t>4</a:t>
                      </a:r>
                    </a:p>
                  </a:txBody>
                  <a:tcPr anchor="ctr"/>
                </a:tc>
                <a:tc>
                  <a:txBody>
                    <a:bodyPr/>
                    <a:lstStyle/>
                    <a:p>
                      <a:pPr marL="0" algn="l"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ea"/>
                        </a:rPr>
                        <a:t>1.插入有效的银行卡</a:t>
                      </a:r>
                      <a:r>
                        <a:rPr lang="zh-CN" altLang="en-US" sz="1800" kern="1200">
                          <a:solidFill>
                            <a:srgbClr val="595959"/>
                          </a:solidFill>
                          <a:latin typeface="微软雅黑" panose="020B0503020204020204" pitchFamily="34" charset="-122"/>
                          <a:ea typeface="微软雅黑" panose="020B0503020204020204" pitchFamily="34" charset="-122"/>
                          <a:cs typeface="+mn-ea"/>
                        </a:rPr>
                        <a:t>；</a:t>
                      </a:r>
                      <a:endParaRPr lang="en-US" altLang="zh-CN" sz="1800" kern="1200">
                        <a:solidFill>
                          <a:srgbClr val="595959"/>
                        </a:solidFill>
                        <a:latin typeface="微软雅黑" panose="020B0503020204020204" pitchFamily="34" charset="-122"/>
                        <a:ea typeface="微软雅黑" panose="020B0503020204020204" pitchFamily="34" charset="-122"/>
                        <a:cs typeface="+mn-ea"/>
                      </a:endParaRPr>
                    </a:p>
                    <a:p>
                      <a:pPr marL="0" algn="l"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ea"/>
                        </a:rPr>
                        <a:t>2.输入密码123455（第1次输入）</a:t>
                      </a:r>
                      <a:r>
                        <a:rPr lang="zh-CN" altLang="en-US" sz="1800" kern="1200">
                          <a:solidFill>
                            <a:srgbClr val="595959"/>
                          </a:solidFill>
                          <a:latin typeface="微软雅黑" panose="020B0503020204020204" pitchFamily="34" charset="-122"/>
                          <a:ea typeface="微软雅黑" panose="020B0503020204020204" pitchFamily="34" charset="-122"/>
                          <a:cs typeface="+mn-ea"/>
                        </a:rPr>
                        <a:t>；</a:t>
                      </a:r>
                      <a:endParaRPr lang="en-US" altLang="zh-CN" sz="1800" kern="1200">
                        <a:solidFill>
                          <a:srgbClr val="595959"/>
                        </a:solidFill>
                        <a:latin typeface="微软雅黑" panose="020B0503020204020204" pitchFamily="34" charset="-122"/>
                        <a:ea typeface="微软雅黑" panose="020B0503020204020204" pitchFamily="34" charset="-122"/>
                        <a:cs typeface="+mn-ea"/>
                      </a:endParaRPr>
                    </a:p>
                    <a:p>
                      <a:pPr marL="0" algn="l"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ea"/>
                        </a:rPr>
                        <a:t>3.输入密码123450（第2次输入）</a:t>
                      </a:r>
                      <a:r>
                        <a:rPr lang="zh-CN" altLang="en-US" sz="1800" kern="1200">
                          <a:solidFill>
                            <a:srgbClr val="595959"/>
                          </a:solidFill>
                          <a:latin typeface="微软雅黑" panose="020B0503020204020204" pitchFamily="34" charset="-122"/>
                          <a:ea typeface="微软雅黑" panose="020B0503020204020204" pitchFamily="34" charset="-122"/>
                          <a:cs typeface="+mn-ea"/>
                        </a:rPr>
                        <a:t>；</a:t>
                      </a:r>
                      <a:endParaRPr lang="en-US" altLang="zh-CN" sz="1800" kern="1200">
                        <a:solidFill>
                          <a:srgbClr val="595959"/>
                        </a:solidFill>
                        <a:latin typeface="微软雅黑" panose="020B0503020204020204" pitchFamily="34" charset="-122"/>
                        <a:ea typeface="微软雅黑" panose="020B0503020204020204" pitchFamily="34" charset="-122"/>
                        <a:cs typeface="+mn-ea"/>
                      </a:endParaRPr>
                    </a:p>
                    <a:p>
                      <a:pPr marL="0" algn="l"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ea"/>
                        </a:rPr>
                        <a:t>4.输入密码123456（第3次输入）</a:t>
                      </a:r>
                      <a:r>
                        <a:rPr lang="zh-CN" altLang="en-US" sz="1800" kern="1200">
                          <a:solidFill>
                            <a:srgbClr val="595959"/>
                          </a:solidFill>
                          <a:latin typeface="微软雅黑" panose="020B0503020204020204" pitchFamily="34" charset="-122"/>
                          <a:ea typeface="微软雅黑" panose="020B0503020204020204" pitchFamily="34" charset="-122"/>
                          <a:cs typeface="+mn-ea"/>
                        </a:rPr>
                        <a:t>；</a:t>
                      </a:r>
                      <a:endParaRPr lang="en-US" altLang="zh-CN" sz="1800" kern="1200">
                        <a:solidFill>
                          <a:srgbClr val="595959"/>
                        </a:solidFill>
                        <a:latin typeface="微软雅黑" panose="020B0503020204020204" pitchFamily="34" charset="-122"/>
                        <a:ea typeface="微软雅黑" panose="020B0503020204020204" pitchFamily="34" charset="-122"/>
                        <a:cs typeface="+mn-ea"/>
                      </a:endParaRPr>
                    </a:p>
                    <a:p>
                      <a:pPr marL="0" algn="l"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ea"/>
                        </a:rPr>
                        <a:t>5.输入取款金额为6000</a:t>
                      </a:r>
                    </a:p>
                  </a:txBody>
                  <a:tcPr anchor="ctr"/>
                </a:tc>
                <a:tc>
                  <a:txBody>
                    <a:bodyPr/>
                    <a:lstStyle/>
                    <a:p>
                      <a:pPr marL="0" algn="ctr"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ea"/>
                        </a:rPr>
                        <a:t>取款失败并退卡</a:t>
                      </a:r>
                    </a:p>
                  </a:txBody>
                  <a:tcPr anchor="ctr"/>
                </a:tc>
                <a:extLst>
                  <a:ext uri="{0D108BD9-81ED-4DB2-BD59-A6C34878D82A}">
                    <a16:rowId xmlns:a16="http://schemas.microsoft.com/office/drawing/2014/main" val="10001"/>
                  </a:ext>
                </a:extLst>
              </a:tr>
              <a:tr h="559435">
                <a:tc>
                  <a:txBody>
                    <a:bodyPr/>
                    <a:lstStyle/>
                    <a:p>
                      <a:pPr marL="0" algn="ctr" defTabSz="1219200" rtl="0" eaLnBrk="1" latinLnBrk="0" hangingPunct="1">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ea"/>
                        </a:rPr>
                        <a:t>test5</a:t>
                      </a:r>
                    </a:p>
                  </a:txBody>
                  <a:tcPr anchor="ctr"/>
                </a:tc>
                <a:tc>
                  <a:txBody>
                    <a:bodyPr/>
                    <a:lstStyle/>
                    <a:p>
                      <a:pPr marL="0" algn="ctr" defTabSz="1219200" rtl="0" eaLnBrk="1" latinLnBrk="0" hangingPunct="1">
                        <a:buNone/>
                      </a:pPr>
                      <a:r>
                        <a:rPr lang="zh-CN" altLang="en-US" sz="1800" kern="1200">
                          <a:solidFill>
                            <a:srgbClr val="595959"/>
                          </a:solidFill>
                          <a:latin typeface="微软雅黑" panose="020B0503020204020204" pitchFamily="34" charset="-122"/>
                          <a:ea typeface="微软雅黑" panose="020B0503020204020204" pitchFamily="34" charset="-122"/>
                          <a:cs typeface="+mn-ea"/>
                        </a:rPr>
                        <a:t>场景</a:t>
                      </a:r>
                      <a:r>
                        <a:rPr lang="en-US" altLang="zh-CN" sz="1800" kern="1200">
                          <a:solidFill>
                            <a:srgbClr val="595959"/>
                          </a:solidFill>
                          <a:latin typeface="微软雅黑" panose="020B0503020204020204" pitchFamily="34" charset="-122"/>
                          <a:ea typeface="微软雅黑" panose="020B0503020204020204" pitchFamily="34" charset="-122"/>
                          <a:cs typeface="+mn-ea"/>
                        </a:rPr>
                        <a:t>5</a:t>
                      </a:r>
                    </a:p>
                  </a:txBody>
                  <a:tcPr anchor="ctr"/>
                </a:tc>
                <a:tc>
                  <a:txBody>
                    <a:bodyPr/>
                    <a:lstStyle/>
                    <a:p>
                      <a:pPr marL="0" algn="l"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ea"/>
                        </a:rPr>
                        <a:t>1.插入有效的银行卡</a:t>
                      </a:r>
                      <a:r>
                        <a:rPr lang="zh-CN" altLang="en-US" sz="1800" kern="1200">
                          <a:solidFill>
                            <a:srgbClr val="595959"/>
                          </a:solidFill>
                          <a:latin typeface="微软雅黑" panose="020B0503020204020204" pitchFamily="34" charset="-122"/>
                          <a:ea typeface="微软雅黑" panose="020B0503020204020204" pitchFamily="34" charset="-122"/>
                          <a:cs typeface="+mn-ea"/>
                        </a:rPr>
                        <a:t>；</a:t>
                      </a:r>
                      <a:endParaRPr lang="en-US" altLang="zh-CN" sz="1800" kern="1200">
                        <a:solidFill>
                          <a:srgbClr val="595959"/>
                        </a:solidFill>
                        <a:latin typeface="微软雅黑" panose="020B0503020204020204" pitchFamily="34" charset="-122"/>
                        <a:ea typeface="微软雅黑" panose="020B0503020204020204" pitchFamily="34" charset="-122"/>
                        <a:cs typeface="+mn-ea"/>
                      </a:endParaRPr>
                    </a:p>
                    <a:p>
                      <a:pPr marL="0" algn="l"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ea"/>
                        </a:rPr>
                        <a:t>2.输入密码123455（第1次输入）</a:t>
                      </a:r>
                      <a:r>
                        <a:rPr lang="zh-CN" altLang="en-US" sz="1800" kern="1200">
                          <a:solidFill>
                            <a:srgbClr val="595959"/>
                          </a:solidFill>
                          <a:latin typeface="微软雅黑" panose="020B0503020204020204" pitchFamily="34" charset="-122"/>
                          <a:ea typeface="微软雅黑" panose="020B0503020204020204" pitchFamily="34" charset="-122"/>
                          <a:cs typeface="+mn-ea"/>
                        </a:rPr>
                        <a:t>；</a:t>
                      </a:r>
                      <a:endParaRPr lang="en-US" altLang="zh-CN" sz="1800" kern="1200">
                        <a:solidFill>
                          <a:srgbClr val="595959"/>
                        </a:solidFill>
                        <a:latin typeface="微软雅黑" panose="020B0503020204020204" pitchFamily="34" charset="-122"/>
                        <a:ea typeface="微软雅黑" panose="020B0503020204020204" pitchFamily="34" charset="-122"/>
                        <a:cs typeface="+mn-ea"/>
                      </a:endParaRPr>
                    </a:p>
                    <a:p>
                      <a:pPr marL="0" algn="l"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ea"/>
                        </a:rPr>
                        <a:t>3.输入密码123450（第2次输入）</a:t>
                      </a:r>
                      <a:r>
                        <a:rPr lang="zh-CN" altLang="en-US" sz="1800" kern="1200">
                          <a:solidFill>
                            <a:srgbClr val="595959"/>
                          </a:solidFill>
                          <a:latin typeface="微软雅黑" panose="020B0503020204020204" pitchFamily="34" charset="-122"/>
                          <a:ea typeface="微软雅黑" panose="020B0503020204020204" pitchFamily="34" charset="-122"/>
                          <a:cs typeface="+mn-ea"/>
                        </a:rPr>
                        <a:t>；</a:t>
                      </a:r>
                      <a:endParaRPr lang="en-US" altLang="zh-CN" sz="1800" kern="1200">
                        <a:solidFill>
                          <a:srgbClr val="595959"/>
                        </a:solidFill>
                        <a:latin typeface="微软雅黑" panose="020B0503020204020204" pitchFamily="34" charset="-122"/>
                        <a:ea typeface="微软雅黑" panose="020B0503020204020204" pitchFamily="34" charset="-122"/>
                        <a:cs typeface="+mn-ea"/>
                      </a:endParaRPr>
                    </a:p>
                    <a:p>
                      <a:pPr marL="0" algn="l"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ea"/>
                        </a:rPr>
                        <a:t>4.输入密码123456（第3次输入）</a:t>
                      </a:r>
                      <a:r>
                        <a:rPr lang="zh-CN" altLang="en-US" sz="1800" kern="1200">
                          <a:solidFill>
                            <a:srgbClr val="595959"/>
                          </a:solidFill>
                          <a:latin typeface="微软雅黑" panose="020B0503020204020204" pitchFamily="34" charset="-122"/>
                          <a:ea typeface="微软雅黑" panose="020B0503020204020204" pitchFamily="34" charset="-122"/>
                          <a:cs typeface="+mn-ea"/>
                        </a:rPr>
                        <a:t>；</a:t>
                      </a:r>
                      <a:endParaRPr lang="en-US" altLang="zh-CN" sz="1800" kern="1200">
                        <a:solidFill>
                          <a:srgbClr val="595959"/>
                        </a:solidFill>
                        <a:latin typeface="微软雅黑" panose="020B0503020204020204" pitchFamily="34" charset="-122"/>
                        <a:ea typeface="微软雅黑" panose="020B0503020204020204" pitchFamily="34" charset="-122"/>
                        <a:cs typeface="+mn-ea"/>
                      </a:endParaRPr>
                    </a:p>
                    <a:p>
                      <a:pPr marL="0" algn="l"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ea"/>
                        </a:rPr>
                        <a:t>5.输入取款金额为4000</a:t>
                      </a:r>
                    </a:p>
                  </a:txBody>
                  <a:tcPr anchor="ctr"/>
                </a:tc>
                <a:tc>
                  <a:txBody>
                    <a:bodyPr/>
                    <a:lstStyle/>
                    <a:p>
                      <a:pPr marL="0" algn="ctr"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ea"/>
                        </a:rPr>
                        <a:t>取款失败并退卡</a:t>
                      </a:r>
                    </a:p>
                  </a:txBody>
                  <a:tcPr anchor="ctr"/>
                </a:tc>
                <a:extLst>
                  <a:ext uri="{0D108BD9-81ED-4DB2-BD59-A6C34878D82A}">
                    <a16:rowId xmlns:a16="http://schemas.microsoft.com/office/drawing/2014/main" val="10002"/>
                  </a:ext>
                </a:extLst>
              </a:tr>
              <a:tr h="567055">
                <a:tc>
                  <a:txBody>
                    <a:bodyPr/>
                    <a:lstStyle/>
                    <a:p>
                      <a:pPr marL="0" algn="ctr" defTabSz="1219200" rtl="0" eaLnBrk="1" latinLnBrk="0" hangingPunct="1">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ea"/>
                        </a:rPr>
                        <a:t>test6</a:t>
                      </a:r>
                    </a:p>
                  </a:txBody>
                  <a:tcPr anchor="ctr"/>
                </a:tc>
                <a:tc>
                  <a:txBody>
                    <a:bodyPr/>
                    <a:lstStyle/>
                    <a:p>
                      <a:pPr marL="0" algn="ctr" defTabSz="1219200" rtl="0" eaLnBrk="1" latinLnBrk="0" hangingPunct="1">
                        <a:buNone/>
                      </a:pPr>
                      <a:r>
                        <a:rPr lang="zh-CN" altLang="en-US" sz="1800" kern="1200">
                          <a:solidFill>
                            <a:srgbClr val="595959"/>
                          </a:solidFill>
                          <a:latin typeface="微软雅黑" panose="020B0503020204020204" pitchFamily="34" charset="-122"/>
                          <a:ea typeface="微软雅黑" panose="020B0503020204020204" pitchFamily="34" charset="-122"/>
                          <a:cs typeface="+mn-ea"/>
                        </a:rPr>
                        <a:t>场景</a:t>
                      </a:r>
                      <a:r>
                        <a:rPr lang="en-US" altLang="zh-CN" sz="1800" kern="1200">
                          <a:solidFill>
                            <a:srgbClr val="595959"/>
                          </a:solidFill>
                          <a:latin typeface="微软雅黑" panose="020B0503020204020204" pitchFamily="34" charset="-122"/>
                          <a:ea typeface="微软雅黑" panose="020B0503020204020204" pitchFamily="34" charset="-122"/>
                          <a:cs typeface="+mn-ea"/>
                        </a:rPr>
                        <a:t>6</a:t>
                      </a:r>
                    </a:p>
                  </a:txBody>
                  <a:tcPr anchor="ctr"/>
                </a:tc>
                <a:tc>
                  <a:txBody>
                    <a:bodyPr/>
                    <a:lstStyle/>
                    <a:p>
                      <a:pPr marL="0" algn="l"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ea"/>
                        </a:rPr>
                        <a:t>1.插入有效的银行卡</a:t>
                      </a:r>
                      <a:r>
                        <a:rPr lang="zh-CN" altLang="en-US" sz="1800" kern="1200">
                          <a:solidFill>
                            <a:srgbClr val="595959"/>
                          </a:solidFill>
                          <a:latin typeface="微软雅黑" panose="020B0503020204020204" pitchFamily="34" charset="-122"/>
                          <a:ea typeface="微软雅黑" panose="020B0503020204020204" pitchFamily="34" charset="-122"/>
                          <a:cs typeface="+mn-ea"/>
                        </a:rPr>
                        <a:t>；</a:t>
                      </a:r>
                      <a:endParaRPr lang="en-US" altLang="zh-CN" sz="1800" kern="1200">
                        <a:solidFill>
                          <a:srgbClr val="595959"/>
                        </a:solidFill>
                        <a:latin typeface="微软雅黑" panose="020B0503020204020204" pitchFamily="34" charset="-122"/>
                        <a:ea typeface="微软雅黑" panose="020B0503020204020204" pitchFamily="34" charset="-122"/>
                        <a:cs typeface="+mn-ea"/>
                      </a:endParaRPr>
                    </a:p>
                    <a:p>
                      <a:pPr marL="0" algn="l"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ea"/>
                        </a:rPr>
                        <a:t>2.输入密码123455（第1次输入）</a:t>
                      </a:r>
                      <a:r>
                        <a:rPr lang="zh-CN" altLang="en-US" sz="1800" kern="1200">
                          <a:solidFill>
                            <a:srgbClr val="595959"/>
                          </a:solidFill>
                          <a:latin typeface="微软雅黑" panose="020B0503020204020204" pitchFamily="34" charset="-122"/>
                          <a:ea typeface="微软雅黑" panose="020B0503020204020204" pitchFamily="34" charset="-122"/>
                          <a:cs typeface="+mn-ea"/>
                        </a:rPr>
                        <a:t>；</a:t>
                      </a:r>
                      <a:endParaRPr lang="en-US" altLang="zh-CN" sz="1800" kern="1200">
                        <a:solidFill>
                          <a:srgbClr val="595959"/>
                        </a:solidFill>
                        <a:latin typeface="微软雅黑" panose="020B0503020204020204" pitchFamily="34" charset="-122"/>
                        <a:ea typeface="微软雅黑" panose="020B0503020204020204" pitchFamily="34" charset="-122"/>
                        <a:cs typeface="+mn-ea"/>
                      </a:endParaRPr>
                    </a:p>
                    <a:p>
                      <a:pPr marL="0" algn="l"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ea"/>
                        </a:rPr>
                        <a:t>3.输入密码123450（第2次输入）</a:t>
                      </a:r>
                      <a:r>
                        <a:rPr lang="zh-CN" altLang="en-US" sz="1800" kern="1200">
                          <a:solidFill>
                            <a:srgbClr val="595959"/>
                          </a:solidFill>
                          <a:latin typeface="微软雅黑" panose="020B0503020204020204" pitchFamily="34" charset="-122"/>
                          <a:ea typeface="微软雅黑" panose="020B0503020204020204" pitchFamily="34" charset="-122"/>
                          <a:cs typeface="+mn-ea"/>
                        </a:rPr>
                        <a:t>；</a:t>
                      </a:r>
                      <a:endParaRPr lang="en-US" altLang="zh-CN" sz="1800" kern="1200">
                        <a:solidFill>
                          <a:srgbClr val="595959"/>
                        </a:solidFill>
                        <a:latin typeface="微软雅黑" panose="020B0503020204020204" pitchFamily="34" charset="-122"/>
                        <a:ea typeface="微软雅黑" panose="020B0503020204020204" pitchFamily="34" charset="-122"/>
                        <a:cs typeface="+mn-ea"/>
                      </a:endParaRPr>
                    </a:p>
                    <a:p>
                      <a:pPr marL="0" algn="l"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ea"/>
                        </a:rPr>
                        <a:t>4.输入密码123451（第3次输入）</a:t>
                      </a:r>
                    </a:p>
                  </a:txBody>
                  <a:tcPr anchor="ctr"/>
                </a:tc>
                <a:tc>
                  <a:txBody>
                    <a:bodyPr/>
                    <a:lstStyle/>
                    <a:p>
                      <a:pPr marL="0" algn="ctr"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ea"/>
                        </a:rPr>
                        <a:t>取款失败并退卡</a:t>
                      </a:r>
                    </a:p>
                  </a:txBody>
                  <a:tcPr anchor="ctr"/>
                </a:tc>
                <a:extLst>
                  <a:ext uri="{0D108BD9-81ED-4DB2-BD59-A6C34878D82A}">
                    <a16:rowId xmlns:a16="http://schemas.microsoft.com/office/drawing/2014/main" val="10003"/>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图形 22" descr="讲故事"/>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12767" y="1398145"/>
            <a:ext cx="1015842" cy="1015842"/>
          </a:xfrm>
          <a:prstGeom prst="rect">
            <a:avLst/>
          </a:prstGeom>
        </p:spPr>
      </p:pic>
      <p:sp>
        <p:nvSpPr>
          <p:cNvPr id="25" name="矩形 24"/>
          <p:cNvSpPr/>
          <p:nvPr/>
        </p:nvSpPr>
        <p:spPr>
          <a:xfrm>
            <a:off x="2150286" y="1608089"/>
            <a:ext cx="2513792" cy="67045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26" name="文本框 25"/>
          <p:cNvSpPr txBox="1"/>
          <p:nvPr/>
        </p:nvSpPr>
        <p:spPr>
          <a:xfrm>
            <a:off x="2107565" y="1701800"/>
            <a:ext cx="2557145" cy="460375"/>
          </a:xfrm>
          <a:prstGeom prst="rect">
            <a:avLst/>
          </a:prstGeom>
          <a:noFill/>
        </p:spPr>
        <p:txBody>
          <a:bodyPr wrap="square" rtlCol="0">
            <a:spAutoFit/>
          </a:bodyPr>
          <a:lstStyle/>
          <a:p>
            <a:pPr algn="ctr"/>
            <a:r>
              <a:rPr lang="zh-CN" altLang="en-US"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错误推测法</a:t>
            </a:r>
          </a:p>
        </p:txBody>
      </p:sp>
      <p:sp>
        <p:nvSpPr>
          <p:cNvPr id="27" name="矩形 26"/>
          <p:cNvSpPr/>
          <p:nvPr/>
        </p:nvSpPr>
        <p:spPr>
          <a:xfrm>
            <a:off x="4768664" y="1608089"/>
            <a:ext cx="83114" cy="67045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28" name="矩形 27"/>
          <p:cNvSpPr/>
          <p:nvPr/>
        </p:nvSpPr>
        <p:spPr>
          <a:xfrm>
            <a:off x="4956363" y="1608089"/>
            <a:ext cx="83114" cy="67045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20" name="矩形 19"/>
          <p:cNvSpPr/>
          <p:nvPr/>
        </p:nvSpPr>
        <p:spPr>
          <a:xfrm>
            <a:off x="982980" y="838200"/>
            <a:ext cx="1779905" cy="50609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dirty="0">
                <a:solidFill>
                  <a:srgbClr val="595959"/>
                </a:solidFill>
                <a:latin typeface="微软雅黑" panose="020B0503020204020204" pitchFamily="34" charset="-122"/>
                <a:ea typeface="微软雅黑" panose="020B0503020204020204" pitchFamily="34" charset="-122"/>
              </a:rPr>
              <a:t>多学一招</a:t>
            </a:r>
          </a:p>
        </p:txBody>
      </p:sp>
      <p:sp>
        <p:nvSpPr>
          <p:cNvPr id="4" name="文本框 3"/>
          <p:cNvSpPr txBox="1"/>
          <p:nvPr/>
        </p:nvSpPr>
        <p:spPr>
          <a:xfrm>
            <a:off x="1271270" y="2603500"/>
            <a:ext cx="9610725" cy="3058294"/>
          </a:xfrm>
          <a:prstGeom prst="rect">
            <a:avLst/>
          </a:prstGeom>
          <a:noFill/>
        </p:spPr>
        <p:txBody>
          <a:bodyPr wrap="square" rtlCol="0" anchor="t">
            <a:noAutofit/>
          </a:bodyPr>
          <a:lstStyle/>
          <a:p>
            <a:pPr>
              <a:lnSpc>
                <a:spcPct val="150000"/>
              </a:lnSpc>
            </a:pPr>
            <a:r>
              <a:rPr sz="1800" dirty="0">
                <a:solidFill>
                  <a:srgbClr val="595959"/>
                </a:solidFill>
                <a:latin typeface="微软雅黑" panose="020B0503020204020204" pitchFamily="34" charset="-122"/>
                <a:ea typeface="微软雅黑" panose="020B0503020204020204" pitchFamily="34" charset="-122"/>
              </a:rPr>
              <a:t>错误推测法是指测试人员在测试程序的过程中，</a:t>
            </a:r>
            <a:r>
              <a:rPr sz="1800" dirty="0">
                <a:solidFill>
                  <a:srgbClr val="0070C0"/>
                </a:solidFill>
                <a:latin typeface="微软雅黑" panose="020B0503020204020204" pitchFamily="34" charset="-122"/>
                <a:ea typeface="微软雅黑" panose="020B0503020204020204" pitchFamily="34" charset="-122"/>
              </a:rPr>
              <a:t>根据测试经验</a:t>
            </a:r>
            <a:r>
              <a:rPr sz="1800" dirty="0">
                <a:solidFill>
                  <a:srgbClr val="595959"/>
                </a:solidFill>
                <a:latin typeface="微软雅黑" panose="020B0503020204020204" pitchFamily="34" charset="-122"/>
                <a:ea typeface="微软雅黑" panose="020B0503020204020204" pitchFamily="34" charset="-122"/>
              </a:rPr>
              <a:t>或</a:t>
            </a:r>
            <a:r>
              <a:rPr sz="1800" dirty="0">
                <a:solidFill>
                  <a:srgbClr val="0070C0"/>
                </a:solidFill>
                <a:latin typeface="微软雅黑" panose="020B0503020204020204" pitchFamily="34" charset="-122"/>
                <a:ea typeface="微软雅黑" panose="020B0503020204020204" pitchFamily="34" charset="-122"/>
              </a:rPr>
              <a:t>直觉推测</a:t>
            </a:r>
            <a:r>
              <a:rPr sz="1800" dirty="0">
                <a:solidFill>
                  <a:srgbClr val="595959"/>
                </a:solidFill>
                <a:latin typeface="微软雅黑" panose="020B0503020204020204" pitchFamily="34" charset="-122"/>
                <a:ea typeface="微软雅黑" panose="020B0503020204020204" pitchFamily="34" charset="-122"/>
              </a:rPr>
              <a:t>程序中</a:t>
            </a:r>
            <a:r>
              <a:rPr sz="1800" dirty="0">
                <a:solidFill>
                  <a:srgbClr val="0070C0"/>
                </a:solidFill>
                <a:latin typeface="微软雅黑" panose="020B0503020204020204" pitchFamily="34" charset="-122"/>
                <a:ea typeface="微软雅黑" panose="020B0503020204020204" pitchFamily="34" charset="-122"/>
              </a:rPr>
              <a:t>可能存在的错误</a:t>
            </a:r>
            <a:r>
              <a:rPr sz="1800">
                <a:solidFill>
                  <a:srgbClr val="595959"/>
                </a:solidFill>
                <a:latin typeface="微软雅黑" panose="020B0503020204020204" pitchFamily="34" charset="-122"/>
                <a:ea typeface="微软雅黑" panose="020B0503020204020204" pitchFamily="34" charset="-122"/>
              </a:rPr>
              <a:t>，从而有</a:t>
            </a:r>
            <a:r>
              <a:rPr lang="zh-CN" altLang="en-US" sz="1800">
                <a:solidFill>
                  <a:srgbClr val="0070C0"/>
                </a:solidFill>
                <a:latin typeface="微软雅黑" panose="020B0503020204020204" pitchFamily="34" charset="-122"/>
                <a:ea typeface="微软雅黑" panose="020B0503020204020204" pitchFamily="34" charset="-122"/>
              </a:rPr>
              <a:t>针对</a:t>
            </a:r>
            <a:r>
              <a:rPr sz="1800">
                <a:solidFill>
                  <a:srgbClr val="0070C0"/>
                </a:solidFill>
                <a:latin typeface="微软雅黑" panose="020B0503020204020204" pitchFamily="34" charset="-122"/>
                <a:ea typeface="微软雅黑" panose="020B0503020204020204" pitchFamily="34" charset="-122"/>
              </a:rPr>
              <a:t>性地设计测试用例</a:t>
            </a:r>
            <a:r>
              <a:rPr sz="1800">
                <a:solidFill>
                  <a:srgbClr val="595959"/>
                </a:solidFill>
                <a:latin typeface="微软雅黑" panose="020B0503020204020204" pitchFamily="34" charset="-122"/>
                <a:ea typeface="微软雅黑" panose="020B0503020204020204" pitchFamily="34" charset="-122"/>
              </a:rPr>
              <a:t>的方法，该方法通常作为</a:t>
            </a:r>
            <a:r>
              <a:rPr sz="1800">
                <a:solidFill>
                  <a:srgbClr val="0070C0"/>
                </a:solidFill>
                <a:latin typeface="微软雅黑" panose="020B0503020204020204" pitchFamily="34" charset="-122"/>
                <a:ea typeface="微软雅黑" panose="020B0503020204020204" pitchFamily="34" charset="-122"/>
              </a:rPr>
              <a:t>设计测试用例的补充</a:t>
            </a:r>
            <a:r>
              <a:rPr lang="zh-CN" altLang="en-US" sz="1800">
                <a:solidFill>
                  <a:srgbClr val="0070C0"/>
                </a:solidFill>
                <a:latin typeface="微软雅黑" panose="020B0503020204020204" pitchFamily="34" charset="-122"/>
                <a:ea typeface="微软雅黑" panose="020B0503020204020204" pitchFamily="34" charset="-122"/>
              </a:rPr>
              <a:t>方法</a:t>
            </a:r>
            <a:r>
              <a:rPr sz="1800">
                <a:solidFill>
                  <a:srgbClr val="595959"/>
                </a:solidFill>
                <a:latin typeface="微软雅黑" panose="020B0503020204020204" pitchFamily="34" charset="-122"/>
                <a:ea typeface="微软雅黑" panose="020B0503020204020204" pitchFamily="34" charset="-122"/>
              </a:rPr>
              <a:t>。错误推测法不是一个有章可循的方法，</a:t>
            </a:r>
            <a:r>
              <a:rPr lang="zh-CN" altLang="en-US" sz="1800">
                <a:solidFill>
                  <a:srgbClr val="595959"/>
                </a:solidFill>
                <a:latin typeface="微软雅黑" panose="020B0503020204020204" pitchFamily="34" charset="-122"/>
                <a:ea typeface="微软雅黑" panose="020B0503020204020204" pitchFamily="34" charset="-122"/>
              </a:rPr>
              <a:t>其</a:t>
            </a:r>
            <a:r>
              <a:rPr sz="1800">
                <a:solidFill>
                  <a:srgbClr val="595959"/>
                </a:solidFill>
                <a:latin typeface="微软雅黑" panose="020B0503020204020204" pitchFamily="34" charset="-122"/>
                <a:ea typeface="微软雅黑" panose="020B0503020204020204" pitchFamily="34" charset="-122"/>
              </a:rPr>
              <a:t>通常</a:t>
            </a:r>
            <a:r>
              <a:rPr lang="zh-CN" altLang="en-US" sz="1800">
                <a:solidFill>
                  <a:srgbClr val="595959"/>
                </a:solidFill>
                <a:latin typeface="微软雅黑" panose="020B0503020204020204" pitchFamily="34" charset="-122"/>
                <a:ea typeface="微软雅黑" panose="020B0503020204020204" pitchFamily="34" charset="-122"/>
              </a:rPr>
              <a:t>做法</a:t>
            </a:r>
            <a:r>
              <a:rPr sz="1800">
                <a:solidFill>
                  <a:srgbClr val="595959"/>
                </a:solidFill>
                <a:latin typeface="微软雅黑" panose="020B0503020204020204" pitchFamily="34" charset="-122"/>
                <a:ea typeface="微软雅黑" panose="020B0503020204020204" pitchFamily="34" charset="-122"/>
              </a:rPr>
              <a:t>是测试人员在阅读需求规格说明书时</a:t>
            </a:r>
            <a:r>
              <a:rPr sz="1800" dirty="0">
                <a:solidFill>
                  <a:srgbClr val="595959"/>
                </a:solidFill>
                <a:latin typeface="微软雅黑" panose="020B0503020204020204" pitchFamily="34" charset="-122"/>
                <a:ea typeface="微软雅黑" panose="020B0503020204020204" pitchFamily="34" charset="-122"/>
              </a:rPr>
              <a:t>，根据平时测试工作过程中发现的缺陷相关数据和总结猜测可能被忽略的内容。</a:t>
            </a:r>
            <a:r>
              <a:rPr sz="1800" dirty="0">
                <a:solidFill>
                  <a:srgbClr val="0070C0"/>
                </a:solidFill>
                <a:latin typeface="微软雅黑" panose="020B0503020204020204" pitchFamily="34" charset="-122"/>
                <a:ea typeface="微软雅黑" panose="020B0503020204020204" pitchFamily="34" charset="-122"/>
              </a:rPr>
              <a:t>错误推测法</a:t>
            </a:r>
            <a:r>
              <a:rPr sz="1800" dirty="0">
                <a:solidFill>
                  <a:srgbClr val="595959"/>
                </a:solidFill>
                <a:latin typeface="微软雅黑" panose="020B0503020204020204" pitchFamily="34" charset="-122"/>
                <a:ea typeface="微软雅黑" panose="020B0503020204020204" pitchFamily="34" charset="-122"/>
              </a:rPr>
              <a:t>能够</a:t>
            </a:r>
            <a:r>
              <a:rPr sz="1800" dirty="0">
                <a:solidFill>
                  <a:srgbClr val="0070C0"/>
                </a:solidFill>
                <a:latin typeface="微软雅黑" panose="020B0503020204020204" pitchFamily="34" charset="-122"/>
                <a:ea typeface="微软雅黑" panose="020B0503020204020204" pitchFamily="34" charset="-122"/>
              </a:rPr>
              <a:t>充分体现测试人员的经验</a:t>
            </a:r>
            <a:r>
              <a:rPr sz="1800" dirty="0">
                <a:solidFill>
                  <a:srgbClr val="595959"/>
                </a:solidFill>
                <a:latin typeface="微软雅黑" panose="020B0503020204020204" pitchFamily="34" charset="-122"/>
                <a:ea typeface="微软雅黑" panose="020B0503020204020204" pitchFamily="34" charset="-122"/>
              </a:rPr>
              <a:t>，但是对于</a:t>
            </a:r>
            <a:r>
              <a:rPr sz="1800" dirty="0">
                <a:solidFill>
                  <a:srgbClr val="0070C0"/>
                </a:solidFill>
                <a:latin typeface="微软雅黑" panose="020B0503020204020204" pitchFamily="34" charset="-122"/>
                <a:ea typeface="微软雅黑" panose="020B0503020204020204" pitchFamily="34" charset="-122"/>
              </a:rPr>
              <a:t>经验或测试技能不足的测试人员</a:t>
            </a:r>
            <a:r>
              <a:rPr sz="1800" dirty="0">
                <a:solidFill>
                  <a:srgbClr val="595959"/>
                </a:solidFill>
                <a:latin typeface="微软雅黑" panose="020B0503020204020204" pitchFamily="34" charset="-122"/>
                <a:ea typeface="微软雅黑" panose="020B0503020204020204" pitchFamily="34" charset="-122"/>
              </a:rPr>
              <a:t>，</a:t>
            </a:r>
            <a:r>
              <a:rPr sz="1800" dirty="0">
                <a:solidFill>
                  <a:srgbClr val="0070C0"/>
                </a:solidFill>
                <a:latin typeface="微软雅黑" panose="020B0503020204020204" pitchFamily="34" charset="-122"/>
                <a:ea typeface="微软雅黑" panose="020B0503020204020204" pitchFamily="34" charset="-122"/>
              </a:rPr>
              <a:t>不建议使用该方法</a:t>
            </a:r>
            <a:r>
              <a:rPr sz="1800">
                <a:solidFill>
                  <a:srgbClr val="595959"/>
                </a:solidFill>
                <a:latin typeface="微软雅黑" panose="020B0503020204020204" pitchFamily="34" charset="-122"/>
                <a:ea typeface="微软雅黑" panose="020B0503020204020204" pitchFamily="34" charset="-122"/>
              </a:rPr>
              <a:t>，可以先使用其他方法</a:t>
            </a:r>
            <a:r>
              <a:rPr lang="zh-CN" altLang="en-US" sz="1800">
                <a:solidFill>
                  <a:srgbClr val="595959"/>
                </a:solidFill>
                <a:latin typeface="微软雅黑" panose="020B0503020204020204" pitchFamily="34" charset="-122"/>
                <a:ea typeface="微软雅黑" panose="020B0503020204020204" pitchFamily="34" charset="-122"/>
              </a:rPr>
              <a:t>（例如等价类划分法、边界值分析法等）设计测试用例</a:t>
            </a:r>
            <a:r>
              <a:rPr sz="1800">
                <a:solidFill>
                  <a:srgbClr val="595959"/>
                </a:solidFill>
                <a:latin typeface="微软雅黑" panose="020B0503020204020204" pitchFamily="34" charset="-122"/>
                <a:ea typeface="微软雅黑" panose="020B0503020204020204" pitchFamily="34" charset="-122"/>
              </a:rPr>
              <a:t>。</a:t>
            </a:r>
            <a:r>
              <a:rPr sz="1800" dirty="0">
                <a:solidFill>
                  <a:srgbClr val="595959"/>
                </a:solidFill>
                <a:latin typeface="微软雅黑" panose="020B0503020204020204" pitchFamily="34" charset="-122"/>
                <a:ea typeface="微软雅黑" panose="020B0503020204020204" pitchFamily="34" charset="-122"/>
              </a:rPr>
              <a:t>如果其他方法不行，再使用错误推测法。</a:t>
            </a:r>
          </a:p>
          <a:p>
            <a:pPr algn="l">
              <a:lnSpc>
                <a:spcPct val="150000"/>
              </a:lnSpc>
              <a:buClrTx/>
              <a:buSzTx/>
              <a:buFontTx/>
            </a:pPr>
            <a:endParaRPr sz="1800" dirty="0">
              <a:solidFill>
                <a:srgbClr val="595959"/>
              </a:solidFill>
              <a:latin typeface="微软雅黑" panose="020B0503020204020204" pitchFamily="34" charset="-122"/>
              <a:ea typeface="微软雅黑" panose="020B0503020204020204" pitchFamily="34" charset="-122"/>
            </a:endParaRPr>
          </a:p>
        </p:txBody>
      </p:sp>
      <p:sp>
        <p:nvSpPr>
          <p:cNvPr id="2" name="Title 1"/>
          <p:cNvSpPr txBox="1"/>
          <p:nvPr/>
        </p:nvSpPr>
        <p:spPr>
          <a:xfrm>
            <a:off x="1143635" y="266700"/>
            <a:ext cx="736917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2.5.3	实例二</a:t>
            </a:r>
            <a:r>
              <a:rPr lang="zh-CN" altLang="en-US" sz="2400" b="1">
                <a:solidFill>
                  <a:srgbClr val="595959"/>
                </a:solidFill>
                <a:latin typeface="微软雅黑" panose="020B0503020204020204" pitchFamily="34" charset="-122"/>
                <a:ea typeface="微软雅黑" panose="020B0503020204020204" pitchFamily="34" charset="-122"/>
                <a:cs typeface="+mn-ea"/>
                <a:sym typeface="+mn-lt"/>
              </a:rPr>
              <a:t>：ATM取款</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场景分析</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Box 48"/>
          <p:cNvSpPr txBox="1"/>
          <p:nvPr/>
        </p:nvSpPr>
        <p:spPr>
          <a:xfrm>
            <a:off x="3970118" y="3014256"/>
            <a:ext cx="6733001" cy="829945"/>
          </a:xfrm>
          <a:prstGeom prst="rect">
            <a:avLst/>
          </a:prstGeom>
          <a:noFill/>
        </p:spPr>
        <p:txBody>
          <a:bodyPr wrap="square" lIns="91443" tIns="45720" rIns="91443" bIns="45720" rtlCol="0">
            <a:spAutoFit/>
          </a:bodyPr>
          <a:lstStyle/>
          <a:p>
            <a:r>
              <a:rPr lang="zh-CN" altLang="en-US" sz="4800" b="1" dirty="0">
                <a:solidFill>
                  <a:srgbClr val="0070C0"/>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状态迁移图</a:t>
            </a:r>
            <a:r>
              <a:rPr lang="zh-CN" altLang="en-US" sz="4800" b="1" dirty="0">
                <a:solidFill>
                  <a:srgbClr val="595959"/>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法</a:t>
            </a:r>
          </a:p>
        </p:txBody>
      </p:sp>
      <p:sp>
        <p:nvSpPr>
          <p:cNvPr id="2" name="TextBox 48"/>
          <p:cNvSpPr txBox="1"/>
          <p:nvPr/>
        </p:nvSpPr>
        <p:spPr>
          <a:xfrm>
            <a:off x="1626870" y="2809240"/>
            <a:ext cx="1734820" cy="1106805"/>
          </a:xfrm>
          <a:prstGeom prst="rect">
            <a:avLst/>
          </a:prstGeom>
          <a:noFill/>
        </p:spPr>
        <p:txBody>
          <a:bodyPr wrap="square" lIns="91443" tIns="45720" rIns="91443" bIns="45720" rtlCol="0">
            <a:spAutoFit/>
          </a:bodyPr>
          <a:lstStyle/>
          <a:p>
            <a:r>
              <a:rPr lang="en-US" altLang="en-GB" sz="6600" b="1" dirty="0">
                <a:solidFill>
                  <a:srgbClr val="FAFAFA"/>
                </a:solidFill>
                <a:latin typeface="微软雅黑" panose="020B0503020204020204" pitchFamily="34" charset="-122"/>
                <a:ea typeface="微软雅黑" panose="020B0503020204020204" pitchFamily="34" charset="-122"/>
                <a:cs typeface="+mn-ea"/>
                <a:sym typeface="+mn-lt"/>
              </a:rPr>
              <a:t>2.6</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p:cNvPicPr>
            <a:picLocks noChangeAspect="1"/>
          </p:cNvPicPr>
          <p:nvPr/>
        </p:nvPicPr>
        <p:blipFill>
          <a:blip r:embed="rId3"/>
          <a:stretch>
            <a:fillRect/>
          </a:stretch>
        </p:blipFill>
        <p:spPr>
          <a:xfrm>
            <a:off x="944880" y="2215515"/>
            <a:ext cx="2797810" cy="3898265"/>
          </a:xfrm>
          <a:prstGeom prst="rect">
            <a:avLst/>
          </a:prstGeom>
        </p:spPr>
      </p:pic>
      <p:sp>
        <p:nvSpPr>
          <p:cNvPr id="13" name="椭圆形标注 12"/>
          <p:cNvSpPr/>
          <p:nvPr/>
        </p:nvSpPr>
        <p:spPr>
          <a:xfrm>
            <a:off x="2968625" y="156019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p>
        </p:txBody>
      </p:sp>
      <p:sp>
        <p:nvSpPr>
          <p:cNvPr id="14" name="TextBox 35"/>
          <p:cNvSpPr txBox="1">
            <a:spLocks noChangeArrowheads="1"/>
          </p:cNvSpPr>
          <p:nvPr/>
        </p:nvSpPr>
        <p:spPr bwMode="auto">
          <a:xfrm>
            <a:off x="3247390" y="163830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p>
        </p:txBody>
      </p:sp>
      <p:sp>
        <p:nvSpPr>
          <p:cNvPr id="15" name="TextBox 35"/>
          <p:cNvSpPr txBox="1">
            <a:spLocks noChangeArrowheads="1"/>
          </p:cNvSpPr>
          <p:nvPr/>
        </p:nvSpPr>
        <p:spPr bwMode="auto">
          <a:xfrm>
            <a:off x="5951220" y="3213100"/>
            <a:ext cx="5838190" cy="10439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defRPr/>
            </a:pPr>
            <a:r>
              <a:rPr lang="zh-CN" sz="200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掌握</a:t>
            </a:r>
            <a:r>
              <a:rPr sz="200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状态迁移图</a:t>
            </a:r>
            <a:r>
              <a:rPr sz="200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法</a:t>
            </a:r>
            <a:r>
              <a:rPr lang="zh-CN" sz="200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的概述</a:t>
            </a:r>
            <a:r>
              <a:rPr sz="200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，能够</a:t>
            </a:r>
            <a:r>
              <a:rPr sz="2000">
                <a:solidFill>
                  <a:srgbClr val="0070C0"/>
                </a:solidFill>
                <a:latin typeface="微软雅黑" panose="020B0503020204020204" pitchFamily="34" charset="-122"/>
                <a:ea typeface="微软雅黑" panose="020B0503020204020204" pitchFamily="34" charset="-122"/>
                <a:cs typeface="+mn-ea"/>
                <a:sym typeface="字魂58号-创中黑" panose="00000500000000000000" pitchFamily="2" charset="-122"/>
              </a:rPr>
              <a:t>通过</a:t>
            </a:r>
            <a:r>
              <a:rPr sz="2000">
                <a:solidFill>
                  <a:srgbClr val="0070C0"/>
                </a:solidFill>
                <a:latin typeface="微软雅黑" panose="020B0503020204020204" pitchFamily="34" charset="-122"/>
                <a:ea typeface="微软雅黑" panose="020B0503020204020204" pitchFamily="34" charset="-122"/>
                <a:cs typeface="+mn-ea"/>
                <a:sym typeface="+mn-lt"/>
              </a:rPr>
              <a:t>状态迁移图</a:t>
            </a:r>
            <a:r>
              <a:rPr sz="2000">
                <a:solidFill>
                  <a:srgbClr val="0070C0"/>
                </a:solidFill>
                <a:latin typeface="微软雅黑" panose="020B0503020204020204" pitchFamily="34" charset="-122"/>
                <a:ea typeface="微软雅黑" panose="020B0503020204020204" pitchFamily="34" charset="-122"/>
                <a:cs typeface="+mn-ea"/>
                <a:sym typeface="字魂58号-创中黑" panose="00000500000000000000" pitchFamily="2" charset="-122"/>
              </a:rPr>
              <a:t>法设计测试用例</a:t>
            </a:r>
          </a:p>
        </p:txBody>
      </p:sp>
      <p:grpSp>
        <p:nvGrpSpPr>
          <p:cNvPr id="19" name="组合 18"/>
          <p:cNvGrpSpPr/>
          <p:nvPr/>
        </p:nvGrpSpPr>
        <p:grpSpPr>
          <a:xfrm>
            <a:off x="5452110" y="3540125"/>
            <a:ext cx="405130" cy="405130"/>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2.6.1	状态迁移图法概述</a:t>
            </a: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35"/>
          <p:cNvSpPr txBox="1">
            <a:spLocks noChangeArrowheads="1"/>
          </p:cNvSpPr>
          <p:nvPr/>
        </p:nvSpPr>
        <p:spPr bwMode="auto">
          <a:xfrm>
            <a:off x="4871085" y="1557655"/>
            <a:ext cx="6289675" cy="3860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indent="457200" algn="just">
              <a:lnSpc>
                <a:spcPct val="150000"/>
              </a:lnSpc>
              <a:buClrTx/>
              <a:buSzTx/>
              <a:buFontTx/>
            </a:pPr>
            <a:r>
              <a:rPr lang="zh-CN" altLang="en-US" sz="1800" dirty="0">
                <a:solidFill>
                  <a:srgbClr val="0070C0"/>
                </a:solidFill>
                <a:latin typeface="微软雅黑" panose="020B0503020204020204" pitchFamily="34" charset="-122"/>
                <a:ea typeface="微软雅黑" panose="020B0503020204020204" pitchFamily="34" charset="-122"/>
              </a:rPr>
              <a:t>状态迁移图法</a:t>
            </a:r>
            <a:r>
              <a:rPr lang="zh-CN" altLang="en-US" sz="1800" dirty="0">
                <a:solidFill>
                  <a:srgbClr val="595959"/>
                </a:solidFill>
                <a:latin typeface="微软雅黑" panose="020B0503020204020204" pitchFamily="34" charset="-122"/>
                <a:ea typeface="微软雅黑" panose="020B0503020204020204" pitchFamily="34" charset="-122"/>
              </a:rPr>
              <a:t>(State Transition Diagram，STD)是黑盒测试的一种方法，状态迁移图用来描述系统或对象的</a:t>
            </a:r>
            <a:r>
              <a:rPr lang="zh-CN" altLang="en-US" sz="1800" b="1" dirty="0">
                <a:solidFill>
                  <a:srgbClr val="0070C0"/>
                </a:solidFill>
                <a:latin typeface="微软雅黑" panose="020B0503020204020204" pitchFamily="34" charset="-122"/>
                <a:ea typeface="微软雅黑" panose="020B0503020204020204" pitchFamily="34" charset="-122"/>
              </a:rPr>
              <a:t>状态</a:t>
            </a:r>
            <a:r>
              <a:rPr lang="zh-CN" altLang="en-US" sz="1800" dirty="0">
                <a:solidFill>
                  <a:srgbClr val="595959"/>
                </a:solidFill>
                <a:latin typeface="微软雅黑" panose="020B0503020204020204" pitchFamily="34" charset="-122"/>
                <a:ea typeface="微软雅黑" panose="020B0503020204020204" pitchFamily="34" charset="-122"/>
              </a:rPr>
              <a:t>，以及导致系统或对象状态发生改变的</a:t>
            </a:r>
            <a:r>
              <a:rPr lang="zh-CN" altLang="en-US" sz="1800" b="1" dirty="0">
                <a:solidFill>
                  <a:srgbClr val="0070C0"/>
                </a:solidFill>
                <a:latin typeface="微软雅黑" panose="020B0503020204020204" pitchFamily="34" charset="-122"/>
                <a:ea typeface="微软雅黑" panose="020B0503020204020204" pitchFamily="34" charset="-122"/>
              </a:rPr>
              <a:t>事件</a:t>
            </a:r>
            <a:r>
              <a:rPr lang="zh-CN" altLang="en-US" sz="1800" dirty="0">
                <a:solidFill>
                  <a:srgbClr val="595959"/>
                </a:solidFill>
                <a:latin typeface="微软雅黑" panose="020B0503020204020204" pitchFamily="34" charset="-122"/>
                <a:ea typeface="微软雅黑" panose="020B0503020204020204" pitchFamily="34" charset="-122"/>
              </a:rPr>
              <a:t>。状态迁移图法是通过</a:t>
            </a:r>
            <a:r>
              <a:rPr lang="zh-CN" altLang="en-US" sz="1800" dirty="0">
                <a:solidFill>
                  <a:srgbClr val="0070C0"/>
                </a:solidFill>
                <a:latin typeface="微软雅黑" panose="020B0503020204020204" pitchFamily="34" charset="-122"/>
                <a:ea typeface="微软雅黑" panose="020B0503020204020204" pitchFamily="34" charset="-122"/>
              </a:rPr>
              <a:t>分析被测系统的状态</a:t>
            </a:r>
            <a:r>
              <a:rPr lang="zh-CN" altLang="en-US" sz="1800" dirty="0">
                <a:solidFill>
                  <a:srgbClr val="595959"/>
                </a:solidFill>
                <a:latin typeface="微软雅黑" panose="020B0503020204020204" pitchFamily="34" charset="-122"/>
                <a:ea typeface="微软雅黑" panose="020B0503020204020204" pitchFamily="34" charset="-122"/>
              </a:rPr>
              <a:t>，</a:t>
            </a:r>
            <a:r>
              <a:rPr lang="zh-CN" altLang="en-US" sz="1800" dirty="0">
                <a:solidFill>
                  <a:srgbClr val="0070C0"/>
                </a:solidFill>
                <a:latin typeface="微软雅黑" panose="020B0503020204020204" pitchFamily="34" charset="-122"/>
                <a:ea typeface="微软雅黑" panose="020B0503020204020204" pitchFamily="34" charset="-122"/>
              </a:rPr>
              <a:t>以及这些状态之间的转换条件和路径来设计测试用例的一种方法</a:t>
            </a:r>
            <a:r>
              <a:rPr lang="zh-CN" altLang="en-US" sz="1800" dirty="0">
                <a:solidFill>
                  <a:srgbClr val="595959"/>
                </a:solidFill>
                <a:latin typeface="微软雅黑" panose="020B0503020204020204" pitchFamily="34" charset="-122"/>
                <a:ea typeface="微软雅黑" panose="020B0503020204020204" pitchFamily="34" charset="-122"/>
              </a:rPr>
              <a:t>，它主要用于验证在给定的条件内，系统对象</a:t>
            </a:r>
            <a:r>
              <a:rPr lang="zh-CN" altLang="en-US" sz="1800" b="1" dirty="0">
                <a:solidFill>
                  <a:srgbClr val="0070C0"/>
                </a:solidFill>
                <a:latin typeface="微软雅黑" panose="020B0503020204020204" pitchFamily="34" charset="-122"/>
                <a:ea typeface="微软雅黑" panose="020B0503020204020204" pitchFamily="34" charset="-122"/>
              </a:rPr>
              <a:t>是否能够发生状态的改变</a:t>
            </a:r>
            <a:r>
              <a:rPr lang="zh-CN" altLang="en-US" sz="1800" dirty="0">
                <a:solidFill>
                  <a:srgbClr val="595959"/>
                </a:solidFill>
                <a:latin typeface="微软雅黑" panose="020B0503020204020204" pitchFamily="34" charset="-122"/>
                <a:ea typeface="微软雅黑" panose="020B0503020204020204" pitchFamily="34" charset="-122"/>
              </a:rPr>
              <a:t>，以及</a:t>
            </a:r>
            <a:r>
              <a:rPr lang="zh-CN" altLang="en-US" sz="1800" b="1" dirty="0">
                <a:solidFill>
                  <a:srgbClr val="0070C0"/>
                </a:solidFill>
                <a:latin typeface="微软雅黑" panose="020B0503020204020204" pitchFamily="34" charset="-122"/>
                <a:ea typeface="微软雅黑" panose="020B0503020204020204" pitchFamily="34" charset="-122"/>
              </a:rPr>
              <a:t>是否存在不可能达到的状态</a:t>
            </a:r>
            <a:r>
              <a:rPr lang="zh-CN" altLang="en-US" sz="1800" dirty="0">
                <a:solidFill>
                  <a:srgbClr val="595959"/>
                </a:solidFill>
                <a:latin typeface="微软雅黑" panose="020B0503020204020204" pitchFamily="34" charset="-122"/>
                <a:ea typeface="微软雅黑" panose="020B0503020204020204" pitchFamily="34" charset="-122"/>
              </a:rPr>
              <a:t>或</a:t>
            </a:r>
            <a:r>
              <a:rPr lang="zh-CN" altLang="en-US" sz="1800" b="1" dirty="0">
                <a:solidFill>
                  <a:srgbClr val="0070C0"/>
                </a:solidFill>
                <a:latin typeface="微软雅黑" panose="020B0503020204020204" pitchFamily="34" charset="-122"/>
                <a:ea typeface="微软雅黑" panose="020B0503020204020204" pitchFamily="34" charset="-122"/>
              </a:rPr>
              <a:t>非法的状态</a:t>
            </a:r>
            <a:r>
              <a:rPr lang="zh-CN" altLang="en-US" sz="1800" dirty="0">
                <a:solidFill>
                  <a:srgbClr val="595959"/>
                </a:solidFill>
                <a:latin typeface="微软雅黑" panose="020B0503020204020204" pitchFamily="34" charset="-122"/>
                <a:ea typeface="微软雅黑" panose="020B0503020204020204" pitchFamily="34" charset="-122"/>
              </a:rPr>
              <a:t>等。在状态迁移图中，由一个状态、事件所确定的下一个状态可能会有多个，实际迁移到哪一个状态，由触发条件决定。</a:t>
            </a:r>
          </a:p>
        </p:txBody>
      </p:sp>
      <p:pic>
        <p:nvPicPr>
          <p:cNvPr id="33" name="图片 32"/>
          <p:cNvPicPr>
            <a:picLocks noChangeAspect="1"/>
          </p:cNvPicPr>
          <p:nvPr/>
        </p:nvPicPr>
        <p:blipFill>
          <a:blip r:embed="rId3"/>
          <a:stretch>
            <a:fillRect/>
          </a:stretch>
        </p:blipFill>
        <p:spPr>
          <a:xfrm>
            <a:off x="839386" y="1413456"/>
            <a:ext cx="3715858" cy="4006159"/>
          </a:xfrm>
          <a:prstGeom prst="rect">
            <a:avLst/>
          </a:prstGeom>
        </p:spPr>
      </p:pic>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2.6.1	状态迁移图法概述</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35"/>
          <p:cNvSpPr txBox="1">
            <a:spLocks noChangeArrowheads="1"/>
          </p:cNvSpPr>
          <p:nvPr/>
        </p:nvSpPr>
        <p:spPr bwMode="auto">
          <a:xfrm>
            <a:off x="1271270" y="837565"/>
            <a:ext cx="9979025" cy="951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buClrTx/>
              <a:buSzTx/>
              <a:buFontTx/>
            </a:pPr>
            <a:r>
              <a:rPr lang="zh-CN" altLang="en-US" sz="1800" dirty="0">
                <a:solidFill>
                  <a:srgbClr val="595959"/>
                </a:solidFill>
                <a:latin typeface="微软雅黑" panose="020B0503020204020204" pitchFamily="34" charset="-122"/>
                <a:ea typeface="微软雅黑" panose="020B0503020204020204" pitchFamily="34" charset="-122"/>
              </a:rPr>
              <a:t>状态迁移图法主要关注测试状态转移的正确性，将被测系统中业务流程的每个节点用状态来描述，</a:t>
            </a:r>
            <a:r>
              <a:rPr lang="zh-CN" altLang="en-US" sz="1800" dirty="0">
                <a:solidFill>
                  <a:srgbClr val="0070C0"/>
                </a:solidFill>
                <a:latin typeface="微软雅黑" panose="020B0503020204020204" pitchFamily="34" charset="-122"/>
                <a:ea typeface="微软雅黑" panose="020B0503020204020204" pitchFamily="34" charset="-122"/>
              </a:rPr>
              <a:t>通过触发的事件来完成各个状态之间的迁移</a:t>
            </a:r>
            <a:r>
              <a:rPr lang="zh-CN" altLang="en-US" sz="1800" dirty="0">
                <a:solidFill>
                  <a:srgbClr val="595959"/>
                </a:solidFill>
                <a:latin typeface="微软雅黑" panose="020B0503020204020204" pitchFamily="34" charset="-122"/>
                <a:ea typeface="微软雅黑" panose="020B0503020204020204" pitchFamily="34" charset="-122"/>
              </a:rPr>
              <a:t>。使用</a:t>
            </a:r>
            <a:r>
              <a:rPr lang="zh-CN" altLang="en-US" sz="1800" dirty="0">
                <a:solidFill>
                  <a:srgbClr val="0070C0"/>
                </a:solidFill>
                <a:latin typeface="微软雅黑" panose="020B0503020204020204" pitchFamily="34" charset="-122"/>
                <a:ea typeface="微软雅黑" panose="020B0503020204020204" pitchFamily="34" charset="-122"/>
              </a:rPr>
              <a:t>状态迁移图法设计测试用例的具体步骤</a:t>
            </a:r>
            <a:r>
              <a:rPr lang="zh-CN" altLang="en-US" sz="1800" dirty="0">
                <a:solidFill>
                  <a:srgbClr val="595959"/>
                </a:solidFill>
                <a:latin typeface="微软雅黑" panose="020B0503020204020204" pitchFamily="34" charset="-122"/>
                <a:ea typeface="微软雅黑" panose="020B0503020204020204" pitchFamily="34" charset="-122"/>
              </a:rPr>
              <a:t>如下。</a:t>
            </a:r>
          </a:p>
        </p:txBody>
      </p:sp>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2.6.1	状态迁移图法概述</a:t>
            </a:r>
          </a:p>
        </p:txBody>
      </p:sp>
      <p:sp>
        <p:nvSpPr>
          <p:cNvPr id="43" name="形状 42"/>
          <p:cNvSpPr/>
          <p:nvPr/>
        </p:nvSpPr>
        <p:spPr>
          <a:xfrm>
            <a:off x="2499604" y="3239719"/>
            <a:ext cx="2361196" cy="2361196"/>
          </a:xfrm>
          <a:prstGeom prst="leftCircularArrow">
            <a:avLst>
              <a:gd name="adj1" fmla="val 2872"/>
              <a:gd name="adj2" fmla="val 351158"/>
              <a:gd name="adj3" fmla="val 2126668"/>
              <a:gd name="adj4" fmla="val 9024489"/>
              <a:gd name="adj5" fmla="val 3351"/>
            </a:avLst>
          </a:prstGeom>
          <a:solidFill>
            <a:srgbClr val="0070C0"/>
          </a:solidFill>
          <a:ln w="0">
            <a:solidFill>
              <a:schemeClr val="accent1"/>
            </a:solidFill>
          </a:ln>
        </p:spPr>
        <p:style>
          <a:lnRef idx="2">
            <a:schemeClr val="accent1"/>
          </a:lnRef>
          <a:fillRef idx="0">
            <a:schemeClr val="accent1"/>
          </a:fillRef>
          <a:effectRef idx="1">
            <a:schemeClr val="accent1"/>
          </a:effectRef>
          <a:fontRef idx="minor">
            <a:schemeClr val="tx1"/>
          </a:fontRef>
        </p:style>
        <p:txBody>
          <a:bodyPr vert="horz" wrap="square" lIns="91425" tIns="45712" rIns="91425" bIns="45712" anchor="t">
            <a:noAutofit/>
          </a:bodyPr>
          <a:lstStyle/>
          <a:p>
            <a:pPr marL="0" marR="0" lvl="0" indent="0" algn="l" defTabSz="914400" rtl="0" eaLnBrk="0" fontAlgn="auto" latinLnBrk="0" hangingPunct="1">
              <a:lnSpc>
                <a:spcPct val="100000"/>
              </a:lnSpc>
              <a:spcBef>
                <a:spcPts val="0"/>
              </a:spcBef>
              <a:spcAft>
                <a:spcPts val="0"/>
              </a:spcAft>
              <a:buClrTx/>
              <a:buSzTx/>
              <a:buFontTx/>
              <a:buNone/>
              <a:defRPr/>
            </a:pPr>
            <a:endParaRPr kumimoji="0" lang="ko-KR" altLang="en-US" sz="2800" b="0" i="0" u="none" strike="noStrike" kern="1200" cap="none" spc="0" normalizeH="0" baseline="0" noProof="0" dirty="0">
              <a:ln>
                <a:noFill/>
              </a:ln>
              <a:solidFill>
                <a:srgbClr val="FFFFFF"/>
              </a:solidFill>
              <a:effectLst/>
              <a:uLnTx/>
              <a:uFillTx/>
              <a:ea typeface="微软雅黑" panose="020B0503020204020204" pitchFamily="34" charset="-122"/>
              <a:cs typeface="+mn-lt"/>
            </a:endParaRPr>
          </a:p>
        </p:txBody>
      </p:sp>
      <p:sp>
        <p:nvSpPr>
          <p:cNvPr id="44" name="形状 16501"/>
          <p:cNvSpPr/>
          <p:nvPr/>
        </p:nvSpPr>
        <p:spPr>
          <a:xfrm>
            <a:off x="1396782" y="2980680"/>
            <a:ext cx="1938352" cy="1598680"/>
          </a:xfrm>
          <a:custGeom>
            <a:avLst/>
            <a:gdLst>
              <a:gd name="TX0" fmla="*/ 0 w 1281168"/>
              <a:gd name="TY0" fmla="*/ 105669 h 1056696"/>
              <a:gd name="TX1" fmla="*/ 105669 w 1281168"/>
              <a:gd name="TY1" fmla="*/ 0 h 1056696"/>
              <a:gd name="TX2" fmla="*/ 1175497 w 1281168"/>
              <a:gd name="TY2" fmla="*/ 0 h 1056696"/>
              <a:gd name="TX3" fmla="*/ 1281166 w 1281168"/>
              <a:gd name="TY3" fmla="*/ 105669 h 1056696"/>
              <a:gd name="TX4" fmla="*/ 1281166 w 1281168"/>
              <a:gd name="TY4" fmla="*/ 951025 h 1056696"/>
              <a:gd name="TX5" fmla="*/ 1175497 w 1281168"/>
              <a:gd name="TY5" fmla="*/ 1056694 h 1056696"/>
              <a:gd name="TX6" fmla="*/ 105669 w 1281168"/>
              <a:gd name="TY6" fmla="*/ 1056694 h 1056696"/>
              <a:gd name="TX7" fmla="*/ 0 w 1281168"/>
              <a:gd name="TY7" fmla="*/ 951025 h 1056696"/>
              <a:gd name="TX8" fmla="*/ 0 w 1281168"/>
              <a:gd name="TY8" fmla="*/ 105669 h 1056696"/>
            </a:gdLst>
            <a:ahLst/>
            <a:cxnLst>
              <a:cxn ang="0">
                <a:pos x="TX0" y="TY0"/>
              </a:cxn>
              <a:cxn ang="0">
                <a:pos x="TX1" y="TY1"/>
              </a:cxn>
              <a:cxn ang="0">
                <a:pos x="TX2" y="TY2"/>
              </a:cxn>
              <a:cxn ang="0">
                <a:pos x="TX3" y="TY3"/>
              </a:cxn>
              <a:cxn ang="0">
                <a:pos x="TX4" y="TY4"/>
              </a:cxn>
              <a:cxn ang="0">
                <a:pos x="TX5" y="TY5"/>
              </a:cxn>
              <a:cxn ang="0">
                <a:pos x="TX6" y="TY6"/>
              </a:cxn>
              <a:cxn ang="0">
                <a:pos x="TX7" y="TY7"/>
              </a:cxn>
              <a:cxn ang="0">
                <a:pos x="TX8" y="TY8"/>
              </a:cxn>
            </a:cxnLst>
            <a:rect l="l" t="t" r="r" b="b"/>
            <a:pathLst>
              <a:path w="1281168" h="1056696">
                <a:moveTo>
                  <a:pt x="0" y="105669"/>
                </a:moveTo>
                <a:cubicBezTo>
                  <a:pt x="0" y="47310"/>
                  <a:pt x="47310" y="0"/>
                  <a:pt x="105669" y="0"/>
                </a:cubicBezTo>
                <a:lnTo>
                  <a:pt x="1175497" y="0"/>
                </a:lnTo>
                <a:cubicBezTo>
                  <a:pt x="1233856" y="0"/>
                  <a:pt x="1281166" y="47310"/>
                  <a:pt x="1281166" y="105669"/>
                </a:cubicBezTo>
                <a:lnTo>
                  <a:pt x="1281166" y="951025"/>
                </a:lnTo>
                <a:cubicBezTo>
                  <a:pt x="1281166" y="1009384"/>
                  <a:pt x="1233856" y="1056694"/>
                  <a:pt x="1175497" y="1056694"/>
                </a:cubicBezTo>
                <a:lnTo>
                  <a:pt x="105669" y="1056694"/>
                </a:lnTo>
                <a:cubicBezTo>
                  <a:pt x="47310" y="1056694"/>
                  <a:pt x="0" y="1009384"/>
                  <a:pt x="0" y="951025"/>
                </a:cubicBezTo>
                <a:lnTo>
                  <a:pt x="0" y="105669"/>
                </a:lnTo>
                <a:close/>
              </a:path>
            </a:pathLst>
          </a:custGeom>
          <a:ln w="28575" cap="flat" cmpd="sng">
            <a:solidFill>
              <a:srgbClr val="014076"/>
            </a:solidFill>
            <a:prstDash val="solid"/>
            <a:round/>
          </a:ln>
        </p:spPr>
        <p:txBody>
          <a:bodyPr vert="horz" wrap="square" lIns="91425" tIns="66029" rIns="66029" bIns="91425" anchor="t">
            <a:noAutofit/>
          </a:bodyPr>
          <a:lstStyle/>
          <a:p>
            <a:pPr marL="228600" marR="0" lvl="0" indent="-228600" algn="l" defTabSz="977900" rtl="0" eaLnBrk="0" fontAlgn="auto" latinLnBrk="0" hangingPunct="1">
              <a:lnSpc>
                <a:spcPct val="90000"/>
              </a:lnSpc>
              <a:spcBef>
                <a:spcPts val="0"/>
              </a:spcBef>
              <a:spcAft>
                <a:spcPts val="300"/>
              </a:spcAft>
              <a:buClr>
                <a:srgbClr val="000000"/>
              </a:buClr>
              <a:buSzTx/>
              <a:buFont typeface="±¼¸²"/>
              <a:buChar char="•"/>
              <a:defRPr/>
            </a:pPr>
            <a:endParaRPr kumimoji="0" lang="ko-KR" altLang="en-US" sz="2800" b="0" i="0" u="none" strike="noStrike" kern="1200" cap="none" spc="0" normalizeH="0" baseline="0" noProof="0" dirty="0">
              <a:ln>
                <a:noFill/>
              </a:ln>
              <a:solidFill>
                <a:srgbClr val="000000"/>
              </a:solidFill>
              <a:effectLst/>
              <a:uLnTx/>
              <a:uFillTx/>
              <a:ea typeface="Arial" panose="020B0604020202020204" pitchFamily="34" charset="0"/>
              <a:cs typeface="+mn-lt"/>
            </a:endParaRPr>
          </a:p>
        </p:txBody>
      </p:sp>
      <p:sp>
        <p:nvSpPr>
          <p:cNvPr id="45" name="形状 16502"/>
          <p:cNvSpPr/>
          <p:nvPr/>
        </p:nvSpPr>
        <p:spPr>
          <a:xfrm>
            <a:off x="1827244" y="4229530"/>
            <a:ext cx="1723121" cy="685693"/>
          </a:xfrm>
          <a:custGeom>
            <a:avLst/>
            <a:gdLst>
              <a:gd name="TX0" fmla="*/ 0 w 1138816"/>
              <a:gd name="TY0" fmla="*/ 45287 h 452871"/>
              <a:gd name="TX1" fmla="*/ 45287 w 1138816"/>
              <a:gd name="TY1" fmla="*/ 0 h 452871"/>
              <a:gd name="TX2" fmla="*/ 1093527 w 1138816"/>
              <a:gd name="TY2" fmla="*/ 0 h 452871"/>
              <a:gd name="TX3" fmla="*/ 1138814 w 1138816"/>
              <a:gd name="TY3" fmla="*/ 45287 h 452871"/>
              <a:gd name="TX4" fmla="*/ 1138814 w 1138816"/>
              <a:gd name="TY4" fmla="*/ 407582 h 452871"/>
              <a:gd name="TX5" fmla="*/ 1093527 w 1138816"/>
              <a:gd name="TY5" fmla="*/ 452869 h 452871"/>
              <a:gd name="TX6" fmla="*/ 45287 w 1138816"/>
              <a:gd name="TY6" fmla="*/ 452869 h 452871"/>
              <a:gd name="TX7" fmla="*/ 0 w 1138816"/>
              <a:gd name="TY7" fmla="*/ 407582 h 452871"/>
              <a:gd name="TX8" fmla="*/ 0 w 1138816"/>
              <a:gd name="TY8" fmla="*/ 45287 h 452871"/>
            </a:gdLst>
            <a:ahLst/>
            <a:cxnLst>
              <a:cxn ang="0">
                <a:pos x="TX0" y="TY0"/>
              </a:cxn>
              <a:cxn ang="0">
                <a:pos x="TX1" y="TY1"/>
              </a:cxn>
              <a:cxn ang="0">
                <a:pos x="TX2" y="TY2"/>
              </a:cxn>
              <a:cxn ang="0">
                <a:pos x="TX3" y="TY3"/>
              </a:cxn>
              <a:cxn ang="0">
                <a:pos x="TX4" y="TY4"/>
              </a:cxn>
              <a:cxn ang="0">
                <a:pos x="TX5" y="TY5"/>
              </a:cxn>
              <a:cxn ang="0">
                <a:pos x="TX6" y="TY6"/>
              </a:cxn>
              <a:cxn ang="0">
                <a:pos x="TX7" y="TY7"/>
              </a:cxn>
              <a:cxn ang="0">
                <a:pos x="TX8" y="TY8"/>
              </a:cxn>
            </a:cxnLst>
            <a:rect l="l" t="t" r="r" b="b"/>
            <a:pathLst>
              <a:path w="1138816" h="452871">
                <a:moveTo>
                  <a:pt x="0" y="45287"/>
                </a:moveTo>
                <a:cubicBezTo>
                  <a:pt x="0" y="20276"/>
                  <a:pt x="20276" y="0"/>
                  <a:pt x="45287" y="0"/>
                </a:cubicBezTo>
                <a:lnTo>
                  <a:pt x="1093527" y="0"/>
                </a:lnTo>
                <a:cubicBezTo>
                  <a:pt x="1118538" y="0"/>
                  <a:pt x="1138814" y="20276"/>
                  <a:pt x="1138814" y="45287"/>
                </a:cubicBezTo>
                <a:lnTo>
                  <a:pt x="1138814" y="407582"/>
                </a:lnTo>
                <a:cubicBezTo>
                  <a:pt x="1138814" y="432593"/>
                  <a:pt x="1118538" y="452869"/>
                  <a:pt x="1093527" y="452869"/>
                </a:cubicBezTo>
                <a:lnTo>
                  <a:pt x="45287" y="452869"/>
                </a:lnTo>
                <a:cubicBezTo>
                  <a:pt x="20276" y="452869"/>
                  <a:pt x="0" y="432593"/>
                  <a:pt x="0" y="407582"/>
                </a:cubicBezTo>
                <a:lnTo>
                  <a:pt x="0" y="45287"/>
                </a:lnTo>
                <a:close/>
              </a:path>
            </a:pathLst>
          </a:custGeom>
          <a:solidFill>
            <a:srgbClr val="0070C0"/>
          </a:solidFill>
          <a:ln w="0">
            <a:noFill/>
          </a:ln>
        </p:spPr>
        <p:txBody>
          <a:bodyPr vert="horz" wrap="square" lIns="60950" tIns="45077" rIns="60950" bIns="45077" anchor="ctr">
            <a:noAutofit/>
          </a:bodyPr>
          <a:lstStyle/>
          <a:p>
            <a:pPr marL="0" marR="0" lvl="0" indent="0" algn="ctr" defTabSz="1111250" rtl="0" eaLnBrk="0" fontAlgn="auto" latinLnBrk="0" hangingPunct="1">
              <a:lnSpc>
                <a:spcPct val="90000"/>
              </a:lnSpc>
              <a:spcBef>
                <a:spcPts val="0"/>
              </a:spcBef>
              <a:spcAft>
                <a:spcPts val="1000"/>
              </a:spcAft>
              <a:buClrTx/>
              <a:buSzTx/>
              <a:buFontTx/>
              <a:buNone/>
              <a:defRPr/>
            </a:pPr>
            <a:endParaRPr kumimoji="0" lang="ko-KR" altLang="en-US" sz="2800" b="0" i="0" u="none" strike="noStrike" kern="1200" cap="none" spc="0" normalizeH="0" baseline="0" noProof="0" dirty="0">
              <a:ln>
                <a:noFill/>
              </a:ln>
              <a:solidFill>
                <a:srgbClr val="FFFFFF"/>
              </a:solidFill>
              <a:effectLst/>
              <a:uLnTx/>
              <a:uFillTx/>
              <a:ea typeface="Arial" panose="020B0604020202020204" pitchFamily="34" charset="0"/>
              <a:cs typeface="+mn-lt"/>
            </a:endParaRPr>
          </a:p>
        </p:txBody>
      </p:sp>
      <p:sp>
        <p:nvSpPr>
          <p:cNvPr id="46" name="形状 16503"/>
          <p:cNvSpPr/>
          <p:nvPr/>
        </p:nvSpPr>
        <p:spPr>
          <a:xfrm>
            <a:off x="4805564" y="1934417"/>
            <a:ext cx="2642457" cy="2642457"/>
          </a:xfrm>
          <a:prstGeom prst="circularArrow">
            <a:avLst>
              <a:gd name="adj1" fmla="val 2567"/>
              <a:gd name="adj2" fmla="val 311540"/>
              <a:gd name="adj3" fmla="val 19512949"/>
              <a:gd name="adj4" fmla="val 12575511"/>
              <a:gd name="adj5" fmla="val 2994"/>
            </a:avLst>
          </a:prstGeom>
          <a:solidFill>
            <a:srgbClr val="0070C0"/>
          </a:solidFill>
          <a:ln w="0">
            <a:solidFill>
              <a:schemeClr val="accent1"/>
            </a:solidFill>
          </a:ln>
        </p:spPr>
        <p:style>
          <a:lnRef idx="2">
            <a:schemeClr val="accent1"/>
          </a:lnRef>
          <a:fillRef idx="0">
            <a:schemeClr val="accent1"/>
          </a:fillRef>
          <a:effectRef idx="1">
            <a:schemeClr val="accent1"/>
          </a:effectRef>
          <a:fontRef idx="minor">
            <a:schemeClr val="tx1"/>
          </a:fontRef>
        </p:style>
        <p:txBody>
          <a:bodyPr vert="horz" wrap="square" lIns="91425" tIns="45712" rIns="91425" bIns="45712" anchor="t">
            <a:noAutofit/>
          </a:bodyPr>
          <a:lstStyle/>
          <a:p>
            <a:pPr marL="0" marR="0" lvl="0" indent="0" algn="l" defTabSz="914400" rtl="0" eaLnBrk="0" fontAlgn="auto" latinLnBrk="0" hangingPunct="1">
              <a:lnSpc>
                <a:spcPct val="100000"/>
              </a:lnSpc>
              <a:spcBef>
                <a:spcPts val="0"/>
              </a:spcBef>
              <a:spcAft>
                <a:spcPts val="0"/>
              </a:spcAft>
              <a:buClrTx/>
              <a:buSzTx/>
              <a:buFontTx/>
              <a:buNone/>
              <a:defRPr/>
            </a:pPr>
            <a:endParaRPr kumimoji="0" lang="ko-KR" altLang="en-US" sz="2800" b="0" i="0" u="none" strike="noStrike" kern="1200" cap="none" spc="0" normalizeH="0" baseline="0" noProof="0" dirty="0">
              <a:ln>
                <a:noFill/>
              </a:ln>
              <a:solidFill>
                <a:srgbClr val="FFFFFF"/>
              </a:solidFill>
              <a:effectLst/>
              <a:uLnTx/>
              <a:uFillTx/>
              <a:ea typeface="微软雅黑" panose="020B0503020204020204" pitchFamily="34" charset="-122"/>
              <a:cs typeface="+mn-lt"/>
            </a:endParaRPr>
          </a:p>
        </p:txBody>
      </p:sp>
      <p:sp>
        <p:nvSpPr>
          <p:cNvPr id="36" name="形状 16504"/>
          <p:cNvSpPr/>
          <p:nvPr/>
        </p:nvSpPr>
        <p:spPr>
          <a:xfrm>
            <a:off x="3864641" y="2980045"/>
            <a:ext cx="1938352" cy="1598680"/>
          </a:xfrm>
          <a:custGeom>
            <a:avLst/>
            <a:gdLst>
              <a:gd name="TX0" fmla="*/ 0 w 1281168"/>
              <a:gd name="TY0" fmla="*/ 105669 h 1056696"/>
              <a:gd name="TX1" fmla="*/ 105669 w 1281168"/>
              <a:gd name="TY1" fmla="*/ 0 h 1056696"/>
              <a:gd name="TX2" fmla="*/ 1175497 w 1281168"/>
              <a:gd name="TY2" fmla="*/ 0 h 1056696"/>
              <a:gd name="TX3" fmla="*/ 1281166 w 1281168"/>
              <a:gd name="TY3" fmla="*/ 105669 h 1056696"/>
              <a:gd name="TX4" fmla="*/ 1281166 w 1281168"/>
              <a:gd name="TY4" fmla="*/ 951025 h 1056696"/>
              <a:gd name="TX5" fmla="*/ 1175497 w 1281168"/>
              <a:gd name="TY5" fmla="*/ 1056694 h 1056696"/>
              <a:gd name="TX6" fmla="*/ 105669 w 1281168"/>
              <a:gd name="TY6" fmla="*/ 1056694 h 1056696"/>
              <a:gd name="TX7" fmla="*/ 0 w 1281168"/>
              <a:gd name="TY7" fmla="*/ 951025 h 1056696"/>
              <a:gd name="TX8" fmla="*/ 0 w 1281168"/>
              <a:gd name="TY8" fmla="*/ 105669 h 1056696"/>
            </a:gdLst>
            <a:ahLst/>
            <a:cxnLst>
              <a:cxn ang="0">
                <a:pos x="TX0" y="TY0"/>
              </a:cxn>
              <a:cxn ang="0">
                <a:pos x="TX1" y="TY1"/>
              </a:cxn>
              <a:cxn ang="0">
                <a:pos x="TX2" y="TY2"/>
              </a:cxn>
              <a:cxn ang="0">
                <a:pos x="TX3" y="TY3"/>
              </a:cxn>
              <a:cxn ang="0">
                <a:pos x="TX4" y="TY4"/>
              </a:cxn>
              <a:cxn ang="0">
                <a:pos x="TX5" y="TY5"/>
              </a:cxn>
              <a:cxn ang="0">
                <a:pos x="TX6" y="TY6"/>
              </a:cxn>
              <a:cxn ang="0">
                <a:pos x="TX7" y="TY7"/>
              </a:cxn>
              <a:cxn ang="0">
                <a:pos x="TX8" y="TY8"/>
              </a:cxn>
            </a:cxnLst>
            <a:rect l="l" t="t" r="r" b="b"/>
            <a:pathLst>
              <a:path w="1281168" h="1056696">
                <a:moveTo>
                  <a:pt x="0" y="105669"/>
                </a:moveTo>
                <a:cubicBezTo>
                  <a:pt x="0" y="47310"/>
                  <a:pt x="47310" y="0"/>
                  <a:pt x="105669" y="0"/>
                </a:cubicBezTo>
                <a:lnTo>
                  <a:pt x="1175497" y="0"/>
                </a:lnTo>
                <a:cubicBezTo>
                  <a:pt x="1233856" y="0"/>
                  <a:pt x="1281166" y="47310"/>
                  <a:pt x="1281166" y="105669"/>
                </a:cubicBezTo>
                <a:lnTo>
                  <a:pt x="1281166" y="951025"/>
                </a:lnTo>
                <a:cubicBezTo>
                  <a:pt x="1281166" y="1009384"/>
                  <a:pt x="1233856" y="1056694"/>
                  <a:pt x="1175497" y="1056694"/>
                </a:cubicBezTo>
                <a:lnTo>
                  <a:pt x="105669" y="1056694"/>
                </a:lnTo>
                <a:cubicBezTo>
                  <a:pt x="47310" y="1056694"/>
                  <a:pt x="0" y="1009384"/>
                  <a:pt x="0" y="951025"/>
                </a:cubicBezTo>
                <a:lnTo>
                  <a:pt x="0" y="105669"/>
                </a:lnTo>
                <a:close/>
              </a:path>
            </a:pathLst>
          </a:custGeom>
          <a:ln w="28575" cap="flat" cmpd="sng">
            <a:solidFill>
              <a:srgbClr val="014076"/>
            </a:solidFill>
            <a:prstDash val="solid"/>
            <a:round/>
          </a:ln>
        </p:spPr>
        <p:txBody>
          <a:bodyPr vert="horz" wrap="square" lIns="66029" tIns="292689" rIns="66029" bIns="66029" anchor="b">
            <a:noAutofit/>
          </a:bodyPr>
          <a:lstStyle/>
          <a:p>
            <a:pPr marL="228600" marR="0" lvl="0" indent="-228600" algn="l" defTabSz="977900" rtl="0" eaLnBrk="0" fontAlgn="auto" latinLnBrk="0" hangingPunct="1">
              <a:lnSpc>
                <a:spcPct val="90000"/>
              </a:lnSpc>
              <a:spcBef>
                <a:spcPts val="0"/>
              </a:spcBef>
              <a:spcAft>
                <a:spcPts val="300"/>
              </a:spcAft>
              <a:buClr>
                <a:srgbClr val="000000"/>
              </a:buClr>
              <a:buSzTx/>
              <a:buFont typeface="±¼¸²"/>
              <a:buChar char="•"/>
              <a:defRPr/>
            </a:pPr>
            <a:endParaRPr kumimoji="0" lang="ko-KR" altLang="en-US" sz="2800" b="0" i="0" u="none" strike="noStrike" kern="1200" cap="none" spc="0" normalizeH="0" baseline="0" noProof="0" dirty="0">
              <a:ln>
                <a:noFill/>
              </a:ln>
              <a:solidFill>
                <a:srgbClr val="000000"/>
              </a:solidFill>
              <a:effectLst/>
              <a:uLnTx/>
              <a:uFillTx/>
              <a:ea typeface="Arial" panose="020B0604020202020204" pitchFamily="34" charset="0"/>
              <a:cs typeface="+mn-lt"/>
            </a:endParaRPr>
          </a:p>
        </p:txBody>
      </p:sp>
      <p:sp>
        <p:nvSpPr>
          <p:cNvPr id="48" name="形状 16505"/>
          <p:cNvSpPr/>
          <p:nvPr/>
        </p:nvSpPr>
        <p:spPr>
          <a:xfrm>
            <a:off x="4294469" y="2637198"/>
            <a:ext cx="1723121" cy="685693"/>
          </a:xfrm>
          <a:custGeom>
            <a:avLst/>
            <a:gdLst>
              <a:gd name="TX0" fmla="*/ 0 w 1138816"/>
              <a:gd name="TY0" fmla="*/ 45287 h 452871"/>
              <a:gd name="TX1" fmla="*/ 45287 w 1138816"/>
              <a:gd name="TY1" fmla="*/ 0 h 452871"/>
              <a:gd name="TX2" fmla="*/ 1093527 w 1138816"/>
              <a:gd name="TY2" fmla="*/ 0 h 452871"/>
              <a:gd name="TX3" fmla="*/ 1138814 w 1138816"/>
              <a:gd name="TY3" fmla="*/ 45287 h 452871"/>
              <a:gd name="TX4" fmla="*/ 1138814 w 1138816"/>
              <a:gd name="TY4" fmla="*/ 407582 h 452871"/>
              <a:gd name="TX5" fmla="*/ 1093527 w 1138816"/>
              <a:gd name="TY5" fmla="*/ 452869 h 452871"/>
              <a:gd name="TX6" fmla="*/ 45287 w 1138816"/>
              <a:gd name="TY6" fmla="*/ 452869 h 452871"/>
              <a:gd name="TX7" fmla="*/ 0 w 1138816"/>
              <a:gd name="TY7" fmla="*/ 407582 h 452871"/>
              <a:gd name="TX8" fmla="*/ 0 w 1138816"/>
              <a:gd name="TY8" fmla="*/ 45287 h 452871"/>
            </a:gdLst>
            <a:ahLst/>
            <a:cxnLst>
              <a:cxn ang="0">
                <a:pos x="TX0" y="TY0"/>
              </a:cxn>
              <a:cxn ang="0">
                <a:pos x="TX1" y="TY1"/>
              </a:cxn>
              <a:cxn ang="0">
                <a:pos x="TX2" y="TY2"/>
              </a:cxn>
              <a:cxn ang="0">
                <a:pos x="TX3" y="TY3"/>
              </a:cxn>
              <a:cxn ang="0">
                <a:pos x="TX4" y="TY4"/>
              </a:cxn>
              <a:cxn ang="0">
                <a:pos x="TX5" y="TY5"/>
              </a:cxn>
              <a:cxn ang="0">
                <a:pos x="TX6" y="TY6"/>
              </a:cxn>
              <a:cxn ang="0">
                <a:pos x="TX7" y="TY7"/>
              </a:cxn>
              <a:cxn ang="0">
                <a:pos x="TX8" y="TY8"/>
              </a:cxn>
            </a:cxnLst>
            <a:rect l="l" t="t" r="r" b="b"/>
            <a:pathLst>
              <a:path w="1138816" h="452871">
                <a:moveTo>
                  <a:pt x="0" y="45287"/>
                </a:moveTo>
                <a:cubicBezTo>
                  <a:pt x="0" y="20276"/>
                  <a:pt x="20276" y="0"/>
                  <a:pt x="45287" y="0"/>
                </a:cubicBezTo>
                <a:lnTo>
                  <a:pt x="1093527" y="0"/>
                </a:lnTo>
                <a:cubicBezTo>
                  <a:pt x="1118538" y="0"/>
                  <a:pt x="1138814" y="20276"/>
                  <a:pt x="1138814" y="45287"/>
                </a:cubicBezTo>
                <a:lnTo>
                  <a:pt x="1138814" y="407582"/>
                </a:lnTo>
                <a:cubicBezTo>
                  <a:pt x="1138814" y="432593"/>
                  <a:pt x="1118538" y="452869"/>
                  <a:pt x="1093527" y="452869"/>
                </a:cubicBezTo>
                <a:lnTo>
                  <a:pt x="45287" y="452869"/>
                </a:lnTo>
                <a:cubicBezTo>
                  <a:pt x="20276" y="452869"/>
                  <a:pt x="0" y="432593"/>
                  <a:pt x="0" y="407582"/>
                </a:cubicBezTo>
                <a:lnTo>
                  <a:pt x="0" y="45287"/>
                </a:lnTo>
                <a:close/>
              </a:path>
            </a:pathLst>
          </a:custGeom>
          <a:solidFill>
            <a:srgbClr val="0070C0"/>
          </a:solidFill>
          <a:ln w="0">
            <a:noFill/>
          </a:ln>
        </p:spPr>
        <p:txBody>
          <a:bodyPr vert="horz" wrap="square" lIns="60950" tIns="45077" rIns="60950" bIns="45077" anchor="ctr">
            <a:noAutofit/>
          </a:bodyPr>
          <a:lstStyle/>
          <a:p>
            <a:pPr marL="0" marR="0" lvl="0" indent="0" algn="ctr" defTabSz="1111250" rtl="0" eaLnBrk="0" fontAlgn="auto" latinLnBrk="0" hangingPunct="1">
              <a:lnSpc>
                <a:spcPct val="90000"/>
              </a:lnSpc>
              <a:spcBef>
                <a:spcPts val="0"/>
              </a:spcBef>
              <a:spcAft>
                <a:spcPts val="1000"/>
              </a:spcAft>
              <a:buClrTx/>
              <a:buSzTx/>
              <a:buFontTx/>
              <a:buNone/>
              <a:defRPr/>
            </a:pPr>
            <a:endParaRPr kumimoji="0" lang="ko-KR" altLang="en-US" sz="2800" b="0" i="0" u="none" strike="noStrike" kern="1200" cap="none" spc="0" normalizeH="0" baseline="0" noProof="0" dirty="0">
              <a:ln>
                <a:noFill/>
              </a:ln>
              <a:solidFill>
                <a:srgbClr val="FFFFFF"/>
              </a:solidFill>
              <a:effectLst/>
              <a:uLnTx/>
              <a:uFillTx/>
              <a:ea typeface="Arial" panose="020B0604020202020204" pitchFamily="34" charset="0"/>
              <a:cs typeface="+mn-lt"/>
            </a:endParaRPr>
          </a:p>
        </p:txBody>
      </p:sp>
      <p:sp>
        <p:nvSpPr>
          <p:cNvPr id="49" name="形状 16506"/>
          <p:cNvSpPr/>
          <p:nvPr/>
        </p:nvSpPr>
        <p:spPr>
          <a:xfrm>
            <a:off x="6315993" y="2999092"/>
            <a:ext cx="1938352" cy="1598680"/>
          </a:xfrm>
          <a:custGeom>
            <a:avLst/>
            <a:gdLst>
              <a:gd name="TX0" fmla="*/ 0 w 1281168"/>
              <a:gd name="TY0" fmla="*/ 105669 h 1056696"/>
              <a:gd name="TX1" fmla="*/ 105669 w 1281168"/>
              <a:gd name="TY1" fmla="*/ 0 h 1056696"/>
              <a:gd name="TX2" fmla="*/ 1175497 w 1281168"/>
              <a:gd name="TY2" fmla="*/ 0 h 1056696"/>
              <a:gd name="TX3" fmla="*/ 1281166 w 1281168"/>
              <a:gd name="TY3" fmla="*/ 105669 h 1056696"/>
              <a:gd name="TX4" fmla="*/ 1281166 w 1281168"/>
              <a:gd name="TY4" fmla="*/ 951025 h 1056696"/>
              <a:gd name="TX5" fmla="*/ 1175497 w 1281168"/>
              <a:gd name="TY5" fmla="*/ 1056694 h 1056696"/>
              <a:gd name="TX6" fmla="*/ 105669 w 1281168"/>
              <a:gd name="TY6" fmla="*/ 1056694 h 1056696"/>
              <a:gd name="TX7" fmla="*/ 0 w 1281168"/>
              <a:gd name="TY7" fmla="*/ 951025 h 1056696"/>
              <a:gd name="TX8" fmla="*/ 0 w 1281168"/>
              <a:gd name="TY8" fmla="*/ 105669 h 1056696"/>
            </a:gdLst>
            <a:ahLst/>
            <a:cxnLst>
              <a:cxn ang="0">
                <a:pos x="TX0" y="TY0"/>
              </a:cxn>
              <a:cxn ang="0">
                <a:pos x="TX1" y="TY1"/>
              </a:cxn>
              <a:cxn ang="0">
                <a:pos x="TX2" y="TY2"/>
              </a:cxn>
              <a:cxn ang="0">
                <a:pos x="TX3" y="TY3"/>
              </a:cxn>
              <a:cxn ang="0">
                <a:pos x="TX4" y="TY4"/>
              </a:cxn>
              <a:cxn ang="0">
                <a:pos x="TX5" y="TY5"/>
              </a:cxn>
              <a:cxn ang="0">
                <a:pos x="TX6" y="TY6"/>
              </a:cxn>
              <a:cxn ang="0">
                <a:pos x="TX7" y="TY7"/>
              </a:cxn>
              <a:cxn ang="0">
                <a:pos x="TX8" y="TY8"/>
              </a:cxn>
            </a:cxnLst>
            <a:rect l="l" t="t" r="r" b="b"/>
            <a:pathLst>
              <a:path w="1281168" h="1056696">
                <a:moveTo>
                  <a:pt x="0" y="105669"/>
                </a:moveTo>
                <a:cubicBezTo>
                  <a:pt x="0" y="47310"/>
                  <a:pt x="47310" y="0"/>
                  <a:pt x="105669" y="0"/>
                </a:cubicBezTo>
                <a:lnTo>
                  <a:pt x="1175497" y="0"/>
                </a:lnTo>
                <a:cubicBezTo>
                  <a:pt x="1233856" y="0"/>
                  <a:pt x="1281166" y="47310"/>
                  <a:pt x="1281166" y="105669"/>
                </a:cubicBezTo>
                <a:lnTo>
                  <a:pt x="1281166" y="951025"/>
                </a:lnTo>
                <a:cubicBezTo>
                  <a:pt x="1281166" y="1009384"/>
                  <a:pt x="1233856" y="1056694"/>
                  <a:pt x="1175497" y="1056694"/>
                </a:cubicBezTo>
                <a:lnTo>
                  <a:pt x="105669" y="1056694"/>
                </a:lnTo>
                <a:cubicBezTo>
                  <a:pt x="47310" y="1056694"/>
                  <a:pt x="0" y="1009384"/>
                  <a:pt x="0" y="951025"/>
                </a:cubicBezTo>
                <a:lnTo>
                  <a:pt x="0" y="105669"/>
                </a:lnTo>
                <a:close/>
              </a:path>
            </a:pathLst>
          </a:custGeom>
          <a:ln w="28575" cap="flat" cmpd="sng">
            <a:solidFill>
              <a:srgbClr val="014076"/>
            </a:solidFill>
            <a:prstDash val="solid"/>
            <a:round/>
          </a:ln>
        </p:spPr>
        <p:txBody>
          <a:bodyPr vert="horz" wrap="square" lIns="91425" tIns="66029" rIns="66029" bIns="91425" anchor="t">
            <a:noAutofit/>
          </a:bodyPr>
          <a:lstStyle/>
          <a:p>
            <a:pPr marL="228600" marR="0" lvl="0" indent="-228600" algn="l" defTabSz="977900" rtl="0" eaLnBrk="0" fontAlgn="auto" latinLnBrk="0" hangingPunct="1">
              <a:lnSpc>
                <a:spcPct val="90000"/>
              </a:lnSpc>
              <a:spcBef>
                <a:spcPts val="0"/>
              </a:spcBef>
              <a:spcAft>
                <a:spcPts val="300"/>
              </a:spcAft>
              <a:buClr>
                <a:srgbClr val="000000"/>
              </a:buClr>
              <a:buSzTx/>
              <a:buFont typeface="±¼¸²"/>
              <a:buChar char="•"/>
              <a:defRPr/>
            </a:pPr>
            <a:endParaRPr kumimoji="0" lang="ko-KR" altLang="en-US" sz="2800" b="0" i="0" u="none" strike="noStrike" kern="1200" cap="none" spc="0" normalizeH="0" baseline="0" noProof="0" dirty="0">
              <a:ln>
                <a:noFill/>
              </a:ln>
              <a:solidFill>
                <a:srgbClr val="000000"/>
              </a:solidFill>
              <a:effectLst/>
              <a:uLnTx/>
              <a:uFillTx/>
              <a:ea typeface="Arial" panose="020B0604020202020204" pitchFamily="34" charset="0"/>
              <a:cs typeface="+mn-lt"/>
            </a:endParaRPr>
          </a:p>
        </p:txBody>
      </p:sp>
      <p:sp>
        <p:nvSpPr>
          <p:cNvPr id="50" name="形状 16507"/>
          <p:cNvSpPr/>
          <p:nvPr/>
        </p:nvSpPr>
        <p:spPr>
          <a:xfrm>
            <a:off x="6745821" y="4260005"/>
            <a:ext cx="1723121" cy="685693"/>
          </a:xfrm>
          <a:custGeom>
            <a:avLst/>
            <a:gdLst>
              <a:gd name="TX0" fmla="*/ 0 w 1138816"/>
              <a:gd name="TY0" fmla="*/ 45287 h 452871"/>
              <a:gd name="TX1" fmla="*/ 45287 w 1138816"/>
              <a:gd name="TY1" fmla="*/ 0 h 452871"/>
              <a:gd name="TX2" fmla="*/ 1093527 w 1138816"/>
              <a:gd name="TY2" fmla="*/ 0 h 452871"/>
              <a:gd name="TX3" fmla="*/ 1138814 w 1138816"/>
              <a:gd name="TY3" fmla="*/ 45287 h 452871"/>
              <a:gd name="TX4" fmla="*/ 1138814 w 1138816"/>
              <a:gd name="TY4" fmla="*/ 407582 h 452871"/>
              <a:gd name="TX5" fmla="*/ 1093527 w 1138816"/>
              <a:gd name="TY5" fmla="*/ 452869 h 452871"/>
              <a:gd name="TX6" fmla="*/ 45287 w 1138816"/>
              <a:gd name="TY6" fmla="*/ 452869 h 452871"/>
              <a:gd name="TX7" fmla="*/ 0 w 1138816"/>
              <a:gd name="TY7" fmla="*/ 407582 h 452871"/>
              <a:gd name="TX8" fmla="*/ 0 w 1138816"/>
              <a:gd name="TY8" fmla="*/ 45287 h 452871"/>
            </a:gdLst>
            <a:ahLst/>
            <a:cxnLst>
              <a:cxn ang="0">
                <a:pos x="TX0" y="TY0"/>
              </a:cxn>
              <a:cxn ang="0">
                <a:pos x="TX1" y="TY1"/>
              </a:cxn>
              <a:cxn ang="0">
                <a:pos x="TX2" y="TY2"/>
              </a:cxn>
              <a:cxn ang="0">
                <a:pos x="TX3" y="TY3"/>
              </a:cxn>
              <a:cxn ang="0">
                <a:pos x="TX4" y="TY4"/>
              </a:cxn>
              <a:cxn ang="0">
                <a:pos x="TX5" y="TY5"/>
              </a:cxn>
              <a:cxn ang="0">
                <a:pos x="TX6" y="TY6"/>
              </a:cxn>
              <a:cxn ang="0">
                <a:pos x="TX7" y="TY7"/>
              </a:cxn>
              <a:cxn ang="0">
                <a:pos x="TX8" y="TY8"/>
              </a:cxn>
            </a:cxnLst>
            <a:rect l="l" t="t" r="r" b="b"/>
            <a:pathLst>
              <a:path w="1138816" h="452871">
                <a:moveTo>
                  <a:pt x="0" y="45287"/>
                </a:moveTo>
                <a:cubicBezTo>
                  <a:pt x="0" y="20276"/>
                  <a:pt x="20276" y="0"/>
                  <a:pt x="45287" y="0"/>
                </a:cubicBezTo>
                <a:lnTo>
                  <a:pt x="1093527" y="0"/>
                </a:lnTo>
                <a:cubicBezTo>
                  <a:pt x="1118538" y="0"/>
                  <a:pt x="1138814" y="20276"/>
                  <a:pt x="1138814" y="45287"/>
                </a:cubicBezTo>
                <a:lnTo>
                  <a:pt x="1138814" y="407582"/>
                </a:lnTo>
                <a:cubicBezTo>
                  <a:pt x="1138814" y="432593"/>
                  <a:pt x="1118538" y="452869"/>
                  <a:pt x="1093527" y="452869"/>
                </a:cubicBezTo>
                <a:lnTo>
                  <a:pt x="45287" y="452869"/>
                </a:lnTo>
                <a:cubicBezTo>
                  <a:pt x="20276" y="452869"/>
                  <a:pt x="0" y="432593"/>
                  <a:pt x="0" y="407582"/>
                </a:cubicBezTo>
                <a:lnTo>
                  <a:pt x="0" y="45287"/>
                </a:lnTo>
                <a:close/>
              </a:path>
            </a:pathLst>
          </a:custGeom>
          <a:solidFill>
            <a:srgbClr val="0070C0"/>
          </a:solidFill>
          <a:ln w="0">
            <a:noFill/>
          </a:ln>
        </p:spPr>
        <p:txBody>
          <a:bodyPr vert="horz" wrap="square" lIns="60950" tIns="45077" rIns="60950" bIns="45077" anchor="ctr">
            <a:noAutofit/>
          </a:bodyPr>
          <a:lstStyle/>
          <a:p>
            <a:pPr marL="0" marR="0" lvl="0" indent="0" algn="ctr" defTabSz="1111250" rtl="0" eaLnBrk="0" fontAlgn="auto" latinLnBrk="0" hangingPunct="1">
              <a:lnSpc>
                <a:spcPct val="90000"/>
              </a:lnSpc>
              <a:spcBef>
                <a:spcPts val="0"/>
              </a:spcBef>
              <a:spcAft>
                <a:spcPts val="1000"/>
              </a:spcAft>
              <a:buClrTx/>
              <a:buSzTx/>
              <a:buFontTx/>
              <a:buNone/>
              <a:defRPr/>
            </a:pPr>
            <a:endParaRPr kumimoji="0" lang="ko-KR" altLang="en-US" sz="2800" b="0" i="0" u="none" strike="noStrike" kern="1200" cap="none" spc="0" normalizeH="0" baseline="0" noProof="0" dirty="0">
              <a:ln>
                <a:noFill/>
              </a:ln>
              <a:solidFill>
                <a:srgbClr val="FFFFFF"/>
              </a:solidFill>
              <a:effectLst/>
              <a:uLnTx/>
              <a:uFillTx/>
              <a:ea typeface="Arial" panose="020B0604020202020204" pitchFamily="34" charset="0"/>
              <a:cs typeface="+mn-lt"/>
            </a:endParaRPr>
          </a:p>
        </p:txBody>
      </p:sp>
      <p:sp>
        <p:nvSpPr>
          <p:cNvPr id="51" name="形状 16508"/>
          <p:cNvSpPr/>
          <p:nvPr/>
        </p:nvSpPr>
        <p:spPr>
          <a:xfrm>
            <a:off x="8766710" y="2997822"/>
            <a:ext cx="1938352" cy="1598680"/>
          </a:xfrm>
          <a:custGeom>
            <a:avLst/>
            <a:gdLst>
              <a:gd name="TX0" fmla="*/ 0 w 1281168"/>
              <a:gd name="TY0" fmla="*/ 105669 h 1056696"/>
              <a:gd name="TX1" fmla="*/ 105669 w 1281168"/>
              <a:gd name="TY1" fmla="*/ 0 h 1056696"/>
              <a:gd name="TX2" fmla="*/ 1175497 w 1281168"/>
              <a:gd name="TY2" fmla="*/ 0 h 1056696"/>
              <a:gd name="TX3" fmla="*/ 1281166 w 1281168"/>
              <a:gd name="TY3" fmla="*/ 105669 h 1056696"/>
              <a:gd name="TX4" fmla="*/ 1281166 w 1281168"/>
              <a:gd name="TY4" fmla="*/ 951025 h 1056696"/>
              <a:gd name="TX5" fmla="*/ 1175497 w 1281168"/>
              <a:gd name="TY5" fmla="*/ 1056694 h 1056696"/>
              <a:gd name="TX6" fmla="*/ 105669 w 1281168"/>
              <a:gd name="TY6" fmla="*/ 1056694 h 1056696"/>
              <a:gd name="TX7" fmla="*/ 0 w 1281168"/>
              <a:gd name="TY7" fmla="*/ 951025 h 1056696"/>
              <a:gd name="TX8" fmla="*/ 0 w 1281168"/>
              <a:gd name="TY8" fmla="*/ 105669 h 1056696"/>
            </a:gdLst>
            <a:ahLst/>
            <a:cxnLst>
              <a:cxn ang="0">
                <a:pos x="TX0" y="TY0"/>
              </a:cxn>
              <a:cxn ang="0">
                <a:pos x="TX1" y="TY1"/>
              </a:cxn>
              <a:cxn ang="0">
                <a:pos x="TX2" y="TY2"/>
              </a:cxn>
              <a:cxn ang="0">
                <a:pos x="TX3" y="TY3"/>
              </a:cxn>
              <a:cxn ang="0">
                <a:pos x="TX4" y="TY4"/>
              </a:cxn>
              <a:cxn ang="0">
                <a:pos x="TX5" y="TY5"/>
              </a:cxn>
              <a:cxn ang="0">
                <a:pos x="TX6" y="TY6"/>
              </a:cxn>
              <a:cxn ang="0">
                <a:pos x="TX7" y="TY7"/>
              </a:cxn>
              <a:cxn ang="0">
                <a:pos x="TX8" y="TY8"/>
              </a:cxn>
            </a:cxnLst>
            <a:rect l="l" t="t" r="r" b="b"/>
            <a:pathLst>
              <a:path w="1281168" h="1056696">
                <a:moveTo>
                  <a:pt x="0" y="105669"/>
                </a:moveTo>
                <a:cubicBezTo>
                  <a:pt x="0" y="47310"/>
                  <a:pt x="47310" y="0"/>
                  <a:pt x="105669" y="0"/>
                </a:cubicBezTo>
                <a:lnTo>
                  <a:pt x="1175497" y="0"/>
                </a:lnTo>
                <a:cubicBezTo>
                  <a:pt x="1233856" y="0"/>
                  <a:pt x="1281166" y="47310"/>
                  <a:pt x="1281166" y="105669"/>
                </a:cubicBezTo>
                <a:lnTo>
                  <a:pt x="1281166" y="951025"/>
                </a:lnTo>
                <a:cubicBezTo>
                  <a:pt x="1281166" y="1009384"/>
                  <a:pt x="1233856" y="1056694"/>
                  <a:pt x="1175497" y="1056694"/>
                </a:cubicBezTo>
                <a:lnTo>
                  <a:pt x="105669" y="1056694"/>
                </a:lnTo>
                <a:cubicBezTo>
                  <a:pt x="47310" y="1056694"/>
                  <a:pt x="0" y="1009384"/>
                  <a:pt x="0" y="951025"/>
                </a:cubicBezTo>
                <a:lnTo>
                  <a:pt x="0" y="105669"/>
                </a:lnTo>
                <a:close/>
              </a:path>
            </a:pathLst>
          </a:custGeom>
          <a:ln w="28575" cap="flat" cmpd="sng">
            <a:solidFill>
              <a:srgbClr val="014076"/>
            </a:solidFill>
            <a:prstDash val="solid"/>
            <a:round/>
          </a:ln>
        </p:spPr>
        <p:txBody>
          <a:bodyPr vert="horz" wrap="square" lIns="66029" tIns="292689" rIns="66029" bIns="66029" anchor="b">
            <a:noAutofit/>
          </a:bodyPr>
          <a:lstStyle/>
          <a:p>
            <a:pPr marL="228600" marR="0" lvl="0" indent="-228600" algn="l" defTabSz="977900" rtl="0" eaLnBrk="0" fontAlgn="auto" latinLnBrk="0" hangingPunct="1">
              <a:lnSpc>
                <a:spcPct val="90000"/>
              </a:lnSpc>
              <a:spcBef>
                <a:spcPts val="0"/>
              </a:spcBef>
              <a:spcAft>
                <a:spcPts val="300"/>
              </a:spcAft>
              <a:buClr>
                <a:srgbClr val="000000"/>
              </a:buClr>
              <a:buSzTx/>
              <a:buFont typeface="±¼¸²"/>
              <a:buChar char="•"/>
              <a:defRPr/>
            </a:pPr>
            <a:endParaRPr kumimoji="0" lang="ko-KR" altLang="en-US" sz="2800" b="0" i="0" u="none" strike="noStrike" kern="1200" cap="none" spc="0" normalizeH="0" baseline="0" noProof="0" dirty="0">
              <a:ln>
                <a:noFill/>
              </a:ln>
              <a:solidFill>
                <a:srgbClr val="000000"/>
              </a:solidFill>
              <a:effectLst/>
              <a:uLnTx/>
              <a:uFillTx/>
              <a:ea typeface="Arial" panose="020B0604020202020204" pitchFamily="34" charset="0"/>
              <a:cs typeface="+mn-lt"/>
            </a:endParaRPr>
          </a:p>
        </p:txBody>
      </p:sp>
      <p:sp>
        <p:nvSpPr>
          <p:cNvPr id="52" name="形状 16509"/>
          <p:cNvSpPr/>
          <p:nvPr/>
        </p:nvSpPr>
        <p:spPr>
          <a:xfrm>
            <a:off x="9197173" y="2649262"/>
            <a:ext cx="1723121" cy="685693"/>
          </a:xfrm>
          <a:custGeom>
            <a:avLst/>
            <a:gdLst>
              <a:gd name="TX0" fmla="*/ 0 w 1138816"/>
              <a:gd name="TY0" fmla="*/ 45287 h 452871"/>
              <a:gd name="TX1" fmla="*/ 45287 w 1138816"/>
              <a:gd name="TY1" fmla="*/ 0 h 452871"/>
              <a:gd name="TX2" fmla="*/ 1093527 w 1138816"/>
              <a:gd name="TY2" fmla="*/ 0 h 452871"/>
              <a:gd name="TX3" fmla="*/ 1138814 w 1138816"/>
              <a:gd name="TY3" fmla="*/ 45287 h 452871"/>
              <a:gd name="TX4" fmla="*/ 1138814 w 1138816"/>
              <a:gd name="TY4" fmla="*/ 407582 h 452871"/>
              <a:gd name="TX5" fmla="*/ 1093527 w 1138816"/>
              <a:gd name="TY5" fmla="*/ 452869 h 452871"/>
              <a:gd name="TX6" fmla="*/ 45287 w 1138816"/>
              <a:gd name="TY6" fmla="*/ 452869 h 452871"/>
              <a:gd name="TX7" fmla="*/ 0 w 1138816"/>
              <a:gd name="TY7" fmla="*/ 407582 h 452871"/>
              <a:gd name="TX8" fmla="*/ 0 w 1138816"/>
              <a:gd name="TY8" fmla="*/ 45287 h 452871"/>
            </a:gdLst>
            <a:ahLst/>
            <a:cxnLst>
              <a:cxn ang="0">
                <a:pos x="TX0" y="TY0"/>
              </a:cxn>
              <a:cxn ang="0">
                <a:pos x="TX1" y="TY1"/>
              </a:cxn>
              <a:cxn ang="0">
                <a:pos x="TX2" y="TY2"/>
              </a:cxn>
              <a:cxn ang="0">
                <a:pos x="TX3" y="TY3"/>
              </a:cxn>
              <a:cxn ang="0">
                <a:pos x="TX4" y="TY4"/>
              </a:cxn>
              <a:cxn ang="0">
                <a:pos x="TX5" y="TY5"/>
              </a:cxn>
              <a:cxn ang="0">
                <a:pos x="TX6" y="TY6"/>
              </a:cxn>
              <a:cxn ang="0">
                <a:pos x="TX7" y="TY7"/>
              </a:cxn>
              <a:cxn ang="0">
                <a:pos x="TX8" y="TY8"/>
              </a:cxn>
            </a:cxnLst>
            <a:rect l="l" t="t" r="r" b="b"/>
            <a:pathLst>
              <a:path w="1138816" h="452871">
                <a:moveTo>
                  <a:pt x="0" y="45287"/>
                </a:moveTo>
                <a:cubicBezTo>
                  <a:pt x="0" y="20276"/>
                  <a:pt x="20276" y="0"/>
                  <a:pt x="45287" y="0"/>
                </a:cubicBezTo>
                <a:lnTo>
                  <a:pt x="1093527" y="0"/>
                </a:lnTo>
                <a:cubicBezTo>
                  <a:pt x="1118538" y="0"/>
                  <a:pt x="1138814" y="20276"/>
                  <a:pt x="1138814" y="45287"/>
                </a:cubicBezTo>
                <a:lnTo>
                  <a:pt x="1138814" y="407582"/>
                </a:lnTo>
                <a:cubicBezTo>
                  <a:pt x="1138814" y="432593"/>
                  <a:pt x="1118538" y="452869"/>
                  <a:pt x="1093527" y="452869"/>
                </a:cubicBezTo>
                <a:lnTo>
                  <a:pt x="45287" y="452869"/>
                </a:lnTo>
                <a:cubicBezTo>
                  <a:pt x="20276" y="452869"/>
                  <a:pt x="0" y="432593"/>
                  <a:pt x="0" y="407582"/>
                </a:cubicBezTo>
                <a:lnTo>
                  <a:pt x="0" y="45287"/>
                </a:lnTo>
                <a:close/>
              </a:path>
            </a:pathLst>
          </a:custGeom>
          <a:solidFill>
            <a:srgbClr val="0070C0"/>
          </a:solidFill>
          <a:ln w="0">
            <a:noFill/>
          </a:ln>
        </p:spPr>
        <p:txBody>
          <a:bodyPr vert="horz" wrap="square" lIns="60950" tIns="45077" rIns="60950" bIns="45077" anchor="ctr">
            <a:noAutofit/>
          </a:bodyPr>
          <a:lstStyle/>
          <a:p>
            <a:pPr marL="0" marR="0" lvl="0" indent="0" algn="ctr" defTabSz="1111250" rtl="0" eaLnBrk="0" fontAlgn="auto" latinLnBrk="0" hangingPunct="1">
              <a:lnSpc>
                <a:spcPct val="90000"/>
              </a:lnSpc>
              <a:spcBef>
                <a:spcPts val="0"/>
              </a:spcBef>
              <a:spcAft>
                <a:spcPts val="1000"/>
              </a:spcAft>
              <a:buClrTx/>
              <a:buSzTx/>
              <a:buFontTx/>
              <a:buNone/>
              <a:defRPr/>
            </a:pPr>
            <a:endParaRPr kumimoji="0" lang="ko-KR" altLang="en-US" sz="2800" b="0" i="0" u="none" strike="noStrike" kern="1200" cap="none" spc="0" normalizeH="0" baseline="0" noProof="0" dirty="0">
              <a:ln>
                <a:noFill/>
              </a:ln>
              <a:solidFill>
                <a:srgbClr val="FFFFFF"/>
              </a:solidFill>
              <a:effectLst/>
              <a:uLnTx/>
              <a:uFillTx/>
              <a:ea typeface="Arial" panose="020B0604020202020204" pitchFamily="34" charset="0"/>
              <a:cs typeface="+mn-lt"/>
            </a:endParaRPr>
          </a:p>
        </p:txBody>
      </p:sp>
      <p:sp>
        <p:nvSpPr>
          <p:cNvPr id="53" name="文本框 52"/>
          <p:cNvSpPr txBox="1"/>
          <p:nvPr/>
        </p:nvSpPr>
        <p:spPr>
          <a:xfrm>
            <a:off x="1774825" y="4404995"/>
            <a:ext cx="1807845" cy="335915"/>
          </a:xfrm>
          <a:prstGeom prst="rect">
            <a:avLst/>
          </a:prstGeom>
          <a:noFill/>
        </p:spPr>
        <p:txBody>
          <a:bodyPr vert="horz" wrap="square" lIns="91425" tIns="45712" rIns="91425" bIns="45712" anchor="t">
            <a:spAutoFit/>
          </a:bodyPr>
          <a:lstStyle/>
          <a:p>
            <a:pPr marL="0" marR="0" lvl="0" indent="0" algn="ctr" defTabSz="508000" rtl="0" eaLnBrk="0" fontAlgn="auto" latinLnBrk="0" hangingPunct="1">
              <a:lnSpc>
                <a:spcPct val="100000"/>
              </a:lnSpc>
              <a:spcBef>
                <a:spcPts val="0"/>
              </a:spcBef>
              <a:spcAft>
                <a:spcPts val="0"/>
              </a:spcAft>
              <a:buClrTx/>
              <a:buSzTx/>
              <a:buFontTx/>
              <a:buNone/>
              <a:defRPr/>
            </a:pPr>
            <a:r>
              <a:rPr lang="zh-CN" altLang="en-US" sz="1600" b="1" noProof="0" dirty="0">
                <a:ln>
                  <a:noFill/>
                </a:ln>
                <a:solidFill>
                  <a:schemeClr val="bg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1.绘制状态迁移图</a:t>
            </a:r>
          </a:p>
        </p:txBody>
      </p:sp>
      <p:sp>
        <p:nvSpPr>
          <p:cNvPr id="54" name="文本框 53"/>
          <p:cNvSpPr txBox="1"/>
          <p:nvPr/>
        </p:nvSpPr>
        <p:spPr>
          <a:xfrm>
            <a:off x="4201160" y="2823845"/>
            <a:ext cx="1910080" cy="335915"/>
          </a:xfrm>
          <a:prstGeom prst="rect">
            <a:avLst/>
          </a:prstGeom>
          <a:noFill/>
        </p:spPr>
        <p:txBody>
          <a:bodyPr vert="horz" wrap="square" lIns="91425" tIns="45712" rIns="91425" bIns="45712" anchor="t">
            <a:spAutoFit/>
          </a:bodyPr>
          <a:lstStyle/>
          <a:p>
            <a:pPr marL="0" marR="0" lvl="0" indent="0" algn="ctr" defTabSz="508000" rtl="0" eaLnBrk="0" fontAlgn="auto" latinLnBrk="0" hangingPunct="1">
              <a:lnSpc>
                <a:spcPct val="100000"/>
              </a:lnSpc>
              <a:spcBef>
                <a:spcPts val="0"/>
              </a:spcBef>
              <a:spcAft>
                <a:spcPts val="0"/>
              </a:spcAft>
              <a:buClrTx/>
              <a:buSzTx/>
              <a:buFontTx/>
              <a:buNone/>
              <a:defRPr/>
            </a:pPr>
            <a:r>
              <a:rPr lang="zh-CN" altLang="en-US" sz="1600" b="1" noProof="0" dirty="0">
                <a:ln>
                  <a:noFill/>
                </a:ln>
                <a:solidFill>
                  <a:schemeClr val="bg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2.列出状态-事件表</a:t>
            </a:r>
          </a:p>
        </p:txBody>
      </p:sp>
      <p:sp>
        <p:nvSpPr>
          <p:cNvPr id="55" name="文本框 54"/>
          <p:cNvSpPr txBox="1"/>
          <p:nvPr/>
        </p:nvSpPr>
        <p:spPr>
          <a:xfrm>
            <a:off x="6671310" y="4293870"/>
            <a:ext cx="1891030" cy="695325"/>
          </a:xfrm>
          <a:prstGeom prst="rect">
            <a:avLst/>
          </a:prstGeom>
          <a:noFill/>
        </p:spPr>
        <p:txBody>
          <a:bodyPr vert="horz" wrap="square" lIns="91425" tIns="45712" rIns="91425" bIns="45712" anchor="t">
            <a:noAutofit/>
          </a:bodyPr>
          <a:lstStyle/>
          <a:p>
            <a:pPr marL="0" marR="0" lvl="0" indent="0" algn="ctr" defTabSz="914400" rtl="0" eaLnBrk="0" fontAlgn="auto" latinLnBrk="0" hangingPunct="1">
              <a:lnSpc>
                <a:spcPct val="100000"/>
              </a:lnSpc>
              <a:spcBef>
                <a:spcPts val="0"/>
              </a:spcBef>
              <a:spcAft>
                <a:spcPts val="0"/>
              </a:spcAft>
              <a:buClrTx/>
              <a:buSzTx/>
              <a:buFontTx/>
              <a:buNone/>
              <a:defRPr/>
            </a:pPr>
            <a:r>
              <a:rPr lang="zh-CN" altLang="en-US" sz="1600" b="1" noProof="0" dirty="0">
                <a:ln>
                  <a:noFill/>
                </a:ln>
                <a:solidFill>
                  <a:schemeClr val="bg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3.绘制状态转换树并推导测试路径</a:t>
            </a:r>
          </a:p>
          <a:p>
            <a:pPr marL="0" marR="0" lvl="0" indent="0" algn="ctr" defTabSz="914400" rtl="0" eaLnBrk="0" fontAlgn="auto" latinLnBrk="0" hangingPunct="1">
              <a:lnSpc>
                <a:spcPct val="100000"/>
              </a:lnSpc>
              <a:spcBef>
                <a:spcPts val="0"/>
              </a:spcBef>
              <a:spcAft>
                <a:spcPts val="0"/>
              </a:spcAft>
              <a:buClrTx/>
              <a:buSzTx/>
              <a:buFontTx/>
              <a:buNone/>
              <a:defRPr/>
            </a:pPr>
            <a:endParaRPr kumimoji="0" lang="zh-CN" altLang="en-US" sz="16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56" name="文本框 55"/>
          <p:cNvSpPr txBox="1"/>
          <p:nvPr/>
        </p:nvSpPr>
        <p:spPr>
          <a:xfrm>
            <a:off x="9197340" y="2811780"/>
            <a:ext cx="1712595" cy="335915"/>
          </a:xfrm>
          <a:prstGeom prst="rect">
            <a:avLst/>
          </a:prstGeom>
          <a:noFill/>
        </p:spPr>
        <p:txBody>
          <a:bodyPr vert="horz" wrap="square" lIns="91425" tIns="45712" rIns="91425" bIns="45712" anchor="t">
            <a:spAutoFit/>
          </a:bodyPr>
          <a:lstStyle/>
          <a:p>
            <a:pPr marL="0" marR="0" lvl="0" indent="0" algn="ctr" defTabSz="508000" rtl="0" eaLnBrk="0" fontAlgn="auto" latinLnBrk="0" hangingPunct="1">
              <a:lnSpc>
                <a:spcPct val="100000"/>
              </a:lnSpc>
              <a:spcBef>
                <a:spcPts val="0"/>
              </a:spcBef>
              <a:spcAft>
                <a:spcPts val="0"/>
              </a:spcAft>
              <a:buClrTx/>
              <a:buSzTx/>
              <a:buFontTx/>
              <a:buNone/>
              <a:defRPr/>
            </a:pPr>
            <a:r>
              <a:rPr lang="zh-CN" altLang="en-US" sz="1600" b="1" noProof="0" dirty="0">
                <a:ln>
                  <a:noFill/>
                </a:ln>
                <a:solidFill>
                  <a:schemeClr val="bg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4.设计测试用例</a:t>
            </a:r>
          </a:p>
        </p:txBody>
      </p:sp>
      <p:sp>
        <p:nvSpPr>
          <p:cNvPr id="57" name="形状 56"/>
          <p:cNvSpPr/>
          <p:nvPr/>
        </p:nvSpPr>
        <p:spPr>
          <a:xfrm>
            <a:off x="7281677" y="3239719"/>
            <a:ext cx="2361196" cy="2361196"/>
          </a:xfrm>
          <a:prstGeom prst="leftCircularArrow">
            <a:avLst>
              <a:gd name="adj1" fmla="val 2872"/>
              <a:gd name="adj2" fmla="val 351158"/>
              <a:gd name="adj3" fmla="val 2126668"/>
              <a:gd name="adj4" fmla="val 9024489"/>
              <a:gd name="adj5" fmla="val 3351"/>
            </a:avLst>
          </a:prstGeom>
          <a:solidFill>
            <a:srgbClr val="0070C0"/>
          </a:solidFill>
          <a:ln w="0">
            <a:solidFill>
              <a:schemeClr val="accent1"/>
            </a:solidFill>
          </a:ln>
        </p:spPr>
        <p:style>
          <a:lnRef idx="2">
            <a:schemeClr val="accent1"/>
          </a:lnRef>
          <a:fillRef idx="0">
            <a:schemeClr val="accent1"/>
          </a:fillRef>
          <a:effectRef idx="1">
            <a:schemeClr val="accent1"/>
          </a:effectRef>
          <a:fontRef idx="minor">
            <a:schemeClr val="tx1"/>
          </a:fontRef>
        </p:style>
        <p:txBody>
          <a:bodyPr vert="horz" wrap="square" lIns="91425" tIns="45712" rIns="91425" bIns="45712" anchor="t">
            <a:noAutofit/>
          </a:bodyPr>
          <a:lstStyle/>
          <a:p>
            <a:pPr marL="0" marR="0" lvl="0" indent="0" algn="l" defTabSz="914400" rtl="0" eaLnBrk="0" fontAlgn="auto" latinLnBrk="0" hangingPunct="1">
              <a:lnSpc>
                <a:spcPct val="100000"/>
              </a:lnSpc>
              <a:spcBef>
                <a:spcPts val="0"/>
              </a:spcBef>
              <a:spcAft>
                <a:spcPts val="0"/>
              </a:spcAft>
              <a:buClrTx/>
              <a:buSzTx/>
              <a:buFontTx/>
              <a:buNone/>
              <a:defRPr/>
            </a:pPr>
            <a:endParaRPr kumimoji="0" lang="ko-KR" altLang="en-US" sz="2800" b="0" i="0" u="none" strike="noStrike" kern="1200" cap="none" spc="0" normalizeH="0" baseline="0" noProof="0" dirty="0">
              <a:ln>
                <a:noFill/>
              </a:ln>
              <a:solidFill>
                <a:srgbClr val="FFFFFF"/>
              </a:solidFill>
              <a:effectLst/>
              <a:uLnTx/>
              <a:uFillTx/>
              <a:ea typeface="微软雅黑" panose="020B0503020204020204" pitchFamily="34" charset="-122"/>
              <a:cs typeface="+mn-lt"/>
            </a:endParaRPr>
          </a:p>
        </p:txBody>
      </p:sp>
      <p:sp>
        <p:nvSpPr>
          <p:cNvPr id="58" name="文本框 57"/>
          <p:cNvSpPr txBox="1"/>
          <p:nvPr/>
        </p:nvSpPr>
        <p:spPr>
          <a:xfrm>
            <a:off x="1420272" y="3064888"/>
            <a:ext cx="1894546" cy="1245235"/>
          </a:xfrm>
          <a:prstGeom prst="rect">
            <a:avLst/>
          </a:prstGeom>
          <a:noFill/>
          <a:ln w="0">
            <a:noFill/>
          </a:ln>
        </p:spPr>
        <p:txBody>
          <a:bodyPr vert="horz" wrap="square" lIns="89521" tIns="46347" rIns="89521" bIns="46347" anchor="t">
            <a:spAutoFit/>
          </a:bodyPr>
          <a:lstStyle/>
          <a:p>
            <a:pPr marL="0" marR="0" lvl="0" indent="0" algn="l" defTabSz="914400" rtl="0" fontAlgn="auto">
              <a:lnSpc>
                <a:spcPts val="1800"/>
              </a:lnSpc>
              <a:spcBef>
                <a:spcPts val="0"/>
              </a:spcBef>
              <a:spcAft>
                <a:spcPts val="0"/>
              </a:spcAft>
              <a:buClrTx/>
              <a:buSzTx/>
              <a:buFontTx/>
              <a:buNone/>
              <a:defRPr/>
            </a:pPr>
            <a:r>
              <a:rPr lang="zh-CN" altLang="en-US" sz="1600" dirty="0">
                <a:solidFill>
                  <a:srgbClr val="595959"/>
                </a:solidFill>
                <a:latin typeface="微软雅黑" panose="020B0503020204020204" pitchFamily="34" charset="-122"/>
                <a:ea typeface="微软雅黑" panose="020B0503020204020204" pitchFamily="34" charset="-122"/>
                <a:sym typeface="+mn-ea"/>
              </a:rPr>
              <a:t>根据</a:t>
            </a:r>
            <a:r>
              <a:rPr lang="zh-CN" altLang="en-US" sz="1600" dirty="0">
                <a:solidFill>
                  <a:srgbClr val="0070C0"/>
                </a:solidFill>
                <a:latin typeface="微软雅黑" panose="020B0503020204020204" pitchFamily="34" charset="-122"/>
                <a:ea typeface="微软雅黑" panose="020B0503020204020204" pitchFamily="34" charset="-122"/>
                <a:cs typeface="+mn-lt"/>
                <a:sym typeface="+mn-ea"/>
              </a:rPr>
              <a:t>需求规格说明</a:t>
            </a:r>
            <a:r>
              <a:rPr lang="zh-CN" altLang="en-US" sz="1600" dirty="0">
                <a:solidFill>
                  <a:srgbClr val="595959"/>
                </a:solidFill>
                <a:latin typeface="微软雅黑" panose="020B0503020204020204" pitchFamily="34" charset="-122"/>
                <a:ea typeface="微软雅黑" panose="020B0503020204020204" pitchFamily="34" charset="-122"/>
                <a:sym typeface="+mn-ea"/>
              </a:rPr>
              <a:t>书</a:t>
            </a:r>
            <a:r>
              <a:rPr lang="zh-CN" altLang="en-US" sz="1600" dirty="0">
                <a:solidFill>
                  <a:srgbClr val="0070C0"/>
                </a:solidFill>
                <a:latin typeface="微软雅黑" panose="020B0503020204020204" pitchFamily="34" charset="-122"/>
                <a:ea typeface="微软雅黑" panose="020B0503020204020204" pitchFamily="34" charset="-122"/>
                <a:cs typeface="+mn-lt"/>
                <a:sym typeface="+mn-ea"/>
              </a:rPr>
              <a:t>分析</a:t>
            </a:r>
            <a:r>
              <a:rPr lang="zh-CN" altLang="en-US" sz="1600" dirty="0">
                <a:solidFill>
                  <a:srgbClr val="595959"/>
                </a:solidFill>
                <a:latin typeface="微软雅黑" panose="020B0503020204020204" pitchFamily="34" charset="-122"/>
                <a:ea typeface="微软雅黑" panose="020B0503020204020204" pitchFamily="34" charset="-122"/>
                <a:sym typeface="+mn-ea"/>
              </a:rPr>
              <a:t>被测系统中有哪些状态以及每个</a:t>
            </a:r>
            <a:r>
              <a:rPr lang="zh-CN" altLang="en-US" sz="1600" dirty="0">
                <a:solidFill>
                  <a:srgbClr val="0070C0"/>
                </a:solidFill>
                <a:latin typeface="微软雅黑" panose="020B0503020204020204" pitchFamily="34" charset="-122"/>
                <a:ea typeface="微软雅黑" panose="020B0503020204020204" pitchFamily="34" charset="-122"/>
                <a:cs typeface="+mn-lt"/>
                <a:sym typeface="+mn-ea"/>
              </a:rPr>
              <a:t>状态之间的迁移关系</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mn-lt"/>
                <a:sym typeface="+mn-ea"/>
              </a:rPr>
              <a:t>。</a:t>
            </a:r>
          </a:p>
        </p:txBody>
      </p:sp>
      <p:sp>
        <p:nvSpPr>
          <p:cNvPr id="59" name="文本框 58"/>
          <p:cNvSpPr txBox="1"/>
          <p:nvPr/>
        </p:nvSpPr>
        <p:spPr>
          <a:xfrm>
            <a:off x="6346466" y="3099172"/>
            <a:ext cx="1894546" cy="1014730"/>
          </a:xfrm>
          <a:prstGeom prst="rect">
            <a:avLst/>
          </a:prstGeom>
          <a:noFill/>
          <a:ln w="0">
            <a:noFill/>
          </a:ln>
        </p:spPr>
        <p:txBody>
          <a:bodyPr vert="horz" wrap="square" lIns="89521" tIns="46347" rIns="89521" bIns="46347" anchor="t">
            <a:spAutoFit/>
          </a:bodyPr>
          <a:lstStyle/>
          <a:p>
            <a:pPr marL="0" marR="0" lvl="0" indent="0" algn="l" defTabSz="914400" rtl="0" fontAlgn="auto">
              <a:lnSpc>
                <a:spcPts val="1800"/>
              </a:lnSpc>
              <a:spcBef>
                <a:spcPts val="0"/>
              </a:spcBef>
              <a:spcAft>
                <a:spcPts val="0"/>
              </a:spcAft>
              <a:buClrTx/>
              <a:buSzTx/>
              <a:buFontTx/>
              <a:buNone/>
              <a:defRPr/>
            </a:pPr>
            <a:r>
              <a:rPr lang="zh-CN" altLang="en-US" sz="1600" dirty="0">
                <a:solidFill>
                  <a:srgbClr val="595959"/>
                </a:solidFill>
                <a:latin typeface="微软雅黑" panose="020B0503020204020204" pitchFamily="34" charset="-122"/>
                <a:ea typeface="微软雅黑" panose="020B0503020204020204" pitchFamily="34" charset="-122"/>
                <a:sym typeface="+mn-ea"/>
              </a:rPr>
              <a:t>确定一个根节点，向后延伸，直到</a:t>
            </a:r>
            <a:r>
              <a:rPr lang="zh-CN" altLang="en-US" sz="1600" dirty="0">
                <a:solidFill>
                  <a:srgbClr val="0070C0"/>
                </a:solidFill>
                <a:latin typeface="微软雅黑" panose="020B0503020204020204" pitchFamily="34" charset="-122"/>
                <a:ea typeface="微软雅黑" panose="020B0503020204020204" pitchFamily="34" charset="-122"/>
                <a:sym typeface="+mn-ea"/>
              </a:rPr>
              <a:t>所有的状态</a:t>
            </a:r>
            <a:r>
              <a:rPr lang="zh-CN" altLang="en-US" sz="1600" dirty="0">
                <a:solidFill>
                  <a:srgbClr val="595959"/>
                </a:solidFill>
                <a:latin typeface="微软雅黑" panose="020B0503020204020204" pitchFamily="34" charset="-122"/>
                <a:ea typeface="微软雅黑" panose="020B0503020204020204" pitchFamily="34" charset="-122"/>
                <a:sym typeface="+mn-ea"/>
              </a:rPr>
              <a:t>都包含</a:t>
            </a:r>
            <a:r>
              <a:rPr lang="zh-CN" altLang="en-US" sz="1600" dirty="0">
                <a:solidFill>
                  <a:srgbClr val="0070C0"/>
                </a:solidFill>
                <a:latin typeface="微软雅黑" panose="020B0503020204020204" pitchFamily="34" charset="-122"/>
                <a:ea typeface="微软雅黑" panose="020B0503020204020204" pitchFamily="34" charset="-122"/>
                <a:sym typeface="+mn-ea"/>
              </a:rPr>
              <a:t>在状态转换树中</a:t>
            </a:r>
            <a:r>
              <a:rPr lang="zh-CN" altLang="en-US" sz="1600" dirty="0">
                <a:solidFill>
                  <a:srgbClr val="595959"/>
                </a:solidFill>
                <a:latin typeface="微软雅黑" panose="020B0503020204020204" pitchFamily="34" charset="-122"/>
                <a:ea typeface="微软雅黑" panose="020B0503020204020204" pitchFamily="34" charset="-122"/>
                <a:sym typeface="+mn-ea"/>
              </a:rPr>
              <a:t>。</a:t>
            </a:r>
          </a:p>
        </p:txBody>
      </p:sp>
      <p:sp>
        <p:nvSpPr>
          <p:cNvPr id="60" name="文本框 59"/>
          <p:cNvSpPr txBox="1"/>
          <p:nvPr/>
        </p:nvSpPr>
        <p:spPr>
          <a:xfrm>
            <a:off x="3932458" y="3361212"/>
            <a:ext cx="1894546" cy="1014730"/>
          </a:xfrm>
          <a:prstGeom prst="rect">
            <a:avLst/>
          </a:prstGeom>
          <a:noFill/>
          <a:ln w="0">
            <a:noFill/>
          </a:ln>
        </p:spPr>
        <p:txBody>
          <a:bodyPr vert="horz" wrap="square" lIns="89521" tIns="46347" rIns="89521" bIns="46347" anchor="t">
            <a:spAutoFit/>
          </a:bodyPr>
          <a:lstStyle/>
          <a:p>
            <a:pPr marL="0" marR="0" lvl="0" indent="0" algn="l" defTabSz="914400" rtl="0" fontAlgn="auto">
              <a:lnSpc>
                <a:spcPts val="1800"/>
              </a:lnSpc>
              <a:spcBef>
                <a:spcPts val="0"/>
              </a:spcBef>
              <a:spcAft>
                <a:spcPts val="0"/>
              </a:spcAft>
              <a:buClrTx/>
              <a:buSzTx/>
              <a:buFontTx/>
              <a:buNone/>
              <a:defRPr/>
            </a:pPr>
            <a:r>
              <a:rPr lang="zh-CN" altLang="en-US" sz="1600" dirty="0">
                <a:solidFill>
                  <a:srgbClr val="595959"/>
                </a:solidFill>
                <a:latin typeface="微软雅黑" panose="020B0503020204020204" pitchFamily="34" charset="-122"/>
                <a:ea typeface="微软雅黑" panose="020B0503020204020204" pitchFamily="34" charset="-122"/>
                <a:sym typeface="+mn-ea"/>
              </a:rPr>
              <a:t>分析各个状态之间</a:t>
            </a:r>
            <a:r>
              <a:rPr lang="zh-CN" altLang="en-US" sz="1600" dirty="0">
                <a:solidFill>
                  <a:srgbClr val="0070C0"/>
                </a:solidFill>
                <a:latin typeface="微软雅黑" panose="020B0503020204020204" pitchFamily="34" charset="-122"/>
                <a:ea typeface="微软雅黑" panose="020B0503020204020204" pitchFamily="34" charset="-122"/>
                <a:sym typeface="+mn-ea"/>
              </a:rPr>
              <a:t>不同的输入导致的状态迁移</a:t>
            </a:r>
            <a:r>
              <a:rPr lang="zh-CN" altLang="en-US" sz="1600" dirty="0">
                <a:solidFill>
                  <a:srgbClr val="595959"/>
                </a:solidFill>
                <a:latin typeface="微软雅黑" panose="020B0503020204020204" pitchFamily="34" charset="-122"/>
                <a:ea typeface="微软雅黑" panose="020B0503020204020204" pitchFamily="34" charset="-122"/>
                <a:sym typeface="+mn-ea"/>
              </a:rPr>
              <a:t>，列出状态-事件表。</a:t>
            </a:r>
          </a:p>
        </p:txBody>
      </p:sp>
      <p:sp>
        <p:nvSpPr>
          <p:cNvPr id="61" name="文本框 60"/>
          <p:cNvSpPr txBox="1"/>
          <p:nvPr/>
        </p:nvSpPr>
        <p:spPr>
          <a:xfrm>
            <a:off x="8841626" y="3361212"/>
            <a:ext cx="1894546" cy="1245235"/>
          </a:xfrm>
          <a:prstGeom prst="rect">
            <a:avLst/>
          </a:prstGeom>
          <a:noFill/>
          <a:ln w="0">
            <a:noFill/>
          </a:ln>
        </p:spPr>
        <p:txBody>
          <a:bodyPr vert="horz" wrap="square" lIns="89521" tIns="46347" rIns="89521" bIns="46347" anchor="t">
            <a:spAutoFit/>
          </a:bodyPr>
          <a:lstStyle/>
          <a:p>
            <a:pPr marL="0" marR="0" lvl="0" indent="0" algn="l" defTabSz="914400" rtl="0" fontAlgn="auto">
              <a:lnSpc>
                <a:spcPts val="1800"/>
              </a:lnSpc>
              <a:spcBef>
                <a:spcPts val="0"/>
              </a:spcBef>
              <a:spcAft>
                <a:spcPts val="0"/>
              </a:spcAft>
              <a:buClrTx/>
              <a:buSzTx/>
              <a:buFontTx/>
              <a:buNone/>
              <a:defRPr/>
            </a:pPr>
            <a:r>
              <a:rPr lang="zh-CN" altLang="en-US" sz="1600" dirty="0">
                <a:solidFill>
                  <a:srgbClr val="595959"/>
                </a:solidFill>
                <a:latin typeface="微软雅黑" panose="020B0503020204020204" pitchFamily="34" charset="-122"/>
                <a:ea typeface="微软雅黑" panose="020B0503020204020204" pitchFamily="34" charset="-122"/>
                <a:sym typeface="+mn-ea"/>
              </a:rPr>
              <a:t>选取达到规定的测试覆盖率的测试路径</a:t>
            </a:r>
            <a:r>
              <a:rPr lang="zh-CN" altLang="en-US" sz="1600">
                <a:solidFill>
                  <a:srgbClr val="595959"/>
                </a:solidFill>
                <a:latin typeface="微软雅黑" panose="020B0503020204020204" pitchFamily="34" charset="-122"/>
                <a:ea typeface="微软雅黑" panose="020B0503020204020204" pitchFamily="34" charset="-122"/>
                <a:sym typeface="+mn-ea"/>
              </a:rPr>
              <a:t>，并</a:t>
            </a:r>
            <a:r>
              <a:rPr lang="zh-CN" altLang="en-US" sz="1600">
                <a:solidFill>
                  <a:srgbClr val="0070C0"/>
                </a:solidFill>
                <a:latin typeface="微软雅黑" panose="020B0503020204020204" pitchFamily="34" charset="-122"/>
                <a:ea typeface="微软雅黑" panose="020B0503020204020204" pitchFamily="34" charset="-122"/>
                <a:sym typeface="+mn-ea"/>
              </a:rPr>
              <a:t>对每</a:t>
            </a:r>
            <a:r>
              <a:rPr lang="zh-CN" altLang="en-US" sz="1600" dirty="0">
                <a:solidFill>
                  <a:srgbClr val="0070C0"/>
                </a:solidFill>
                <a:latin typeface="微软雅黑" panose="020B0503020204020204" pitchFamily="34" charset="-122"/>
                <a:ea typeface="微软雅黑" panose="020B0503020204020204" pitchFamily="34" charset="-122"/>
                <a:sym typeface="+mn-ea"/>
              </a:rPr>
              <a:t>条路径设计一个或多个测试用例</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sym typeface="+mn-ea"/>
              </a:rPr>
              <a:t>。</a:t>
            </a:r>
            <a:endParaRPr kumimoji="0" lang="zh-CN" altLang="en-US" sz="1600" b="0" i="0" u="none" strike="noStrike" kern="1200" cap="none" spc="0" normalizeH="0" baseline="0" noProof="0" dirty="0">
              <a:ln>
                <a:noFill/>
              </a:ln>
              <a:solidFill>
                <a:schemeClr val="tx1">
                  <a:lumMod val="95000"/>
                  <a:lumOff val="5000"/>
                </a:schemeClr>
              </a:solidFill>
              <a:effectLst/>
              <a:uLnTx/>
              <a:uFillTx/>
              <a:latin typeface="微软雅黑" panose="020B0503020204020204" pitchFamily="34" charset="-122"/>
              <a:ea typeface="微软雅黑" panose="020B0503020204020204" pitchFamily="34" charset="-122"/>
              <a:sym typeface="+mn-ea"/>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p:cNvPicPr>
            <a:picLocks noChangeAspect="1"/>
          </p:cNvPicPr>
          <p:nvPr/>
        </p:nvPicPr>
        <p:blipFill>
          <a:blip r:embed="rId3"/>
          <a:stretch>
            <a:fillRect/>
          </a:stretch>
        </p:blipFill>
        <p:spPr>
          <a:xfrm>
            <a:off x="944880" y="2215515"/>
            <a:ext cx="2797810" cy="3898265"/>
          </a:xfrm>
          <a:prstGeom prst="rect">
            <a:avLst/>
          </a:prstGeom>
        </p:spPr>
      </p:pic>
      <p:sp>
        <p:nvSpPr>
          <p:cNvPr id="13" name="椭圆形标注 12"/>
          <p:cNvSpPr/>
          <p:nvPr/>
        </p:nvSpPr>
        <p:spPr>
          <a:xfrm>
            <a:off x="2968625" y="156019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p>
        </p:txBody>
      </p:sp>
      <p:sp>
        <p:nvSpPr>
          <p:cNvPr id="14" name="TextBox 35"/>
          <p:cNvSpPr txBox="1">
            <a:spLocks noChangeArrowheads="1"/>
          </p:cNvSpPr>
          <p:nvPr/>
        </p:nvSpPr>
        <p:spPr bwMode="auto">
          <a:xfrm>
            <a:off x="3247390" y="163830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p>
        </p:txBody>
      </p:sp>
      <p:sp>
        <p:nvSpPr>
          <p:cNvPr id="15" name="TextBox 35"/>
          <p:cNvSpPr txBox="1">
            <a:spLocks noChangeArrowheads="1"/>
          </p:cNvSpPr>
          <p:nvPr/>
        </p:nvSpPr>
        <p:spPr bwMode="auto">
          <a:xfrm>
            <a:off x="5951220" y="3053715"/>
            <a:ext cx="5838190" cy="1505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defRPr/>
            </a:pPr>
            <a:r>
              <a:rPr lang="zh-CN" sz="200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掌握</a:t>
            </a:r>
            <a:r>
              <a:rPr lang="zh-CN" altLang="en-US" sz="2000" dirty="0">
                <a:solidFill>
                  <a:srgbClr val="595959"/>
                </a:solidFill>
                <a:latin typeface="微软雅黑" panose="020B0503020204020204" pitchFamily="34" charset="-122"/>
                <a:ea typeface="微软雅黑" panose="020B0503020204020204" pitchFamily="34" charset="-122"/>
                <a:cs typeface="+mn-ea"/>
                <a:sym typeface="+mn-lt"/>
              </a:rPr>
              <a:t>小兔鲜商城订单状态迁移图的内容</a:t>
            </a:r>
            <a:r>
              <a:rPr sz="200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a:t>
            </a:r>
            <a:r>
              <a:rPr sz="2000">
                <a:solidFill>
                  <a:srgbClr val="0070C0"/>
                </a:solidFill>
                <a:latin typeface="微软雅黑" panose="020B0503020204020204" pitchFamily="34" charset="-122"/>
                <a:ea typeface="微软雅黑" panose="020B0503020204020204" pitchFamily="34" charset="-122"/>
                <a:cs typeface="+mn-ea"/>
                <a:sym typeface="字魂58号-创中黑" panose="00000500000000000000" pitchFamily="2" charset="-122"/>
              </a:rPr>
              <a:t>能够通过</a:t>
            </a:r>
            <a:r>
              <a:rPr sz="2000">
                <a:solidFill>
                  <a:srgbClr val="0070C0"/>
                </a:solidFill>
                <a:latin typeface="微软雅黑" panose="020B0503020204020204" pitchFamily="34" charset="-122"/>
                <a:ea typeface="微软雅黑" panose="020B0503020204020204" pitchFamily="34" charset="-122"/>
                <a:cs typeface="+mn-ea"/>
              </a:rPr>
              <a:t>状态迁移图法</a:t>
            </a:r>
            <a:r>
              <a:rPr lang="zh-CN" sz="2000">
                <a:solidFill>
                  <a:srgbClr val="0070C0"/>
                </a:solidFill>
                <a:latin typeface="微软雅黑" panose="020B0503020204020204" pitchFamily="34" charset="-122"/>
                <a:ea typeface="微软雅黑" panose="020B0503020204020204" pitchFamily="34" charset="-122"/>
                <a:cs typeface="+mn-ea"/>
              </a:rPr>
              <a:t>设计</a:t>
            </a:r>
            <a:r>
              <a:rPr sz="2000">
                <a:solidFill>
                  <a:srgbClr val="0070C0"/>
                </a:solidFill>
                <a:latin typeface="微软雅黑" panose="020B0503020204020204" pitchFamily="34" charset="-122"/>
                <a:ea typeface="微软雅黑" panose="020B0503020204020204" pitchFamily="34" charset="-122"/>
                <a:cs typeface="+mn-ea"/>
              </a:rPr>
              <a:t>小兔鲜商城订单状态迁移</a:t>
            </a:r>
            <a:r>
              <a:rPr lang="zh-CN" sz="2000">
                <a:solidFill>
                  <a:srgbClr val="0070C0"/>
                </a:solidFill>
                <a:latin typeface="微软雅黑" panose="020B0503020204020204" pitchFamily="34" charset="-122"/>
                <a:ea typeface="微软雅黑" panose="020B0503020204020204" pitchFamily="34" charset="-122"/>
                <a:cs typeface="+mn-ea"/>
              </a:rPr>
              <a:t>的测试用例</a:t>
            </a:r>
          </a:p>
        </p:txBody>
      </p:sp>
      <p:grpSp>
        <p:nvGrpSpPr>
          <p:cNvPr id="19" name="组合 18"/>
          <p:cNvGrpSpPr/>
          <p:nvPr/>
        </p:nvGrpSpPr>
        <p:grpSpPr>
          <a:xfrm>
            <a:off x="5452110" y="3540125"/>
            <a:ext cx="405130" cy="405130"/>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1" name="Title 1"/>
          <p:cNvSpPr txBox="1"/>
          <p:nvPr/>
        </p:nvSpPr>
        <p:spPr>
          <a:xfrm>
            <a:off x="1143635" y="266700"/>
            <a:ext cx="599694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2.6.2	实例一：小兔鲜商城订单状态迁移图</a:t>
            </a: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35"/>
          <p:cNvSpPr txBox="1">
            <a:spLocks noChangeArrowheads="1"/>
          </p:cNvSpPr>
          <p:nvPr/>
        </p:nvSpPr>
        <p:spPr bwMode="auto">
          <a:xfrm>
            <a:off x="4871085" y="1270000"/>
            <a:ext cx="6289675" cy="45550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indent="457200" algn="just">
              <a:lnSpc>
                <a:spcPct val="150000"/>
              </a:lnSpc>
              <a:buClrTx/>
              <a:buSzTx/>
              <a:buFontTx/>
            </a:pPr>
            <a:r>
              <a:rPr lang="zh-CN" altLang="en-US" sz="1600" dirty="0">
                <a:solidFill>
                  <a:srgbClr val="595959"/>
                </a:solidFill>
                <a:latin typeface="微软雅黑" panose="020B0503020204020204" pitchFamily="34" charset="-122"/>
                <a:ea typeface="微软雅黑" panose="020B0503020204020204" pitchFamily="34" charset="-122"/>
              </a:rPr>
              <a:t>以小兔鲜商城项目为例，</a:t>
            </a:r>
            <a:r>
              <a:rPr lang="zh-CN" altLang="en-US" sz="1600" dirty="0">
                <a:solidFill>
                  <a:srgbClr val="0070C0"/>
                </a:solidFill>
                <a:latin typeface="微软雅黑" panose="020B0503020204020204" pitchFamily="34" charset="-122"/>
                <a:ea typeface="微软雅黑" panose="020B0503020204020204" pitchFamily="34" charset="-122"/>
              </a:rPr>
              <a:t>使用状态迁移图法讲解小兔鲜商城订单状态的迁移</a:t>
            </a:r>
            <a:r>
              <a:rPr lang="zh-CN" altLang="en-US" sz="1600" dirty="0">
                <a:solidFill>
                  <a:srgbClr val="595959"/>
                </a:solidFill>
                <a:latin typeface="微软雅黑" panose="020B0503020204020204" pitchFamily="34" charset="-122"/>
                <a:ea typeface="微软雅黑" panose="020B0503020204020204" pitchFamily="34" charset="-122"/>
              </a:rPr>
              <a:t>。</a:t>
            </a:r>
          </a:p>
          <a:p>
            <a:pPr indent="457200" algn="just">
              <a:lnSpc>
                <a:spcPct val="150000"/>
              </a:lnSpc>
              <a:buClrTx/>
              <a:buSzTx/>
              <a:buFontTx/>
            </a:pPr>
            <a:r>
              <a:rPr lang="zh-CN" altLang="en-US" sz="1600" dirty="0">
                <a:solidFill>
                  <a:srgbClr val="595959"/>
                </a:solidFill>
                <a:latin typeface="微软雅黑" panose="020B0503020204020204" pitchFamily="34" charset="-122"/>
                <a:ea typeface="微软雅黑" panose="020B0503020204020204" pitchFamily="34" charset="-122"/>
              </a:rPr>
              <a:t>假设小兔鲜商城的需求是：用户在搜索商品后，将商品加入购物车进行购买，用户提交订单后生成订单，订单状态转变为待支付，若支付失败，则订单状态转变为订单取消，若支付成功，则订单状态转变为待发货；商家发货后，订单状态转变为待收货；买家确认收货后，订单状态转变为订单完成；用户可在待发货状态和待收货状态下申请退货或取消申请，若用户申请退货，则订单状态均转变为售后；商家同意退货后，订单状态转变为已退货；退货成功时，订单状态转变为订单完成；如果用户在申请退货后，又取消申请，则订单状态转变为待发货或待收货；商家发货并且买家确认收货后订单状态才转变为订单完成。</a:t>
            </a:r>
          </a:p>
        </p:txBody>
      </p:sp>
      <p:pic>
        <p:nvPicPr>
          <p:cNvPr id="33" name="图片 32"/>
          <p:cNvPicPr>
            <a:picLocks noChangeAspect="1"/>
          </p:cNvPicPr>
          <p:nvPr/>
        </p:nvPicPr>
        <p:blipFill>
          <a:blip r:embed="rId3"/>
          <a:stretch>
            <a:fillRect/>
          </a:stretch>
        </p:blipFill>
        <p:spPr>
          <a:xfrm>
            <a:off x="839386" y="1413456"/>
            <a:ext cx="3715858" cy="4006159"/>
          </a:xfrm>
          <a:prstGeom prst="rect">
            <a:avLst/>
          </a:prstGeom>
        </p:spPr>
      </p:pic>
      <p:sp>
        <p:nvSpPr>
          <p:cNvPr id="2" name="Title 1"/>
          <p:cNvSpPr txBox="1"/>
          <p:nvPr/>
        </p:nvSpPr>
        <p:spPr>
          <a:xfrm>
            <a:off x="1143635" y="266700"/>
            <a:ext cx="599694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2.6.2	实例一：小兔鲜商城订单状态迁移图</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35"/>
          <p:cNvSpPr txBox="1">
            <a:spLocks noChangeArrowheads="1"/>
          </p:cNvSpPr>
          <p:nvPr/>
        </p:nvSpPr>
        <p:spPr bwMode="auto">
          <a:xfrm>
            <a:off x="1055370" y="837565"/>
            <a:ext cx="10262870" cy="5359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buClrTx/>
              <a:buSzTx/>
              <a:buFontTx/>
            </a:pPr>
            <a:r>
              <a:rPr lang="zh-CN" altLang="en-US" sz="1800" dirty="0">
                <a:solidFill>
                  <a:srgbClr val="595959"/>
                </a:solidFill>
                <a:latin typeface="微软雅黑" panose="020B0503020204020204" pitchFamily="34" charset="-122"/>
                <a:ea typeface="微软雅黑" panose="020B0503020204020204" pitchFamily="34" charset="-122"/>
                <a:cs typeface="+mn-ea"/>
              </a:rPr>
              <a:t>根据上述需求描述，可以画出</a:t>
            </a:r>
            <a:r>
              <a:rPr lang="zh-CN" altLang="en-US" sz="1800" dirty="0">
                <a:solidFill>
                  <a:srgbClr val="0070C0"/>
                </a:solidFill>
                <a:latin typeface="微软雅黑" panose="020B0503020204020204" pitchFamily="34" charset="-122"/>
                <a:ea typeface="微软雅黑" panose="020B0503020204020204" pitchFamily="34" charset="-122"/>
                <a:cs typeface="+mn-ea"/>
              </a:rPr>
              <a:t>小兔鲜商城订单状态迁移图</a:t>
            </a:r>
            <a:r>
              <a:rPr lang="zh-CN" altLang="en-US" sz="1800" dirty="0">
                <a:solidFill>
                  <a:srgbClr val="595959"/>
                </a:solidFill>
                <a:latin typeface="微软雅黑" panose="020B0503020204020204" pitchFamily="34" charset="-122"/>
                <a:ea typeface="微软雅黑" panose="020B0503020204020204" pitchFamily="34" charset="-122"/>
                <a:cs typeface="+mn-ea"/>
              </a:rPr>
              <a:t>，如下图所示。</a:t>
            </a:r>
          </a:p>
        </p:txBody>
      </p:sp>
      <p:sp>
        <p:nvSpPr>
          <p:cNvPr id="2" name="Title 1"/>
          <p:cNvSpPr txBox="1"/>
          <p:nvPr/>
        </p:nvSpPr>
        <p:spPr>
          <a:xfrm>
            <a:off x="1143635" y="266700"/>
            <a:ext cx="599694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2.6.2	实例一：小兔鲜商城订单状态迁移图</a:t>
            </a:r>
          </a:p>
        </p:txBody>
      </p:sp>
      <p:pic>
        <p:nvPicPr>
          <p:cNvPr id="3" name="图片 2" descr="111"/>
          <p:cNvPicPr>
            <a:picLocks noChangeAspect="1"/>
          </p:cNvPicPr>
          <p:nvPr/>
        </p:nvPicPr>
        <p:blipFill>
          <a:blip r:embed="rId3"/>
          <a:stretch>
            <a:fillRect/>
          </a:stretch>
        </p:blipFill>
        <p:spPr>
          <a:xfrm>
            <a:off x="3167856" y="1630998"/>
            <a:ext cx="5854700" cy="4391025"/>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35"/>
          <p:cNvSpPr txBox="1">
            <a:spLocks noChangeArrowheads="1"/>
          </p:cNvSpPr>
          <p:nvPr/>
        </p:nvSpPr>
        <p:spPr bwMode="auto">
          <a:xfrm>
            <a:off x="1055370" y="837565"/>
            <a:ext cx="10262870" cy="5359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buClrTx/>
              <a:buSzTx/>
              <a:buFontTx/>
            </a:pPr>
            <a:r>
              <a:rPr lang="zh-CN" altLang="en-US" sz="1800" dirty="0">
                <a:solidFill>
                  <a:srgbClr val="0070C0"/>
                </a:solidFill>
                <a:latin typeface="微软雅黑" panose="020B0503020204020204" pitchFamily="34" charset="-122"/>
                <a:ea typeface="微软雅黑" panose="020B0503020204020204" pitchFamily="34" charset="-122"/>
                <a:cs typeface="+mn-ea"/>
              </a:rPr>
              <a:t>小兔鲜商城订单状态-事件表</a:t>
            </a:r>
            <a:r>
              <a:rPr lang="zh-CN" altLang="en-US" sz="1800" dirty="0">
                <a:solidFill>
                  <a:srgbClr val="595959"/>
                </a:solidFill>
                <a:latin typeface="微软雅黑" panose="020B0503020204020204" pitchFamily="34" charset="-122"/>
                <a:ea typeface="微软雅黑" panose="020B0503020204020204" pitchFamily="34" charset="-122"/>
                <a:cs typeface="+mn-ea"/>
              </a:rPr>
              <a:t>如下表所示。</a:t>
            </a:r>
          </a:p>
        </p:txBody>
      </p:sp>
      <p:sp>
        <p:nvSpPr>
          <p:cNvPr id="2" name="Title 1"/>
          <p:cNvSpPr txBox="1"/>
          <p:nvPr/>
        </p:nvSpPr>
        <p:spPr>
          <a:xfrm>
            <a:off x="1143635" y="266700"/>
            <a:ext cx="599694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2.6.2	实例一：小兔鲜商城订单状态迁移图</a:t>
            </a:r>
          </a:p>
        </p:txBody>
      </p:sp>
      <p:graphicFrame>
        <p:nvGraphicFramePr>
          <p:cNvPr id="4" name="表格 3"/>
          <p:cNvGraphicFramePr/>
          <p:nvPr>
            <p:custDataLst>
              <p:tags r:id="rId1"/>
            </p:custDataLst>
            <p:extLst>
              <p:ext uri="{D42A27DB-BD31-4B8C-83A1-F6EECF244321}">
                <p14:modId xmlns:p14="http://schemas.microsoft.com/office/powerpoint/2010/main" val="3321679745"/>
              </p:ext>
            </p:extLst>
          </p:nvPr>
        </p:nvGraphicFramePr>
        <p:xfrm>
          <a:off x="3003708" y="1438275"/>
          <a:ext cx="6182995" cy="4966335"/>
        </p:xfrm>
        <a:graphic>
          <a:graphicData uri="http://schemas.openxmlformats.org/drawingml/2006/table">
            <a:tbl>
              <a:tblPr firstRow="1" bandRow="1">
                <a:tableStyleId>{5C22544A-7EE6-4342-B048-85BDC9FD1C3A}</a:tableStyleId>
              </a:tblPr>
              <a:tblGrid>
                <a:gridCol w="2030730">
                  <a:extLst>
                    <a:ext uri="{9D8B030D-6E8A-4147-A177-3AD203B41FA5}">
                      <a16:colId xmlns:a16="http://schemas.microsoft.com/office/drawing/2014/main" val="20000"/>
                    </a:ext>
                  </a:extLst>
                </a:gridCol>
                <a:gridCol w="1903730">
                  <a:extLst>
                    <a:ext uri="{9D8B030D-6E8A-4147-A177-3AD203B41FA5}">
                      <a16:colId xmlns:a16="http://schemas.microsoft.com/office/drawing/2014/main" val="20001"/>
                    </a:ext>
                  </a:extLst>
                </a:gridCol>
                <a:gridCol w="2248535">
                  <a:extLst>
                    <a:ext uri="{9D8B030D-6E8A-4147-A177-3AD203B41FA5}">
                      <a16:colId xmlns:a16="http://schemas.microsoft.com/office/drawing/2014/main" val="20002"/>
                    </a:ext>
                  </a:extLst>
                </a:gridCol>
              </a:tblGrid>
              <a:tr h="619125">
                <a:tc>
                  <a:txBody>
                    <a:bodyPr/>
                    <a:lstStyle/>
                    <a:p>
                      <a:pPr algn="ctr">
                        <a:lnSpc>
                          <a:spcPct val="90000"/>
                        </a:lnSpc>
                        <a:buNone/>
                      </a:pPr>
                      <a:r>
                        <a:rPr lang="zh-CN" altLang="en-US" sz="1800" b="1">
                          <a:latin typeface="微软雅黑" panose="020B0503020204020204" pitchFamily="34" charset="-122"/>
                          <a:ea typeface="微软雅黑" panose="020B0503020204020204" pitchFamily="34" charset="-122"/>
                        </a:rPr>
                        <a:t>前一状态</a:t>
                      </a:r>
                    </a:p>
                  </a:txBody>
                  <a:tcPr anchor="ctr"/>
                </a:tc>
                <a:tc>
                  <a:txBody>
                    <a:bodyPr/>
                    <a:lstStyle/>
                    <a:p>
                      <a:pPr algn="ctr">
                        <a:lnSpc>
                          <a:spcPct val="90000"/>
                        </a:lnSpc>
                        <a:buNone/>
                      </a:pPr>
                      <a:r>
                        <a:rPr lang="zh-CN" altLang="en-US" sz="1800">
                          <a:latin typeface="微软雅黑" panose="020B0503020204020204" pitchFamily="34" charset="-122"/>
                          <a:ea typeface="微软雅黑" panose="020B0503020204020204" pitchFamily="34" charset="-122"/>
                        </a:rPr>
                        <a:t>事件</a:t>
                      </a:r>
                    </a:p>
                  </a:txBody>
                  <a:tcPr anchor="ctr"/>
                </a:tc>
                <a:tc>
                  <a:txBody>
                    <a:bodyPr/>
                    <a:lstStyle/>
                    <a:p>
                      <a:pPr algn="ctr">
                        <a:lnSpc>
                          <a:spcPct val="90000"/>
                        </a:lnSpc>
                        <a:buNone/>
                      </a:pPr>
                      <a:r>
                        <a:rPr lang="zh-CN" altLang="en-US" sz="1800">
                          <a:latin typeface="微软雅黑" panose="020B0503020204020204" pitchFamily="34" charset="-122"/>
                          <a:ea typeface="微软雅黑" panose="020B0503020204020204" pitchFamily="34" charset="-122"/>
                        </a:rPr>
                        <a:t>后一状态</a:t>
                      </a:r>
                    </a:p>
                  </a:txBody>
                  <a:tcPr anchor="ctr"/>
                </a:tc>
                <a:extLst>
                  <a:ext uri="{0D108BD9-81ED-4DB2-BD59-A6C34878D82A}">
                    <a16:rowId xmlns:a16="http://schemas.microsoft.com/office/drawing/2014/main" val="10000"/>
                  </a:ext>
                </a:extLst>
              </a:tr>
              <a:tr h="567055">
                <a:tc>
                  <a:txBody>
                    <a:bodyPr/>
                    <a:lstStyle/>
                    <a:p>
                      <a:pPr algn="ctr">
                        <a:buNone/>
                      </a:pPr>
                      <a:r>
                        <a:rPr sz="1800" kern="1200">
                          <a:solidFill>
                            <a:srgbClr val="595959"/>
                          </a:solidFill>
                          <a:latin typeface="微软雅黑" panose="020B0503020204020204" pitchFamily="34" charset="-122"/>
                          <a:ea typeface="微软雅黑" panose="020B0503020204020204" pitchFamily="34" charset="-122"/>
                          <a:cs typeface="+mn-ea"/>
                        </a:rPr>
                        <a:t>提交订单</a:t>
                      </a:r>
                    </a:p>
                  </a:txBody>
                  <a:tcPr anchor="ctr"/>
                </a:tc>
                <a:tc>
                  <a:txBody>
                    <a:bodyPr/>
                    <a:lstStyle/>
                    <a:p>
                      <a:pPr algn="ctr">
                        <a:buNone/>
                      </a:pPr>
                      <a:r>
                        <a:rPr sz="1800" kern="1200">
                          <a:solidFill>
                            <a:srgbClr val="595959"/>
                          </a:solidFill>
                          <a:latin typeface="微软雅黑" panose="020B0503020204020204" pitchFamily="34" charset="-122"/>
                          <a:ea typeface="微软雅黑" panose="020B0503020204020204" pitchFamily="34" charset="-122"/>
                          <a:cs typeface="+mn-ea"/>
                        </a:rPr>
                        <a:t>生成订单</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ea"/>
                        </a:rPr>
                        <a:t>待支付</a:t>
                      </a:r>
                    </a:p>
                  </a:txBody>
                  <a:tcPr anchor="ctr"/>
                </a:tc>
                <a:extLst>
                  <a:ext uri="{0D108BD9-81ED-4DB2-BD59-A6C34878D82A}">
                    <a16:rowId xmlns:a16="http://schemas.microsoft.com/office/drawing/2014/main" val="10001"/>
                  </a:ext>
                </a:extLst>
              </a:tr>
              <a:tr h="548640">
                <a:tc>
                  <a:txBody>
                    <a:bodyPr/>
                    <a:lstStyle/>
                    <a:p>
                      <a:pPr algn="ctr">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ea"/>
                        </a:rPr>
                        <a:t>待支付</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ea"/>
                        </a:rPr>
                        <a:t>支付失败</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ea"/>
                        </a:rPr>
                        <a:t>订单取消</a:t>
                      </a:r>
                    </a:p>
                  </a:txBody>
                  <a:tcPr anchor="ctr"/>
                </a:tc>
                <a:extLst>
                  <a:ext uri="{0D108BD9-81ED-4DB2-BD59-A6C34878D82A}">
                    <a16:rowId xmlns:a16="http://schemas.microsoft.com/office/drawing/2014/main" val="10002"/>
                  </a:ext>
                </a:extLst>
              </a:tr>
              <a:tr h="638175">
                <a:tc>
                  <a:txBody>
                    <a:bodyPr/>
                    <a:lstStyle/>
                    <a:p>
                      <a:pPr algn="ctr">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ea"/>
                        </a:rPr>
                        <a:t>待支付</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ea"/>
                        </a:rPr>
                        <a:t>支付成功</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ea"/>
                        </a:rPr>
                        <a:t>待发货</a:t>
                      </a:r>
                    </a:p>
                  </a:txBody>
                  <a:tcPr anchor="ctr"/>
                </a:tc>
                <a:extLst>
                  <a:ext uri="{0D108BD9-81ED-4DB2-BD59-A6C34878D82A}">
                    <a16:rowId xmlns:a16="http://schemas.microsoft.com/office/drawing/2014/main" val="10003"/>
                  </a:ext>
                </a:extLst>
              </a:tr>
              <a:tr h="648335">
                <a:tc>
                  <a:txBody>
                    <a:bodyPr/>
                    <a:lstStyle/>
                    <a:p>
                      <a:pPr algn="ctr">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ea"/>
                        </a:rPr>
                        <a:t>待发货</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ea"/>
                        </a:rPr>
                        <a:t>申请退货</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ea"/>
                        </a:rPr>
                        <a:t>售后</a:t>
                      </a:r>
                    </a:p>
                  </a:txBody>
                  <a:tcPr anchor="ctr"/>
                </a:tc>
                <a:extLst>
                  <a:ext uri="{0D108BD9-81ED-4DB2-BD59-A6C34878D82A}">
                    <a16:rowId xmlns:a16="http://schemas.microsoft.com/office/drawing/2014/main" val="10004"/>
                  </a:ext>
                </a:extLst>
              </a:tr>
              <a:tr h="648335">
                <a:tc>
                  <a:txBody>
                    <a:bodyPr/>
                    <a:lstStyle/>
                    <a:p>
                      <a:pPr algn="ctr">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ea"/>
                        </a:rPr>
                        <a:t>售后</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ea"/>
                        </a:rPr>
                        <a:t>取消申请</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ea"/>
                        </a:rPr>
                        <a:t>待发货</a:t>
                      </a:r>
                    </a:p>
                  </a:txBody>
                  <a:tcPr anchor="ctr"/>
                </a:tc>
                <a:extLst>
                  <a:ext uri="{0D108BD9-81ED-4DB2-BD59-A6C34878D82A}">
                    <a16:rowId xmlns:a16="http://schemas.microsoft.com/office/drawing/2014/main" val="10005"/>
                  </a:ext>
                </a:extLst>
              </a:tr>
              <a:tr h="648335">
                <a:tc>
                  <a:txBody>
                    <a:bodyPr/>
                    <a:lstStyle/>
                    <a:p>
                      <a:pPr algn="ctr">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ea"/>
                        </a:rPr>
                        <a:t>待发货</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ea"/>
                        </a:rPr>
                        <a:t>商家发货</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ea"/>
                        </a:rPr>
                        <a:t>待收货</a:t>
                      </a:r>
                    </a:p>
                  </a:txBody>
                  <a:tcPr anchor="ctr"/>
                </a:tc>
                <a:extLst>
                  <a:ext uri="{0D108BD9-81ED-4DB2-BD59-A6C34878D82A}">
                    <a16:rowId xmlns:a16="http://schemas.microsoft.com/office/drawing/2014/main" val="10006"/>
                  </a:ext>
                </a:extLst>
              </a:tr>
              <a:tr h="648335">
                <a:tc>
                  <a:txBody>
                    <a:bodyPr/>
                    <a:lstStyle/>
                    <a:p>
                      <a:pPr algn="ctr">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ea"/>
                        </a:rPr>
                        <a:t>待收货</a:t>
                      </a:r>
                    </a:p>
                  </a:txBody>
                  <a:tcPr anchor="ctr"/>
                </a:tc>
                <a:tc>
                  <a:txBody>
                    <a:bodyPr/>
                    <a:lstStyle/>
                    <a:p>
                      <a:pPr algn="ctr">
                        <a:buNone/>
                      </a:pPr>
                      <a:r>
                        <a:rPr lang="en-US" altLang="zh-CN" sz="1800" kern="1200" dirty="0" err="1">
                          <a:solidFill>
                            <a:srgbClr val="595959"/>
                          </a:solidFill>
                          <a:latin typeface="微软雅黑" panose="020B0503020204020204" pitchFamily="34" charset="-122"/>
                          <a:ea typeface="微软雅黑" panose="020B0503020204020204" pitchFamily="34" charset="-122"/>
                          <a:cs typeface="+mn-ea"/>
                        </a:rPr>
                        <a:t>申请退货</a:t>
                      </a:r>
                      <a:endParaRPr lang="en-US" altLang="zh-CN" sz="1800" kern="1200" dirty="0">
                        <a:solidFill>
                          <a:srgbClr val="595959"/>
                        </a:solidFill>
                        <a:latin typeface="微软雅黑" panose="020B0503020204020204" pitchFamily="34" charset="-122"/>
                        <a:ea typeface="微软雅黑" panose="020B0503020204020204" pitchFamily="34" charset="-122"/>
                        <a:cs typeface="+mn-ea"/>
                      </a:endParaRPr>
                    </a:p>
                  </a:txBody>
                  <a:tcPr anchor="ctr"/>
                </a:tc>
                <a:tc>
                  <a:txBody>
                    <a:bodyPr/>
                    <a:lstStyle/>
                    <a:p>
                      <a:pPr algn="ctr">
                        <a:buNone/>
                      </a:pPr>
                      <a:r>
                        <a:rPr lang="en-US" altLang="zh-CN" sz="1800" kern="1200" dirty="0" err="1">
                          <a:solidFill>
                            <a:srgbClr val="595959"/>
                          </a:solidFill>
                          <a:latin typeface="微软雅黑" panose="020B0503020204020204" pitchFamily="34" charset="-122"/>
                          <a:ea typeface="微软雅黑" panose="020B0503020204020204" pitchFamily="34" charset="-122"/>
                          <a:cs typeface="+mn-ea"/>
                          <a:sym typeface="+mn-ea"/>
                        </a:rPr>
                        <a:t>售后</a:t>
                      </a:r>
                      <a:endParaRPr lang="en-US" altLang="zh-CN" sz="1800" kern="1200" dirty="0">
                        <a:solidFill>
                          <a:srgbClr val="595959"/>
                        </a:solidFill>
                        <a:latin typeface="微软雅黑" panose="020B0503020204020204" pitchFamily="34" charset="-122"/>
                        <a:ea typeface="微软雅黑" panose="020B0503020204020204" pitchFamily="34" charset="-122"/>
                        <a:cs typeface="+mn-ea"/>
                      </a:endParaRPr>
                    </a:p>
                  </a:txBody>
                  <a:tcPr anchor="ctr"/>
                </a:tc>
                <a:extLst>
                  <a:ext uri="{0D108BD9-81ED-4DB2-BD59-A6C34878D82A}">
                    <a16:rowId xmlns:a16="http://schemas.microsoft.com/office/drawing/2014/main" val="10007"/>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1143635" y="266700"/>
            <a:ext cx="599694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2.6.2	实例一：小兔鲜商城订单状态迁移图</a:t>
            </a:r>
          </a:p>
        </p:txBody>
      </p:sp>
      <p:graphicFrame>
        <p:nvGraphicFramePr>
          <p:cNvPr id="4" name="表格 3"/>
          <p:cNvGraphicFramePr/>
          <p:nvPr>
            <p:custDataLst>
              <p:tags r:id="rId1"/>
            </p:custDataLst>
            <p:extLst>
              <p:ext uri="{D42A27DB-BD31-4B8C-83A1-F6EECF244321}">
                <p14:modId xmlns:p14="http://schemas.microsoft.com/office/powerpoint/2010/main" val="1002464073"/>
              </p:ext>
            </p:extLst>
          </p:nvPr>
        </p:nvGraphicFramePr>
        <p:xfrm>
          <a:off x="3003708" y="1919129"/>
          <a:ext cx="6182995" cy="3021330"/>
        </p:xfrm>
        <a:graphic>
          <a:graphicData uri="http://schemas.openxmlformats.org/drawingml/2006/table">
            <a:tbl>
              <a:tblPr firstRow="1" bandRow="1">
                <a:tableStyleId>{5C22544A-7EE6-4342-B048-85BDC9FD1C3A}</a:tableStyleId>
              </a:tblPr>
              <a:tblGrid>
                <a:gridCol w="2030730">
                  <a:extLst>
                    <a:ext uri="{9D8B030D-6E8A-4147-A177-3AD203B41FA5}">
                      <a16:colId xmlns:a16="http://schemas.microsoft.com/office/drawing/2014/main" val="20000"/>
                    </a:ext>
                  </a:extLst>
                </a:gridCol>
                <a:gridCol w="1903730">
                  <a:extLst>
                    <a:ext uri="{9D8B030D-6E8A-4147-A177-3AD203B41FA5}">
                      <a16:colId xmlns:a16="http://schemas.microsoft.com/office/drawing/2014/main" val="20001"/>
                    </a:ext>
                  </a:extLst>
                </a:gridCol>
                <a:gridCol w="2248535">
                  <a:extLst>
                    <a:ext uri="{9D8B030D-6E8A-4147-A177-3AD203B41FA5}">
                      <a16:colId xmlns:a16="http://schemas.microsoft.com/office/drawing/2014/main" val="20002"/>
                    </a:ext>
                  </a:extLst>
                </a:gridCol>
              </a:tblGrid>
              <a:tr h="619125">
                <a:tc>
                  <a:txBody>
                    <a:bodyPr/>
                    <a:lstStyle/>
                    <a:p>
                      <a:pPr algn="ctr">
                        <a:lnSpc>
                          <a:spcPct val="90000"/>
                        </a:lnSpc>
                        <a:buNone/>
                      </a:pPr>
                      <a:r>
                        <a:rPr lang="zh-CN" altLang="en-US" sz="1800" b="1">
                          <a:latin typeface="微软雅黑" panose="020B0503020204020204" pitchFamily="34" charset="-122"/>
                          <a:ea typeface="微软雅黑" panose="020B0503020204020204" pitchFamily="34" charset="-122"/>
                        </a:rPr>
                        <a:t>前一状态</a:t>
                      </a:r>
                    </a:p>
                  </a:txBody>
                  <a:tcPr anchor="ctr"/>
                </a:tc>
                <a:tc>
                  <a:txBody>
                    <a:bodyPr/>
                    <a:lstStyle/>
                    <a:p>
                      <a:pPr algn="ctr">
                        <a:lnSpc>
                          <a:spcPct val="90000"/>
                        </a:lnSpc>
                        <a:buNone/>
                      </a:pPr>
                      <a:r>
                        <a:rPr lang="zh-CN" altLang="en-US" sz="1800">
                          <a:latin typeface="微软雅黑" panose="020B0503020204020204" pitchFamily="34" charset="-122"/>
                          <a:ea typeface="微软雅黑" panose="020B0503020204020204" pitchFamily="34" charset="-122"/>
                        </a:rPr>
                        <a:t>事件</a:t>
                      </a:r>
                    </a:p>
                  </a:txBody>
                  <a:tcPr anchor="ctr"/>
                </a:tc>
                <a:tc>
                  <a:txBody>
                    <a:bodyPr/>
                    <a:lstStyle/>
                    <a:p>
                      <a:pPr algn="ctr">
                        <a:lnSpc>
                          <a:spcPct val="90000"/>
                        </a:lnSpc>
                        <a:buNone/>
                      </a:pPr>
                      <a:r>
                        <a:rPr lang="zh-CN" altLang="en-US" sz="1800">
                          <a:latin typeface="微软雅黑" panose="020B0503020204020204" pitchFamily="34" charset="-122"/>
                          <a:ea typeface="微软雅黑" panose="020B0503020204020204" pitchFamily="34" charset="-122"/>
                        </a:rPr>
                        <a:t>后一状态</a:t>
                      </a:r>
                    </a:p>
                  </a:txBody>
                  <a:tcPr anchor="ctr"/>
                </a:tc>
                <a:extLst>
                  <a:ext uri="{0D108BD9-81ED-4DB2-BD59-A6C34878D82A}">
                    <a16:rowId xmlns:a16="http://schemas.microsoft.com/office/drawing/2014/main" val="10000"/>
                  </a:ext>
                </a:extLst>
              </a:tr>
              <a:tr h="567055">
                <a:tc>
                  <a:txBody>
                    <a:bodyPr/>
                    <a:lstStyle/>
                    <a:p>
                      <a:pPr algn="ctr">
                        <a:buNone/>
                      </a:pPr>
                      <a:r>
                        <a:rPr sz="1800" kern="1200">
                          <a:solidFill>
                            <a:srgbClr val="595959"/>
                          </a:solidFill>
                          <a:latin typeface="微软雅黑" panose="020B0503020204020204" pitchFamily="34" charset="-122"/>
                          <a:ea typeface="微软雅黑" panose="020B0503020204020204" pitchFamily="34" charset="-122"/>
                          <a:cs typeface="+mn-ea"/>
                        </a:rPr>
                        <a:t>售后</a:t>
                      </a:r>
                    </a:p>
                  </a:txBody>
                  <a:tcPr anchor="ctr"/>
                </a:tc>
                <a:tc>
                  <a:txBody>
                    <a:bodyPr/>
                    <a:lstStyle/>
                    <a:p>
                      <a:pPr algn="ctr">
                        <a:buNone/>
                      </a:pPr>
                      <a:r>
                        <a:rPr sz="1800" kern="1200">
                          <a:solidFill>
                            <a:srgbClr val="595959"/>
                          </a:solidFill>
                          <a:latin typeface="微软雅黑" panose="020B0503020204020204" pitchFamily="34" charset="-122"/>
                          <a:ea typeface="微软雅黑" panose="020B0503020204020204" pitchFamily="34" charset="-122"/>
                          <a:cs typeface="+mn-ea"/>
                        </a:rPr>
                        <a:t>取消申请</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ea"/>
                        </a:rPr>
                        <a:t>待收货</a:t>
                      </a:r>
                    </a:p>
                  </a:txBody>
                  <a:tcPr anchor="ctr"/>
                </a:tc>
                <a:extLst>
                  <a:ext uri="{0D108BD9-81ED-4DB2-BD59-A6C34878D82A}">
                    <a16:rowId xmlns:a16="http://schemas.microsoft.com/office/drawing/2014/main" val="10001"/>
                  </a:ext>
                </a:extLst>
              </a:tr>
              <a:tr h="548640">
                <a:tc>
                  <a:txBody>
                    <a:bodyPr/>
                    <a:lstStyle/>
                    <a:p>
                      <a:pPr algn="ctr">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ea"/>
                        </a:rPr>
                        <a:t>待收货</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ea"/>
                        </a:rPr>
                        <a:t>买家确认收货</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ea"/>
                        </a:rPr>
                        <a:t>订单完成</a:t>
                      </a:r>
                    </a:p>
                  </a:txBody>
                  <a:tcPr anchor="ctr"/>
                </a:tc>
                <a:extLst>
                  <a:ext uri="{0D108BD9-81ED-4DB2-BD59-A6C34878D82A}">
                    <a16:rowId xmlns:a16="http://schemas.microsoft.com/office/drawing/2014/main" val="10002"/>
                  </a:ext>
                </a:extLst>
              </a:tr>
              <a:tr h="638175">
                <a:tc>
                  <a:txBody>
                    <a:bodyPr/>
                    <a:lstStyle/>
                    <a:p>
                      <a:pPr algn="ctr">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ea"/>
                        </a:rPr>
                        <a:t>售后</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ea"/>
                        </a:rPr>
                        <a:t>商家同意退货</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ea"/>
                        </a:rPr>
                        <a:t>已退货</a:t>
                      </a:r>
                    </a:p>
                  </a:txBody>
                  <a:tcPr anchor="ctr"/>
                </a:tc>
                <a:extLst>
                  <a:ext uri="{0D108BD9-81ED-4DB2-BD59-A6C34878D82A}">
                    <a16:rowId xmlns:a16="http://schemas.microsoft.com/office/drawing/2014/main" val="10003"/>
                  </a:ext>
                </a:extLst>
              </a:tr>
              <a:tr h="648335">
                <a:tc>
                  <a:txBody>
                    <a:bodyPr/>
                    <a:lstStyle/>
                    <a:p>
                      <a:pPr algn="ctr">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ea"/>
                        </a:rPr>
                        <a:t>已退货</a:t>
                      </a:r>
                    </a:p>
                  </a:txBody>
                  <a:tcPr anchor="ctr"/>
                </a:tc>
                <a:tc>
                  <a:txBody>
                    <a:bodyPr/>
                    <a:lstStyle/>
                    <a:p>
                      <a:pPr algn="ctr">
                        <a:buNone/>
                      </a:pPr>
                      <a:r>
                        <a:rPr lang="en-US" altLang="zh-CN" sz="1800" kern="1200" dirty="0" err="1">
                          <a:solidFill>
                            <a:srgbClr val="595959"/>
                          </a:solidFill>
                          <a:latin typeface="微软雅黑" panose="020B0503020204020204" pitchFamily="34" charset="-122"/>
                          <a:ea typeface="微软雅黑" panose="020B0503020204020204" pitchFamily="34" charset="-122"/>
                          <a:cs typeface="+mn-ea"/>
                        </a:rPr>
                        <a:t>退货成功</a:t>
                      </a:r>
                      <a:endParaRPr lang="en-US" altLang="zh-CN" sz="1800" kern="1200" dirty="0">
                        <a:solidFill>
                          <a:srgbClr val="595959"/>
                        </a:solidFill>
                        <a:latin typeface="微软雅黑" panose="020B0503020204020204" pitchFamily="34" charset="-122"/>
                        <a:ea typeface="微软雅黑" panose="020B0503020204020204" pitchFamily="34" charset="-122"/>
                        <a:cs typeface="+mn-ea"/>
                      </a:endParaRPr>
                    </a:p>
                  </a:txBody>
                  <a:tcPr anchor="ctr"/>
                </a:tc>
                <a:tc>
                  <a:txBody>
                    <a:bodyPr/>
                    <a:lstStyle/>
                    <a:p>
                      <a:pPr algn="ctr">
                        <a:buNone/>
                      </a:pPr>
                      <a:r>
                        <a:rPr lang="en-US" altLang="zh-CN" sz="1800" kern="1200" dirty="0" err="1">
                          <a:solidFill>
                            <a:srgbClr val="595959"/>
                          </a:solidFill>
                          <a:latin typeface="微软雅黑" panose="020B0503020204020204" pitchFamily="34" charset="-122"/>
                          <a:ea typeface="微软雅黑" panose="020B0503020204020204" pitchFamily="34" charset="-122"/>
                          <a:cs typeface="+mn-ea"/>
                        </a:rPr>
                        <a:t>订单完成</a:t>
                      </a:r>
                      <a:endParaRPr lang="en-US" altLang="zh-CN" sz="1800" kern="1200" dirty="0">
                        <a:solidFill>
                          <a:srgbClr val="595959"/>
                        </a:solidFill>
                        <a:latin typeface="微软雅黑" panose="020B0503020204020204" pitchFamily="34" charset="-122"/>
                        <a:ea typeface="微软雅黑" panose="020B0503020204020204" pitchFamily="34" charset="-122"/>
                        <a:cs typeface="+mn-ea"/>
                      </a:endParaRPr>
                    </a:p>
                  </a:txBody>
                  <a:tcPr anchor="ctr"/>
                </a:tc>
                <a:extLst>
                  <a:ext uri="{0D108BD9-81ED-4DB2-BD59-A6C34878D82A}">
                    <a16:rowId xmlns:a16="http://schemas.microsoft.com/office/drawing/2014/main" val="10004"/>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1143635" y="266700"/>
            <a:ext cx="599694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2.6.2	实例一：小兔鲜商城订单状态迁移图</a:t>
            </a:r>
          </a:p>
        </p:txBody>
      </p:sp>
      <p:sp>
        <p:nvSpPr>
          <p:cNvPr id="3" name="文本框 2"/>
          <p:cNvSpPr txBox="1"/>
          <p:nvPr/>
        </p:nvSpPr>
        <p:spPr>
          <a:xfrm>
            <a:off x="1847215" y="836930"/>
            <a:ext cx="6532245" cy="368300"/>
          </a:xfrm>
          <a:prstGeom prst="rect">
            <a:avLst/>
          </a:prstGeom>
          <a:noFill/>
        </p:spPr>
        <p:txBody>
          <a:bodyPr wrap="square" rtlCol="0" anchor="t">
            <a:spAutoFit/>
          </a:bodyPr>
          <a:lstStyle/>
          <a:p>
            <a:r>
              <a:rPr lang="zh-CN" altLang="en-US" sz="1800" dirty="0">
                <a:solidFill>
                  <a:srgbClr val="595959"/>
                </a:solidFill>
                <a:latin typeface="微软雅黑" panose="020B0503020204020204" pitchFamily="34" charset="-122"/>
                <a:ea typeface="微软雅黑" panose="020B0503020204020204" pitchFamily="34" charset="-122"/>
                <a:cs typeface="+mn-ea"/>
              </a:rPr>
              <a:t>根据状态迁移画出</a:t>
            </a:r>
            <a:r>
              <a:rPr lang="zh-CN" altLang="en-US" sz="1800" dirty="0">
                <a:solidFill>
                  <a:srgbClr val="0070C0"/>
                </a:solidFill>
                <a:latin typeface="微软雅黑" panose="020B0503020204020204" pitchFamily="34" charset="-122"/>
                <a:ea typeface="微软雅黑" panose="020B0503020204020204" pitchFamily="34" charset="-122"/>
              </a:rPr>
              <a:t>小兔鲜商城订单状态转换树</a:t>
            </a:r>
            <a:r>
              <a:rPr lang="zh-CN" altLang="en-US" sz="1800" dirty="0">
                <a:solidFill>
                  <a:schemeClr val="tx1">
                    <a:lumMod val="75000"/>
                    <a:lumOff val="25000"/>
                  </a:schemeClr>
                </a:solidFill>
                <a:latin typeface="微软雅黑" panose="020B0503020204020204" pitchFamily="34" charset="-122"/>
                <a:ea typeface="微软雅黑" panose="020B0503020204020204" pitchFamily="34" charset="-122"/>
              </a:rPr>
              <a:t>，</a:t>
            </a:r>
            <a:r>
              <a:rPr lang="zh-CN" altLang="en-US" sz="1800" dirty="0">
                <a:solidFill>
                  <a:srgbClr val="595959"/>
                </a:solidFill>
                <a:latin typeface="微软雅黑" panose="020B0503020204020204" pitchFamily="34" charset="-122"/>
                <a:ea typeface="微软雅黑" panose="020B0503020204020204" pitchFamily="34" charset="-122"/>
                <a:cs typeface="+mn-ea"/>
              </a:rPr>
              <a:t>如下图所示。</a:t>
            </a:r>
          </a:p>
        </p:txBody>
      </p:sp>
      <p:pic>
        <p:nvPicPr>
          <p:cNvPr id="5" name="图片 4" descr="222"/>
          <p:cNvPicPr>
            <a:picLocks noChangeAspect="1"/>
          </p:cNvPicPr>
          <p:nvPr/>
        </p:nvPicPr>
        <p:blipFill>
          <a:blip r:embed="rId3"/>
          <a:stretch>
            <a:fillRect/>
          </a:stretch>
        </p:blipFill>
        <p:spPr>
          <a:xfrm>
            <a:off x="2421413" y="1277938"/>
            <a:ext cx="7347585" cy="2124075"/>
          </a:xfrm>
          <a:prstGeom prst="rect">
            <a:avLst/>
          </a:prstGeom>
        </p:spPr>
      </p:pic>
      <p:sp>
        <p:nvSpPr>
          <p:cNvPr id="6" name="文本框 5"/>
          <p:cNvSpPr txBox="1"/>
          <p:nvPr/>
        </p:nvSpPr>
        <p:spPr>
          <a:xfrm>
            <a:off x="1774825" y="3457575"/>
            <a:ext cx="9027795" cy="2999740"/>
          </a:xfrm>
          <a:prstGeom prst="rect">
            <a:avLst/>
          </a:prstGeom>
          <a:noFill/>
        </p:spPr>
        <p:txBody>
          <a:bodyPr wrap="square" rtlCol="0" anchor="t">
            <a:spAutoFit/>
          </a:bodyPr>
          <a:lstStyle/>
          <a:p>
            <a:pPr>
              <a:lnSpc>
                <a:spcPct val="150000"/>
              </a:lnSpc>
            </a:pPr>
            <a:r>
              <a:rPr lang="zh-CN" altLang="en-US" sz="1800" dirty="0">
                <a:solidFill>
                  <a:srgbClr val="595959"/>
                </a:solidFill>
                <a:latin typeface="微软雅黑" panose="020B0503020204020204" pitchFamily="34" charset="-122"/>
                <a:ea typeface="微软雅黑" panose="020B0503020204020204" pitchFamily="34" charset="-122"/>
                <a:cs typeface="+mn-ea"/>
              </a:rPr>
              <a:t>通过分析上图可知，一共有</a:t>
            </a:r>
            <a:r>
              <a:rPr lang="zh-CN" altLang="en-US" sz="1800" dirty="0">
                <a:solidFill>
                  <a:srgbClr val="0070C0"/>
                </a:solidFill>
                <a:latin typeface="微软雅黑" panose="020B0503020204020204" pitchFamily="34" charset="-122"/>
                <a:ea typeface="微软雅黑" panose="020B0503020204020204" pitchFamily="34" charset="-122"/>
              </a:rPr>
              <a:t>6条测试路径</a:t>
            </a:r>
            <a:r>
              <a:rPr lang="zh-CN" altLang="en-US" sz="1800" dirty="0">
                <a:solidFill>
                  <a:srgbClr val="595959"/>
                </a:solidFill>
                <a:latin typeface="微软雅黑" panose="020B0503020204020204" pitchFamily="34" charset="-122"/>
                <a:ea typeface="微软雅黑" panose="020B0503020204020204" pitchFamily="34" charset="-122"/>
                <a:cs typeface="+mn-ea"/>
              </a:rPr>
              <a:t>，</a:t>
            </a:r>
            <a:r>
              <a:rPr lang="zh-CN" altLang="en-US" sz="1800">
                <a:solidFill>
                  <a:srgbClr val="595959"/>
                </a:solidFill>
                <a:latin typeface="微软雅黑" panose="020B0503020204020204" pitchFamily="34" charset="-122"/>
                <a:ea typeface="微软雅黑" panose="020B0503020204020204" pitchFamily="34" charset="-122"/>
                <a:cs typeface="+mn-ea"/>
              </a:rPr>
              <a:t>具体如下。</a:t>
            </a:r>
            <a:endParaRPr lang="zh-CN" altLang="en-US" sz="1800" dirty="0">
              <a:solidFill>
                <a:srgbClr val="595959"/>
              </a:solidFill>
              <a:latin typeface="微软雅黑" panose="020B0503020204020204" pitchFamily="34" charset="-122"/>
              <a:ea typeface="微软雅黑" panose="020B0503020204020204" pitchFamily="34" charset="-122"/>
              <a:cs typeface="+mn-ea"/>
            </a:endParaRPr>
          </a:p>
          <a:p>
            <a:pPr indent="-285750">
              <a:lnSpc>
                <a:spcPct val="150000"/>
              </a:lnSpc>
              <a:buFont typeface="Wingdings" panose="05000000000000000000" charset="0"/>
              <a:buChar char="l"/>
            </a:pPr>
            <a:r>
              <a:rPr lang="zh-CN" altLang="en-US" sz="1800" dirty="0">
                <a:solidFill>
                  <a:srgbClr val="595959"/>
                </a:solidFill>
                <a:latin typeface="微软雅黑" panose="020B0503020204020204" pitchFamily="34" charset="-122"/>
                <a:ea typeface="微软雅黑" panose="020B0503020204020204" pitchFamily="34" charset="-122"/>
                <a:cs typeface="+mn-ea"/>
              </a:rPr>
              <a:t>测试路径1：提交订单→待支付→订单取消。</a:t>
            </a:r>
          </a:p>
          <a:p>
            <a:pPr indent="-285750">
              <a:lnSpc>
                <a:spcPct val="150000"/>
              </a:lnSpc>
              <a:buClrTx/>
              <a:buSzTx/>
              <a:buFont typeface="Wingdings" panose="05000000000000000000" charset="0"/>
              <a:buChar char="l"/>
            </a:pPr>
            <a:r>
              <a:rPr lang="zh-CN" altLang="en-US" sz="1800" dirty="0">
                <a:solidFill>
                  <a:srgbClr val="595959"/>
                </a:solidFill>
                <a:latin typeface="微软雅黑" panose="020B0503020204020204" pitchFamily="34" charset="-122"/>
                <a:ea typeface="微软雅黑" panose="020B0503020204020204" pitchFamily="34" charset="-122"/>
                <a:cs typeface="+mn-ea"/>
              </a:rPr>
              <a:t>测试路径2：提交订单→待支付→待发货→售后→待发货。</a:t>
            </a:r>
          </a:p>
          <a:p>
            <a:pPr indent="-285750">
              <a:lnSpc>
                <a:spcPct val="150000"/>
              </a:lnSpc>
              <a:buClrTx/>
              <a:buSzTx/>
              <a:buFont typeface="Wingdings" panose="05000000000000000000" charset="0"/>
              <a:buChar char="l"/>
            </a:pPr>
            <a:r>
              <a:rPr lang="zh-CN" altLang="en-US" sz="1800" dirty="0">
                <a:solidFill>
                  <a:srgbClr val="595959"/>
                </a:solidFill>
                <a:latin typeface="微软雅黑" panose="020B0503020204020204" pitchFamily="34" charset="-122"/>
                <a:ea typeface="微软雅黑" panose="020B0503020204020204" pitchFamily="34" charset="-122"/>
                <a:cs typeface="+mn-ea"/>
              </a:rPr>
              <a:t>测试路径3：提交订单→待支付→待发货→售后→待收货。</a:t>
            </a:r>
          </a:p>
          <a:p>
            <a:pPr indent="-285750">
              <a:lnSpc>
                <a:spcPct val="150000"/>
              </a:lnSpc>
              <a:buClrTx/>
              <a:buSzTx/>
              <a:buFont typeface="Wingdings" panose="05000000000000000000" charset="0"/>
              <a:buChar char="l"/>
            </a:pPr>
            <a:r>
              <a:rPr lang="zh-CN" altLang="en-US" sz="1800" dirty="0">
                <a:solidFill>
                  <a:srgbClr val="595959"/>
                </a:solidFill>
                <a:latin typeface="微软雅黑" panose="020B0503020204020204" pitchFamily="34" charset="-122"/>
                <a:ea typeface="微软雅黑" panose="020B0503020204020204" pitchFamily="34" charset="-122"/>
                <a:cs typeface="+mn-ea"/>
              </a:rPr>
              <a:t>测试路径4：提交订单→待支付→待发货→售后→已退货→订单完成。</a:t>
            </a:r>
          </a:p>
          <a:p>
            <a:pPr indent="-285750">
              <a:lnSpc>
                <a:spcPct val="150000"/>
              </a:lnSpc>
              <a:buClrTx/>
              <a:buSzTx/>
              <a:buFont typeface="Wingdings" panose="05000000000000000000" charset="0"/>
              <a:buChar char="l"/>
            </a:pPr>
            <a:r>
              <a:rPr lang="zh-CN" altLang="en-US" sz="1800" dirty="0">
                <a:solidFill>
                  <a:srgbClr val="595959"/>
                </a:solidFill>
                <a:latin typeface="微软雅黑" panose="020B0503020204020204" pitchFamily="34" charset="-122"/>
                <a:ea typeface="微软雅黑" panose="020B0503020204020204" pitchFamily="34" charset="-122"/>
                <a:cs typeface="+mn-ea"/>
              </a:rPr>
              <a:t>测试路径5：提交订单→待支付→待发货→待收货→订单完成。</a:t>
            </a:r>
          </a:p>
          <a:p>
            <a:pPr indent="-285750">
              <a:lnSpc>
                <a:spcPct val="150000"/>
              </a:lnSpc>
              <a:buClrTx/>
              <a:buSzTx/>
              <a:buFont typeface="Wingdings" panose="05000000000000000000" charset="0"/>
              <a:buChar char="l"/>
            </a:pPr>
            <a:r>
              <a:rPr lang="zh-CN" altLang="en-US" sz="1800" dirty="0">
                <a:solidFill>
                  <a:srgbClr val="595959"/>
                </a:solidFill>
                <a:latin typeface="微软雅黑" panose="020B0503020204020204" pitchFamily="34" charset="-122"/>
                <a:ea typeface="微软雅黑" panose="020B0503020204020204" pitchFamily="34" charset="-122"/>
                <a:cs typeface="+mn-ea"/>
              </a:rPr>
              <a:t>测试路径6：提交订单→待支付→待发货→待收货→售后。</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1143635" y="266700"/>
            <a:ext cx="599694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2.6.2	实例一：小兔鲜商城订单状态迁移图</a:t>
            </a:r>
          </a:p>
        </p:txBody>
      </p:sp>
      <p:sp>
        <p:nvSpPr>
          <p:cNvPr id="3" name="文本框 2"/>
          <p:cNvSpPr txBox="1"/>
          <p:nvPr/>
        </p:nvSpPr>
        <p:spPr>
          <a:xfrm>
            <a:off x="1847215" y="836930"/>
            <a:ext cx="6532245" cy="368300"/>
          </a:xfrm>
          <a:prstGeom prst="rect">
            <a:avLst/>
          </a:prstGeom>
          <a:noFill/>
        </p:spPr>
        <p:txBody>
          <a:bodyPr wrap="square" rtlCol="0" anchor="t">
            <a:spAutoFit/>
          </a:bodyPr>
          <a:lstStyle/>
          <a:p>
            <a:r>
              <a:rPr lang="zh-CN" altLang="en-US" sz="1800" dirty="0">
                <a:solidFill>
                  <a:srgbClr val="595959"/>
                </a:solidFill>
                <a:latin typeface="微软雅黑" panose="020B0503020204020204" pitchFamily="34" charset="-122"/>
                <a:ea typeface="微软雅黑" panose="020B0503020204020204" pitchFamily="34" charset="-122"/>
                <a:cs typeface="+mn-ea"/>
              </a:rPr>
              <a:t>小兔鲜商城</a:t>
            </a:r>
            <a:r>
              <a:rPr lang="zh-CN" altLang="en-US" sz="1800" dirty="0">
                <a:solidFill>
                  <a:srgbClr val="0070C0"/>
                </a:solidFill>
                <a:latin typeface="微软雅黑" panose="020B0503020204020204" pitchFamily="34" charset="-122"/>
                <a:ea typeface="微软雅黑" panose="020B0503020204020204" pitchFamily="34" charset="-122"/>
              </a:rPr>
              <a:t>订单状态迁移的测试用例</a:t>
            </a:r>
            <a:r>
              <a:rPr lang="zh-CN" altLang="en-US" sz="1800" dirty="0">
                <a:solidFill>
                  <a:srgbClr val="595959"/>
                </a:solidFill>
                <a:latin typeface="微软雅黑" panose="020B0503020204020204" pitchFamily="34" charset="-122"/>
                <a:ea typeface="微软雅黑" panose="020B0503020204020204" pitchFamily="34" charset="-122"/>
                <a:cs typeface="+mn-ea"/>
              </a:rPr>
              <a:t>如下表所示。</a:t>
            </a:r>
          </a:p>
        </p:txBody>
      </p:sp>
      <p:graphicFrame>
        <p:nvGraphicFramePr>
          <p:cNvPr id="4" name="表格 3"/>
          <p:cNvGraphicFramePr/>
          <p:nvPr>
            <p:custDataLst>
              <p:tags r:id="rId1"/>
            </p:custDataLst>
          </p:nvPr>
        </p:nvGraphicFramePr>
        <p:xfrm>
          <a:off x="1127125" y="1413510"/>
          <a:ext cx="10045700" cy="4668520"/>
        </p:xfrm>
        <a:graphic>
          <a:graphicData uri="http://schemas.openxmlformats.org/drawingml/2006/table">
            <a:tbl>
              <a:tblPr firstRow="1" bandRow="1">
                <a:tableStyleId>{5C22544A-7EE6-4342-B048-85BDC9FD1C3A}</a:tableStyleId>
              </a:tblPr>
              <a:tblGrid>
                <a:gridCol w="1357630">
                  <a:extLst>
                    <a:ext uri="{9D8B030D-6E8A-4147-A177-3AD203B41FA5}">
                      <a16:colId xmlns:a16="http://schemas.microsoft.com/office/drawing/2014/main" val="20000"/>
                    </a:ext>
                  </a:extLst>
                </a:gridCol>
                <a:gridCol w="1201420">
                  <a:extLst>
                    <a:ext uri="{9D8B030D-6E8A-4147-A177-3AD203B41FA5}">
                      <a16:colId xmlns:a16="http://schemas.microsoft.com/office/drawing/2014/main" val="20001"/>
                    </a:ext>
                  </a:extLst>
                </a:gridCol>
                <a:gridCol w="2828925">
                  <a:extLst>
                    <a:ext uri="{9D8B030D-6E8A-4147-A177-3AD203B41FA5}">
                      <a16:colId xmlns:a16="http://schemas.microsoft.com/office/drawing/2014/main" val="20002"/>
                    </a:ext>
                  </a:extLst>
                </a:gridCol>
                <a:gridCol w="3007995">
                  <a:extLst>
                    <a:ext uri="{9D8B030D-6E8A-4147-A177-3AD203B41FA5}">
                      <a16:colId xmlns:a16="http://schemas.microsoft.com/office/drawing/2014/main" val="20003"/>
                    </a:ext>
                  </a:extLst>
                </a:gridCol>
                <a:gridCol w="1649730">
                  <a:extLst>
                    <a:ext uri="{9D8B030D-6E8A-4147-A177-3AD203B41FA5}">
                      <a16:colId xmlns:a16="http://schemas.microsoft.com/office/drawing/2014/main" val="20004"/>
                    </a:ext>
                  </a:extLst>
                </a:gridCol>
              </a:tblGrid>
              <a:tr h="699135">
                <a:tc>
                  <a:txBody>
                    <a:bodyPr/>
                    <a:lstStyle/>
                    <a:p>
                      <a:pPr algn="ctr">
                        <a:lnSpc>
                          <a:spcPct val="90000"/>
                        </a:lnSpc>
                        <a:buNone/>
                      </a:pPr>
                      <a:r>
                        <a:rPr lang="zh-CN" altLang="en-US" sz="1800" b="1">
                          <a:latin typeface="微软雅黑" panose="020B0503020204020204" pitchFamily="34" charset="-122"/>
                          <a:ea typeface="微软雅黑" panose="020B0503020204020204" pitchFamily="34" charset="-122"/>
                        </a:rPr>
                        <a:t>测试用例</a:t>
                      </a:r>
                    </a:p>
                  </a:txBody>
                  <a:tcPr anchor="ctr"/>
                </a:tc>
                <a:tc>
                  <a:txBody>
                    <a:bodyPr/>
                    <a:lstStyle/>
                    <a:p>
                      <a:pPr algn="ctr">
                        <a:lnSpc>
                          <a:spcPct val="90000"/>
                        </a:lnSpc>
                        <a:buNone/>
                      </a:pPr>
                      <a:r>
                        <a:rPr lang="zh-CN" altLang="en-US" sz="1800">
                          <a:latin typeface="微软雅黑" panose="020B0503020204020204" pitchFamily="34" charset="-122"/>
                          <a:ea typeface="微软雅黑" panose="020B0503020204020204" pitchFamily="34" charset="-122"/>
                        </a:rPr>
                        <a:t>测试路径</a:t>
                      </a:r>
                    </a:p>
                  </a:txBody>
                  <a:tcPr anchor="ctr"/>
                </a:tc>
                <a:tc>
                  <a:txBody>
                    <a:bodyPr/>
                    <a:lstStyle/>
                    <a:p>
                      <a:pPr algn="ctr">
                        <a:lnSpc>
                          <a:spcPct val="90000"/>
                        </a:lnSpc>
                        <a:buNone/>
                      </a:pPr>
                      <a:r>
                        <a:rPr lang="zh-CN" altLang="en-US" sz="1800">
                          <a:latin typeface="微软雅黑" panose="020B0503020204020204" pitchFamily="34" charset="-122"/>
                          <a:ea typeface="微软雅黑" panose="020B0503020204020204" pitchFamily="34" charset="-122"/>
                        </a:rPr>
                        <a:t>前置条件</a:t>
                      </a:r>
                    </a:p>
                  </a:txBody>
                  <a:tcPr anchor="ctr"/>
                </a:tc>
                <a:tc>
                  <a:txBody>
                    <a:bodyPr/>
                    <a:lstStyle/>
                    <a:p>
                      <a:pPr algn="ctr">
                        <a:lnSpc>
                          <a:spcPct val="90000"/>
                        </a:lnSpc>
                        <a:buNone/>
                      </a:pPr>
                      <a:r>
                        <a:rPr lang="zh-CN" altLang="en-US" sz="1800">
                          <a:latin typeface="微软雅黑" panose="020B0503020204020204" pitchFamily="34" charset="-122"/>
                          <a:ea typeface="微软雅黑" panose="020B0503020204020204" pitchFamily="34" charset="-122"/>
                        </a:rPr>
                        <a:t>测试步骤</a:t>
                      </a:r>
                    </a:p>
                  </a:txBody>
                  <a:tcPr anchor="ctr"/>
                </a:tc>
                <a:tc>
                  <a:txBody>
                    <a:bodyPr/>
                    <a:lstStyle/>
                    <a:p>
                      <a:pPr algn="ctr">
                        <a:lnSpc>
                          <a:spcPct val="90000"/>
                        </a:lnSpc>
                        <a:buNone/>
                      </a:pPr>
                      <a:r>
                        <a:rPr lang="zh-CN" altLang="en-US" sz="1800">
                          <a:latin typeface="微软雅黑" panose="020B0503020204020204" pitchFamily="34" charset="-122"/>
                          <a:ea typeface="微软雅黑" panose="020B0503020204020204" pitchFamily="34" charset="-122"/>
                        </a:rPr>
                        <a:t>预期结果</a:t>
                      </a:r>
                    </a:p>
                  </a:txBody>
                  <a:tcPr anchor="ctr"/>
                </a:tc>
                <a:extLst>
                  <a:ext uri="{0D108BD9-81ED-4DB2-BD59-A6C34878D82A}">
                    <a16:rowId xmlns:a16="http://schemas.microsoft.com/office/drawing/2014/main" val="10000"/>
                  </a:ext>
                </a:extLst>
              </a:tr>
              <a:tr h="1104265">
                <a:tc>
                  <a:txBody>
                    <a:bodyPr/>
                    <a:lstStyle/>
                    <a:p>
                      <a:pPr marL="0" algn="ctr" defTabSz="1219200" rtl="0" eaLnBrk="1" latinLnBrk="0" hangingPunct="1">
                        <a:buNone/>
                      </a:pPr>
                      <a:r>
                        <a:rPr sz="1600" kern="1200">
                          <a:solidFill>
                            <a:srgbClr val="595959"/>
                          </a:solidFill>
                          <a:latin typeface="微软雅黑" panose="020B0503020204020204" pitchFamily="34" charset="-122"/>
                          <a:ea typeface="微软雅黑" panose="020B0503020204020204" pitchFamily="34" charset="-122"/>
                          <a:cs typeface="+mn-ea"/>
                        </a:rPr>
                        <a:t>test1</a:t>
                      </a:r>
                    </a:p>
                  </a:txBody>
                  <a:tcPr anchor="ctr"/>
                </a:tc>
                <a:tc>
                  <a:txBody>
                    <a:bodyPr/>
                    <a:lstStyle/>
                    <a:p>
                      <a:pPr marL="0" algn="ctr" defTabSz="1219200" rtl="0" eaLnBrk="1" latinLnBrk="0" hangingPunct="1">
                        <a:buNone/>
                      </a:pPr>
                      <a:r>
                        <a:rPr lang="en-US" sz="1600" kern="1200">
                          <a:solidFill>
                            <a:srgbClr val="595959"/>
                          </a:solidFill>
                          <a:latin typeface="微软雅黑" panose="020B0503020204020204" pitchFamily="34" charset="-122"/>
                          <a:ea typeface="微软雅黑" panose="020B0503020204020204" pitchFamily="34" charset="-122"/>
                          <a:cs typeface="+mn-ea"/>
                        </a:rPr>
                        <a:t>1</a:t>
                      </a:r>
                    </a:p>
                  </a:txBody>
                  <a:tcPr anchor="ctr"/>
                </a:tc>
                <a:tc>
                  <a:txBody>
                    <a:bodyPr/>
                    <a:lstStyle/>
                    <a:p>
                      <a:pPr marL="0" algn="l" defTabSz="1219200" rtl="0" eaLnBrk="1" latinLnBrk="0" hangingPunct="1">
                        <a:buNone/>
                      </a:pPr>
                      <a:r>
                        <a:rPr lang="en-US" altLang="zh-CN" sz="1600" kern="1200">
                          <a:solidFill>
                            <a:srgbClr val="595959"/>
                          </a:solidFill>
                          <a:latin typeface="微软雅黑" panose="020B0503020204020204" pitchFamily="34" charset="-122"/>
                          <a:ea typeface="微软雅黑" panose="020B0503020204020204" pitchFamily="34" charset="-122"/>
                          <a:cs typeface="+mn-ea"/>
                        </a:rPr>
                        <a:t>1.成功注册、登录的用户</a:t>
                      </a:r>
                      <a:r>
                        <a:rPr lang="zh-CN" altLang="en-US" sz="1600" kern="1200">
                          <a:solidFill>
                            <a:srgbClr val="595959"/>
                          </a:solidFill>
                          <a:latin typeface="微软雅黑" panose="020B0503020204020204" pitchFamily="34" charset="-122"/>
                          <a:ea typeface="微软雅黑" panose="020B0503020204020204" pitchFamily="34" charset="-122"/>
                          <a:cs typeface="+mn-ea"/>
                        </a:rPr>
                        <a:t>；</a:t>
                      </a:r>
                      <a:endParaRPr lang="en-US" altLang="zh-CN" sz="1600" kern="1200">
                        <a:solidFill>
                          <a:srgbClr val="595959"/>
                        </a:solidFill>
                        <a:latin typeface="微软雅黑" panose="020B0503020204020204" pitchFamily="34" charset="-122"/>
                        <a:ea typeface="微软雅黑" panose="020B0503020204020204" pitchFamily="34" charset="-122"/>
                        <a:cs typeface="+mn-ea"/>
                      </a:endParaRPr>
                    </a:p>
                    <a:p>
                      <a:pPr marL="0" algn="l" defTabSz="1219200" rtl="0" eaLnBrk="1" latinLnBrk="0" hangingPunct="1">
                        <a:buNone/>
                      </a:pPr>
                      <a:r>
                        <a:rPr lang="en-US" altLang="zh-CN" sz="1600" kern="1200">
                          <a:solidFill>
                            <a:srgbClr val="595959"/>
                          </a:solidFill>
                          <a:latin typeface="微软雅黑" panose="020B0503020204020204" pitchFamily="34" charset="-122"/>
                          <a:ea typeface="微软雅黑" panose="020B0503020204020204" pitchFamily="34" charset="-122"/>
                          <a:cs typeface="+mn-ea"/>
                        </a:rPr>
                        <a:t>2.成功搜索商品并加入购物车</a:t>
                      </a:r>
                    </a:p>
                  </a:txBody>
                  <a:tcPr anchor="ctr"/>
                </a:tc>
                <a:tc>
                  <a:txBody>
                    <a:bodyPr/>
                    <a:lstStyle/>
                    <a:p>
                      <a:pPr marL="0" algn="l" defTabSz="1219200" rtl="0" eaLnBrk="1" latinLnBrk="0" hangingPunct="1">
                        <a:buNone/>
                      </a:pPr>
                      <a:r>
                        <a:rPr lang="en-US" altLang="zh-CN" sz="1600" kern="1200">
                          <a:solidFill>
                            <a:srgbClr val="595959"/>
                          </a:solidFill>
                          <a:latin typeface="微软雅黑" panose="020B0503020204020204" pitchFamily="34" charset="-122"/>
                          <a:ea typeface="微软雅黑" panose="020B0503020204020204" pitchFamily="34" charset="-122"/>
                          <a:cs typeface="+mn-ea"/>
                        </a:rPr>
                        <a:t>1.选择购物车中的商品提交订单</a:t>
                      </a:r>
                      <a:r>
                        <a:rPr lang="zh-CN" altLang="en-US" sz="1600" kern="1200">
                          <a:solidFill>
                            <a:srgbClr val="595959"/>
                          </a:solidFill>
                          <a:latin typeface="微软雅黑" panose="020B0503020204020204" pitchFamily="34" charset="-122"/>
                          <a:ea typeface="微软雅黑" panose="020B0503020204020204" pitchFamily="34" charset="-122"/>
                          <a:cs typeface="+mn-ea"/>
                        </a:rPr>
                        <a:t>；</a:t>
                      </a:r>
                      <a:endParaRPr lang="en-US" altLang="zh-CN" sz="1600" kern="1200">
                        <a:solidFill>
                          <a:srgbClr val="595959"/>
                        </a:solidFill>
                        <a:latin typeface="微软雅黑" panose="020B0503020204020204" pitchFamily="34" charset="-122"/>
                        <a:ea typeface="微软雅黑" panose="020B0503020204020204" pitchFamily="34" charset="-122"/>
                        <a:cs typeface="+mn-ea"/>
                      </a:endParaRPr>
                    </a:p>
                    <a:p>
                      <a:pPr marL="0" algn="l" defTabSz="1219200" rtl="0" eaLnBrk="1" latinLnBrk="0" hangingPunct="1">
                        <a:buNone/>
                      </a:pPr>
                      <a:r>
                        <a:rPr lang="en-US" altLang="zh-CN" sz="1600" kern="1200">
                          <a:solidFill>
                            <a:srgbClr val="595959"/>
                          </a:solidFill>
                          <a:latin typeface="微软雅黑" panose="020B0503020204020204" pitchFamily="34" charset="-122"/>
                          <a:ea typeface="微软雅黑" panose="020B0503020204020204" pitchFamily="34" charset="-122"/>
                          <a:cs typeface="+mn-ea"/>
                        </a:rPr>
                        <a:t>2.使用余额不足的银行卡支付</a:t>
                      </a:r>
                      <a:r>
                        <a:rPr lang="zh-CN" altLang="en-US" sz="1600" kern="1200">
                          <a:solidFill>
                            <a:srgbClr val="595959"/>
                          </a:solidFill>
                          <a:latin typeface="微软雅黑" panose="020B0503020204020204" pitchFamily="34" charset="-122"/>
                          <a:ea typeface="微软雅黑" panose="020B0503020204020204" pitchFamily="34" charset="-122"/>
                          <a:cs typeface="+mn-ea"/>
                        </a:rPr>
                        <a:t>；</a:t>
                      </a:r>
                      <a:endParaRPr lang="en-US" altLang="zh-CN" sz="1600" kern="1200">
                        <a:solidFill>
                          <a:srgbClr val="595959"/>
                        </a:solidFill>
                        <a:latin typeface="微软雅黑" panose="020B0503020204020204" pitchFamily="34" charset="-122"/>
                        <a:ea typeface="微软雅黑" panose="020B0503020204020204" pitchFamily="34" charset="-122"/>
                        <a:cs typeface="+mn-ea"/>
                      </a:endParaRPr>
                    </a:p>
                    <a:p>
                      <a:pPr marL="0" algn="l" defTabSz="1219200" rtl="0" eaLnBrk="1" latinLnBrk="0" hangingPunct="1">
                        <a:buNone/>
                      </a:pPr>
                      <a:r>
                        <a:rPr lang="en-US" altLang="zh-CN" sz="1600" kern="1200">
                          <a:solidFill>
                            <a:srgbClr val="595959"/>
                          </a:solidFill>
                          <a:latin typeface="微软雅黑" panose="020B0503020204020204" pitchFamily="34" charset="-122"/>
                          <a:ea typeface="微软雅黑" panose="020B0503020204020204" pitchFamily="34" charset="-122"/>
                          <a:cs typeface="+mn-ea"/>
                        </a:rPr>
                        <a:t>3.选择取消订单</a:t>
                      </a:r>
                    </a:p>
                  </a:txBody>
                  <a:tcPr anchor="ctr"/>
                </a:tc>
                <a:tc>
                  <a:txBody>
                    <a:bodyPr/>
                    <a:lstStyle/>
                    <a:p>
                      <a:pPr marL="0" algn="l" defTabSz="1219200" rtl="0" eaLnBrk="1" latinLnBrk="0" hangingPunct="1">
                        <a:buNone/>
                      </a:pPr>
                      <a:r>
                        <a:rPr lang="en-US" altLang="zh-CN" sz="1600" kern="1200">
                          <a:solidFill>
                            <a:srgbClr val="595959"/>
                          </a:solidFill>
                          <a:latin typeface="微软雅黑" panose="020B0503020204020204" pitchFamily="34" charset="-122"/>
                          <a:ea typeface="微软雅黑" panose="020B0503020204020204" pitchFamily="34" charset="-122"/>
                          <a:cs typeface="+mn-ea"/>
                        </a:rPr>
                        <a:t>成功取消订单</a:t>
                      </a:r>
                    </a:p>
                  </a:txBody>
                  <a:tcPr anchor="ctr"/>
                </a:tc>
                <a:extLst>
                  <a:ext uri="{0D108BD9-81ED-4DB2-BD59-A6C34878D82A}">
                    <a16:rowId xmlns:a16="http://schemas.microsoft.com/office/drawing/2014/main" val="10001"/>
                  </a:ext>
                </a:extLst>
              </a:tr>
              <a:tr h="619760">
                <a:tc>
                  <a:txBody>
                    <a:bodyPr/>
                    <a:lstStyle/>
                    <a:p>
                      <a:pPr marL="0" algn="ctr" defTabSz="1219200" rtl="0" eaLnBrk="1" latinLnBrk="0" hangingPunct="1">
                        <a:buClrTx/>
                        <a:buSzTx/>
                        <a:buFontTx/>
                        <a:buNone/>
                      </a:pPr>
                      <a:r>
                        <a:rPr lang="en-US" altLang="zh-CN" sz="1600" kern="1200">
                          <a:solidFill>
                            <a:srgbClr val="595959"/>
                          </a:solidFill>
                          <a:latin typeface="微软雅黑" panose="020B0503020204020204" pitchFamily="34" charset="-122"/>
                          <a:ea typeface="微软雅黑" panose="020B0503020204020204" pitchFamily="34" charset="-122"/>
                          <a:cs typeface="+mn-ea"/>
                        </a:rPr>
                        <a:t>test2</a:t>
                      </a:r>
                    </a:p>
                  </a:txBody>
                  <a:tcPr anchor="ctr"/>
                </a:tc>
                <a:tc>
                  <a:txBody>
                    <a:bodyPr/>
                    <a:lstStyle/>
                    <a:p>
                      <a:pPr marL="0" algn="ctr" defTabSz="1219200" rtl="0" eaLnBrk="1" latinLnBrk="0" hangingPunct="1">
                        <a:buNone/>
                      </a:pPr>
                      <a:r>
                        <a:rPr lang="en-US" altLang="zh-CN" sz="1600" kern="1200">
                          <a:solidFill>
                            <a:srgbClr val="595959"/>
                          </a:solidFill>
                          <a:latin typeface="微软雅黑" panose="020B0503020204020204" pitchFamily="34" charset="-122"/>
                          <a:ea typeface="微软雅黑" panose="020B0503020204020204" pitchFamily="34" charset="-122"/>
                          <a:cs typeface="+mn-ea"/>
                        </a:rPr>
                        <a:t>2</a:t>
                      </a:r>
                    </a:p>
                  </a:txBody>
                  <a:tcPr anchor="ctr"/>
                </a:tc>
                <a:tc>
                  <a:txBody>
                    <a:bodyPr/>
                    <a:lstStyle/>
                    <a:p>
                      <a:pPr marL="0" algn="l" defTabSz="1219200" rtl="0" eaLnBrk="1" latinLnBrk="0" hangingPunct="1">
                        <a:buNone/>
                      </a:pPr>
                      <a:r>
                        <a:rPr lang="en-US" altLang="zh-CN" sz="1600" kern="1200">
                          <a:solidFill>
                            <a:srgbClr val="595959"/>
                          </a:solidFill>
                          <a:latin typeface="微软雅黑" panose="020B0503020204020204" pitchFamily="34" charset="-122"/>
                          <a:ea typeface="微软雅黑" panose="020B0503020204020204" pitchFamily="34" charset="-122"/>
                          <a:cs typeface="+mn-ea"/>
                        </a:rPr>
                        <a:t>1.成功注册、登录的用户</a:t>
                      </a:r>
                      <a:r>
                        <a:rPr lang="zh-CN" altLang="en-US" sz="1600" kern="1200">
                          <a:solidFill>
                            <a:srgbClr val="595959"/>
                          </a:solidFill>
                          <a:latin typeface="微软雅黑" panose="020B0503020204020204" pitchFamily="34" charset="-122"/>
                          <a:ea typeface="微软雅黑" panose="020B0503020204020204" pitchFamily="34" charset="-122"/>
                          <a:cs typeface="+mn-ea"/>
                        </a:rPr>
                        <a:t>；</a:t>
                      </a:r>
                      <a:endParaRPr lang="en-US" altLang="zh-CN" sz="1600" kern="1200">
                        <a:solidFill>
                          <a:srgbClr val="595959"/>
                        </a:solidFill>
                        <a:latin typeface="微软雅黑" panose="020B0503020204020204" pitchFamily="34" charset="-122"/>
                        <a:ea typeface="微软雅黑" panose="020B0503020204020204" pitchFamily="34" charset="-122"/>
                        <a:cs typeface="+mn-ea"/>
                      </a:endParaRPr>
                    </a:p>
                    <a:p>
                      <a:pPr marL="0" algn="l" defTabSz="1219200" rtl="0" eaLnBrk="1" latinLnBrk="0" hangingPunct="1">
                        <a:buNone/>
                      </a:pPr>
                      <a:r>
                        <a:rPr lang="en-US" altLang="zh-CN" sz="1600" kern="1200">
                          <a:solidFill>
                            <a:srgbClr val="595959"/>
                          </a:solidFill>
                          <a:latin typeface="微软雅黑" panose="020B0503020204020204" pitchFamily="34" charset="-122"/>
                          <a:ea typeface="微软雅黑" panose="020B0503020204020204" pitchFamily="34" charset="-122"/>
                          <a:cs typeface="+mn-ea"/>
                        </a:rPr>
                        <a:t>2.成功搜索商品并加入购物车</a:t>
                      </a:r>
                    </a:p>
                  </a:txBody>
                  <a:tcPr anchor="ctr"/>
                </a:tc>
                <a:tc>
                  <a:txBody>
                    <a:bodyPr/>
                    <a:lstStyle/>
                    <a:p>
                      <a:pPr marL="0" algn="l" defTabSz="1219200" rtl="0" eaLnBrk="1" latinLnBrk="0" hangingPunct="1">
                        <a:buNone/>
                      </a:pPr>
                      <a:r>
                        <a:rPr lang="en-US" altLang="zh-CN" sz="1600" kern="1200">
                          <a:solidFill>
                            <a:srgbClr val="595959"/>
                          </a:solidFill>
                          <a:latin typeface="微软雅黑" panose="020B0503020204020204" pitchFamily="34" charset="-122"/>
                          <a:ea typeface="微软雅黑" panose="020B0503020204020204" pitchFamily="34" charset="-122"/>
                          <a:cs typeface="+mn-ea"/>
                        </a:rPr>
                        <a:t>1.选择购物车中的商品提交订单</a:t>
                      </a:r>
                      <a:r>
                        <a:rPr lang="zh-CN" altLang="en-US" sz="1600" kern="1200">
                          <a:solidFill>
                            <a:srgbClr val="595959"/>
                          </a:solidFill>
                          <a:latin typeface="微软雅黑" panose="020B0503020204020204" pitchFamily="34" charset="-122"/>
                          <a:ea typeface="微软雅黑" panose="020B0503020204020204" pitchFamily="34" charset="-122"/>
                          <a:cs typeface="+mn-ea"/>
                        </a:rPr>
                        <a:t>；</a:t>
                      </a:r>
                      <a:endParaRPr lang="en-US" altLang="zh-CN" sz="1600" kern="1200">
                        <a:solidFill>
                          <a:srgbClr val="595959"/>
                        </a:solidFill>
                        <a:latin typeface="微软雅黑" panose="020B0503020204020204" pitchFamily="34" charset="-122"/>
                        <a:ea typeface="微软雅黑" panose="020B0503020204020204" pitchFamily="34" charset="-122"/>
                        <a:cs typeface="+mn-ea"/>
                      </a:endParaRPr>
                    </a:p>
                    <a:p>
                      <a:pPr marL="0" algn="l" defTabSz="1219200" rtl="0" eaLnBrk="1" latinLnBrk="0" hangingPunct="1">
                        <a:buNone/>
                      </a:pPr>
                      <a:r>
                        <a:rPr lang="en-US" altLang="zh-CN" sz="1600" kern="1200">
                          <a:solidFill>
                            <a:srgbClr val="595959"/>
                          </a:solidFill>
                          <a:latin typeface="微软雅黑" panose="020B0503020204020204" pitchFamily="34" charset="-122"/>
                          <a:ea typeface="微软雅黑" panose="020B0503020204020204" pitchFamily="34" charset="-122"/>
                          <a:cs typeface="+mn-ea"/>
                        </a:rPr>
                        <a:t>2.使用可正常支付的银行卡支付</a:t>
                      </a:r>
                      <a:r>
                        <a:rPr lang="zh-CN" altLang="en-US" sz="1600" kern="1200">
                          <a:solidFill>
                            <a:srgbClr val="595959"/>
                          </a:solidFill>
                          <a:latin typeface="微软雅黑" panose="020B0503020204020204" pitchFamily="34" charset="-122"/>
                          <a:ea typeface="微软雅黑" panose="020B0503020204020204" pitchFamily="34" charset="-122"/>
                          <a:cs typeface="+mn-ea"/>
                        </a:rPr>
                        <a:t>；</a:t>
                      </a:r>
                      <a:endParaRPr lang="en-US" altLang="zh-CN" sz="1600" kern="1200">
                        <a:solidFill>
                          <a:srgbClr val="595959"/>
                        </a:solidFill>
                        <a:latin typeface="微软雅黑" panose="020B0503020204020204" pitchFamily="34" charset="-122"/>
                        <a:ea typeface="微软雅黑" panose="020B0503020204020204" pitchFamily="34" charset="-122"/>
                        <a:cs typeface="+mn-ea"/>
                      </a:endParaRPr>
                    </a:p>
                    <a:p>
                      <a:pPr marL="0" algn="l" defTabSz="1219200" rtl="0" eaLnBrk="1" latinLnBrk="0" hangingPunct="1">
                        <a:buNone/>
                      </a:pPr>
                      <a:r>
                        <a:rPr lang="en-US" altLang="zh-CN" sz="1600" kern="1200">
                          <a:solidFill>
                            <a:srgbClr val="595959"/>
                          </a:solidFill>
                          <a:latin typeface="微软雅黑" panose="020B0503020204020204" pitchFamily="34" charset="-122"/>
                          <a:ea typeface="微软雅黑" panose="020B0503020204020204" pitchFamily="34" charset="-122"/>
                          <a:cs typeface="+mn-ea"/>
                        </a:rPr>
                        <a:t>3.申请退货</a:t>
                      </a:r>
                      <a:r>
                        <a:rPr lang="zh-CN" altLang="en-US" sz="1600" kern="1200">
                          <a:solidFill>
                            <a:srgbClr val="595959"/>
                          </a:solidFill>
                          <a:latin typeface="微软雅黑" panose="020B0503020204020204" pitchFamily="34" charset="-122"/>
                          <a:ea typeface="微软雅黑" panose="020B0503020204020204" pitchFamily="34" charset="-122"/>
                          <a:cs typeface="+mn-ea"/>
                        </a:rPr>
                        <a:t>；</a:t>
                      </a:r>
                      <a:endParaRPr lang="en-US" altLang="zh-CN" sz="1600" kern="1200">
                        <a:solidFill>
                          <a:srgbClr val="595959"/>
                        </a:solidFill>
                        <a:latin typeface="微软雅黑" panose="020B0503020204020204" pitchFamily="34" charset="-122"/>
                        <a:ea typeface="微软雅黑" panose="020B0503020204020204" pitchFamily="34" charset="-122"/>
                        <a:cs typeface="+mn-ea"/>
                      </a:endParaRPr>
                    </a:p>
                    <a:p>
                      <a:pPr marL="0" algn="l" defTabSz="1219200" rtl="0" eaLnBrk="1" latinLnBrk="0" hangingPunct="1">
                        <a:buNone/>
                      </a:pPr>
                      <a:r>
                        <a:rPr lang="en-US" altLang="zh-CN" sz="1600" kern="1200">
                          <a:solidFill>
                            <a:srgbClr val="595959"/>
                          </a:solidFill>
                          <a:latin typeface="微软雅黑" panose="020B0503020204020204" pitchFamily="34" charset="-122"/>
                          <a:ea typeface="微软雅黑" panose="020B0503020204020204" pitchFamily="34" charset="-122"/>
                          <a:cs typeface="+mn-ea"/>
                        </a:rPr>
                        <a:t>4.商家同意退货</a:t>
                      </a:r>
                      <a:r>
                        <a:rPr lang="zh-CN" altLang="en-US" sz="1600" kern="1200">
                          <a:solidFill>
                            <a:srgbClr val="595959"/>
                          </a:solidFill>
                          <a:latin typeface="微软雅黑" panose="020B0503020204020204" pitchFamily="34" charset="-122"/>
                          <a:ea typeface="微软雅黑" panose="020B0503020204020204" pitchFamily="34" charset="-122"/>
                          <a:cs typeface="+mn-ea"/>
                        </a:rPr>
                        <a:t>；</a:t>
                      </a:r>
                      <a:endParaRPr lang="en-US" altLang="zh-CN" sz="1600" kern="1200">
                        <a:solidFill>
                          <a:srgbClr val="595959"/>
                        </a:solidFill>
                        <a:latin typeface="微软雅黑" panose="020B0503020204020204" pitchFamily="34" charset="-122"/>
                        <a:ea typeface="微软雅黑" panose="020B0503020204020204" pitchFamily="34" charset="-122"/>
                        <a:cs typeface="+mn-ea"/>
                      </a:endParaRPr>
                    </a:p>
                    <a:p>
                      <a:pPr marL="0" algn="l" defTabSz="1219200" rtl="0" eaLnBrk="1" latinLnBrk="0" hangingPunct="1">
                        <a:buNone/>
                      </a:pPr>
                      <a:r>
                        <a:rPr lang="en-US" altLang="zh-CN" sz="1600" kern="1200">
                          <a:solidFill>
                            <a:srgbClr val="595959"/>
                          </a:solidFill>
                          <a:latin typeface="微软雅黑" panose="020B0503020204020204" pitchFamily="34" charset="-122"/>
                          <a:ea typeface="微软雅黑" panose="020B0503020204020204" pitchFamily="34" charset="-122"/>
                          <a:cs typeface="+mn-ea"/>
                        </a:rPr>
                        <a:t>5.取消申请</a:t>
                      </a:r>
                    </a:p>
                  </a:txBody>
                  <a:tcPr anchor="ctr"/>
                </a:tc>
                <a:tc>
                  <a:txBody>
                    <a:bodyPr/>
                    <a:lstStyle/>
                    <a:p>
                      <a:pPr marL="0" algn="l" defTabSz="1219200" rtl="0" eaLnBrk="1" latinLnBrk="0" hangingPunct="1">
                        <a:buNone/>
                      </a:pPr>
                      <a:r>
                        <a:rPr lang="en-US" altLang="zh-CN" sz="1600" kern="1200">
                          <a:solidFill>
                            <a:srgbClr val="595959"/>
                          </a:solidFill>
                          <a:latin typeface="微软雅黑" panose="020B0503020204020204" pitchFamily="34" charset="-122"/>
                          <a:ea typeface="微软雅黑" panose="020B0503020204020204" pitchFamily="34" charset="-122"/>
                          <a:cs typeface="+mn-ea"/>
                        </a:rPr>
                        <a:t>成功取消申请</a:t>
                      </a:r>
                    </a:p>
                  </a:txBody>
                  <a:tcPr anchor="ctr"/>
                </a:tc>
                <a:extLst>
                  <a:ext uri="{0D108BD9-81ED-4DB2-BD59-A6C34878D82A}">
                    <a16:rowId xmlns:a16="http://schemas.microsoft.com/office/drawing/2014/main" val="10002"/>
                  </a:ext>
                </a:extLst>
              </a:tr>
              <a:tr h="720725">
                <a:tc>
                  <a:txBody>
                    <a:bodyPr/>
                    <a:lstStyle/>
                    <a:p>
                      <a:pPr marL="0" algn="ctr" defTabSz="1219200" rtl="0" eaLnBrk="1" latinLnBrk="0" hangingPunct="1">
                        <a:buClrTx/>
                        <a:buSzTx/>
                        <a:buFontTx/>
                        <a:buNone/>
                      </a:pPr>
                      <a:r>
                        <a:rPr lang="en-US" altLang="zh-CN" sz="1600" kern="1200">
                          <a:solidFill>
                            <a:srgbClr val="595959"/>
                          </a:solidFill>
                          <a:latin typeface="微软雅黑" panose="020B0503020204020204" pitchFamily="34" charset="-122"/>
                          <a:ea typeface="微软雅黑" panose="020B0503020204020204" pitchFamily="34" charset="-122"/>
                          <a:cs typeface="+mn-ea"/>
                        </a:rPr>
                        <a:t>test3</a:t>
                      </a:r>
                    </a:p>
                  </a:txBody>
                  <a:tcPr anchor="ctr"/>
                </a:tc>
                <a:tc>
                  <a:txBody>
                    <a:bodyPr/>
                    <a:lstStyle/>
                    <a:p>
                      <a:pPr marL="0" algn="ctr" defTabSz="1219200" rtl="0" eaLnBrk="1" latinLnBrk="0" hangingPunct="1">
                        <a:buNone/>
                      </a:pPr>
                      <a:r>
                        <a:rPr lang="en-US" altLang="zh-CN" sz="1600" kern="1200">
                          <a:solidFill>
                            <a:srgbClr val="595959"/>
                          </a:solidFill>
                          <a:latin typeface="微软雅黑" panose="020B0503020204020204" pitchFamily="34" charset="-122"/>
                          <a:ea typeface="微软雅黑" panose="020B0503020204020204" pitchFamily="34" charset="-122"/>
                          <a:cs typeface="+mn-ea"/>
                        </a:rPr>
                        <a:t>3</a:t>
                      </a:r>
                    </a:p>
                  </a:txBody>
                  <a:tcPr anchor="ctr"/>
                </a:tc>
                <a:tc>
                  <a:txBody>
                    <a:bodyPr/>
                    <a:lstStyle/>
                    <a:p>
                      <a:pPr marL="0" algn="l" defTabSz="1219200" rtl="0" eaLnBrk="1" latinLnBrk="0" hangingPunct="1">
                        <a:buNone/>
                      </a:pPr>
                      <a:r>
                        <a:rPr lang="en-US" altLang="zh-CN" sz="1600" kern="1200">
                          <a:solidFill>
                            <a:srgbClr val="595959"/>
                          </a:solidFill>
                          <a:latin typeface="微软雅黑" panose="020B0503020204020204" pitchFamily="34" charset="-122"/>
                          <a:ea typeface="微软雅黑" panose="020B0503020204020204" pitchFamily="34" charset="-122"/>
                          <a:cs typeface="+mn-ea"/>
                        </a:rPr>
                        <a:t>1.成功注册、登录的用户</a:t>
                      </a:r>
                      <a:r>
                        <a:rPr lang="zh-CN" altLang="en-US" sz="1600" kern="1200">
                          <a:solidFill>
                            <a:srgbClr val="595959"/>
                          </a:solidFill>
                          <a:latin typeface="微软雅黑" panose="020B0503020204020204" pitchFamily="34" charset="-122"/>
                          <a:ea typeface="微软雅黑" panose="020B0503020204020204" pitchFamily="34" charset="-122"/>
                          <a:cs typeface="+mn-ea"/>
                        </a:rPr>
                        <a:t>；</a:t>
                      </a:r>
                      <a:endParaRPr lang="en-US" altLang="zh-CN" sz="1600" kern="1200">
                        <a:solidFill>
                          <a:srgbClr val="595959"/>
                        </a:solidFill>
                        <a:latin typeface="微软雅黑" panose="020B0503020204020204" pitchFamily="34" charset="-122"/>
                        <a:ea typeface="微软雅黑" panose="020B0503020204020204" pitchFamily="34" charset="-122"/>
                        <a:cs typeface="+mn-ea"/>
                      </a:endParaRPr>
                    </a:p>
                    <a:p>
                      <a:pPr marL="0" algn="l" defTabSz="1219200" rtl="0" eaLnBrk="1" latinLnBrk="0" hangingPunct="1">
                        <a:buNone/>
                      </a:pPr>
                      <a:r>
                        <a:rPr lang="en-US" altLang="zh-CN" sz="1600" kern="1200">
                          <a:solidFill>
                            <a:srgbClr val="595959"/>
                          </a:solidFill>
                          <a:latin typeface="微软雅黑" panose="020B0503020204020204" pitchFamily="34" charset="-122"/>
                          <a:ea typeface="微软雅黑" panose="020B0503020204020204" pitchFamily="34" charset="-122"/>
                          <a:cs typeface="+mn-ea"/>
                        </a:rPr>
                        <a:t>2.成功搜索商品并加入购物车</a:t>
                      </a:r>
                    </a:p>
                  </a:txBody>
                  <a:tcPr anchor="ctr"/>
                </a:tc>
                <a:tc>
                  <a:txBody>
                    <a:bodyPr/>
                    <a:lstStyle/>
                    <a:p>
                      <a:pPr marL="0" algn="l" defTabSz="1219200" rtl="0" eaLnBrk="1" latinLnBrk="0" hangingPunct="1">
                        <a:buNone/>
                      </a:pPr>
                      <a:r>
                        <a:rPr lang="en-US" altLang="zh-CN" sz="1600" kern="1200">
                          <a:solidFill>
                            <a:srgbClr val="595959"/>
                          </a:solidFill>
                          <a:latin typeface="微软雅黑" panose="020B0503020204020204" pitchFamily="34" charset="-122"/>
                          <a:ea typeface="微软雅黑" panose="020B0503020204020204" pitchFamily="34" charset="-122"/>
                          <a:cs typeface="+mn-ea"/>
                        </a:rPr>
                        <a:t>1.选择购物车中的商品提交订单</a:t>
                      </a:r>
                      <a:r>
                        <a:rPr lang="zh-CN" altLang="en-US" sz="1600" kern="1200">
                          <a:solidFill>
                            <a:srgbClr val="595959"/>
                          </a:solidFill>
                          <a:latin typeface="微软雅黑" panose="020B0503020204020204" pitchFamily="34" charset="-122"/>
                          <a:ea typeface="微软雅黑" panose="020B0503020204020204" pitchFamily="34" charset="-122"/>
                          <a:cs typeface="+mn-ea"/>
                        </a:rPr>
                        <a:t>；</a:t>
                      </a:r>
                      <a:endParaRPr lang="en-US" altLang="zh-CN" sz="1600" kern="1200">
                        <a:solidFill>
                          <a:srgbClr val="595959"/>
                        </a:solidFill>
                        <a:latin typeface="微软雅黑" panose="020B0503020204020204" pitchFamily="34" charset="-122"/>
                        <a:ea typeface="微软雅黑" panose="020B0503020204020204" pitchFamily="34" charset="-122"/>
                        <a:cs typeface="+mn-ea"/>
                      </a:endParaRPr>
                    </a:p>
                    <a:p>
                      <a:pPr marL="0" algn="l" defTabSz="1219200" rtl="0" eaLnBrk="1" latinLnBrk="0" hangingPunct="1">
                        <a:buNone/>
                      </a:pPr>
                      <a:r>
                        <a:rPr lang="en-US" altLang="zh-CN" sz="1600" kern="1200">
                          <a:solidFill>
                            <a:srgbClr val="595959"/>
                          </a:solidFill>
                          <a:latin typeface="微软雅黑" panose="020B0503020204020204" pitchFamily="34" charset="-122"/>
                          <a:ea typeface="微软雅黑" panose="020B0503020204020204" pitchFamily="34" charset="-122"/>
                          <a:cs typeface="+mn-ea"/>
                        </a:rPr>
                        <a:t>2.使用可正常支付的银行卡支付</a:t>
                      </a:r>
                      <a:r>
                        <a:rPr lang="zh-CN" altLang="en-US" sz="1600" kern="1200">
                          <a:solidFill>
                            <a:srgbClr val="595959"/>
                          </a:solidFill>
                          <a:latin typeface="微软雅黑" panose="020B0503020204020204" pitchFamily="34" charset="-122"/>
                          <a:ea typeface="微软雅黑" panose="020B0503020204020204" pitchFamily="34" charset="-122"/>
                          <a:cs typeface="+mn-ea"/>
                        </a:rPr>
                        <a:t>；</a:t>
                      </a:r>
                      <a:endParaRPr lang="en-US" altLang="zh-CN" sz="1600" kern="1200">
                        <a:solidFill>
                          <a:srgbClr val="595959"/>
                        </a:solidFill>
                        <a:latin typeface="微软雅黑" panose="020B0503020204020204" pitchFamily="34" charset="-122"/>
                        <a:ea typeface="微软雅黑" panose="020B0503020204020204" pitchFamily="34" charset="-122"/>
                        <a:cs typeface="+mn-ea"/>
                      </a:endParaRPr>
                    </a:p>
                    <a:p>
                      <a:pPr marL="0" algn="l" defTabSz="1219200" rtl="0" eaLnBrk="1" latinLnBrk="0" hangingPunct="1">
                        <a:buNone/>
                      </a:pPr>
                      <a:r>
                        <a:rPr lang="en-US" altLang="zh-CN" sz="1600" kern="1200">
                          <a:solidFill>
                            <a:srgbClr val="595959"/>
                          </a:solidFill>
                          <a:latin typeface="微软雅黑" panose="020B0503020204020204" pitchFamily="34" charset="-122"/>
                          <a:ea typeface="微软雅黑" panose="020B0503020204020204" pitchFamily="34" charset="-122"/>
                          <a:cs typeface="+mn-ea"/>
                        </a:rPr>
                        <a:t>3.商家发货</a:t>
                      </a:r>
                      <a:r>
                        <a:rPr lang="zh-CN" altLang="en-US" sz="1600" kern="1200">
                          <a:solidFill>
                            <a:srgbClr val="595959"/>
                          </a:solidFill>
                          <a:latin typeface="微软雅黑" panose="020B0503020204020204" pitchFamily="34" charset="-122"/>
                          <a:ea typeface="微软雅黑" panose="020B0503020204020204" pitchFamily="34" charset="-122"/>
                          <a:cs typeface="+mn-ea"/>
                        </a:rPr>
                        <a:t>；</a:t>
                      </a:r>
                      <a:endParaRPr lang="en-US" altLang="zh-CN" sz="1600" kern="1200">
                        <a:solidFill>
                          <a:srgbClr val="595959"/>
                        </a:solidFill>
                        <a:latin typeface="微软雅黑" panose="020B0503020204020204" pitchFamily="34" charset="-122"/>
                        <a:ea typeface="微软雅黑" panose="020B0503020204020204" pitchFamily="34" charset="-122"/>
                        <a:cs typeface="+mn-ea"/>
                      </a:endParaRPr>
                    </a:p>
                    <a:p>
                      <a:pPr marL="0" algn="l" defTabSz="1219200" rtl="0" eaLnBrk="1" latinLnBrk="0" hangingPunct="1">
                        <a:buNone/>
                      </a:pPr>
                      <a:r>
                        <a:rPr lang="en-US" altLang="zh-CN" sz="1600" kern="1200">
                          <a:solidFill>
                            <a:srgbClr val="595959"/>
                          </a:solidFill>
                          <a:latin typeface="微软雅黑" panose="020B0503020204020204" pitchFamily="34" charset="-122"/>
                          <a:ea typeface="微软雅黑" panose="020B0503020204020204" pitchFamily="34" charset="-122"/>
                          <a:cs typeface="+mn-ea"/>
                        </a:rPr>
                        <a:t>4.申请退货</a:t>
                      </a:r>
                      <a:r>
                        <a:rPr lang="zh-CN" altLang="en-US" sz="1600" kern="1200">
                          <a:solidFill>
                            <a:srgbClr val="595959"/>
                          </a:solidFill>
                          <a:latin typeface="微软雅黑" panose="020B0503020204020204" pitchFamily="34" charset="-122"/>
                          <a:ea typeface="微软雅黑" panose="020B0503020204020204" pitchFamily="34" charset="-122"/>
                          <a:cs typeface="+mn-ea"/>
                        </a:rPr>
                        <a:t>；</a:t>
                      </a:r>
                      <a:endParaRPr lang="en-US" altLang="zh-CN" sz="1600" kern="1200">
                        <a:solidFill>
                          <a:srgbClr val="595959"/>
                        </a:solidFill>
                        <a:latin typeface="微软雅黑" panose="020B0503020204020204" pitchFamily="34" charset="-122"/>
                        <a:ea typeface="微软雅黑" panose="020B0503020204020204" pitchFamily="34" charset="-122"/>
                        <a:cs typeface="+mn-ea"/>
                      </a:endParaRPr>
                    </a:p>
                    <a:p>
                      <a:pPr marL="0" algn="l" defTabSz="1219200" rtl="0" eaLnBrk="1" latinLnBrk="0" hangingPunct="1">
                        <a:buNone/>
                      </a:pPr>
                      <a:r>
                        <a:rPr lang="en-US" altLang="zh-CN" sz="1600" kern="1200">
                          <a:solidFill>
                            <a:srgbClr val="595959"/>
                          </a:solidFill>
                          <a:latin typeface="微软雅黑" panose="020B0503020204020204" pitchFamily="34" charset="-122"/>
                          <a:ea typeface="微软雅黑" panose="020B0503020204020204" pitchFamily="34" charset="-122"/>
                          <a:cs typeface="+mn-ea"/>
                        </a:rPr>
                        <a:t>5.商家同意退货</a:t>
                      </a:r>
                      <a:r>
                        <a:rPr lang="zh-CN" altLang="en-US" sz="1600" kern="1200">
                          <a:solidFill>
                            <a:srgbClr val="595959"/>
                          </a:solidFill>
                          <a:latin typeface="微软雅黑" panose="020B0503020204020204" pitchFamily="34" charset="-122"/>
                          <a:ea typeface="微软雅黑" panose="020B0503020204020204" pitchFamily="34" charset="-122"/>
                          <a:cs typeface="+mn-ea"/>
                        </a:rPr>
                        <a:t>；</a:t>
                      </a:r>
                      <a:endParaRPr lang="en-US" altLang="zh-CN" sz="1600" kern="1200">
                        <a:solidFill>
                          <a:srgbClr val="595959"/>
                        </a:solidFill>
                        <a:latin typeface="微软雅黑" panose="020B0503020204020204" pitchFamily="34" charset="-122"/>
                        <a:ea typeface="微软雅黑" panose="020B0503020204020204" pitchFamily="34" charset="-122"/>
                        <a:cs typeface="+mn-ea"/>
                      </a:endParaRPr>
                    </a:p>
                    <a:p>
                      <a:pPr marL="0" algn="l" defTabSz="1219200" rtl="0" eaLnBrk="1" latinLnBrk="0" hangingPunct="1">
                        <a:buNone/>
                      </a:pPr>
                      <a:r>
                        <a:rPr lang="en-US" altLang="zh-CN" sz="1600" kern="1200">
                          <a:solidFill>
                            <a:srgbClr val="595959"/>
                          </a:solidFill>
                          <a:latin typeface="微软雅黑" panose="020B0503020204020204" pitchFamily="34" charset="-122"/>
                          <a:ea typeface="微软雅黑" panose="020B0503020204020204" pitchFamily="34" charset="-122"/>
                          <a:cs typeface="+mn-ea"/>
                        </a:rPr>
                        <a:t>6.取消申请</a:t>
                      </a:r>
                    </a:p>
                  </a:txBody>
                  <a:tcPr anchor="ctr"/>
                </a:tc>
                <a:tc>
                  <a:txBody>
                    <a:bodyPr/>
                    <a:lstStyle/>
                    <a:p>
                      <a:pPr marL="0" algn="l" defTabSz="1219200" rtl="0" eaLnBrk="1" latinLnBrk="0" hangingPunct="1">
                        <a:buNone/>
                      </a:pPr>
                      <a:r>
                        <a:rPr lang="en-US" altLang="zh-CN" sz="1600" kern="1200">
                          <a:solidFill>
                            <a:srgbClr val="595959"/>
                          </a:solidFill>
                          <a:latin typeface="微软雅黑" panose="020B0503020204020204" pitchFamily="34" charset="-122"/>
                          <a:ea typeface="微软雅黑" panose="020B0503020204020204" pitchFamily="34" charset="-122"/>
                          <a:cs typeface="+mn-ea"/>
                        </a:rPr>
                        <a:t>成功取消申请</a:t>
                      </a:r>
                    </a:p>
                  </a:txBody>
                  <a:tcPr anchor="ctr"/>
                </a:tc>
                <a:extLst>
                  <a:ext uri="{0D108BD9-81ED-4DB2-BD59-A6C34878D82A}">
                    <a16:rowId xmlns:a16="http://schemas.microsoft.com/office/drawing/2014/main" val="10003"/>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1143635" y="266700"/>
            <a:ext cx="599694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2.6.2	实例一：小兔鲜商城订单状态迁移图</a:t>
            </a:r>
          </a:p>
        </p:txBody>
      </p:sp>
      <p:graphicFrame>
        <p:nvGraphicFramePr>
          <p:cNvPr id="4" name="表格 3"/>
          <p:cNvGraphicFramePr/>
          <p:nvPr>
            <p:custDataLst>
              <p:tags r:id="rId1"/>
            </p:custDataLst>
          </p:nvPr>
        </p:nvGraphicFramePr>
        <p:xfrm>
          <a:off x="1072515" y="1197610"/>
          <a:ext cx="10045700" cy="4143375"/>
        </p:xfrm>
        <a:graphic>
          <a:graphicData uri="http://schemas.openxmlformats.org/drawingml/2006/table">
            <a:tbl>
              <a:tblPr firstRow="1" bandRow="1">
                <a:tableStyleId>{5C22544A-7EE6-4342-B048-85BDC9FD1C3A}</a:tableStyleId>
              </a:tblPr>
              <a:tblGrid>
                <a:gridCol w="1357630">
                  <a:extLst>
                    <a:ext uri="{9D8B030D-6E8A-4147-A177-3AD203B41FA5}">
                      <a16:colId xmlns:a16="http://schemas.microsoft.com/office/drawing/2014/main" val="20000"/>
                    </a:ext>
                  </a:extLst>
                </a:gridCol>
                <a:gridCol w="1201420">
                  <a:extLst>
                    <a:ext uri="{9D8B030D-6E8A-4147-A177-3AD203B41FA5}">
                      <a16:colId xmlns:a16="http://schemas.microsoft.com/office/drawing/2014/main" val="20001"/>
                    </a:ext>
                  </a:extLst>
                </a:gridCol>
                <a:gridCol w="2828925">
                  <a:extLst>
                    <a:ext uri="{9D8B030D-6E8A-4147-A177-3AD203B41FA5}">
                      <a16:colId xmlns:a16="http://schemas.microsoft.com/office/drawing/2014/main" val="20002"/>
                    </a:ext>
                  </a:extLst>
                </a:gridCol>
                <a:gridCol w="3007995">
                  <a:extLst>
                    <a:ext uri="{9D8B030D-6E8A-4147-A177-3AD203B41FA5}">
                      <a16:colId xmlns:a16="http://schemas.microsoft.com/office/drawing/2014/main" val="20003"/>
                    </a:ext>
                  </a:extLst>
                </a:gridCol>
                <a:gridCol w="1649730">
                  <a:extLst>
                    <a:ext uri="{9D8B030D-6E8A-4147-A177-3AD203B41FA5}">
                      <a16:colId xmlns:a16="http://schemas.microsoft.com/office/drawing/2014/main" val="20004"/>
                    </a:ext>
                  </a:extLst>
                </a:gridCol>
              </a:tblGrid>
              <a:tr h="699135">
                <a:tc>
                  <a:txBody>
                    <a:bodyPr/>
                    <a:lstStyle/>
                    <a:p>
                      <a:pPr algn="ctr">
                        <a:lnSpc>
                          <a:spcPct val="90000"/>
                        </a:lnSpc>
                        <a:buNone/>
                      </a:pPr>
                      <a:r>
                        <a:rPr lang="zh-CN" altLang="en-US" sz="1800" b="1">
                          <a:latin typeface="微软雅黑" panose="020B0503020204020204" pitchFamily="34" charset="-122"/>
                          <a:ea typeface="微软雅黑" panose="020B0503020204020204" pitchFamily="34" charset="-122"/>
                        </a:rPr>
                        <a:t>测试用例</a:t>
                      </a:r>
                    </a:p>
                  </a:txBody>
                  <a:tcPr anchor="ctr"/>
                </a:tc>
                <a:tc>
                  <a:txBody>
                    <a:bodyPr/>
                    <a:lstStyle/>
                    <a:p>
                      <a:pPr algn="ctr">
                        <a:lnSpc>
                          <a:spcPct val="90000"/>
                        </a:lnSpc>
                        <a:buNone/>
                      </a:pPr>
                      <a:r>
                        <a:rPr lang="zh-CN" altLang="en-US" sz="1800">
                          <a:latin typeface="微软雅黑" panose="020B0503020204020204" pitchFamily="34" charset="-122"/>
                          <a:ea typeface="微软雅黑" panose="020B0503020204020204" pitchFamily="34" charset="-122"/>
                        </a:rPr>
                        <a:t>测试路径</a:t>
                      </a:r>
                    </a:p>
                  </a:txBody>
                  <a:tcPr anchor="ctr"/>
                </a:tc>
                <a:tc>
                  <a:txBody>
                    <a:bodyPr/>
                    <a:lstStyle/>
                    <a:p>
                      <a:pPr algn="ctr">
                        <a:lnSpc>
                          <a:spcPct val="90000"/>
                        </a:lnSpc>
                        <a:buNone/>
                      </a:pPr>
                      <a:r>
                        <a:rPr lang="zh-CN" altLang="en-US" sz="1800">
                          <a:latin typeface="微软雅黑" panose="020B0503020204020204" pitchFamily="34" charset="-122"/>
                          <a:ea typeface="微软雅黑" panose="020B0503020204020204" pitchFamily="34" charset="-122"/>
                        </a:rPr>
                        <a:t>前置条件</a:t>
                      </a:r>
                    </a:p>
                  </a:txBody>
                  <a:tcPr anchor="ctr"/>
                </a:tc>
                <a:tc>
                  <a:txBody>
                    <a:bodyPr/>
                    <a:lstStyle/>
                    <a:p>
                      <a:pPr algn="ctr">
                        <a:lnSpc>
                          <a:spcPct val="90000"/>
                        </a:lnSpc>
                        <a:buNone/>
                      </a:pPr>
                      <a:r>
                        <a:rPr lang="zh-CN" altLang="en-US" sz="1800">
                          <a:latin typeface="微软雅黑" panose="020B0503020204020204" pitchFamily="34" charset="-122"/>
                          <a:ea typeface="微软雅黑" panose="020B0503020204020204" pitchFamily="34" charset="-122"/>
                        </a:rPr>
                        <a:t>测试步骤</a:t>
                      </a:r>
                    </a:p>
                  </a:txBody>
                  <a:tcPr anchor="ctr"/>
                </a:tc>
                <a:tc>
                  <a:txBody>
                    <a:bodyPr/>
                    <a:lstStyle/>
                    <a:p>
                      <a:pPr algn="ctr">
                        <a:lnSpc>
                          <a:spcPct val="90000"/>
                        </a:lnSpc>
                        <a:buNone/>
                      </a:pPr>
                      <a:r>
                        <a:rPr lang="zh-CN" altLang="en-US" sz="1800">
                          <a:latin typeface="微软雅黑" panose="020B0503020204020204" pitchFamily="34" charset="-122"/>
                          <a:ea typeface="微软雅黑" panose="020B0503020204020204" pitchFamily="34" charset="-122"/>
                        </a:rPr>
                        <a:t>预期结果</a:t>
                      </a:r>
                    </a:p>
                  </a:txBody>
                  <a:tcPr anchor="ctr"/>
                </a:tc>
                <a:extLst>
                  <a:ext uri="{0D108BD9-81ED-4DB2-BD59-A6C34878D82A}">
                    <a16:rowId xmlns:a16="http://schemas.microsoft.com/office/drawing/2014/main" val="10000"/>
                  </a:ext>
                </a:extLst>
              </a:tr>
              <a:tr h="1104265">
                <a:tc>
                  <a:txBody>
                    <a:bodyPr/>
                    <a:lstStyle/>
                    <a:p>
                      <a:pPr marL="0" algn="ctr" defTabSz="1219200" rtl="0" eaLnBrk="1" latinLnBrk="0" hangingPunct="1">
                        <a:buNone/>
                      </a:pPr>
                      <a:r>
                        <a:rPr sz="1600" kern="1200">
                          <a:solidFill>
                            <a:srgbClr val="595959"/>
                          </a:solidFill>
                          <a:latin typeface="微软雅黑" panose="020B0503020204020204" pitchFamily="34" charset="-122"/>
                          <a:ea typeface="微软雅黑" panose="020B0503020204020204" pitchFamily="34" charset="-122"/>
                          <a:cs typeface="+mn-ea"/>
                        </a:rPr>
                        <a:t>test</a:t>
                      </a:r>
                      <a:r>
                        <a:rPr lang="en-US" sz="1600" kern="1200">
                          <a:solidFill>
                            <a:srgbClr val="595959"/>
                          </a:solidFill>
                          <a:latin typeface="微软雅黑" panose="020B0503020204020204" pitchFamily="34" charset="-122"/>
                          <a:ea typeface="微软雅黑" panose="020B0503020204020204" pitchFamily="34" charset="-122"/>
                          <a:cs typeface="+mn-ea"/>
                        </a:rPr>
                        <a:t>4</a:t>
                      </a:r>
                    </a:p>
                  </a:txBody>
                  <a:tcPr anchor="ctr"/>
                </a:tc>
                <a:tc>
                  <a:txBody>
                    <a:bodyPr/>
                    <a:lstStyle/>
                    <a:p>
                      <a:pPr marL="0" algn="ctr" defTabSz="1219200" rtl="0" eaLnBrk="1" latinLnBrk="0" hangingPunct="1">
                        <a:buNone/>
                      </a:pPr>
                      <a:r>
                        <a:rPr lang="en-US" sz="1600" kern="1200">
                          <a:solidFill>
                            <a:srgbClr val="595959"/>
                          </a:solidFill>
                          <a:latin typeface="微软雅黑" panose="020B0503020204020204" pitchFamily="34" charset="-122"/>
                          <a:ea typeface="微软雅黑" panose="020B0503020204020204" pitchFamily="34" charset="-122"/>
                          <a:cs typeface="+mn-ea"/>
                        </a:rPr>
                        <a:t>4</a:t>
                      </a:r>
                    </a:p>
                  </a:txBody>
                  <a:tcPr anchor="ctr"/>
                </a:tc>
                <a:tc>
                  <a:txBody>
                    <a:bodyPr/>
                    <a:lstStyle/>
                    <a:p>
                      <a:pPr marL="0" algn="l" defTabSz="1219200" rtl="0" eaLnBrk="1" latinLnBrk="0" hangingPunct="1">
                        <a:buNone/>
                      </a:pPr>
                      <a:r>
                        <a:rPr lang="en-US" altLang="zh-CN" sz="1600" kern="1200">
                          <a:solidFill>
                            <a:srgbClr val="595959"/>
                          </a:solidFill>
                          <a:latin typeface="微软雅黑" panose="020B0503020204020204" pitchFamily="34" charset="-122"/>
                          <a:ea typeface="微软雅黑" panose="020B0503020204020204" pitchFamily="34" charset="-122"/>
                          <a:cs typeface="+mn-ea"/>
                        </a:rPr>
                        <a:t>1.成功注册、登录的用户</a:t>
                      </a:r>
                      <a:r>
                        <a:rPr lang="zh-CN" altLang="en-US" sz="1600" kern="1200">
                          <a:solidFill>
                            <a:srgbClr val="595959"/>
                          </a:solidFill>
                          <a:latin typeface="微软雅黑" panose="020B0503020204020204" pitchFamily="34" charset="-122"/>
                          <a:ea typeface="微软雅黑" panose="020B0503020204020204" pitchFamily="34" charset="-122"/>
                          <a:cs typeface="+mn-ea"/>
                        </a:rPr>
                        <a:t>；</a:t>
                      </a:r>
                      <a:endParaRPr lang="en-US" altLang="zh-CN" sz="1600" kern="1200">
                        <a:solidFill>
                          <a:srgbClr val="595959"/>
                        </a:solidFill>
                        <a:latin typeface="微软雅黑" panose="020B0503020204020204" pitchFamily="34" charset="-122"/>
                        <a:ea typeface="微软雅黑" panose="020B0503020204020204" pitchFamily="34" charset="-122"/>
                        <a:cs typeface="+mn-ea"/>
                      </a:endParaRPr>
                    </a:p>
                    <a:p>
                      <a:pPr marL="0" algn="l" defTabSz="1219200" rtl="0" eaLnBrk="1" latinLnBrk="0" hangingPunct="1">
                        <a:buNone/>
                      </a:pPr>
                      <a:r>
                        <a:rPr lang="en-US" altLang="zh-CN" sz="1600" kern="1200">
                          <a:solidFill>
                            <a:srgbClr val="595959"/>
                          </a:solidFill>
                          <a:latin typeface="微软雅黑" panose="020B0503020204020204" pitchFamily="34" charset="-122"/>
                          <a:ea typeface="微软雅黑" panose="020B0503020204020204" pitchFamily="34" charset="-122"/>
                          <a:cs typeface="+mn-ea"/>
                        </a:rPr>
                        <a:t>2.成功搜索商品并加入购物车</a:t>
                      </a:r>
                    </a:p>
                  </a:txBody>
                  <a:tcPr anchor="ctr"/>
                </a:tc>
                <a:tc>
                  <a:txBody>
                    <a:bodyPr/>
                    <a:lstStyle/>
                    <a:p>
                      <a:pPr marL="0" algn="l" defTabSz="1219200" rtl="0" eaLnBrk="1" latinLnBrk="0" hangingPunct="1">
                        <a:buNone/>
                      </a:pPr>
                      <a:r>
                        <a:rPr lang="en-US" altLang="zh-CN" sz="1600" kern="1200">
                          <a:solidFill>
                            <a:srgbClr val="595959"/>
                          </a:solidFill>
                          <a:latin typeface="微软雅黑" panose="020B0503020204020204" pitchFamily="34" charset="-122"/>
                          <a:ea typeface="微软雅黑" panose="020B0503020204020204" pitchFamily="34" charset="-122"/>
                          <a:cs typeface="+mn-ea"/>
                        </a:rPr>
                        <a:t>1.选择购物车中的商品提交订单</a:t>
                      </a:r>
                      <a:r>
                        <a:rPr lang="zh-CN" altLang="en-US" sz="1600" kern="1200">
                          <a:solidFill>
                            <a:srgbClr val="595959"/>
                          </a:solidFill>
                          <a:latin typeface="微软雅黑" panose="020B0503020204020204" pitchFamily="34" charset="-122"/>
                          <a:ea typeface="微软雅黑" panose="020B0503020204020204" pitchFamily="34" charset="-122"/>
                          <a:cs typeface="+mn-ea"/>
                        </a:rPr>
                        <a:t>；</a:t>
                      </a:r>
                      <a:endParaRPr lang="en-US" altLang="zh-CN" sz="1600" kern="1200">
                        <a:solidFill>
                          <a:srgbClr val="595959"/>
                        </a:solidFill>
                        <a:latin typeface="微软雅黑" panose="020B0503020204020204" pitchFamily="34" charset="-122"/>
                        <a:ea typeface="微软雅黑" panose="020B0503020204020204" pitchFamily="34" charset="-122"/>
                        <a:cs typeface="+mn-ea"/>
                      </a:endParaRPr>
                    </a:p>
                    <a:p>
                      <a:pPr marL="0" algn="l" defTabSz="1219200" rtl="0" eaLnBrk="1" latinLnBrk="0" hangingPunct="1">
                        <a:buNone/>
                      </a:pPr>
                      <a:r>
                        <a:rPr lang="en-US" altLang="zh-CN" sz="1600" kern="1200">
                          <a:solidFill>
                            <a:srgbClr val="595959"/>
                          </a:solidFill>
                          <a:latin typeface="微软雅黑" panose="020B0503020204020204" pitchFamily="34" charset="-122"/>
                          <a:ea typeface="微软雅黑" panose="020B0503020204020204" pitchFamily="34" charset="-122"/>
                          <a:cs typeface="+mn-ea"/>
                        </a:rPr>
                        <a:t>2.使用可正常支付的银行卡支付</a:t>
                      </a:r>
                      <a:r>
                        <a:rPr lang="zh-CN" altLang="en-US" sz="1600" kern="1200">
                          <a:solidFill>
                            <a:srgbClr val="595959"/>
                          </a:solidFill>
                          <a:latin typeface="微软雅黑" panose="020B0503020204020204" pitchFamily="34" charset="-122"/>
                          <a:ea typeface="微软雅黑" panose="020B0503020204020204" pitchFamily="34" charset="-122"/>
                          <a:cs typeface="+mn-ea"/>
                        </a:rPr>
                        <a:t>；</a:t>
                      </a:r>
                      <a:endParaRPr lang="en-US" altLang="zh-CN" sz="1600" kern="1200">
                        <a:solidFill>
                          <a:srgbClr val="595959"/>
                        </a:solidFill>
                        <a:latin typeface="微软雅黑" panose="020B0503020204020204" pitchFamily="34" charset="-122"/>
                        <a:ea typeface="微软雅黑" panose="020B0503020204020204" pitchFamily="34" charset="-122"/>
                        <a:cs typeface="+mn-ea"/>
                      </a:endParaRPr>
                    </a:p>
                    <a:p>
                      <a:pPr marL="0" algn="l" defTabSz="1219200" rtl="0" eaLnBrk="1" latinLnBrk="0" hangingPunct="1">
                        <a:buNone/>
                      </a:pPr>
                      <a:r>
                        <a:rPr lang="en-US" altLang="zh-CN" sz="1600" kern="1200">
                          <a:solidFill>
                            <a:srgbClr val="595959"/>
                          </a:solidFill>
                          <a:latin typeface="微软雅黑" panose="020B0503020204020204" pitchFamily="34" charset="-122"/>
                          <a:ea typeface="微软雅黑" panose="020B0503020204020204" pitchFamily="34" charset="-122"/>
                          <a:cs typeface="+mn-ea"/>
                        </a:rPr>
                        <a:t>3.商家发货</a:t>
                      </a:r>
                      <a:r>
                        <a:rPr lang="zh-CN" altLang="en-US" sz="1600" kern="1200">
                          <a:solidFill>
                            <a:srgbClr val="595959"/>
                          </a:solidFill>
                          <a:latin typeface="微软雅黑" panose="020B0503020204020204" pitchFamily="34" charset="-122"/>
                          <a:ea typeface="微软雅黑" panose="020B0503020204020204" pitchFamily="34" charset="-122"/>
                          <a:cs typeface="+mn-ea"/>
                        </a:rPr>
                        <a:t>；</a:t>
                      </a:r>
                      <a:endParaRPr lang="en-US" altLang="zh-CN" sz="1600" kern="1200">
                        <a:solidFill>
                          <a:srgbClr val="595959"/>
                        </a:solidFill>
                        <a:latin typeface="微软雅黑" panose="020B0503020204020204" pitchFamily="34" charset="-122"/>
                        <a:ea typeface="微软雅黑" panose="020B0503020204020204" pitchFamily="34" charset="-122"/>
                        <a:cs typeface="+mn-ea"/>
                      </a:endParaRPr>
                    </a:p>
                    <a:p>
                      <a:pPr marL="0" algn="l" defTabSz="1219200" rtl="0" eaLnBrk="1" latinLnBrk="0" hangingPunct="1">
                        <a:buNone/>
                      </a:pPr>
                      <a:r>
                        <a:rPr lang="en-US" altLang="zh-CN" sz="1600" kern="1200">
                          <a:solidFill>
                            <a:srgbClr val="595959"/>
                          </a:solidFill>
                          <a:latin typeface="微软雅黑" panose="020B0503020204020204" pitchFamily="34" charset="-122"/>
                          <a:ea typeface="微软雅黑" panose="020B0503020204020204" pitchFamily="34" charset="-122"/>
                          <a:cs typeface="+mn-ea"/>
                        </a:rPr>
                        <a:t>4.申请退货</a:t>
                      </a:r>
                      <a:r>
                        <a:rPr lang="zh-CN" altLang="en-US" sz="1600" kern="1200">
                          <a:solidFill>
                            <a:srgbClr val="595959"/>
                          </a:solidFill>
                          <a:latin typeface="微软雅黑" panose="020B0503020204020204" pitchFamily="34" charset="-122"/>
                          <a:ea typeface="微软雅黑" panose="020B0503020204020204" pitchFamily="34" charset="-122"/>
                          <a:cs typeface="+mn-ea"/>
                        </a:rPr>
                        <a:t>；</a:t>
                      </a:r>
                      <a:endParaRPr lang="en-US" altLang="zh-CN" sz="1600" kern="1200">
                        <a:solidFill>
                          <a:srgbClr val="595959"/>
                        </a:solidFill>
                        <a:latin typeface="微软雅黑" panose="020B0503020204020204" pitchFamily="34" charset="-122"/>
                        <a:ea typeface="微软雅黑" panose="020B0503020204020204" pitchFamily="34" charset="-122"/>
                        <a:cs typeface="+mn-ea"/>
                      </a:endParaRPr>
                    </a:p>
                    <a:p>
                      <a:pPr marL="0" algn="l" defTabSz="1219200" rtl="0" eaLnBrk="1" latinLnBrk="0" hangingPunct="1">
                        <a:buNone/>
                      </a:pPr>
                      <a:r>
                        <a:rPr lang="en-US" altLang="zh-CN" sz="1600" kern="1200">
                          <a:solidFill>
                            <a:srgbClr val="595959"/>
                          </a:solidFill>
                          <a:latin typeface="微软雅黑" panose="020B0503020204020204" pitchFamily="34" charset="-122"/>
                          <a:ea typeface="微软雅黑" panose="020B0503020204020204" pitchFamily="34" charset="-122"/>
                          <a:cs typeface="+mn-ea"/>
                        </a:rPr>
                        <a:t>5.商家同意退货</a:t>
                      </a:r>
                    </a:p>
                  </a:txBody>
                  <a:tcPr anchor="ctr"/>
                </a:tc>
                <a:tc>
                  <a:txBody>
                    <a:bodyPr/>
                    <a:lstStyle/>
                    <a:p>
                      <a:pPr marL="0" algn="l" defTabSz="1219200" rtl="0" eaLnBrk="1" latinLnBrk="0" hangingPunct="1">
                        <a:buNone/>
                      </a:pPr>
                      <a:r>
                        <a:rPr lang="en-US" altLang="zh-CN" sz="1600" kern="1200">
                          <a:solidFill>
                            <a:srgbClr val="595959"/>
                          </a:solidFill>
                          <a:latin typeface="微软雅黑" panose="020B0503020204020204" pitchFamily="34" charset="-122"/>
                          <a:ea typeface="微软雅黑" panose="020B0503020204020204" pitchFamily="34" charset="-122"/>
                          <a:cs typeface="+mn-ea"/>
                        </a:rPr>
                        <a:t>成功退货</a:t>
                      </a:r>
                    </a:p>
                  </a:txBody>
                  <a:tcPr anchor="ctr"/>
                </a:tc>
                <a:extLst>
                  <a:ext uri="{0D108BD9-81ED-4DB2-BD59-A6C34878D82A}">
                    <a16:rowId xmlns:a16="http://schemas.microsoft.com/office/drawing/2014/main" val="10001"/>
                  </a:ext>
                </a:extLst>
              </a:tr>
              <a:tr h="619760">
                <a:tc>
                  <a:txBody>
                    <a:bodyPr/>
                    <a:lstStyle/>
                    <a:p>
                      <a:pPr marL="0" algn="ctr" defTabSz="1219200" rtl="0" eaLnBrk="1" latinLnBrk="0" hangingPunct="1">
                        <a:buClrTx/>
                        <a:buSzTx/>
                        <a:buFontTx/>
                        <a:buNone/>
                      </a:pPr>
                      <a:r>
                        <a:rPr lang="en-US" altLang="zh-CN" sz="1600" kern="1200">
                          <a:solidFill>
                            <a:srgbClr val="595959"/>
                          </a:solidFill>
                          <a:latin typeface="微软雅黑" panose="020B0503020204020204" pitchFamily="34" charset="-122"/>
                          <a:ea typeface="微软雅黑" panose="020B0503020204020204" pitchFamily="34" charset="-122"/>
                          <a:cs typeface="+mn-ea"/>
                        </a:rPr>
                        <a:t>test5</a:t>
                      </a:r>
                    </a:p>
                  </a:txBody>
                  <a:tcPr anchor="ctr"/>
                </a:tc>
                <a:tc>
                  <a:txBody>
                    <a:bodyPr/>
                    <a:lstStyle/>
                    <a:p>
                      <a:pPr marL="0" algn="ctr" defTabSz="1219200" rtl="0" eaLnBrk="1" latinLnBrk="0" hangingPunct="1">
                        <a:buNone/>
                      </a:pPr>
                      <a:r>
                        <a:rPr lang="en-US" altLang="zh-CN" sz="1600" kern="1200">
                          <a:solidFill>
                            <a:srgbClr val="595959"/>
                          </a:solidFill>
                          <a:latin typeface="微软雅黑" panose="020B0503020204020204" pitchFamily="34" charset="-122"/>
                          <a:ea typeface="微软雅黑" panose="020B0503020204020204" pitchFamily="34" charset="-122"/>
                          <a:cs typeface="+mn-ea"/>
                        </a:rPr>
                        <a:t>5</a:t>
                      </a:r>
                    </a:p>
                  </a:txBody>
                  <a:tcPr anchor="ctr"/>
                </a:tc>
                <a:tc>
                  <a:txBody>
                    <a:bodyPr/>
                    <a:lstStyle/>
                    <a:p>
                      <a:pPr marL="0" algn="l" defTabSz="1219200" rtl="0" eaLnBrk="1" latinLnBrk="0" hangingPunct="1">
                        <a:buNone/>
                      </a:pPr>
                      <a:r>
                        <a:rPr lang="en-US" altLang="zh-CN" sz="1600" kern="1200">
                          <a:solidFill>
                            <a:srgbClr val="595959"/>
                          </a:solidFill>
                          <a:latin typeface="微软雅黑" panose="020B0503020204020204" pitchFamily="34" charset="-122"/>
                          <a:ea typeface="微软雅黑" panose="020B0503020204020204" pitchFamily="34" charset="-122"/>
                          <a:cs typeface="+mn-ea"/>
                        </a:rPr>
                        <a:t>1.成功注册、登录的用户</a:t>
                      </a:r>
                      <a:r>
                        <a:rPr lang="zh-CN" altLang="en-US" sz="1600" kern="1200">
                          <a:solidFill>
                            <a:srgbClr val="595959"/>
                          </a:solidFill>
                          <a:latin typeface="微软雅黑" panose="020B0503020204020204" pitchFamily="34" charset="-122"/>
                          <a:ea typeface="微软雅黑" panose="020B0503020204020204" pitchFamily="34" charset="-122"/>
                          <a:cs typeface="+mn-ea"/>
                        </a:rPr>
                        <a:t>；</a:t>
                      </a:r>
                      <a:endParaRPr lang="en-US" altLang="zh-CN" sz="1600" kern="1200">
                        <a:solidFill>
                          <a:srgbClr val="595959"/>
                        </a:solidFill>
                        <a:latin typeface="微软雅黑" panose="020B0503020204020204" pitchFamily="34" charset="-122"/>
                        <a:ea typeface="微软雅黑" panose="020B0503020204020204" pitchFamily="34" charset="-122"/>
                        <a:cs typeface="+mn-ea"/>
                      </a:endParaRPr>
                    </a:p>
                    <a:p>
                      <a:pPr marL="0" algn="l" defTabSz="1219200" rtl="0" eaLnBrk="1" latinLnBrk="0" hangingPunct="1">
                        <a:buNone/>
                      </a:pPr>
                      <a:r>
                        <a:rPr lang="en-US" altLang="zh-CN" sz="1600" kern="1200">
                          <a:solidFill>
                            <a:srgbClr val="595959"/>
                          </a:solidFill>
                          <a:latin typeface="微软雅黑" panose="020B0503020204020204" pitchFamily="34" charset="-122"/>
                          <a:ea typeface="微软雅黑" panose="020B0503020204020204" pitchFamily="34" charset="-122"/>
                          <a:cs typeface="+mn-ea"/>
                        </a:rPr>
                        <a:t>2.成功搜索商品并加入购物车</a:t>
                      </a:r>
                    </a:p>
                  </a:txBody>
                  <a:tcPr anchor="ctr"/>
                </a:tc>
                <a:tc>
                  <a:txBody>
                    <a:bodyPr/>
                    <a:lstStyle/>
                    <a:p>
                      <a:pPr marL="0" algn="l" defTabSz="1219200" rtl="0" eaLnBrk="1" latinLnBrk="0" hangingPunct="1">
                        <a:buNone/>
                      </a:pPr>
                      <a:r>
                        <a:rPr lang="en-US" altLang="zh-CN" sz="1600" kern="1200">
                          <a:solidFill>
                            <a:srgbClr val="595959"/>
                          </a:solidFill>
                          <a:latin typeface="微软雅黑" panose="020B0503020204020204" pitchFamily="34" charset="-122"/>
                          <a:ea typeface="微软雅黑" panose="020B0503020204020204" pitchFamily="34" charset="-122"/>
                          <a:cs typeface="+mn-ea"/>
                        </a:rPr>
                        <a:t>1.选择购物车中的商品提交订单</a:t>
                      </a:r>
                      <a:r>
                        <a:rPr lang="zh-CN" altLang="en-US" sz="1600" kern="1200">
                          <a:solidFill>
                            <a:srgbClr val="595959"/>
                          </a:solidFill>
                          <a:latin typeface="微软雅黑" panose="020B0503020204020204" pitchFamily="34" charset="-122"/>
                          <a:ea typeface="微软雅黑" panose="020B0503020204020204" pitchFamily="34" charset="-122"/>
                          <a:cs typeface="+mn-ea"/>
                        </a:rPr>
                        <a:t>；</a:t>
                      </a:r>
                      <a:endParaRPr lang="en-US" altLang="zh-CN" sz="1600" kern="1200">
                        <a:solidFill>
                          <a:srgbClr val="595959"/>
                        </a:solidFill>
                        <a:latin typeface="微软雅黑" panose="020B0503020204020204" pitchFamily="34" charset="-122"/>
                        <a:ea typeface="微软雅黑" panose="020B0503020204020204" pitchFamily="34" charset="-122"/>
                        <a:cs typeface="+mn-ea"/>
                      </a:endParaRPr>
                    </a:p>
                    <a:p>
                      <a:pPr marL="0" algn="l" defTabSz="1219200" rtl="0" eaLnBrk="1" latinLnBrk="0" hangingPunct="1">
                        <a:buNone/>
                      </a:pPr>
                      <a:r>
                        <a:rPr lang="en-US" altLang="zh-CN" sz="1600" kern="1200">
                          <a:solidFill>
                            <a:srgbClr val="595959"/>
                          </a:solidFill>
                          <a:latin typeface="微软雅黑" panose="020B0503020204020204" pitchFamily="34" charset="-122"/>
                          <a:ea typeface="微软雅黑" panose="020B0503020204020204" pitchFamily="34" charset="-122"/>
                          <a:cs typeface="+mn-ea"/>
                        </a:rPr>
                        <a:t>2.使用可正常支付的银行卡支付</a:t>
                      </a:r>
                      <a:r>
                        <a:rPr lang="zh-CN" altLang="en-US" sz="1600" kern="1200">
                          <a:solidFill>
                            <a:srgbClr val="595959"/>
                          </a:solidFill>
                          <a:latin typeface="微软雅黑" panose="020B0503020204020204" pitchFamily="34" charset="-122"/>
                          <a:ea typeface="微软雅黑" panose="020B0503020204020204" pitchFamily="34" charset="-122"/>
                          <a:cs typeface="+mn-ea"/>
                        </a:rPr>
                        <a:t>；</a:t>
                      </a:r>
                      <a:endParaRPr lang="en-US" altLang="zh-CN" sz="1600" kern="1200">
                        <a:solidFill>
                          <a:srgbClr val="595959"/>
                        </a:solidFill>
                        <a:latin typeface="微软雅黑" panose="020B0503020204020204" pitchFamily="34" charset="-122"/>
                        <a:ea typeface="微软雅黑" panose="020B0503020204020204" pitchFamily="34" charset="-122"/>
                        <a:cs typeface="+mn-ea"/>
                      </a:endParaRPr>
                    </a:p>
                    <a:p>
                      <a:pPr marL="0" algn="l" defTabSz="1219200" rtl="0" eaLnBrk="1" latinLnBrk="0" hangingPunct="1">
                        <a:buNone/>
                      </a:pPr>
                      <a:r>
                        <a:rPr lang="en-US" altLang="zh-CN" sz="1600" kern="1200">
                          <a:solidFill>
                            <a:srgbClr val="595959"/>
                          </a:solidFill>
                          <a:latin typeface="微软雅黑" panose="020B0503020204020204" pitchFamily="34" charset="-122"/>
                          <a:ea typeface="微软雅黑" panose="020B0503020204020204" pitchFamily="34" charset="-122"/>
                          <a:cs typeface="+mn-ea"/>
                        </a:rPr>
                        <a:t>3.商家发货</a:t>
                      </a:r>
                      <a:r>
                        <a:rPr lang="zh-CN" altLang="en-US" sz="1600" kern="1200">
                          <a:solidFill>
                            <a:srgbClr val="595959"/>
                          </a:solidFill>
                          <a:latin typeface="微软雅黑" panose="020B0503020204020204" pitchFamily="34" charset="-122"/>
                          <a:ea typeface="微软雅黑" panose="020B0503020204020204" pitchFamily="34" charset="-122"/>
                          <a:cs typeface="+mn-ea"/>
                        </a:rPr>
                        <a:t>；</a:t>
                      </a:r>
                      <a:endParaRPr lang="en-US" altLang="zh-CN" sz="1600" kern="1200">
                        <a:solidFill>
                          <a:srgbClr val="595959"/>
                        </a:solidFill>
                        <a:latin typeface="微软雅黑" panose="020B0503020204020204" pitchFamily="34" charset="-122"/>
                        <a:ea typeface="微软雅黑" panose="020B0503020204020204" pitchFamily="34" charset="-122"/>
                        <a:cs typeface="+mn-ea"/>
                      </a:endParaRPr>
                    </a:p>
                    <a:p>
                      <a:pPr marL="0" algn="l" defTabSz="1219200" rtl="0" eaLnBrk="1" latinLnBrk="0" hangingPunct="1">
                        <a:buNone/>
                      </a:pPr>
                      <a:r>
                        <a:rPr lang="en-US" altLang="zh-CN" sz="1600" kern="1200">
                          <a:solidFill>
                            <a:srgbClr val="595959"/>
                          </a:solidFill>
                          <a:latin typeface="微软雅黑" panose="020B0503020204020204" pitchFamily="34" charset="-122"/>
                          <a:ea typeface="微软雅黑" panose="020B0503020204020204" pitchFamily="34" charset="-122"/>
                          <a:cs typeface="+mn-ea"/>
                        </a:rPr>
                        <a:t>4.买家确认收货</a:t>
                      </a:r>
                    </a:p>
                  </a:txBody>
                  <a:tcPr anchor="ctr"/>
                </a:tc>
                <a:tc>
                  <a:txBody>
                    <a:bodyPr/>
                    <a:lstStyle/>
                    <a:p>
                      <a:pPr marL="0" algn="l" defTabSz="1219200" rtl="0" eaLnBrk="1" latinLnBrk="0" hangingPunct="1">
                        <a:buNone/>
                      </a:pPr>
                      <a:r>
                        <a:rPr lang="en-US" altLang="zh-CN" sz="1600" kern="1200">
                          <a:solidFill>
                            <a:srgbClr val="595959"/>
                          </a:solidFill>
                          <a:latin typeface="微软雅黑" panose="020B0503020204020204" pitchFamily="34" charset="-122"/>
                          <a:ea typeface="微软雅黑" panose="020B0503020204020204" pitchFamily="34" charset="-122"/>
                          <a:cs typeface="+mn-ea"/>
                        </a:rPr>
                        <a:t>成功</a:t>
                      </a:r>
                      <a:r>
                        <a:rPr lang="zh-CN" altLang="en-US" sz="1600" kern="1200">
                          <a:solidFill>
                            <a:srgbClr val="595959"/>
                          </a:solidFill>
                          <a:latin typeface="微软雅黑" panose="020B0503020204020204" pitchFamily="34" charset="-122"/>
                          <a:ea typeface="微软雅黑" panose="020B0503020204020204" pitchFamily="34" charset="-122"/>
                          <a:cs typeface="+mn-ea"/>
                        </a:rPr>
                        <a:t>购物</a:t>
                      </a:r>
                    </a:p>
                  </a:txBody>
                  <a:tcPr anchor="ctr"/>
                </a:tc>
                <a:extLst>
                  <a:ext uri="{0D108BD9-81ED-4DB2-BD59-A6C34878D82A}">
                    <a16:rowId xmlns:a16="http://schemas.microsoft.com/office/drawing/2014/main" val="10002"/>
                  </a:ext>
                </a:extLst>
              </a:tr>
              <a:tr h="720725">
                <a:tc>
                  <a:txBody>
                    <a:bodyPr/>
                    <a:lstStyle/>
                    <a:p>
                      <a:pPr marL="0" algn="ctr" defTabSz="1219200" rtl="0" eaLnBrk="1" latinLnBrk="0" hangingPunct="1">
                        <a:buClrTx/>
                        <a:buSzTx/>
                        <a:buFontTx/>
                        <a:buNone/>
                      </a:pPr>
                      <a:r>
                        <a:rPr lang="en-US" altLang="zh-CN" sz="1600" kern="1200">
                          <a:solidFill>
                            <a:srgbClr val="595959"/>
                          </a:solidFill>
                          <a:latin typeface="微软雅黑" panose="020B0503020204020204" pitchFamily="34" charset="-122"/>
                          <a:ea typeface="微软雅黑" panose="020B0503020204020204" pitchFamily="34" charset="-122"/>
                          <a:cs typeface="+mn-ea"/>
                        </a:rPr>
                        <a:t>test6</a:t>
                      </a:r>
                    </a:p>
                  </a:txBody>
                  <a:tcPr anchor="ctr"/>
                </a:tc>
                <a:tc>
                  <a:txBody>
                    <a:bodyPr/>
                    <a:lstStyle/>
                    <a:p>
                      <a:pPr marL="0" algn="ctr" defTabSz="1219200" rtl="0" eaLnBrk="1" latinLnBrk="0" hangingPunct="1">
                        <a:buNone/>
                      </a:pPr>
                      <a:r>
                        <a:rPr lang="en-US" altLang="zh-CN" sz="1600" kern="1200">
                          <a:solidFill>
                            <a:srgbClr val="595959"/>
                          </a:solidFill>
                          <a:latin typeface="微软雅黑" panose="020B0503020204020204" pitchFamily="34" charset="-122"/>
                          <a:ea typeface="微软雅黑" panose="020B0503020204020204" pitchFamily="34" charset="-122"/>
                          <a:cs typeface="+mn-ea"/>
                        </a:rPr>
                        <a:t>6</a:t>
                      </a:r>
                    </a:p>
                  </a:txBody>
                  <a:tcPr anchor="ctr"/>
                </a:tc>
                <a:tc>
                  <a:txBody>
                    <a:bodyPr/>
                    <a:lstStyle/>
                    <a:p>
                      <a:pPr marL="0" algn="l" defTabSz="1219200" rtl="0" eaLnBrk="1" latinLnBrk="0" hangingPunct="1">
                        <a:buNone/>
                      </a:pPr>
                      <a:r>
                        <a:rPr lang="en-US" altLang="zh-CN" sz="1600" kern="1200">
                          <a:solidFill>
                            <a:srgbClr val="595959"/>
                          </a:solidFill>
                          <a:latin typeface="微软雅黑" panose="020B0503020204020204" pitchFamily="34" charset="-122"/>
                          <a:ea typeface="微软雅黑" panose="020B0503020204020204" pitchFamily="34" charset="-122"/>
                          <a:cs typeface="+mn-ea"/>
                        </a:rPr>
                        <a:t>1.成功注册、登录的用户</a:t>
                      </a:r>
                      <a:r>
                        <a:rPr lang="zh-CN" altLang="en-US" sz="1600" kern="1200">
                          <a:solidFill>
                            <a:srgbClr val="595959"/>
                          </a:solidFill>
                          <a:latin typeface="微软雅黑" panose="020B0503020204020204" pitchFamily="34" charset="-122"/>
                          <a:ea typeface="微软雅黑" panose="020B0503020204020204" pitchFamily="34" charset="-122"/>
                          <a:cs typeface="+mn-ea"/>
                        </a:rPr>
                        <a:t>；</a:t>
                      </a:r>
                      <a:endParaRPr lang="en-US" altLang="zh-CN" sz="1600" kern="1200">
                        <a:solidFill>
                          <a:srgbClr val="595959"/>
                        </a:solidFill>
                        <a:latin typeface="微软雅黑" panose="020B0503020204020204" pitchFamily="34" charset="-122"/>
                        <a:ea typeface="微软雅黑" panose="020B0503020204020204" pitchFamily="34" charset="-122"/>
                        <a:cs typeface="+mn-ea"/>
                      </a:endParaRPr>
                    </a:p>
                    <a:p>
                      <a:pPr marL="0" algn="l" defTabSz="1219200" rtl="0" eaLnBrk="1" latinLnBrk="0" hangingPunct="1">
                        <a:buNone/>
                      </a:pPr>
                      <a:r>
                        <a:rPr lang="en-US" altLang="zh-CN" sz="1600" kern="1200">
                          <a:solidFill>
                            <a:srgbClr val="595959"/>
                          </a:solidFill>
                          <a:latin typeface="微软雅黑" panose="020B0503020204020204" pitchFamily="34" charset="-122"/>
                          <a:ea typeface="微软雅黑" panose="020B0503020204020204" pitchFamily="34" charset="-122"/>
                          <a:cs typeface="+mn-ea"/>
                        </a:rPr>
                        <a:t>2.成功搜索商品并加入购物车</a:t>
                      </a:r>
                    </a:p>
                  </a:txBody>
                  <a:tcPr anchor="ctr"/>
                </a:tc>
                <a:tc>
                  <a:txBody>
                    <a:bodyPr/>
                    <a:lstStyle/>
                    <a:p>
                      <a:pPr marL="0" algn="l" defTabSz="1219200" rtl="0" eaLnBrk="1" latinLnBrk="0" hangingPunct="1">
                        <a:buNone/>
                      </a:pPr>
                      <a:r>
                        <a:rPr lang="en-US" altLang="zh-CN" sz="1600" kern="1200">
                          <a:solidFill>
                            <a:srgbClr val="595959"/>
                          </a:solidFill>
                          <a:latin typeface="微软雅黑" panose="020B0503020204020204" pitchFamily="34" charset="-122"/>
                          <a:ea typeface="微软雅黑" panose="020B0503020204020204" pitchFamily="34" charset="-122"/>
                          <a:cs typeface="+mn-ea"/>
                        </a:rPr>
                        <a:t>1.选择购物车中的商品提交订单</a:t>
                      </a:r>
                      <a:r>
                        <a:rPr lang="zh-CN" altLang="en-US" sz="1600" kern="1200">
                          <a:solidFill>
                            <a:srgbClr val="595959"/>
                          </a:solidFill>
                          <a:latin typeface="微软雅黑" panose="020B0503020204020204" pitchFamily="34" charset="-122"/>
                          <a:ea typeface="微软雅黑" panose="020B0503020204020204" pitchFamily="34" charset="-122"/>
                          <a:cs typeface="+mn-ea"/>
                        </a:rPr>
                        <a:t>；</a:t>
                      </a:r>
                      <a:endParaRPr lang="en-US" altLang="zh-CN" sz="1600" kern="1200">
                        <a:solidFill>
                          <a:srgbClr val="595959"/>
                        </a:solidFill>
                        <a:latin typeface="微软雅黑" panose="020B0503020204020204" pitchFamily="34" charset="-122"/>
                        <a:ea typeface="微软雅黑" panose="020B0503020204020204" pitchFamily="34" charset="-122"/>
                        <a:cs typeface="+mn-ea"/>
                      </a:endParaRPr>
                    </a:p>
                    <a:p>
                      <a:pPr marL="0" algn="l" defTabSz="1219200" rtl="0" eaLnBrk="1" latinLnBrk="0" hangingPunct="1">
                        <a:buNone/>
                      </a:pPr>
                      <a:r>
                        <a:rPr lang="en-US" altLang="zh-CN" sz="1600" kern="1200">
                          <a:solidFill>
                            <a:srgbClr val="595959"/>
                          </a:solidFill>
                          <a:latin typeface="微软雅黑" panose="020B0503020204020204" pitchFamily="34" charset="-122"/>
                          <a:ea typeface="微软雅黑" panose="020B0503020204020204" pitchFamily="34" charset="-122"/>
                          <a:cs typeface="+mn-ea"/>
                        </a:rPr>
                        <a:t>2.使用可正常支付的银行卡支付</a:t>
                      </a:r>
                      <a:r>
                        <a:rPr lang="zh-CN" altLang="en-US" sz="1600" kern="1200">
                          <a:solidFill>
                            <a:srgbClr val="595959"/>
                          </a:solidFill>
                          <a:latin typeface="微软雅黑" panose="020B0503020204020204" pitchFamily="34" charset="-122"/>
                          <a:ea typeface="微软雅黑" panose="020B0503020204020204" pitchFamily="34" charset="-122"/>
                          <a:cs typeface="+mn-ea"/>
                        </a:rPr>
                        <a:t>；</a:t>
                      </a:r>
                      <a:endParaRPr lang="en-US" altLang="zh-CN" sz="1600" kern="1200">
                        <a:solidFill>
                          <a:srgbClr val="595959"/>
                        </a:solidFill>
                        <a:latin typeface="微软雅黑" panose="020B0503020204020204" pitchFamily="34" charset="-122"/>
                        <a:ea typeface="微软雅黑" panose="020B0503020204020204" pitchFamily="34" charset="-122"/>
                        <a:cs typeface="+mn-ea"/>
                      </a:endParaRPr>
                    </a:p>
                    <a:p>
                      <a:pPr marL="0" algn="l" defTabSz="1219200" rtl="0" eaLnBrk="1" latinLnBrk="0" hangingPunct="1">
                        <a:buNone/>
                      </a:pPr>
                      <a:r>
                        <a:rPr lang="en-US" altLang="zh-CN" sz="1600" kern="1200">
                          <a:solidFill>
                            <a:srgbClr val="595959"/>
                          </a:solidFill>
                          <a:latin typeface="微软雅黑" panose="020B0503020204020204" pitchFamily="34" charset="-122"/>
                          <a:ea typeface="微软雅黑" panose="020B0503020204020204" pitchFamily="34" charset="-122"/>
                          <a:cs typeface="+mn-ea"/>
                        </a:rPr>
                        <a:t>3.商家发货</a:t>
                      </a:r>
                      <a:r>
                        <a:rPr lang="zh-CN" altLang="en-US" sz="1600" kern="1200">
                          <a:solidFill>
                            <a:srgbClr val="595959"/>
                          </a:solidFill>
                          <a:latin typeface="微软雅黑" panose="020B0503020204020204" pitchFamily="34" charset="-122"/>
                          <a:ea typeface="微软雅黑" panose="020B0503020204020204" pitchFamily="34" charset="-122"/>
                          <a:cs typeface="+mn-ea"/>
                        </a:rPr>
                        <a:t>；</a:t>
                      </a:r>
                      <a:endParaRPr lang="en-US" altLang="zh-CN" sz="1600" kern="1200">
                        <a:solidFill>
                          <a:srgbClr val="595959"/>
                        </a:solidFill>
                        <a:latin typeface="微软雅黑" panose="020B0503020204020204" pitchFamily="34" charset="-122"/>
                        <a:ea typeface="微软雅黑" panose="020B0503020204020204" pitchFamily="34" charset="-122"/>
                        <a:cs typeface="+mn-ea"/>
                      </a:endParaRPr>
                    </a:p>
                    <a:p>
                      <a:pPr marL="0" algn="l" defTabSz="1219200" rtl="0" eaLnBrk="1" latinLnBrk="0" hangingPunct="1">
                        <a:buNone/>
                      </a:pPr>
                      <a:r>
                        <a:rPr lang="en-US" altLang="zh-CN" sz="1600" kern="1200">
                          <a:solidFill>
                            <a:srgbClr val="595959"/>
                          </a:solidFill>
                          <a:latin typeface="微软雅黑" panose="020B0503020204020204" pitchFamily="34" charset="-122"/>
                          <a:ea typeface="微软雅黑" panose="020B0503020204020204" pitchFamily="34" charset="-122"/>
                          <a:cs typeface="+mn-ea"/>
                        </a:rPr>
                        <a:t>4.买家申请退货</a:t>
                      </a:r>
                    </a:p>
                  </a:txBody>
                  <a:tcPr anchor="ctr"/>
                </a:tc>
                <a:tc>
                  <a:txBody>
                    <a:bodyPr/>
                    <a:lstStyle/>
                    <a:p>
                      <a:pPr marL="0" algn="l" defTabSz="1219200" rtl="0" eaLnBrk="1" latinLnBrk="0" hangingPunct="1">
                        <a:buNone/>
                      </a:pPr>
                      <a:r>
                        <a:rPr lang="en-US" altLang="zh-CN" sz="1600" kern="1200">
                          <a:solidFill>
                            <a:srgbClr val="595959"/>
                          </a:solidFill>
                          <a:latin typeface="微软雅黑" panose="020B0503020204020204" pitchFamily="34" charset="-122"/>
                          <a:ea typeface="微软雅黑" panose="020B0503020204020204" pitchFamily="34" charset="-122"/>
                          <a:cs typeface="+mn-ea"/>
                        </a:rPr>
                        <a:t>成功申请退货</a:t>
                      </a:r>
                    </a:p>
                  </a:txBody>
                  <a:tcPr anchor="ctr"/>
                </a:tc>
                <a:extLst>
                  <a:ext uri="{0D108BD9-81ED-4DB2-BD59-A6C34878D82A}">
                    <a16:rowId xmlns:a16="http://schemas.microsoft.com/office/drawing/2014/main" val="10003"/>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p:cNvPicPr>
            <a:picLocks noChangeAspect="1"/>
          </p:cNvPicPr>
          <p:nvPr/>
        </p:nvPicPr>
        <p:blipFill>
          <a:blip r:embed="rId3"/>
          <a:stretch>
            <a:fillRect/>
          </a:stretch>
        </p:blipFill>
        <p:spPr>
          <a:xfrm>
            <a:off x="944880" y="2215515"/>
            <a:ext cx="2797810" cy="3898265"/>
          </a:xfrm>
          <a:prstGeom prst="rect">
            <a:avLst/>
          </a:prstGeom>
        </p:spPr>
      </p:pic>
      <p:sp>
        <p:nvSpPr>
          <p:cNvPr id="13" name="椭圆形标注 12"/>
          <p:cNvSpPr/>
          <p:nvPr/>
        </p:nvSpPr>
        <p:spPr>
          <a:xfrm>
            <a:off x="2968625" y="156019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p>
        </p:txBody>
      </p:sp>
      <p:sp>
        <p:nvSpPr>
          <p:cNvPr id="14" name="TextBox 35"/>
          <p:cNvSpPr txBox="1">
            <a:spLocks noChangeArrowheads="1"/>
          </p:cNvSpPr>
          <p:nvPr/>
        </p:nvSpPr>
        <p:spPr bwMode="auto">
          <a:xfrm>
            <a:off x="3247390" y="163830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p>
        </p:txBody>
      </p:sp>
      <p:sp>
        <p:nvSpPr>
          <p:cNvPr id="15" name="TextBox 35"/>
          <p:cNvSpPr txBox="1">
            <a:spLocks noChangeArrowheads="1"/>
          </p:cNvSpPr>
          <p:nvPr/>
        </p:nvSpPr>
        <p:spPr bwMode="auto">
          <a:xfrm>
            <a:off x="5951220" y="2989580"/>
            <a:ext cx="5838190" cy="1505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defRPr/>
            </a:pPr>
            <a:r>
              <a:rPr 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掌握</a:t>
            </a:r>
            <a:r>
              <a:rPr 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飞机售票系统状态迁移图的内容</a:t>
            </a:r>
            <a:r>
              <a:rPr sz="20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a:t>
            </a:r>
            <a:r>
              <a:rPr sz="2000" dirty="0" err="1">
                <a:solidFill>
                  <a:srgbClr val="0070C0"/>
                </a:solidFill>
                <a:latin typeface="微软雅黑" panose="020B0503020204020204" pitchFamily="34" charset="-122"/>
                <a:ea typeface="微软雅黑" panose="020B0503020204020204" pitchFamily="34" charset="-122"/>
                <a:cs typeface="+mn-ea"/>
                <a:sym typeface="字魂58号-创中黑" panose="00000500000000000000" pitchFamily="2" charset="-122"/>
              </a:rPr>
              <a:t>能够通过</a:t>
            </a:r>
            <a:r>
              <a:rPr sz="2000" dirty="0" err="1">
                <a:solidFill>
                  <a:srgbClr val="0070C0"/>
                </a:solidFill>
                <a:latin typeface="微软雅黑" panose="020B0503020204020204" pitchFamily="34" charset="-122"/>
                <a:ea typeface="微软雅黑" panose="020B0503020204020204" pitchFamily="34" charset="-122"/>
                <a:cs typeface="+mn-ea"/>
              </a:rPr>
              <a:t>状态迁移图法</a:t>
            </a:r>
            <a:r>
              <a:rPr lang="zh-CN" sz="2000" dirty="0">
                <a:solidFill>
                  <a:srgbClr val="0070C0"/>
                </a:solidFill>
                <a:latin typeface="微软雅黑" panose="020B0503020204020204" pitchFamily="34" charset="-122"/>
                <a:ea typeface="微软雅黑" panose="020B0503020204020204" pitchFamily="34" charset="-122"/>
                <a:cs typeface="+mn-ea"/>
              </a:rPr>
              <a:t>设计</a:t>
            </a:r>
            <a:r>
              <a:rPr sz="2000" dirty="0" err="1">
                <a:solidFill>
                  <a:srgbClr val="0070C0"/>
                </a:solidFill>
                <a:latin typeface="微软雅黑" panose="020B0503020204020204" pitchFamily="34" charset="-122"/>
                <a:ea typeface="微软雅黑" panose="020B0503020204020204" pitchFamily="34" charset="-122"/>
                <a:cs typeface="+mn-ea"/>
              </a:rPr>
              <a:t>用户预定机票到使用机票过程中机票状态迁移的测试用例</a:t>
            </a:r>
            <a:endParaRPr sz="2000" dirty="0">
              <a:solidFill>
                <a:srgbClr val="0070C0"/>
              </a:solidFill>
              <a:latin typeface="微软雅黑" panose="020B0503020204020204" pitchFamily="34" charset="-122"/>
              <a:ea typeface="微软雅黑" panose="020B0503020204020204" pitchFamily="34" charset="-122"/>
              <a:cs typeface="+mn-ea"/>
            </a:endParaRPr>
          </a:p>
        </p:txBody>
      </p:sp>
      <p:grpSp>
        <p:nvGrpSpPr>
          <p:cNvPr id="19" name="组合 18"/>
          <p:cNvGrpSpPr/>
          <p:nvPr/>
        </p:nvGrpSpPr>
        <p:grpSpPr>
          <a:xfrm>
            <a:off x="5452110" y="3540125"/>
            <a:ext cx="405130" cy="405130"/>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1" name="Title 1"/>
          <p:cNvSpPr txBox="1"/>
          <p:nvPr/>
        </p:nvSpPr>
        <p:spPr>
          <a:xfrm>
            <a:off x="1143635" y="266700"/>
            <a:ext cx="599694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2.6.3	实例二：飞机售票系统状态迁移图</a:t>
            </a: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35"/>
          <p:cNvSpPr txBox="1">
            <a:spLocks noChangeArrowheads="1"/>
          </p:cNvSpPr>
          <p:nvPr/>
        </p:nvSpPr>
        <p:spPr bwMode="auto">
          <a:xfrm>
            <a:off x="4871085" y="1270000"/>
            <a:ext cx="6289675" cy="3860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indent="457200" algn="just">
              <a:lnSpc>
                <a:spcPct val="150000"/>
              </a:lnSpc>
              <a:buClrTx/>
              <a:buSzTx/>
              <a:buFontTx/>
            </a:pPr>
            <a:r>
              <a:rPr lang="zh-CN" sz="1800" dirty="0">
                <a:solidFill>
                  <a:schemeClr val="tx1">
                    <a:lumMod val="65000"/>
                    <a:lumOff val="35000"/>
                  </a:schemeClr>
                </a:solidFill>
                <a:latin typeface="微软雅黑" panose="020B0503020204020204" pitchFamily="34" charset="-122"/>
                <a:ea typeface="微软雅黑" panose="020B0503020204020204" pitchFamily="34" charset="-122"/>
                <a:cs typeface="+mn-ea"/>
              </a:rPr>
              <a:t>下面以飞机售票系统为例，讲解</a:t>
            </a:r>
            <a:r>
              <a:rPr lang="zh-CN" sz="1800" dirty="0">
                <a:solidFill>
                  <a:srgbClr val="0070C0"/>
                </a:solidFill>
                <a:latin typeface="微软雅黑" panose="020B0503020204020204" pitchFamily="34" charset="-122"/>
                <a:ea typeface="微软雅黑" panose="020B0503020204020204" pitchFamily="34" charset="-122"/>
                <a:cs typeface="+mn-ea"/>
              </a:rPr>
              <a:t>用户预定机票到使用机票过程中机票状态的迁移情况</a:t>
            </a:r>
            <a:r>
              <a:rPr lang="zh-CN" sz="1800" dirty="0">
                <a:solidFill>
                  <a:schemeClr val="tx1">
                    <a:lumMod val="65000"/>
                    <a:lumOff val="35000"/>
                  </a:schemeClr>
                </a:solidFill>
                <a:latin typeface="微软雅黑" panose="020B0503020204020204" pitchFamily="34" charset="-122"/>
                <a:ea typeface="微软雅黑" panose="020B0503020204020204" pitchFamily="34" charset="-122"/>
                <a:cs typeface="+mn-ea"/>
              </a:rPr>
              <a:t>。</a:t>
            </a:r>
          </a:p>
          <a:p>
            <a:pPr indent="457200" algn="just">
              <a:lnSpc>
                <a:spcPct val="150000"/>
              </a:lnSpc>
              <a:buClrTx/>
              <a:buSzTx/>
              <a:buFontTx/>
            </a:pPr>
            <a:r>
              <a:rPr lang="zh-CN" sz="1800" dirty="0">
                <a:solidFill>
                  <a:schemeClr val="tx1">
                    <a:lumMod val="65000"/>
                    <a:lumOff val="35000"/>
                  </a:schemeClr>
                </a:solidFill>
                <a:latin typeface="微软雅黑" panose="020B0503020204020204" pitchFamily="34" charset="-122"/>
                <a:ea typeface="微软雅黑" panose="020B0503020204020204" pitchFamily="34" charset="-122"/>
                <a:cs typeface="+mn-ea"/>
              </a:rPr>
              <a:t>假设飞机售票系统的需求是：乘客可以通过小程序预约购买机票，预约成功时，机票状态为已预订；乘客</a:t>
            </a:r>
            <a:r>
              <a:rPr lang="zh-CN" altLang="en-US" sz="1800" dirty="0">
                <a:solidFill>
                  <a:schemeClr val="tx1">
                    <a:lumMod val="65000"/>
                    <a:lumOff val="35000"/>
                  </a:schemeClr>
                </a:solidFill>
                <a:latin typeface="微软雅黑" panose="020B0503020204020204" pitchFamily="34" charset="-122"/>
                <a:ea typeface="微软雅黑" panose="020B0503020204020204" pitchFamily="34" charset="-122"/>
                <a:cs typeface="+mn-ea"/>
              </a:rPr>
              <a:t>提交订单并</a:t>
            </a:r>
            <a:r>
              <a:rPr lang="zh-CN" sz="1800" dirty="0">
                <a:solidFill>
                  <a:schemeClr val="tx1">
                    <a:lumMod val="65000"/>
                    <a:lumOff val="35000"/>
                  </a:schemeClr>
                </a:solidFill>
                <a:latin typeface="微软雅黑" panose="020B0503020204020204" pitchFamily="34" charset="-122"/>
                <a:ea typeface="微软雅黑" panose="020B0503020204020204" pitchFamily="34" charset="-122"/>
                <a:cs typeface="+mn-ea"/>
              </a:rPr>
              <a:t>成功支付机票费用后，机票状态为已支付；乘客到机场取出机票后，机票状态为已出票；乘客登机检票后，机票状态为已使用</a:t>
            </a:r>
            <a:r>
              <a:rPr lang="zh-CN" altLang="en-US" sz="1800" dirty="0">
                <a:solidFill>
                  <a:schemeClr val="tx1">
                    <a:lumMod val="65000"/>
                    <a:lumOff val="35000"/>
                  </a:schemeClr>
                </a:solidFill>
                <a:latin typeface="微软雅黑" panose="020B0503020204020204" pitchFamily="34" charset="-122"/>
                <a:ea typeface="微软雅黑" panose="020B0503020204020204" pitchFamily="34" charset="-122"/>
                <a:cs typeface="+mn-ea"/>
              </a:rPr>
              <a:t>；</a:t>
            </a:r>
            <a:r>
              <a:rPr lang="zh-CN" sz="1800" dirty="0">
                <a:solidFill>
                  <a:schemeClr val="tx1">
                    <a:lumMod val="65000"/>
                    <a:lumOff val="35000"/>
                  </a:schemeClr>
                </a:solidFill>
                <a:latin typeface="微软雅黑" panose="020B0503020204020204" pitchFamily="34" charset="-122"/>
                <a:ea typeface="微软雅黑" panose="020B0503020204020204" pitchFamily="34" charset="-122"/>
                <a:cs typeface="+mn-ea"/>
              </a:rPr>
              <a:t>在登机前，例如在已预订、已支付或已出票的状态下，乘客可以</a:t>
            </a:r>
            <a:r>
              <a:rPr lang="zh-CN" altLang="en-US" sz="1800" dirty="0">
                <a:solidFill>
                  <a:schemeClr val="tx1">
                    <a:lumMod val="65000"/>
                    <a:lumOff val="35000"/>
                  </a:schemeClr>
                </a:solidFill>
                <a:latin typeface="微软雅黑" panose="020B0503020204020204" pitchFamily="34" charset="-122"/>
                <a:ea typeface="微软雅黑" panose="020B0503020204020204" pitchFamily="34" charset="-122"/>
                <a:cs typeface="+mn-ea"/>
              </a:rPr>
              <a:t>取消订单</a:t>
            </a:r>
            <a:r>
              <a:rPr lang="zh-CN" sz="1800" dirty="0">
                <a:solidFill>
                  <a:schemeClr val="tx1">
                    <a:lumMod val="65000"/>
                    <a:lumOff val="35000"/>
                  </a:schemeClr>
                </a:solidFill>
                <a:latin typeface="微软雅黑" panose="020B0503020204020204" pitchFamily="34" charset="-122"/>
                <a:ea typeface="微软雅黑" panose="020B0503020204020204" pitchFamily="34" charset="-122"/>
                <a:cs typeface="+mn-ea"/>
              </a:rPr>
              <a:t>，</a:t>
            </a:r>
            <a:r>
              <a:rPr lang="zh-CN" altLang="en-US" sz="1800" dirty="0">
                <a:solidFill>
                  <a:schemeClr val="tx1">
                    <a:lumMod val="65000"/>
                    <a:lumOff val="35000"/>
                  </a:schemeClr>
                </a:solidFill>
                <a:latin typeface="微软雅黑" panose="020B0503020204020204" pitchFamily="34" charset="-122"/>
                <a:ea typeface="微软雅黑" panose="020B0503020204020204" pitchFamily="34" charset="-122"/>
                <a:cs typeface="+mn-ea"/>
              </a:rPr>
              <a:t>在</a:t>
            </a:r>
            <a:r>
              <a:rPr lang="zh-CN" sz="1800" dirty="0">
                <a:solidFill>
                  <a:schemeClr val="tx1">
                    <a:lumMod val="65000"/>
                    <a:lumOff val="35000"/>
                  </a:schemeClr>
                </a:solidFill>
                <a:latin typeface="微软雅黑" panose="020B0503020204020204" pitchFamily="34" charset="-122"/>
                <a:ea typeface="微软雅黑" panose="020B0503020204020204" pitchFamily="34" charset="-122"/>
                <a:cs typeface="+mn-ea"/>
              </a:rPr>
              <a:t>这3种情况下</a:t>
            </a:r>
            <a:r>
              <a:rPr lang="zh-CN" altLang="en-US" sz="1800" dirty="0">
                <a:solidFill>
                  <a:schemeClr val="tx1">
                    <a:lumMod val="65000"/>
                    <a:lumOff val="35000"/>
                  </a:schemeClr>
                </a:solidFill>
                <a:latin typeface="微软雅黑" panose="020B0503020204020204" pitchFamily="34" charset="-122"/>
                <a:ea typeface="微软雅黑" panose="020B0503020204020204" pitchFamily="34" charset="-122"/>
                <a:cs typeface="+mn-ea"/>
              </a:rPr>
              <a:t>取消订单</a:t>
            </a:r>
            <a:r>
              <a:rPr lang="zh-CN" sz="1800" dirty="0">
                <a:solidFill>
                  <a:schemeClr val="tx1">
                    <a:lumMod val="65000"/>
                    <a:lumOff val="35000"/>
                  </a:schemeClr>
                </a:solidFill>
                <a:latin typeface="微软雅黑" panose="020B0503020204020204" pitchFamily="34" charset="-122"/>
                <a:ea typeface="微软雅黑" panose="020B0503020204020204" pitchFamily="34" charset="-122"/>
                <a:cs typeface="+mn-ea"/>
              </a:rPr>
              <a:t>时，机票状态都为已取消。</a:t>
            </a:r>
          </a:p>
        </p:txBody>
      </p:sp>
      <p:pic>
        <p:nvPicPr>
          <p:cNvPr id="33" name="图片 32"/>
          <p:cNvPicPr>
            <a:picLocks noChangeAspect="1"/>
          </p:cNvPicPr>
          <p:nvPr/>
        </p:nvPicPr>
        <p:blipFill>
          <a:blip r:embed="rId3"/>
          <a:stretch>
            <a:fillRect/>
          </a:stretch>
        </p:blipFill>
        <p:spPr>
          <a:xfrm>
            <a:off x="839386" y="1413456"/>
            <a:ext cx="3715858" cy="4006159"/>
          </a:xfrm>
          <a:prstGeom prst="rect">
            <a:avLst/>
          </a:prstGeom>
        </p:spPr>
      </p:pic>
      <p:sp>
        <p:nvSpPr>
          <p:cNvPr id="31" name="Title 1"/>
          <p:cNvSpPr txBox="1"/>
          <p:nvPr/>
        </p:nvSpPr>
        <p:spPr>
          <a:xfrm>
            <a:off x="1143635" y="266700"/>
            <a:ext cx="599694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2.6.3	实例二：飞机售票系统状态迁移图</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35"/>
          <p:cNvSpPr txBox="1">
            <a:spLocks noChangeArrowheads="1"/>
          </p:cNvSpPr>
          <p:nvPr/>
        </p:nvSpPr>
        <p:spPr bwMode="auto">
          <a:xfrm>
            <a:off x="1198880" y="909320"/>
            <a:ext cx="9852660" cy="951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buClrTx/>
              <a:buSzTx/>
              <a:buFontTx/>
            </a:pPr>
            <a:r>
              <a:rPr lang="zh-CN" sz="1800">
                <a:solidFill>
                  <a:schemeClr val="tx1">
                    <a:lumMod val="65000"/>
                    <a:lumOff val="35000"/>
                  </a:schemeClr>
                </a:solidFill>
                <a:latin typeface="微软雅黑" panose="020B0503020204020204" pitchFamily="34" charset="-122"/>
                <a:ea typeface="微软雅黑" panose="020B0503020204020204" pitchFamily="34" charset="-122"/>
                <a:cs typeface="+mn-ea"/>
              </a:rPr>
              <a:t>现需要根据前面给出的需求测试飞机售票系统中机票状态迁移的过程，首先通过分析需求，画出状态迁移图。</a:t>
            </a:r>
            <a:r>
              <a:rPr lang="zh-CN" sz="1800">
                <a:solidFill>
                  <a:srgbClr val="0070C0"/>
                </a:solidFill>
                <a:latin typeface="微软雅黑" panose="020B0503020204020204" pitchFamily="34" charset="-122"/>
                <a:ea typeface="微软雅黑" panose="020B0503020204020204" pitchFamily="34" charset="-122"/>
                <a:cs typeface="+mn-ea"/>
              </a:rPr>
              <a:t>机票状态迁移图</a:t>
            </a:r>
            <a:r>
              <a:rPr lang="zh-CN" sz="1800">
                <a:solidFill>
                  <a:schemeClr val="tx1">
                    <a:lumMod val="65000"/>
                    <a:lumOff val="35000"/>
                  </a:schemeClr>
                </a:solidFill>
                <a:latin typeface="微软雅黑" panose="020B0503020204020204" pitchFamily="34" charset="-122"/>
                <a:ea typeface="微软雅黑" panose="020B0503020204020204" pitchFamily="34" charset="-122"/>
                <a:cs typeface="+mn-ea"/>
              </a:rPr>
              <a:t>如下图所示。</a:t>
            </a:r>
          </a:p>
        </p:txBody>
      </p:sp>
      <p:sp>
        <p:nvSpPr>
          <p:cNvPr id="31" name="Title 1"/>
          <p:cNvSpPr txBox="1"/>
          <p:nvPr/>
        </p:nvSpPr>
        <p:spPr>
          <a:xfrm>
            <a:off x="1143635" y="266700"/>
            <a:ext cx="599694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2.6.3	实例二：飞机售票系统状态迁移图</a:t>
            </a:r>
          </a:p>
        </p:txBody>
      </p:sp>
      <p:pic>
        <p:nvPicPr>
          <p:cNvPr id="2" name="图片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53210" y="1997075"/>
            <a:ext cx="3744000" cy="4529125"/>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35"/>
          <p:cNvSpPr txBox="1">
            <a:spLocks noChangeArrowheads="1"/>
          </p:cNvSpPr>
          <p:nvPr/>
        </p:nvSpPr>
        <p:spPr bwMode="auto">
          <a:xfrm>
            <a:off x="1198880" y="909320"/>
            <a:ext cx="9852660" cy="951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buClrTx/>
              <a:buSzTx/>
              <a:buFontTx/>
            </a:pPr>
            <a:r>
              <a:rPr lang="zh-CN" sz="1800">
                <a:solidFill>
                  <a:schemeClr val="tx1">
                    <a:lumMod val="65000"/>
                    <a:lumOff val="35000"/>
                  </a:schemeClr>
                </a:solidFill>
                <a:latin typeface="微软雅黑" panose="020B0503020204020204" pitchFamily="34" charset="-122"/>
                <a:ea typeface="微软雅黑" panose="020B0503020204020204" pitchFamily="34" charset="-122"/>
                <a:cs typeface="+mn-ea"/>
              </a:rPr>
              <a:t>机票状态迁移图中一共由5个状态组成，分别是</a:t>
            </a:r>
            <a:r>
              <a:rPr lang="zh-CN" sz="1800">
                <a:solidFill>
                  <a:srgbClr val="0070C0"/>
                </a:solidFill>
                <a:latin typeface="微软雅黑" panose="020B0503020204020204" pitchFamily="34" charset="-122"/>
                <a:ea typeface="微软雅黑" panose="020B0503020204020204" pitchFamily="34" charset="-122"/>
                <a:cs typeface="+mn-ea"/>
              </a:rPr>
              <a:t>已预订、已支付、已出票、已使用和已取消</a:t>
            </a:r>
            <a:r>
              <a:rPr lang="zh-CN" sz="1800">
                <a:solidFill>
                  <a:schemeClr val="tx1">
                    <a:lumMod val="65000"/>
                    <a:lumOff val="35000"/>
                  </a:schemeClr>
                </a:solidFill>
                <a:latin typeface="微软雅黑" panose="020B0503020204020204" pitchFamily="34" charset="-122"/>
                <a:ea typeface="微软雅黑" panose="020B0503020204020204" pitchFamily="34" charset="-122"/>
                <a:cs typeface="+mn-ea"/>
              </a:rPr>
              <a:t>。根据机票状态迁移图画出</a:t>
            </a:r>
            <a:r>
              <a:rPr lang="zh-CN" sz="1800">
                <a:solidFill>
                  <a:srgbClr val="0070C0"/>
                </a:solidFill>
                <a:latin typeface="微软雅黑" panose="020B0503020204020204" pitchFamily="34" charset="-122"/>
                <a:ea typeface="微软雅黑" panose="020B0503020204020204" pitchFamily="34" charset="-122"/>
                <a:cs typeface="+mn-ea"/>
              </a:rPr>
              <a:t>机票状态-事件表</a:t>
            </a:r>
            <a:r>
              <a:rPr lang="zh-CN" sz="1800">
                <a:solidFill>
                  <a:schemeClr val="tx1">
                    <a:lumMod val="65000"/>
                    <a:lumOff val="35000"/>
                  </a:schemeClr>
                </a:solidFill>
                <a:latin typeface="微软雅黑" panose="020B0503020204020204" pitchFamily="34" charset="-122"/>
                <a:ea typeface="微软雅黑" panose="020B0503020204020204" pitchFamily="34" charset="-122"/>
                <a:cs typeface="+mn-ea"/>
              </a:rPr>
              <a:t>，如下表所示。</a:t>
            </a:r>
          </a:p>
        </p:txBody>
      </p:sp>
      <p:sp>
        <p:nvSpPr>
          <p:cNvPr id="31" name="Title 1"/>
          <p:cNvSpPr txBox="1"/>
          <p:nvPr/>
        </p:nvSpPr>
        <p:spPr>
          <a:xfrm>
            <a:off x="1143635" y="266700"/>
            <a:ext cx="599694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2.6.3	实例二：飞机售票系统状态迁移图</a:t>
            </a:r>
          </a:p>
        </p:txBody>
      </p:sp>
      <p:graphicFrame>
        <p:nvGraphicFramePr>
          <p:cNvPr id="4" name="表格 3"/>
          <p:cNvGraphicFramePr/>
          <p:nvPr>
            <p:custDataLst>
              <p:tags r:id="rId1"/>
            </p:custDataLst>
            <p:extLst>
              <p:ext uri="{D42A27DB-BD31-4B8C-83A1-F6EECF244321}">
                <p14:modId xmlns:p14="http://schemas.microsoft.com/office/powerpoint/2010/main" val="2445285225"/>
              </p:ext>
            </p:extLst>
          </p:nvPr>
        </p:nvGraphicFramePr>
        <p:xfrm>
          <a:off x="3003708" y="1997075"/>
          <a:ext cx="6182995" cy="4318000"/>
        </p:xfrm>
        <a:graphic>
          <a:graphicData uri="http://schemas.openxmlformats.org/drawingml/2006/table">
            <a:tbl>
              <a:tblPr firstRow="1" bandRow="1">
                <a:tableStyleId>{5C22544A-7EE6-4342-B048-85BDC9FD1C3A}</a:tableStyleId>
              </a:tblPr>
              <a:tblGrid>
                <a:gridCol w="2030730">
                  <a:extLst>
                    <a:ext uri="{9D8B030D-6E8A-4147-A177-3AD203B41FA5}">
                      <a16:colId xmlns:a16="http://schemas.microsoft.com/office/drawing/2014/main" val="20000"/>
                    </a:ext>
                  </a:extLst>
                </a:gridCol>
                <a:gridCol w="1903730">
                  <a:extLst>
                    <a:ext uri="{9D8B030D-6E8A-4147-A177-3AD203B41FA5}">
                      <a16:colId xmlns:a16="http://schemas.microsoft.com/office/drawing/2014/main" val="20001"/>
                    </a:ext>
                  </a:extLst>
                </a:gridCol>
                <a:gridCol w="2248535">
                  <a:extLst>
                    <a:ext uri="{9D8B030D-6E8A-4147-A177-3AD203B41FA5}">
                      <a16:colId xmlns:a16="http://schemas.microsoft.com/office/drawing/2014/main" val="20002"/>
                    </a:ext>
                  </a:extLst>
                </a:gridCol>
              </a:tblGrid>
              <a:tr h="619125">
                <a:tc>
                  <a:txBody>
                    <a:bodyPr/>
                    <a:lstStyle/>
                    <a:p>
                      <a:pPr algn="ctr">
                        <a:lnSpc>
                          <a:spcPct val="90000"/>
                        </a:lnSpc>
                        <a:buNone/>
                      </a:pPr>
                      <a:r>
                        <a:rPr lang="zh-CN" altLang="en-US" sz="1800" b="1">
                          <a:latin typeface="微软雅黑" panose="020B0503020204020204" pitchFamily="34" charset="-122"/>
                          <a:ea typeface="微软雅黑" panose="020B0503020204020204" pitchFamily="34" charset="-122"/>
                        </a:rPr>
                        <a:t>前一状态</a:t>
                      </a:r>
                    </a:p>
                  </a:txBody>
                  <a:tcPr anchor="ctr"/>
                </a:tc>
                <a:tc>
                  <a:txBody>
                    <a:bodyPr/>
                    <a:lstStyle/>
                    <a:p>
                      <a:pPr algn="ctr">
                        <a:lnSpc>
                          <a:spcPct val="90000"/>
                        </a:lnSpc>
                        <a:buNone/>
                      </a:pPr>
                      <a:r>
                        <a:rPr lang="zh-CN" altLang="en-US" sz="1800">
                          <a:latin typeface="微软雅黑" panose="020B0503020204020204" pitchFamily="34" charset="-122"/>
                          <a:ea typeface="微软雅黑" panose="020B0503020204020204" pitchFamily="34" charset="-122"/>
                        </a:rPr>
                        <a:t>事件</a:t>
                      </a:r>
                    </a:p>
                  </a:txBody>
                  <a:tcPr anchor="ctr"/>
                </a:tc>
                <a:tc>
                  <a:txBody>
                    <a:bodyPr/>
                    <a:lstStyle/>
                    <a:p>
                      <a:pPr algn="ctr">
                        <a:lnSpc>
                          <a:spcPct val="90000"/>
                        </a:lnSpc>
                        <a:buNone/>
                      </a:pPr>
                      <a:r>
                        <a:rPr lang="zh-CN" altLang="en-US" sz="1800">
                          <a:latin typeface="微软雅黑" panose="020B0503020204020204" pitchFamily="34" charset="-122"/>
                          <a:ea typeface="微软雅黑" panose="020B0503020204020204" pitchFamily="34" charset="-122"/>
                        </a:rPr>
                        <a:t>后一状态</a:t>
                      </a:r>
                    </a:p>
                  </a:txBody>
                  <a:tcPr anchor="ctr"/>
                </a:tc>
                <a:extLst>
                  <a:ext uri="{0D108BD9-81ED-4DB2-BD59-A6C34878D82A}">
                    <a16:rowId xmlns:a16="http://schemas.microsoft.com/office/drawing/2014/main" val="10000"/>
                  </a:ext>
                </a:extLst>
              </a:tr>
              <a:tr h="567055">
                <a:tc>
                  <a:txBody>
                    <a:bodyPr/>
                    <a:lstStyle/>
                    <a:p>
                      <a:pPr algn="ctr">
                        <a:buNone/>
                      </a:pPr>
                      <a:r>
                        <a:rPr sz="1800" kern="1200">
                          <a:solidFill>
                            <a:schemeClr val="tx1">
                              <a:lumMod val="65000"/>
                              <a:lumOff val="35000"/>
                            </a:schemeClr>
                          </a:solidFill>
                          <a:latin typeface="微软雅黑" panose="020B0503020204020204" pitchFamily="34" charset="-122"/>
                          <a:ea typeface="微软雅黑" panose="020B0503020204020204" pitchFamily="34" charset="-122"/>
                          <a:cs typeface="+mn-ea"/>
                        </a:rPr>
                        <a:t>已预订</a:t>
                      </a:r>
                    </a:p>
                  </a:txBody>
                  <a:tcPr anchor="ctr"/>
                </a:tc>
                <a:tc>
                  <a:txBody>
                    <a:bodyPr/>
                    <a:lstStyle/>
                    <a:p>
                      <a:pPr algn="ctr">
                        <a:buNone/>
                      </a:pPr>
                      <a:r>
                        <a:rPr sz="1800" kern="1200">
                          <a:solidFill>
                            <a:schemeClr val="tx1">
                              <a:lumMod val="65000"/>
                              <a:lumOff val="35000"/>
                            </a:schemeClr>
                          </a:solidFill>
                          <a:latin typeface="微软雅黑" panose="020B0503020204020204" pitchFamily="34" charset="-122"/>
                          <a:ea typeface="微软雅黑" panose="020B0503020204020204" pitchFamily="34" charset="-122"/>
                          <a:cs typeface="+mn-ea"/>
                        </a:rPr>
                        <a:t>取消订单</a:t>
                      </a:r>
                    </a:p>
                  </a:txBody>
                  <a:tcPr anchor="ctr"/>
                </a:tc>
                <a:tc>
                  <a:txBody>
                    <a:bodyPr/>
                    <a:lstStyle/>
                    <a:p>
                      <a:pPr algn="ctr">
                        <a:buNone/>
                      </a:pPr>
                      <a:r>
                        <a:rPr lang="en-US" altLang="zh-CN" sz="1800" kern="1200">
                          <a:solidFill>
                            <a:schemeClr val="tx1">
                              <a:lumMod val="65000"/>
                              <a:lumOff val="35000"/>
                            </a:schemeClr>
                          </a:solidFill>
                          <a:latin typeface="微软雅黑" panose="020B0503020204020204" pitchFamily="34" charset="-122"/>
                          <a:ea typeface="微软雅黑" panose="020B0503020204020204" pitchFamily="34" charset="-122"/>
                          <a:cs typeface="+mn-ea"/>
                        </a:rPr>
                        <a:t>已取消</a:t>
                      </a:r>
                    </a:p>
                  </a:txBody>
                  <a:tcPr anchor="ctr"/>
                </a:tc>
                <a:extLst>
                  <a:ext uri="{0D108BD9-81ED-4DB2-BD59-A6C34878D82A}">
                    <a16:rowId xmlns:a16="http://schemas.microsoft.com/office/drawing/2014/main" val="10001"/>
                  </a:ext>
                </a:extLst>
              </a:tr>
              <a:tr h="548640">
                <a:tc>
                  <a:txBody>
                    <a:bodyPr/>
                    <a:lstStyle/>
                    <a:p>
                      <a:pPr algn="ctr">
                        <a:buClrTx/>
                        <a:buSzTx/>
                        <a:buFontTx/>
                        <a:buNone/>
                      </a:pPr>
                      <a:r>
                        <a:rPr lang="en-US" altLang="zh-CN" sz="1800" kern="1200">
                          <a:solidFill>
                            <a:schemeClr val="tx1">
                              <a:lumMod val="65000"/>
                              <a:lumOff val="35000"/>
                            </a:schemeClr>
                          </a:solidFill>
                          <a:latin typeface="微软雅黑" panose="020B0503020204020204" pitchFamily="34" charset="-122"/>
                          <a:ea typeface="微软雅黑" panose="020B0503020204020204" pitchFamily="34" charset="-122"/>
                          <a:cs typeface="+mn-ea"/>
                        </a:rPr>
                        <a:t>已预订</a:t>
                      </a:r>
                    </a:p>
                  </a:txBody>
                  <a:tcPr anchor="ctr"/>
                </a:tc>
                <a:tc>
                  <a:txBody>
                    <a:bodyPr/>
                    <a:lstStyle/>
                    <a:p>
                      <a:pPr algn="ctr">
                        <a:buNone/>
                      </a:pPr>
                      <a:r>
                        <a:rPr lang="en-US" altLang="zh-CN" sz="1800" kern="1200">
                          <a:solidFill>
                            <a:schemeClr val="tx1">
                              <a:lumMod val="65000"/>
                              <a:lumOff val="35000"/>
                            </a:schemeClr>
                          </a:solidFill>
                          <a:latin typeface="微软雅黑" panose="020B0503020204020204" pitchFamily="34" charset="-122"/>
                          <a:ea typeface="微软雅黑" panose="020B0503020204020204" pitchFamily="34" charset="-122"/>
                          <a:cs typeface="+mn-ea"/>
                        </a:rPr>
                        <a:t>提交订单</a:t>
                      </a:r>
                    </a:p>
                  </a:txBody>
                  <a:tcPr anchor="ctr"/>
                </a:tc>
                <a:tc>
                  <a:txBody>
                    <a:bodyPr/>
                    <a:lstStyle/>
                    <a:p>
                      <a:pPr algn="ctr">
                        <a:buNone/>
                      </a:pPr>
                      <a:r>
                        <a:rPr lang="en-US" altLang="zh-CN" sz="1800" kern="1200">
                          <a:solidFill>
                            <a:schemeClr val="tx1">
                              <a:lumMod val="65000"/>
                              <a:lumOff val="35000"/>
                            </a:schemeClr>
                          </a:solidFill>
                          <a:latin typeface="微软雅黑" panose="020B0503020204020204" pitchFamily="34" charset="-122"/>
                          <a:ea typeface="微软雅黑" panose="020B0503020204020204" pitchFamily="34" charset="-122"/>
                          <a:cs typeface="+mn-ea"/>
                        </a:rPr>
                        <a:t>已支付</a:t>
                      </a:r>
                    </a:p>
                  </a:txBody>
                  <a:tcPr anchor="ctr"/>
                </a:tc>
                <a:extLst>
                  <a:ext uri="{0D108BD9-81ED-4DB2-BD59-A6C34878D82A}">
                    <a16:rowId xmlns:a16="http://schemas.microsoft.com/office/drawing/2014/main" val="10002"/>
                  </a:ext>
                </a:extLst>
              </a:tr>
              <a:tr h="638175">
                <a:tc>
                  <a:txBody>
                    <a:bodyPr/>
                    <a:lstStyle/>
                    <a:p>
                      <a:pPr algn="ctr">
                        <a:buClrTx/>
                        <a:buSzTx/>
                        <a:buFontTx/>
                        <a:buNone/>
                      </a:pPr>
                      <a:r>
                        <a:rPr lang="en-US" altLang="zh-CN" sz="1800" kern="1200">
                          <a:solidFill>
                            <a:schemeClr val="tx1">
                              <a:lumMod val="65000"/>
                              <a:lumOff val="35000"/>
                            </a:schemeClr>
                          </a:solidFill>
                          <a:latin typeface="微软雅黑" panose="020B0503020204020204" pitchFamily="34" charset="-122"/>
                          <a:ea typeface="微软雅黑" panose="020B0503020204020204" pitchFamily="34" charset="-122"/>
                          <a:cs typeface="+mn-ea"/>
                        </a:rPr>
                        <a:t>已支付</a:t>
                      </a:r>
                    </a:p>
                  </a:txBody>
                  <a:tcPr anchor="ctr"/>
                </a:tc>
                <a:tc>
                  <a:txBody>
                    <a:bodyPr/>
                    <a:lstStyle/>
                    <a:p>
                      <a:pPr algn="ctr">
                        <a:buNone/>
                      </a:pPr>
                      <a:r>
                        <a:rPr lang="en-US" altLang="zh-CN" sz="1800" kern="1200">
                          <a:solidFill>
                            <a:schemeClr val="tx1">
                              <a:lumMod val="65000"/>
                              <a:lumOff val="35000"/>
                            </a:schemeClr>
                          </a:solidFill>
                          <a:latin typeface="微软雅黑" panose="020B0503020204020204" pitchFamily="34" charset="-122"/>
                          <a:ea typeface="微软雅黑" panose="020B0503020204020204" pitchFamily="34" charset="-122"/>
                          <a:cs typeface="+mn-ea"/>
                        </a:rPr>
                        <a:t>取消订单</a:t>
                      </a:r>
                    </a:p>
                  </a:txBody>
                  <a:tcPr anchor="ctr"/>
                </a:tc>
                <a:tc>
                  <a:txBody>
                    <a:bodyPr/>
                    <a:lstStyle/>
                    <a:p>
                      <a:pPr algn="ctr">
                        <a:buNone/>
                      </a:pPr>
                      <a:r>
                        <a:rPr lang="en-US" altLang="zh-CN" sz="1800" kern="1200">
                          <a:solidFill>
                            <a:schemeClr val="tx1">
                              <a:lumMod val="65000"/>
                              <a:lumOff val="35000"/>
                            </a:schemeClr>
                          </a:solidFill>
                          <a:latin typeface="微软雅黑" panose="020B0503020204020204" pitchFamily="34" charset="-122"/>
                          <a:ea typeface="微软雅黑" panose="020B0503020204020204" pitchFamily="34" charset="-122"/>
                          <a:cs typeface="+mn-ea"/>
                        </a:rPr>
                        <a:t>已取消</a:t>
                      </a:r>
                    </a:p>
                  </a:txBody>
                  <a:tcPr anchor="ctr"/>
                </a:tc>
                <a:extLst>
                  <a:ext uri="{0D108BD9-81ED-4DB2-BD59-A6C34878D82A}">
                    <a16:rowId xmlns:a16="http://schemas.microsoft.com/office/drawing/2014/main" val="10003"/>
                  </a:ext>
                </a:extLst>
              </a:tr>
              <a:tr h="648335">
                <a:tc>
                  <a:txBody>
                    <a:bodyPr/>
                    <a:lstStyle/>
                    <a:p>
                      <a:pPr algn="ctr">
                        <a:buClrTx/>
                        <a:buSzTx/>
                        <a:buFontTx/>
                        <a:buNone/>
                      </a:pPr>
                      <a:r>
                        <a:rPr lang="en-US" altLang="zh-CN" sz="1800" kern="1200">
                          <a:solidFill>
                            <a:schemeClr val="tx1">
                              <a:lumMod val="65000"/>
                              <a:lumOff val="35000"/>
                            </a:schemeClr>
                          </a:solidFill>
                          <a:latin typeface="微软雅黑" panose="020B0503020204020204" pitchFamily="34" charset="-122"/>
                          <a:ea typeface="微软雅黑" panose="020B0503020204020204" pitchFamily="34" charset="-122"/>
                          <a:cs typeface="+mn-ea"/>
                        </a:rPr>
                        <a:t>已支付</a:t>
                      </a:r>
                    </a:p>
                  </a:txBody>
                  <a:tcPr anchor="ctr"/>
                </a:tc>
                <a:tc>
                  <a:txBody>
                    <a:bodyPr/>
                    <a:lstStyle/>
                    <a:p>
                      <a:pPr algn="ctr">
                        <a:buNone/>
                      </a:pPr>
                      <a:r>
                        <a:rPr lang="en-US" altLang="zh-CN" sz="1800" kern="1200">
                          <a:solidFill>
                            <a:schemeClr val="tx1">
                              <a:lumMod val="65000"/>
                              <a:lumOff val="35000"/>
                            </a:schemeClr>
                          </a:solidFill>
                          <a:latin typeface="微软雅黑" panose="020B0503020204020204" pitchFamily="34" charset="-122"/>
                          <a:ea typeface="微软雅黑" panose="020B0503020204020204" pitchFamily="34" charset="-122"/>
                          <a:cs typeface="+mn-ea"/>
                        </a:rPr>
                        <a:t>支付成功</a:t>
                      </a:r>
                    </a:p>
                  </a:txBody>
                  <a:tcPr anchor="ctr"/>
                </a:tc>
                <a:tc>
                  <a:txBody>
                    <a:bodyPr/>
                    <a:lstStyle/>
                    <a:p>
                      <a:pPr algn="ctr">
                        <a:buNone/>
                      </a:pPr>
                      <a:r>
                        <a:rPr lang="en-US" altLang="zh-CN" sz="1800" kern="1200">
                          <a:solidFill>
                            <a:schemeClr val="tx1">
                              <a:lumMod val="65000"/>
                              <a:lumOff val="35000"/>
                            </a:schemeClr>
                          </a:solidFill>
                          <a:latin typeface="微软雅黑" panose="020B0503020204020204" pitchFamily="34" charset="-122"/>
                          <a:ea typeface="微软雅黑" panose="020B0503020204020204" pitchFamily="34" charset="-122"/>
                          <a:cs typeface="+mn-ea"/>
                        </a:rPr>
                        <a:t>已出票</a:t>
                      </a:r>
                    </a:p>
                  </a:txBody>
                  <a:tcPr anchor="ctr"/>
                </a:tc>
                <a:extLst>
                  <a:ext uri="{0D108BD9-81ED-4DB2-BD59-A6C34878D82A}">
                    <a16:rowId xmlns:a16="http://schemas.microsoft.com/office/drawing/2014/main" val="10004"/>
                  </a:ext>
                </a:extLst>
              </a:tr>
              <a:tr h="648335">
                <a:tc>
                  <a:txBody>
                    <a:bodyPr/>
                    <a:lstStyle/>
                    <a:p>
                      <a:pPr algn="ctr">
                        <a:buClrTx/>
                        <a:buSzTx/>
                        <a:buFontTx/>
                        <a:buNone/>
                      </a:pPr>
                      <a:r>
                        <a:rPr lang="en-US" altLang="zh-CN" sz="1800" kern="1200">
                          <a:solidFill>
                            <a:schemeClr val="tx1">
                              <a:lumMod val="65000"/>
                              <a:lumOff val="35000"/>
                            </a:schemeClr>
                          </a:solidFill>
                          <a:latin typeface="微软雅黑" panose="020B0503020204020204" pitchFamily="34" charset="-122"/>
                          <a:ea typeface="微软雅黑" panose="020B0503020204020204" pitchFamily="34" charset="-122"/>
                          <a:cs typeface="+mn-ea"/>
                        </a:rPr>
                        <a:t>已出票</a:t>
                      </a:r>
                    </a:p>
                  </a:txBody>
                  <a:tcPr anchor="ctr"/>
                </a:tc>
                <a:tc>
                  <a:txBody>
                    <a:bodyPr/>
                    <a:lstStyle/>
                    <a:p>
                      <a:pPr algn="ctr">
                        <a:buNone/>
                      </a:pPr>
                      <a:r>
                        <a:rPr lang="en-US" altLang="zh-CN" sz="1800" kern="1200">
                          <a:solidFill>
                            <a:schemeClr val="tx1">
                              <a:lumMod val="65000"/>
                              <a:lumOff val="35000"/>
                            </a:schemeClr>
                          </a:solidFill>
                          <a:latin typeface="微软雅黑" panose="020B0503020204020204" pitchFamily="34" charset="-122"/>
                          <a:ea typeface="微软雅黑" panose="020B0503020204020204" pitchFamily="34" charset="-122"/>
                          <a:cs typeface="+mn-ea"/>
                        </a:rPr>
                        <a:t>取消订单</a:t>
                      </a:r>
                    </a:p>
                  </a:txBody>
                  <a:tcPr anchor="ctr"/>
                </a:tc>
                <a:tc>
                  <a:txBody>
                    <a:bodyPr/>
                    <a:lstStyle/>
                    <a:p>
                      <a:pPr algn="ctr">
                        <a:buNone/>
                      </a:pPr>
                      <a:r>
                        <a:rPr lang="en-US" altLang="zh-CN" sz="1800" kern="1200">
                          <a:solidFill>
                            <a:schemeClr val="tx1">
                              <a:lumMod val="65000"/>
                              <a:lumOff val="35000"/>
                            </a:schemeClr>
                          </a:solidFill>
                          <a:latin typeface="微软雅黑" panose="020B0503020204020204" pitchFamily="34" charset="-122"/>
                          <a:ea typeface="微软雅黑" panose="020B0503020204020204" pitchFamily="34" charset="-122"/>
                          <a:cs typeface="+mn-ea"/>
                        </a:rPr>
                        <a:t>已取消</a:t>
                      </a:r>
                    </a:p>
                  </a:txBody>
                  <a:tcPr anchor="ctr"/>
                </a:tc>
                <a:extLst>
                  <a:ext uri="{0D108BD9-81ED-4DB2-BD59-A6C34878D82A}">
                    <a16:rowId xmlns:a16="http://schemas.microsoft.com/office/drawing/2014/main" val="10005"/>
                  </a:ext>
                </a:extLst>
              </a:tr>
              <a:tr h="648335">
                <a:tc>
                  <a:txBody>
                    <a:bodyPr/>
                    <a:lstStyle/>
                    <a:p>
                      <a:pPr algn="ctr">
                        <a:buClrTx/>
                        <a:buSzTx/>
                        <a:buFontTx/>
                        <a:buNone/>
                      </a:pPr>
                      <a:r>
                        <a:rPr lang="en-US" altLang="zh-CN" sz="1800" kern="1200">
                          <a:solidFill>
                            <a:schemeClr val="tx1">
                              <a:lumMod val="65000"/>
                              <a:lumOff val="35000"/>
                            </a:schemeClr>
                          </a:solidFill>
                          <a:latin typeface="微软雅黑" panose="020B0503020204020204" pitchFamily="34" charset="-122"/>
                          <a:ea typeface="微软雅黑" panose="020B0503020204020204" pitchFamily="34" charset="-122"/>
                          <a:cs typeface="+mn-ea"/>
                        </a:rPr>
                        <a:t>已出票</a:t>
                      </a:r>
                    </a:p>
                  </a:txBody>
                  <a:tcPr anchor="ctr"/>
                </a:tc>
                <a:tc>
                  <a:txBody>
                    <a:bodyPr/>
                    <a:lstStyle/>
                    <a:p>
                      <a:pPr algn="ctr">
                        <a:buNone/>
                      </a:pPr>
                      <a:r>
                        <a:rPr lang="en-US" altLang="zh-CN" sz="1800" kern="1200">
                          <a:solidFill>
                            <a:schemeClr val="tx1">
                              <a:lumMod val="65000"/>
                              <a:lumOff val="35000"/>
                            </a:schemeClr>
                          </a:solidFill>
                          <a:latin typeface="微软雅黑" panose="020B0503020204020204" pitchFamily="34" charset="-122"/>
                          <a:ea typeface="微软雅黑" panose="020B0503020204020204" pitchFamily="34" charset="-122"/>
                          <a:cs typeface="+mn-ea"/>
                        </a:rPr>
                        <a:t>登机检票</a:t>
                      </a:r>
                    </a:p>
                  </a:txBody>
                  <a:tcPr anchor="ctr"/>
                </a:tc>
                <a:tc>
                  <a:txBody>
                    <a:bodyPr/>
                    <a:lstStyle/>
                    <a:p>
                      <a:pPr algn="ctr">
                        <a:buNone/>
                      </a:pPr>
                      <a:r>
                        <a:rPr lang="en-US" altLang="zh-CN" sz="1800" kern="1200" dirty="0" err="1">
                          <a:solidFill>
                            <a:schemeClr val="tx1">
                              <a:lumMod val="65000"/>
                              <a:lumOff val="35000"/>
                            </a:schemeClr>
                          </a:solidFill>
                          <a:latin typeface="微软雅黑" panose="020B0503020204020204" pitchFamily="34" charset="-122"/>
                          <a:ea typeface="微软雅黑" panose="020B0503020204020204" pitchFamily="34" charset="-122"/>
                          <a:cs typeface="+mn-ea"/>
                        </a:rPr>
                        <a:t>已使用</a:t>
                      </a:r>
                      <a:endParaRPr lang="en-US" altLang="zh-CN" sz="1800" kern="1200" dirty="0">
                        <a:solidFill>
                          <a:schemeClr val="tx1">
                            <a:lumMod val="65000"/>
                            <a:lumOff val="35000"/>
                          </a:schemeClr>
                        </a:solidFill>
                        <a:latin typeface="微软雅黑" panose="020B0503020204020204" pitchFamily="34" charset="-122"/>
                        <a:ea typeface="微软雅黑" panose="020B0503020204020204" pitchFamily="34" charset="-122"/>
                        <a:cs typeface="+mn-ea"/>
                      </a:endParaRPr>
                    </a:p>
                  </a:txBody>
                  <a:tcPr anchor="ctr"/>
                </a:tc>
                <a:extLst>
                  <a:ext uri="{0D108BD9-81ED-4DB2-BD59-A6C34878D82A}">
                    <a16:rowId xmlns:a16="http://schemas.microsoft.com/office/drawing/2014/main" val="10006"/>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35"/>
          <p:cNvSpPr txBox="1">
            <a:spLocks noChangeArrowheads="1"/>
          </p:cNvSpPr>
          <p:nvPr/>
        </p:nvSpPr>
        <p:spPr bwMode="auto">
          <a:xfrm>
            <a:off x="1198880" y="909320"/>
            <a:ext cx="9852660" cy="5359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buClrTx/>
              <a:buSzTx/>
              <a:buFontTx/>
            </a:pPr>
            <a:r>
              <a:rPr lang="zh-CN" sz="1800">
                <a:solidFill>
                  <a:schemeClr val="tx1">
                    <a:lumMod val="65000"/>
                    <a:lumOff val="35000"/>
                  </a:schemeClr>
                </a:solidFill>
                <a:latin typeface="微软雅黑" panose="020B0503020204020204" pitchFamily="34" charset="-122"/>
                <a:ea typeface="微软雅黑" panose="020B0503020204020204" pitchFamily="34" charset="-122"/>
                <a:cs typeface="+mn-ea"/>
              </a:rPr>
              <a:t>为了能够更好地确定测试路径，需要根据状态迁移画出状态转换树，</a:t>
            </a:r>
            <a:r>
              <a:rPr lang="zh-CN" sz="1800">
                <a:solidFill>
                  <a:srgbClr val="0070C0"/>
                </a:solidFill>
                <a:latin typeface="微软雅黑" panose="020B0503020204020204" pitchFamily="34" charset="-122"/>
                <a:ea typeface="微软雅黑" panose="020B0503020204020204" pitchFamily="34" charset="-122"/>
                <a:cs typeface="+mn-ea"/>
              </a:rPr>
              <a:t>机票状态转换树</a:t>
            </a:r>
            <a:r>
              <a:rPr lang="zh-CN" sz="1800">
                <a:solidFill>
                  <a:schemeClr val="tx1">
                    <a:lumMod val="65000"/>
                    <a:lumOff val="35000"/>
                  </a:schemeClr>
                </a:solidFill>
                <a:latin typeface="微软雅黑" panose="020B0503020204020204" pitchFamily="34" charset="-122"/>
                <a:ea typeface="微软雅黑" panose="020B0503020204020204" pitchFamily="34" charset="-122"/>
                <a:cs typeface="+mn-ea"/>
              </a:rPr>
              <a:t>如下图所示。</a:t>
            </a:r>
          </a:p>
        </p:txBody>
      </p:sp>
      <p:sp>
        <p:nvSpPr>
          <p:cNvPr id="31" name="Title 1"/>
          <p:cNvSpPr txBox="1"/>
          <p:nvPr/>
        </p:nvSpPr>
        <p:spPr>
          <a:xfrm>
            <a:off x="1143635" y="266700"/>
            <a:ext cx="599694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2.6.3	实例二：飞机售票系统状态迁移图</a:t>
            </a:r>
          </a:p>
        </p:txBody>
      </p:sp>
      <p:pic>
        <p:nvPicPr>
          <p:cNvPr id="2" name="图片 1" descr="444"/>
          <p:cNvPicPr>
            <a:picLocks noChangeAspect="1"/>
          </p:cNvPicPr>
          <p:nvPr/>
        </p:nvPicPr>
        <p:blipFill>
          <a:blip r:embed="rId3"/>
          <a:stretch>
            <a:fillRect/>
          </a:stretch>
        </p:blipFill>
        <p:spPr>
          <a:xfrm>
            <a:off x="3048635" y="1444625"/>
            <a:ext cx="6153150" cy="1693545"/>
          </a:xfrm>
          <a:prstGeom prst="rect">
            <a:avLst/>
          </a:prstGeom>
        </p:spPr>
      </p:pic>
      <p:sp>
        <p:nvSpPr>
          <p:cNvPr id="3" name="文本框 2"/>
          <p:cNvSpPr txBox="1"/>
          <p:nvPr/>
        </p:nvSpPr>
        <p:spPr>
          <a:xfrm>
            <a:off x="1262380" y="3137535"/>
            <a:ext cx="7880350" cy="2168525"/>
          </a:xfrm>
          <a:prstGeom prst="rect">
            <a:avLst/>
          </a:prstGeom>
          <a:noFill/>
        </p:spPr>
        <p:txBody>
          <a:bodyPr wrap="square" rtlCol="0" anchor="t">
            <a:spAutoFit/>
          </a:bodyPr>
          <a:lstStyle/>
          <a:p>
            <a:pPr>
              <a:lnSpc>
                <a:spcPct val="150000"/>
              </a:lnSpc>
            </a:pPr>
            <a:r>
              <a:rPr lang="zh-CN" sz="1800">
                <a:solidFill>
                  <a:schemeClr val="tx1">
                    <a:lumMod val="65000"/>
                    <a:lumOff val="35000"/>
                  </a:schemeClr>
                </a:solidFill>
                <a:latin typeface="微软雅黑" panose="020B0503020204020204" pitchFamily="34" charset="-122"/>
                <a:ea typeface="微软雅黑" panose="020B0503020204020204" pitchFamily="34" charset="-122"/>
                <a:cs typeface="+mn-ea"/>
              </a:rPr>
              <a:t>通过分析上图可知，一共有</a:t>
            </a:r>
            <a:r>
              <a:rPr lang="zh-CN" sz="1800">
                <a:solidFill>
                  <a:srgbClr val="0070C0"/>
                </a:solidFill>
                <a:latin typeface="微软雅黑" panose="020B0503020204020204" pitchFamily="34" charset="-122"/>
                <a:ea typeface="微软雅黑" panose="020B0503020204020204" pitchFamily="34" charset="-122"/>
                <a:cs typeface="+mn-ea"/>
              </a:rPr>
              <a:t>4条测试路径</a:t>
            </a:r>
            <a:r>
              <a:rPr lang="zh-CN" sz="1800">
                <a:solidFill>
                  <a:schemeClr val="tx1">
                    <a:lumMod val="65000"/>
                    <a:lumOff val="35000"/>
                  </a:schemeClr>
                </a:solidFill>
                <a:latin typeface="微软雅黑" panose="020B0503020204020204" pitchFamily="34" charset="-122"/>
                <a:ea typeface="微软雅黑" panose="020B0503020204020204" pitchFamily="34" charset="-122"/>
                <a:cs typeface="+mn-ea"/>
              </a:rPr>
              <a:t>，具体如下所示。</a:t>
            </a:r>
          </a:p>
          <a:p>
            <a:pPr marL="285750" indent="-285750">
              <a:lnSpc>
                <a:spcPct val="150000"/>
              </a:lnSpc>
              <a:buFont typeface="Wingdings" panose="05000000000000000000" charset="0"/>
              <a:buChar char="l"/>
            </a:pPr>
            <a:r>
              <a:rPr lang="zh-CN" sz="1800">
                <a:solidFill>
                  <a:schemeClr val="tx1">
                    <a:lumMod val="65000"/>
                    <a:lumOff val="35000"/>
                  </a:schemeClr>
                </a:solidFill>
                <a:latin typeface="微软雅黑" panose="020B0503020204020204" pitchFamily="34" charset="-122"/>
                <a:ea typeface="微软雅黑" panose="020B0503020204020204" pitchFamily="34" charset="-122"/>
                <a:cs typeface="+mn-ea"/>
              </a:rPr>
              <a:t>测试路径1：已预订→已取消。</a:t>
            </a:r>
          </a:p>
          <a:p>
            <a:pPr marL="285750" indent="-285750" algn="l">
              <a:lnSpc>
                <a:spcPct val="150000"/>
              </a:lnSpc>
              <a:buClrTx/>
              <a:buSzTx/>
              <a:buFont typeface="Wingdings" panose="05000000000000000000" charset="0"/>
              <a:buChar char="l"/>
            </a:pPr>
            <a:r>
              <a:rPr lang="zh-CN" sz="1800">
                <a:solidFill>
                  <a:schemeClr val="tx1">
                    <a:lumMod val="65000"/>
                    <a:lumOff val="35000"/>
                  </a:schemeClr>
                </a:solidFill>
                <a:latin typeface="微软雅黑" panose="020B0503020204020204" pitchFamily="34" charset="-122"/>
                <a:ea typeface="微软雅黑" panose="020B0503020204020204" pitchFamily="34" charset="-122"/>
                <a:cs typeface="+mn-ea"/>
              </a:rPr>
              <a:t>测试路径2：已预订→已支付→已取消。</a:t>
            </a:r>
          </a:p>
          <a:p>
            <a:pPr marL="285750" indent="-285750" algn="l">
              <a:lnSpc>
                <a:spcPct val="150000"/>
              </a:lnSpc>
              <a:buClrTx/>
              <a:buSzTx/>
              <a:buFont typeface="Wingdings" panose="05000000000000000000" charset="0"/>
              <a:buChar char="l"/>
            </a:pPr>
            <a:r>
              <a:rPr lang="zh-CN" sz="1800">
                <a:solidFill>
                  <a:schemeClr val="tx1">
                    <a:lumMod val="65000"/>
                    <a:lumOff val="35000"/>
                  </a:schemeClr>
                </a:solidFill>
                <a:latin typeface="微软雅黑" panose="020B0503020204020204" pitchFamily="34" charset="-122"/>
                <a:ea typeface="微软雅黑" panose="020B0503020204020204" pitchFamily="34" charset="-122"/>
                <a:cs typeface="+mn-ea"/>
              </a:rPr>
              <a:t>测试路径3：已预订→已支付→已出票→已取消。</a:t>
            </a:r>
          </a:p>
          <a:p>
            <a:pPr marL="285750" indent="-285750" algn="l">
              <a:lnSpc>
                <a:spcPct val="150000"/>
              </a:lnSpc>
              <a:buClrTx/>
              <a:buSzTx/>
              <a:buFont typeface="Wingdings" panose="05000000000000000000" charset="0"/>
              <a:buChar char="l"/>
            </a:pPr>
            <a:r>
              <a:rPr lang="zh-CN" sz="1800">
                <a:solidFill>
                  <a:schemeClr val="tx1">
                    <a:lumMod val="65000"/>
                    <a:lumOff val="35000"/>
                  </a:schemeClr>
                </a:solidFill>
                <a:latin typeface="微软雅黑" panose="020B0503020204020204" pitchFamily="34" charset="-122"/>
                <a:ea typeface="微软雅黑" panose="020B0503020204020204" pitchFamily="34" charset="-122"/>
                <a:cs typeface="+mn-ea"/>
              </a:rPr>
              <a:t>测试路径4：已预订→已支付→已出票→已使用。</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35"/>
          <p:cNvSpPr txBox="1">
            <a:spLocks noChangeArrowheads="1"/>
          </p:cNvSpPr>
          <p:nvPr/>
        </p:nvSpPr>
        <p:spPr bwMode="auto">
          <a:xfrm>
            <a:off x="1169035" y="837565"/>
            <a:ext cx="9852660" cy="951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buClrTx/>
              <a:buSzTx/>
              <a:buFontTx/>
            </a:pPr>
            <a:r>
              <a:rPr lang="zh-CN" sz="1800">
                <a:solidFill>
                  <a:schemeClr val="tx1">
                    <a:lumMod val="65000"/>
                    <a:lumOff val="35000"/>
                  </a:schemeClr>
                </a:solidFill>
                <a:latin typeface="微软雅黑" panose="020B0503020204020204" pitchFamily="34" charset="-122"/>
                <a:ea typeface="微软雅黑" panose="020B0503020204020204" pitchFamily="34" charset="-122"/>
                <a:cs typeface="+mn-ea"/>
              </a:rPr>
              <a:t>假设需要测试用户预定机票到使用机票过程中机票状态的迁移过程，根据上一页中的4条测试路径可以</a:t>
            </a:r>
            <a:r>
              <a:rPr lang="zh-CN" sz="1800">
                <a:solidFill>
                  <a:srgbClr val="0070C0"/>
                </a:solidFill>
                <a:latin typeface="微软雅黑" panose="020B0503020204020204" pitchFamily="34" charset="-122"/>
                <a:ea typeface="微软雅黑" panose="020B0503020204020204" pitchFamily="34" charset="-122"/>
                <a:cs typeface="+mn-ea"/>
              </a:rPr>
              <a:t>设计4条测试用例</a:t>
            </a:r>
            <a:r>
              <a:rPr lang="zh-CN" sz="1800">
                <a:solidFill>
                  <a:schemeClr val="tx1">
                    <a:lumMod val="65000"/>
                    <a:lumOff val="35000"/>
                  </a:schemeClr>
                </a:solidFill>
                <a:latin typeface="微软雅黑" panose="020B0503020204020204" pitchFamily="34" charset="-122"/>
                <a:ea typeface="微软雅黑" panose="020B0503020204020204" pitchFamily="34" charset="-122"/>
                <a:cs typeface="+mn-ea"/>
              </a:rPr>
              <a:t>，</a:t>
            </a:r>
            <a:r>
              <a:rPr lang="zh-CN" sz="1800">
                <a:solidFill>
                  <a:srgbClr val="0070C0"/>
                </a:solidFill>
                <a:latin typeface="微软雅黑" panose="020B0503020204020204" pitchFamily="34" charset="-122"/>
                <a:ea typeface="微软雅黑" panose="020B0503020204020204" pitchFamily="34" charset="-122"/>
                <a:cs typeface="+mn-ea"/>
              </a:rPr>
              <a:t>机票状态迁移的测试用例</a:t>
            </a:r>
            <a:r>
              <a:rPr lang="zh-CN" sz="1800">
                <a:solidFill>
                  <a:schemeClr val="tx1">
                    <a:lumMod val="65000"/>
                    <a:lumOff val="35000"/>
                  </a:schemeClr>
                </a:solidFill>
                <a:latin typeface="微软雅黑" panose="020B0503020204020204" pitchFamily="34" charset="-122"/>
                <a:ea typeface="微软雅黑" panose="020B0503020204020204" pitchFamily="34" charset="-122"/>
                <a:cs typeface="+mn-ea"/>
              </a:rPr>
              <a:t>如下表所示。</a:t>
            </a:r>
          </a:p>
        </p:txBody>
      </p:sp>
      <p:sp>
        <p:nvSpPr>
          <p:cNvPr id="31" name="Title 1"/>
          <p:cNvSpPr txBox="1"/>
          <p:nvPr/>
        </p:nvSpPr>
        <p:spPr>
          <a:xfrm>
            <a:off x="1143635" y="266700"/>
            <a:ext cx="599694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2.6.3	实例二：飞机售票系统状态迁移图</a:t>
            </a:r>
          </a:p>
        </p:txBody>
      </p:sp>
      <p:graphicFrame>
        <p:nvGraphicFramePr>
          <p:cNvPr id="4" name="表格 3"/>
          <p:cNvGraphicFramePr/>
          <p:nvPr>
            <p:custDataLst>
              <p:tags r:id="rId1"/>
            </p:custDataLst>
          </p:nvPr>
        </p:nvGraphicFramePr>
        <p:xfrm>
          <a:off x="1072515" y="1807210"/>
          <a:ext cx="10045700" cy="4759960"/>
        </p:xfrm>
        <a:graphic>
          <a:graphicData uri="http://schemas.openxmlformats.org/drawingml/2006/table">
            <a:tbl>
              <a:tblPr firstRow="1" bandRow="1">
                <a:tableStyleId>{5C22544A-7EE6-4342-B048-85BDC9FD1C3A}</a:tableStyleId>
              </a:tblPr>
              <a:tblGrid>
                <a:gridCol w="1357630">
                  <a:extLst>
                    <a:ext uri="{9D8B030D-6E8A-4147-A177-3AD203B41FA5}">
                      <a16:colId xmlns:a16="http://schemas.microsoft.com/office/drawing/2014/main" val="20000"/>
                    </a:ext>
                  </a:extLst>
                </a:gridCol>
                <a:gridCol w="1201420">
                  <a:extLst>
                    <a:ext uri="{9D8B030D-6E8A-4147-A177-3AD203B41FA5}">
                      <a16:colId xmlns:a16="http://schemas.microsoft.com/office/drawing/2014/main" val="20001"/>
                    </a:ext>
                  </a:extLst>
                </a:gridCol>
                <a:gridCol w="2828925">
                  <a:extLst>
                    <a:ext uri="{9D8B030D-6E8A-4147-A177-3AD203B41FA5}">
                      <a16:colId xmlns:a16="http://schemas.microsoft.com/office/drawing/2014/main" val="20002"/>
                    </a:ext>
                  </a:extLst>
                </a:gridCol>
                <a:gridCol w="3007995">
                  <a:extLst>
                    <a:ext uri="{9D8B030D-6E8A-4147-A177-3AD203B41FA5}">
                      <a16:colId xmlns:a16="http://schemas.microsoft.com/office/drawing/2014/main" val="20003"/>
                    </a:ext>
                  </a:extLst>
                </a:gridCol>
                <a:gridCol w="1649730">
                  <a:extLst>
                    <a:ext uri="{9D8B030D-6E8A-4147-A177-3AD203B41FA5}">
                      <a16:colId xmlns:a16="http://schemas.microsoft.com/office/drawing/2014/main" val="20004"/>
                    </a:ext>
                  </a:extLst>
                </a:gridCol>
              </a:tblGrid>
              <a:tr h="699135">
                <a:tc>
                  <a:txBody>
                    <a:bodyPr/>
                    <a:lstStyle/>
                    <a:p>
                      <a:pPr algn="ctr">
                        <a:lnSpc>
                          <a:spcPct val="90000"/>
                        </a:lnSpc>
                        <a:buNone/>
                      </a:pPr>
                      <a:r>
                        <a:rPr lang="zh-CN" altLang="en-US" sz="1800" b="1">
                          <a:latin typeface="微软雅黑" panose="020B0503020204020204" pitchFamily="34" charset="-122"/>
                          <a:ea typeface="微软雅黑" panose="020B0503020204020204" pitchFamily="34" charset="-122"/>
                        </a:rPr>
                        <a:t>测试用例</a:t>
                      </a:r>
                    </a:p>
                  </a:txBody>
                  <a:tcPr anchor="ctr"/>
                </a:tc>
                <a:tc>
                  <a:txBody>
                    <a:bodyPr/>
                    <a:lstStyle/>
                    <a:p>
                      <a:pPr algn="ctr">
                        <a:lnSpc>
                          <a:spcPct val="90000"/>
                        </a:lnSpc>
                        <a:buNone/>
                      </a:pPr>
                      <a:r>
                        <a:rPr lang="zh-CN" altLang="en-US" sz="1800">
                          <a:latin typeface="微软雅黑" panose="020B0503020204020204" pitchFamily="34" charset="-122"/>
                          <a:ea typeface="微软雅黑" panose="020B0503020204020204" pitchFamily="34" charset="-122"/>
                        </a:rPr>
                        <a:t>测试路径</a:t>
                      </a:r>
                    </a:p>
                  </a:txBody>
                  <a:tcPr anchor="ctr"/>
                </a:tc>
                <a:tc>
                  <a:txBody>
                    <a:bodyPr/>
                    <a:lstStyle/>
                    <a:p>
                      <a:pPr algn="ctr">
                        <a:lnSpc>
                          <a:spcPct val="90000"/>
                        </a:lnSpc>
                        <a:buNone/>
                      </a:pPr>
                      <a:r>
                        <a:rPr lang="zh-CN" altLang="en-US" sz="1800">
                          <a:latin typeface="微软雅黑" panose="020B0503020204020204" pitchFamily="34" charset="-122"/>
                          <a:ea typeface="微软雅黑" panose="020B0503020204020204" pitchFamily="34" charset="-122"/>
                        </a:rPr>
                        <a:t>前置条件</a:t>
                      </a:r>
                    </a:p>
                  </a:txBody>
                  <a:tcPr anchor="ctr"/>
                </a:tc>
                <a:tc>
                  <a:txBody>
                    <a:bodyPr/>
                    <a:lstStyle/>
                    <a:p>
                      <a:pPr algn="ctr">
                        <a:lnSpc>
                          <a:spcPct val="90000"/>
                        </a:lnSpc>
                        <a:buNone/>
                      </a:pPr>
                      <a:r>
                        <a:rPr lang="zh-CN" altLang="en-US" sz="1800">
                          <a:latin typeface="微软雅黑" panose="020B0503020204020204" pitchFamily="34" charset="-122"/>
                          <a:ea typeface="微软雅黑" panose="020B0503020204020204" pitchFamily="34" charset="-122"/>
                        </a:rPr>
                        <a:t>测试步骤</a:t>
                      </a:r>
                    </a:p>
                  </a:txBody>
                  <a:tcPr anchor="ctr"/>
                </a:tc>
                <a:tc>
                  <a:txBody>
                    <a:bodyPr/>
                    <a:lstStyle/>
                    <a:p>
                      <a:pPr algn="ctr">
                        <a:lnSpc>
                          <a:spcPct val="90000"/>
                        </a:lnSpc>
                        <a:buNone/>
                      </a:pPr>
                      <a:r>
                        <a:rPr lang="zh-CN" altLang="en-US" sz="1800">
                          <a:latin typeface="微软雅黑" panose="020B0503020204020204" pitchFamily="34" charset="-122"/>
                          <a:ea typeface="微软雅黑" panose="020B0503020204020204" pitchFamily="34" charset="-122"/>
                        </a:rPr>
                        <a:t>预期结果</a:t>
                      </a:r>
                    </a:p>
                  </a:txBody>
                  <a:tcPr anchor="ctr"/>
                </a:tc>
                <a:extLst>
                  <a:ext uri="{0D108BD9-81ED-4DB2-BD59-A6C34878D82A}">
                    <a16:rowId xmlns:a16="http://schemas.microsoft.com/office/drawing/2014/main" val="10000"/>
                  </a:ext>
                </a:extLst>
              </a:tr>
              <a:tr h="1104265">
                <a:tc>
                  <a:txBody>
                    <a:bodyPr/>
                    <a:lstStyle/>
                    <a:p>
                      <a:pPr algn="ctr">
                        <a:buNone/>
                      </a:pPr>
                      <a:r>
                        <a:rPr sz="1600" kern="1200">
                          <a:solidFill>
                            <a:schemeClr val="tx1">
                              <a:lumMod val="65000"/>
                              <a:lumOff val="35000"/>
                            </a:schemeClr>
                          </a:solidFill>
                          <a:latin typeface="微软雅黑" panose="020B0503020204020204" pitchFamily="34" charset="-122"/>
                          <a:ea typeface="微软雅黑" panose="020B0503020204020204" pitchFamily="34" charset="-122"/>
                          <a:cs typeface="+mn-ea"/>
                        </a:rPr>
                        <a:t>test1</a:t>
                      </a:r>
                    </a:p>
                  </a:txBody>
                  <a:tcPr anchor="ctr"/>
                </a:tc>
                <a:tc>
                  <a:txBody>
                    <a:bodyPr/>
                    <a:lstStyle/>
                    <a:p>
                      <a:pPr algn="ctr">
                        <a:buNone/>
                      </a:pPr>
                      <a:r>
                        <a:rPr lang="en-US" sz="1600" kern="1200">
                          <a:solidFill>
                            <a:schemeClr val="tx1">
                              <a:lumMod val="65000"/>
                              <a:lumOff val="35000"/>
                            </a:schemeClr>
                          </a:solidFill>
                          <a:latin typeface="微软雅黑" panose="020B0503020204020204" pitchFamily="34" charset="-122"/>
                          <a:ea typeface="微软雅黑" panose="020B0503020204020204" pitchFamily="34" charset="-122"/>
                          <a:cs typeface="+mn-ea"/>
                        </a:rPr>
                        <a:t>1</a:t>
                      </a:r>
                    </a:p>
                  </a:txBody>
                  <a:tcPr anchor="ctr"/>
                </a:tc>
                <a:tc>
                  <a:txBody>
                    <a:bodyPr/>
                    <a:lstStyle/>
                    <a:p>
                      <a:pPr algn="l">
                        <a:buNone/>
                      </a:pPr>
                      <a:r>
                        <a:rPr lang="en-US" altLang="zh-CN" sz="1600" kern="1200">
                          <a:solidFill>
                            <a:schemeClr val="tx1">
                              <a:lumMod val="65000"/>
                              <a:lumOff val="35000"/>
                            </a:schemeClr>
                          </a:solidFill>
                          <a:latin typeface="微软雅黑" panose="020B0503020204020204" pitchFamily="34" charset="-122"/>
                          <a:ea typeface="微软雅黑" panose="020B0503020204020204" pitchFamily="34" charset="-122"/>
                          <a:cs typeface="+mn-ea"/>
                        </a:rPr>
                        <a:t>1.成功注册、登录的用户</a:t>
                      </a:r>
                      <a:r>
                        <a:rPr lang="zh-CN" altLang="en-US" sz="1600" kern="1200">
                          <a:solidFill>
                            <a:schemeClr val="tx1">
                              <a:lumMod val="65000"/>
                              <a:lumOff val="35000"/>
                            </a:schemeClr>
                          </a:solidFill>
                          <a:latin typeface="微软雅黑" panose="020B0503020204020204" pitchFamily="34" charset="-122"/>
                          <a:ea typeface="微软雅黑" panose="020B0503020204020204" pitchFamily="34" charset="-122"/>
                          <a:cs typeface="+mn-ea"/>
                        </a:rPr>
                        <a:t>；</a:t>
                      </a:r>
                      <a:endParaRPr lang="en-US" altLang="zh-CN" sz="1600" kern="1200">
                        <a:solidFill>
                          <a:schemeClr val="tx1">
                            <a:lumMod val="65000"/>
                            <a:lumOff val="35000"/>
                          </a:schemeClr>
                        </a:solidFill>
                        <a:latin typeface="微软雅黑" panose="020B0503020204020204" pitchFamily="34" charset="-122"/>
                        <a:ea typeface="微软雅黑" panose="020B0503020204020204" pitchFamily="34" charset="-122"/>
                        <a:cs typeface="+mn-ea"/>
                      </a:endParaRPr>
                    </a:p>
                    <a:p>
                      <a:pPr algn="l">
                        <a:buNone/>
                      </a:pPr>
                      <a:r>
                        <a:rPr lang="en-US" altLang="zh-CN" sz="1600" kern="1200">
                          <a:solidFill>
                            <a:schemeClr val="tx1">
                              <a:lumMod val="65000"/>
                              <a:lumOff val="35000"/>
                            </a:schemeClr>
                          </a:solidFill>
                          <a:latin typeface="微软雅黑" panose="020B0503020204020204" pitchFamily="34" charset="-122"/>
                          <a:ea typeface="微软雅黑" panose="020B0503020204020204" pitchFamily="34" charset="-122"/>
                          <a:cs typeface="+mn-ea"/>
                        </a:rPr>
                        <a:t>2.成功设置出发地和目的地</a:t>
                      </a:r>
                      <a:r>
                        <a:rPr lang="zh-CN" altLang="en-US" sz="1600" kern="1200">
                          <a:solidFill>
                            <a:schemeClr val="tx1">
                              <a:lumMod val="65000"/>
                              <a:lumOff val="35000"/>
                            </a:schemeClr>
                          </a:solidFill>
                          <a:latin typeface="微软雅黑" panose="020B0503020204020204" pitchFamily="34" charset="-122"/>
                          <a:ea typeface="微软雅黑" panose="020B0503020204020204" pitchFamily="34" charset="-122"/>
                          <a:cs typeface="+mn-ea"/>
                        </a:rPr>
                        <a:t>；</a:t>
                      </a:r>
                      <a:endParaRPr lang="en-US" altLang="zh-CN" sz="1600" kern="1200">
                        <a:solidFill>
                          <a:schemeClr val="tx1">
                            <a:lumMod val="65000"/>
                            <a:lumOff val="35000"/>
                          </a:schemeClr>
                        </a:solidFill>
                        <a:latin typeface="微软雅黑" panose="020B0503020204020204" pitchFamily="34" charset="-122"/>
                        <a:ea typeface="微软雅黑" panose="020B0503020204020204" pitchFamily="34" charset="-122"/>
                        <a:cs typeface="+mn-ea"/>
                      </a:endParaRPr>
                    </a:p>
                    <a:p>
                      <a:pPr algn="l">
                        <a:buNone/>
                      </a:pPr>
                      <a:r>
                        <a:rPr lang="en-US" altLang="zh-CN" sz="1600" kern="1200">
                          <a:solidFill>
                            <a:schemeClr val="tx1">
                              <a:lumMod val="65000"/>
                              <a:lumOff val="35000"/>
                            </a:schemeClr>
                          </a:solidFill>
                          <a:latin typeface="微软雅黑" panose="020B0503020204020204" pitchFamily="34" charset="-122"/>
                          <a:ea typeface="微软雅黑" panose="020B0503020204020204" pitchFamily="34" charset="-122"/>
                          <a:cs typeface="+mn-ea"/>
                        </a:rPr>
                        <a:t>3.成功选择所需舱位</a:t>
                      </a:r>
                    </a:p>
                  </a:txBody>
                  <a:tcPr anchor="ctr"/>
                </a:tc>
                <a:tc>
                  <a:txBody>
                    <a:bodyPr/>
                    <a:lstStyle/>
                    <a:p>
                      <a:pPr algn="l">
                        <a:buNone/>
                      </a:pPr>
                      <a:r>
                        <a:rPr lang="en-US" altLang="zh-CN" sz="1600" kern="1200">
                          <a:solidFill>
                            <a:schemeClr val="tx1">
                              <a:lumMod val="65000"/>
                              <a:lumOff val="35000"/>
                            </a:schemeClr>
                          </a:solidFill>
                          <a:latin typeface="微软雅黑" panose="020B0503020204020204" pitchFamily="34" charset="-122"/>
                          <a:ea typeface="微软雅黑" panose="020B0503020204020204" pitchFamily="34" charset="-122"/>
                          <a:cs typeface="+mn-ea"/>
                        </a:rPr>
                        <a:t>1.预订所选舱位的机票</a:t>
                      </a:r>
                      <a:r>
                        <a:rPr lang="zh-CN" altLang="en-US" sz="1600" kern="1200">
                          <a:solidFill>
                            <a:schemeClr val="tx1">
                              <a:lumMod val="65000"/>
                              <a:lumOff val="35000"/>
                            </a:schemeClr>
                          </a:solidFill>
                          <a:latin typeface="微软雅黑" panose="020B0503020204020204" pitchFamily="34" charset="-122"/>
                          <a:ea typeface="微软雅黑" panose="020B0503020204020204" pitchFamily="34" charset="-122"/>
                          <a:cs typeface="+mn-ea"/>
                        </a:rPr>
                        <a:t>；</a:t>
                      </a:r>
                      <a:endParaRPr lang="en-US" altLang="zh-CN" sz="1600" kern="1200">
                        <a:solidFill>
                          <a:schemeClr val="tx1">
                            <a:lumMod val="65000"/>
                            <a:lumOff val="35000"/>
                          </a:schemeClr>
                        </a:solidFill>
                        <a:latin typeface="微软雅黑" panose="020B0503020204020204" pitchFamily="34" charset="-122"/>
                        <a:ea typeface="微软雅黑" panose="020B0503020204020204" pitchFamily="34" charset="-122"/>
                        <a:cs typeface="+mn-ea"/>
                      </a:endParaRPr>
                    </a:p>
                    <a:p>
                      <a:pPr algn="l">
                        <a:buNone/>
                      </a:pPr>
                      <a:r>
                        <a:rPr lang="en-US" altLang="zh-CN" sz="1600" kern="1200">
                          <a:solidFill>
                            <a:schemeClr val="tx1">
                              <a:lumMod val="65000"/>
                              <a:lumOff val="35000"/>
                            </a:schemeClr>
                          </a:solidFill>
                          <a:latin typeface="微软雅黑" panose="020B0503020204020204" pitchFamily="34" charset="-122"/>
                          <a:ea typeface="微软雅黑" panose="020B0503020204020204" pitchFamily="34" charset="-122"/>
                          <a:cs typeface="+mn-ea"/>
                        </a:rPr>
                        <a:t>2.取消订单</a:t>
                      </a:r>
                    </a:p>
                  </a:txBody>
                  <a:tcPr anchor="ctr"/>
                </a:tc>
                <a:tc>
                  <a:txBody>
                    <a:bodyPr/>
                    <a:lstStyle/>
                    <a:p>
                      <a:pPr algn="ctr">
                        <a:buNone/>
                      </a:pPr>
                      <a:r>
                        <a:rPr lang="en-US" altLang="zh-CN" sz="1600" kern="1200">
                          <a:solidFill>
                            <a:schemeClr val="tx1">
                              <a:lumMod val="65000"/>
                              <a:lumOff val="35000"/>
                            </a:schemeClr>
                          </a:solidFill>
                          <a:latin typeface="微软雅黑" panose="020B0503020204020204" pitchFamily="34" charset="-122"/>
                          <a:ea typeface="微软雅黑" panose="020B0503020204020204" pitchFamily="34" charset="-122"/>
                          <a:cs typeface="+mn-ea"/>
                        </a:rPr>
                        <a:t>成功取消订单</a:t>
                      </a:r>
                    </a:p>
                  </a:txBody>
                  <a:tcPr anchor="ctr"/>
                </a:tc>
                <a:extLst>
                  <a:ext uri="{0D108BD9-81ED-4DB2-BD59-A6C34878D82A}">
                    <a16:rowId xmlns:a16="http://schemas.microsoft.com/office/drawing/2014/main" val="10001"/>
                  </a:ext>
                </a:extLst>
              </a:tr>
              <a:tr h="619760">
                <a:tc>
                  <a:txBody>
                    <a:bodyPr/>
                    <a:lstStyle/>
                    <a:p>
                      <a:pPr algn="ctr">
                        <a:buClrTx/>
                        <a:buSzTx/>
                        <a:buFontTx/>
                        <a:buNone/>
                      </a:pPr>
                      <a:r>
                        <a:rPr lang="en-US" altLang="zh-CN" sz="1600" kern="1200">
                          <a:solidFill>
                            <a:schemeClr val="tx1">
                              <a:lumMod val="65000"/>
                              <a:lumOff val="35000"/>
                            </a:schemeClr>
                          </a:solidFill>
                          <a:latin typeface="微软雅黑" panose="020B0503020204020204" pitchFamily="34" charset="-122"/>
                          <a:ea typeface="微软雅黑" panose="020B0503020204020204" pitchFamily="34" charset="-122"/>
                          <a:cs typeface="+mn-ea"/>
                        </a:rPr>
                        <a:t>test2</a:t>
                      </a:r>
                    </a:p>
                  </a:txBody>
                  <a:tcPr anchor="ctr"/>
                </a:tc>
                <a:tc>
                  <a:txBody>
                    <a:bodyPr/>
                    <a:lstStyle/>
                    <a:p>
                      <a:pPr algn="ctr">
                        <a:buNone/>
                      </a:pPr>
                      <a:r>
                        <a:rPr lang="en-US" altLang="zh-CN" sz="1600" kern="1200">
                          <a:solidFill>
                            <a:schemeClr val="tx1">
                              <a:lumMod val="65000"/>
                              <a:lumOff val="35000"/>
                            </a:schemeClr>
                          </a:solidFill>
                          <a:latin typeface="微软雅黑" panose="020B0503020204020204" pitchFamily="34" charset="-122"/>
                          <a:ea typeface="微软雅黑" panose="020B0503020204020204" pitchFamily="34" charset="-122"/>
                          <a:cs typeface="+mn-ea"/>
                        </a:rPr>
                        <a:t>2</a:t>
                      </a:r>
                    </a:p>
                  </a:txBody>
                  <a:tcPr anchor="ctr"/>
                </a:tc>
                <a:tc>
                  <a:txBody>
                    <a:bodyPr/>
                    <a:lstStyle/>
                    <a:p>
                      <a:pPr algn="l">
                        <a:buNone/>
                      </a:pPr>
                      <a:r>
                        <a:rPr lang="en-US" altLang="zh-CN" sz="1600" kern="1200">
                          <a:solidFill>
                            <a:schemeClr val="tx1">
                              <a:lumMod val="65000"/>
                              <a:lumOff val="35000"/>
                            </a:schemeClr>
                          </a:solidFill>
                          <a:latin typeface="微软雅黑" panose="020B0503020204020204" pitchFamily="34" charset="-122"/>
                          <a:ea typeface="微软雅黑" panose="020B0503020204020204" pitchFamily="34" charset="-122"/>
                          <a:cs typeface="+mn-ea"/>
                        </a:rPr>
                        <a:t>1.成功注册、登录的用户</a:t>
                      </a:r>
                      <a:r>
                        <a:rPr lang="zh-CN" altLang="en-US" sz="1600" kern="1200">
                          <a:solidFill>
                            <a:schemeClr val="tx1">
                              <a:lumMod val="65000"/>
                              <a:lumOff val="35000"/>
                            </a:schemeClr>
                          </a:solidFill>
                          <a:latin typeface="微软雅黑" panose="020B0503020204020204" pitchFamily="34" charset="-122"/>
                          <a:ea typeface="微软雅黑" panose="020B0503020204020204" pitchFamily="34" charset="-122"/>
                          <a:cs typeface="+mn-ea"/>
                        </a:rPr>
                        <a:t>；</a:t>
                      </a:r>
                      <a:endParaRPr lang="en-US" altLang="zh-CN" sz="1600" kern="1200">
                        <a:solidFill>
                          <a:schemeClr val="tx1">
                            <a:lumMod val="65000"/>
                            <a:lumOff val="35000"/>
                          </a:schemeClr>
                        </a:solidFill>
                        <a:latin typeface="微软雅黑" panose="020B0503020204020204" pitchFamily="34" charset="-122"/>
                        <a:ea typeface="微软雅黑" panose="020B0503020204020204" pitchFamily="34" charset="-122"/>
                        <a:cs typeface="+mn-ea"/>
                      </a:endParaRPr>
                    </a:p>
                    <a:p>
                      <a:pPr algn="l">
                        <a:buNone/>
                      </a:pPr>
                      <a:r>
                        <a:rPr lang="en-US" altLang="zh-CN" sz="1600" kern="1200">
                          <a:solidFill>
                            <a:schemeClr val="tx1">
                              <a:lumMod val="65000"/>
                              <a:lumOff val="35000"/>
                            </a:schemeClr>
                          </a:solidFill>
                          <a:latin typeface="微软雅黑" panose="020B0503020204020204" pitchFamily="34" charset="-122"/>
                          <a:ea typeface="微软雅黑" panose="020B0503020204020204" pitchFamily="34" charset="-122"/>
                          <a:cs typeface="+mn-ea"/>
                        </a:rPr>
                        <a:t>2.成功设置出发地和目的地</a:t>
                      </a:r>
                      <a:r>
                        <a:rPr lang="zh-CN" altLang="en-US" sz="1600" kern="1200">
                          <a:solidFill>
                            <a:schemeClr val="tx1">
                              <a:lumMod val="65000"/>
                              <a:lumOff val="35000"/>
                            </a:schemeClr>
                          </a:solidFill>
                          <a:latin typeface="微软雅黑" panose="020B0503020204020204" pitchFamily="34" charset="-122"/>
                          <a:ea typeface="微软雅黑" panose="020B0503020204020204" pitchFamily="34" charset="-122"/>
                          <a:cs typeface="+mn-ea"/>
                        </a:rPr>
                        <a:t>；</a:t>
                      </a:r>
                      <a:endParaRPr lang="en-US" altLang="zh-CN" sz="1600" kern="1200">
                        <a:solidFill>
                          <a:schemeClr val="tx1">
                            <a:lumMod val="65000"/>
                            <a:lumOff val="35000"/>
                          </a:schemeClr>
                        </a:solidFill>
                        <a:latin typeface="微软雅黑" panose="020B0503020204020204" pitchFamily="34" charset="-122"/>
                        <a:ea typeface="微软雅黑" panose="020B0503020204020204" pitchFamily="34" charset="-122"/>
                        <a:cs typeface="+mn-ea"/>
                      </a:endParaRPr>
                    </a:p>
                    <a:p>
                      <a:pPr algn="l">
                        <a:buNone/>
                      </a:pPr>
                      <a:r>
                        <a:rPr lang="en-US" altLang="zh-CN" sz="1600" kern="1200">
                          <a:solidFill>
                            <a:schemeClr val="tx1">
                              <a:lumMod val="65000"/>
                              <a:lumOff val="35000"/>
                            </a:schemeClr>
                          </a:solidFill>
                          <a:latin typeface="微软雅黑" panose="020B0503020204020204" pitchFamily="34" charset="-122"/>
                          <a:ea typeface="微软雅黑" panose="020B0503020204020204" pitchFamily="34" charset="-122"/>
                          <a:cs typeface="+mn-ea"/>
                        </a:rPr>
                        <a:t>3.成功选择所需舱位</a:t>
                      </a:r>
                    </a:p>
                  </a:txBody>
                  <a:tcPr anchor="ctr"/>
                </a:tc>
                <a:tc>
                  <a:txBody>
                    <a:bodyPr/>
                    <a:lstStyle/>
                    <a:p>
                      <a:pPr algn="l">
                        <a:buNone/>
                      </a:pPr>
                      <a:r>
                        <a:rPr lang="en-US" altLang="zh-CN" sz="1600" kern="1200">
                          <a:solidFill>
                            <a:schemeClr val="tx1">
                              <a:lumMod val="65000"/>
                              <a:lumOff val="35000"/>
                            </a:schemeClr>
                          </a:solidFill>
                          <a:latin typeface="微软雅黑" panose="020B0503020204020204" pitchFamily="34" charset="-122"/>
                          <a:ea typeface="微软雅黑" panose="020B0503020204020204" pitchFamily="34" charset="-122"/>
                          <a:cs typeface="+mn-ea"/>
                        </a:rPr>
                        <a:t>1.预订所选舱位的机票</a:t>
                      </a:r>
                      <a:r>
                        <a:rPr lang="zh-CN" altLang="en-US" sz="1600" kern="1200">
                          <a:solidFill>
                            <a:schemeClr val="tx1">
                              <a:lumMod val="65000"/>
                              <a:lumOff val="35000"/>
                            </a:schemeClr>
                          </a:solidFill>
                          <a:latin typeface="微软雅黑" panose="020B0503020204020204" pitchFamily="34" charset="-122"/>
                          <a:ea typeface="微软雅黑" panose="020B0503020204020204" pitchFamily="34" charset="-122"/>
                          <a:cs typeface="+mn-ea"/>
                        </a:rPr>
                        <a:t>；</a:t>
                      </a:r>
                      <a:endParaRPr lang="en-US" altLang="zh-CN" sz="1600" kern="1200">
                        <a:solidFill>
                          <a:schemeClr val="tx1">
                            <a:lumMod val="65000"/>
                            <a:lumOff val="35000"/>
                          </a:schemeClr>
                        </a:solidFill>
                        <a:latin typeface="微软雅黑" panose="020B0503020204020204" pitchFamily="34" charset="-122"/>
                        <a:ea typeface="微软雅黑" panose="020B0503020204020204" pitchFamily="34" charset="-122"/>
                        <a:cs typeface="+mn-ea"/>
                      </a:endParaRPr>
                    </a:p>
                    <a:p>
                      <a:pPr algn="l">
                        <a:buNone/>
                      </a:pPr>
                      <a:r>
                        <a:rPr lang="en-US" altLang="zh-CN" sz="1600" kern="1200">
                          <a:solidFill>
                            <a:schemeClr val="tx1">
                              <a:lumMod val="65000"/>
                              <a:lumOff val="35000"/>
                            </a:schemeClr>
                          </a:solidFill>
                          <a:latin typeface="微软雅黑" panose="020B0503020204020204" pitchFamily="34" charset="-122"/>
                          <a:ea typeface="微软雅黑" panose="020B0503020204020204" pitchFamily="34" charset="-122"/>
                          <a:cs typeface="+mn-ea"/>
                        </a:rPr>
                        <a:t>2.支付机票费用</a:t>
                      </a:r>
                      <a:r>
                        <a:rPr lang="zh-CN" altLang="en-US" sz="1600" kern="1200">
                          <a:solidFill>
                            <a:schemeClr val="tx1">
                              <a:lumMod val="65000"/>
                              <a:lumOff val="35000"/>
                            </a:schemeClr>
                          </a:solidFill>
                          <a:latin typeface="微软雅黑" panose="020B0503020204020204" pitchFamily="34" charset="-122"/>
                          <a:ea typeface="微软雅黑" panose="020B0503020204020204" pitchFamily="34" charset="-122"/>
                          <a:cs typeface="+mn-ea"/>
                        </a:rPr>
                        <a:t>；</a:t>
                      </a:r>
                      <a:endParaRPr lang="en-US" altLang="zh-CN" sz="1600" kern="1200">
                        <a:solidFill>
                          <a:schemeClr val="tx1">
                            <a:lumMod val="65000"/>
                            <a:lumOff val="35000"/>
                          </a:schemeClr>
                        </a:solidFill>
                        <a:latin typeface="微软雅黑" panose="020B0503020204020204" pitchFamily="34" charset="-122"/>
                        <a:ea typeface="微软雅黑" panose="020B0503020204020204" pitchFamily="34" charset="-122"/>
                        <a:cs typeface="+mn-ea"/>
                      </a:endParaRPr>
                    </a:p>
                    <a:p>
                      <a:pPr algn="l">
                        <a:buNone/>
                      </a:pPr>
                      <a:r>
                        <a:rPr lang="en-US" altLang="zh-CN" sz="1600" kern="1200">
                          <a:solidFill>
                            <a:schemeClr val="tx1">
                              <a:lumMod val="65000"/>
                              <a:lumOff val="35000"/>
                            </a:schemeClr>
                          </a:solidFill>
                          <a:latin typeface="微软雅黑" panose="020B0503020204020204" pitchFamily="34" charset="-122"/>
                          <a:ea typeface="微软雅黑" panose="020B0503020204020204" pitchFamily="34" charset="-122"/>
                          <a:cs typeface="+mn-ea"/>
                        </a:rPr>
                        <a:t>3.取消订单</a:t>
                      </a:r>
                    </a:p>
                  </a:txBody>
                  <a:tcPr anchor="ctr"/>
                </a:tc>
                <a:tc>
                  <a:txBody>
                    <a:bodyPr/>
                    <a:lstStyle/>
                    <a:p>
                      <a:pPr algn="ctr">
                        <a:buNone/>
                      </a:pPr>
                      <a:r>
                        <a:rPr lang="en-US" altLang="zh-CN" sz="1600" kern="1200">
                          <a:solidFill>
                            <a:schemeClr val="tx1">
                              <a:lumMod val="65000"/>
                              <a:lumOff val="35000"/>
                            </a:schemeClr>
                          </a:solidFill>
                          <a:latin typeface="微软雅黑" panose="020B0503020204020204" pitchFamily="34" charset="-122"/>
                          <a:ea typeface="微软雅黑" panose="020B0503020204020204" pitchFamily="34" charset="-122"/>
                          <a:cs typeface="+mn-ea"/>
                          <a:sym typeface="+mn-ea"/>
                        </a:rPr>
                        <a:t>成功取消订单</a:t>
                      </a:r>
                      <a:endParaRPr lang="en-US" altLang="zh-CN" sz="1600" kern="1200">
                        <a:solidFill>
                          <a:schemeClr val="tx1">
                            <a:lumMod val="65000"/>
                            <a:lumOff val="35000"/>
                          </a:schemeClr>
                        </a:solidFill>
                        <a:latin typeface="微软雅黑" panose="020B0503020204020204" pitchFamily="34" charset="-122"/>
                        <a:ea typeface="微软雅黑" panose="020B0503020204020204" pitchFamily="34" charset="-122"/>
                        <a:cs typeface="+mn-ea"/>
                      </a:endParaRPr>
                    </a:p>
                  </a:txBody>
                  <a:tcPr anchor="ctr"/>
                </a:tc>
                <a:extLst>
                  <a:ext uri="{0D108BD9-81ED-4DB2-BD59-A6C34878D82A}">
                    <a16:rowId xmlns:a16="http://schemas.microsoft.com/office/drawing/2014/main" val="10002"/>
                  </a:ext>
                </a:extLst>
              </a:tr>
              <a:tr h="720725">
                <a:tc>
                  <a:txBody>
                    <a:bodyPr/>
                    <a:lstStyle/>
                    <a:p>
                      <a:pPr algn="ctr">
                        <a:buClrTx/>
                        <a:buSzTx/>
                        <a:buFontTx/>
                        <a:buNone/>
                      </a:pPr>
                      <a:r>
                        <a:rPr lang="en-US" altLang="zh-CN" sz="1600" kern="1200">
                          <a:solidFill>
                            <a:schemeClr val="tx1">
                              <a:lumMod val="65000"/>
                              <a:lumOff val="35000"/>
                            </a:schemeClr>
                          </a:solidFill>
                          <a:latin typeface="微软雅黑" panose="020B0503020204020204" pitchFamily="34" charset="-122"/>
                          <a:ea typeface="微软雅黑" panose="020B0503020204020204" pitchFamily="34" charset="-122"/>
                          <a:cs typeface="+mn-ea"/>
                        </a:rPr>
                        <a:t>test3</a:t>
                      </a:r>
                    </a:p>
                  </a:txBody>
                  <a:tcPr anchor="ctr"/>
                </a:tc>
                <a:tc>
                  <a:txBody>
                    <a:bodyPr/>
                    <a:lstStyle/>
                    <a:p>
                      <a:pPr algn="ctr">
                        <a:buNone/>
                      </a:pPr>
                      <a:r>
                        <a:rPr lang="en-US" altLang="zh-CN" sz="1600" kern="1200">
                          <a:solidFill>
                            <a:schemeClr val="tx1">
                              <a:lumMod val="65000"/>
                              <a:lumOff val="35000"/>
                            </a:schemeClr>
                          </a:solidFill>
                          <a:latin typeface="微软雅黑" panose="020B0503020204020204" pitchFamily="34" charset="-122"/>
                          <a:ea typeface="微软雅黑" panose="020B0503020204020204" pitchFamily="34" charset="-122"/>
                          <a:cs typeface="+mn-ea"/>
                        </a:rPr>
                        <a:t>3</a:t>
                      </a:r>
                    </a:p>
                  </a:txBody>
                  <a:tcPr anchor="ctr"/>
                </a:tc>
                <a:tc>
                  <a:txBody>
                    <a:bodyPr/>
                    <a:lstStyle/>
                    <a:p>
                      <a:pPr algn="l">
                        <a:buNone/>
                      </a:pPr>
                      <a:r>
                        <a:rPr lang="en-US" altLang="zh-CN" sz="1600" kern="1200">
                          <a:solidFill>
                            <a:schemeClr val="tx1">
                              <a:lumMod val="65000"/>
                              <a:lumOff val="35000"/>
                            </a:schemeClr>
                          </a:solidFill>
                          <a:latin typeface="微软雅黑" panose="020B0503020204020204" pitchFamily="34" charset="-122"/>
                          <a:ea typeface="微软雅黑" panose="020B0503020204020204" pitchFamily="34" charset="-122"/>
                          <a:cs typeface="+mn-ea"/>
                        </a:rPr>
                        <a:t>1.成功注册、登录的用户</a:t>
                      </a:r>
                      <a:r>
                        <a:rPr lang="zh-CN" altLang="en-US" sz="1600" kern="1200">
                          <a:solidFill>
                            <a:schemeClr val="tx1">
                              <a:lumMod val="65000"/>
                              <a:lumOff val="35000"/>
                            </a:schemeClr>
                          </a:solidFill>
                          <a:latin typeface="微软雅黑" panose="020B0503020204020204" pitchFamily="34" charset="-122"/>
                          <a:ea typeface="微软雅黑" panose="020B0503020204020204" pitchFamily="34" charset="-122"/>
                          <a:cs typeface="+mn-ea"/>
                        </a:rPr>
                        <a:t>；</a:t>
                      </a:r>
                      <a:endParaRPr lang="en-US" altLang="zh-CN" sz="1600" kern="1200">
                        <a:solidFill>
                          <a:schemeClr val="tx1">
                            <a:lumMod val="65000"/>
                            <a:lumOff val="35000"/>
                          </a:schemeClr>
                        </a:solidFill>
                        <a:latin typeface="微软雅黑" panose="020B0503020204020204" pitchFamily="34" charset="-122"/>
                        <a:ea typeface="微软雅黑" panose="020B0503020204020204" pitchFamily="34" charset="-122"/>
                        <a:cs typeface="+mn-ea"/>
                      </a:endParaRPr>
                    </a:p>
                    <a:p>
                      <a:pPr algn="l">
                        <a:buNone/>
                      </a:pPr>
                      <a:r>
                        <a:rPr lang="en-US" altLang="zh-CN" sz="1600" kern="1200">
                          <a:solidFill>
                            <a:schemeClr val="tx1">
                              <a:lumMod val="65000"/>
                              <a:lumOff val="35000"/>
                            </a:schemeClr>
                          </a:solidFill>
                          <a:latin typeface="微软雅黑" panose="020B0503020204020204" pitchFamily="34" charset="-122"/>
                          <a:ea typeface="微软雅黑" panose="020B0503020204020204" pitchFamily="34" charset="-122"/>
                          <a:cs typeface="+mn-ea"/>
                        </a:rPr>
                        <a:t>2.成功设置出发地和目的地</a:t>
                      </a:r>
                      <a:r>
                        <a:rPr lang="zh-CN" altLang="en-US" sz="1600" kern="1200">
                          <a:solidFill>
                            <a:schemeClr val="tx1">
                              <a:lumMod val="65000"/>
                              <a:lumOff val="35000"/>
                            </a:schemeClr>
                          </a:solidFill>
                          <a:latin typeface="微软雅黑" panose="020B0503020204020204" pitchFamily="34" charset="-122"/>
                          <a:ea typeface="微软雅黑" panose="020B0503020204020204" pitchFamily="34" charset="-122"/>
                          <a:cs typeface="+mn-ea"/>
                        </a:rPr>
                        <a:t>；</a:t>
                      </a:r>
                      <a:endParaRPr lang="en-US" altLang="zh-CN" sz="1600" kern="1200">
                        <a:solidFill>
                          <a:schemeClr val="tx1">
                            <a:lumMod val="65000"/>
                            <a:lumOff val="35000"/>
                          </a:schemeClr>
                        </a:solidFill>
                        <a:latin typeface="微软雅黑" panose="020B0503020204020204" pitchFamily="34" charset="-122"/>
                        <a:ea typeface="微软雅黑" panose="020B0503020204020204" pitchFamily="34" charset="-122"/>
                        <a:cs typeface="+mn-ea"/>
                      </a:endParaRPr>
                    </a:p>
                    <a:p>
                      <a:pPr algn="l">
                        <a:buNone/>
                      </a:pPr>
                      <a:r>
                        <a:rPr lang="en-US" altLang="zh-CN" sz="1600" kern="1200">
                          <a:solidFill>
                            <a:schemeClr val="tx1">
                              <a:lumMod val="65000"/>
                              <a:lumOff val="35000"/>
                            </a:schemeClr>
                          </a:solidFill>
                          <a:latin typeface="微软雅黑" panose="020B0503020204020204" pitchFamily="34" charset="-122"/>
                          <a:ea typeface="微软雅黑" panose="020B0503020204020204" pitchFamily="34" charset="-122"/>
                          <a:cs typeface="+mn-ea"/>
                        </a:rPr>
                        <a:t>3.成功选择所需舱位</a:t>
                      </a:r>
                    </a:p>
                  </a:txBody>
                  <a:tcPr anchor="ctr"/>
                </a:tc>
                <a:tc>
                  <a:txBody>
                    <a:bodyPr/>
                    <a:lstStyle/>
                    <a:p>
                      <a:pPr algn="l">
                        <a:buNone/>
                      </a:pPr>
                      <a:r>
                        <a:rPr lang="en-US" altLang="zh-CN" sz="1600" kern="1200">
                          <a:solidFill>
                            <a:schemeClr val="tx1">
                              <a:lumMod val="65000"/>
                              <a:lumOff val="35000"/>
                            </a:schemeClr>
                          </a:solidFill>
                          <a:latin typeface="微软雅黑" panose="020B0503020204020204" pitchFamily="34" charset="-122"/>
                          <a:ea typeface="微软雅黑" panose="020B0503020204020204" pitchFamily="34" charset="-122"/>
                          <a:cs typeface="+mn-ea"/>
                        </a:rPr>
                        <a:t>1.预订所选舱位的机票</a:t>
                      </a:r>
                      <a:r>
                        <a:rPr lang="zh-CN" altLang="en-US" sz="1600" kern="1200">
                          <a:solidFill>
                            <a:schemeClr val="tx1">
                              <a:lumMod val="65000"/>
                              <a:lumOff val="35000"/>
                            </a:schemeClr>
                          </a:solidFill>
                          <a:latin typeface="微软雅黑" panose="020B0503020204020204" pitchFamily="34" charset="-122"/>
                          <a:ea typeface="微软雅黑" panose="020B0503020204020204" pitchFamily="34" charset="-122"/>
                          <a:cs typeface="+mn-ea"/>
                        </a:rPr>
                        <a:t>；</a:t>
                      </a:r>
                      <a:endParaRPr lang="en-US" altLang="zh-CN" sz="1600" kern="1200">
                        <a:solidFill>
                          <a:schemeClr val="tx1">
                            <a:lumMod val="65000"/>
                            <a:lumOff val="35000"/>
                          </a:schemeClr>
                        </a:solidFill>
                        <a:latin typeface="微软雅黑" panose="020B0503020204020204" pitchFamily="34" charset="-122"/>
                        <a:ea typeface="微软雅黑" panose="020B0503020204020204" pitchFamily="34" charset="-122"/>
                        <a:cs typeface="+mn-ea"/>
                      </a:endParaRPr>
                    </a:p>
                    <a:p>
                      <a:pPr algn="l">
                        <a:buNone/>
                      </a:pPr>
                      <a:r>
                        <a:rPr lang="en-US" altLang="zh-CN" sz="1600" kern="1200">
                          <a:solidFill>
                            <a:schemeClr val="tx1">
                              <a:lumMod val="65000"/>
                              <a:lumOff val="35000"/>
                            </a:schemeClr>
                          </a:solidFill>
                          <a:latin typeface="微软雅黑" panose="020B0503020204020204" pitchFamily="34" charset="-122"/>
                          <a:ea typeface="微软雅黑" panose="020B0503020204020204" pitchFamily="34" charset="-122"/>
                          <a:cs typeface="+mn-ea"/>
                        </a:rPr>
                        <a:t>2.支付机票费用</a:t>
                      </a:r>
                      <a:r>
                        <a:rPr lang="zh-CN" altLang="en-US" sz="1600" kern="1200">
                          <a:solidFill>
                            <a:schemeClr val="tx1">
                              <a:lumMod val="65000"/>
                              <a:lumOff val="35000"/>
                            </a:schemeClr>
                          </a:solidFill>
                          <a:latin typeface="微软雅黑" panose="020B0503020204020204" pitchFamily="34" charset="-122"/>
                          <a:ea typeface="微软雅黑" panose="020B0503020204020204" pitchFamily="34" charset="-122"/>
                          <a:cs typeface="+mn-ea"/>
                        </a:rPr>
                        <a:t>；</a:t>
                      </a:r>
                      <a:endParaRPr lang="en-US" altLang="zh-CN" sz="1600" kern="1200">
                        <a:solidFill>
                          <a:schemeClr val="tx1">
                            <a:lumMod val="65000"/>
                            <a:lumOff val="35000"/>
                          </a:schemeClr>
                        </a:solidFill>
                        <a:latin typeface="微软雅黑" panose="020B0503020204020204" pitchFamily="34" charset="-122"/>
                        <a:ea typeface="微软雅黑" panose="020B0503020204020204" pitchFamily="34" charset="-122"/>
                        <a:cs typeface="+mn-ea"/>
                      </a:endParaRPr>
                    </a:p>
                    <a:p>
                      <a:pPr algn="l">
                        <a:buNone/>
                      </a:pPr>
                      <a:r>
                        <a:rPr lang="en-US" altLang="zh-CN" sz="1600" kern="1200">
                          <a:solidFill>
                            <a:schemeClr val="tx1">
                              <a:lumMod val="65000"/>
                              <a:lumOff val="35000"/>
                            </a:schemeClr>
                          </a:solidFill>
                          <a:latin typeface="微软雅黑" panose="020B0503020204020204" pitchFamily="34" charset="-122"/>
                          <a:ea typeface="微软雅黑" panose="020B0503020204020204" pitchFamily="34" charset="-122"/>
                          <a:cs typeface="+mn-ea"/>
                        </a:rPr>
                        <a:t>3.取出机票</a:t>
                      </a:r>
                      <a:r>
                        <a:rPr lang="zh-CN" altLang="en-US" sz="1600" kern="1200">
                          <a:solidFill>
                            <a:schemeClr val="tx1">
                              <a:lumMod val="65000"/>
                              <a:lumOff val="35000"/>
                            </a:schemeClr>
                          </a:solidFill>
                          <a:latin typeface="微软雅黑" panose="020B0503020204020204" pitchFamily="34" charset="-122"/>
                          <a:ea typeface="微软雅黑" panose="020B0503020204020204" pitchFamily="34" charset="-122"/>
                          <a:cs typeface="+mn-ea"/>
                        </a:rPr>
                        <a:t>；</a:t>
                      </a:r>
                      <a:endParaRPr lang="en-US" altLang="zh-CN" sz="1600" kern="1200">
                        <a:solidFill>
                          <a:schemeClr val="tx1">
                            <a:lumMod val="65000"/>
                            <a:lumOff val="35000"/>
                          </a:schemeClr>
                        </a:solidFill>
                        <a:latin typeface="微软雅黑" panose="020B0503020204020204" pitchFamily="34" charset="-122"/>
                        <a:ea typeface="微软雅黑" panose="020B0503020204020204" pitchFamily="34" charset="-122"/>
                        <a:cs typeface="+mn-ea"/>
                      </a:endParaRPr>
                    </a:p>
                    <a:p>
                      <a:pPr algn="l">
                        <a:buNone/>
                      </a:pPr>
                      <a:r>
                        <a:rPr lang="en-US" altLang="zh-CN" sz="1600" kern="1200">
                          <a:solidFill>
                            <a:schemeClr val="tx1">
                              <a:lumMod val="65000"/>
                              <a:lumOff val="35000"/>
                            </a:schemeClr>
                          </a:solidFill>
                          <a:latin typeface="微软雅黑" panose="020B0503020204020204" pitchFamily="34" charset="-122"/>
                          <a:ea typeface="微软雅黑" panose="020B0503020204020204" pitchFamily="34" charset="-122"/>
                          <a:cs typeface="+mn-ea"/>
                        </a:rPr>
                        <a:t>4.取消订单</a:t>
                      </a:r>
                    </a:p>
                  </a:txBody>
                  <a:tcPr anchor="ctr"/>
                </a:tc>
                <a:tc>
                  <a:txBody>
                    <a:bodyPr/>
                    <a:lstStyle/>
                    <a:p>
                      <a:pPr algn="ctr">
                        <a:buNone/>
                      </a:pPr>
                      <a:r>
                        <a:rPr lang="en-US" altLang="zh-CN" sz="1600" kern="1200">
                          <a:solidFill>
                            <a:schemeClr val="tx1">
                              <a:lumMod val="65000"/>
                              <a:lumOff val="35000"/>
                            </a:schemeClr>
                          </a:solidFill>
                          <a:latin typeface="微软雅黑" panose="020B0503020204020204" pitchFamily="34" charset="-122"/>
                          <a:ea typeface="微软雅黑" panose="020B0503020204020204" pitchFamily="34" charset="-122"/>
                          <a:cs typeface="+mn-ea"/>
                          <a:sym typeface="+mn-ea"/>
                        </a:rPr>
                        <a:t>成功取消订单</a:t>
                      </a:r>
                      <a:endParaRPr lang="en-US" altLang="zh-CN" sz="1600" kern="1200">
                        <a:solidFill>
                          <a:schemeClr val="tx1">
                            <a:lumMod val="65000"/>
                            <a:lumOff val="35000"/>
                          </a:schemeClr>
                        </a:solidFill>
                        <a:latin typeface="微软雅黑" panose="020B0503020204020204" pitchFamily="34" charset="-122"/>
                        <a:ea typeface="微软雅黑" panose="020B0503020204020204" pitchFamily="34" charset="-122"/>
                        <a:cs typeface="+mn-ea"/>
                      </a:endParaRPr>
                    </a:p>
                  </a:txBody>
                  <a:tcPr anchor="ctr"/>
                </a:tc>
                <a:extLst>
                  <a:ext uri="{0D108BD9-81ED-4DB2-BD59-A6C34878D82A}">
                    <a16:rowId xmlns:a16="http://schemas.microsoft.com/office/drawing/2014/main" val="10003"/>
                  </a:ext>
                </a:extLst>
              </a:tr>
              <a:tr h="720725">
                <a:tc>
                  <a:txBody>
                    <a:bodyPr/>
                    <a:lstStyle/>
                    <a:p>
                      <a:pPr algn="ctr">
                        <a:buClrTx/>
                        <a:buSzTx/>
                        <a:buFontTx/>
                        <a:buNone/>
                      </a:pPr>
                      <a:r>
                        <a:rPr lang="en-US" altLang="zh-CN" sz="1600" kern="1200">
                          <a:solidFill>
                            <a:schemeClr val="tx1">
                              <a:lumMod val="65000"/>
                              <a:lumOff val="35000"/>
                            </a:schemeClr>
                          </a:solidFill>
                          <a:latin typeface="微软雅黑" panose="020B0503020204020204" pitchFamily="34" charset="-122"/>
                          <a:ea typeface="微软雅黑" panose="020B0503020204020204" pitchFamily="34" charset="-122"/>
                          <a:cs typeface="+mn-ea"/>
                          <a:sym typeface="+mn-ea"/>
                        </a:rPr>
                        <a:t>test4</a:t>
                      </a:r>
                      <a:endParaRPr lang="en-US" altLang="zh-CN" sz="1600" kern="1200">
                        <a:solidFill>
                          <a:schemeClr val="tx1">
                            <a:lumMod val="65000"/>
                            <a:lumOff val="35000"/>
                          </a:schemeClr>
                        </a:solidFill>
                        <a:latin typeface="微软雅黑" panose="020B0503020204020204" pitchFamily="34" charset="-122"/>
                        <a:ea typeface="微软雅黑" panose="020B0503020204020204" pitchFamily="34" charset="-122"/>
                        <a:cs typeface="+mn-ea"/>
                      </a:endParaRPr>
                    </a:p>
                  </a:txBody>
                  <a:tcPr anchor="ctr"/>
                </a:tc>
                <a:tc>
                  <a:txBody>
                    <a:bodyPr/>
                    <a:lstStyle/>
                    <a:p>
                      <a:pPr algn="ctr">
                        <a:buNone/>
                      </a:pPr>
                      <a:r>
                        <a:rPr lang="en-US" altLang="zh-CN" sz="1600" kern="1200">
                          <a:solidFill>
                            <a:schemeClr val="tx1">
                              <a:lumMod val="65000"/>
                              <a:lumOff val="35000"/>
                            </a:schemeClr>
                          </a:solidFill>
                          <a:latin typeface="微软雅黑" panose="020B0503020204020204" pitchFamily="34" charset="-122"/>
                          <a:ea typeface="微软雅黑" panose="020B0503020204020204" pitchFamily="34" charset="-122"/>
                          <a:cs typeface="+mn-ea"/>
                        </a:rPr>
                        <a:t>4</a:t>
                      </a:r>
                    </a:p>
                  </a:txBody>
                  <a:tcPr anchor="ctr"/>
                </a:tc>
                <a:tc>
                  <a:txBody>
                    <a:bodyPr/>
                    <a:lstStyle/>
                    <a:p>
                      <a:pPr algn="l">
                        <a:buNone/>
                      </a:pPr>
                      <a:r>
                        <a:rPr lang="en-US" altLang="zh-CN" sz="1600" kern="1200">
                          <a:solidFill>
                            <a:schemeClr val="tx1">
                              <a:lumMod val="65000"/>
                              <a:lumOff val="35000"/>
                            </a:schemeClr>
                          </a:solidFill>
                          <a:latin typeface="微软雅黑" panose="020B0503020204020204" pitchFamily="34" charset="-122"/>
                          <a:ea typeface="微软雅黑" panose="020B0503020204020204" pitchFamily="34" charset="-122"/>
                          <a:cs typeface="+mn-ea"/>
                        </a:rPr>
                        <a:t>1.成功注册、登录的用户</a:t>
                      </a:r>
                      <a:r>
                        <a:rPr lang="zh-CN" altLang="en-US" sz="1600" kern="1200">
                          <a:solidFill>
                            <a:schemeClr val="tx1">
                              <a:lumMod val="65000"/>
                              <a:lumOff val="35000"/>
                            </a:schemeClr>
                          </a:solidFill>
                          <a:latin typeface="微软雅黑" panose="020B0503020204020204" pitchFamily="34" charset="-122"/>
                          <a:ea typeface="微软雅黑" panose="020B0503020204020204" pitchFamily="34" charset="-122"/>
                          <a:cs typeface="+mn-ea"/>
                        </a:rPr>
                        <a:t>；</a:t>
                      </a:r>
                      <a:endParaRPr lang="en-US" altLang="zh-CN" sz="1600" kern="1200">
                        <a:solidFill>
                          <a:schemeClr val="tx1">
                            <a:lumMod val="65000"/>
                            <a:lumOff val="35000"/>
                          </a:schemeClr>
                        </a:solidFill>
                        <a:latin typeface="微软雅黑" panose="020B0503020204020204" pitchFamily="34" charset="-122"/>
                        <a:ea typeface="微软雅黑" panose="020B0503020204020204" pitchFamily="34" charset="-122"/>
                        <a:cs typeface="+mn-ea"/>
                      </a:endParaRPr>
                    </a:p>
                    <a:p>
                      <a:pPr algn="l">
                        <a:buNone/>
                      </a:pPr>
                      <a:r>
                        <a:rPr lang="en-US" altLang="zh-CN" sz="1600" kern="1200">
                          <a:solidFill>
                            <a:schemeClr val="tx1">
                              <a:lumMod val="65000"/>
                              <a:lumOff val="35000"/>
                            </a:schemeClr>
                          </a:solidFill>
                          <a:latin typeface="微软雅黑" panose="020B0503020204020204" pitchFamily="34" charset="-122"/>
                          <a:ea typeface="微软雅黑" panose="020B0503020204020204" pitchFamily="34" charset="-122"/>
                          <a:cs typeface="+mn-ea"/>
                        </a:rPr>
                        <a:t>2.成功设置出发地和目的地</a:t>
                      </a:r>
                      <a:r>
                        <a:rPr lang="zh-CN" altLang="en-US" sz="1600" kern="1200">
                          <a:solidFill>
                            <a:schemeClr val="tx1">
                              <a:lumMod val="65000"/>
                              <a:lumOff val="35000"/>
                            </a:schemeClr>
                          </a:solidFill>
                          <a:latin typeface="微软雅黑" panose="020B0503020204020204" pitchFamily="34" charset="-122"/>
                          <a:ea typeface="微软雅黑" panose="020B0503020204020204" pitchFamily="34" charset="-122"/>
                          <a:cs typeface="+mn-ea"/>
                        </a:rPr>
                        <a:t>；</a:t>
                      </a:r>
                      <a:endParaRPr lang="en-US" altLang="zh-CN" sz="1600" kern="1200">
                        <a:solidFill>
                          <a:schemeClr val="tx1">
                            <a:lumMod val="65000"/>
                            <a:lumOff val="35000"/>
                          </a:schemeClr>
                        </a:solidFill>
                        <a:latin typeface="微软雅黑" panose="020B0503020204020204" pitchFamily="34" charset="-122"/>
                        <a:ea typeface="微软雅黑" panose="020B0503020204020204" pitchFamily="34" charset="-122"/>
                        <a:cs typeface="+mn-ea"/>
                      </a:endParaRPr>
                    </a:p>
                    <a:p>
                      <a:pPr algn="l">
                        <a:buNone/>
                      </a:pPr>
                      <a:r>
                        <a:rPr lang="en-US" altLang="zh-CN" sz="1600" kern="1200">
                          <a:solidFill>
                            <a:schemeClr val="tx1">
                              <a:lumMod val="65000"/>
                              <a:lumOff val="35000"/>
                            </a:schemeClr>
                          </a:solidFill>
                          <a:latin typeface="微软雅黑" panose="020B0503020204020204" pitchFamily="34" charset="-122"/>
                          <a:ea typeface="微软雅黑" panose="020B0503020204020204" pitchFamily="34" charset="-122"/>
                          <a:cs typeface="+mn-ea"/>
                        </a:rPr>
                        <a:t>3.成功选择所需舱位</a:t>
                      </a:r>
                    </a:p>
                  </a:txBody>
                  <a:tcPr anchor="ctr"/>
                </a:tc>
                <a:tc>
                  <a:txBody>
                    <a:bodyPr/>
                    <a:lstStyle/>
                    <a:p>
                      <a:pPr algn="l">
                        <a:buNone/>
                      </a:pPr>
                      <a:r>
                        <a:rPr lang="en-US" altLang="zh-CN" sz="1600" kern="1200">
                          <a:solidFill>
                            <a:schemeClr val="tx1">
                              <a:lumMod val="65000"/>
                              <a:lumOff val="35000"/>
                            </a:schemeClr>
                          </a:solidFill>
                          <a:latin typeface="微软雅黑" panose="020B0503020204020204" pitchFamily="34" charset="-122"/>
                          <a:ea typeface="微软雅黑" panose="020B0503020204020204" pitchFamily="34" charset="-122"/>
                          <a:cs typeface="+mn-ea"/>
                        </a:rPr>
                        <a:t>1.预订所选舱位的机票</a:t>
                      </a:r>
                      <a:r>
                        <a:rPr lang="zh-CN" altLang="en-US" sz="1600" kern="1200">
                          <a:solidFill>
                            <a:schemeClr val="tx1">
                              <a:lumMod val="65000"/>
                              <a:lumOff val="35000"/>
                            </a:schemeClr>
                          </a:solidFill>
                          <a:latin typeface="微软雅黑" panose="020B0503020204020204" pitchFamily="34" charset="-122"/>
                          <a:ea typeface="微软雅黑" panose="020B0503020204020204" pitchFamily="34" charset="-122"/>
                          <a:cs typeface="+mn-ea"/>
                        </a:rPr>
                        <a:t>；</a:t>
                      </a:r>
                      <a:endParaRPr lang="en-US" altLang="zh-CN" sz="1600" kern="1200">
                        <a:solidFill>
                          <a:schemeClr val="tx1">
                            <a:lumMod val="65000"/>
                            <a:lumOff val="35000"/>
                          </a:schemeClr>
                        </a:solidFill>
                        <a:latin typeface="微软雅黑" panose="020B0503020204020204" pitchFamily="34" charset="-122"/>
                        <a:ea typeface="微软雅黑" panose="020B0503020204020204" pitchFamily="34" charset="-122"/>
                        <a:cs typeface="+mn-ea"/>
                      </a:endParaRPr>
                    </a:p>
                    <a:p>
                      <a:pPr algn="l">
                        <a:buNone/>
                      </a:pPr>
                      <a:r>
                        <a:rPr lang="en-US" altLang="zh-CN" sz="1600" kern="1200">
                          <a:solidFill>
                            <a:schemeClr val="tx1">
                              <a:lumMod val="65000"/>
                              <a:lumOff val="35000"/>
                            </a:schemeClr>
                          </a:solidFill>
                          <a:latin typeface="微软雅黑" panose="020B0503020204020204" pitchFamily="34" charset="-122"/>
                          <a:ea typeface="微软雅黑" panose="020B0503020204020204" pitchFamily="34" charset="-122"/>
                          <a:cs typeface="+mn-ea"/>
                        </a:rPr>
                        <a:t>2.支付机票费用</a:t>
                      </a:r>
                      <a:r>
                        <a:rPr lang="zh-CN" altLang="en-US" sz="1600" kern="1200">
                          <a:solidFill>
                            <a:schemeClr val="tx1">
                              <a:lumMod val="65000"/>
                              <a:lumOff val="35000"/>
                            </a:schemeClr>
                          </a:solidFill>
                          <a:latin typeface="微软雅黑" panose="020B0503020204020204" pitchFamily="34" charset="-122"/>
                          <a:ea typeface="微软雅黑" panose="020B0503020204020204" pitchFamily="34" charset="-122"/>
                          <a:cs typeface="+mn-ea"/>
                        </a:rPr>
                        <a:t>；</a:t>
                      </a:r>
                      <a:endParaRPr lang="en-US" altLang="zh-CN" sz="1600" kern="1200">
                        <a:solidFill>
                          <a:schemeClr val="tx1">
                            <a:lumMod val="65000"/>
                            <a:lumOff val="35000"/>
                          </a:schemeClr>
                        </a:solidFill>
                        <a:latin typeface="微软雅黑" panose="020B0503020204020204" pitchFamily="34" charset="-122"/>
                        <a:ea typeface="微软雅黑" panose="020B0503020204020204" pitchFamily="34" charset="-122"/>
                        <a:cs typeface="+mn-ea"/>
                      </a:endParaRPr>
                    </a:p>
                    <a:p>
                      <a:pPr algn="l">
                        <a:buNone/>
                      </a:pPr>
                      <a:r>
                        <a:rPr lang="en-US" altLang="zh-CN" sz="1600" kern="1200">
                          <a:solidFill>
                            <a:schemeClr val="tx1">
                              <a:lumMod val="65000"/>
                              <a:lumOff val="35000"/>
                            </a:schemeClr>
                          </a:solidFill>
                          <a:latin typeface="微软雅黑" panose="020B0503020204020204" pitchFamily="34" charset="-122"/>
                          <a:ea typeface="微软雅黑" panose="020B0503020204020204" pitchFamily="34" charset="-122"/>
                          <a:cs typeface="+mn-ea"/>
                        </a:rPr>
                        <a:t>3.取出机票</a:t>
                      </a:r>
                      <a:r>
                        <a:rPr lang="zh-CN" altLang="en-US" sz="1600" kern="1200">
                          <a:solidFill>
                            <a:schemeClr val="tx1">
                              <a:lumMod val="65000"/>
                              <a:lumOff val="35000"/>
                            </a:schemeClr>
                          </a:solidFill>
                          <a:latin typeface="微软雅黑" panose="020B0503020204020204" pitchFamily="34" charset="-122"/>
                          <a:ea typeface="微软雅黑" panose="020B0503020204020204" pitchFamily="34" charset="-122"/>
                          <a:cs typeface="+mn-ea"/>
                        </a:rPr>
                        <a:t>；</a:t>
                      </a:r>
                      <a:endParaRPr lang="en-US" altLang="zh-CN" sz="1600" kern="1200">
                        <a:solidFill>
                          <a:schemeClr val="tx1">
                            <a:lumMod val="65000"/>
                            <a:lumOff val="35000"/>
                          </a:schemeClr>
                        </a:solidFill>
                        <a:latin typeface="微软雅黑" panose="020B0503020204020204" pitchFamily="34" charset="-122"/>
                        <a:ea typeface="微软雅黑" panose="020B0503020204020204" pitchFamily="34" charset="-122"/>
                        <a:cs typeface="+mn-ea"/>
                      </a:endParaRPr>
                    </a:p>
                    <a:p>
                      <a:pPr algn="l">
                        <a:buNone/>
                      </a:pPr>
                      <a:r>
                        <a:rPr lang="en-US" altLang="zh-CN" sz="1600" kern="1200">
                          <a:solidFill>
                            <a:schemeClr val="tx1">
                              <a:lumMod val="65000"/>
                              <a:lumOff val="35000"/>
                            </a:schemeClr>
                          </a:solidFill>
                          <a:latin typeface="微软雅黑" panose="020B0503020204020204" pitchFamily="34" charset="-122"/>
                          <a:ea typeface="微软雅黑" panose="020B0503020204020204" pitchFamily="34" charset="-122"/>
                          <a:cs typeface="+mn-ea"/>
                        </a:rPr>
                        <a:t>4.检票</a:t>
                      </a:r>
                    </a:p>
                  </a:txBody>
                  <a:tcPr anchor="ctr"/>
                </a:tc>
                <a:tc>
                  <a:txBody>
                    <a:bodyPr/>
                    <a:lstStyle/>
                    <a:p>
                      <a:pPr algn="ctr">
                        <a:buNone/>
                      </a:pPr>
                      <a:r>
                        <a:rPr lang="en-US" altLang="zh-CN" sz="1600" kern="1200">
                          <a:solidFill>
                            <a:schemeClr val="tx1">
                              <a:lumMod val="65000"/>
                              <a:lumOff val="35000"/>
                            </a:schemeClr>
                          </a:solidFill>
                          <a:latin typeface="微软雅黑" panose="020B0503020204020204" pitchFamily="34" charset="-122"/>
                          <a:ea typeface="微软雅黑" panose="020B0503020204020204" pitchFamily="34" charset="-122"/>
                          <a:cs typeface="+mn-ea"/>
                        </a:rPr>
                        <a:t>成功登机</a:t>
                      </a:r>
                    </a:p>
                  </a:txBody>
                  <a:tcPr anchor="ctr"/>
                </a:tc>
                <a:extLst>
                  <a:ext uri="{0D108BD9-81ED-4DB2-BD59-A6C34878D82A}">
                    <a16:rowId xmlns:a16="http://schemas.microsoft.com/office/drawing/2014/main" val="10004"/>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图形 22" descr="讲故事"/>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12767" y="1398145"/>
            <a:ext cx="1015842" cy="1015842"/>
          </a:xfrm>
          <a:prstGeom prst="rect">
            <a:avLst/>
          </a:prstGeom>
        </p:spPr>
      </p:pic>
      <p:sp>
        <p:nvSpPr>
          <p:cNvPr id="25" name="矩形 24"/>
          <p:cNvSpPr/>
          <p:nvPr/>
        </p:nvSpPr>
        <p:spPr>
          <a:xfrm>
            <a:off x="2150110" y="1607820"/>
            <a:ext cx="2637155" cy="67056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26" name="文本框 25"/>
          <p:cNvSpPr txBox="1"/>
          <p:nvPr/>
        </p:nvSpPr>
        <p:spPr>
          <a:xfrm>
            <a:off x="2107565" y="1743710"/>
            <a:ext cx="2713355" cy="368300"/>
          </a:xfrm>
          <a:prstGeom prst="rect">
            <a:avLst/>
          </a:prstGeom>
          <a:noFill/>
        </p:spPr>
        <p:txBody>
          <a:bodyPr wrap="square" rtlCol="0">
            <a:spAutoFit/>
          </a:bodyPr>
          <a:lstStyle/>
          <a:p>
            <a:pPr algn="ctr"/>
            <a:r>
              <a:rPr lang="zh-CN" altLang="en-US" sz="1800"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设计测试用例的方法选择</a:t>
            </a:r>
          </a:p>
        </p:txBody>
      </p:sp>
      <p:sp>
        <p:nvSpPr>
          <p:cNvPr id="27" name="矩形 26"/>
          <p:cNvSpPr/>
          <p:nvPr/>
        </p:nvSpPr>
        <p:spPr>
          <a:xfrm>
            <a:off x="4840419" y="1608089"/>
            <a:ext cx="83114" cy="67045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28" name="矩形 27"/>
          <p:cNvSpPr/>
          <p:nvPr/>
        </p:nvSpPr>
        <p:spPr>
          <a:xfrm>
            <a:off x="5028118" y="1608089"/>
            <a:ext cx="83114" cy="67045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20" name="矩形 19"/>
          <p:cNvSpPr/>
          <p:nvPr/>
        </p:nvSpPr>
        <p:spPr>
          <a:xfrm>
            <a:off x="982980" y="838200"/>
            <a:ext cx="1779905" cy="50609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dirty="0">
                <a:solidFill>
                  <a:srgbClr val="595959"/>
                </a:solidFill>
                <a:latin typeface="微软雅黑" panose="020B0503020204020204" pitchFamily="34" charset="-122"/>
                <a:ea typeface="微软雅黑" panose="020B0503020204020204" pitchFamily="34" charset="-122"/>
              </a:rPr>
              <a:t>多学一招</a:t>
            </a:r>
          </a:p>
        </p:txBody>
      </p:sp>
      <p:sp>
        <p:nvSpPr>
          <p:cNvPr id="4" name="文本框 3"/>
          <p:cNvSpPr txBox="1"/>
          <p:nvPr/>
        </p:nvSpPr>
        <p:spPr>
          <a:xfrm>
            <a:off x="1271270" y="2603500"/>
            <a:ext cx="9610725" cy="3446780"/>
          </a:xfrm>
          <a:prstGeom prst="rect">
            <a:avLst/>
          </a:prstGeom>
          <a:noFill/>
        </p:spPr>
        <p:txBody>
          <a:bodyPr wrap="square" rtlCol="0" anchor="t">
            <a:noAutofit/>
          </a:bodyPr>
          <a:lstStyle/>
          <a:p>
            <a:pPr algn="l">
              <a:lnSpc>
                <a:spcPct val="150000"/>
              </a:lnSpc>
              <a:buClrTx/>
              <a:buSzTx/>
              <a:buFontTx/>
            </a:pPr>
            <a:r>
              <a:rPr sz="1800" dirty="0">
                <a:solidFill>
                  <a:srgbClr val="595959"/>
                </a:solidFill>
                <a:latin typeface="微软雅黑" panose="020B0503020204020204" pitchFamily="34" charset="-122"/>
                <a:ea typeface="微软雅黑" panose="020B0503020204020204" pitchFamily="34" charset="-122"/>
              </a:rPr>
              <a:t>在使用黑盒测试方法设计测试用例的过程中，如果测试模块具有输入功能</a:t>
            </a:r>
            <a:r>
              <a:rPr sz="1800">
                <a:solidFill>
                  <a:srgbClr val="595959"/>
                </a:solidFill>
                <a:latin typeface="微软雅黑" panose="020B0503020204020204" pitchFamily="34" charset="-122"/>
                <a:ea typeface="微软雅黑" panose="020B0503020204020204" pitchFamily="34" charset="-122"/>
              </a:rPr>
              <a:t>，但是</a:t>
            </a:r>
            <a:r>
              <a:rPr sz="1800">
                <a:solidFill>
                  <a:srgbClr val="0070C0"/>
                </a:solidFill>
                <a:latin typeface="微软雅黑" panose="020B0503020204020204" pitchFamily="34" charset="-122"/>
                <a:ea typeface="微软雅黑" panose="020B0503020204020204" pitchFamily="34" charset="-122"/>
              </a:rPr>
              <a:t>输入功能之间没有组合关系</a:t>
            </a:r>
            <a:r>
              <a:rPr sz="1800">
                <a:solidFill>
                  <a:srgbClr val="595959"/>
                </a:solidFill>
                <a:latin typeface="微软雅黑" panose="020B0503020204020204" pitchFamily="34" charset="-122"/>
                <a:ea typeface="微软雅黑" panose="020B0503020204020204" pitchFamily="34" charset="-122"/>
              </a:rPr>
              <a:t>，</a:t>
            </a:r>
            <a:r>
              <a:rPr sz="1800" dirty="0">
                <a:solidFill>
                  <a:srgbClr val="595959"/>
                </a:solidFill>
                <a:latin typeface="微软雅黑" panose="020B0503020204020204" pitchFamily="34" charset="-122"/>
                <a:ea typeface="微软雅黑" panose="020B0503020204020204" pitchFamily="34" charset="-122"/>
              </a:rPr>
              <a:t>则选择</a:t>
            </a:r>
            <a:r>
              <a:rPr sz="1800" dirty="0">
                <a:solidFill>
                  <a:srgbClr val="0070C0"/>
                </a:solidFill>
                <a:latin typeface="微软雅黑" panose="020B0503020204020204" pitchFamily="34" charset="-122"/>
                <a:ea typeface="微软雅黑" panose="020B0503020204020204" pitchFamily="34" charset="-122"/>
              </a:rPr>
              <a:t>等价类划分法</a:t>
            </a:r>
            <a:r>
              <a:rPr sz="1800" dirty="0">
                <a:solidFill>
                  <a:srgbClr val="595959"/>
                </a:solidFill>
                <a:latin typeface="微软雅黑" panose="020B0503020204020204" pitchFamily="34" charset="-122"/>
                <a:ea typeface="微软雅黑" panose="020B0503020204020204" pitchFamily="34" charset="-122"/>
              </a:rPr>
              <a:t>；如果测试模块的功能对</a:t>
            </a:r>
            <a:r>
              <a:rPr sz="1800" dirty="0">
                <a:solidFill>
                  <a:srgbClr val="0070C0"/>
                </a:solidFill>
                <a:latin typeface="微软雅黑" panose="020B0503020204020204" pitchFamily="34" charset="-122"/>
                <a:ea typeface="微软雅黑" panose="020B0503020204020204" pitchFamily="34" charset="-122"/>
              </a:rPr>
              <a:t>输入有边界限制</a:t>
            </a:r>
            <a:r>
              <a:rPr sz="1800">
                <a:solidFill>
                  <a:srgbClr val="595959"/>
                </a:solidFill>
                <a:latin typeface="微软雅黑" panose="020B0503020204020204" pitchFamily="34" charset="-122"/>
                <a:ea typeface="微软雅黑" panose="020B0503020204020204" pitchFamily="34" charset="-122"/>
              </a:rPr>
              <a:t>，例如长度范围、数值类型等</a:t>
            </a:r>
            <a:r>
              <a:rPr lang="zh-CN" altLang="en-US" sz="1800">
                <a:solidFill>
                  <a:srgbClr val="595959"/>
                </a:solidFill>
                <a:latin typeface="微软雅黑" panose="020B0503020204020204" pitchFamily="34" charset="-122"/>
                <a:ea typeface="微软雅黑" panose="020B0503020204020204" pitchFamily="34" charset="-122"/>
              </a:rPr>
              <a:t>方面的限制</a:t>
            </a:r>
            <a:r>
              <a:rPr sz="1800">
                <a:solidFill>
                  <a:srgbClr val="595959"/>
                </a:solidFill>
                <a:latin typeface="微软雅黑" panose="020B0503020204020204" pitchFamily="34" charset="-122"/>
                <a:ea typeface="微软雅黑" panose="020B0503020204020204" pitchFamily="34" charset="-122"/>
              </a:rPr>
              <a:t>，</a:t>
            </a:r>
            <a:r>
              <a:rPr sz="1800" dirty="0">
                <a:solidFill>
                  <a:srgbClr val="595959"/>
                </a:solidFill>
                <a:latin typeface="微软雅黑" panose="020B0503020204020204" pitchFamily="34" charset="-122"/>
                <a:ea typeface="微软雅黑" panose="020B0503020204020204" pitchFamily="34" charset="-122"/>
              </a:rPr>
              <a:t>则选择</a:t>
            </a:r>
            <a:r>
              <a:rPr sz="1800" dirty="0">
                <a:solidFill>
                  <a:srgbClr val="0070C0"/>
                </a:solidFill>
                <a:latin typeface="微软雅黑" panose="020B0503020204020204" pitchFamily="34" charset="-122"/>
                <a:ea typeface="微软雅黑" panose="020B0503020204020204" pitchFamily="34" charset="-122"/>
              </a:rPr>
              <a:t>边界值分析法</a:t>
            </a:r>
            <a:r>
              <a:rPr sz="1800" dirty="0">
                <a:solidFill>
                  <a:srgbClr val="595959"/>
                </a:solidFill>
                <a:latin typeface="微软雅黑" panose="020B0503020204020204" pitchFamily="34" charset="-122"/>
                <a:ea typeface="微软雅黑" panose="020B0503020204020204" pitchFamily="34" charset="-122"/>
              </a:rPr>
              <a:t>；如果测试模块具有</a:t>
            </a:r>
            <a:r>
              <a:rPr sz="1800" dirty="0">
                <a:solidFill>
                  <a:srgbClr val="0070C0"/>
                </a:solidFill>
                <a:latin typeface="微软雅黑" panose="020B0503020204020204" pitchFamily="34" charset="-122"/>
                <a:ea typeface="微软雅黑" panose="020B0503020204020204" pitchFamily="34" charset="-122"/>
              </a:rPr>
              <a:t>多输入、多输出、输入与输入之间存在组合关系</a:t>
            </a:r>
            <a:r>
              <a:rPr sz="1800">
                <a:solidFill>
                  <a:srgbClr val="595959"/>
                </a:solidFill>
                <a:latin typeface="微软雅黑" panose="020B0503020204020204" pitchFamily="34" charset="-122"/>
                <a:ea typeface="微软雅黑" panose="020B0503020204020204" pitchFamily="34" charset="-122"/>
              </a:rPr>
              <a:t>、</a:t>
            </a:r>
            <a:r>
              <a:rPr sz="1800">
                <a:solidFill>
                  <a:srgbClr val="0070C0"/>
                </a:solidFill>
                <a:latin typeface="微软雅黑" panose="020B0503020204020204" pitchFamily="34" charset="-122"/>
                <a:ea typeface="微软雅黑" panose="020B0503020204020204" pitchFamily="34" charset="-122"/>
              </a:rPr>
              <a:t>输入与输出之间存在依赖或制约关系</a:t>
            </a:r>
            <a:r>
              <a:rPr lang="zh-CN" altLang="en-US" sz="1800">
                <a:solidFill>
                  <a:srgbClr val="595959"/>
                </a:solidFill>
                <a:latin typeface="微软雅黑" panose="020B0503020204020204" pitchFamily="34" charset="-122"/>
                <a:ea typeface="微软雅黑" panose="020B0503020204020204" pitchFamily="34" charset="-122"/>
              </a:rPr>
              <a:t>的情况</a:t>
            </a:r>
            <a:r>
              <a:rPr sz="1800">
                <a:solidFill>
                  <a:srgbClr val="595959"/>
                </a:solidFill>
                <a:latin typeface="微软雅黑" panose="020B0503020204020204" pitchFamily="34" charset="-122"/>
                <a:ea typeface="微软雅黑" panose="020B0503020204020204" pitchFamily="34" charset="-122"/>
              </a:rPr>
              <a:t>，</a:t>
            </a:r>
            <a:r>
              <a:rPr sz="1800" dirty="0">
                <a:solidFill>
                  <a:srgbClr val="595959"/>
                </a:solidFill>
                <a:latin typeface="微软雅黑" panose="020B0503020204020204" pitchFamily="34" charset="-122"/>
                <a:ea typeface="微软雅黑" panose="020B0503020204020204" pitchFamily="34" charset="-122"/>
              </a:rPr>
              <a:t>则可以选择</a:t>
            </a:r>
            <a:r>
              <a:rPr sz="1800" dirty="0">
                <a:solidFill>
                  <a:srgbClr val="0070C0"/>
                </a:solidFill>
                <a:latin typeface="微软雅黑" panose="020B0503020204020204" pitchFamily="34" charset="-122"/>
                <a:ea typeface="微软雅黑" panose="020B0503020204020204" pitchFamily="34" charset="-122"/>
              </a:rPr>
              <a:t>因果图与决策表法</a:t>
            </a:r>
            <a:r>
              <a:rPr sz="1800">
                <a:solidFill>
                  <a:srgbClr val="595959"/>
                </a:solidFill>
                <a:latin typeface="微软雅黑" panose="020B0503020204020204" pitchFamily="34" charset="-122"/>
                <a:ea typeface="微软雅黑" panose="020B0503020204020204" pitchFamily="34" charset="-122"/>
              </a:rPr>
              <a:t>；如果想要用</a:t>
            </a:r>
            <a:r>
              <a:rPr sz="1800">
                <a:solidFill>
                  <a:srgbClr val="0070C0"/>
                </a:solidFill>
                <a:latin typeface="微软雅黑" panose="020B0503020204020204" pitchFamily="34" charset="-122"/>
                <a:ea typeface="微软雅黑" panose="020B0503020204020204" pitchFamily="34" charset="-122"/>
              </a:rPr>
              <a:t>最少的测试用例获得</a:t>
            </a:r>
            <a:r>
              <a:rPr sz="1800">
                <a:solidFill>
                  <a:srgbClr val="595959"/>
                </a:solidFill>
                <a:latin typeface="微软雅黑" panose="020B0503020204020204" pitchFamily="34" charset="-122"/>
                <a:ea typeface="微软雅黑" panose="020B0503020204020204" pitchFamily="34" charset="-122"/>
              </a:rPr>
              <a:t>测试模块的</a:t>
            </a:r>
            <a:r>
              <a:rPr sz="1800">
                <a:solidFill>
                  <a:srgbClr val="0070C0"/>
                </a:solidFill>
                <a:latin typeface="微软雅黑" panose="020B0503020204020204" pitchFamily="34" charset="-122"/>
                <a:ea typeface="微软雅黑" panose="020B0503020204020204" pitchFamily="34" charset="-122"/>
              </a:rPr>
              <a:t>最大测试覆盖率</a:t>
            </a:r>
            <a:r>
              <a:rPr sz="1800">
                <a:solidFill>
                  <a:srgbClr val="595959"/>
                </a:solidFill>
                <a:latin typeface="微软雅黑" panose="020B0503020204020204" pitchFamily="34" charset="-122"/>
                <a:ea typeface="微软雅黑" panose="020B0503020204020204" pitchFamily="34" charset="-122"/>
              </a:rPr>
              <a:t>，</a:t>
            </a:r>
            <a:r>
              <a:rPr sz="1800" dirty="0">
                <a:solidFill>
                  <a:srgbClr val="595959"/>
                </a:solidFill>
                <a:latin typeface="微软雅黑" panose="020B0503020204020204" pitchFamily="34" charset="-122"/>
                <a:ea typeface="微软雅黑" panose="020B0503020204020204" pitchFamily="34" charset="-122"/>
              </a:rPr>
              <a:t>则可以选择</a:t>
            </a:r>
            <a:r>
              <a:rPr sz="1800" dirty="0">
                <a:solidFill>
                  <a:srgbClr val="0070C0"/>
                </a:solidFill>
                <a:latin typeface="微软雅黑" panose="020B0503020204020204" pitchFamily="34" charset="-122"/>
                <a:ea typeface="微软雅黑" panose="020B0503020204020204" pitchFamily="34" charset="-122"/>
              </a:rPr>
              <a:t>正交实验设计法</a:t>
            </a:r>
            <a:r>
              <a:rPr sz="1800" dirty="0">
                <a:solidFill>
                  <a:srgbClr val="595959"/>
                </a:solidFill>
                <a:latin typeface="微软雅黑" panose="020B0503020204020204" pitchFamily="34" charset="-122"/>
                <a:ea typeface="微软雅黑" panose="020B0503020204020204" pitchFamily="34" charset="-122"/>
              </a:rPr>
              <a:t>；如果测试模块包含</a:t>
            </a:r>
            <a:r>
              <a:rPr sz="1800" dirty="0">
                <a:solidFill>
                  <a:srgbClr val="0070C0"/>
                </a:solidFill>
                <a:latin typeface="微软雅黑" panose="020B0503020204020204" pitchFamily="34" charset="-122"/>
                <a:ea typeface="微软雅黑" panose="020B0503020204020204" pitchFamily="34" charset="-122"/>
              </a:rPr>
              <a:t>多个功能的组合</a:t>
            </a:r>
            <a:r>
              <a:rPr sz="1800" dirty="0">
                <a:solidFill>
                  <a:srgbClr val="595959"/>
                </a:solidFill>
                <a:latin typeface="微软雅黑" panose="020B0503020204020204" pitchFamily="34" charset="-122"/>
                <a:ea typeface="微软雅黑" panose="020B0503020204020204" pitchFamily="34" charset="-122"/>
              </a:rPr>
              <a:t>，则可以选择</a:t>
            </a:r>
            <a:r>
              <a:rPr sz="1800" dirty="0">
                <a:solidFill>
                  <a:srgbClr val="0070C0"/>
                </a:solidFill>
                <a:latin typeface="微软雅黑" panose="020B0503020204020204" pitchFamily="34" charset="-122"/>
                <a:ea typeface="微软雅黑" panose="020B0503020204020204" pitchFamily="34" charset="-122"/>
              </a:rPr>
              <a:t>场景法</a:t>
            </a:r>
            <a:r>
              <a:rPr sz="1800" dirty="0">
                <a:solidFill>
                  <a:srgbClr val="595959"/>
                </a:solidFill>
                <a:latin typeface="微软雅黑" panose="020B0503020204020204" pitchFamily="34" charset="-122"/>
                <a:ea typeface="微软雅黑" panose="020B0503020204020204" pitchFamily="34" charset="-122"/>
              </a:rPr>
              <a:t>；如果测试模块在</a:t>
            </a:r>
            <a:r>
              <a:rPr sz="1800" dirty="0">
                <a:solidFill>
                  <a:srgbClr val="0070C0"/>
                </a:solidFill>
                <a:latin typeface="微软雅黑" panose="020B0503020204020204" pitchFamily="34" charset="-122"/>
                <a:ea typeface="微软雅黑" panose="020B0503020204020204" pitchFamily="34" charset="-122"/>
              </a:rPr>
              <a:t>特定条件下会发生状态的改变</a:t>
            </a:r>
            <a:r>
              <a:rPr sz="1800" dirty="0">
                <a:solidFill>
                  <a:srgbClr val="595959"/>
                </a:solidFill>
                <a:latin typeface="微软雅黑" panose="020B0503020204020204" pitchFamily="34" charset="-122"/>
                <a:ea typeface="微软雅黑" panose="020B0503020204020204" pitchFamily="34" charset="-122"/>
              </a:rPr>
              <a:t>，则可以选择</a:t>
            </a:r>
            <a:r>
              <a:rPr sz="1800" dirty="0">
                <a:solidFill>
                  <a:srgbClr val="0070C0"/>
                </a:solidFill>
                <a:latin typeface="微软雅黑" panose="020B0503020204020204" pitchFamily="34" charset="-122"/>
                <a:ea typeface="微软雅黑" panose="020B0503020204020204" pitchFamily="34" charset="-122"/>
              </a:rPr>
              <a:t>状态迁移图法</a:t>
            </a:r>
            <a:r>
              <a:rPr sz="1800" dirty="0">
                <a:solidFill>
                  <a:srgbClr val="595959"/>
                </a:solidFill>
                <a:latin typeface="微软雅黑" panose="020B0503020204020204" pitchFamily="34" charset="-122"/>
                <a:ea typeface="微软雅黑" panose="020B0503020204020204" pitchFamily="34" charset="-122"/>
              </a:rPr>
              <a:t>。通常，对于测试</a:t>
            </a:r>
            <a:r>
              <a:rPr sz="1800" dirty="0">
                <a:solidFill>
                  <a:srgbClr val="0070C0"/>
                </a:solidFill>
                <a:latin typeface="微软雅黑" panose="020B0503020204020204" pitchFamily="34" charset="-122"/>
                <a:ea typeface="微软雅黑" panose="020B0503020204020204" pitchFamily="34" charset="-122"/>
              </a:rPr>
              <a:t>经验丰富的测试人员</a:t>
            </a:r>
            <a:r>
              <a:rPr sz="1800" dirty="0">
                <a:solidFill>
                  <a:srgbClr val="595959"/>
                </a:solidFill>
                <a:latin typeface="微软雅黑" panose="020B0503020204020204" pitchFamily="34" charset="-122"/>
                <a:ea typeface="微软雅黑" panose="020B0503020204020204" pitchFamily="34" charset="-122"/>
              </a:rPr>
              <a:t>来说，还会使用</a:t>
            </a:r>
            <a:r>
              <a:rPr sz="1800" dirty="0">
                <a:solidFill>
                  <a:srgbClr val="0070C0"/>
                </a:solidFill>
                <a:latin typeface="微软雅黑" panose="020B0503020204020204" pitchFamily="34" charset="-122"/>
                <a:ea typeface="微软雅黑" panose="020B0503020204020204" pitchFamily="34" charset="-122"/>
              </a:rPr>
              <a:t>错误推测法</a:t>
            </a:r>
            <a:r>
              <a:rPr sz="1800" dirty="0">
                <a:solidFill>
                  <a:srgbClr val="595959"/>
                </a:solidFill>
                <a:latin typeface="微软雅黑" panose="020B0503020204020204" pitchFamily="34" charset="-122"/>
                <a:ea typeface="微软雅黑" panose="020B0503020204020204" pitchFamily="34" charset="-122"/>
              </a:rPr>
              <a:t>来进一步补充测试用例的设计。</a:t>
            </a:r>
          </a:p>
          <a:p>
            <a:pPr algn="l">
              <a:lnSpc>
                <a:spcPct val="150000"/>
              </a:lnSpc>
              <a:buClrTx/>
              <a:buSzTx/>
              <a:buFontTx/>
            </a:pPr>
            <a:endParaRPr sz="1800" dirty="0">
              <a:solidFill>
                <a:srgbClr val="595959"/>
              </a:solidFill>
              <a:latin typeface="微软雅黑" panose="020B0503020204020204" pitchFamily="34" charset="-122"/>
              <a:ea typeface="微软雅黑" panose="020B0503020204020204" pitchFamily="34" charset="-122"/>
            </a:endParaRPr>
          </a:p>
        </p:txBody>
      </p:sp>
      <p:sp>
        <p:nvSpPr>
          <p:cNvPr id="31" name="Title 1"/>
          <p:cNvSpPr txBox="1"/>
          <p:nvPr/>
        </p:nvSpPr>
        <p:spPr>
          <a:xfrm>
            <a:off x="1143635" y="266700"/>
            <a:ext cx="599694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2.6.3	实例二：飞机售票系统状态迁移图</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0" y="266995"/>
            <a:ext cx="5671595"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None/>
            </a:pP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本章小结</a:t>
            </a:r>
          </a:p>
        </p:txBody>
      </p:sp>
      <p:sp>
        <p:nvSpPr>
          <p:cNvPr id="4" name="圆角矩形 3"/>
          <p:cNvSpPr/>
          <p:nvPr/>
        </p:nvSpPr>
        <p:spPr>
          <a:xfrm>
            <a:off x="1527810" y="1990090"/>
            <a:ext cx="8909050" cy="2737485"/>
          </a:xfrm>
          <a:prstGeom prst="roundRect">
            <a:avLst>
              <a:gd name="adj" fmla="val 0"/>
            </a:avLst>
          </a:prstGeom>
          <a:noFill/>
          <a:ln w="3175">
            <a:solidFill>
              <a:schemeClr val="tx1">
                <a:lumMod val="75000"/>
                <a:lumOff val="2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cs typeface="+mn-ea"/>
              <a:sym typeface="+mn-lt"/>
            </a:endParaRPr>
          </a:p>
        </p:txBody>
      </p:sp>
      <p:sp>
        <p:nvSpPr>
          <p:cNvPr id="5" name="TextBox 38"/>
          <p:cNvSpPr txBox="1"/>
          <p:nvPr/>
        </p:nvSpPr>
        <p:spPr>
          <a:xfrm>
            <a:off x="1913890" y="2493645"/>
            <a:ext cx="8136890" cy="1661795"/>
          </a:xfrm>
          <a:prstGeom prst="rect">
            <a:avLst/>
          </a:prstGeom>
          <a:noFill/>
        </p:spPr>
        <p:txBody>
          <a:bodyPr wrap="square" lIns="0" tIns="0" rIns="0" bIns="0" rtlCol="0">
            <a:spAutoFit/>
          </a:bodyPr>
          <a:lstStyle/>
          <a:p>
            <a:pPr algn="just">
              <a:lnSpc>
                <a:spcPct val="150000"/>
              </a:lnSpc>
              <a:buClrTx/>
              <a:buSzTx/>
              <a:buFontTx/>
            </a:pPr>
            <a:r>
              <a:rPr lang="zh-CN" altLang="en-US" sz="180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本章主要讲解了黑盒测试常用的方法，包括</a:t>
            </a:r>
            <a:r>
              <a:rPr lang="zh-CN" altLang="en-US" sz="180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等价类划分法</a:t>
            </a:r>
            <a:r>
              <a:rPr lang="zh-CN" altLang="en-US" sz="180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a:t>
            </a:r>
            <a:r>
              <a:rPr lang="zh-CN" altLang="en-US" sz="180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边界值分析法</a:t>
            </a:r>
            <a:r>
              <a:rPr lang="zh-CN" altLang="en-US" sz="180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a:t>
            </a:r>
            <a:r>
              <a:rPr lang="zh-CN" altLang="en-US" sz="180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因果图法与决策表法</a:t>
            </a:r>
            <a:r>
              <a:rPr lang="zh-CN" altLang="en-US" sz="180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a:t>
            </a:r>
            <a:r>
              <a:rPr lang="zh-CN" altLang="en-US" sz="180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正交实验设计法</a:t>
            </a:r>
            <a:r>
              <a:rPr lang="zh-CN" altLang="en-US" sz="180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a:t>
            </a:r>
            <a:r>
              <a:rPr lang="zh-CN" altLang="en-US" sz="180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场景法</a:t>
            </a:r>
            <a:r>
              <a:rPr lang="zh-CN" altLang="en-US" sz="180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和</a:t>
            </a:r>
            <a:r>
              <a:rPr lang="zh-CN" altLang="en-US" sz="180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状态迁移图法</a:t>
            </a:r>
            <a:r>
              <a:rPr lang="zh-CN" altLang="en-US" sz="180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。通过本章的学习，读者能够掌握每种测试方法的原理与测试用例的设计方法，可为后续学习实际软件项目测试奠定基础。</a:t>
            </a:r>
          </a:p>
        </p:txBody>
      </p:sp>
      <p:sp>
        <p:nvSpPr>
          <p:cNvPr id="6" name="椭圆 5"/>
          <p:cNvSpPr/>
          <p:nvPr/>
        </p:nvSpPr>
        <p:spPr>
          <a:xfrm>
            <a:off x="4513580" y="1558290"/>
            <a:ext cx="718820" cy="71882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a:latin typeface="微软雅黑" panose="020B0503020204020204" pitchFamily="34" charset="-122"/>
                <a:ea typeface="微软雅黑" panose="020B0503020204020204" pitchFamily="34" charset="-122"/>
              </a:rPr>
              <a:t>本</a:t>
            </a:r>
          </a:p>
        </p:txBody>
      </p:sp>
      <p:sp>
        <p:nvSpPr>
          <p:cNvPr id="7" name="椭圆 6"/>
          <p:cNvSpPr/>
          <p:nvPr/>
        </p:nvSpPr>
        <p:spPr>
          <a:xfrm>
            <a:off x="5232400" y="1558290"/>
            <a:ext cx="718820" cy="71882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r>
              <a:rPr lang="zh-CN" altLang="en-US" sz="2800" dirty="0">
                <a:latin typeface="微软雅黑" panose="020B0503020204020204" pitchFamily="34" charset="-122"/>
                <a:ea typeface="微软雅黑" panose="020B0503020204020204" pitchFamily="34" charset="-122"/>
                <a:sym typeface="+mn-ea"/>
              </a:rPr>
              <a:t>章</a:t>
            </a:r>
          </a:p>
        </p:txBody>
      </p:sp>
      <p:sp>
        <p:nvSpPr>
          <p:cNvPr id="8" name="椭圆 7"/>
          <p:cNvSpPr/>
          <p:nvPr/>
        </p:nvSpPr>
        <p:spPr>
          <a:xfrm>
            <a:off x="5951220" y="1558290"/>
            <a:ext cx="718820" cy="71882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r>
              <a:rPr lang="zh-CN" altLang="en-US" sz="2800">
                <a:latin typeface="微软雅黑" panose="020B0503020204020204" pitchFamily="34" charset="-122"/>
                <a:ea typeface="微软雅黑" panose="020B0503020204020204" pitchFamily="34" charset="-122"/>
                <a:sym typeface="+mn-ea"/>
              </a:rPr>
              <a:t>小</a:t>
            </a:r>
          </a:p>
        </p:txBody>
      </p:sp>
      <p:sp>
        <p:nvSpPr>
          <p:cNvPr id="9" name="椭圆 8"/>
          <p:cNvSpPr/>
          <p:nvPr/>
        </p:nvSpPr>
        <p:spPr>
          <a:xfrm>
            <a:off x="6670040" y="1558290"/>
            <a:ext cx="718820" cy="71882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r>
              <a:rPr lang="zh-CN" altLang="en-US" sz="2800">
                <a:latin typeface="微软雅黑" panose="020B0503020204020204" pitchFamily="34" charset="-122"/>
                <a:ea typeface="微软雅黑" panose="020B0503020204020204" pitchFamily="34" charset="-122"/>
                <a:sym typeface="+mn-ea"/>
              </a:rPr>
              <a:t>结</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_PRESENTER" val="417f8e4a56fc57c2e92e6fdc581ab83ee55365e"/>
  <p:tag name="KSO_WPP_MARK_KEY" val="f71d5144-0573-45f9-bb21-9102466a32de"/>
  <p:tag name="COMMONDATA" val="eyJoZGlkIjoiNDY0OTc4MTEzM2QwNzhhZWVhYWUxYmE3MGYxNjJlMjcifQ=="/>
</p:tagLst>
</file>

<file path=ppt/tags/tag2.xml><?xml version="1.0" encoding="utf-8"?>
<p:tagLst xmlns:a="http://schemas.openxmlformats.org/drawingml/2006/main" xmlns:r="http://schemas.openxmlformats.org/officeDocument/2006/relationships" xmlns:p="http://schemas.openxmlformats.org/presentationml/2006/main">
  <p:tag name="PA" val="v3.0.1"/>
</p:tagLst>
</file>

<file path=ppt/tags/tag3.xml><?xml version="1.0" encoding="utf-8"?>
<p:tagLst xmlns:a="http://schemas.openxmlformats.org/drawingml/2006/main" xmlns:r="http://schemas.openxmlformats.org/officeDocument/2006/relationships" xmlns:p="http://schemas.openxmlformats.org/presentationml/2006/main">
  <p:tag name="PA" val="v3.0.1"/>
</p:tagLst>
</file>

<file path=ppt/tags/tag4.xml><?xml version="1.0" encoding="utf-8"?>
<p:tagLst xmlns:a="http://schemas.openxmlformats.org/drawingml/2006/main" xmlns:r="http://schemas.openxmlformats.org/officeDocument/2006/relationships" xmlns:p="http://schemas.openxmlformats.org/presentationml/2006/main">
  <p:tag name="PA" val="v3.0.1"/>
</p:tagLst>
</file>

<file path=ppt/tags/tag5.xml><?xml version="1.0" encoding="utf-8"?>
<p:tagLst xmlns:a="http://schemas.openxmlformats.org/drawingml/2006/main" xmlns:r="http://schemas.openxmlformats.org/officeDocument/2006/relationships" xmlns:p="http://schemas.openxmlformats.org/presentationml/2006/main">
  <p:tag name="PA" val="v3.0.1"/>
</p:tagLst>
</file>

<file path=ppt/tags/tag6.xml><?xml version="1.0" encoding="utf-8"?>
<p:tagLst xmlns:a="http://schemas.openxmlformats.org/drawingml/2006/main" xmlns:r="http://schemas.openxmlformats.org/officeDocument/2006/relationships" xmlns:p="http://schemas.openxmlformats.org/presentationml/2006/main">
  <p:tag name="PA" val="v3.0.1"/>
</p:tagLst>
</file>

<file path=ppt/tags/tag7.xml><?xml version="1.0" encoding="utf-8"?>
<p:tagLst xmlns:a="http://schemas.openxmlformats.org/drawingml/2006/main" xmlns:r="http://schemas.openxmlformats.org/officeDocument/2006/relationships" xmlns:p="http://schemas.openxmlformats.org/presentationml/2006/main">
  <p:tag name="PA" val="v3.0.1"/>
</p:tagLst>
</file>

<file path=ppt/tags/tag8.xml><?xml version="1.0" encoding="utf-8"?>
<p:tagLst xmlns:a="http://schemas.openxmlformats.org/drawingml/2006/main" xmlns:r="http://schemas.openxmlformats.org/officeDocument/2006/relationships" xmlns:p="http://schemas.openxmlformats.org/presentationml/2006/main">
  <p:tag name="KSO_WM_UNIT_TABLE_BEAUTIFY" val="smartTable{c576ede5-c590-414e-9914-ca27eb4087d3}"/>
  <p:tag name="TABLE_ENDDRAG_ORIGIN_RECT" val="604*302"/>
  <p:tag name="TABLE_ENDDRAG_RECT" val="77*105*604*302"/>
</p:tagLst>
</file>

<file path=ppt/tags/tag9.xml><?xml version="1.0" encoding="utf-8"?>
<p:tagLst xmlns:a="http://schemas.openxmlformats.org/drawingml/2006/main" xmlns:r="http://schemas.openxmlformats.org/officeDocument/2006/relationships" xmlns:p="http://schemas.openxmlformats.org/presentationml/2006/main">
  <p:tag name="KSO_WM_UNIT_TABLE_BEAUTIFY" val="smartTable{c576ede5-c590-414e-9914-ca27eb4087d3}"/>
  <p:tag name="TABLE_ENDDRAG_ORIGIN_RECT" val="542*451"/>
  <p:tag name="TABLE_ENDDRAG_RECT" val="219*82*542*451"/>
</p:tagLst>
</file>

<file path=ppt/tags/tag10.xml><?xml version="1.0" encoding="utf-8"?>
<p:tagLst xmlns:a="http://schemas.openxmlformats.org/drawingml/2006/main" xmlns:r="http://schemas.openxmlformats.org/officeDocument/2006/relationships" xmlns:p="http://schemas.openxmlformats.org/presentationml/2006/main">
  <p:tag name="KSO_WM_UNIT_TABLE_BEAUTIFY" val="smartTable{c576ede5-c590-414e-9914-ca27eb4087d3}"/>
  <p:tag name="TABLE_ENDDRAG_ORIGIN_RECT" val="604*302"/>
  <p:tag name="TABLE_ENDDRAG_RECT" val="77*105*604*302"/>
</p:tagLst>
</file>

<file path=ppt/tags/tag11.xml><?xml version="1.0" encoding="utf-8"?>
<p:tagLst xmlns:a="http://schemas.openxmlformats.org/drawingml/2006/main" xmlns:r="http://schemas.openxmlformats.org/officeDocument/2006/relationships" xmlns:p="http://schemas.openxmlformats.org/presentationml/2006/main">
  <p:tag name="KSO_WM_UNIT_TABLE_BEAUTIFY" val="smartTable{c576ede5-c590-414e-9914-ca27eb4087d3}"/>
  <p:tag name="TABLE_ENDDRAG_ORIGIN_RECT" val="542*451"/>
  <p:tag name="TABLE_ENDDRAG_RECT" val="219*82*542*451"/>
</p:tagLst>
</file>

<file path=ppt/tags/tag12.xml><?xml version="1.0" encoding="utf-8"?>
<p:tagLst xmlns:a="http://schemas.openxmlformats.org/drawingml/2006/main" xmlns:r="http://schemas.openxmlformats.org/officeDocument/2006/relationships" xmlns:p="http://schemas.openxmlformats.org/presentationml/2006/main">
  <p:tag name="KSO_WM_UNIT_TABLE_BEAUTIFY" val="smartTable{c576ede5-c590-414e-9914-ca27eb4087d3}"/>
  <p:tag name="TABLE_ENDDRAG_ORIGIN_RECT" val="542*451"/>
  <p:tag name="TABLE_ENDDRAG_RECT" val="219*82*542*451"/>
</p:tagLst>
</file>

<file path=ppt/tags/tag13.xml><?xml version="1.0" encoding="utf-8"?>
<p:tagLst xmlns:a="http://schemas.openxmlformats.org/drawingml/2006/main" xmlns:r="http://schemas.openxmlformats.org/officeDocument/2006/relationships" xmlns:p="http://schemas.openxmlformats.org/presentationml/2006/main">
  <p:tag name="KSO_WM_UNIT_TABLE_BEAUTIFY" val="smartTable{c576ede5-c590-414e-9914-ca27eb4087d3}"/>
  <p:tag name="TABLE_ENDDRAG_ORIGIN_RECT" val="656*263"/>
  <p:tag name="TABLE_ENDDRAG_RECT" val="226*162*656*263"/>
</p:tagLst>
</file>

<file path=ppt/tags/tag14.xml><?xml version="1.0" encoding="utf-8"?>
<p:tagLst xmlns:a="http://schemas.openxmlformats.org/drawingml/2006/main" xmlns:r="http://schemas.openxmlformats.org/officeDocument/2006/relationships" xmlns:p="http://schemas.openxmlformats.org/presentationml/2006/main">
  <p:tag name="KSO_WM_UNIT_TABLE_BEAUTIFY" val="smartTable{c576ede5-c590-414e-9914-ca27eb4087d3}"/>
  <p:tag name="TABLE_ENDDRAG_ORIGIN_RECT" val="656*263"/>
  <p:tag name="TABLE_ENDDRAG_RECT" val="226*162*656*263"/>
</p:tagLst>
</file>

<file path=ppt/tags/tag15.xml><?xml version="1.0" encoding="utf-8"?>
<p:tagLst xmlns:a="http://schemas.openxmlformats.org/drawingml/2006/main" xmlns:r="http://schemas.openxmlformats.org/officeDocument/2006/relationships" xmlns:p="http://schemas.openxmlformats.org/presentationml/2006/main">
  <p:tag name="KSO_WM_UNIT_TABLE_BEAUTIFY" val="smartTable{c576ede5-c590-414e-9914-ca27eb4087d3}"/>
  <p:tag name="TABLE_ENDDRAG_ORIGIN_RECT" val="593*182"/>
  <p:tag name="TABLE_ENDDRAG_RECT" val="219*179*593*182"/>
</p:tagLst>
</file>

<file path=ppt/tags/tag16.xml><?xml version="1.0" encoding="utf-8"?>
<p:tagLst xmlns:a="http://schemas.openxmlformats.org/drawingml/2006/main" xmlns:r="http://schemas.openxmlformats.org/officeDocument/2006/relationships" xmlns:p="http://schemas.openxmlformats.org/presentationml/2006/main">
  <p:tag name="KSO_WM_UNIT_TABLE_BEAUTIFY" val="smartTable{c576ede5-c590-414e-9914-ca27eb4087d3}"/>
  <p:tag name="TABLE_ENDDRAG_ORIGIN_RECT" val="593*182"/>
  <p:tag name="TABLE_ENDDRAG_RECT" val="219*179*593*182"/>
</p:tagLst>
</file>

<file path=ppt/tags/tag17.xml><?xml version="1.0" encoding="utf-8"?>
<p:tagLst xmlns:a="http://schemas.openxmlformats.org/drawingml/2006/main" xmlns:r="http://schemas.openxmlformats.org/officeDocument/2006/relationships" xmlns:p="http://schemas.openxmlformats.org/presentationml/2006/main">
  <p:tag name="KSO_WM_UNIT_TABLE_BEAUTIFY" val="smartTable{c576ede5-c590-414e-9914-ca27eb4087d3}"/>
  <p:tag name="TABLE_ENDDRAG_ORIGIN_RECT" val="655*186"/>
  <p:tag name="TABLE_ENDDRAG_RECT" val="190*252*655*186"/>
</p:tagLst>
</file>

<file path=ppt/tags/tag18.xml><?xml version="1.0" encoding="utf-8"?>
<p:tagLst xmlns:a="http://schemas.openxmlformats.org/drawingml/2006/main" xmlns:r="http://schemas.openxmlformats.org/officeDocument/2006/relationships" xmlns:p="http://schemas.openxmlformats.org/presentationml/2006/main">
  <p:tag name="KSO_WM_UNIT_TABLE_BEAUTIFY" val="smartTable{c576ede5-c590-414e-9914-ca27eb4087d3}"/>
  <p:tag name="TABLE_ENDDRAG_ORIGIN_RECT" val="542*451"/>
  <p:tag name="TABLE_ENDDRAG_RECT" val="219*82*542*451"/>
</p:tagLst>
</file>

<file path=ppt/tags/tag19.xml><?xml version="1.0" encoding="utf-8"?>
<p:tagLst xmlns:a="http://schemas.openxmlformats.org/drawingml/2006/main" xmlns:r="http://schemas.openxmlformats.org/officeDocument/2006/relationships" xmlns:p="http://schemas.openxmlformats.org/presentationml/2006/main">
  <p:tag name="KSO_WM_UNIT_TABLE_BEAUTIFY" val="smartTable{c576ede5-c590-414e-9914-ca27eb4087d3}"/>
  <p:tag name="TABLE_ENDDRAG_ORIGIN_RECT" val="542*451"/>
  <p:tag name="TABLE_ENDDRAG_RECT" val="219*82*542*451"/>
</p:tagLst>
</file>

<file path=ppt/tags/tag20.xml><?xml version="1.0" encoding="utf-8"?>
<p:tagLst xmlns:a="http://schemas.openxmlformats.org/drawingml/2006/main" xmlns:r="http://schemas.openxmlformats.org/officeDocument/2006/relationships" xmlns:p="http://schemas.openxmlformats.org/presentationml/2006/main">
  <p:tag name="KSO_WM_UNIT_TABLE_BEAUTIFY" val="smartTable{c576ede5-c590-414e-9914-ca27eb4087d3}"/>
  <p:tag name="TABLE_ENDDRAG_ORIGIN_RECT" val="542*451"/>
  <p:tag name="TABLE_ENDDRAG_RECT" val="219*82*542*451"/>
</p:tagLst>
</file>

<file path=ppt/tags/tag21.xml><?xml version="1.0" encoding="utf-8"?>
<p:tagLst xmlns:a="http://schemas.openxmlformats.org/drawingml/2006/main" xmlns:r="http://schemas.openxmlformats.org/officeDocument/2006/relationships" xmlns:p="http://schemas.openxmlformats.org/presentationml/2006/main">
  <p:tag name="KSO_WM_UNIT_TABLE_BEAUTIFY" val="smartTable{c576ede5-c590-414e-9914-ca27eb4087d3}"/>
  <p:tag name="TABLE_ENDDRAG_ORIGIN_RECT" val="542*451"/>
  <p:tag name="TABLE_ENDDRAG_RECT" val="219*82*542*451"/>
</p:tagLst>
</file>

<file path=ppt/tags/tag22.xml><?xml version="1.0" encoding="utf-8"?>
<p:tagLst xmlns:a="http://schemas.openxmlformats.org/drawingml/2006/main" xmlns:r="http://schemas.openxmlformats.org/officeDocument/2006/relationships" xmlns:p="http://schemas.openxmlformats.org/presentationml/2006/main">
  <p:tag name="KSO_WM_UNIT_TABLE_BEAUTIFY" val="smartTable{c576ede5-c590-414e-9914-ca27eb4087d3}"/>
  <p:tag name="TABLE_ENDDRAG_ORIGIN_RECT" val="542*451"/>
  <p:tag name="TABLE_ENDDRAG_RECT" val="219*82*542*451"/>
</p:tagLst>
</file>

<file path=ppt/tags/tag23.xml><?xml version="1.0" encoding="utf-8"?>
<p:tagLst xmlns:a="http://schemas.openxmlformats.org/drawingml/2006/main" xmlns:r="http://schemas.openxmlformats.org/officeDocument/2006/relationships" xmlns:p="http://schemas.openxmlformats.org/presentationml/2006/main">
  <p:tag name="KSO_WM_UNIT_TABLE_BEAUTIFY" val="smartTable{c576ede5-c590-414e-9914-ca27eb4087d3}"/>
  <p:tag name="TABLE_ENDDRAG_ORIGIN_RECT" val="668*379"/>
  <p:tag name="TABLE_ENDDRAG_RECT" val="173*133*668*379"/>
</p:tagLst>
</file>

<file path=ppt/tags/tag24.xml><?xml version="1.0" encoding="utf-8"?>
<p:tagLst xmlns:a="http://schemas.openxmlformats.org/drawingml/2006/main" xmlns:r="http://schemas.openxmlformats.org/officeDocument/2006/relationships" xmlns:p="http://schemas.openxmlformats.org/presentationml/2006/main">
  <p:tag name="KSO_WM_UNIT_TABLE_BEAUTIFY" val="smartTable{c576ede5-c590-414e-9914-ca27eb4087d3}"/>
  <p:tag name="TABLE_ENDDRAG_ORIGIN_RECT" val="668*379"/>
  <p:tag name="TABLE_ENDDRAG_RECT" val="173*133*668*379"/>
</p:tagLst>
</file>

<file path=ppt/tags/tag25.xml><?xml version="1.0" encoding="utf-8"?>
<p:tagLst xmlns:a="http://schemas.openxmlformats.org/drawingml/2006/main" xmlns:r="http://schemas.openxmlformats.org/officeDocument/2006/relationships" xmlns:p="http://schemas.openxmlformats.org/presentationml/2006/main">
  <p:tag name="KSO_WM_UNIT_TABLE_BEAUTIFY" val="smartTable{c576ede5-c590-414e-9914-ca27eb4087d3}"/>
  <p:tag name="TABLE_ENDDRAG_ORIGIN_RECT" val="668*379"/>
  <p:tag name="TABLE_ENDDRAG_RECT" val="173*133*668*379"/>
</p:tagLst>
</file>

<file path=ppt/tags/tag26.xml><?xml version="1.0" encoding="utf-8"?>
<p:tagLst xmlns:a="http://schemas.openxmlformats.org/drawingml/2006/main" xmlns:r="http://schemas.openxmlformats.org/officeDocument/2006/relationships" xmlns:p="http://schemas.openxmlformats.org/presentationml/2006/main">
  <p:tag name="KSO_WM_UNIT_TABLE_BEAUTIFY" val="smartTable{c576ede5-c590-414e-9914-ca27eb4087d3}"/>
  <p:tag name="TABLE_ENDDRAG_ORIGIN_RECT" val="616*334"/>
  <p:tag name="TABLE_ENDDRAG_RECT" val="185*151*616*334"/>
</p:tagLst>
</file>

<file path=ppt/tags/tag27.xml><?xml version="1.0" encoding="utf-8"?>
<p:tagLst xmlns:a="http://schemas.openxmlformats.org/drawingml/2006/main" xmlns:r="http://schemas.openxmlformats.org/officeDocument/2006/relationships" xmlns:p="http://schemas.openxmlformats.org/presentationml/2006/main">
  <p:tag name="KSO_WM_UNIT_TABLE_BEAUTIFY" val="smartTable{c576ede5-c590-414e-9914-ca27eb4087d3}"/>
  <p:tag name="TABLE_ENDDRAG_ORIGIN_RECT" val="542*451"/>
  <p:tag name="TABLE_ENDDRAG_RECT" val="219*82*542*451"/>
</p:tagLst>
</file>

<file path=ppt/tags/tag28.xml><?xml version="1.0" encoding="utf-8"?>
<p:tagLst xmlns:a="http://schemas.openxmlformats.org/drawingml/2006/main" xmlns:r="http://schemas.openxmlformats.org/officeDocument/2006/relationships" xmlns:p="http://schemas.openxmlformats.org/presentationml/2006/main">
  <p:tag name="KSO_WM_UNIT_TABLE_BEAUTIFY" val="smartTable{c576ede5-c590-414e-9914-ca27eb4087d3}"/>
  <p:tag name="TABLE_ENDDRAG_ORIGIN_RECT" val="668*379"/>
  <p:tag name="TABLE_ENDDRAG_RECT" val="173*133*668*379"/>
</p:tagLst>
</file>

<file path=ppt/tags/tag29.xml><?xml version="1.0" encoding="utf-8"?>
<p:tagLst xmlns:a="http://schemas.openxmlformats.org/drawingml/2006/main" xmlns:r="http://schemas.openxmlformats.org/officeDocument/2006/relationships" xmlns:p="http://schemas.openxmlformats.org/presentationml/2006/main">
  <p:tag name="KSO_WM_UNIT_TABLE_BEAUTIFY" val="smartTable{c576ede5-c590-414e-9914-ca27eb4087d3}"/>
  <p:tag name="TABLE_ENDDRAG_ORIGIN_RECT" val="668*379"/>
  <p:tag name="TABLE_ENDDRAG_RECT" val="173*133*668*379"/>
</p:tagLst>
</file>

<file path=ppt/tags/tag30.xml><?xml version="1.0" encoding="utf-8"?>
<p:tagLst xmlns:a="http://schemas.openxmlformats.org/drawingml/2006/main" xmlns:r="http://schemas.openxmlformats.org/officeDocument/2006/relationships" xmlns:p="http://schemas.openxmlformats.org/presentationml/2006/main">
  <p:tag name="KSO_WM_UNIT_TABLE_BEAUTIFY" val="smartTable{c576ede5-c590-414e-9914-ca27eb4087d3}"/>
  <p:tag name="TABLE_ENDDRAG_ORIGIN_RECT" val="616*334"/>
  <p:tag name="TABLE_ENDDRAG_RECT" val="185*151*616*334"/>
</p:tagLst>
</file>

<file path=ppt/tags/tag31.xml><?xml version="1.0" encoding="utf-8"?>
<p:tagLst xmlns:a="http://schemas.openxmlformats.org/drawingml/2006/main" xmlns:r="http://schemas.openxmlformats.org/officeDocument/2006/relationships" xmlns:p="http://schemas.openxmlformats.org/presentationml/2006/main">
  <p:tag name="KSO_WM_UNIT_TABLE_BEAUTIFY" val="smartTable{c576ede5-c590-414e-9914-ca27eb4087d3}"/>
  <p:tag name="TABLE_ENDDRAG_ORIGIN_RECT" val="458*248"/>
  <p:tag name="TABLE_ENDDRAG_RECT" val="179*244*458*248"/>
</p:tagLst>
</file>

<file path=ppt/tags/tag32.xml><?xml version="1.0" encoding="utf-8"?>
<p:tagLst xmlns:a="http://schemas.openxmlformats.org/drawingml/2006/main" xmlns:r="http://schemas.openxmlformats.org/officeDocument/2006/relationships" xmlns:p="http://schemas.openxmlformats.org/presentationml/2006/main">
  <p:tag name="KSO_WM_UNIT_TABLE_BEAUTIFY" val="smartTable{c576ede5-c590-414e-9914-ca27eb4087d3}"/>
  <p:tag name="TABLE_ENDDRAG_ORIGIN_RECT" val="817*379"/>
  <p:tag name="TABLE_ENDDRAG_RECT" val="88*123*817*380"/>
</p:tagLst>
</file>

<file path=ppt/tags/tag33.xml><?xml version="1.0" encoding="utf-8"?>
<p:tagLst xmlns:a="http://schemas.openxmlformats.org/drawingml/2006/main" xmlns:r="http://schemas.openxmlformats.org/officeDocument/2006/relationships" xmlns:p="http://schemas.openxmlformats.org/presentationml/2006/main">
  <p:tag name="KSO_WM_UNIT_TABLE_BEAUTIFY" val="smartTable{c576ede5-c590-414e-9914-ca27eb4087d3}"/>
  <p:tag name="TABLE_ENDDRAG_ORIGIN_RECT" val="668*373"/>
  <p:tag name="TABLE_ENDDRAG_RECT" val="185*118*668*373"/>
</p:tagLst>
</file>

<file path=ppt/tags/tag34.xml><?xml version="1.0" encoding="utf-8"?>
<p:tagLst xmlns:a="http://schemas.openxmlformats.org/drawingml/2006/main" xmlns:r="http://schemas.openxmlformats.org/officeDocument/2006/relationships" xmlns:p="http://schemas.openxmlformats.org/presentationml/2006/main">
  <p:tag name="KSO_WM_UNIT_TABLE_BEAUTIFY" val="smartTable{c576ede5-c590-414e-9914-ca27eb4087d3}"/>
  <p:tag name="TABLE_ENDDRAG_ORIGIN_RECT" val="565*374"/>
  <p:tag name="TABLE_ENDDRAG_RECT" val="162*116*565*374"/>
</p:tagLst>
</file>

<file path=ppt/tags/tag35.xml><?xml version="1.0" encoding="utf-8"?>
<p:tagLst xmlns:a="http://schemas.openxmlformats.org/drawingml/2006/main" xmlns:r="http://schemas.openxmlformats.org/officeDocument/2006/relationships" xmlns:p="http://schemas.openxmlformats.org/presentationml/2006/main">
  <p:tag name="KSO_WM_UNIT_TABLE_BEAUTIFY" val="smartTable{c576ede5-c590-414e-9914-ca27eb4087d3}"/>
  <p:tag name="TABLE_ENDDRAG_ORIGIN_RECT" val="458*248"/>
  <p:tag name="TABLE_ENDDRAG_RECT" val="179*244*458*248"/>
</p:tagLst>
</file>

<file path=ppt/tags/tag36.xml><?xml version="1.0" encoding="utf-8"?>
<p:tagLst xmlns:a="http://schemas.openxmlformats.org/drawingml/2006/main" xmlns:r="http://schemas.openxmlformats.org/officeDocument/2006/relationships" xmlns:p="http://schemas.openxmlformats.org/presentationml/2006/main">
  <p:tag name="KSO_WM_UNIT_TABLE_BEAUTIFY" val="smartTable{c576ede5-c590-414e-9914-ca27eb4087d3}"/>
  <p:tag name="TABLE_ENDDRAG_ORIGIN_RECT" val="668*373"/>
  <p:tag name="TABLE_ENDDRAG_RECT" val="185*118*668*373"/>
</p:tagLst>
</file>

<file path=ppt/tags/tag37.xml><?xml version="1.0" encoding="utf-8"?>
<p:tagLst xmlns:a="http://schemas.openxmlformats.org/drawingml/2006/main" xmlns:r="http://schemas.openxmlformats.org/officeDocument/2006/relationships" xmlns:p="http://schemas.openxmlformats.org/presentationml/2006/main">
  <p:tag name="KSO_WM_UNIT_TABLE_BEAUTIFY" val="smartTable{c576ede5-c590-414e-9914-ca27eb4087d3}"/>
  <p:tag name="TABLE_ENDDRAG_ORIGIN_RECT" val="656*362"/>
  <p:tag name="TABLE_ENDDRAG_RECT" val="213*111*656*362"/>
</p:tagLst>
</file>

<file path=ppt/tags/tag38.xml><?xml version="1.0" encoding="utf-8"?>
<p:tagLst xmlns:a="http://schemas.openxmlformats.org/drawingml/2006/main" xmlns:r="http://schemas.openxmlformats.org/officeDocument/2006/relationships" xmlns:p="http://schemas.openxmlformats.org/presentationml/2006/main">
  <p:tag name="MH" val="20170719143502"/>
  <p:tag name="MH_LIBRARY" val="GRAPHIC"/>
  <p:tag name="MH_TYPE" val="SubTitle"/>
  <p:tag name="MH_ORDER" val="1"/>
</p:tagLst>
</file>

<file path=ppt/tags/tag39.xml><?xml version="1.0" encoding="utf-8"?>
<p:tagLst xmlns:a="http://schemas.openxmlformats.org/drawingml/2006/main" xmlns:r="http://schemas.openxmlformats.org/officeDocument/2006/relationships" xmlns:p="http://schemas.openxmlformats.org/presentationml/2006/main">
  <p:tag name="MH" val="20170719143502"/>
  <p:tag name="MH_LIBRARY" val="GRAPHIC"/>
  <p:tag name="MH_TYPE" val="Other"/>
  <p:tag name="MH_ORDER" val="1"/>
</p:tagLst>
</file>

<file path=ppt/tags/tag40.xml><?xml version="1.0" encoding="utf-8"?>
<p:tagLst xmlns:a="http://schemas.openxmlformats.org/drawingml/2006/main" xmlns:r="http://schemas.openxmlformats.org/officeDocument/2006/relationships" xmlns:p="http://schemas.openxmlformats.org/presentationml/2006/main">
  <p:tag name="MH" val="20170719143502"/>
  <p:tag name="MH_LIBRARY" val="GRAPHIC"/>
  <p:tag name="MH_TYPE" val="Text"/>
  <p:tag name="MH_ORDER" val="1"/>
</p:tagLst>
</file>

<file path=ppt/tags/tag41.xml><?xml version="1.0" encoding="utf-8"?>
<p:tagLst xmlns:a="http://schemas.openxmlformats.org/drawingml/2006/main" xmlns:r="http://schemas.openxmlformats.org/officeDocument/2006/relationships" xmlns:p="http://schemas.openxmlformats.org/presentationml/2006/main">
  <p:tag name="MH" val="20170719143502"/>
  <p:tag name="MH_LIBRARY" val="GRAPHIC"/>
  <p:tag name="MH_TYPE" val="SubTitle"/>
  <p:tag name="MH_ORDER" val="2"/>
</p:tagLst>
</file>

<file path=ppt/tags/tag42.xml><?xml version="1.0" encoding="utf-8"?>
<p:tagLst xmlns:a="http://schemas.openxmlformats.org/drawingml/2006/main" xmlns:r="http://schemas.openxmlformats.org/officeDocument/2006/relationships" xmlns:p="http://schemas.openxmlformats.org/presentationml/2006/main">
  <p:tag name="MH" val="20170719143502"/>
  <p:tag name="MH_LIBRARY" val="GRAPHIC"/>
  <p:tag name="MH_TYPE" val="Other"/>
  <p:tag name="MH_ORDER" val="2"/>
</p:tagLst>
</file>

<file path=ppt/tags/tag43.xml><?xml version="1.0" encoding="utf-8"?>
<p:tagLst xmlns:a="http://schemas.openxmlformats.org/drawingml/2006/main" xmlns:r="http://schemas.openxmlformats.org/officeDocument/2006/relationships" xmlns:p="http://schemas.openxmlformats.org/presentationml/2006/main">
  <p:tag name="MH" val="20170719143502"/>
  <p:tag name="MH_LIBRARY" val="GRAPHIC"/>
  <p:tag name="MH_TYPE" val="Text"/>
  <p:tag name="MH_ORDER" val="2"/>
</p:tagLst>
</file>

<file path=ppt/tags/tag44.xml><?xml version="1.0" encoding="utf-8"?>
<p:tagLst xmlns:a="http://schemas.openxmlformats.org/drawingml/2006/main" xmlns:r="http://schemas.openxmlformats.org/officeDocument/2006/relationships" xmlns:p="http://schemas.openxmlformats.org/presentationml/2006/main">
  <p:tag name="MH" val="20170719143502"/>
  <p:tag name="MH_LIBRARY" val="GRAPHIC"/>
  <p:tag name="MH_TYPE" val="SubTitle"/>
  <p:tag name="MH_ORDER" val="3"/>
</p:tagLst>
</file>

<file path=ppt/tags/tag45.xml><?xml version="1.0" encoding="utf-8"?>
<p:tagLst xmlns:a="http://schemas.openxmlformats.org/drawingml/2006/main" xmlns:r="http://schemas.openxmlformats.org/officeDocument/2006/relationships" xmlns:p="http://schemas.openxmlformats.org/presentationml/2006/main">
  <p:tag name="MH" val="20170719143502"/>
  <p:tag name="MH_LIBRARY" val="GRAPHIC"/>
  <p:tag name="MH_TYPE" val="Other"/>
  <p:tag name="MH_ORDER" val="3"/>
</p:tagLst>
</file>

<file path=ppt/tags/tag46.xml><?xml version="1.0" encoding="utf-8"?>
<p:tagLst xmlns:a="http://schemas.openxmlformats.org/drawingml/2006/main" xmlns:r="http://schemas.openxmlformats.org/officeDocument/2006/relationships" xmlns:p="http://schemas.openxmlformats.org/presentationml/2006/main">
  <p:tag name="MH" val="20170719143502"/>
  <p:tag name="MH_LIBRARY" val="GRAPHIC"/>
  <p:tag name="MH_TYPE" val="Text"/>
  <p:tag name="MH_ORDER" val="3"/>
</p:tagLst>
</file>

<file path=ppt/tags/tag47.xml><?xml version="1.0" encoding="utf-8"?>
<p:tagLst xmlns:a="http://schemas.openxmlformats.org/drawingml/2006/main" xmlns:r="http://schemas.openxmlformats.org/officeDocument/2006/relationships" xmlns:p="http://schemas.openxmlformats.org/presentationml/2006/main">
  <p:tag name="MH" val="20170719143502"/>
  <p:tag name="MH_LIBRARY" val="GRAPHIC"/>
  <p:tag name="MH_TYPE" val="Title"/>
  <p:tag name="MH_ORDER" val="1"/>
</p:tagLst>
</file>

<file path=ppt/tags/tag48.xml><?xml version="1.0" encoding="utf-8"?>
<p:tagLst xmlns:a="http://schemas.openxmlformats.org/drawingml/2006/main" xmlns:r="http://schemas.openxmlformats.org/officeDocument/2006/relationships" xmlns:p="http://schemas.openxmlformats.org/presentationml/2006/main">
  <p:tag name="PA" val="v3.2.0"/>
</p:tagLst>
</file>

<file path=ppt/tags/tag49.xml><?xml version="1.0" encoding="utf-8"?>
<p:tagLst xmlns:a="http://schemas.openxmlformats.org/drawingml/2006/main" xmlns:r="http://schemas.openxmlformats.org/officeDocument/2006/relationships" xmlns:p="http://schemas.openxmlformats.org/presentationml/2006/main">
  <p:tag name="PA" val="v3.2.0"/>
</p:tagLst>
</file>

<file path=ppt/tags/tag50.xml><?xml version="1.0" encoding="utf-8"?>
<p:tagLst xmlns:a="http://schemas.openxmlformats.org/drawingml/2006/main" xmlns:r="http://schemas.openxmlformats.org/officeDocument/2006/relationships" xmlns:p="http://schemas.openxmlformats.org/presentationml/2006/main">
  <p:tag name="PA" val="v3.2.0"/>
</p:tagLst>
</file>

<file path=ppt/tags/tag51.xml><?xml version="1.0" encoding="utf-8"?>
<p:tagLst xmlns:a="http://schemas.openxmlformats.org/drawingml/2006/main" xmlns:r="http://schemas.openxmlformats.org/officeDocument/2006/relationships" xmlns:p="http://schemas.openxmlformats.org/presentationml/2006/main">
  <p:tag name="PA" val="v3.2.0"/>
</p:tagLst>
</file>

<file path=ppt/tags/tag52.xml><?xml version="1.0" encoding="utf-8"?>
<p:tagLst xmlns:a="http://schemas.openxmlformats.org/drawingml/2006/main" xmlns:r="http://schemas.openxmlformats.org/officeDocument/2006/relationships" xmlns:p="http://schemas.openxmlformats.org/presentationml/2006/main">
  <p:tag name="PA" val="v3.2.0"/>
</p:tagLst>
</file>

<file path=ppt/tags/tag53.xml><?xml version="1.0" encoding="utf-8"?>
<p:tagLst xmlns:a="http://schemas.openxmlformats.org/drawingml/2006/main" xmlns:r="http://schemas.openxmlformats.org/officeDocument/2006/relationships" xmlns:p="http://schemas.openxmlformats.org/presentationml/2006/main">
  <p:tag name="KSO_WM_UNIT_TABLE_BEAUTIFY" val="smartTable{c576ede5-c590-414e-9914-ca27eb4087d3}"/>
  <p:tag name="TABLE_ENDDRAG_ORIGIN_RECT" val="487*149"/>
  <p:tag name="TABLE_ENDDRAG_RECT" val="219*320*487*149"/>
</p:tagLst>
</file>

<file path=ppt/tags/tag54.xml><?xml version="1.0" encoding="utf-8"?>
<p:tagLst xmlns:a="http://schemas.openxmlformats.org/drawingml/2006/main" xmlns:r="http://schemas.openxmlformats.org/officeDocument/2006/relationships" xmlns:p="http://schemas.openxmlformats.org/presentationml/2006/main">
  <p:tag name="KSO_WM_UNIT_TABLE_BEAUTIFY" val="smartTable{c576ede5-c590-414e-9914-ca27eb4087d3}"/>
  <p:tag name="TABLE_ENDDRAG_ORIGIN_RECT" val="487*149"/>
  <p:tag name="TABLE_ENDDRAG_RECT" val="219*320*487*149"/>
</p:tagLst>
</file>

<file path=ppt/tags/tag55.xml><?xml version="1.0" encoding="utf-8"?>
<p:tagLst xmlns:a="http://schemas.openxmlformats.org/drawingml/2006/main" xmlns:r="http://schemas.openxmlformats.org/officeDocument/2006/relationships" xmlns:p="http://schemas.openxmlformats.org/presentationml/2006/main">
  <p:tag name="KSO_WM_UNIT_TABLE_BEAUTIFY" val="smartTable{c576ede5-c590-414e-9914-ca27eb4087d3}"/>
  <p:tag name="TABLE_ENDDRAG_ORIGIN_RECT" val="645*258"/>
  <p:tag name="TABLE_ENDDRAG_RECT" val="213*162*645*258"/>
</p:tagLst>
</file>

<file path=ppt/tags/tag56.xml><?xml version="1.0" encoding="utf-8"?>
<p:tagLst xmlns:a="http://schemas.openxmlformats.org/drawingml/2006/main" xmlns:r="http://schemas.openxmlformats.org/officeDocument/2006/relationships" xmlns:p="http://schemas.openxmlformats.org/presentationml/2006/main">
  <p:tag name="KSO_WM_UNIT_TABLE_BEAUTIFY" val="smartTable{c576ede5-c590-414e-9914-ca27eb4087d3}"/>
  <p:tag name="TABLE_ENDDRAG_ORIGIN_RECT" val="645*258"/>
  <p:tag name="TABLE_ENDDRAG_RECT" val="213*162*645*258"/>
</p:tagLst>
</file>

<file path=ppt/tags/tag57.xml><?xml version="1.0" encoding="utf-8"?>
<p:tagLst xmlns:a="http://schemas.openxmlformats.org/drawingml/2006/main" xmlns:r="http://schemas.openxmlformats.org/officeDocument/2006/relationships" xmlns:p="http://schemas.openxmlformats.org/presentationml/2006/main">
  <p:tag name="KSO_WM_UNIT_TABLE_BEAUTIFY" val="smartTable{c576ede5-c590-414e-9914-ca27eb4087d3}"/>
  <p:tag name="TABLE_ENDDRAG_ORIGIN_RECT" val="645*258"/>
  <p:tag name="TABLE_ENDDRAG_RECT" val="213*162*645*258"/>
</p:tagLst>
</file>

<file path=ppt/tags/tag58.xml><?xml version="1.0" encoding="utf-8"?>
<p:tagLst xmlns:a="http://schemas.openxmlformats.org/drawingml/2006/main" xmlns:r="http://schemas.openxmlformats.org/officeDocument/2006/relationships" xmlns:p="http://schemas.openxmlformats.org/presentationml/2006/main">
  <p:tag name="KSO_WM_UNIT_TABLE_BEAUTIFY" val="smartTable{c576ede5-c590-414e-9914-ca27eb4087d3}"/>
  <p:tag name="TABLE_ENDDRAG_ORIGIN_RECT" val="417*266"/>
  <p:tag name="TABLE_ENDDRAG_RECT" val="366*275*417*266"/>
</p:tagLst>
</file>

<file path=ppt/tags/tag59.xml><?xml version="1.0" encoding="utf-8"?>
<p:tagLst xmlns:a="http://schemas.openxmlformats.org/drawingml/2006/main" xmlns:r="http://schemas.openxmlformats.org/officeDocument/2006/relationships" xmlns:p="http://schemas.openxmlformats.org/presentationml/2006/main">
  <p:tag name="KSO_WM_UNIT_TABLE_BEAUTIFY" val="smartTable{c576ede5-c590-414e-9914-ca27eb4087d3}"/>
  <p:tag name="TABLE_ENDDRAG_ORIGIN_RECT" val="596*267"/>
  <p:tag name="TABLE_ENDDRAG_RECT" val="179*151*596*267"/>
</p:tagLst>
</file>

<file path=ppt/tags/tag60.xml><?xml version="1.0" encoding="utf-8"?>
<p:tagLst xmlns:a="http://schemas.openxmlformats.org/drawingml/2006/main" xmlns:r="http://schemas.openxmlformats.org/officeDocument/2006/relationships" xmlns:p="http://schemas.openxmlformats.org/presentationml/2006/main">
  <p:tag name="KSO_WM_UNIT_TABLE_BEAUTIFY" val="smartTable{c576ede5-c590-414e-9914-ca27eb4087d3}"/>
  <p:tag name="TABLE_ENDDRAG_ORIGIN_RECT" val="589*267"/>
  <p:tag name="TABLE_ENDDRAG_RECT" val="156*151*589*267"/>
</p:tagLst>
</file>

<file path=ppt/tags/tag61.xml><?xml version="1.0" encoding="utf-8"?>
<p:tagLst xmlns:a="http://schemas.openxmlformats.org/drawingml/2006/main" xmlns:r="http://schemas.openxmlformats.org/officeDocument/2006/relationships" xmlns:p="http://schemas.openxmlformats.org/presentationml/2006/main">
  <p:tag name="KSO_WM_UNIT_TABLE_BEAUTIFY" val="smartTable{c576ede5-c590-414e-9914-ca27eb4087d3}"/>
  <p:tag name="TABLE_ENDDRAG_ORIGIN_RECT" val="589*267"/>
  <p:tag name="TABLE_ENDDRAG_RECT" val="156*151*589*267"/>
</p:tagLst>
</file>

<file path=ppt/tags/tag62.xml><?xml version="1.0" encoding="utf-8"?>
<p:tagLst xmlns:a="http://schemas.openxmlformats.org/drawingml/2006/main" xmlns:r="http://schemas.openxmlformats.org/officeDocument/2006/relationships" xmlns:p="http://schemas.openxmlformats.org/presentationml/2006/main">
  <p:tag name="KSO_WM_UNIT_TABLE_BEAUTIFY" val="smartTable{c576ede5-c590-414e-9914-ca27eb4087d3}"/>
  <p:tag name="TABLE_ENDDRAG_ORIGIN_RECT" val="689*367"/>
  <p:tag name="TABLE_ENDDRAG_RECT" val="148*117*689*367"/>
</p:tagLst>
</file>

<file path=ppt/tags/tag63.xml><?xml version="1.0" encoding="utf-8"?>
<p:tagLst xmlns:a="http://schemas.openxmlformats.org/drawingml/2006/main" xmlns:r="http://schemas.openxmlformats.org/officeDocument/2006/relationships" xmlns:p="http://schemas.openxmlformats.org/presentationml/2006/main">
  <p:tag name="KSO_WM_UNIT_TABLE_BEAUTIFY" val="smartTable{c576ede5-c590-414e-9914-ca27eb4087d3}"/>
  <p:tag name="TABLE_ENDDRAG_ORIGIN_RECT" val="689*367"/>
  <p:tag name="TABLE_ENDDRAG_RECT" val="148*117*689*367"/>
</p:tagLst>
</file>

<file path=ppt/tags/tag64.xml><?xml version="1.0" encoding="utf-8"?>
<p:tagLst xmlns:a="http://schemas.openxmlformats.org/drawingml/2006/main" xmlns:r="http://schemas.openxmlformats.org/officeDocument/2006/relationships" xmlns:p="http://schemas.openxmlformats.org/presentationml/2006/main">
  <p:tag name="KSO_WM_UNIT_TABLE_BEAUTIFY" val="smartTable{c576ede5-c590-414e-9914-ca27eb4087d3}"/>
  <p:tag name="TABLE_ENDDRAG_ORIGIN_RECT" val="645*420"/>
  <p:tag name="TABLE_ENDDRAG_RECT" val="173*111*645*420"/>
</p:tagLst>
</file>

<file path=ppt/tags/tag65.xml><?xml version="1.0" encoding="utf-8"?>
<p:tagLst xmlns:a="http://schemas.openxmlformats.org/drawingml/2006/main" xmlns:r="http://schemas.openxmlformats.org/officeDocument/2006/relationships" xmlns:p="http://schemas.openxmlformats.org/presentationml/2006/main">
  <p:tag name="KSO_WM_UNIT_TABLE_BEAUTIFY" val="smartTable{c576ede5-c590-414e-9914-ca27eb4087d3}"/>
  <p:tag name="TABLE_ENDDRAG_ORIGIN_RECT" val="645*420"/>
  <p:tag name="TABLE_ENDDRAG_RECT" val="173*111*645*420"/>
</p:tagLst>
</file>

<file path=ppt/tags/tag66.xml><?xml version="1.0" encoding="utf-8"?>
<p:tagLst xmlns:a="http://schemas.openxmlformats.org/drawingml/2006/main" xmlns:r="http://schemas.openxmlformats.org/officeDocument/2006/relationships" xmlns:p="http://schemas.openxmlformats.org/presentationml/2006/main">
  <p:tag name="KSO_WM_UNIT_TABLE_BEAUTIFY" val="smartTable{c576ede5-c590-414e-9914-ca27eb4087d3}"/>
  <p:tag name="TABLE_ENDDRAG_ORIGIN_RECT" val="689*367"/>
  <p:tag name="TABLE_ENDDRAG_RECT" val="148*117*689*367"/>
</p:tagLst>
</file>

<file path=ppt/tags/tag67.xml><?xml version="1.0" encoding="utf-8"?>
<p:tagLst xmlns:a="http://schemas.openxmlformats.org/drawingml/2006/main" xmlns:r="http://schemas.openxmlformats.org/officeDocument/2006/relationships" xmlns:p="http://schemas.openxmlformats.org/presentationml/2006/main">
  <p:tag name="KSO_WM_UNIT_TABLE_BEAUTIFY" val="smartTable{c576ede5-c590-414e-9914-ca27eb4087d3}"/>
  <p:tag name="TABLE_ENDDRAG_ORIGIN_RECT" val="645*420"/>
  <p:tag name="TABLE_ENDDRAG_RECT" val="173*111*645*420"/>
</p:tagLst>
</file>

<file path=ppt/theme/theme1.xml><?xml version="1.0" encoding="utf-8"?>
<a:theme xmlns:a="http://schemas.openxmlformats.org/drawingml/2006/main" name="Office 主题">
  <a:themeElements>
    <a:clrScheme name="自定义 237">
      <a:dk1>
        <a:sysClr val="windowText" lastClr="000000"/>
      </a:dk1>
      <a:lt1>
        <a:sysClr val="window" lastClr="FFFFFF"/>
      </a:lt1>
      <a:dk2>
        <a:srgbClr val="1F497D"/>
      </a:dk2>
      <a:lt2>
        <a:srgbClr val="EEECE1"/>
      </a:lt2>
      <a:accent1>
        <a:srgbClr val="005DA2"/>
      </a:accent1>
      <a:accent2>
        <a:srgbClr val="C4C7CB"/>
      </a:accent2>
      <a:accent3>
        <a:srgbClr val="7F7F7F"/>
      </a:accent3>
      <a:accent4>
        <a:srgbClr val="7F7F7F"/>
      </a:accent4>
      <a:accent5>
        <a:srgbClr val="7F7F7F"/>
      </a:accent5>
      <a:accent6>
        <a:srgbClr val="7F7F7F"/>
      </a:accent6>
      <a:hlink>
        <a:srgbClr val="17365D"/>
      </a:hlink>
      <a:folHlink>
        <a:srgbClr val="548DD4"/>
      </a:folHlink>
    </a:clrScheme>
    <a:fontScheme name="ud0ofpxa">
      <a:majorFont>
        <a:latin typeface="字魂105号-简雅黑"/>
        <a:ea typeface="字魂105号-简雅黑"/>
        <a:cs typeface=""/>
      </a:majorFont>
      <a:minorFont>
        <a:latin typeface="字魂105号-简雅黑"/>
        <a:ea typeface="字魂105号-简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none" rtlCol="0">
        <a:spAutoFit/>
      </a:bodyPr>
      <a:lstStyle>
        <a:defPPr>
          <a:defRPr sz="1200" dirty="0" smtClean="0">
            <a:solidFill>
              <a:schemeClr val="tx1">
                <a:lumMod val="75000"/>
                <a:lumOff val="25000"/>
              </a:schemeClr>
            </a:solidFill>
            <a:latin typeface="微软雅黑" panose="020B0503020204020204" pitchFamily="34" charset="-122"/>
            <a:ea typeface="微软雅黑" panose="020B0503020204020204" pitchFamily="34"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4081</TotalTime>
  <Words>15193</Words>
  <Application>Microsoft Office PowerPoint</Application>
  <PresentationFormat>自定义</PresentationFormat>
  <Paragraphs>2427</Paragraphs>
  <Slides>149</Slides>
  <Notes>132</Notes>
  <HiddenSlides>0</HiddenSlides>
  <MMClips>0</MMClips>
  <ScaleCrop>false</ScaleCrop>
  <HeadingPairs>
    <vt:vector size="8" baseType="variant">
      <vt:variant>
        <vt:lpstr>已用的字体</vt:lpstr>
      </vt:variant>
      <vt:variant>
        <vt:i4>8</vt:i4>
      </vt:variant>
      <vt:variant>
        <vt:lpstr>主题</vt:lpstr>
      </vt:variant>
      <vt:variant>
        <vt:i4>1</vt:i4>
      </vt:variant>
      <vt:variant>
        <vt:lpstr>嵌入 OLE 服务器</vt:lpstr>
      </vt:variant>
      <vt:variant>
        <vt:i4>2</vt:i4>
      </vt:variant>
      <vt:variant>
        <vt:lpstr>幻灯片标题</vt:lpstr>
      </vt:variant>
      <vt:variant>
        <vt:i4>149</vt:i4>
      </vt:variant>
    </vt:vector>
  </HeadingPairs>
  <TitlesOfParts>
    <vt:vector size="160" baseType="lpstr">
      <vt:lpstr>±¼¸²</vt:lpstr>
      <vt:lpstr>楷体</vt:lpstr>
      <vt:lpstr>微软雅黑</vt:lpstr>
      <vt:lpstr>字魂105号-简雅黑</vt:lpstr>
      <vt:lpstr>Arial</vt:lpstr>
      <vt:lpstr>Calibri</vt:lpstr>
      <vt:lpstr>Times New Roman</vt:lpstr>
      <vt:lpstr>Wingdings</vt:lpstr>
      <vt:lpstr>Office 主题</vt:lpstr>
      <vt:lpstr>Microsoft Visio 2003-2010 Drawing</vt:lpstr>
      <vt:lpstr>Microsoft Visio 2003-2010 绘图</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磊 饶</cp:lastModifiedBy>
  <cp:revision>27</cp:revision>
  <dcterms:created xsi:type="dcterms:W3CDTF">2020-09-03T07:01:00Z</dcterms:created>
  <dcterms:modified xsi:type="dcterms:W3CDTF">2025-12-12T09:45:09Z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2052-12.1.0.15120</vt:lpwstr>
  </property>
  <property fmtid="{D5CDD505-2E9C-101B-9397-08002B2CF9AE}" pid="3" name="ICV">
    <vt:lpwstr>73267FFA9B5E4B43A6BD5025191E9EAE_13</vt:lpwstr>
  </property>
</Properties>
</file>