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51.xml" ContentType="application/vnd.openxmlformats-officedocument.presentationml.tags+xml"/>
  <Override PartName="/ppt/notesSlides/notesSlide56.xml" ContentType="application/vnd.openxmlformats-officedocument.presentationml.notesSlide+xml"/>
  <Override PartName="/ppt/tags/tag52.xml" ContentType="application/vnd.openxmlformats-officedocument.presentationml.tags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tags/tag68.xml" ContentType="application/vnd.openxmlformats-officedocument.presentationml.tags+xml"/>
  <Override PartName="/ppt/notesSlides/notesSlide89.xml" ContentType="application/vnd.openxmlformats-officedocument.presentationml.notesSlide+xml"/>
  <Override PartName="/ppt/tags/tag69.xml" ContentType="application/vnd.openxmlformats-officedocument.presentationml.tags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0"/>
  </p:notesMasterIdLst>
  <p:handoutMasterIdLst>
    <p:handoutMasterId r:id="rId111"/>
  </p:handoutMasterIdLst>
  <p:sldIdLst>
    <p:sldId id="1940" r:id="rId2"/>
    <p:sldId id="1944" r:id="rId3"/>
    <p:sldId id="1946" r:id="rId4"/>
    <p:sldId id="1947" r:id="rId5"/>
    <p:sldId id="1948" r:id="rId6"/>
    <p:sldId id="1949" r:id="rId7"/>
    <p:sldId id="1950" r:id="rId8"/>
    <p:sldId id="1951" r:id="rId9"/>
    <p:sldId id="1952" r:id="rId10"/>
    <p:sldId id="1953" r:id="rId11"/>
    <p:sldId id="1954" r:id="rId12"/>
    <p:sldId id="1955" r:id="rId13"/>
    <p:sldId id="1956" r:id="rId14"/>
    <p:sldId id="1957" r:id="rId15"/>
    <p:sldId id="1958" r:id="rId16"/>
    <p:sldId id="1959" r:id="rId17"/>
    <p:sldId id="1960" r:id="rId18"/>
    <p:sldId id="1961" r:id="rId19"/>
    <p:sldId id="1962" r:id="rId20"/>
    <p:sldId id="1963" r:id="rId21"/>
    <p:sldId id="1964" r:id="rId22"/>
    <p:sldId id="1965" r:id="rId23"/>
    <p:sldId id="1966" r:id="rId24"/>
    <p:sldId id="1967" r:id="rId25"/>
    <p:sldId id="1968" r:id="rId26"/>
    <p:sldId id="1969" r:id="rId27"/>
    <p:sldId id="1970" r:id="rId28"/>
    <p:sldId id="1971" r:id="rId29"/>
    <p:sldId id="1972" r:id="rId30"/>
    <p:sldId id="1973" r:id="rId31"/>
    <p:sldId id="1974" r:id="rId32"/>
    <p:sldId id="1975" r:id="rId33"/>
    <p:sldId id="1976" r:id="rId34"/>
    <p:sldId id="1977" r:id="rId35"/>
    <p:sldId id="1978" r:id="rId36"/>
    <p:sldId id="1979" r:id="rId37"/>
    <p:sldId id="1980" r:id="rId38"/>
    <p:sldId id="1981" r:id="rId39"/>
    <p:sldId id="1982" r:id="rId40"/>
    <p:sldId id="1983" r:id="rId41"/>
    <p:sldId id="1984" r:id="rId42"/>
    <p:sldId id="1985" r:id="rId43"/>
    <p:sldId id="1986" r:id="rId44"/>
    <p:sldId id="1987" r:id="rId45"/>
    <p:sldId id="1988" r:id="rId46"/>
    <p:sldId id="1989" r:id="rId47"/>
    <p:sldId id="1990" r:id="rId48"/>
    <p:sldId id="1991" r:id="rId49"/>
    <p:sldId id="1992" r:id="rId50"/>
    <p:sldId id="1993" r:id="rId51"/>
    <p:sldId id="2072" r:id="rId52"/>
    <p:sldId id="2073" r:id="rId53"/>
    <p:sldId id="1995" r:id="rId54"/>
    <p:sldId id="1996" r:id="rId55"/>
    <p:sldId id="2002" r:id="rId56"/>
    <p:sldId id="2003" r:id="rId57"/>
    <p:sldId id="2004" r:id="rId58"/>
    <p:sldId id="2005" r:id="rId59"/>
    <p:sldId id="2006" r:id="rId60"/>
    <p:sldId id="2007" r:id="rId61"/>
    <p:sldId id="2013" r:id="rId62"/>
    <p:sldId id="2014" r:id="rId63"/>
    <p:sldId id="2015" r:id="rId64"/>
    <p:sldId id="2016" r:id="rId65"/>
    <p:sldId id="2018" r:id="rId66"/>
    <p:sldId id="2019" r:id="rId67"/>
    <p:sldId id="2008" r:id="rId68"/>
    <p:sldId id="2009" r:id="rId69"/>
    <p:sldId id="2010" r:id="rId70"/>
    <p:sldId id="2074" r:id="rId71"/>
    <p:sldId id="2075" r:id="rId72"/>
    <p:sldId id="2076" r:id="rId73"/>
    <p:sldId id="2077" r:id="rId74"/>
    <p:sldId id="2012" r:id="rId75"/>
    <p:sldId id="2021" r:id="rId76"/>
    <p:sldId id="2022" r:id="rId77"/>
    <p:sldId id="2023" r:id="rId78"/>
    <p:sldId id="2024" r:id="rId79"/>
    <p:sldId id="2025" r:id="rId80"/>
    <p:sldId id="2026" r:id="rId81"/>
    <p:sldId id="2027" r:id="rId82"/>
    <p:sldId id="2028" r:id="rId83"/>
    <p:sldId id="2029" r:id="rId84"/>
    <p:sldId id="2031" r:id="rId85"/>
    <p:sldId id="2032" r:id="rId86"/>
    <p:sldId id="2033" r:id="rId87"/>
    <p:sldId id="2034" r:id="rId88"/>
    <p:sldId id="2035" r:id="rId89"/>
    <p:sldId id="2036" r:id="rId90"/>
    <p:sldId id="2037" r:id="rId91"/>
    <p:sldId id="2038" r:id="rId92"/>
    <p:sldId id="2078" r:id="rId93"/>
    <p:sldId id="2079" r:id="rId94"/>
    <p:sldId id="2039" r:id="rId95"/>
    <p:sldId id="2040" r:id="rId96"/>
    <p:sldId id="2041" r:id="rId97"/>
    <p:sldId id="2045" r:id="rId98"/>
    <p:sldId id="2047" r:id="rId99"/>
    <p:sldId id="2048" r:id="rId100"/>
    <p:sldId id="2049" r:id="rId101"/>
    <p:sldId id="2050" r:id="rId102"/>
    <p:sldId id="2083" r:id="rId103"/>
    <p:sldId id="2084" r:id="rId104"/>
    <p:sldId id="2052" r:id="rId105"/>
    <p:sldId id="2080" r:id="rId106"/>
    <p:sldId id="2081" r:id="rId107"/>
    <p:sldId id="2082" r:id="rId108"/>
    <p:sldId id="2071" r:id="rId109"/>
  </p:sldIdLst>
  <p:sldSz cx="12190413" cy="6859588"/>
  <p:notesSz cx="6858000" cy="9144000"/>
  <p:custDataLst>
    <p:tags r:id="rId11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72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31">
          <p15:clr>
            <a:srgbClr val="A4A3A4"/>
          </p15:clr>
        </p15:guide>
        <p15:guide id="2" pos="22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方思" initials="mfs" lastIdx="1" clrIdx="0"/>
  <p:cmAuthor id="2" name="LD" initials="L" lastIdx="2" clrIdx="1"/>
  <p:cmAuthor id="3" name="Lv0593" initials="L" lastIdx="15" clrIdx="2"/>
  <p:cmAuthor id="4" name="Administrator" initials="A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595959"/>
    <a:srgbClr val="1369B2"/>
    <a:srgbClr val="FAFAFA"/>
    <a:srgbClr val="F2F2F2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590" autoAdjust="0"/>
  </p:normalViewPr>
  <p:slideViewPr>
    <p:cSldViewPr showGuides="1">
      <p:cViewPr varScale="1">
        <p:scale>
          <a:sx n="115" d="100"/>
          <a:sy n="115" d="100"/>
        </p:scale>
        <p:origin x="552" y="67"/>
      </p:cViewPr>
      <p:guideLst>
        <p:guide orient="horz" pos="2274"/>
        <p:guide pos="619"/>
        <p:guide pos="72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3031"/>
        <p:guide pos="2216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commentAuthors" Target="comment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284F3-D7BF-9860-30C5-2129C1837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A872C9-87B1-C42D-F2D7-CFEE07218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AA0CC3-0C42-6FA2-085A-325B7BB05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910E78-0543-22B5-A84D-E52903210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066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D4C4-175A-791C-A648-EBF04D15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3DAAB8-88A3-B0D2-125D-9EA1FA085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4410FC-485A-3ED2-06E3-124DF09DB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A38FF-44E4-219B-4075-A91BFFE79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8125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6219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8193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8026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7778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72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4270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89E2-8825-69EE-45B0-3F8B0EB2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D3F7B-5B69-5AD7-2EC5-789728902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C6EDFD-7667-5461-A567-1D69EB976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8E7123-95C0-3DA3-2139-7F11CFBFC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49126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C6FE-20D6-A34B-C3CC-A1D29334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C31B73-25A1-EC5F-0432-81C43C002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15FF8-2279-1189-3F2C-47F4701DE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85E17-91DF-63CC-FCBA-7EEEBFB17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384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847B-A1D1-C728-C843-8630AA8D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01F3BA-DF3C-1C64-095C-5BE64EABC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F368CB-8B1A-99EA-D30C-AD8219456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467292-1C22-33CF-45DF-4E3DF8D96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43863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C543-5FBF-579D-A64B-74A1B89E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89FA5F-143C-C006-70F6-C97C32A32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791C25-46DD-8E05-3933-562D10726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507AB-5ED4-4E69-6E67-D8750E9E0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9780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2E7E-1D5C-D2DC-6445-03D0586C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5D25C8-F1B4-6CFC-CADE-DF95DF24A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988F0A-5A6C-B3D4-F4D8-71039B5D3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8E568-CB81-C1AD-9B4F-51D24C0F7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04300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0A99-6506-4CF5-C611-94373EB4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F1899B-07F6-0094-47EB-EA5E8D7F0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BB5F1A-BD62-E269-B391-E32D745C4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BE8CDE-5B73-A96C-E843-0C8EAB935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23585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31221-1455-BDAD-3DE6-D524EA0B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FF2A8D-AA35-BC9A-D5C3-9988C83C2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347FE1-BC6A-EC76-9931-2B28D875F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5F73C3-C275-074A-DC8B-6A03CF566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37607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6A791-CFA4-1A4D-6A8A-E34E3745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BB1A2B-99DD-1168-C86F-EC351C3B2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FC766F-55FC-FB07-FACF-4D1A954CD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A91AB0-6634-A084-5562-FF6DBFBB6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8997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03D4C-6B0F-5865-F927-ABD4D9B2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D09311-9695-0451-ECD2-AA1B11309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474B15-3789-A91B-EC46-29D2ADCAC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69401E-9616-FB0E-40C5-E0ADF0B67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64183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7984-3DE5-4769-77C3-8E0804AA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84A6-FA26-7D12-FDAC-9C0E407CC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B306E7-7007-ECE8-0444-EA0D44272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12D2FB-F537-BFB3-4D92-2AAC841D8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21696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FE9C-3B31-8631-E604-66715CD0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EC219B-6B7D-C0BC-0D4C-EE288EF67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05D3F4-EC3A-49E3-EA35-634F39660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60CEF0-F433-2F27-809D-E54DA098D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52469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5794"/>
            <a:ext cx="12190413" cy="2413577"/>
            <a:chOff x="170694" y="178255"/>
            <a:chExt cx="3936004" cy="779007"/>
          </a:xfrm>
        </p:grpSpPr>
        <p:sp>
          <p:nvSpPr>
            <p:cNvPr id="44" name="等腰三角形 43"/>
            <p:cNvSpPr/>
            <p:nvPr/>
          </p:nvSpPr>
          <p:spPr>
            <a:xfrm>
              <a:off x="1270819" y="178255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70694" y="600746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666" y="178257"/>
              <a:ext cx="1100951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8484731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756764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620748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5028797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892781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8108FB-6842-627F-446A-40712F63B9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24663" y="49251"/>
            <a:ext cx="2631023" cy="682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27255D-5532-1EB8-0E59-8B8C5E9367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615206" y="3218535"/>
            <a:ext cx="3342857" cy="3542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A380A921-C5DF-A3DC-F880-BB113E45B8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2086" y="477794"/>
            <a:ext cx="2631023" cy="682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334510" y="2411730"/>
            <a:ext cx="4063365" cy="11068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6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A2316C-0DC2-CE5B-6560-74E56A347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615206" y="3218535"/>
            <a:ext cx="3342857" cy="3542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7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9.xml"/><Relationship Id="rId5" Type="http://schemas.openxmlformats.org/officeDocument/2006/relationships/slide" Target="slide68.xml"/><Relationship Id="rId4" Type="http://schemas.openxmlformats.org/officeDocument/2006/relationships/slide" Target="slide6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notesSlide" Target="../notesSlides/notesSlide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notesSlide" Target="../notesSlides/notesSlide23.xml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notesSlide" Target="../notesSlides/notesSlide38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notesSlide" Target="../notesSlides/notesSlide63.xml"/><Relationship Id="rId2" Type="http://schemas.openxmlformats.org/officeDocument/2006/relationships/tags" Target="../tags/tag54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ium/appium-desktop/releases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.100:4723/wd/hub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4725/wd/hub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3917228" y="2781794"/>
            <a:ext cx="435595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7</a:t>
            </a:r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</a:t>
            </a:r>
            <a:r>
              <a:rPr lang="en-US" sz="45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A</a:t>
            </a:r>
            <a:r>
              <a:rPr lang="en-US" altLang="zh-CN" sz="45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pp</a:t>
            </a:r>
            <a:r>
              <a:rPr sz="45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测试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379206" y="2205794"/>
            <a:ext cx="9432000" cy="330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互动性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等特点被广泛应用于人们的日常生活。随着移动设备的普及，越来越多的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做了适配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淘宝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等，这些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只需要安装在移动设备上就能随时随地使用。由于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移动设备的使用环境比较复杂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在正式上线前都需要进行测试，如果没有经过测试就直接上线，可能会出现一系列问题，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用户信息的泄露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的崩溃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使用过程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经常卡顿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这些问题不但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的维护成本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影响用户的使用体验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。由此可见，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的质量保证离不开测试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。本章将对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的相关知识进行讲解。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App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测试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概述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测试概述，能够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端软件测试的区别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5133404" y="2248279"/>
            <a:ext cx="6337138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defTabSz="121666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Application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，应用程序）是指为实现特定功能或满足特定需求而设计的、可在各类电子终端（包括电脑、手机、平板电脑、智能设备等）上运行的计算机软件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。随着智能手机、平板电脑的普及，“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App”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的日常语境逐渐偏向 “移动应用”（即移动设备上的软件），但这并不意味着它的定义只能局限于移动设备。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09076" y="1142599"/>
            <a:ext cx="7038130" cy="1478033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19207" y="925063"/>
            <a:ext cx="3312000" cy="4366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设备多样性</a:t>
            </a:r>
          </a:p>
        </p:txBody>
      </p:sp>
      <p:sp>
        <p:nvSpPr>
          <p:cNvPr id="8" name="六边形 7"/>
          <p:cNvSpPr/>
          <p:nvPr/>
        </p:nvSpPr>
        <p:spPr>
          <a:xfrm>
            <a:off x="1143691" y="3092560"/>
            <a:ext cx="1648410" cy="1453679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的特性</a:t>
            </a:r>
          </a:p>
        </p:txBody>
      </p:sp>
      <p:cxnSp>
        <p:nvCxnSpPr>
          <p:cNvPr id="9" name="直接箭头连接符 8"/>
          <p:cNvCxnSpPr>
            <a:stCxn id="8" idx="5"/>
            <a:endCxn id="6" idx="1"/>
          </p:cNvCxnSpPr>
          <p:nvPr/>
        </p:nvCxnSpPr>
        <p:spPr>
          <a:xfrm flipV="1">
            <a:off x="2428681" y="1881616"/>
            <a:ext cx="1380395" cy="12109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0"/>
            <a:endCxn id="15" idx="1"/>
          </p:cNvCxnSpPr>
          <p:nvPr/>
        </p:nvCxnSpPr>
        <p:spPr>
          <a:xfrm>
            <a:off x="2792101" y="3819400"/>
            <a:ext cx="102957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cxnSpLocks/>
            <a:stCxn id="8" idx="1"/>
            <a:endCxn id="19" idx="1"/>
          </p:cNvCxnSpPr>
          <p:nvPr/>
        </p:nvCxnSpPr>
        <p:spPr>
          <a:xfrm>
            <a:off x="2428681" y="4546239"/>
            <a:ext cx="1366997" cy="11993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44140" y="1419172"/>
            <a:ext cx="7017473" cy="1052598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 indent="457200" algn="just">
              <a:lnSpc>
                <a:spcPct val="130000"/>
              </a:lnSpc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端软件都是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安装在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计算机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600" dirty="0"/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而可以安装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App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的设备比较多，例如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手机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平板电脑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智能手表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等，这些设备轻巧便携，满足了用户对移动生活、工作的强烈需求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21676" y="3019185"/>
            <a:ext cx="7030450" cy="160043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19207" y="2811892"/>
            <a:ext cx="3312000" cy="4366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5" tIns="45721" rIns="91445" bIns="45721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网络多样性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4140" y="3293101"/>
            <a:ext cx="6768001" cy="137268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 lvl="0" indent="457200" algn="just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PC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端软件一般都是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通过计算机连接有线网络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进行使用的，虽然现代的计算机也可以连接无线网络，但是这些网络都是比较稳定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通过移动设备连接移动通信网络或无线网络进行使用，例如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3G、4G、5G、Wi-Fi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95678" y="4965327"/>
            <a:ext cx="7051527" cy="1560466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19207" y="4758035"/>
            <a:ext cx="3312000" cy="4366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5" tIns="45721" rIns="91445" bIns="45721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平台多样性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4140" y="5234842"/>
            <a:ext cx="6768001" cy="1341523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 lvl="0" indent="457200" algn="just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PC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端软件所依赖的平台主要有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Windows、macOS、Linux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等，种类相对较少，而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App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所依赖的平台则有很多种，例如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iOS、Android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、鸿蒙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、Windows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Phone、BlackBerry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其中使用较多的平台是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iOS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和Android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6" y="1773794"/>
            <a:ext cx="712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无论是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，都离不开测试的基础知识，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它们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测试的流程和方法基本相同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端软件测试都需要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检查界面的布局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可以使用同样的测试方法设计测试用例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如边界值分析法、等价类划分法等。</a:t>
            </a:r>
          </a:p>
        </p:txBody>
      </p:sp>
      <p:pic>
        <p:nvPicPr>
          <p:cNvPr id="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2012"/>
          <p:cNvSpPr/>
          <p:nvPr/>
        </p:nvSpPr>
        <p:spPr>
          <a:xfrm>
            <a:off x="7160739" y="1341794"/>
            <a:ext cx="4367782" cy="225449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2013"/>
          <p:cNvSpPr/>
          <p:nvPr/>
        </p:nvSpPr>
        <p:spPr>
          <a:xfrm>
            <a:off x="7160739" y="3840148"/>
            <a:ext cx="4367782" cy="2181646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2014"/>
          <p:cNvSpPr/>
          <p:nvPr/>
        </p:nvSpPr>
        <p:spPr>
          <a:xfrm>
            <a:off x="983206" y="3839254"/>
            <a:ext cx="4265433" cy="218254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Shape 2015"/>
          <p:cNvSpPr/>
          <p:nvPr/>
        </p:nvSpPr>
        <p:spPr>
          <a:xfrm>
            <a:off x="983206" y="1341794"/>
            <a:ext cx="4265433" cy="225449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2016"/>
          <p:cNvSpPr/>
          <p:nvPr/>
        </p:nvSpPr>
        <p:spPr>
          <a:xfrm>
            <a:off x="4757242" y="2277313"/>
            <a:ext cx="2887903" cy="2887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2021"/>
          <p:cNvSpPr/>
          <p:nvPr/>
        </p:nvSpPr>
        <p:spPr>
          <a:xfrm>
            <a:off x="1120785" y="1741228"/>
            <a:ext cx="3662751" cy="175378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indent="457200" algn="just"/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对于PC端软件，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计算机设备屏幕比较大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可以同时显示很多信息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，用户可以快速看到屏幕上显示的所有信息，页面布局比较灵活。但是对于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App，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移动设备屏幕小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显示的信息有限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，在测试时需要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考虑布局是否合理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Shape 2022"/>
          <p:cNvSpPr/>
          <p:nvPr/>
        </p:nvSpPr>
        <p:spPr>
          <a:xfrm>
            <a:off x="1113364" y="1339613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页面布局不同</a:t>
            </a:r>
          </a:p>
        </p:txBody>
      </p:sp>
      <p:sp>
        <p:nvSpPr>
          <p:cNvPr id="14" name="Shape 2023"/>
          <p:cNvSpPr/>
          <p:nvPr/>
        </p:nvSpPr>
        <p:spPr>
          <a:xfrm>
            <a:off x="1147080" y="4366906"/>
            <a:ext cx="3585080" cy="143888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indent="457200" algn="just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端软件大多使用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进行输入，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在移动设备上使用时，输入方法比较多，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触屏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电容笔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语音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测试时需要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测试多种输入方法是否都能正常使用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5" name="Shape 2024"/>
          <p:cNvSpPr/>
          <p:nvPr/>
        </p:nvSpPr>
        <p:spPr>
          <a:xfrm>
            <a:off x="1147080" y="3878642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输入方法不同</a:t>
            </a:r>
          </a:p>
        </p:txBody>
      </p:sp>
      <p:sp>
        <p:nvSpPr>
          <p:cNvPr id="16" name="Shape 2025"/>
          <p:cNvSpPr/>
          <p:nvPr/>
        </p:nvSpPr>
        <p:spPr>
          <a:xfrm>
            <a:off x="7670227" y="1822474"/>
            <a:ext cx="3774036" cy="17452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indent="457200" algn="just"/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使用地点比较固定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网络信号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相对也比较稳定；而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使用地点不固定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网络信号相对也不稳定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，测试时需要考虑网络信号较差的情况下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的使用情况。此外，还要考虑在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移动设备电量不足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的情况下，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是否能正常使用。</a:t>
            </a:r>
          </a:p>
          <a:p>
            <a:pPr indent="457200" algn="just"/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Shape 2026"/>
          <p:cNvSpPr/>
          <p:nvPr/>
        </p:nvSpPr>
        <p:spPr>
          <a:xfrm>
            <a:off x="7645145" y="1347383"/>
            <a:ext cx="1400469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使用场合不同</a:t>
            </a:r>
          </a:p>
        </p:txBody>
      </p:sp>
      <p:sp>
        <p:nvSpPr>
          <p:cNvPr id="18" name="Shape 2027"/>
          <p:cNvSpPr/>
          <p:nvPr/>
        </p:nvSpPr>
        <p:spPr>
          <a:xfrm>
            <a:off x="7599431" y="4439346"/>
            <a:ext cx="3819750" cy="1366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indent="457200" algn="l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端软件使用鼠标可以精确操作，而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在移动设备上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使用时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大多是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触屏操作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，点击时误差较大，且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不支持鼠标指针悬停事件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9" name="Shape 2028"/>
          <p:cNvSpPr/>
          <p:nvPr/>
        </p:nvSpPr>
        <p:spPr>
          <a:xfrm>
            <a:off x="7645145" y="3899870"/>
            <a:ext cx="1500713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操作方式不同</a:t>
            </a:r>
          </a:p>
        </p:txBody>
      </p:sp>
      <p:sp>
        <p:nvSpPr>
          <p:cNvPr id="20" name="Text Placeholder 5"/>
          <p:cNvSpPr txBox="1"/>
          <p:nvPr/>
        </p:nvSpPr>
        <p:spPr>
          <a:xfrm>
            <a:off x="5148876" y="2941581"/>
            <a:ext cx="2103883" cy="15593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端软件在测试方面的区别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1857248" y="1613373"/>
            <a:ext cx="2710273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53746" y="1706011"/>
            <a:ext cx="263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测试的流程</a:t>
            </a:r>
            <a:endParaRPr lang="zh-CN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99206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86905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206" y="2997794"/>
            <a:ext cx="10207516" cy="215578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测试的流程与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端软件测试的流程大体相同，在测试之前都需要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分析需求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制定测试计划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编写测试用例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等。相对于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端软件测试，在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测试的过程中，测试人员除了要考虑基本的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本身固有的属性特征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展开专项测试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具体实施细节上也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PC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端软件测试并不相同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 App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测试概述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5302" y="1676512"/>
            <a:ext cx="5460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测试的流程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通常包括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个环节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13"/>
          <p:cNvSpPr>
            <a:spLocks noEditPoints="1"/>
          </p:cNvSpPr>
          <p:nvPr/>
        </p:nvSpPr>
        <p:spPr bwMode="auto">
          <a:xfrm>
            <a:off x="1768102" y="2825096"/>
            <a:ext cx="594092" cy="682686"/>
          </a:xfrm>
          <a:custGeom>
            <a:avLst/>
            <a:gdLst>
              <a:gd name="T0" fmla="*/ 27 w 94"/>
              <a:gd name="T1" fmla="*/ 39 h 108"/>
              <a:gd name="T2" fmla="*/ 52 w 94"/>
              <a:gd name="T3" fmla="*/ 37 h 108"/>
              <a:gd name="T4" fmla="*/ 93 w 94"/>
              <a:gd name="T5" fmla="*/ 58 h 108"/>
              <a:gd name="T6" fmla="*/ 90 w 94"/>
              <a:gd name="T7" fmla="*/ 50 h 108"/>
              <a:gd name="T8" fmla="*/ 88 w 94"/>
              <a:gd name="T9" fmla="*/ 43 h 108"/>
              <a:gd name="T10" fmla="*/ 89 w 94"/>
              <a:gd name="T11" fmla="*/ 39 h 108"/>
              <a:gd name="T12" fmla="*/ 87 w 94"/>
              <a:gd name="T13" fmla="*/ 32 h 108"/>
              <a:gd name="T14" fmla="*/ 84 w 94"/>
              <a:gd name="T15" fmla="*/ 25 h 108"/>
              <a:gd name="T16" fmla="*/ 84 w 94"/>
              <a:gd name="T17" fmla="*/ 19 h 108"/>
              <a:gd name="T18" fmla="*/ 80 w 94"/>
              <a:gd name="T19" fmla="*/ 14 h 108"/>
              <a:gd name="T20" fmla="*/ 76 w 94"/>
              <a:gd name="T21" fmla="*/ 10 h 108"/>
              <a:gd name="T22" fmla="*/ 75 w 94"/>
              <a:gd name="T23" fmla="*/ 7 h 108"/>
              <a:gd name="T24" fmla="*/ 70 w 94"/>
              <a:gd name="T25" fmla="*/ 4 h 108"/>
              <a:gd name="T26" fmla="*/ 65 w 94"/>
              <a:gd name="T27" fmla="*/ 2 h 108"/>
              <a:gd name="T28" fmla="*/ 58 w 94"/>
              <a:gd name="T29" fmla="*/ 1 h 108"/>
              <a:gd name="T30" fmla="*/ 51 w 94"/>
              <a:gd name="T31" fmla="*/ 0 h 108"/>
              <a:gd name="T32" fmla="*/ 45 w 94"/>
              <a:gd name="T33" fmla="*/ 0 h 108"/>
              <a:gd name="T34" fmla="*/ 38 w 94"/>
              <a:gd name="T35" fmla="*/ 1 h 108"/>
              <a:gd name="T36" fmla="*/ 31 w 94"/>
              <a:gd name="T37" fmla="*/ 2 h 108"/>
              <a:gd name="T38" fmla="*/ 24 w 94"/>
              <a:gd name="T39" fmla="*/ 4 h 108"/>
              <a:gd name="T40" fmla="*/ 18 w 94"/>
              <a:gd name="T41" fmla="*/ 8 h 108"/>
              <a:gd name="T42" fmla="*/ 13 w 94"/>
              <a:gd name="T43" fmla="*/ 12 h 108"/>
              <a:gd name="T44" fmla="*/ 8 w 94"/>
              <a:gd name="T45" fmla="*/ 17 h 108"/>
              <a:gd name="T46" fmla="*/ 5 w 94"/>
              <a:gd name="T47" fmla="*/ 22 h 108"/>
              <a:gd name="T48" fmla="*/ 2 w 94"/>
              <a:gd name="T49" fmla="*/ 28 h 108"/>
              <a:gd name="T50" fmla="*/ 0 w 94"/>
              <a:gd name="T51" fmla="*/ 36 h 108"/>
              <a:gd name="T52" fmla="*/ 1 w 94"/>
              <a:gd name="T53" fmla="*/ 49 h 108"/>
              <a:gd name="T54" fmla="*/ 24 w 94"/>
              <a:gd name="T55" fmla="*/ 97 h 108"/>
              <a:gd name="T56" fmla="*/ 71 w 94"/>
              <a:gd name="T57" fmla="*/ 107 h 108"/>
              <a:gd name="T58" fmla="*/ 72 w 94"/>
              <a:gd name="T59" fmla="*/ 93 h 108"/>
              <a:gd name="T60" fmla="*/ 73 w 94"/>
              <a:gd name="T61" fmla="*/ 90 h 108"/>
              <a:gd name="T62" fmla="*/ 76 w 94"/>
              <a:gd name="T63" fmla="*/ 89 h 108"/>
              <a:gd name="T64" fmla="*/ 79 w 94"/>
              <a:gd name="T65" fmla="*/ 89 h 108"/>
              <a:gd name="T66" fmla="*/ 82 w 94"/>
              <a:gd name="T67" fmla="*/ 90 h 108"/>
              <a:gd name="T68" fmla="*/ 83 w 94"/>
              <a:gd name="T69" fmla="*/ 90 h 108"/>
              <a:gd name="T70" fmla="*/ 86 w 94"/>
              <a:gd name="T71" fmla="*/ 90 h 108"/>
              <a:gd name="T72" fmla="*/ 89 w 94"/>
              <a:gd name="T73" fmla="*/ 88 h 108"/>
              <a:gd name="T74" fmla="*/ 89 w 94"/>
              <a:gd name="T75" fmla="*/ 84 h 108"/>
              <a:gd name="T76" fmla="*/ 90 w 94"/>
              <a:gd name="T77" fmla="*/ 81 h 108"/>
              <a:gd name="T78" fmla="*/ 91 w 94"/>
              <a:gd name="T79" fmla="*/ 79 h 108"/>
              <a:gd name="T80" fmla="*/ 90 w 94"/>
              <a:gd name="T81" fmla="*/ 77 h 108"/>
              <a:gd name="T82" fmla="*/ 89 w 94"/>
              <a:gd name="T83" fmla="*/ 75 h 108"/>
              <a:gd name="T84" fmla="*/ 90 w 94"/>
              <a:gd name="T85" fmla="*/ 73 h 108"/>
              <a:gd name="T86" fmla="*/ 91 w 94"/>
              <a:gd name="T87" fmla="*/ 71 h 108"/>
              <a:gd name="T88" fmla="*/ 90 w 94"/>
              <a:gd name="T89" fmla="*/ 66 h 108"/>
              <a:gd name="T90" fmla="*/ 92 w 94"/>
              <a:gd name="T91" fmla="*/ 63 h 108"/>
              <a:gd name="T92" fmla="*/ 94 w 94"/>
              <a:gd name="T93" fmla="*/ 61 h 108"/>
              <a:gd name="T94" fmla="*/ 28 w 94"/>
              <a:gd name="T95" fmla="*/ 46 h 108"/>
              <a:gd name="T96" fmla="*/ 22 w 94"/>
              <a:gd name="T97" fmla="*/ 47 h 108"/>
              <a:gd name="T98" fmla="*/ 18 w 94"/>
              <a:gd name="T99" fmla="*/ 44 h 108"/>
              <a:gd name="T100" fmla="*/ 17 w 94"/>
              <a:gd name="T101" fmla="*/ 38 h 108"/>
              <a:gd name="T102" fmla="*/ 20 w 94"/>
              <a:gd name="T103" fmla="*/ 33 h 108"/>
              <a:gd name="T104" fmla="*/ 26 w 94"/>
              <a:gd name="T105" fmla="*/ 33 h 108"/>
              <a:gd name="T106" fmla="*/ 30 w 94"/>
              <a:gd name="T107" fmla="*/ 36 h 108"/>
              <a:gd name="T108" fmla="*/ 31 w 94"/>
              <a:gd name="T109" fmla="*/ 42 h 108"/>
              <a:gd name="T110" fmla="*/ 67 w 94"/>
              <a:gd name="T111" fmla="*/ 35 h 108"/>
              <a:gd name="T112" fmla="*/ 59 w 94"/>
              <a:gd name="T113" fmla="*/ 44 h 108"/>
              <a:gd name="T114" fmla="*/ 47 w 94"/>
              <a:gd name="T115" fmla="*/ 45 h 108"/>
              <a:gd name="T116" fmla="*/ 38 w 94"/>
              <a:gd name="T117" fmla="*/ 37 h 108"/>
              <a:gd name="T118" fmla="*/ 37 w 94"/>
              <a:gd name="T119" fmla="*/ 25 h 108"/>
              <a:gd name="T120" fmla="*/ 45 w 94"/>
              <a:gd name="T121" fmla="*/ 16 h 108"/>
              <a:gd name="T122" fmla="*/ 57 w 94"/>
              <a:gd name="T123" fmla="*/ 15 h 108"/>
              <a:gd name="T124" fmla="*/ 66 w 94"/>
              <a:gd name="T125" fmla="*/ 23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4" h="108">
                <a:moveTo>
                  <a:pt x="25" y="43"/>
                </a:moveTo>
                <a:cubicBezTo>
                  <a:pt x="23" y="43"/>
                  <a:pt x="22" y="42"/>
                  <a:pt x="21" y="41"/>
                </a:cubicBezTo>
                <a:cubicBezTo>
                  <a:pt x="21" y="39"/>
                  <a:pt x="22" y="37"/>
                  <a:pt x="23" y="37"/>
                </a:cubicBezTo>
                <a:cubicBezTo>
                  <a:pt x="25" y="36"/>
                  <a:pt x="27" y="37"/>
                  <a:pt x="27" y="39"/>
                </a:cubicBezTo>
                <a:cubicBezTo>
                  <a:pt x="28" y="41"/>
                  <a:pt x="27" y="43"/>
                  <a:pt x="25" y="43"/>
                </a:cubicBezTo>
                <a:close/>
                <a:moveTo>
                  <a:pt x="52" y="24"/>
                </a:moveTo>
                <a:cubicBezTo>
                  <a:pt x="48" y="24"/>
                  <a:pt x="45" y="26"/>
                  <a:pt x="45" y="30"/>
                </a:cubicBezTo>
                <a:cubicBezTo>
                  <a:pt x="45" y="34"/>
                  <a:pt x="48" y="37"/>
                  <a:pt x="52" y="37"/>
                </a:cubicBezTo>
                <a:cubicBezTo>
                  <a:pt x="56" y="37"/>
                  <a:pt x="59" y="34"/>
                  <a:pt x="59" y="30"/>
                </a:cubicBezTo>
                <a:cubicBezTo>
                  <a:pt x="59" y="26"/>
                  <a:pt x="56" y="24"/>
                  <a:pt x="52" y="24"/>
                </a:cubicBezTo>
                <a:close/>
                <a:moveTo>
                  <a:pt x="94" y="61"/>
                </a:moveTo>
                <a:cubicBezTo>
                  <a:pt x="93" y="58"/>
                  <a:pt x="93" y="58"/>
                  <a:pt x="93" y="58"/>
                </a:cubicBezTo>
                <a:cubicBezTo>
                  <a:pt x="92" y="56"/>
                  <a:pt x="92" y="56"/>
                  <a:pt x="92" y="56"/>
                </a:cubicBezTo>
                <a:cubicBezTo>
                  <a:pt x="92" y="54"/>
                  <a:pt x="92" y="54"/>
                  <a:pt x="92" y="54"/>
                </a:cubicBezTo>
                <a:cubicBezTo>
                  <a:pt x="91" y="52"/>
                  <a:pt x="91" y="52"/>
                  <a:pt x="91" y="52"/>
                </a:cubicBezTo>
                <a:cubicBezTo>
                  <a:pt x="90" y="50"/>
                  <a:pt x="90" y="50"/>
                  <a:pt x="90" y="50"/>
                </a:cubicBezTo>
                <a:cubicBezTo>
                  <a:pt x="89" y="48"/>
                  <a:pt x="89" y="48"/>
                  <a:pt x="89" y="48"/>
                </a:cubicBezTo>
                <a:cubicBezTo>
                  <a:pt x="89" y="46"/>
                  <a:pt x="89" y="46"/>
                  <a:pt x="89" y="46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43"/>
                  <a:pt x="88" y="43"/>
                  <a:pt x="88" y="43"/>
                </a:cubicBezTo>
                <a:cubicBezTo>
                  <a:pt x="89" y="43"/>
                  <a:pt x="89" y="43"/>
                  <a:pt x="89" y="43"/>
                </a:cubicBezTo>
                <a:cubicBezTo>
                  <a:pt x="89" y="42"/>
                  <a:pt x="89" y="42"/>
                  <a:pt x="89" y="42"/>
                </a:cubicBezTo>
                <a:cubicBezTo>
                  <a:pt x="89" y="41"/>
                  <a:pt x="89" y="41"/>
                  <a:pt x="89" y="41"/>
                </a:cubicBezTo>
                <a:cubicBezTo>
                  <a:pt x="89" y="39"/>
                  <a:pt x="89" y="39"/>
                  <a:pt x="89" y="39"/>
                </a:cubicBezTo>
                <a:cubicBezTo>
                  <a:pt x="89" y="37"/>
                  <a:pt x="89" y="37"/>
                  <a:pt x="89" y="37"/>
                </a:cubicBezTo>
                <a:cubicBezTo>
                  <a:pt x="88" y="36"/>
                  <a:pt x="88" y="36"/>
                  <a:pt x="88" y="36"/>
                </a:cubicBezTo>
                <a:cubicBezTo>
                  <a:pt x="87" y="34"/>
                  <a:pt x="87" y="34"/>
                  <a:pt x="87" y="34"/>
                </a:cubicBezTo>
                <a:cubicBezTo>
                  <a:pt x="87" y="32"/>
                  <a:pt x="87" y="32"/>
                  <a:pt x="87" y="32"/>
                </a:cubicBezTo>
                <a:cubicBezTo>
                  <a:pt x="86" y="30"/>
                  <a:pt x="86" y="30"/>
                  <a:pt x="86" y="30"/>
                </a:cubicBezTo>
                <a:cubicBezTo>
                  <a:pt x="86" y="29"/>
                  <a:pt x="86" y="29"/>
                  <a:pt x="86" y="29"/>
                </a:cubicBezTo>
                <a:cubicBezTo>
                  <a:pt x="85" y="27"/>
                  <a:pt x="85" y="27"/>
                  <a:pt x="85" y="27"/>
                </a:cubicBezTo>
                <a:cubicBezTo>
                  <a:pt x="84" y="25"/>
                  <a:pt x="84" y="25"/>
                  <a:pt x="84" y="25"/>
                </a:cubicBezTo>
                <a:cubicBezTo>
                  <a:pt x="83" y="24"/>
                  <a:pt x="83" y="24"/>
                  <a:pt x="83" y="24"/>
                </a:cubicBezTo>
                <a:cubicBezTo>
                  <a:pt x="83" y="22"/>
                  <a:pt x="83" y="22"/>
                  <a:pt x="83" y="22"/>
                </a:cubicBezTo>
                <a:cubicBezTo>
                  <a:pt x="85" y="21"/>
                  <a:pt x="85" y="21"/>
                  <a:pt x="85" y="21"/>
                </a:cubicBezTo>
                <a:cubicBezTo>
                  <a:pt x="84" y="19"/>
                  <a:pt x="84" y="19"/>
                  <a:pt x="84" y="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6"/>
                  <a:pt x="82" y="16"/>
                  <a:pt x="82" y="16"/>
                </a:cubicBezTo>
                <a:cubicBezTo>
                  <a:pt x="81" y="15"/>
                  <a:pt x="81" y="15"/>
                  <a:pt x="81" y="15"/>
                </a:cubicBezTo>
                <a:cubicBezTo>
                  <a:pt x="80" y="14"/>
                  <a:pt x="80" y="14"/>
                  <a:pt x="80" y="14"/>
                </a:cubicBezTo>
                <a:cubicBezTo>
                  <a:pt x="79" y="13"/>
                  <a:pt x="79" y="13"/>
                  <a:pt x="79" y="13"/>
                </a:cubicBezTo>
                <a:cubicBezTo>
                  <a:pt x="78" y="12"/>
                  <a:pt x="78" y="12"/>
                  <a:pt x="78" y="12"/>
                </a:cubicBezTo>
                <a:cubicBezTo>
                  <a:pt x="77" y="11"/>
                  <a:pt x="77" y="11"/>
                  <a:pt x="77" y="11"/>
                </a:cubicBezTo>
                <a:cubicBezTo>
                  <a:pt x="76" y="10"/>
                  <a:pt x="76" y="10"/>
                  <a:pt x="76" y="10"/>
                </a:cubicBezTo>
                <a:cubicBezTo>
                  <a:pt x="79" y="9"/>
                  <a:pt x="79" y="9"/>
                  <a:pt x="79" y="9"/>
                </a:cubicBezTo>
                <a:cubicBezTo>
                  <a:pt x="78" y="8"/>
                  <a:pt x="78" y="8"/>
                  <a:pt x="78" y="8"/>
                </a:cubicBezTo>
                <a:cubicBezTo>
                  <a:pt x="76" y="7"/>
                  <a:pt x="76" y="7"/>
                  <a:pt x="76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4" y="6"/>
                  <a:pt x="74" y="6"/>
                  <a:pt x="74" y="6"/>
                </a:cubicBezTo>
                <a:cubicBezTo>
                  <a:pt x="73" y="5"/>
                  <a:pt x="73" y="5"/>
                  <a:pt x="73" y="5"/>
                </a:cubicBezTo>
                <a:cubicBezTo>
                  <a:pt x="72" y="5"/>
                  <a:pt x="72" y="5"/>
                  <a:pt x="72" y="5"/>
                </a:cubicBezTo>
                <a:cubicBezTo>
                  <a:pt x="70" y="4"/>
                  <a:pt x="70" y="4"/>
                  <a:pt x="70" y="4"/>
                </a:cubicBezTo>
                <a:cubicBezTo>
                  <a:pt x="69" y="4"/>
                  <a:pt x="69" y="4"/>
                  <a:pt x="69" y="4"/>
                </a:cubicBezTo>
                <a:cubicBezTo>
                  <a:pt x="68" y="3"/>
                  <a:pt x="68" y="3"/>
                  <a:pt x="68" y="3"/>
                </a:cubicBezTo>
                <a:cubicBezTo>
                  <a:pt x="66" y="3"/>
                  <a:pt x="66" y="3"/>
                  <a:pt x="66" y="3"/>
                </a:cubicBezTo>
                <a:cubicBezTo>
                  <a:pt x="65" y="2"/>
                  <a:pt x="65" y="2"/>
                  <a:pt x="65" y="2"/>
                </a:cubicBezTo>
                <a:cubicBezTo>
                  <a:pt x="63" y="2"/>
                  <a:pt x="63" y="2"/>
                  <a:pt x="63" y="2"/>
                </a:cubicBezTo>
                <a:cubicBezTo>
                  <a:pt x="61" y="1"/>
                  <a:pt x="61" y="1"/>
                  <a:pt x="61" y="1"/>
                </a:cubicBezTo>
                <a:cubicBezTo>
                  <a:pt x="60" y="1"/>
                  <a:pt x="60" y="1"/>
                  <a:pt x="60" y="1"/>
                </a:cubicBezTo>
                <a:cubicBezTo>
                  <a:pt x="58" y="1"/>
                  <a:pt x="58" y="1"/>
                  <a:pt x="58" y="1"/>
                </a:cubicBezTo>
                <a:cubicBezTo>
                  <a:pt x="56" y="0"/>
                  <a:pt x="56" y="0"/>
                  <a:pt x="56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8" y="1"/>
                  <a:pt x="38" y="1"/>
                  <a:pt x="38" y="1"/>
                </a:cubicBezTo>
                <a:cubicBezTo>
                  <a:pt x="36" y="1"/>
                  <a:pt x="36" y="1"/>
                  <a:pt x="36" y="1"/>
                </a:cubicBezTo>
                <a:cubicBezTo>
                  <a:pt x="35" y="1"/>
                  <a:pt x="35" y="1"/>
                  <a:pt x="35" y="1"/>
                </a:cubicBezTo>
                <a:cubicBezTo>
                  <a:pt x="33" y="2"/>
                  <a:pt x="33" y="2"/>
                  <a:pt x="33" y="2"/>
                </a:cubicBezTo>
                <a:cubicBezTo>
                  <a:pt x="31" y="2"/>
                  <a:pt x="31" y="2"/>
                  <a:pt x="31" y="2"/>
                </a:cubicBezTo>
                <a:cubicBezTo>
                  <a:pt x="29" y="3"/>
                  <a:pt x="29" y="3"/>
                  <a:pt x="29" y="3"/>
                </a:cubicBezTo>
                <a:cubicBezTo>
                  <a:pt x="28" y="3"/>
                  <a:pt x="28" y="3"/>
                  <a:pt x="28" y="3"/>
                </a:cubicBezTo>
                <a:cubicBezTo>
                  <a:pt x="26" y="4"/>
                  <a:pt x="26" y="4"/>
                  <a:pt x="26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3" y="5"/>
                  <a:pt x="23" y="5"/>
                  <a:pt x="23" y="5"/>
                </a:cubicBezTo>
                <a:cubicBezTo>
                  <a:pt x="21" y="6"/>
                  <a:pt x="21" y="6"/>
                  <a:pt x="21" y="6"/>
                </a:cubicBezTo>
                <a:cubicBezTo>
                  <a:pt x="20" y="7"/>
                  <a:pt x="20" y="7"/>
                  <a:pt x="20" y="7"/>
                </a:cubicBezTo>
                <a:cubicBezTo>
                  <a:pt x="18" y="8"/>
                  <a:pt x="18" y="8"/>
                  <a:pt x="18" y="8"/>
                </a:cubicBezTo>
                <a:cubicBezTo>
                  <a:pt x="17" y="9"/>
                  <a:pt x="17" y="9"/>
                  <a:pt x="17" y="9"/>
                </a:cubicBezTo>
                <a:cubicBezTo>
                  <a:pt x="15" y="10"/>
                  <a:pt x="15" y="10"/>
                  <a:pt x="15" y="10"/>
                </a:cubicBezTo>
                <a:cubicBezTo>
                  <a:pt x="14" y="11"/>
                  <a:pt x="14" y="11"/>
                  <a:pt x="14" y="11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3"/>
                  <a:pt x="12" y="13"/>
                  <a:pt x="12" y="13"/>
                </a:cubicBezTo>
                <a:cubicBezTo>
                  <a:pt x="10" y="14"/>
                  <a:pt x="10" y="14"/>
                  <a:pt x="10" y="14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7"/>
                  <a:pt x="8" y="17"/>
                  <a:pt x="8" y="17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9"/>
                  <a:pt x="6" y="19"/>
                  <a:pt x="6" y="19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2"/>
                  <a:pt x="5" y="22"/>
                  <a:pt x="5" y="22"/>
                </a:cubicBezTo>
                <a:cubicBezTo>
                  <a:pt x="4" y="24"/>
                  <a:pt x="4" y="24"/>
                  <a:pt x="4" y="24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7"/>
                  <a:pt x="3" y="27"/>
                  <a:pt x="3" y="27"/>
                </a:cubicBezTo>
                <a:cubicBezTo>
                  <a:pt x="2" y="28"/>
                  <a:pt x="2" y="28"/>
                  <a:pt x="2" y="28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3"/>
                  <a:pt x="0" y="43"/>
                  <a:pt x="0" y="43"/>
                </a:cubicBezTo>
                <a:cubicBezTo>
                  <a:pt x="1" y="46"/>
                  <a:pt x="1" y="46"/>
                  <a:pt x="1" y="46"/>
                </a:cubicBezTo>
                <a:cubicBezTo>
                  <a:pt x="1" y="49"/>
                  <a:pt x="1" y="49"/>
                  <a:pt x="1" y="49"/>
                </a:cubicBezTo>
                <a:cubicBezTo>
                  <a:pt x="2" y="52"/>
                  <a:pt x="2" y="52"/>
                  <a:pt x="2" y="52"/>
                </a:cubicBezTo>
                <a:cubicBezTo>
                  <a:pt x="3" y="56"/>
                  <a:pt x="3" y="56"/>
                  <a:pt x="3" y="56"/>
                </a:cubicBezTo>
                <a:cubicBezTo>
                  <a:pt x="11" y="69"/>
                  <a:pt x="11" y="69"/>
                  <a:pt x="11" y="69"/>
                </a:cubicBezTo>
                <a:cubicBezTo>
                  <a:pt x="25" y="83"/>
                  <a:pt x="24" y="97"/>
                  <a:pt x="24" y="97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08"/>
                  <a:pt x="24" y="108"/>
                  <a:pt x="24" y="108"/>
                </a:cubicBezTo>
                <a:cubicBezTo>
                  <a:pt x="71" y="108"/>
                  <a:pt x="71" y="108"/>
                  <a:pt x="71" y="108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71" y="105"/>
                  <a:pt x="71" y="105"/>
                  <a:pt x="71" y="105"/>
                </a:cubicBezTo>
                <a:cubicBezTo>
                  <a:pt x="71" y="102"/>
                  <a:pt x="71" y="102"/>
                  <a:pt x="71" y="102"/>
                </a:cubicBezTo>
                <a:cubicBezTo>
                  <a:pt x="72" y="96"/>
                  <a:pt x="72" y="96"/>
                  <a:pt x="72" y="96"/>
                </a:cubicBezTo>
                <a:cubicBezTo>
                  <a:pt x="72" y="93"/>
                  <a:pt x="72" y="93"/>
                  <a:pt x="72" y="93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91"/>
                  <a:pt x="72" y="91"/>
                  <a:pt x="72" y="91"/>
                </a:cubicBezTo>
                <a:cubicBezTo>
                  <a:pt x="73" y="91"/>
                  <a:pt x="73" y="91"/>
                  <a:pt x="73" y="91"/>
                </a:cubicBezTo>
                <a:cubicBezTo>
                  <a:pt x="73" y="90"/>
                  <a:pt x="73" y="90"/>
                  <a:pt x="73" y="90"/>
                </a:cubicBezTo>
                <a:cubicBezTo>
                  <a:pt x="74" y="90"/>
                  <a:pt x="74" y="90"/>
                  <a:pt x="74" y="90"/>
                </a:cubicBezTo>
                <a:cubicBezTo>
                  <a:pt x="74" y="90"/>
                  <a:pt x="74" y="90"/>
                  <a:pt x="74" y="90"/>
                </a:cubicBezTo>
                <a:cubicBezTo>
                  <a:pt x="75" y="90"/>
                  <a:pt x="75" y="90"/>
                  <a:pt x="75" y="90"/>
                </a:cubicBezTo>
                <a:cubicBezTo>
                  <a:pt x="76" y="89"/>
                  <a:pt x="76" y="89"/>
                  <a:pt x="76" y="89"/>
                </a:cubicBezTo>
                <a:cubicBezTo>
                  <a:pt x="77" y="89"/>
                  <a:pt x="77" y="89"/>
                  <a:pt x="77" y="89"/>
                </a:cubicBezTo>
                <a:cubicBezTo>
                  <a:pt x="78" y="89"/>
                  <a:pt x="78" y="89"/>
                  <a:pt x="78" y="89"/>
                </a:cubicBezTo>
                <a:cubicBezTo>
                  <a:pt x="78" y="89"/>
                  <a:pt x="78" y="89"/>
                  <a:pt x="78" y="89"/>
                </a:cubicBezTo>
                <a:cubicBezTo>
                  <a:pt x="79" y="89"/>
                  <a:pt x="79" y="89"/>
                  <a:pt x="79" y="89"/>
                </a:cubicBezTo>
                <a:cubicBezTo>
                  <a:pt x="80" y="89"/>
                  <a:pt x="80" y="89"/>
                  <a:pt x="80" y="89"/>
                </a:cubicBezTo>
                <a:cubicBezTo>
                  <a:pt x="81" y="90"/>
                  <a:pt x="81" y="90"/>
                  <a:pt x="81" y="90"/>
                </a:cubicBezTo>
                <a:cubicBezTo>
                  <a:pt x="81" y="90"/>
                  <a:pt x="81" y="90"/>
                  <a:pt x="81" y="90"/>
                </a:cubicBezTo>
                <a:cubicBezTo>
                  <a:pt x="82" y="90"/>
                  <a:pt x="82" y="90"/>
                  <a:pt x="82" y="90"/>
                </a:cubicBezTo>
                <a:cubicBezTo>
                  <a:pt x="83" y="90"/>
                  <a:pt x="83" y="90"/>
                  <a:pt x="83" y="90"/>
                </a:cubicBezTo>
                <a:cubicBezTo>
                  <a:pt x="81" y="90"/>
                  <a:pt x="81" y="90"/>
                  <a:pt x="81" y="90"/>
                </a:cubicBezTo>
                <a:cubicBezTo>
                  <a:pt x="82" y="90"/>
                  <a:pt x="82" y="90"/>
                  <a:pt x="82" y="90"/>
                </a:cubicBezTo>
                <a:cubicBezTo>
                  <a:pt x="83" y="90"/>
                  <a:pt x="83" y="90"/>
                  <a:pt x="83" y="90"/>
                </a:cubicBezTo>
                <a:cubicBezTo>
                  <a:pt x="84" y="90"/>
                  <a:pt x="84" y="90"/>
                  <a:pt x="84" y="90"/>
                </a:cubicBezTo>
                <a:cubicBezTo>
                  <a:pt x="85" y="90"/>
                  <a:pt x="85" y="90"/>
                  <a:pt x="85" y="90"/>
                </a:cubicBezTo>
                <a:cubicBezTo>
                  <a:pt x="86" y="90"/>
                  <a:pt x="86" y="90"/>
                  <a:pt x="86" y="90"/>
                </a:cubicBezTo>
                <a:cubicBezTo>
                  <a:pt x="86" y="90"/>
                  <a:pt x="86" y="90"/>
                  <a:pt x="86" y="90"/>
                </a:cubicBezTo>
                <a:cubicBezTo>
                  <a:pt x="87" y="89"/>
                  <a:pt x="87" y="89"/>
                  <a:pt x="87" y="89"/>
                </a:cubicBezTo>
                <a:cubicBezTo>
                  <a:pt x="88" y="89"/>
                  <a:pt x="88" y="89"/>
                  <a:pt x="88" y="89"/>
                </a:cubicBezTo>
                <a:cubicBezTo>
                  <a:pt x="88" y="88"/>
                  <a:pt x="88" y="88"/>
                  <a:pt x="88" y="88"/>
                </a:cubicBezTo>
                <a:cubicBezTo>
                  <a:pt x="89" y="88"/>
                  <a:pt x="89" y="88"/>
                  <a:pt x="89" y="88"/>
                </a:cubicBezTo>
                <a:cubicBezTo>
                  <a:pt x="89" y="87"/>
                  <a:pt x="89" y="87"/>
                  <a:pt x="89" y="87"/>
                </a:cubicBezTo>
                <a:cubicBezTo>
                  <a:pt x="89" y="86"/>
                  <a:pt x="89" y="86"/>
                  <a:pt x="89" y="86"/>
                </a:cubicBezTo>
                <a:cubicBezTo>
                  <a:pt x="89" y="85"/>
                  <a:pt x="89" y="85"/>
                  <a:pt x="89" y="85"/>
                </a:cubicBezTo>
                <a:cubicBezTo>
                  <a:pt x="89" y="84"/>
                  <a:pt x="89" y="84"/>
                  <a:pt x="89" y="84"/>
                </a:cubicBezTo>
                <a:cubicBezTo>
                  <a:pt x="89" y="82"/>
                  <a:pt x="89" y="82"/>
                  <a:pt x="89" y="82"/>
                </a:cubicBezTo>
                <a:cubicBezTo>
                  <a:pt x="89" y="82"/>
                  <a:pt x="89" y="82"/>
                  <a:pt x="89" y="82"/>
                </a:cubicBezTo>
                <a:cubicBezTo>
                  <a:pt x="89" y="81"/>
                  <a:pt x="89" y="81"/>
                  <a:pt x="89" y="81"/>
                </a:cubicBezTo>
                <a:cubicBezTo>
                  <a:pt x="90" y="81"/>
                  <a:pt x="90" y="81"/>
                  <a:pt x="90" y="81"/>
                </a:cubicBezTo>
                <a:cubicBezTo>
                  <a:pt x="90" y="80"/>
                  <a:pt x="90" y="80"/>
                  <a:pt x="90" y="80"/>
                </a:cubicBezTo>
                <a:cubicBezTo>
                  <a:pt x="90" y="80"/>
                  <a:pt x="90" y="80"/>
                  <a:pt x="90" y="80"/>
                </a:cubicBezTo>
                <a:cubicBezTo>
                  <a:pt x="90" y="79"/>
                  <a:pt x="90" y="79"/>
                  <a:pt x="90" y="79"/>
                </a:cubicBezTo>
                <a:cubicBezTo>
                  <a:pt x="91" y="79"/>
                  <a:pt x="91" y="79"/>
                  <a:pt x="91" y="79"/>
                </a:cubicBezTo>
                <a:cubicBezTo>
                  <a:pt x="91" y="78"/>
                  <a:pt x="91" y="78"/>
                  <a:pt x="91" y="78"/>
                </a:cubicBezTo>
                <a:cubicBezTo>
                  <a:pt x="91" y="78"/>
                  <a:pt x="91" y="78"/>
                  <a:pt x="91" y="78"/>
                </a:cubicBezTo>
                <a:cubicBezTo>
                  <a:pt x="91" y="77"/>
                  <a:pt x="91" y="77"/>
                  <a:pt x="91" y="77"/>
                </a:cubicBezTo>
                <a:cubicBezTo>
                  <a:pt x="90" y="77"/>
                  <a:pt x="90" y="77"/>
                  <a:pt x="90" y="77"/>
                </a:cubicBezTo>
                <a:cubicBezTo>
                  <a:pt x="90" y="76"/>
                  <a:pt x="90" y="76"/>
                  <a:pt x="90" y="76"/>
                </a:cubicBezTo>
                <a:cubicBezTo>
                  <a:pt x="90" y="76"/>
                  <a:pt x="90" y="76"/>
                  <a:pt x="90" y="76"/>
                </a:cubicBezTo>
                <a:cubicBezTo>
                  <a:pt x="89" y="75"/>
                  <a:pt x="89" y="75"/>
                  <a:pt x="89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88" y="75"/>
                  <a:pt x="88" y="75"/>
                  <a:pt x="88" y="75"/>
                </a:cubicBezTo>
                <a:cubicBezTo>
                  <a:pt x="89" y="74"/>
                  <a:pt x="89" y="74"/>
                  <a:pt x="89" y="74"/>
                </a:cubicBezTo>
                <a:cubicBezTo>
                  <a:pt x="89" y="74"/>
                  <a:pt x="89" y="74"/>
                  <a:pt x="89" y="74"/>
                </a:cubicBezTo>
                <a:cubicBezTo>
                  <a:pt x="90" y="73"/>
                  <a:pt x="90" y="73"/>
                  <a:pt x="90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91" y="72"/>
                  <a:pt x="91" y="72"/>
                  <a:pt x="91" y="72"/>
                </a:cubicBezTo>
                <a:cubicBezTo>
                  <a:pt x="91" y="72"/>
                  <a:pt x="91" y="72"/>
                  <a:pt x="91" y="72"/>
                </a:cubicBezTo>
                <a:cubicBezTo>
                  <a:pt x="91" y="71"/>
                  <a:pt x="91" y="71"/>
                  <a:pt x="91" y="71"/>
                </a:cubicBezTo>
                <a:cubicBezTo>
                  <a:pt x="91" y="71"/>
                  <a:pt x="91" y="71"/>
                  <a:pt x="91" y="71"/>
                </a:cubicBezTo>
                <a:cubicBezTo>
                  <a:pt x="90" y="69"/>
                  <a:pt x="90" y="69"/>
                  <a:pt x="90" y="69"/>
                </a:cubicBezTo>
                <a:cubicBezTo>
                  <a:pt x="90" y="67"/>
                  <a:pt x="90" y="67"/>
                  <a:pt x="90" y="67"/>
                </a:cubicBezTo>
                <a:cubicBezTo>
                  <a:pt x="90" y="66"/>
                  <a:pt x="90" y="66"/>
                  <a:pt x="90" y="66"/>
                </a:cubicBezTo>
                <a:cubicBezTo>
                  <a:pt x="90" y="64"/>
                  <a:pt x="90" y="64"/>
                  <a:pt x="90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2" y="63"/>
                  <a:pt x="92" y="63"/>
                  <a:pt x="92" y="63"/>
                </a:cubicBezTo>
                <a:cubicBezTo>
                  <a:pt x="92" y="63"/>
                  <a:pt x="92" y="63"/>
                  <a:pt x="92" y="63"/>
                </a:cubicBezTo>
                <a:cubicBezTo>
                  <a:pt x="93" y="63"/>
                  <a:pt x="93" y="63"/>
                  <a:pt x="93" y="63"/>
                </a:cubicBezTo>
                <a:cubicBezTo>
                  <a:pt x="93" y="62"/>
                  <a:pt x="93" y="62"/>
                  <a:pt x="93" y="62"/>
                </a:cubicBezTo>
                <a:cubicBezTo>
                  <a:pt x="94" y="62"/>
                  <a:pt x="94" y="62"/>
                  <a:pt x="94" y="62"/>
                </a:cubicBezTo>
                <a:cubicBezTo>
                  <a:pt x="94" y="61"/>
                  <a:pt x="94" y="61"/>
                  <a:pt x="94" y="61"/>
                </a:cubicBezTo>
                <a:close/>
                <a:moveTo>
                  <a:pt x="33" y="44"/>
                </a:moveTo>
                <a:cubicBezTo>
                  <a:pt x="32" y="46"/>
                  <a:pt x="32" y="46"/>
                  <a:pt x="32" y="46"/>
                </a:cubicBezTo>
                <a:cubicBezTo>
                  <a:pt x="32" y="46"/>
                  <a:pt x="29" y="46"/>
                  <a:pt x="29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46"/>
                  <a:pt x="28" y="49"/>
                  <a:pt x="28" y="49"/>
                </a:cubicBezTo>
                <a:cubicBezTo>
                  <a:pt x="25" y="50"/>
                  <a:pt x="25" y="50"/>
                  <a:pt x="25" y="50"/>
                </a:cubicBezTo>
                <a:cubicBezTo>
                  <a:pt x="25" y="50"/>
                  <a:pt x="24" y="47"/>
                  <a:pt x="24" y="47"/>
                </a:cubicBezTo>
                <a:cubicBezTo>
                  <a:pt x="22" y="47"/>
                  <a:pt x="22" y="47"/>
                  <a:pt x="22" y="47"/>
                </a:cubicBezTo>
                <a:cubicBezTo>
                  <a:pt x="22" y="47"/>
                  <a:pt x="20" y="49"/>
                  <a:pt x="20" y="49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8"/>
                  <a:pt x="19" y="45"/>
                  <a:pt x="19" y="45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4"/>
                  <a:pt x="15" y="43"/>
                  <a:pt x="15" y="43"/>
                </a:cubicBezTo>
                <a:cubicBezTo>
                  <a:pt x="14" y="41"/>
                  <a:pt x="14" y="41"/>
                  <a:pt x="14" y="41"/>
                </a:cubicBezTo>
                <a:cubicBezTo>
                  <a:pt x="14" y="41"/>
                  <a:pt x="17" y="39"/>
                  <a:pt x="17" y="39"/>
                </a:cubicBezTo>
                <a:cubicBezTo>
                  <a:pt x="17" y="38"/>
                  <a:pt x="17" y="38"/>
                  <a:pt x="17" y="38"/>
                </a:cubicBezTo>
                <a:cubicBezTo>
                  <a:pt x="17" y="38"/>
                  <a:pt x="15" y="36"/>
                  <a:pt x="15" y="36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4"/>
                  <a:pt x="19" y="34"/>
                  <a:pt x="19" y="34"/>
                </a:cubicBezTo>
                <a:cubicBezTo>
                  <a:pt x="20" y="33"/>
                  <a:pt x="20" y="33"/>
                  <a:pt x="20" y="33"/>
                </a:cubicBezTo>
                <a:cubicBezTo>
                  <a:pt x="20" y="33"/>
                  <a:pt x="21" y="31"/>
                  <a:pt x="21" y="31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0"/>
                  <a:pt x="25" y="32"/>
                  <a:pt x="25" y="32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8" y="31"/>
                  <a:pt x="28" y="31"/>
                </a:cubicBezTo>
                <a:cubicBezTo>
                  <a:pt x="30" y="32"/>
                  <a:pt x="30" y="32"/>
                  <a:pt x="30" y="32"/>
                </a:cubicBezTo>
                <a:cubicBezTo>
                  <a:pt x="30" y="32"/>
                  <a:pt x="30" y="35"/>
                  <a:pt x="30" y="35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3" y="36"/>
                  <a:pt x="33" y="37"/>
                </a:cubicBezTo>
                <a:cubicBezTo>
                  <a:pt x="34" y="39"/>
                  <a:pt x="34" y="39"/>
                  <a:pt x="34" y="39"/>
                </a:cubicBezTo>
                <a:cubicBezTo>
                  <a:pt x="34" y="39"/>
                  <a:pt x="32" y="40"/>
                  <a:pt x="32" y="40"/>
                </a:cubicBezTo>
                <a:cubicBezTo>
                  <a:pt x="31" y="42"/>
                  <a:pt x="31" y="42"/>
                  <a:pt x="31" y="42"/>
                </a:cubicBezTo>
                <a:cubicBezTo>
                  <a:pt x="31" y="42"/>
                  <a:pt x="33" y="44"/>
                  <a:pt x="33" y="44"/>
                </a:cubicBezTo>
                <a:close/>
                <a:moveTo>
                  <a:pt x="73" y="32"/>
                </a:moveTo>
                <a:cubicBezTo>
                  <a:pt x="73" y="32"/>
                  <a:pt x="73" y="32"/>
                  <a:pt x="73" y="32"/>
                </a:cubicBezTo>
                <a:cubicBezTo>
                  <a:pt x="73" y="33"/>
                  <a:pt x="67" y="35"/>
                  <a:pt x="67" y="35"/>
                </a:cubicBezTo>
                <a:cubicBezTo>
                  <a:pt x="66" y="37"/>
                  <a:pt x="66" y="37"/>
                  <a:pt x="66" y="37"/>
                </a:cubicBezTo>
                <a:cubicBezTo>
                  <a:pt x="66" y="37"/>
                  <a:pt x="69" y="43"/>
                  <a:pt x="68" y="43"/>
                </a:cubicBezTo>
                <a:cubicBezTo>
                  <a:pt x="65" y="46"/>
                  <a:pt x="65" y="46"/>
                  <a:pt x="65" y="46"/>
                </a:cubicBezTo>
                <a:cubicBezTo>
                  <a:pt x="65" y="46"/>
                  <a:pt x="59" y="44"/>
                  <a:pt x="59" y="44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45"/>
                  <a:pt x="55" y="50"/>
                  <a:pt x="54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49" y="50"/>
                  <a:pt x="47" y="45"/>
                  <a:pt x="47" y="45"/>
                </a:cubicBezTo>
                <a:cubicBezTo>
                  <a:pt x="45" y="44"/>
                  <a:pt x="45" y="44"/>
                  <a:pt x="45" y="44"/>
                </a:cubicBezTo>
                <a:cubicBezTo>
                  <a:pt x="45" y="44"/>
                  <a:pt x="39" y="46"/>
                  <a:pt x="39" y="46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43"/>
                  <a:pt x="38" y="37"/>
                  <a:pt x="38" y="37"/>
                </a:cubicBezTo>
                <a:cubicBezTo>
                  <a:pt x="37" y="35"/>
                  <a:pt x="37" y="35"/>
                  <a:pt x="37" y="35"/>
                </a:cubicBezTo>
                <a:cubicBezTo>
                  <a:pt x="37" y="35"/>
                  <a:pt x="31" y="32"/>
                  <a:pt x="31" y="32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7"/>
                  <a:pt x="37" y="25"/>
                  <a:pt x="37" y="25"/>
                </a:cubicBezTo>
                <a:cubicBezTo>
                  <a:pt x="38" y="23"/>
                  <a:pt x="38" y="23"/>
                  <a:pt x="38" y="23"/>
                </a:cubicBezTo>
                <a:cubicBezTo>
                  <a:pt x="38" y="23"/>
                  <a:pt x="36" y="17"/>
                  <a:pt x="36" y="17"/>
                </a:cubicBezTo>
                <a:cubicBezTo>
                  <a:pt x="39" y="14"/>
                  <a:pt x="39" y="14"/>
                  <a:pt x="39" y="14"/>
                </a:cubicBezTo>
                <a:cubicBezTo>
                  <a:pt x="39" y="14"/>
                  <a:pt x="45" y="16"/>
                  <a:pt x="45" y="16"/>
                </a:cubicBezTo>
                <a:cubicBezTo>
                  <a:pt x="47" y="15"/>
                  <a:pt x="47" y="15"/>
                  <a:pt x="47" y="15"/>
                </a:cubicBezTo>
                <a:cubicBezTo>
                  <a:pt x="47" y="15"/>
                  <a:pt x="50" y="10"/>
                  <a:pt x="50" y="10"/>
                </a:cubicBezTo>
                <a:cubicBezTo>
                  <a:pt x="55" y="10"/>
                  <a:pt x="55" y="10"/>
                  <a:pt x="55" y="10"/>
                </a:cubicBezTo>
                <a:cubicBezTo>
                  <a:pt x="55" y="10"/>
                  <a:pt x="57" y="15"/>
                  <a:pt x="57" y="15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65" y="14"/>
                  <a:pt x="65" y="14"/>
                </a:cubicBezTo>
                <a:cubicBezTo>
                  <a:pt x="69" y="17"/>
                  <a:pt x="69" y="17"/>
                  <a:pt x="69" y="17"/>
                </a:cubicBezTo>
                <a:cubicBezTo>
                  <a:pt x="69" y="18"/>
                  <a:pt x="66" y="23"/>
                  <a:pt x="66" y="23"/>
                </a:cubicBezTo>
                <a:cubicBezTo>
                  <a:pt x="67" y="25"/>
                  <a:pt x="67" y="25"/>
                  <a:pt x="67" y="25"/>
                </a:cubicBezTo>
                <a:cubicBezTo>
                  <a:pt x="67" y="25"/>
                  <a:pt x="73" y="28"/>
                  <a:pt x="73" y="28"/>
                </a:cubicBezTo>
                <a:cubicBezTo>
                  <a:pt x="73" y="32"/>
                  <a:pt x="73" y="32"/>
                  <a:pt x="73" y="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9661356" y="2931196"/>
            <a:ext cx="452412" cy="451411"/>
            <a:chOff x="9166770" y="4602851"/>
            <a:chExt cx="482923" cy="481855"/>
          </a:xfrm>
          <a:solidFill>
            <a:schemeClr val="bg1"/>
          </a:solidFill>
        </p:grpSpPr>
        <p:sp>
          <p:nvSpPr>
            <p:cNvPr id="36" name="Freeform 9"/>
            <p:cNvSpPr/>
            <p:nvPr/>
          </p:nvSpPr>
          <p:spPr bwMode="auto">
            <a:xfrm>
              <a:off x="9457379" y="4895596"/>
              <a:ext cx="192314" cy="189110"/>
            </a:xfrm>
            <a:custGeom>
              <a:avLst/>
              <a:gdLst>
                <a:gd name="T0" fmla="*/ 68 w 75"/>
                <a:gd name="T1" fmla="*/ 42 h 74"/>
                <a:gd name="T2" fmla="*/ 25 w 75"/>
                <a:gd name="T3" fmla="*/ 0 h 74"/>
                <a:gd name="T4" fmla="*/ 0 w 75"/>
                <a:gd name="T5" fmla="*/ 24 h 74"/>
                <a:gd name="T6" fmla="*/ 43 w 75"/>
                <a:gd name="T7" fmla="*/ 67 h 74"/>
                <a:gd name="T8" fmla="*/ 68 w 75"/>
                <a:gd name="T9" fmla="*/ 67 h 74"/>
                <a:gd name="T10" fmla="*/ 68 w 75"/>
                <a:gd name="T11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74">
                  <a:moveTo>
                    <a:pt x="68" y="42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19" y="10"/>
                    <a:pt x="10" y="18"/>
                    <a:pt x="0" y="24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50" y="74"/>
                    <a:pt x="61" y="74"/>
                    <a:pt x="68" y="67"/>
                  </a:cubicBezTo>
                  <a:cubicBezTo>
                    <a:pt x="75" y="60"/>
                    <a:pt x="75" y="49"/>
                    <a:pt x="6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7" name="Freeform 10"/>
            <p:cNvSpPr>
              <a:spLocks noEditPoints="1"/>
            </p:cNvSpPr>
            <p:nvPr/>
          </p:nvSpPr>
          <p:spPr bwMode="auto">
            <a:xfrm>
              <a:off x="9166770" y="4602851"/>
              <a:ext cx="356850" cy="358987"/>
            </a:xfrm>
            <a:custGeom>
              <a:avLst/>
              <a:gdLst>
                <a:gd name="T0" fmla="*/ 139 w 139"/>
                <a:gd name="T1" fmla="*/ 70 h 140"/>
                <a:gd name="T2" fmla="*/ 70 w 139"/>
                <a:gd name="T3" fmla="*/ 0 h 140"/>
                <a:gd name="T4" fmla="*/ 0 w 139"/>
                <a:gd name="T5" fmla="*/ 70 h 140"/>
                <a:gd name="T6" fmla="*/ 70 w 139"/>
                <a:gd name="T7" fmla="*/ 140 h 140"/>
                <a:gd name="T8" fmla="*/ 139 w 139"/>
                <a:gd name="T9" fmla="*/ 70 h 140"/>
                <a:gd name="T10" fmla="*/ 70 w 139"/>
                <a:gd name="T11" fmla="*/ 122 h 140"/>
                <a:gd name="T12" fmla="*/ 17 w 139"/>
                <a:gd name="T13" fmla="*/ 70 h 140"/>
                <a:gd name="T14" fmla="*/ 70 w 139"/>
                <a:gd name="T15" fmla="*/ 17 h 140"/>
                <a:gd name="T16" fmla="*/ 122 w 139"/>
                <a:gd name="T17" fmla="*/ 70 h 140"/>
                <a:gd name="T18" fmla="*/ 70 w 139"/>
                <a:gd name="T19" fmla="*/ 12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140">
                  <a:moveTo>
                    <a:pt x="139" y="70"/>
                  </a:moveTo>
                  <a:cubicBezTo>
                    <a:pt x="139" y="31"/>
                    <a:pt x="108" y="0"/>
                    <a:pt x="70" y="0"/>
                  </a:cubicBez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40"/>
                    <a:pt x="70" y="140"/>
                  </a:cubicBezTo>
                  <a:cubicBezTo>
                    <a:pt x="108" y="140"/>
                    <a:pt x="139" y="108"/>
                    <a:pt x="139" y="70"/>
                  </a:cubicBezTo>
                  <a:close/>
                  <a:moveTo>
                    <a:pt x="70" y="122"/>
                  </a:moveTo>
                  <a:cubicBezTo>
                    <a:pt x="41" y="122"/>
                    <a:pt x="17" y="99"/>
                    <a:pt x="17" y="70"/>
                  </a:cubicBezTo>
                  <a:cubicBezTo>
                    <a:pt x="17" y="41"/>
                    <a:pt x="41" y="17"/>
                    <a:pt x="70" y="17"/>
                  </a:cubicBezTo>
                  <a:cubicBezTo>
                    <a:pt x="98" y="17"/>
                    <a:pt x="122" y="41"/>
                    <a:pt x="122" y="70"/>
                  </a:cubicBezTo>
                  <a:cubicBezTo>
                    <a:pt x="122" y="99"/>
                    <a:pt x="98" y="122"/>
                    <a:pt x="7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8" name="Freeform 11"/>
            <p:cNvSpPr/>
            <p:nvPr/>
          </p:nvSpPr>
          <p:spPr bwMode="auto">
            <a:xfrm>
              <a:off x="9241559" y="4677640"/>
              <a:ext cx="105773" cy="104705"/>
            </a:xfrm>
            <a:custGeom>
              <a:avLst/>
              <a:gdLst>
                <a:gd name="T0" fmla="*/ 0 w 41"/>
                <a:gd name="T1" fmla="*/ 41 h 41"/>
                <a:gd name="T2" fmla="*/ 12 w 41"/>
                <a:gd name="T3" fmla="*/ 41 h 41"/>
                <a:gd name="T4" fmla="*/ 41 w 41"/>
                <a:gd name="T5" fmla="*/ 12 h 41"/>
                <a:gd name="T6" fmla="*/ 41 w 41"/>
                <a:gd name="T7" fmla="*/ 0 h 41"/>
                <a:gd name="T8" fmla="*/ 0 w 41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41"/>
                  </a:moveTo>
                  <a:cubicBezTo>
                    <a:pt x="12" y="41"/>
                    <a:pt x="12" y="41"/>
                    <a:pt x="12" y="41"/>
                  </a:cubicBezTo>
                  <a:cubicBezTo>
                    <a:pt x="12" y="25"/>
                    <a:pt x="25" y="12"/>
                    <a:pt x="41" y="1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微软雅黑" panose="020B0503020204020204" pitchFamily="34" charset="-122"/>
                <a:cs typeface="+mn-lt"/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54" name="任意多边形 53">
            <a:hlinkClick r:id="rId3" action="ppaction://hlinksldjump"/>
          </p:cNvPr>
          <p:cNvSpPr/>
          <p:nvPr/>
        </p:nvSpPr>
        <p:spPr>
          <a:xfrm>
            <a:off x="1641452" y="3146986"/>
            <a:ext cx="2016087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接受测试版本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55" name="任意多边形 54">
            <a:hlinkClick r:id="rId4" action="ppaction://hlinksldjump"/>
          </p:cNvPr>
          <p:cNvSpPr/>
          <p:nvPr/>
        </p:nvSpPr>
        <p:spPr>
          <a:xfrm>
            <a:off x="4148423" y="3134744"/>
            <a:ext cx="1827484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dirty="0">
                <a:solidFill>
                  <a:schemeClr val="bg1"/>
                </a:solidFill>
              </a:rPr>
              <a:t>App</a:t>
            </a:r>
            <a:r>
              <a:rPr lang="zh-CN" altLang="en-US" sz="2000" b="1" dirty="0">
                <a:solidFill>
                  <a:schemeClr val="bg1"/>
                </a:solidFill>
              </a:rPr>
              <a:t>版本测试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56" name="任意多边形 55">
            <a:hlinkClick r:id="rId5" action="ppaction://hlinksldjump"/>
          </p:cNvPr>
          <p:cNvSpPr/>
          <p:nvPr/>
        </p:nvSpPr>
        <p:spPr>
          <a:xfrm>
            <a:off x="6465451" y="3179047"/>
            <a:ext cx="1518916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>
                <a:solidFill>
                  <a:schemeClr val="bg1"/>
                </a:solidFill>
              </a:rPr>
              <a:t>UI</a:t>
            </a:r>
            <a:r>
              <a:rPr lang="zh-CN" altLang="en-US" sz="2000" b="1">
                <a:solidFill>
                  <a:schemeClr val="bg1"/>
                </a:solidFill>
              </a:rPr>
              <a:t>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57" name="任意多边形 56">
            <a:hlinkClick r:id="rId6" action="ppaction://hlinksldjump"/>
          </p:cNvPr>
          <p:cNvSpPr/>
          <p:nvPr/>
        </p:nvSpPr>
        <p:spPr>
          <a:xfrm>
            <a:off x="8477767" y="3175517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>
                <a:solidFill>
                  <a:schemeClr val="bg1"/>
                </a:solidFill>
              </a:rPr>
              <a:t>功能</a:t>
            </a:r>
            <a:r>
              <a:rPr lang="zh-CN" altLang="en-US" sz="2000" b="1" kern="1200">
                <a:solidFill>
                  <a:schemeClr val="bg1"/>
                </a:solidFill>
              </a:rPr>
              <a:t>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3768361" y="3330247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59" name="任意多边形 58"/>
          <p:cNvSpPr/>
          <p:nvPr/>
        </p:nvSpPr>
        <p:spPr>
          <a:xfrm>
            <a:off x="6086480" y="3351956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60" name="任意多边形 59"/>
          <p:cNvSpPr/>
          <p:nvPr/>
        </p:nvSpPr>
        <p:spPr>
          <a:xfrm>
            <a:off x="8093068" y="334248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61" name="任意多边形 60">
            <a:hlinkClick r:id="rId7" action="ppaction://hlinksldjump"/>
          </p:cNvPr>
          <p:cNvSpPr/>
          <p:nvPr/>
        </p:nvSpPr>
        <p:spPr>
          <a:xfrm>
            <a:off x="7894011" y="4470552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专项测试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62" name="任意多边形 61"/>
          <p:cNvSpPr/>
          <p:nvPr/>
        </p:nvSpPr>
        <p:spPr>
          <a:xfrm rot="10800000">
            <a:off x="7255427" y="4674096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64" name="任意多边形 63"/>
          <p:cNvSpPr/>
          <p:nvPr/>
        </p:nvSpPr>
        <p:spPr>
          <a:xfrm rot="7918757">
            <a:off x="8535868" y="4034087"/>
            <a:ext cx="330829" cy="30368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65" name="任意多边形 64">
            <a:hlinkClick r:id="rId7" action="ppaction://hlinksldjump"/>
          </p:cNvPr>
          <p:cNvSpPr/>
          <p:nvPr/>
        </p:nvSpPr>
        <p:spPr>
          <a:xfrm>
            <a:off x="4943206" y="4470552"/>
            <a:ext cx="1943908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正式环境测试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66" name="任意多边形 65"/>
          <p:cNvSpPr/>
          <p:nvPr/>
        </p:nvSpPr>
        <p:spPr>
          <a:xfrm rot="10800000">
            <a:off x="4259919" y="4696939"/>
            <a:ext cx="354625" cy="30368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67" name="任意多边形 66">
            <a:hlinkClick r:id="rId7" action="ppaction://hlinksldjump"/>
          </p:cNvPr>
          <p:cNvSpPr/>
          <p:nvPr/>
        </p:nvSpPr>
        <p:spPr>
          <a:xfrm>
            <a:off x="2494310" y="4470552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上线准备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App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测试要点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414857"/>
            <a:ext cx="5669299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个要点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5135599" y="1985374"/>
            <a:ext cx="63371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测试主要是测试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的用户界面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如窗口、菜单、对话框等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布局风格是否满足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文字表达是否简洁准确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界面是否美观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操作是否简便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测试的目的是为用户提供相应的访问或浏览功能，确保用户界面符合公司或行业的标准，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用户界面的友好性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易操作性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5" name="直接连接符 42"/>
          <p:cNvCxnSpPr/>
          <p:nvPr/>
        </p:nvCxnSpPr>
        <p:spPr>
          <a:xfrm flipH="1">
            <a:off x="4092989" y="376837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椭圆 5"/>
          <p:cNvSpPr/>
          <p:nvPr/>
        </p:nvSpPr>
        <p:spPr>
          <a:xfrm>
            <a:off x="5369133" y="3294999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286522" y="321449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369132" y="3307900"/>
            <a:ext cx="923799" cy="923799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4092989" y="180397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43"/>
          <p:cNvCxnSpPr/>
          <p:nvPr/>
        </p:nvCxnSpPr>
        <p:spPr>
          <a:xfrm flipH="1">
            <a:off x="4092989" y="5481446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44"/>
          <p:cNvCxnSpPr/>
          <p:nvPr/>
        </p:nvCxnSpPr>
        <p:spPr>
          <a:xfrm>
            <a:off x="4092989" y="1826165"/>
            <a:ext cx="0" cy="3635619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椭圆 12"/>
          <p:cNvSpPr/>
          <p:nvPr/>
        </p:nvSpPr>
        <p:spPr>
          <a:xfrm>
            <a:off x="5286522" y="127229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286522" y="490791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76"/>
          <p:cNvSpPr>
            <a:spLocks noEditPoints="1"/>
          </p:cNvSpPr>
          <p:nvPr/>
        </p:nvSpPr>
        <p:spPr bwMode="auto">
          <a:xfrm>
            <a:off x="5537711" y="3501794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78496" y="136426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369134" y="5019547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175"/>
          <p:cNvSpPr>
            <a:spLocks noEditPoints="1"/>
          </p:cNvSpPr>
          <p:nvPr/>
        </p:nvSpPr>
        <p:spPr bwMode="auto">
          <a:xfrm>
            <a:off x="5593804" y="5146402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168"/>
          <p:cNvSpPr>
            <a:spLocks noEditPoints="1"/>
          </p:cNvSpPr>
          <p:nvPr/>
        </p:nvSpPr>
        <p:spPr bwMode="auto">
          <a:xfrm>
            <a:off x="5564170" y="1518361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9"/>
          <p:cNvSpPr txBox="1"/>
          <p:nvPr/>
        </p:nvSpPr>
        <p:spPr>
          <a:xfrm>
            <a:off x="6493016" y="1274894"/>
            <a:ext cx="4281735" cy="4618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rgbClr val="1369B2"/>
                </a:solidFill>
              </a:rPr>
              <a:t>导航测试</a:t>
            </a:r>
          </a:p>
        </p:txBody>
      </p:sp>
      <p:sp>
        <p:nvSpPr>
          <p:cNvPr id="21" name="文本框 9"/>
          <p:cNvSpPr txBox="1"/>
          <p:nvPr/>
        </p:nvSpPr>
        <p:spPr>
          <a:xfrm>
            <a:off x="6523572" y="3287494"/>
            <a:ext cx="5238026" cy="5861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rgbClr val="1369B2"/>
                </a:solidFill>
              </a:rPr>
              <a:t>图形测试</a:t>
            </a:r>
            <a:endParaRPr lang="en-US" altLang="zh-CN" sz="2000" b="1" dirty="0">
              <a:solidFill>
                <a:srgbClr val="1369B2"/>
              </a:solidFill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6523572" y="5146402"/>
            <a:ext cx="5150377" cy="5596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rgbClr val="1369B2"/>
                </a:solidFill>
              </a:rPr>
              <a:t>内容</a:t>
            </a:r>
            <a:r>
              <a:rPr lang="zh-CN" altLang="zh-CN" sz="2000" b="1" dirty="0">
                <a:solidFill>
                  <a:srgbClr val="1369B2"/>
                </a:solidFill>
              </a:rPr>
              <a:t>测试</a:t>
            </a:r>
            <a:endParaRPr lang="en-US" altLang="zh-CN" sz="2000" b="1" dirty="0">
              <a:solidFill>
                <a:srgbClr val="1369B2"/>
              </a:solidFill>
            </a:endParaRPr>
          </a:p>
        </p:txBody>
      </p:sp>
      <p:sp>
        <p:nvSpPr>
          <p:cNvPr id="23" name="文本框 9"/>
          <p:cNvSpPr txBox="1"/>
          <p:nvPr/>
        </p:nvSpPr>
        <p:spPr>
          <a:xfrm>
            <a:off x="1271206" y="3501794"/>
            <a:ext cx="2771114" cy="602585"/>
          </a:xfrm>
          <a:prstGeom prst="rect">
            <a:avLst/>
          </a:prstGeom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en-US" altLang="zh-CN" sz="2000" b="1">
                <a:solidFill>
                  <a:srgbClr val="595959"/>
                </a:solidFill>
                <a:cs typeface="+mn-ea"/>
              </a:rPr>
              <a:t>App</a:t>
            </a:r>
            <a:r>
              <a:rPr lang="zh-CN" altLang="zh-CN" sz="2000" b="1">
                <a:solidFill>
                  <a:srgbClr val="595959"/>
                </a:solidFill>
                <a:cs typeface="+mn-ea"/>
              </a:rPr>
              <a:t>的</a:t>
            </a:r>
            <a:r>
              <a:rPr lang="en-US" altLang="zh-CN" sz="2000" b="1">
                <a:solidFill>
                  <a:srgbClr val="595959"/>
                </a:solidFill>
                <a:cs typeface="+mn-ea"/>
              </a:rPr>
              <a:t>UI</a:t>
            </a:r>
            <a:r>
              <a:rPr lang="zh-CN" altLang="zh-CN" sz="2000" b="1">
                <a:solidFill>
                  <a:srgbClr val="595959"/>
                </a:solidFill>
                <a:cs typeface="+mn-ea"/>
              </a:rPr>
              <a:t>测试</a:t>
            </a:r>
            <a:r>
              <a:rPr lang="zh-CN" altLang="en-US" sz="2000" b="1">
                <a:solidFill>
                  <a:srgbClr val="595959"/>
                </a:solidFill>
                <a:cs typeface="+mn-ea"/>
              </a:rPr>
              <a:t>的</a:t>
            </a:r>
            <a:r>
              <a:rPr lang="en-US" altLang="zh-CN" sz="2000" b="1">
                <a:solidFill>
                  <a:srgbClr val="595959"/>
                </a:solidFill>
                <a:cs typeface="+mn-ea"/>
              </a:rPr>
              <a:t>3</a:t>
            </a:r>
            <a:r>
              <a:rPr lang="zh-CN" altLang="zh-CN" sz="2000" b="1">
                <a:solidFill>
                  <a:srgbClr val="595959"/>
                </a:solidFill>
                <a:cs typeface="+mn-ea"/>
              </a:rPr>
              <a:t>个要点</a:t>
            </a:r>
            <a:endParaRPr lang="zh-CN" altLang="en-US" sz="2000" b="1" dirty="0">
              <a:solidFill>
                <a:srgbClr val="595959"/>
              </a:solidFill>
              <a:cs typeface="+mn-ea"/>
            </a:endParaRPr>
          </a:p>
        </p:txBody>
      </p:sp>
      <p:sp>
        <p:nvSpPr>
          <p:cNvPr id="24" name="TextBox 33"/>
          <p:cNvSpPr txBox="1"/>
          <p:nvPr/>
        </p:nvSpPr>
        <p:spPr>
          <a:xfrm>
            <a:off x="6501913" y="1807456"/>
            <a:ext cx="4452937" cy="6366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indent="457200">
              <a:lnSpc>
                <a:spcPct val="12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移动设备屏幕窄小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显示信息有限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界面的导航尤其重要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4270" y="3801580"/>
            <a:ext cx="45605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图形测试包括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等，要确保每一个图形都有明确用途。</a:t>
            </a:r>
          </a:p>
        </p:txBody>
      </p:sp>
      <p:sp>
        <p:nvSpPr>
          <p:cNvPr id="4" name="矩形 3"/>
          <p:cNvSpPr/>
          <p:nvPr/>
        </p:nvSpPr>
        <p:spPr>
          <a:xfrm>
            <a:off x="6357674" y="5619708"/>
            <a:ext cx="432397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内容测试主要是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测试文字的使用情况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303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309471" y="1197794"/>
            <a:ext cx="712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导航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时，通常需要考虑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MH_Text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32054" y="3212943"/>
            <a:ext cx="3283177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lvl="0" defTabSz="508000" eaLnBrk="0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功能界面之间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是否有按钮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窗口导航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cxnSp>
        <p:nvCxnSpPr>
          <p:cNvPr id="11" name="MH_Other_1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 rot="10800000">
            <a:off x="2784159" y="4610736"/>
            <a:ext cx="2503487" cy="296863"/>
          </a:xfrm>
          <a:prstGeom prst="bentConnector3">
            <a:avLst>
              <a:gd name="adj1" fmla="val 33894"/>
            </a:avLst>
          </a:prstGeom>
          <a:noFill/>
          <a:ln w="3175" algn="ctr">
            <a:solidFill>
              <a:srgbClr val="014076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MH_Other_2"/>
          <p:cNvSpPr>
            <a:spLocks noEditPoints="1" noChangeArrowheads="1"/>
          </p:cNvSpPr>
          <p:nvPr>
            <p:custDataLst>
              <p:tags r:id="rId3"/>
            </p:custDataLst>
          </p:nvPr>
        </p:nvSpPr>
        <p:spPr bwMode="auto">
          <a:xfrm>
            <a:off x="5979796" y="1992949"/>
            <a:ext cx="1338263" cy="1641475"/>
          </a:xfrm>
          <a:custGeom>
            <a:avLst/>
            <a:gdLst>
              <a:gd name="T0" fmla="*/ 10391 w 21600"/>
              <a:gd name="T1" fmla="*/ 15806 h 21600"/>
              <a:gd name="T2" fmla="*/ 20551 w 21600"/>
              <a:gd name="T3" fmla="*/ 21088 h 21600"/>
              <a:gd name="T4" fmla="*/ 13180 w 21600"/>
              <a:gd name="T5" fmla="*/ 13801 h 21600"/>
              <a:gd name="T6" fmla="*/ 20551 w 21600"/>
              <a:gd name="T7" fmla="*/ 7025 h 21600"/>
              <a:gd name="T8" fmla="*/ 10500 w 21600"/>
              <a:gd name="T9" fmla="*/ 52 h 21600"/>
              <a:gd name="T10" fmla="*/ 692 w 21600"/>
              <a:gd name="T11" fmla="*/ 6802 h 21600"/>
              <a:gd name="T12" fmla="*/ 8064 w 21600"/>
              <a:gd name="T13" fmla="*/ 13526 h 21600"/>
              <a:gd name="T14" fmla="*/ 692 w 21600"/>
              <a:gd name="T15" fmla="*/ 21088 h 21600"/>
              <a:gd name="T16" fmla="*/ 2273 w 21600"/>
              <a:gd name="T17" fmla="*/ 7719 h 21600"/>
              <a:gd name="T18" fmla="*/ 19149 w 21600"/>
              <a:gd name="T19" fmla="*/ 202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6625" y="20892"/>
                </a:moveTo>
                <a:lnTo>
                  <a:pt x="7105" y="21023"/>
                </a:lnTo>
                <a:lnTo>
                  <a:pt x="7513" y="21088"/>
                </a:lnTo>
                <a:lnTo>
                  <a:pt x="7922" y="21115"/>
                </a:lnTo>
                <a:lnTo>
                  <a:pt x="8242" y="21115"/>
                </a:lnTo>
                <a:lnTo>
                  <a:pt x="8544" y="21062"/>
                </a:lnTo>
                <a:lnTo>
                  <a:pt x="8810" y="20997"/>
                </a:lnTo>
                <a:lnTo>
                  <a:pt x="9023" y="20892"/>
                </a:lnTo>
                <a:lnTo>
                  <a:pt x="9148" y="20761"/>
                </a:lnTo>
                <a:lnTo>
                  <a:pt x="9290" y="20616"/>
                </a:lnTo>
                <a:lnTo>
                  <a:pt x="9361" y="20459"/>
                </a:lnTo>
                <a:lnTo>
                  <a:pt x="9396" y="20289"/>
                </a:lnTo>
                <a:lnTo>
                  <a:pt x="9396" y="20092"/>
                </a:lnTo>
                <a:lnTo>
                  <a:pt x="9325" y="19909"/>
                </a:lnTo>
                <a:lnTo>
                  <a:pt x="9219" y="19738"/>
                </a:lnTo>
                <a:lnTo>
                  <a:pt x="9094" y="19555"/>
                </a:lnTo>
                <a:lnTo>
                  <a:pt x="8917" y="19384"/>
                </a:lnTo>
                <a:lnTo>
                  <a:pt x="8650" y="19162"/>
                </a:lnTo>
                <a:lnTo>
                  <a:pt x="8437" y="18900"/>
                </a:lnTo>
                <a:lnTo>
                  <a:pt x="8277" y="18624"/>
                </a:lnTo>
                <a:lnTo>
                  <a:pt x="8135" y="18349"/>
                </a:lnTo>
                <a:lnTo>
                  <a:pt x="8028" y="18048"/>
                </a:lnTo>
                <a:lnTo>
                  <a:pt x="7993" y="17746"/>
                </a:lnTo>
                <a:lnTo>
                  <a:pt x="7993" y="17471"/>
                </a:lnTo>
                <a:lnTo>
                  <a:pt x="8028" y="17169"/>
                </a:lnTo>
                <a:lnTo>
                  <a:pt x="8135" y="16920"/>
                </a:lnTo>
                <a:lnTo>
                  <a:pt x="8277" y="16671"/>
                </a:lnTo>
                <a:lnTo>
                  <a:pt x="8366" y="16540"/>
                </a:lnTo>
                <a:lnTo>
                  <a:pt x="8473" y="16409"/>
                </a:lnTo>
                <a:lnTo>
                  <a:pt x="8615" y="16317"/>
                </a:lnTo>
                <a:lnTo>
                  <a:pt x="8739" y="16213"/>
                </a:lnTo>
                <a:lnTo>
                  <a:pt x="8881" y="16134"/>
                </a:lnTo>
                <a:lnTo>
                  <a:pt x="9059" y="16055"/>
                </a:lnTo>
                <a:lnTo>
                  <a:pt x="9254" y="15990"/>
                </a:lnTo>
                <a:lnTo>
                  <a:pt x="9432" y="15911"/>
                </a:lnTo>
                <a:lnTo>
                  <a:pt x="9663" y="15885"/>
                </a:lnTo>
                <a:lnTo>
                  <a:pt x="9876" y="15833"/>
                </a:lnTo>
                <a:lnTo>
                  <a:pt x="10142" y="15806"/>
                </a:lnTo>
                <a:lnTo>
                  <a:pt x="10391" y="15806"/>
                </a:lnTo>
                <a:lnTo>
                  <a:pt x="10728" y="15806"/>
                </a:lnTo>
                <a:lnTo>
                  <a:pt x="10995" y="15806"/>
                </a:lnTo>
                <a:lnTo>
                  <a:pt x="11279" y="15833"/>
                </a:lnTo>
                <a:lnTo>
                  <a:pt x="11546" y="15885"/>
                </a:lnTo>
                <a:lnTo>
                  <a:pt x="11776" y="15937"/>
                </a:lnTo>
                <a:lnTo>
                  <a:pt x="12025" y="15990"/>
                </a:lnTo>
                <a:lnTo>
                  <a:pt x="12221" y="16055"/>
                </a:lnTo>
                <a:lnTo>
                  <a:pt x="12434" y="16134"/>
                </a:lnTo>
                <a:lnTo>
                  <a:pt x="12611" y="16213"/>
                </a:lnTo>
                <a:lnTo>
                  <a:pt x="12771" y="16317"/>
                </a:lnTo>
                <a:lnTo>
                  <a:pt x="12913" y="16409"/>
                </a:lnTo>
                <a:lnTo>
                  <a:pt x="13038" y="16514"/>
                </a:lnTo>
                <a:lnTo>
                  <a:pt x="13251" y="16737"/>
                </a:lnTo>
                <a:lnTo>
                  <a:pt x="13428" y="16986"/>
                </a:lnTo>
                <a:lnTo>
                  <a:pt x="13517" y="17248"/>
                </a:lnTo>
                <a:lnTo>
                  <a:pt x="13588" y="17523"/>
                </a:lnTo>
                <a:lnTo>
                  <a:pt x="13588" y="17799"/>
                </a:lnTo>
                <a:lnTo>
                  <a:pt x="13517" y="18074"/>
                </a:lnTo>
                <a:lnTo>
                  <a:pt x="13428" y="18323"/>
                </a:lnTo>
                <a:lnTo>
                  <a:pt x="13286" y="18572"/>
                </a:lnTo>
                <a:lnTo>
                  <a:pt x="13109" y="18808"/>
                </a:lnTo>
                <a:lnTo>
                  <a:pt x="12878" y="19031"/>
                </a:lnTo>
                <a:lnTo>
                  <a:pt x="12434" y="19411"/>
                </a:lnTo>
                <a:lnTo>
                  <a:pt x="12132" y="19738"/>
                </a:lnTo>
                <a:lnTo>
                  <a:pt x="12025" y="19856"/>
                </a:lnTo>
                <a:lnTo>
                  <a:pt x="11919" y="20014"/>
                </a:lnTo>
                <a:lnTo>
                  <a:pt x="11883" y="20132"/>
                </a:lnTo>
                <a:lnTo>
                  <a:pt x="11883" y="20263"/>
                </a:lnTo>
                <a:lnTo>
                  <a:pt x="11883" y="20394"/>
                </a:lnTo>
                <a:lnTo>
                  <a:pt x="11954" y="20485"/>
                </a:lnTo>
                <a:lnTo>
                  <a:pt x="12061" y="20590"/>
                </a:lnTo>
                <a:lnTo>
                  <a:pt x="12185" y="20695"/>
                </a:lnTo>
                <a:lnTo>
                  <a:pt x="12327" y="20787"/>
                </a:lnTo>
                <a:lnTo>
                  <a:pt x="12540" y="20892"/>
                </a:lnTo>
                <a:lnTo>
                  <a:pt x="12771" y="20997"/>
                </a:lnTo>
                <a:lnTo>
                  <a:pt x="13073" y="21088"/>
                </a:lnTo>
                <a:lnTo>
                  <a:pt x="13428" y="21193"/>
                </a:lnTo>
                <a:lnTo>
                  <a:pt x="13873" y="21298"/>
                </a:lnTo>
                <a:lnTo>
                  <a:pt x="14317" y="21390"/>
                </a:lnTo>
                <a:lnTo>
                  <a:pt x="14778" y="21468"/>
                </a:lnTo>
                <a:lnTo>
                  <a:pt x="15294" y="21547"/>
                </a:lnTo>
                <a:lnTo>
                  <a:pt x="15809" y="21600"/>
                </a:lnTo>
                <a:lnTo>
                  <a:pt x="16359" y="21652"/>
                </a:lnTo>
                <a:lnTo>
                  <a:pt x="16875" y="21678"/>
                </a:lnTo>
                <a:lnTo>
                  <a:pt x="17407" y="21678"/>
                </a:lnTo>
                <a:lnTo>
                  <a:pt x="17958" y="21678"/>
                </a:lnTo>
                <a:lnTo>
                  <a:pt x="18473" y="21652"/>
                </a:lnTo>
                <a:lnTo>
                  <a:pt x="18953" y="21573"/>
                </a:lnTo>
                <a:lnTo>
                  <a:pt x="19397" y="21495"/>
                </a:lnTo>
                <a:lnTo>
                  <a:pt x="19841" y="21390"/>
                </a:lnTo>
                <a:lnTo>
                  <a:pt x="20214" y="21272"/>
                </a:lnTo>
                <a:lnTo>
                  <a:pt x="20551" y="21088"/>
                </a:lnTo>
                <a:lnTo>
                  <a:pt x="20480" y="20787"/>
                </a:lnTo>
                <a:lnTo>
                  <a:pt x="20409" y="20485"/>
                </a:lnTo>
                <a:lnTo>
                  <a:pt x="20356" y="20158"/>
                </a:lnTo>
                <a:lnTo>
                  <a:pt x="20356" y="19804"/>
                </a:lnTo>
                <a:lnTo>
                  <a:pt x="20321" y="19083"/>
                </a:lnTo>
                <a:lnTo>
                  <a:pt x="20356" y="18349"/>
                </a:lnTo>
                <a:lnTo>
                  <a:pt x="20409" y="17641"/>
                </a:lnTo>
                <a:lnTo>
                  <a:pt x="20480" y="17012"/>
                </a:lnTo>
                <a:lnTo>
                  <a:pt x="20551" y="16488"/>
                </a:lnTo>
                <a:lnTo>
                  <a:pt x="20551" y="16055"/>
                </a:lnTo>
                <a:lnTo>
                  <a:pt x="20551" y="15911"/>
                </a:lnTo>
                <a:lnTo>
                  <a:pt x="20445" y="15754"/>
                </a:lnTo>
                <a:lnTo>
                  <a:pt x="20356" y="15610"/>
                </a:lnTo>
                <a:lnTo>
                  <a:pt x="20178" y="15452"/>
                </a:lnTo>
                <a:lnTo>
                  <a:pt x="20001" y="15334"/>
                </a:lnTo>
                <a:lnTo>
                  <a:pt x="19770" y="15230"/>
                </a:lnTo>
                <a:lnTo>
                  <a:pt x="19521" y="15125"/>
                </a:lnTo>
                <a:lnTo>
                  <a:pt x="19290" y="15059"/>
                </a:lnTo>
                <a:lnTo>
                  <a:pt x="19024" y="15007"/>
                </a:lnTo>
                <a:lnTo>
                  <a:pt x="18740" y="14954"/>
                </a:lnTo>
                <a:lnTo>
                  <a:pt x="18509" y="14954"/>
                </a:lnTo>
                <a:lnTo>
                  <a:pt x="18225" y="14954"/>
                </a:lnTo>
                <a:lnTo>
                  <a:pt x="17994" y="15007"/>
                </a:lnTo>
                <a:lnTo>
                  <a:pt x="17763" y="15085"/>
                </a:lnTo>
                <a:lnTo>
                  <a:pt x="17550" y="15177"/>
                </a:lnTo>
                <a:lnTo>
                  <a:pt x="17372" y="15308"/>
                </a:lnTo>
                <a:lnTo>
                  <a:pt x="17176" y="15426"/>
                </a:lnTo>
                <a:lnTo>
                  <a:pt x="16928" y="15557"/>
                </a:lnTo>
                <a:lnTo>
                  <a:pt x="16661" y="15636"/>
                </a:lnTo>
                <a:lnTo>
                  <a:pt x="16359" y="15688"/>
                </a:lnTo>
                <a:lnTo>
                  <a:pt x="16022" y="15715"/>
                </a:lnTo>
                <a:lnTo>
                  <a:pt x="15667" y="15688"/>
                </a:lnTo>
                <a:lnTo>
                  <a:pt x="15294" y="15662"/>
                </a:lnTo>
                <a:lnTo>
                  <a:pt x="14956" y="15583"/>
                </a:lnTo>
                <a:lnTo>
                  <a:pt x="14619" y="15479"/>
                </a:lnTo>
                <a:lnTo>
                  <a:pt x="14281" y="15334"/>
                </a:lnTo>
                <a:lnTo>
                  <a:pt x="13961" y="15177"/>
                </a:lnTo>
                <a:lnTo>
                  <a:pt x="13695" y="14981"/>
                </a:lnTo>
                <a:lnTo>
                  <a:pt x="13588" y="14850"/>
                </a:lnTo>
                <a:lnTo>
                  <a:pt x="13482" y="14732"/>
                </a:lnTo>
                <a:lnTo>
                  <a:pt x="13393" y="14600"/>
                </a:lnTo>
                <a:lnTo>
                  <a:pt x="13322" y="14456"/>
                </a:lnTo>
                <a:lnTo>
                  <a:pt x="13251" y="14299"/>
                </a:lnTo>
                <a:lnTo>
                  <a:pt x="13215" y="14155"/>
                </a:lnTo>
                <a:lnTo>
                  <a:pt x="13180" y="13971"/>
                </a:lnTo>
                <a:lnTo>
                  <a:pt x="13180" y="13801"/>
                </a:lnTo>
                <a:lnTo>
                  <a:pt x="13180" y="13591"/>
                </a:lnTo>
                <a:lnTo>
                  <a:pt x="13215" y="13395"/>
                </a:lnTo>
                <a:lnTo>
                  <a:pt x="13251" y="13198"/>
                </a:lnTo>
                <a:lnTo>
                  <a:pt x="13322" y="13015"/>
                </a:lnTo>
                <a:lnTo>
                  <a:pt x="13393" y="12870"/>
                </a:lnTo>
                <a:lnTo>
                  <a:pt x="13482" y="12713"/>
                </a:lnTo>
                <a:lnTo>
                  <a:pt x="13588" y="12569"/>
                </a:lnTo>
                <a:lnTo>
                  <a:pt x="13730" y="12438"/>
                </a:lnTo>
                <a:lnTo>
                  <a:pt x="13997" y="12215"/>
                </a:lnTo>
                <a:lnTo>
                  <a:pt x="14334" y="12005"/>
                </a:lnTo>
                <a:lnTo>
                  <a:pt x="14690" y="11861"/>
                </a:lnTo>
                <a:lnTo>
                  <a:pt x="15063" y="11756"/>
                </a:lnTo>
                <a:lnTo>
                  <a:pt x="15436" y="11678"/>
                </a:lnTo>
                <a:lnTo>
                  <a:pt x="15809" y="11638"/>
                </a:lnTo>
                <a:lnTo>
                  <a:pt x="16182" y="11638"/>
                </a:lnTo>
                <a:lnTo>
                  <a:pt x="16555" y="11678"/>
                </a:lnTo>
                <a:lnTo>
                  <a:pt x="16910" y="11730"/>
                </a:lnTo>
                <a:lnTo>
                  <a:pt x="17248" y="11835"/>
                </a:lnTo>
                <a:lnTo>
                  <a:pt x="17514" y="11966"/>
                </a:lnTo>
                <a:lnTo>
                  <a:pt x="17763" y="12110"/>
                </a:lnTo>
                <a:lnTo>
                  <a:pt x="17887" y="12215"/>
                </a:lnTo>
                <a:lnTo>
                  <a:pt x="18065" y="12307"/>
                </a:lnTo>
                <a:lnTo>
                  <a:pt x="18260" y="12412"/>
                </a:lnTo>
                <a:lnTo>
                  <a:pt x="18438" y="12464"/>
                </a:lnTo>
                <a:lnTo>
                  <a:pt x="18669" y="12543"/>
                </a:lnTo>
                <a:lnTo>
                  <a:pt x="18882" y="12569"/>
                </a:lnTo>
                <a:lnTo>
                  <a:pt x="19113" y="12595"/>
                </a:lnTo>
                <a:lnTo>
                  <a:pt x="19361" y="12608"/>
                </a:lnTo>
                <a:lnTo>
                  <a:pt x="19592" y="12608"/>
                </a:lnTo>
                <a:lnTo>
                  <a:pt x="19841" y="12595"/>
                </a:lnTo>
                <a:lnTo>
                  <a:pt x="20072" y="12543"/>
                </a:lnTo>
                <a:lnTo>
                  <a:pt x="20321" y="12490"/>
                </a:lnTo>
                <a:lnTo>
                  <a:pt x="20551" y="12438"/>
                </a:lnTo>
                <a:lnTo>
                  <a:pt x="20800" y="12333"/>
                </a:lnTo>
                <a:lnTo>
                  <a:pt x="20996" y="12241"/>
                </a:lnTo>
                <a:lnTo>
                  <a:pt x="21244" y="12110"/>
                </a:lnTo>
                <a:lnTo>
                  <a:pt x="21298" y="12032"/>
                </a:lnTo>
                <a:lnTo>
                  <a:pt x="21404" y="11966"/>
                </a:lnTo>
                <a:lnTo>
                  <a:pt x="21475" y="11861"/>
                </a:lnTo>
                <a:lnTo>
                  <a:pt x="21511" y="11730"/>
                </a:lnTo>
                <a:lnTo>
                  <a:pt x="21617" y="11481"/>
                </a:lnTo>
                <a:lnTo>
                  <a:pt x="21653" y="11180"/>
                </a:lnTo>
                <a:lnTo>
                  <a:pt x="21653" y="10826"/>
                </a:lnTo>
                <a:lnTo>
                  <a:pt x="21653" y="10472"/>
                </a:lnTo>
                <a:lnTo>
                  <a:pt x="21582" y="10092"/>
                </a:lnTo>
                <a:lnTo>
                  <a:pt x="21511" y="9725"/>
                </a:lnTo>
                <a:lnTo>
                  <a:pt x="21298" y="8912"/>
                </a:lnTo>
                <a:lnTo>
                  <a:pt x="21067" y="8191"/>
                </a:lnTo>
                <a:lnTo>
                  <a:pt x="20800" y="7536"/>
                </a:lnTo>
                <a:lnTo>
                  <a:pt x="20551" y="7025"/>
                </a:lnTo>
                <a:lnTo>
                  <a:pt x="20001" y="7103"/>
                </a:lnTo>
                <a:lnTo>
                  <a:pt x="19432" y="7156"/>
                </a:lnTo>
                <a:lnTo>
                  <a:pt x="18846" y="7208"/>
                </a:lnTo>
                <a:lnTo>
                  <a:pt x="18225" y="7208"/>
                </a:lnTo>
                <a:lnTo>
                  <a:pt x="17656" y="7208"/>
                </a:lnTo>
                <a:lnTo>
                  <a:pt x="17070" y="7182"/>
                </a:lnTo>
                <a:lnTo>
                  <a:pt x="16484" y="7156"/>
                </a:lnTo>
                <a:lnTo>
                  <a:pt x="15986" y="7103"/>
                </a:lnTo>
                <a:lnTo>
                  <a:pt x="14992" y="6999"/>
                </a:lnTo>
                <a:lnTo>
                  <a:pt x="14210" y="6907"/>
                </a:lnTo>
                <a:lnTo>
                  <a:pt x="13695" y="6828"/>
                </a:lnTo>
                <a:lnTo>
                  <a:pt x="13517" y="6802"/>
                </a:lnTo>
                <a:lnTo>
                  <a:pt x="13073" y="6645"/>
                </a:lnTo>
                <a:lnTo>
                  <a:pt x="12700" y="6474"/>
                </a:lnTo>
                <a:lnTo>
                  <a:pt x="12363" y="6304"/>
                </a:lnTo>
                <a:lnTo>
                  <a:pt x="12132" y="6094"/>
                </a:lnTo>
                <a:lnTo>
                  <a:pt x="11919" y="5871"/>
                </a:lnTo>
                <a:lnTo>
                  <a:pt x="11776" y="5649"/>
                </a:lnTo>
                <a:lnTo>
                  <a:pt x="11688" y="5413"/>
                </a:lnTo>
                <a:lnTo>
                  <a:pt x="11617" y="5190"/>
                </a:lnTo>
                <a:lnTo>
                  <a:pt x="11617" y="4941"/>
                </a:lnTo>
                <a:lnTo>
                  <a:pt x="11652" y="4718"/>
                </a:lnTo>
                <a:lnTo>
                  <a:pt x="11723" y="4482"/>
                </a:lnTo>
                <a:lnTo>
                  <a:pt x="11812" y="4285"/>
                </a:lnTo>
                <a:lnTo>
                  <a:pt x="11919" y="4089"/>
                </a:lnTo>
                <a:lnTo>
                  <a:pt x="12096" y="3905"/>
                </a:lnTo>
                <a:lnTo>
                  <a:pt x="12292" y="3735"/>
                </a:lnTo>
                <a:lnTo>
                  <a:pt x="12505" y="3604"/>
                </a:lnTo>
                <a:lnTo>
                  <a:pt x="12700" y="3460"/>
                </a:lnTo>
                <a:lnTo>
                  <a:pt x="12878" y="3250"/>
                </a:lnTo>
                <a:lnTo>
                  <a:pt x="13038" y="3027"/>
                </a:lnTo>
                <a:lnTo>
                  <a:pt x="13180" y="2752"/>
                </a:lnTo>
                <a:lnTo>
                  <a:pt x="13286" y="2477"/>
                </a:lnTo>
                <a:lnTo>
                  <a:pt x="13322" y="2175"/>
                </a:lnTo>
                <a:lnTo>
                  <a:pt x="13357" y="1874"/>
                </a:lnTo>
                <a:lnTo>
                  <a:pt x="13286" y="1572"/>
                </a:lnTo>
                <a:lnTo>
                  <a:pt x="13180" y="1271"/>
                </a:lnTo>
                <a:lnTo>
                  <a:pt x="13038" y="983"/>
                </a:lnTo>
                <a:lnTo>
                  <a:pt x="12949" y="865"/>
                </a:lnTo>
                <a:lnTo>
                  <a:pt x="12807" y="733"/>
                </a:lnTo>
                <a:lnTo>
                  <a:pt x="12665" y="616"/>
                </a:lnTo>
                <a:lnTo>
                  <a:pt x="12505" y="511"/>
                </a:lnTo>
                <a:lnTo>
                  <a:pt x="12327" y="406"/>
                </a:lnTo>
                <a:lnTo>
                  <a:pt x="12132" y="314"/>
                </a:lnTo>
                <a:lnTo>
                  <a:pt x="11883" y="235"/>
                </a:lnTo>
                <a:lnTo>
                  <a:pt x="11652" y="183"/>
                </a:lnTo>
                <a:lnTo>
                  <a:pt x="11368" y="104"/>
                </a:lnTo>
                <a:lnTo>
                  <a:pt x="11101" y="78"/>
                </a:lnTo>
                <a:lnTo>
                  <a:pt x="10800" y="52"/>
                </a:lnTo>
                <a:lnTo>
                  <a:pt x="10444" y="52"/>
                </a:lnTo>
                <a:lnTo>
                  <a:pt x="10142" y="52"/>
                </a:lnTo>
                <a:lnTo>
                  <a:pt x="9840" y="78"/>
                </a:lnTo>
                <a:lnTo>
                  <a:pt x="9574" y="104"/>
                </a:lnTo>
                <a:lnTo>
                  <a:pt x="9325" y="157"/>
                </a:lnTo>
                <a:lnTo>
                  <a:pt x="9094" y="209"/>
                </a:lnTo>
                <a:lnTo>
                  <a:pt x="8846" y="262"/>
                </a:lnTo>
                <a:lnTo>
                  <a:pt x="8650" y="340"/>
                </a:lnTo>
                <a:lnTo>
                  <a:pt x="8437" y="432"/>
                </a:lnTo>
                <a:lnTo>
                  <a:pt x="8277" y="511"/>
                </a:lnTo>
                <a:lnTo>
                  <a:pt x="8100" y="616"/>
                </a:lnTo>
                <a:lnTo>
                  <a:pt x="7957" y="707"/>
                </a:lnTo>
                <a:lnTo>
                  <a:pt x="7833" y="838"/>
                </a:lnTo>
                <a:lnTo>
                  <a:pt x="7620" y="1061"/>
                </a:lnTo>
                <a:lnTo>
                  <a:pt x="7442" y="1336"/>
                </a:lnTo>
                <a:lnTo>
                  <a:pt x="7353" y="1599"/>
                </a:lnTo>
                <a:lnTo>
                  <a:pt x="7318" y="1900"/>
                </a:lnTo>
                <a:lnTo>
                  <a:pt x="7318" y="2175"/>
                </a:lnTo>
                <a:lnTo>
                  <a:pt x="7353" y="2450"/>
                </a:lnTo>
                <a:lnTo>
                  <a:pt x="7442" y="2726"/>
                </a:lnTo>
                <a:lnTo>
                  <a:pt x="7620" y="2975"/>
                </a:lnTo>
                <a:lnTo>
                  <a:pt x="7833" y="3198"/>
                </a:lnTo>
                <a:lnTo>
                  <a:pt x="8064" y="3433"/>
                </a:lnTo>
                <a:lnTo>
                  <a:pt x="8295" y="3630"/>
                </a:lnTo>
                <a:lnTo>
                  <a:pt x="8508" y="3853"/>
                </a:lnTo>
                <a:lnTo>
                  <a:pt x="8686" y="4089"/>
                </a:lnTo>
                <a:lnTo>
                  <a:pt x="8775" y="4312"/>
                </a:lnTo>
                <a:lnTo>
                  <a:pt x="8846" y="4561"/>
                </a:lnTo>
                <a:lnTo>
                  <a:pt x="8846" y="4810"/>
                </a:lnTo>
                <a:lnTo>
                  <a:pt x="8810" y="5059"/>
                </a:lnTo>
                <a:lnTo>
                  <a:pt x="8721" y="5295"/>
                </a:lnTo>
                <a:lnTo>
                  <a:pt x="8579" y="5544"/>
                </a:lnTo>
                <a:lnTo>
                  <a:pt x="8366" y="5766"/>
                </a:lnTo>
                <a:lnTo>
                  <a:pt x="8135" y="5976"/>
                </a:lnTo>
                <a:lnTo>
                  <a:pt x="7833" y="6199"/>
                </a:lnTo>
                <a:lnTo>
                  <a:pt x="7478" y="6369"/>
                </a:lnTo>
                <a:lnTo>
                  <a:pt x="7069" y="6527"/>
                </a:lnTo>
                <a:lnTo>
                  <a:pt x="6590" y="6671"/>
                </a:lnTo>
                <a:lnTo>
                  <a:pt x="6092" y="6802"/>
                </a:lnTo>
                <a:lnTo>
                  <a:pt x="5684" y="6802"/>
                </a:lnTo>
                <a:lnTo>
                  <a:pt x="5133" y="6802"/>
                </a:lnTo>
                <a:lnTo>
                  <a:pt x="4547" y="6802"/>
                </a:lnTo>
                <a:lnTo>
                  <a:pt x="3872" y="6802"/>
                </a:lnTo>
                <a:lnTo>
                  <a:pt x="3144" y="6802"/>
                </a:lnTo>
                <a:lnTo>
                  <a:pt x="2362" y="6802"/>
                </a:lnTo>
                <a:lnTo>
                  <a:pt x="1545" y="6802"/>
                </a:lnTo>
                <a:lnTo>
                  <a:pt x="692" y="6802"/>
                </a:lnTo>
                <a:lnTo>
                  <a:pt x="586" y="7234"/>
                </a:lnTo>
                <a:lnTo>
                  <a:pt x="461" y="7837"/>
                </a:lnTo>
                <a:lnTo>
                  <a:pt x="355" y="8493"/>
                </a:lnTo>
                <a:lnTo>
                  <a:pt x="248" y="9187"/>
                </a:lnTo>
                <a:lnTo>
                  <a:pt x="142" y="9869"/>
                </a:lnTo>
                <a:lnTo>
                  <a:pt x="106" y="10498"/>
                </a:lnTo>
                <a:lnTo>
                  <a:pt x="106" y="10983"/>
                </a:lnTo>
                <a:lnTo>
                  <a:pt x="106" y="11311"/>
                </a:lnTo>
                <a:lnTo>
                  <a:pt x="213" y="11481"/>
                </a:lnTo>
                <a:lnTo>
                  <a:pt x="319" y="11651"/>
                </a:lnTo>
                <a:lnTo>
                  <a:pt x="497" y="11783"/>
                </a:lnTo>
                <a:lnTo>
                  <a:pt x="692" y="11914"/>
                </a:lnTo>
                <a:lnTo>
                  <a:pt x="941" y="12032"/>
                </a:lnTo>
                <a:lnTo>
                  <a:pt x="1207" y="12110"/>
                </a:lnTo>
                <a:lnTo>
                  <a:pt x="1509" y="12189"/>
                </a:lnTo>
                <a:lnTo>
                  <a:pt x="1794" y="12241"/>
                </a:lnTo>
                <a:lnTo>
                  <a:pt x="2131" y="12267"/>
                </a:lnTo>
                <a:lnTo>
                  <a:pt x="2433" y="12281"/>
                </a:lnTo>
                <a:lnTo>
                  <a:pt x="2735" y="12267"/>
                </a:lnTo>
                <a:lnTo>
                  <a:pt x="3055" y="12241"/>
                </a:lnTo>
                <a:lnTo>
                  <a:pt x="3357" y="12189"/>
                </a:lnTo>
                <a:lnTo>
                  <a:pt x="3623" y="12084"/>
                </a:lnTo>
                <a:lnTo>
                  <a:pt x="3872" y="11979"/>
                </a:lnTo>
                <a:lnTo>
                  <a:pt x="4103" y="11861"/>
                </a:lnTo>
                <a:lnTo>
                  <a:pt x="4316" y="11704"/>
                </a:lnTo>
                <a:lnTo>
                  <a:pt x="4582" y="11612"/>
                </a:lnTo>
                <a:lnTo>
                  <a:pt x="4849" y="11533"/>
                </a:lnTo>
                <a:lnTo>
                  <a:pt x="5169" y="11507"/>
                </a:lnTo>
                <a:lnTo>
                  <a:pt x="5506" y="11481"/>
                </a:lnTo>
                <a:lnTo>
                  <a:pt x="5808" y="11507"/>
                </a:lnTo>
                <a:lnTo>
                  <a:pt x="6146" y="11560"/>
                </a:lnTo>
                <a:lnTo>
                  <a:pt x="6501" y="11651"/>
                </a:lnTo>
                <a:lnTo>
                  <a:pt x="6803" y="11783"/>
                </a:lnTo>
                <a:lnTo>
                  <a:pt x="7105" y="11940"/>
                </a:lnTo>
                <a:lnTo>
                  <a:pt x="7353" y="12110"/>
                </a:lnTo>
                <a:lnTo>
                  <a:pt x="7584" y="12333"/>
                </a:lnTo>
                <a:lnTo>
                  <a:pt x="7798" y="12595"/>
                </a:lnTo>
                <a:lnTo>
                  <a:pt x="7922" y="12870"/>
                </a:lnTo>
                <a:lnTo>
                  <a:pt x="8028" y="13198"/>
                </a:lnTo>
                <a:lnTo>
                  <a:pt x="8064" y="13526"/>
                </a:lnTo>
                <a:lnTo>
                  <a:pt x="8028" y="13775"/>
                </a:lnTo>
                <a:lnTo>
                  <a:pt x="7922" y="13998"/>
                </a:lnTo>
                <a:lnTo>
                  <a:pt x="7798" y="14220"/>
                </a:lnTo>
                <a:lnTo>
                  <a:pt x="7584" y="14404"/>
                </a:lnTo>
                <a:lnTo>
                  <a:pt x="7353" y="14574"/>
                </a:lnTo>
                <a:lnTo>
                  <a:pt x="7105" y="14732"/>
                </a:lnTo>
                <a:lnTo>
                  <a:pt x="6803" y="14850"/>
                </a:lnTo>
                <a:lnTo>
                  <a:pt x="6501" y="14954"/>
                </a:lnTo>
                <a:lnTo>
                  <a:pt x="6146" y="15033"/>
                </a:lnTo>
                <a:lnTo>
                  <a:pt x="5808" y="15085"/>
                </a:lnTo>
                <a:lnTo>
                  <a:pt x="5506" y="15085"/>
                </a:lnTo>
                <a:lnTo>
                  <a:pt x="5169" y="15059"/>
                </a:lnTo>
                <a:lnTo>
                  <a:pt x="4849" y="15007"/>
                </a:lnTo>
                <a:lnTo>
                  <a:pt x="4582" y="14902"/>
                </a:lnTo>
                <a:lnTo>
                  <a:pt x="4316" y="14784"/>
                </a:lnTo>
                <a:lnTo>
                  <a:pt x="4103" y="14600"/>
                </a:lnTo>
                <a:lnTo>
                  <a:pt x="3907" y="14430"/>
                </a:lnTo>
                <a:lnTo>
                  <a:pt x="3659" y="14299"/>
                </a:lnTo>
                <a:lnTo>
                  <a:pt x="3428" y="14194"/>
                </a:lnTo>
                <a:lnTo>
                  <a:pt x="3179" y="14129"/>
                </a:lnTo>
                <a:lnTo>
                  <a:pt x="2913" y="14102"/>
                </a:lnTo>
                <a:lnTo>
                  <a:pt x="2646" y="14102"/>
                </a:lnTo>
                <a:lnTo>
                  <a:pt x="2362" y="14129"/>
                </a:lnTo>
                <a:lnTo>
                  <a:pt x="2096" y="14168"/>
                </a:lnTo>
                <a:lnTo>
                  <a:pt x="1811" y="14273"/>
                </a:lnTo>
                <a:lnTo>
                  <a:pt x="1545" y="14378"/>
                </a:lnTo>
                <a:lnTo>
                  <a:pt x="1314" y="14496"/>
                </a:lnTo>
                <a:lnTo>
                  <a:pt x="1065" y="14653"/>
                </a:lnTo>
                <a:lnTo>
                  <a:pt x="870" y="14797"/>
                </a:lnTo>
                <a:lnTo>
                  <a:pt x="657" y="14981"/>
                </a:lnTo>
                <a:lnTo>
                  <a:pt x="497" y="15177"/>
                </a:lnTo>
                <a:lnTo>
                  <a:pt x="390" y="15413"/>
                </a:lnTo>
                <a:lnTo>
                  <a:pt x="284" y="15636"/>
                </a:lnTo>
                <a:lnTo>
                  <a:pt x="248" y="15911"/>
                </a:lnTo>
                <a:lnTo>
                  <a:pt x="284" y="16239"/>
                </a:lnTo>
                <a:lnTo>
                  <a:pt x="319" y="16566"/>
                </a:lnTo>
                <a:lnTo>
                  <a:pt x="497" y="17340"/>
                </a:lnTo>
                <a:lnTo>
                  <a:pt x="692" y="18152"/>
                </a:lnTo>
                <a:lnTo>
                  <a:pt x="799" y="18559"/>
                </a:lnTo>
                <a:lnTo>
                  <a:pt x="905" y="18978"/>
                </a:lnTo>
                <a:lnTo>
                  <a:pt x="959" y="19384"/>
                </a:lnTo>
                <a:lnTo>
                  <a:pt x="994" y="19791"/>
                </a:lnTo>
                <a:lnTo>
                  <a:pt x="994" y="20132"/>
                </a:lnTo>
                <a:lnTo>
                  <a:pt x="959" y="20485"/>
                </a:lnTo>
                <a:lnTo>
                  <a:pt x="941" y="20669"/>
                </a:lnTo>
                <a:lnTo>
                  <a:pt x="870" y="20813"/>
                </a:lnTo>
                <a:lnTo>
                  <a:pt x="799" y="20970"/>
                </a:lnTo>
                <a:lnTo>
                  <a:pt x="692" y="21088"/>
                </a:lnTo>
                <a:lnTo>
                  <a:pt x="1474" y="20997"/>
                </a:lnTo>
                <a:lnTo>
                  <a:pt x="2291" y="20866"/>
                </a:lnTo>
                <a:lnTo>
                  <a:pt x="3108" y="20787"/>
                </a:lnTo>
                <a:lnTo>
                  <a:pt x="3907" y="20721"/>
                </a:lnTo>
                <a:lnTo>
                  <a:pt x="4653" y="20695"/>
                </a:lnTo>
                <a:lnTo>
                  <a:pt x="5364" y="20695"/>
                </a:lnTo>
                <a:lnTo>
                  <a:pt x="5701" y="20721"/>
                </a:lnTo>
                <a:lnTo>
                  <a:pt x="6057" y="20761"/>
                </a:lnTo>
                <a:lnTo>
                  <a:pt x="6323" y="20813"/>
                </a:lnTo>
                <a:lnTo>
                  <a:pt x="6625" y="20892"/>
                </a:lnTo>
                <a:close/>
              </a:path>
            </a:pathLst>
          </a:custGeom>
          <a:solidFill>
            <a:srgbClr val="0070C0"/>
          </a:solidFill>
          <a:ln w="28575">
            <a:solidFill>
              <a:srgbClr val="FFFFFF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3" name="MH_Other_3"/>
          <p:cNvSpPr>
            <a:spLocks noEditPoints="1" noChangeArrowheads="1"/>
          </p:cNvSpPr>
          <p:nvPr>
            <p:custDataLst>
              <p:tags r:id="rId4"/>
            </p:custDataLst>
          </p:nvPr>
        </p:nvSpPr>
        <p:spPr bwMode="auto">
          <a:xfrm>
            <a:off x="5590859" y="3188336"/>
            <a:ext cx="2135187" cy="1495425"/>
          </a:xfrm>
          <a:custGeom>
            <a:avLst/>
            <a:gdLst>
              <a:gd name="T0" fmla="*/ 11 w 21600"/>
              <a:gd name="T1" fmla="*/ 13386 h 21600"/>
              <a:gd name="T2" fmla="*/ 4202 w 21600"/>
              <a:gd name="T3" fmla="*/ 21161 h 21600"/>
              <a:gd name="T4" fmla="*/ 10400 w 21600"/>
              <a:gd name="T5" fmla="*/ 13909 h 21600"/>
              <a:gd name="T6" fmla="*/ 16821 w 21600"/>
              <a:gd name="T7" fmla="*/ 21190 h 21600"/>
              <a:gd name="T8" fmla="*/ 21600 w 21600"/>
              <a:gd name="T9" fmla="*/ 15083 h 21600"/>
              <a:gd name="T10" fmla="*/ 16889 w 21600"/>
              <a:gd name="T11" fmla="*/ 5739 h 21600"/>
              <a:gd name="T12" fmla="*/ 10800 w 21600"/>
              <a:gd name="T13" fmla="*/ 28 h 21600"/>
              <a:gd name="T14" fmla="*/ 4202 w 21600"/>
              <a:gd name="T15" fmla="*/ 5894 h 21600"/>
              <a:gd name="T16" fmla="*/ 5388 w 21600"/>
              <a:gd name="T17" fmla="*/ 6742 h 21600"/>
              <a:gd name="T18" fmla="*/ 16177 w 21600"/>
              <a:gd name="T19" fmla="*/ 20441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47" y="12354"/>
                </a:moveTo>
                <a:lnTo>
                  <a:pt x="4134" y="12468"/>
                </a:lnTo>
                <a:lnTo>
                  <a:pt x="4010" y="12581"/>
                </a:lnTo>
                <a:lnTo>
                  <a:pt x="3897" y="12637"/>
                </a:lnTo>
                <a:lnTo>
                  <a:pt x="3773" y="12694"/>
                </a:lnTo>
                <a:lnTo>
                  <a:pt x="3637" y="12694"/>
                </a:lnTo>
                <a:lnTo>
                  <a:pt x="3524" y="12694"/>
                </a:lnTo>
                <a:lnTo>
                  <a:pt x="3400" y="12665"/>
                </a:lnTo>
                <a:lnTo>
                  <a:pt x="3287" y="12609"/>
                </a:lnTo>
                <a:lnTo>
                  <a:pt x="3027" y="12496"/>
                </a:lnTo>
                <a:lnTo>
                  <a:pt x="2790" y="12340"/>
                </a:lnTo>
                <a:lnTo>
                  <a:pt x="2530" y="12142"/>
                </a:lnTo>
                <a:lnTo>
                  <a:pt x="2293" y="11987"/>
                </a:lnTo>
                <a:lnTo>
                  <a:pt x="2033" y="11817"/>
                </a:lnTo>
                <a:lnTo>
                  <a:pt x="1773" y="11676"/>
                </a:lnTo>
                <a:lnTo>
                  <a:pt x="1638" y="11662"/>
                </a:lnTo>
                <a:lnTo>
                  <a:pt x="1513" y="11634"/>
                </a:lnTo>
                <a:lnTo>
                  <a:pt x="1378" y="11634"/>
                </a:lnTo>
                <a:lnTo>
                  <a:pt x="1253" y="11634"/>
                </a:lnTo>
                <a:lnTo>
                  <a:pt x="1118" y="11662"/>
                </a:lnTo>
                <a:lnTo>
                  <a:pt x="971" y="11732"/>
                </a:lnTo>
                <a:lnTo>
                  <a:pt x="835" y="11817"/>
                </a:lnTo>
                <a:lnTo>
                  <a:pt x="711" y="11959"/>
                </a:lnTo>
                <a:lnTo>
                  <a:pt x="553" y="12086"/>
                </a:lnTo>
                <a:lnTo>
                  <a:pt x="429" y="12284"/>
                </a:lnTo>
                <a:lnTo>
                  <a:pt x="271" y="12524"/>
                </a:lnTo>
                <a:lnTo>
                  <a:pt x="146" y="12793"/>
                </a:lnTo>
                <a:lnTo>
                  <a:pt x="79" y="12962"/>
                </a:lnTo>
                <a:lnTo>
                  <a:pt x="33" y="13146"/>
                </a:lnTo>
                <a:lnTo>
                  <a:pt x="11" y="13386"/>
                </a:lnTo>
                <a:lnTo>
                  <a:pt x="11" y="13641"/>
                </a:lnTo>
                <a:lnTo>
                  <a:pt x="33" y="13881"/>
                </a:lnTo>
                <a:lnTo>
                  <a:pt x="101" y="14150"/>
                </a:lnTo>
                <a:lnTo>
                  <a:pt x="192" y="14404"/>
                </a:lnTo>
                <a:lnTo>
                  <a:pt x="293" y="14645"/>
                </a:lnTo>
                <a:lnTo>
                  <a:pt x="451" y="14857"/>
                </a:lnTo>
                <a:lnTo>
                  <a:pt x="621" y="15054"/>
                </a:lnTo>
                <a:lnTo>
                  <a:pt x="734" y="15125"/>
                </a:lnTo>
                <a:lnTo>
                  <a:pt x="835" y="15210"/>
                </a:lnTo>
                <a:lnTo>
                  <a:pt x="948" y="15267"/>
                </a:lnTo>
                <a:lnTo>
                  <a:pt x="1084" y="15323"/>
                </a:lnTo>
                <a:lnTo>
                  <a:pt x="1208" y="15351"/>
                </a:lnTo>
                <a:lnTo>
                  <a:pt x="1355" y="15380"/>
                </a:lnTo>
                <a:lnTo>
                  <a:pt x="1513" y="15380"/>
                </a:lnTo>
                <a:lnTo>
                  <a:pt x="1683" y="15380"/>
                </a:lnTo>
                <a:lnTo>
                  <a:pt x="1864" y="15351"/>
                </a:lnTo>
                <a:lnTo>
                  <a:pt x="2033" y="15323"/>
                </a:lnTo>
                <a:lnTo>
                  <a:pt x="2225" y="15238"/>
                </a:lnTo>
                <a:lnTo>
                  <a:pt x="2428" y="15153"/>
                </a:lnTo>
                <a:lnTo>
                  <a:pt x="2745" y="15026"/>
                </a:lnTo>
                <a:lnTo>
                  <a:pt x="3005" y="14913"/>
                </a:lnTo>
                <a:lnTo>
                  <a:pt x="3264" y="14828"/>
                </a:lnTo>
                <a:lnTo>
                  <a:pt x="3513" y="14800"/>
                </a:lnTo>
                <a:lnTo>
                  <a:pt x="3615" y="14828"/>
                </a:lnTo>
                <a:lnTo>
                  <a:pt x="3728" y="14857"/>
                </a:lnTo>
                <a:lnTo>
                  <a:pt x="3807" y="14913"/>
                </a:lnTo>
                <a:lnTo>
                  <a:pt x="3920" y="14998"/>
                </a:lnTo>
                <a:lnTo>
                  <a:pt x="4010" y="15097"/>
                </a:lnTo>
                <a:lnTo>
                  <a:pt x="4089" y="15238"/>
                </a:lnTo>
                <a:lnTo>
                  <a:pt x="4179" y="15408"/>
                </a:lnTo>
                <a:lnTo>
                  <a:pt x="4247" y="15620"/>
                </a:lnTo>
                <a:lnTo>
                  <a:pt x="4326" y="15860"/>
                </a:lnTo>
                <a:lnTo>
                  <a:pt x="4394" y="16129"/>
                </a:lnTo>
                <a:lnTo>
                  <a:pt x="4439" y="16440"/>
                </a:lnTo>
                <a:lnTo>
                  <a:pt x="4507" y="16737"/>
                </a:lnTo>
                <a:lnTo>
                  <a:pt x="4552" y="17090"/>
                </a:lnTo>
                <a:lnTo>
                  <a:pt x="4575" y="17443"/>
                </a:lnTo>
                <a:lnTo>
                  <a:pt x="4586" y="17825"/>
                </a:lnTo>
                <a:lnTo>
                  <a:pt x="4586" y="18193"/>
                </a:lnTo>
                <a:lnTo>
                  <a:pt x="4586" y="18574"/>
                </a:lnTo>
                <a:lnTo>
                  <a:pt x="4586" y="18984"/>
                </a:lnTo>
                <a:lnTo>
                  <a:pt x="4552" y="19366"/>
                </a:lnTo>
                <a:lnTo>
                  <a:pt x="4507" y="19748"/>
                </a:lnTo>
                <a:lnTo>
                  <a:pt x="4462" y="20129"/>
                </a:lnTo>
                <a:lnTo>
                  <a:pt x="4371" y="20483"/>
                </a:lnTo>
                <a:lnTo>
                  <a:pt x="4292" y="20836"/>
                </a:lnTo>
                <a:lnTo>
                  <a:pt x="4202" y="21161"/>
                </a:lnTo>
                <a:lnTo>
                  <a:pt x="4744" y="21161"/>
                </a:lnTo>
                <a:lnTo>
                  <a:pt x="5264" y="21161"/>
                </a:lnTo>
                <a:lnTo>
                  <a:pt x="5784" y="21161"/>
                </a:lnTo>
                <a:lnTo>
                  <a:pt x="6235" y="21161"/>
                </a:lnTo>
                <a:lnTo>
                  <a:pt x="6676" y="21161"/>
                </a:lnTo>
                <a:lnTo>
                  <a:pt x="7060" y="21161"/>
                </a:lnTo>
                <a:lnTo>
                  <a:pt x="7410" y="21161"/>
                </a:lnTo>
                <a:lnTo>
                  <a:pt x="7670" y="21161"/>
                </a:lnTo>
                <a:lnTo>
                  <a:pt x="8020" y="21020"/>
                </a:lnTo>
                <a:lnTo>
                  <a:pt x="8303" y="20893"/>
                </a:lnTo>
                <a:lnTo>
                  <a:pt x="8563" y="20695"/>
                </a:lnTo>
                <a:lnTo>
                  <a:pt x="8800" y="20511"/>
                </a:lnTo>
                <a:lnTo>
                  <a:pt x="8969" y="20285"/>
                </a:lnTo>
                <a:lnTo>
                  <a:pt x="9150" y="20045"/>
                </a:lnTo>
                <a:lnTo>
                  <a:pt x="9252" y="19804"/>
                </a:lnTo>
                <a:lnTo>
                  <a:pt x="9342" y="19550"/>
                </a:lnTo>
                <a:lnTo>
                  <a:pt x="9410" y="19281"/>
                </a:lnTo>
                <a:lnTo>
                  <a:pt x="9433" y="19013"/>
                </a:lnTo>
                <a:lnTo>
                  <a:pt x="9433" y="18744"/>
                </a:lnTo>
                <a:lnTo>
                  <a:pt x="9387" y="18504"/>
                </a:lnTo>
                <a:lnTo>
                  <a:pt x="9320" y="18221"/>
                </a:lnTo>
                <a:lnTo>
                  <a:pt x="9207" y="17981"/>
                </a:lnTo>
                <a:lnTo>
                  <a:pt x="9105" y="17740"/>
                </a:lnTo>
                <a:lnTo>
                  <a:pt x="8924" y="17514"/>
                </a:lnTo>
                <a:lnTo>
                  <a:pt x="8777" y="17274"/>
                </a:lnTo>
                <a:lnTo>
                  <a:pt x="8642" y="17034"/>
                </a:lnTo>
                <a:lnTo>
                  <a:pt x="8563" y="16765"/>
                </a:lnTo>
                <a:lnTo>
                  <a:pt x="8472" y="16468"/>
                </a:lnTo>
                <a:lnTo>
                  <a:pt x="8450" y="16157"/>
                </a:lnTo>
                <a:lnTo>
                  <a:pt x="8450" y="15860"/>
                </a:lnTo>
                <a:lnTo>
                  <a:pt x="8472" y="15563"/>
                </a:lnTo>
                <a:lnTo>
                  <a:pt x="8540" y="15267"/>
                </a:lnTo>
                <a:lnTo>
                  <a:pt x="8642" y="14998"/>
                </a:lnTo>
                <a:lnTo>
                  <a:pt x="8777" y="14729"/>
                </a:lnTo>
                <a:lnTo>
                  <a:pt x="8868" y="14616"/>
                </a:lnTo>
                <a:lnTo>
                  <a:pt x="8969" y="14475"/>
                </a:lnTo>
                <a:lnTo>
                  <a:pt x="9060" y="14376"/>
                </a:lnTo>
                <a:lnTo>
                  <a:pt x="9184" y="14291"/>
                </a:lnTo>
                <a:lnTo>
                  <a:pt x="9297" y="14206"/>
                </a:lnTo>
                <a:lnTo>
                  <a:pt x="9433" y="14121"/>
                </a:lnTo>
                <a:lnTo>
                  <a:pt x="9579" y="14051"/>
                </a:lnTo>
                <a:lnTo>
                  <a:pt x="9726" y="13994"/>
                </a:lnTo>
                <a:lnTo>
                  <a:pt x="9884" y="13938"/>
                </a:lnTo>
                <a:lnTo>
                  <a:pt x="10054" y="13909"/>
                </a:lnTo>
                <a:lnTo>
                  <a:pt x="10257" y="13881"/>
                </a:lnTo>
                <a:lnTo>
                  <a:pt x="10449" y="13881"/>
                </a:lnTo>
                <a:lnTo>
                  <a:pt x="10664" y="13881"/>
                </a:lnTo>
                <a:lnTo>
                  <a:pt x="10856" y="13909"/>
                </a:lnTo>
                <a:lnTo>
                  <a:pt x="11037" y="13966"/>
                </a:lnTo>
                <a:lnTo>
                  <a:pt x="11206" y="14023"/>
                </a:lnTo>
                <a:lnTo>
                  <a:pt x="11353" y="14093"/>
                </a:lnTo>
                <a:lnTo>
                  <a:pt x="11511" y="14178"/>
                </a:lnTo>
                <a:lnTo>
                  <a:pt x="11635" y="14263"/>
                </a:lnTo>
                <a:lnTo>
                  <a:pt x="11748" y="14376"/>
                </a:lnTo>
                <a:lnTo>
                  <a:pt x="11861" y="14475"/>
                </a:lnTo>
                <a:lnTo>
                  <a:pt x="11941" y="14616"/>
                </a:lnTo>
                <a:lnTo>
                  <a:pt x="12031" y="14758"/>
                </a:lnTo>
                <a:lnTo>
                  <a:pt x="12099" y="14885"/>
                </a:lnTo>
                <a:lnTo>
                  <a:pt x="12200" y="15210"/>
                </a:lnTo>
                <a:lnTo>
                  <a:pt x="12268" y="15507"/>
                </a:lnTo>
                <a:lnTo>
                  <a:pt x="12291" y="15832"/>
                </a:lnTo>
                <a:lnTo>
                  <a:pt x="12291" y="16157"/>
                </a:lnTo>
                <a:lnTo>
                  <a:pt x="12246" y="16482"/>
                </a:lnTo>
                <a:lnTo>
                  <a:pt x="12178" y="16807"/>
                </a:lnTo>
                <a:lnTo>
                  <a:pt x="12099" y="17090"/>
                </a:lnTo>
                <a:lnTo>
                  <a:pt x="12008" y="17330"/>
                </a:lnTo>
                <a:lnTo>
                  <a:pt x="11884" y="17542"/>
                </a:lnTo>
                <a:lnTo>
                  <a:pt x="11748" y="17712"/>
                </a:lnTo>
                <a:lnTo>
                  <a:pt x="11613" y="17839"/>
                </a:lnTo>
                <a:lnTo>
                  <a:pt x="11489" y="18037"/>
                </a:lnTo>
                <a:lnTo>
                  <a:pt x="11398" y="18221"/>
                </a:lnTo>
                <a:lnTo>
                  <a:pt x="11319" y="18447"/>
                </a:lnTo>
                <a:lnTo>
                  <a:pt x="11251" y="18659"/>
                </a:lnTo>
                <a:lnTo>
                  <a:pt x="11206" y="18900"/>
                </a:lnTo>
                <a:lnTo>
                  <a:pt x="11184" y="19154"/>
                </a:lnTo>
                <a:lnTo>
                  <a:pt x="11184" y="19423"/>
                </a:lnTo>
                <a:lnTo>
                  <a:pt x="11229" y="19663"/>
                </a:lnTo>
                <a:lnTo>
                  <a:pt x="11297" y="19903"/>
                </a:lnTo>
                <a:lnTo>
                  <a:pt x="11376" y="20158"/>
                </a:lnTo>
                <a:lnTo>
                  <a:pt x="11511" y="20398"/>
                </a:lnTo>
                <a:lnTo>
                  <a:pt x="11681" y="20610"/>
                </a:lnTo>
                <a:lnTo>
                  <a:pt x="11884" y="20808"/>
                </a:lnTo>
                <a:lnTo>
                  <a:pt x="12121" y="20992"/>
                </a:lnTo>
                <a:lnTo>
                  <a:pt x="12404" y="21161"/>
                </a:lnTo>
                <a:lnTo>
                  <a:pt x="12528" y="21190"/>
                </a:lnTo>
                <a:lnTo>
                  <a:pt x="12856" y="21274"/>
                </a:lnTo>
                <a:lnTo>
                  <a:pt x="13330" y="21373"/>
                </a:lnTo>
                <a:lnTo>
                  <a:pt x="13963" y="21486"/>
                </a:lnTo>
                <a:lnTo>
                  <a:pt x="14313" y="21543"/>
                </a:lnTo>
                <a:lnTo>
                  <a:pt x="14652" y="21571"/>
                </a:lnTo>
                <a:lnTo>
                  <a:pt x="15025" y="21600"/>
                </a:lnTo>
                <a:lnTo>
                  <a:pt x="15409" y="21600"/>
                </a:lnTo>
                <a:lnTo>
                  <a:pt x="15782" y="21600"/>
                </a:lnTo>
                <a:lnTo>
                  <a:pt x="16177" y="21571"/>
                </a:lnTo>
                <a:lnTo>
                  <a:pt x="16516" y="21486"/>
                </a:lnTo>
                <a:lnTo>
                  <a:pt x="16889" y="21402"/>
                </a:lnTo>
                <a:lnTo>
                  <a:pt x="16821" y="21190"/>
                </a:lnTo>
                <a:lnTo>
                  <a:pt x="16776" y="20935"/>
                </a:lnTo>
                <a:lnTo>
                  <a:pt x="16742" y="20667"/>
                </a:lnTo>
                <a:lnTo>
                  <a:pt x="16719" y="20370"/>
                </a:lnTo>
                <a:lnTo>
                  <a:pt x="16697" y="19719"/>
                </a:lnTo>
                <a:lnTo>
                  <a:pt x="16697" y="19013"/>
                </a:lnTo>
                <a:lnTo>
                  <a:pt x="16719" y="18306"/>
                </a:lnTo>
                <a:lnTo>
                  <a:pt x="16753" y="17599"/>
                </a:lnTo>
                <a:lnTo>
                  <a:pt x="16821" y="16949"/>
                </a:lnTo>
                <a:lnTo>
                  <a:pt x="16889" y="16383"/>
                </a:lnTo>
                <a:lnTo>
                  <a:pt x="16934" y="16129"/>
                </a:lnTo>
                <a:lnTo>
                  <a:pt x="17002" y="15945"/>
                </a:lnTo>
                <a:lnTo>
                  <a:pt x="17081" y="15790"/>
                </a:lnTo>
                <a:lnTo>
                  <a:pt x="17194" y="15648"/>
                </a:lnTo>
                <a:lnTo>
                  <a:pt x="17318" y="15563"/>
                </a:lnTo>
                <a:lnTo>
                  <a:pt x="17453" y="15507"/>
                </a:lnTo>
                <a:lnTo>
                  <a:pt x="17600" y="15450"/>
                </a:lnTo>
                <a:lnTo>
                  <a:pt x="17758" y="15450"/>
                </a:lnTo>
                <a:lnTo>
                  <a:pt x="17905" y="15479"/>
                </a:lnTo>
                <a:lnTo>
                  <a:pt x="18064" y="15535"/>
                </a:lnTo>
                <a:lnTo>
                  <a:pt x="18233" y="15620"/>
                </a:lnTo>
                <a:lnTo>
                  <a:pt x="18380" y="15733"/>
                </a:lnTo>
                <a:lnTo>
                  <a:pt x="18561" y="15832"/>
                </a:lnTo>
                <a:lnTo>
                  <a:pt x="18707" y="15973"/>
                </a:lnTo>
                <a:lnTo>
                  <a:pt x="18866" y="16129"/>
                </a:lnTo>
                <a:lnTo>
                  <a:pt x="18990" y="16327"/>
                </a:lnTo>
                <a:lnTo>
                  <a:pt x="19125" y="16482"/>
                </a:lnTo>
                <a:lnTo>
                  <a:pt x="19295" y="16624"/>
                </a:lnTo>
                <a:lnTo>
                  <a:pt x="19464" y="16737"/>
                </a:lnTo>
                <a:lnTo>
                  <a:pt x="19668" y="16807"/>
                </a:lnTo>
                <a:lnTo>
                  <a:pt x="19860" y="16836"/>
                </a:lnTo>
                <a:lnTo>
                  <a:pt x="20052" y="16864"/>
                </a:lnTo>
                <a:lnTo>
                  <a:pt x="20266" y="16836"/>
                </a:lnTo>
                <a:lnTo>
                  <a:pt x="20470" y="16793"/>
                </a:lnTo>
                <a:lnTo>
                  <a:pt x="20662" y="16708"/>
                </a:lnTo>
                <a:lnTo>
                  <a:pt x="20854" y="16567"/>
                </a:lnTo>
                <a:lnTo>
                  <a:pt x="21035" y="16412"/>
                </a:lnTo>
                <a:lnTo>
                  <a:pt x="21182" y="16214"/>
                </a:lnTo>
                <a:lnTo>
                  <a:pt x="21340" y="16002"/>
                </a:lnTo>
                <a:lnTo>
                  <a:pt x="21441" y="15733"/>
                </a:lnTo>
                <a:lnTo>
                  <a:pt x="21532" y="15436"/>
                </a:lnTo>
                <a:lnTo>
                  <a:pt x="21600" y="15083"/>
                </a:lnTo>
                <a:lnTo>
                  <a:pt x="21600" y="14885"/>
                </a:lnTo>
                <a:lnTo>
                  <a:pt x="21600" y="14729"/>
                </a:lnTo>
                <a:lnTo>
                  <a:pt x="21600" y="14531"/>
                </a:lnTo>
                <a:lnTo>
                  <a:pt x="21577" y="14376"/>
                </a:lnTo>
                <a:lnTo>
                  <a:pt x="21532" y="14206"/>
                </a:lnTo>
                <a:lnTo>
                  <a:pt x="21487" y="14051"/>
                </a:lnTo>
                <a:lnTo>
                  <a:pt x="21419" y="13909"/>
                </a:lnTo>
                <a:lnTo>
                  <a:pt x="21351" y="13768"/>
                </a:lnTo>
                <a:lnTo>
                  <a:pt x="21204" y="13500"/>
                </a:lnTo>
                <a:lnTo>
                  <a:pt x="21035" y="13287"/>
                </a:lnTo>
                <a:lnTo>
                  <a:pt x="20809" y="13090"/>
                </a:lnTo>
                <a:lnTo>
                  <a:pt x="20594" y="12962"/>
                </a:lnTo>
                <a:lnTo>
                  <a:pt x="20357" y="12821"/>
                </a:lnTo>
                <a:lnTo>
                  <a:pt x="20120" y="12764"/>
                </a:lnTo>
                <a:lnTo>
                  <a:pt x="19882" y="12708"/>
                </a:lnTo>
                <a:lnTo>
                  <a:pt x="19645" y="12736"/>
                </a:lnTo>
                <a:lnTo>
                  <a:pt x="19430" y="12793"/>
                </a:lnTo>
                <a:lnTo>
                  <a:pt x="19227" y="12906"/>
                </a:lnTo>
                <a:lnTo>
                  <a:pt x="19148" y="12962"/>
                </a:lnTo>
                <a:lnTo>
                  <a:pt x="19058" y="13047"/>
                </a:lnTo>
                <a:lnTo>
                  <a:pt x="18990" y="13146"/>
                </a:lnTo>
                <a:lnTo>
                  <a:pt x="18911" y="13259"/>
                </a:lnTo>
                <a:lnTo>
                  <a:pt x="18775" y="13471"/>
                </a:lnTo>
                <a:lnTo>
                  <a:pt x="18628" y="13641"/>
                </a:lnTo>
                <a:lnTo>
                  <a:pt x="18470" y="13740"/>
                </a:lnTo>
                <a:lnTo>
                  <a:pt x="18301" y="13825"/>
                </a:lnTo>
                <a:lnTo>
                  <a:pt x="18143" y="13853"/>
                </a:lnTo>
                <a:lnTo>
                  <a:pt x="17973" y="13881"/>
                </a:lnTo>
                <a:lnTo>
                  <a:pt x="17804" y="13853"/>
                </a:lnTo>
                <a:lnTo>
                  <a:pt x="17646" y="13796"/>
                </a:lnTo>
                <a:lnTo>
                  <a:pt x="17499" y="13726"/>
                </a:lnTo>
                <a:lnTo>
                  <a:pt x="17341" y="13641"/>
                </a:lnTo>
                <a:lnTo>
                  <a:pt x="17216" y="13528"/>
                </a:lnTo>
                <a:lnTo>
                  <a:pt x="17103" y="13386"/>
                </a:lnTo>
                <a:lnTo>
                  <a:pt x="17024" y="13259"/>
                </a:lnTo>
                <a:lnTo>
                  <a:pt x="16934" y="13118"/>
                </a:lnTo>
                <a:lnTo>
                  <a:pt x="16889" y="12991"/>
                </a:lnTo>
                <a:lnTo>
                  <a:pt x="16889" y="12849"/>
                </a:lnTo>
                <a:lnTo>
                  <a:pt x="16889" y="12383"/>
                </a:lnTo>
                <a:lnTo>
                  <a:pt x="16889" y="11662"/>
                </a:lnTo>
                <a:lnTo>
                  <a:pt x="16889" y="10701"/>
                </a:lnTo>
                <a:lnTo>
                  <a:pt x="16889" y="9640"/>
                </a:lnTo>
                <a:lnTo>
                  <a:pt x="16889" y="8566"/>
                </a:lnTo>
                <a:lnTo>
                  <a:pt x="16889" y="7478"/>
                </a:lnTo>
                <a:lnTo>
                  <a:pt x="16889" y="6502"/>
                </a:lnTo>
                <a:lnTo>
                  <a:pt x="16889" y="5739"/>
                </a:lnTo>
                <a:lnTo>
                  <a:pt x="16674" y="5894"/>
                </a:lnTo>
                <a:lnTo>
                  <a:pt x="16414" y="6036"/>
                </a:lnTo>
                <a:lnTo>
                  <a:pt x="16154" y="6177"/>
                </a:lnTo>
                <a:lnTo>
                  <a:pt x="15849" y="6248"/>
                </a:lnTo>
                <a:lnTo>
                  <a:pt x="15544" y="6304"/>
                </a:lnTo>
                <a:lnTo>
                  <a:pt x="15217" y="6332"/>
                </a:lnTo>
                <a:lnTo>
                  <a:pt x="14866" y="6361"/>
                </a:lnTo>
                <a:lnTo>
                  <a:pt x="14550" y="6361"/>
                </a:lnTo>
                <a:lnTo>
                  <a:pt x="14200" y="6332"/>
                </a:lnTo>
                <a:lnTo>
                  <a:pt x="13850" y="6276"/>
                </a:lnTo>
                <a:lnTo>
                  <a:pt x="13522" y="6219"/>
                </a:lnTo>
                <a:lnTo>
                  <a:pt x="13206" y="6149"/>
                </a:lnTo>
                <a:lnTo>
                  <a:pt x="12901" y="6064"/>
                </a:lnTo>
                <a:lnTo>
                  <a:pt x="12618" y="5951"/>
                </a:lnTo>
                <a:lnTo>
                  <a:pt x="12358" y="5838"/>
                </a:lnTo>
                <a:lnTo>
                  <a:pt x="12121" y="5739"/>
                </a:lnTo>
                <a:lnTo>
                  <a:pt x="11941" y="5626"/>
                </a:lnTo>
                <a:lnTo>
                  <a:pt x="11794" y="5513"/>
                </a:lnTo>
                <a:lnTo>
                  <a:pt x="11658" y="5414"/>
                </a:lnTo>
                <a:lnTo>
                  <a:pt x="11556" y="5301"/>
                </a:lnTo>
                <a:lnTo>
                  <a:pt x="11466" y="5187"/>
                </a:lnTo>
                <a:lnTo>
                  <a:pt x="11398" y="5089"/>
                </a:lnTo>
                <a:lnTo>
                  <a:pt x="11376" y="4947"/>
                </a:lnTo>
                <a:lnTo>
                  <a:pt x="11353" y="4834"/>
                </a:lnTo>
                <a:lnTo>
                  <a:pt x="11353" y="4707"/>
                </a:lnTo>
                <a:lnTo>
                  <a:pt x="11376" y="4565"/>
                </a:lnTo>
                <a:lnTo>
                  <a:pt x="11443" y="4410"/>
                </a:lnTo>
                <a:lnTo>
                  <a:pt x="11511" y="4240"/>
                </a:lnTo>
                <a:lnTo>
                  <a:pt x="11703" y="3887"/>
                </a:lnTo>
                <a:lnTo>
                  <a:pt x="11986" y="3505"/>
                </a:lnTo>
                <a:lnTo>
                  <a:pt x="12144" y="3265"/>
                </a:lnTo>
                <a:lnTo>
                  <a:pt x="12246" y="3025"/>
                </a:lnTo>
                <a:lnTo>
                  <a:pt x="12336" y="2756"/>
                </a:lnTo>
                <a:lnTo>
                  <a:pt x="12404" y="2445"/>
                </a:lnTo>
                <a:lnTo>
                  <a:pt x="12438" y="2176"/>
                </a:lnTo>
                <a:lnTo>
                  <a:pt x="12438" y="1880"/>
                </a:lnTo>
                <a:lnTo>
                  <a:pt x="12404" y="1583"/>
                </a:lnTo>
                <a:lnTo>
                  <a:pt x="12336" y="1314"/>
                </a:lnTo>
                <a:lnTo>
                  <a:pt x="12246" y="1046"/>
                </a:lnTo>
                <a:lnTo>
                  <a:pt x="12099" y="791"/>
                </a:lnTo>
                <a:lnTo>
                  <a:pt x="12008" y="692"/>
                </a:lnTo>
                <a:lnTo>
                  <a:pt x="11918" y="579"/>
                </a:lnTo>
                <a:lnTo>
                  <a:pt x="11816" y="466"/>
                </a:lnTo>
                <a:lnTo>
                  <a:pt x="11703" y="381"/>
                </a:lnTo>
                <a:lnTo>
                  <a:pt x="11579" y="310"/>
                </a:lnTo>
                <a:lnTo>
                  <a:pt x="11443" y="226"/>
                </a:lnTo>
                <a:lnTo>
                  <a:pt x="11297" y="169"/>
                </a:lnTo>
                <a:lnTo>
                  <a:pt x="11138" y="113"/>
                </a:lnTo>
                <a:lnTo>
                  <a:pt x="10969" y="56"/>
                </a:lnTo>
                <a:lnTo>
                  <a:pt x="10800" y="28"/>
                </a:lnTo>
                <a:lnTo>
                  <a:pt x="10619" y="28"/>
                </a:lnTo>
                <a:lnTo>
                  <a:pt x="10404" y="28"/>
                </a:lnTo>
                <a:lnTo>
                  <a:pt x="10257" y="28"/>
                </a:lnTo>
                <a:lnTo>
                  <a:pt x="10076" y="56"/>
                </a:lnTo>
                <a:lnTo>
                  <a:pt x="9952" y="84"/>
                </a:lnTo>
                <a:lnTo>
                  <a:pt x="9794" y="141"/>
                </a:lnTo>
                <a:lnTo>
                  <a:pt x="9692" y="226"/>
                </a:lnTo>
                <a:lnTo>
                  <a:pt x="9557" y="282"/>
                </a:lnTo>
                <a:lnTo>
                  <a:pt x="9455" y="381"/>
                </a:lnTo>
                <a:lnTo>
                  <a:pt x="9365" y="466"/>
                </a:lnTo>
                <a:lnTo>
                  <a:pt x="9274" y="579"/>
                </a:lnTo>
                <a:lnTo>
                  <a:pt x="9184" y="692"/>
                </a:lnTo>
                <a:lnTo>
                  <a:pt x="9128" y="791"/>
                </a:lnTo>
                <a:lnTo>
                  <a:pt x="9060" y="932"/>
                </a:lnTo>
                <a:lnTo>
                  <a:pt x="8969" y="1201"/>
                </a:lnTo>
                <a:lnTo>
                  <a:pt x="8913" y="1498"/>
                </a:lnTo>
                <a:lnTo>
                  <a:pt x="8890" y="1795"/>
                </a:lnTo>
                <a:lnTo>
                  <a:pt x="8890" y="2120"/>
                </a:lnTo>
                <a:lnTo>
                  <a:pt x="8913" y="2445"/>
                </a:lnTo>
                <a:lnTo>
                  <a:pt x="8969" y="2756"/>
                </a:lnTo>
                <a:lnTo>
                  <a:pt x="9060" y="3081"/>
                </a:lnTo>
                <a:lnTo>
                  <a:pt x="9173" y="3378"/>
                </a:lnTo>
                <a:lnTo>
                  <a:pt x="9297" y="3647"/>
                </a:lnTo>
                <a:lnTo>
                  <a:pt x="9466" y="3887"/>
                </a:lnTo>
                <a:lnTo>
                  <a:pt x="9579" y="4085"/>
                </a:lnTo>
                <a:lnTo>
                  <a:pt x="9670" y="4269"/>
                </a:lnTo>
                <a:lnTo>
                  <a:pt x="9726" y="4467"/>
                </a:lnTo>
                <a:lnTo>
                  <a:pt x="9771" y="4650"/>
                </a:lnTo>
                <a:lnTo>
                  <a:pt x="9771" y="4834"/>
                </a:lnTo>
                <a:lnTo>
                  <a:pt x="9749" y="5032"/>
                </a:lnTo>
                <a:lnTo>
                  <a:pt x="9715" y="5216"/>
                </a:lnTo>
                <a:lnTo>
                  <a:pt x="9625" y="5385"/>
                </a:lnTo>
                <a:lnTo>
                  <a:pt x="9534" y="5513"/>
                </a:lnTo>
                <a:lnTo>
                  <a:pt x="9410" y="5626"/>
                </a:lnTo>
                <a:lnTo>
                  <a:pt x="9229" y="5710"/>
                </a:lnTo>
                <a:lnTo>
                  <a:pt x="9060" y="5767"/>
                </a:lnTo>
                <a:lnTo>
                  <a:pt x="8845" y="5767"/>
                </a:lnTo>
                <a:lnTo>
                  <a:pt x="8585" y="5739"/>
                </a:lnTo>
                <a:lnTo>
                  <a:pt x="8325" y="5654"/>
                </a:lnTo>
                <a:lnTo>
                  <a:pt x="8020" y="5513"/>
                </a:lnTo>
                <a:lnTo>
                  <a:pt x="7840" y="5442"/>
                </a:lnTo>
                <a:lnTo>
                  <a:pt x="7648" y="5385"/>
                </a:lnTo>
                <a:lnTo>
                  <a:pt x="7433" y="5329"/>
                </a:lnTo>
                <a:lnTo>
                  <a:pt x="7241" y="5301"/>
                </a:lnTo>
                <a:lnTo>
                  <a:pt x="6755" y="5301"/>
                </a:lnTo>
                <a:lnTo>
                  <a:pt x="6281" y="5329"/>
                </a:lnTo>
                <a:lnTo>
                  <a:pt x="5784" y="5385"/>
                </a:lnTo>
                <a:lnTo>
                  <a:pt x="5264" y="5498"/>
                </a:lnTo>
                <a:lnTo>
                  <a:pt x="4744" y="5597"/>
                </a:lnTo>
                <a:lnTo>
                  <a:pt x="4247" y="5739"/>
                </a:lnTo>
                <a:lnTo>
                  <a:pt x="4202" y="5894"/>
                </a:lnTo>
                <a:lnTo>
                  <a:pt x="4202" y="6191"/>
                </a:lnTo>
                <a:lnTo>
                  <a:pt x="4202" y="6545"/>
                </a:lnTo>
                <a:lnTo>
                  <a:pt x="4225" y="6954"/>
                </a:lnTo>
                <a:lnTo>
                  <a:pt x="4315" y="7930"/>
                </a:lnTo>
                <a:lnTo>
                  <a:pt x="4394" y="9018"/>
                </a:lnTo>
                <a:lnTo>
                  <a:pt x="4439" y="9570"/>
                </a:lnTo>
                <a:lnTo>
                  <a:pt x="4462" y="10107"/>
                </a:lnTo>
                <a:lnTo>
                  <a:pt x="4484" y="10630"/>
                </a:lnTo>
                <a:lnTo>
                  <a:pt x="4507" y="11082"/>
                </a:lnTo>
                <a:lnTo>
                  <a:pt x="4484" y="11520"/>
                </a:lnTo>
                <a:lnTo>
                  <a:pt x="4439" y="11874"/>
                </a:lnTo>
                <a:lnTo>
                  <a:pt x="4394" y="12029"/>
                </a:lnTo>
                <a:lnTo>
                  <a:pt x="4349" y="12171"/>
                </a:lnTo>
                <a:lnTo>
                  <a:pt x="4315" y="12284"/>
                </a:lnTo>
                <a:lnTo>
                  <a:pt x="4247" y="12354"/>
                </a:lnTo>
                <a:close/>
              </a:path>
            </a:pathLst>
          </a:custGeom>
          <a:solidFill>
            <a:srgbClr val="0070C0"/>
          </a:solidFill>
          <a:ln w="28575">
            <a:solidFill>
              <a:srgbClr val="FFFFFF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" name="MH_Other_4"/>
          <p:cNvSpPr>
            <a:spLocks noEditPoints="1" noChangeArrowheads="1"/>
          </p:cNvSpPr>
          <p:nvPr>
            <p:custDataLst>
              <p:tags r:id="rId5"/>
            </p:custDataLst>
          </p:nvPr>
        </p:nvSpPr>
        <p:spPr bwMode="auto">
          <a:xfrm>
            <a:off x="4763771" y="3170873"/>
            <a:ext cx="1287463" cy="1909762"/>
          </a:xfrm>
          <a:custGeom>
            <a:avLst/>
            <a:gdLst>
              <a:gd name="T0" fmla="*/ 8307 w 21600"/>
              <a:gd name="T1" fmla="*/ 11593 h 21600"/>
              <a:gd name="T2" fmla="*/ 453 w 21600"/>
              <a:gd name="T3" fmla="*/ 16938 h 21600"/>
              <a:gd name="T4" fmla="*/ 11500 w 21600"/>
              <a:gd name="T5" fmla="*/ 21600 h 21600"/>
              <a:gd name="T6" fmla="*/ 20920 w 21600"/>
              <a:gd name="T7" fmla="*/ 16751 h 21600"/>
              <a:gd name="T8" fmla="*/ 13972 w 21600"/>
              <a:gd name="T9" fmla="*/ 10888 h 21600"/>
              <a:gd name="T10" fmla="*/ 21033 w 21600"/>
              <a:gd name="T11" fmla="*/ 4716 h 21600"/>
              <a:gd name="T12" fmla="*/ 11102 w 21600"/>
              <a:gd name="T13" fmla="*/ 11 h 21600"/>
              <a:gd name="T14" fmla="*/ 453 w 21600"/>
              <a:gd name="T15" fmla="*/ 4716 h 21600"/>
              <a:gd name="T16" fmla="*/ 2076 w 21600"/>
              <a:gd name="T17" fmla="*/ 5664 h 21600"/>
              <a:gd name="T18" fmla="*/ 20203 w 21600"/>
              <a:gd name="T19" fmla="*/ 1598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3813" y="10590"/>
                </a:moveTo>
                <a:lnTo>
                  <a:pt x="3927" y="10513"/>
                </a:lnTo>
                <a:lnTo>
                  <a:pt x="4078" y="10425"/>
                </a:lnTo>
                <a:lnTo>
                  <a:pt x="4210" y="10359"/>
                </a:lnTo>
                <a:lnTo>
                  <a:pt x="4361" y="10315"/>
                </a:lnTo>
                <a:lnTo>
                  <a:pt x="4682" y="10237"/>
                </a:lnTo>
                <a:lnTo>
                  <a:pt x="5041" y="10193"/>
                </a:lnTo>
                <a:lnTo>
                  <a:pt x="5456" y="10171"/>
                </a:lnTo>
                <a:lnTo>
                  <a:pt x="5853" y="10193"/>
                </a:lnTo>
                <a:lnTo>
                  <a:pt x="6249" y="10260"/>
                </a:lnTo>
                <a:lnTo>
                  <a:pt x="6646" y="10337"/>
                </a:lnTo>
                <a:lnTo>
                  <a:pt x="7004" y="10469"/>
                </a:lnTo>
                <a:lnTo>
                  <a:pt x="7363" y="10612"/>
                </a:lnTo>
                <a:lnTo>
                  <a:pt x="7665" y="10788"/>
                </a:lnTo>
                <a:lnTo>
                  <a:pt x="7911" y="10998"/>
                </a:lnTo>
                <a:lnTo>
                  <a:pt x="8024" y="11097"/>
                </a:lnTo>
                <a:lnTo>
                  <a:pt x="8137" y="11207"/>
                </a:lnTo>
                <a:lnTo>
                  <a:pt x="8194" y="11340"/>
                </a:lnTo>
                <a:lnTo>
                  <a:pt x="8269" y="11461"/>
                </a:lnTo>
                <a:lnTo>
                  <a:pt x="8307" y="11593"/>
                </a:lnTo>
                <a:lnTo>
                  <a:pt x="8307" y="11714"/>
                </a:lnTo>
                <a:lnTo>
                  <a:pt x="8307" y="11868"/>
                </a:lnTo>
                <a:lnTo>
                  <a:pt x="8307" y="12012"/>
                </a:lnTo>
                <a:lnTo>
                  <a:pt x="8194" y="12265"/>
                </a:lnTo>
                <a:lnTo>
                  <a:pt x="8062" y="12519"/>
                </a:lnTo>
                <a:lnTo>
                  <a:pt x="7873" y="12706"/>
                </a:lnTo>
                <a:lnTo>
                  <a:pt x="7627" y="12904"/>
                </a:lnTo>
                <a:lnTo>
                  <a:pt x="7363" y="13048"/>
                </a:lnTo>
                <a:lnTo>
                  <a:pt x="7080" y="13180"/>
                </a:lnTo>
                <a:lnTo>
                  <a:pt x="6759" y="13257"/>
                </a:lnTo>
                <a:lnTo>
                  <a:pt x="6419" y="13345"/>
                </a:lnTo>
                <a:lnTo>
                  <a:pt x="6098" y="13389"/>
                </a:lnTo>
                <a:lnTo>
                  <a:pt x="5739" y="13389"/>
                </a:lnTo>
                <a:lnTo>
                  <a:pt x="5418" y="13389"/>
                </a:lnTo>
                <a:lnTo>
                  <a:pt x="5079" y="13345"/>
                </a:lnTo>
                <a:lnTo>
                  <a:pt x="4758" y="13301"/>
                </a:lnTo>
                <a:lnTo>
                  <a:pt x="4474" y="13213"/>
                </a:lnTo>
                <a:lnTo>
                  <a:pt x="4172" y="13114"/>
                </a:lnTo>
                <a:lnTo>
                  <a:pt x="3965" y="12982"/>
                </a:lnTo>
                <a:lnTo>
                  <a:pt x="3738" y="12838"/>
                </a:lnTo>
                <a:lnTo>
                  <a:pt x="3493" y="12706"/>
                </a:lnTo>
                <a:lnTo>
                  <a:pt x="3228" y="12607"/>
                </a:lnTo>
                <a:lnTo>
                  <a:pt x="2945" y="12519"/>
                </a:lnTo>
                <a:lnTo>
                  <a:pt x="2700" y="12431"/>
                </a:lnTo>
                <a:lnTo>
                  <a:pt x="2397" y="12375"/>
                </a:lnTo>
                <a:lnTo>
                  <a:pt x="2152" y="12331"/>
                </a:lnTo>
                <a:lnTo>
                  <a:pt x="1888" y="12309"/>
                </a:lnTo>
                <a:lnTo>
                  <a:pt x="1642" y="12309"/>
                </a:lnTo>
                <a:lnTo>
                  <a:pt x="1397" y="12331"/>
                </a:lnTo>
                <a:lnTo>
                  <a:pt x="1170" y="12397"/>
                </a:lnTo>
                <a:lnTo>
                  <a:pt x="962" y="12453"/>
                </a:lnTo>
                <a:lnTo>
                  <a:pt x="774" y="12563"/>
                </a:lnTo>
                <a:lnTo>
                  <a:pt x="623" y="12684"/>
                </a:lnTo>
                <a:lnTo>
                  <a:pt x="528" y="12838"/>
                </a:lnTo>
                <a:lnTo>
                  <a:pt x="453" y="13026"/>
                </a:lnTo>
                <a:lnTo>
                  <a:pt x="339" y="13477"/>
                </a:lnTo>
                <a:lnTo>
                  <a:pt x="226" y="13984"/>
                </a:lnTo>
                <a:lnTo>
                  <a:pt x="151" y="14535"/>
                </a:lnTo>
                <a:lnTo>
                  <a:pt x="113" y="15075"/>
                </a:lnTo>
                <a:lnTo>
                  <a:pt x="113" y="15626"/>
                </a:lnTo>
                <a:lnTo>
                  <a:pt x="151" y="16133"/>
                </a:lnTo>
                <a:lnTo>
                  <a:pt x="188" y="16376"/>
                </a:lnTo>
                <a:lnTo>
                  <a:pt x="264" y="16585"/>
                </a:lnTo>
                <a:lnTo>
                  <a:pt x="339" y="16773"/>
                </a:lnTo>
                <a:lnTo>
                  <a:pt x="453" y="16938"/>
                </a:lnTo>
                <a:lnTo>
                  <a:pt x="1095" y="16883"/>
                </a:lnTo>
                <a:lnTo>
                  <a:pt x="1963" y="16795"/>
                </a:lnTo>
                <a:lnTo>
                  <a:pt x="2945" y="16751"/>
                </a:lnTo>
                <a:lnTo>
                  <a:pt x="3965" y="16706"/>
                </a:lnTo>
                <a:lnTo>
                  <a:pt x="5022" y="16684"/>
                </a:lnTo>
                <a:lnTo>
                  <a:pt x="5947" y="16684"/>
                </a:lnTo>
                <a:lnTo>
                  <a:pt x="6759" y="16706"/>
                </a:lnTo>
                <a:lnTo>
                  <a:pt x="7363" y="16751"/>
                </a:lnTo>
                <a:lnTo>
                  <a:pt x="7948" y="16839"/>
                </a:lnTo>
                <a:lnTo>
                  <a:pt x="8458" y="16916"/>
                </a:lnTo>
                <a:lnTo>
                  <a:pt x="8893" y="17026"/>
                </a:lnTo>
                <a:lnTo>
                  <a:pt x="9289" y="17158"/>
                </a:lnTo>
                <a:lnTo>
                  <a:pt x="9572" y="17280"/>
                </a:lnTo>
                <a:lnTo>
                  <a:pt x="9799" y="17412"/>
                </a:lnTo>
                <a:lnTo>
                  <a:pt x="9969" y="17555"/>
                </a:lnTo>
                <a:lnTo>
                  <a:pt x="10120" y="17687"/>
                </a:lnTo>
                <a:lnTo>
                  <a:pt x="10158" y="17831"/>
                </a:lnTo>
                <a:lnTo>
                  <a:pt x="10195" y="17974"/>
                </a:lnTo>
                <a:lnTo>
                  <a:pt x="10158" y="18128"/>
                </a:lnTo>
                <a:lnTo>
                  <a:pt x="10082" y="18271"/>
                </a:lnTo>
                <a:lnTo>
                  <a:pt x="9969" y="18426"/>
                </a:lnTo>
                <a:lnTo>
                  <a:pt x="9837" y="18569"/>
                </a:lnTo>
                <a:lnTo>
                  <a:pt x="9648" y="18701"/>
                </a:lnTo>
                <a:lnTo>
                  <a:pt x="9440" y="18822"/>
                </a:lnTo>
                <a:lnTo>
                  <a:pt x="9213" y="18999"/>
                </a:lnTo>
                <a:lnTo>
                  <a:pt x="9044" y="19186"/>
                </a:lnTo>
                <a:lnTo>
                  <a:pt x="8893" y="19395"/>
                </a:lnTo>
                <a:lnTo>
                  <a:pt x="8817" y="19627"/>
                </a:lnTo>
                <a:lnTo>
                  <a:pt x="8779" y="19858"/>
                </a:lnTo>
                <a:lnTo>
                  <a:pt x="8779" y="20112"/>
                </a:lnTo>
                <a:lnTo>
                  <a:pt x="8855" y="20354"/>
                </a:lnTo>
                <a:lnTo>
                  <a:pt x="8968" y="20586"/>
                </a:lnTo>
                <a:lnTo>
                  <a:pt x="9138" y="20817"/>
                </a:lnTo>
                <a:lnTo>
                  <a:pt x="9365" y="21026"/>
                </a:lnTo>
                <a:lnTo>
                  <a:pt x="9610" y="21192"/>
                </a:lnTo>
                <a:lnTo>
                  <a:pt x="9950" y="21368"/>
                </a:lnTo>
                <a:lnTo>
                  <a:pt x="10120" y="21445"/>
                </a:lnTo>
                <a:lnTo>
                  <a:pt x="10346" y="21511"/>
                </a:lnTo>
                <a:lnTo>
                  <a:pt x="10516" y="21555"/>
                </a:lnTo>
                <a:lnTo>
                  <a:pt x="10743" y="21600"/>
                </a:lnTo>
                <a:lnTo>
                  <a:pt x="10988" y="21644"/>
                </a:lnTo>
                <a:lnTo>
                  <a:pt x="11215" y="21666"/>
                </a:lnTo>
                <a:lnTo>
                  <a:pt x="11498" y="21666"/>
                </a:lnTo>
                <a:lnTo>
                  <a:pt x="11762" y="21666"/>
                </a:lnTo>
                <a:lnTo>
                  <a:pt x="12253" y="21644"/>
                </a:lnTo>
                <a:lnTo>
                  <a:pt x="12763" y="21577"/>
                </a:lnTo>
                <a:lnTo>
                  <a:pt x="13197" y="21467"/>
                </a:lnTo>
                <a:lnTo>
                  <a:pt x="13556" y="21346"/>
                </a:lnTo>
                <a:lnTo>
                  <a:pt x="13896" y="21192"/>
                </a:lnTo>
                <a:lnTo>
                  <a:pt x="14179" y="21026"/>
                </a:lnTo>
                <a:lnTo>
                  <a:pt x="14444" y="20839"/>
                </a:lnTo>
                <a:lnTo>
                  <a:pt x="14576" y="20641"/>
                </a:lnTo>
                <a:lnTo>
                  <a:pt x="14727" y="20431"/>
                </a:lnTo>
                <a:lnTo>
                  <a:pt x="14765" y="20200"/>
                </a:lnTo>
                <a:lnTo>
                  <a:pt x="14802" y="19991"/>
                </a:lnTo>
                <a:lnTo>
                  <a:pt x="14727" y="19759"/>
                </a:lnTo>
                <a:lnTo>
                  <a:pt x="14613" y="19550"/>
                </a:lnTo>
                <a:lnTo>
                  <a:pt x="14444" y="19307"/>
                </a:lnTo>
                <a:lnTo>
                  <a:pt x="14217" y="19098"/>
                </a:lnTo>
                <a:lnTo>
                  <a:pt x="13934" y="18911"/>
                </a:lnTo>
                <a:lnTo>
                  <a:pt x="13669" y="18745"/>
                </a:lnTo>
                <a:lnTo>
                  <a:pt x="13462" y="18547"/>
                </a:lnTo>
                <a:lnTo>
                  <a:pt x="13311" y="18337"/>
                </a:lnTo>
                <a:lnTo>
                  <a:pt x="13197" y="18150"/>
                </a:lnTo>
                <a:lnTo>
                  <a:pt x="13122" y="17941"/>
                </a:lnTo>
                <a:lnTo>
                  <a:pt x="13122" y="17720"/>
                </a:lnTo>
                <a:lnTo>
                  <a:pt x="13122" y="17533"/>
                </a:lnTo>
                <a:lnTo>
                  <a:pt x="13197" y="17346"/>
                </a:lnTo>
                <a:lnTo>
                  <a:pt x="13273" y="17158"/>
                </a:lnTo>
                <a:lnTo>
                  <a:pt x="13386" y="16982"/>
                </a:lnTo>
                <a:lnTo>
                  <a:pt x="13537" y="16839"/>
                </a:lnTo>
                <a:lnTo>
                  <a:pt x="13707" y="16706"/>
                </a:lnTo>
                <a:lnTo>
                  <a:pt x="13896" y="16607"/>
                </a:lnTo>
                <a:lnTo>
                  <a:pt x="14104" y="16519"/>
                </a:lnTo>
                <a:lnTo>
                  <a:pt x="14330" y="16453"/>
                </a:lnTo>
                <a:lnTo>
                  <a:pt x="14538" y="16431"/>
                </a:lnTo>
                <a:lnTo>
                  <a:pt x="14897" y="16453"/>
                </a:lnTo>
                <a:lnTo>
                  <a:pt x="15406" y="16497"/>
                </a:lnTo>
                <a:lnTo>
                  <a:pt x="16105" y="16541"/>
                </a:lnTo>
                <a:lnTo>
                  <a:pt x="16898" y="16607"/>
                </a:lnTo>
                <a:lnTo>
                  <a:pt x="17804" y="16651"/>
                </a:lnTo>
                <a:lnTo>
                  <a:pt x="18786" y="16684"/>
                </a:lnTo>
                <a:lnTo>
                  <a:pt x="19844" y="16728"/>
                </a:lnTo>
                <a:lnTo>
                  <a:pt x="20920" y="16751"/>
                </a:lnTo>
                <a:lnTo>
                  <a:pt x="21109" y="16497"/>
                </a:lnTo>
                <a:lnTo>
                  <a:pt x="21241" y="16222"/>
                </a:lnTo>
                <a:lnTo>
                  <a:pt x="21392" y="15946"/>
                </a:lnTo>
                <a:lnTo>
                  <a:pt x="21467" y="15648"/>
                </a:lnTo>
                <a:lnTo>
                  <a:pt x="21543" y="15351"/>
                </a:lnTo>
                <a:lnTo>
                  <a:pt x="21618" y="15042"/>
                </a:lnTo>
                <a:lnTo>
                  <a:pt x="21618" y="14745"/>
                </a:lnTo>
                <a:lnTo>
                  <a:pt x="21618" y="14447"/>
                </a:lnTo>
                <a:lnTo>
                  <a:pt x="21618" y="14150"/>
                </a:lnTo>
                <a:lnTo>
                  <a:pt x="21581" y="13852"/>
                </a:lnTo>
                <a:lnTo>
                  <a:pt x="21505" y="13577"/>
                </a:lnTo>
                <a:lnTo>
                  <a:pt x="21430" y="13301"/>
                </a:lnTo>
                <a:lnTo>
                  <a:pt x="21354" y="13048"/>
                </a:lnTo>
                <a:lnTo>
                  <a:pt x="21241" y="12816"/>
                </a:lnTo>
                <a:lnTo>
                  <a:pt x="21146" y="12607"/>
                </a:lnTo>
                <a:lnTo>
                  <a:pt x="21033" y="12431"/>
                </a:lnTo>
                <a:lnTo>
                  <a:pt x="20920" y="12265"/>
                </a:lnTo>
                <a:lnTo>
                  <a:pt x="20769" y="12144"/>
                </a:lnTo>
                <a:lnTo>
                  <a:pt x="20637" y="12034"/>
                </a:lnTo>
                <a:lnTo>
                  <a:pt x="20486" y="11946"/>
                </a:lnTo>
                <a:lnTo>
                  <a:pt x="20297" y="11891"/>
                </a:lnTo>
                <a:lnTo>
                  <a:pt x="20165" y="11846"/>
                </a:lnTo>
                <a:lnTo>
                  <a:pt x="19976" y="11824"/>
                </a:lnTo>
                <a:lnTo>
                  <a:pt x="19806" y="11802"/>
                </a:lnTo>
                <a:lnTo>
                  <a:pt x="19390" y="11824"/>
                </a:lnTo>
                <a:lnTo>
                  <a:pt x="18956" y="11891"/>
                </a:lnTo>
                <a:lnTo>
                  <a:pt x="18503" y="11968"/>
                </a:lnTo>
                <a:lnTo>
                  <a:pt x="17993" y="12078"/>
                </a:lnTo>
                <a:lnTo>
                  <a:pt x="17653" y="12144"/>
                </a:lnTo>
                <a:lnTo>
                  <a:pt x="17332" y="12199"/>
                </a:lnTo>
                <a:lnTo>
                  <a:pt x="17049" y="12221"/>
                </a:lnTo>
                <a:lnTo>
                  <a:pt x="16747" y="12243"/>
                </a:lnTo>
                <a:lnTo>
                  <a:pt x="16464" y="12243"/>
                </a:lnTo>
                <a:lnTo>
                  <a:pt x="16218" y="12243"/>
                </a:lnTo>
                <a:lnTo>
                  <a:pt x="15992" y="12221"/>
                </a:lnTo>
                <a:lnTo>
                  <a:pt x="15746" y="12199"/>
                </a:lnTo>
                <a:lnTo>
                  <a:pt x="15520" y="12155"/>
                </a:lnTo>
                <a:lnTo>
                  <a:pt x="15350" y="12122"/>
                </a:lnTo>
                <a:lnTo>
                  <a:pt x="15161" y="12056"/>
                </a:lnTo>
                <a:lnTo>
                  <a:pt x="14972" y="11990"/>
                </a:lnTo>
                <a:lnTo>
                  <a:pt x="14689" y="11846"/>
                </a:lnTo>
                <a:lnTo>
                  <a:pt x="14444" y="11670"/>
                </a:lnTo>
                <a:lnTo>
                  <a:pt x="14255" y="11483"/>
                </a:lnTo>
                <a:lnTo>
                  <a:pt x="14104" y="11295"/>
                </a:lnTo>
                <a:lnTo>
                  <a:pt x="14028" y="11086"/>
                </a:lnTo>
                <a:lnTo>
                  <a:pt x="13972" y="10888"/>
                </a:lnTo>
                <a:lnTo>
                  <a:pt x="13972" y="10700"/>
                </a:lnTo>
                <a:lnTo>
                  <a:pt x="14009" y="10513"/>
                </a:lnTo>
                <a:lnTo>
                  <a:pt x="14066" y="10359"/>
                </a:lnTo>
                <a:lnTo>
                  <a:pt x="14179" y="10215"/>
                </a:lnTo>
                <a:lnTo>
                  <a:pt x="14406" y="10006"/>
                </a:lnTo>
                <a:lnTo>
                  <a:pt x="14651" y="9830"/>
                </a:lnTo>
                <a:lnTo>
                  <a:pt x="14878" y="9686"/>
                </a:lnTo>
                <a:lnTo>
                  <a:pt x="15123" y="9554"/>
                </a:lnTo>
                <a:lnTo>
                  <a:pt x="15350" y="9477"/>
                </a:lnTo>
                <a:lnTo>
                  <a:pt x="15558" y="9411"/>
                </a:lnTo>
                <a:lnTo>
                  <a:pt x="15803" y="9345"/>
                </a:lnTo>
                <a:lnTo>
                  <a:pt x="16030" y="9323"/>
                </a:lnTo>
                <a:lnTo>
                  <a:pt x="16256" y="9301"/>
                </a:lnTo>
                <a:lnTo>
                  <a:pt x="16464" y="9323"/>
                </a:lnTo>
                <a:lnTo>
                  <a:pt x="16690" y="9345"/>
                </a:lnTo>
                <a:lnTo>
                  <a:pt x="16898" y="9367"/>
                </a:lnTo>
                <a:lnTo>
                  <a:pt x="17332" y="9477"/>
                </a:lnTo>
                <a:lnTo>
                  <a:pt x="17767" y="9598"/>
                </a:lnTo>
                <a:lnTo>
                  <a:pt x="18163" y="9731"/>
                </a:lnTo>
                <a:lnTo>
                  <a:pt x="18597" y="9874"/>
                </a:lnTo>
                <a:lnTo>
                  <a:pt x="18994" y="10006"/>
                </a:lnTo>
                <a:lnTo>
                  <a:pt x="19428" y="10083"/>
                </a:lnTo>
                <a:lnTo>
                  <a:pt x="19617" y="10127"/>
                </a:lnTo>
                <a:lnTo>
                  <a:pt x="19844" y="10149"/>
                </a:lnTo>
                <a:lnTo>
                  <a:pt x="20013" y="10149"/>
                </a:lnTo>
                <a:lnTo>
                  <a:pt x="20240" y="10127"/>
                </a:lnTo>
                <a:lnTo>
                  <a:pt x="20410" y="10105"/>
                </a:lnTo>
                <a:lnTo>
                  <a:pt x="20637" y="10061"/>
                </a:lnTo>
                <a:lnTo>
                  <a:pt x="20844" y="9984"/>
                </a:lnTo>
                <a:lnTo>
                  <a:pt x="21033" y="9896"/>
                </a:lnTo>
                <a:lnTo>
                  <a:pt x="21146" y="9830"/>
                </a:lnTo>
                <a:lnTo>
                  <a:pt x="21203" y="9753"/>
                </a:lnTo>
                <a:lnTo>
                  <a:pt x="21279" y="9642"/>
                </a:lnTo>
                <a:lnTo>
                  <a:pt x="21354" y="9521"/>
                </a:lnTo>
                <a:lnTo>
                  <a:pt x="21430" y="9246"/>
                </a:lnTo>
                <a:lnTo>
                  <a:pt x="21430" y="8904"/>
                </a:lnTo>
                <a:lnTo>
                  <a:pt x="21430" y="8540"/>
                </a:lnTo>
                <a:lnTo>
                  <a:pt x="21392" y="8144"/>
                </a:lnTo>
                <a:lnTo>
                  <a:pt x="21354" y="7714"/>
                </a:lnTo>
                <a:lnTo>
                  <a:pt x="21279" y="7295"/>
                </a:lnTo>
                <a:lnTo>
                  <a:pt x="21146" y="6446"/>
                </a:lnTo>
                <a:lnTo>
                  <a:pt x="20995" y="5686"/>
                </a:lnTo>
                <a:lnTo>
                  <a:pt x="20958" y="5366"/>
                </a:lnTo>
                <a:lnTo>
                  <a:pt x="20958" y="5091"/>
                </a:lnTo>
                <a:lnTo>
                  <a:pt x="20958" y="4860"/>
                </a:lnTo>
                <a:lnTo>
                  <a:pt x="21033" y="4716"/>
                </a:lnTo>
                <a:lnTo>
                  <a:pt x="20637" y="4860"/>
                </a:lnTo>
                <a:lnTo>
                  <a:pt x="20127" y="4992"/>
                </a:lnTo>
                <a:lnTo>
                  <a:pt x="19617" y="5069"/>
                </a:lnTo>
                <a:lnTo>
                  <a:pt x="19032" y="5157"/>
                </a:lnTo>
                <a:lnTo>
                  <a:pt x="18465" y="5201"/>
                </a:lnTo>
                <a:lnTo>
                  <a:pt x="17842" y="5245"/>
                </a:lnTo>
                <a:lnTo>
                  <a:pt x="17219" y="5267"/>
                </a:lnTo>
                <a:lnTo>
                  <a:pt x="16615" y="5267"/>
                </a:lnTo>
                <a:lnTo>
                  <a:pt x="15992" y="5245"/>
                </a:lnTo>
                <a:lnTo>
                  <a:pt x="15369" y="5201"/>
                </a:lnTo>
                <a:lnTo>
                  <a:pt x="14840" y="5157"/>
                </a:lnTo>
                <a:lnTo>
                  <a:pt x="14293" y="5091"/>
                </a:lnTo>
                <a:lnTo>
                  <a:pt x="13783" y="5014"/>
                </a:lnTo>
                <a:lnTo>
                  <a:pt x="13386" y="4926"/>
                </a:lnTo>
                <a:lnTo>
                  <a:pt x="13027" y="4815"/>
                </a:lnTo>
                <a:lnTo>
                  <a:pt x="12725" y="4716"/>
                </a:lnTo>
                <a:lnTo>
                  <a:pt x="12480" y="4606"/>
                </a:lnTo>
                <a:lnTo>
                  <a:pt x="12291" y="4496"/>
                </a:lnTo>
                <a:lnTo>
                  <a:pt x="12197" y="4397"/>
                </a:lnTo>
                <a:lnTo>
                  <a:pt x="12083" y="4286"/>
                </a:lnTo>
                <a:lnTo>
                  <a:pt x="12046" y="4187"/>
                </a:lnTo>
                <a:lnTo>
                  <a:pt x="12008" y="4077"/>
                </a:lnTo>
                <a:lnTo>
                  <a:pt x="12046" y="3967"/>
                </a:lnTo>
                <a:lnTo>
                  <a:pt x="12121" y="3868"/>
                </a:lnTo>
                <a:lnTo>
                  <a:pt x="12197" y="3735"/>
                </a:lnTo>
                <a:lnTo>
                  <a:pt x="12291" y="3614"/>
                </a:lnTo>
                <a:lnTo>
                  <a:pt x="12442" y="3482"/>
                </a:lnTo>
                <a:lnTo>
                  <a:pt x="12631" y="3361"/>
                </a:lnTo>
                <a:lnTo>
                  <a:pt x="13065" y="3085"/>
                </a:lnTo>
                <a:lnTo>
                  <a:pt x="13537" y="2766"/>
                </a:lnTo>
                <a:lnTo>
                  <a:pt x="13783" y="2578"/>
                </a:lnTo>
                <a:lnTo>
                  <a:pt x="13934" y="2380"/>
                </a:lnTo>
                <a:lnTo>
                  <a:pt x="14028" y="2171"/>
                </a:lnTo>
                <a:lnTo>
                  <a:pt x="14104" y="1961"/>
                </a:lnTo>
                <a:lnTo>
                  <a:pt x="14104" y="1730"/>
                </a:lnTo>
                <a:lnTo>
                  <a:pt x="14066" y="1498"/>
                </a:lnTo>
                <a:lnTo>
                  <a:pt x="13972" y="1267"/>
                </a:lnTo>
                <a:lnTo>
                  <a:pt x="13820" y="1057"/>
                </a:lnTo>
                <a:lnTo>
                  <a:pt x="13594" y="837"/>
                </a:lnTo>
                <a:lnTo>
                  <a:pt x="13386" y="628"/>
                </a:lnTo>
                <a:lnTo>
                  <a:pt x="13103" y="462"/>
                </a:lnTo>
                <a:lnTo>
                  <a:pt x="12763" y="308"/>
                </a:lnTo>
                <a:lnTo>
                  <a:pt x="12404" y="187"/>
                </a:lnTo>
                <a:lnTo>
                  <a:pt x="12008" y="77"/>
                </a:lnTo>
                <a:lnTo>
                  <a:pt x="11574" y="33"/>
                </a:lnTo>
                <a:lnTo>
                  <a:pt x="11102" y="11"/>
                </a:lnTo>
                <a:lnTo>
                  <a:pt x="10667" y="11"/>
                </a:lnTo>
                <a:lnTo>
                  <a:pt x="10233" y="77"/>
                </a:lnTo>
                <a:lnTo>
                  <a:pt x="9837" y="187"/>
                </a:lnTo>
                <a:lnTo>
                  <a:pt x="9440" y="286"/>
                </a:lnTo>
                <a:lnTo>
                  <a:pt x="9062" y="462"/>
                </a:lnTo>
                <a:lnTo>
                  <a:pt x="8741" y="628"/>
                </a:lnTo>
                <a:lnTo>
                  <a:pt x="8458" y="815"/>
                </a:lnTo>
                <a:lnTo>
                  <a:pt x="8232" y="1035"/>
                </a:lnTo>
                <a:lnTo>
                  <a:pt x="8062" y="1245"/>
                </a:lnTo>
                <a:lnTo>
                  <a:pt x="7911" y="1476"/>
                </a:lnTo>
                <a:lnTo>
                  <a:pt x="7835" y="1708"/>
                </a:lnTo>
                <a:lnTo>
                  <a:pt x="7797" y="1961"/>
                </a:lnTo>
                <a:lnTo>
                  <a:pt x="7835" y="2193"/>
                </a:lnTo>
                <a:lnTo>
                  <a:pt x="7948" y="2402"/>
                </a:lnTo>
                <a:lnTo>
                  <a:pt x="8062" y="2534"/>
                </a:lnTo>
                <a:lnTo>
                  <a:pt x="8175" y="2644"/>
                </a:lnTo>
                <a:lnTo>
                  <a:pt x="8269" y="2744"/>
                </a:lnTo>
                <a:lnTo>
                  <a:pt x="8420" y="2832"/>
                </a:lnTo>
                <a:lnTo>
                  <a:pt x="8704" y="3019"/>
                </a:lnTo>
                <a:lnTo>
                  <a:pt x="8968" y="3206"/>
                </a:lnTo>
                <a:lnTo>
                  <a:pt x="9138" y="3405"/>
                </a:lnTo>
                <a:lnTo>
                  <a:pt x="9327" y="3570"/>
                </a:lnTo>
                <a:lnTo>
                  <a:pt x="9440" y="3735"/>
                </a:lnTo>
                <a:lnTo>
                  <a:pt x="9516" y="3890"/>
                </a:lnTo>
                <a:lnTo>
                  <a:pt x="9534" y="4033"/>
                </a:lnTo>
                <a:lnTo>
                  <a:pt x="9534" y="4165"/>
                </a:lnTo>
                <a:lnTo>
                  <a:pt x="9516" y="4286"/>
                </a:lnTo>
                <a:lnTo>
                  <a:pt x="9440" y="4397"/>
                </a:lnTo>
                <a:lnTo>
                  <a:pt x="9327" y="4496"/>
                </a:lnTo>
                <a:lnTo>
                  <a:pt x="9176" y="4562"/>
                </a:lnTo>
                <a:lnTo>
                  <a:pt x="9006" y="4628"/>
                </a:lnTo>
                <a:lnTo>
                  <a:pt x="8779" y="4694"/>
                </a:lnTo>
                <a:lnTo>
                  <a:pt x="8534" y="4716"/>
                </a:lnTo>
                <a:lnTo>
                  <a:pt x="8232" y="4716"/>
                </a:lnTo>
                <a:lnTo>
                  <a:pt x="7118" y="4738"/>
                </a:lnTo>
                <a:lnTo>
                  <a:pt x="5947" y="4771"/>
                </a:lnTo>
                <a:lnTo>
                  <a:pt x="4795" y="4815"/>
                </a:lnTo>
                <a:lnTo>
                  <a:pt x="3681" y="4860"/>
                </a:lnTo>
                <a:lnTo>
                  <a:pt x="2662" y="4882"/>
                </a:lnTo>
                <a:lnTo>
                  <a:pt x="1755" y="4882"/>
                </a:lnTo>
                <a:lnTo>
                  <a:pt x="1359" y="4860"/>
                </a:lnTo>
                <a:lnTo>
                  <a:pt x="981" y="4837"/>
                </a:lnTo>
                <a:lnTo>
                  <a:pt x="698" y="4771"/>
                </a:lnTo>
                <a:lnTo>
                  <a:pt x="453" y="4716"/>
                </a:lnTo>
                <a:lnTo>
                  <a:pt x="453" y="5322"/>
                </a:lnTo>
                <a:lnTo>
                  <a:pt x="453" y="6083"/>
                </a:lnTo>
                <a:lnTo>
                  <a:pt x="453" y="6909"/>
                </a:lnTo>
                <a:lnTo>
                  <a:pt x="453" y="7780"/>
                </a:lnTo>
                <a:lnTo>
                  <a:pt x="453" y="8606"/>
                </a:lnTo>
                <a:lnTo>
                  <a:pt x="453" y="9345"/>
                </a:lnTo>
                <a:lnTo>
                  <a:pt x="453" y="9918"/>
                </a:lnTo>
                <a:lnTo>
                  <a:pt x="453" y="10282"/>
                </a:lnTo>
                <a:lnTo>
                  <a:pt x="490" y="10381"/>
                </a:lnTo>
                <a:lnTo>
                  <a:pt x="547" y="10491"/>
                </a:lnTo>
                <a:lnTo>
                  <a:pt x="660" y="10590"/>
                </a:lnTo>
                <a:lnTo>
                  <a:pt x="811" y="10700"/>
                </a:lnTo>
                <a:lnTo>
                  <a:pt x="981" y="10811"/>
                </a:lnTo>
                <a:lnTo>
                  <a:pt x="1208" y="10888"/>
                </a:lnTo>
                <a:lnTo>
                  <a:pt x="1453" y="10954"/>
                </a:lnTo>
                <a:lnTo>
                  <a:pt x="1718" y="11020"/>
                </a:lnTo>
                <a:lnTo>
                  <a:pt x="1963" y="11064"/>
                </a:lnTo>
                <a:lnTo>
                  <a:pt x="2265" y="11086"/>
                </a:lnTo>
                <a:lnTo>
                  <a:pt x="2548" y="11064"/>
                </a:lnTo>
                <a:lnTo>
                  <a:pt x="2794" y="11042"/>
                </a:lnTo>
                <a:lnTo>
                  <a:pt x="3096" y="10976"/>
                </a:lnTo>
                <a:lnTo>
                  <a:pt x="3341" y="10888"/>
                </a:lnTo>
                <a:lnTo>
                  <a:pt x="3606" y="10766"/>
                </a:lnTo>
                <a:lnTo>
                  <a:pt x="3813" y="10590"/>
                </a:lnTo>
                <a:close/>
              </a:path>
            </a:pathLst>
          </a:custGeom>
          <a:solidFill>
            <a:srgbClr val="0070C0"/>
          </a:solidFill>
          <a:ln w="28575">
            <a:solidFill>
              <a:srgbClr val="FFFFFF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" name="MH_Other_5"/>
          <p:cNvSpPr>
            <a:spLocks noEditPoints="1" noChangeArrowheads="1"/>
          </p:cNvSpPr>
          <p:nvPr>
            <p:custDataLst>
              <p:tags r:id="rId6"/>
            </p:custDataLst>
          </p:nvPr>
        </p:nvSpPr>
        <p:spPr bwMode="auto">
          <a:xfrm>
            <a:off x="4322445" y="2489835"/>
            <a:ext cx="2160588" cy="1138238"/>
          </a:xfrm>
          <a:custGeom>
            <a:avLst/>
            <a:gdLst>
              <a:gd name="T0" fmla="*/ 16740 w 21600"/>
              <a:gd name="T1" fmla="*/ 21078 h 21600"/>
              <a:gd name="T2" fmla="*/ 16976 w 21600"/>
              <a:gd name="T3" fmla="*/ 521 h 21600"/>
              <a:gd name="T4" fmla="*/ 4725 w 21600"/>
              <a:gd name="T5" fmla="*/ 856 h 21600"/>
              <a:gd name="T6" fmla="*/ 5040 w 21600"/>
              <a:gd name="T7" fmla="*/ 21004 h 21600"/>
              <a:gd name="T8" fmla="*/ 10811 w 21600"/>
              <a:gd name="T9" fmla="*/ 12885 h 21600"/>
              <a:gd name="T10" fmla="*/ 10845 w 21600"/>
              <a:gd name="T11" fmla="*/ 8714 h 21600"/>
              <a:gd name="T12" fmla="*/ 21600 w 21600"/>
              <a:gd name="T13" fmla="*/ 10000 h 21600"/>
              <a:gd name="T14" fmla="*/ 56 w 21600"/>
              <a:gd name="T15" fmla="*/ 10000 h 21600"/>
              <a:gd name="T16" fmla="*/ 6086 w 21600"/>
              <a:gd name="T17" fmla="*/ 2569 h 21600"/>
              <a:gd name="T18" fmla="*/ 16132 w 21600"/>
              <a:gd name="T19" fmla="*/ 1955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360" y="20836"/>
                </a:moveTo>
                <a:lnTo>
                  <a:pt x="9528" y="20836"/>
                </a:lnTo>
                <a:lnTo>
                  <a:pt x="9686" y="20762"/>
                </a:lnTo>
                <a:lnTo>
                  <a:pt x="9810" y="20687"/>
                </a:lnTo>
                <a:lnTo>
                  <a:pt x="9922" y="20575"/>
                </a:lnTo>
                <a:lnTo>
                  <a:pt x="10012" y="20426"/>
                </a:lnTo>
                <a:lnTo>
                  <a:pt x="10068" y="20296"/>
                </a:lnTo>
                <a:lnTo>
                  <a:pt x="10113" y="20110"/>
                </a:lnTo>
                <a:lnTo>
                  <a:pt x="10136" y="19905"/>
                </a:lnTo>
                <a:lnTo>
                  <a:pt x="10136" y="19682"/>
                </a:lnTo>
                <a:lnTo>
                  <a:pt x="10113" y="19440"/>
                </a:lnTo>
                <a:lnTo>
                  <a:pt x="10068" y="19142"/>
                </a:lnTo>
                <a:lnTo>
                  <a:pt x="10012" y="18900"/>
                </a:lnTo>
                <a:lnTo>
                  <a:pt x="9900" y="18620"/>
                </a:lnTo>
                <a:lnTo>
                  <a:pt x="9787" y="18285"/>
                </a:lnTo>
                <a:lnTo>
                  <a:pt x="9641" y="17968"/>
                </a:lnTo>
                <a:lnTo>
                  <a:pt x="9472" y="17652"/>
                </a:lnTo>
                <a:lnTo>
                  <a:pt x="9382" y="17466"/>
                </a:lnTo>
                <a:lnTo>
                  <a:pt x="9315" y="17298"/>
                </a:lnTo>
                <a:lnTo>
                  <a:pt x="9258" y="17112"/>
                </a:lnTo>
                <a:lnTo>
                  <a:pt x="9191" y="16926"/>
                </a:lnTo>
                <a:lnTo>
                  <a:pt x="9123" y="16535"/>
                </a:lnTo>
                <a:lnTo>
                  <a:pt x="9101" y="16144"/>
                </a:lnTo>
                <a:lnTo>
                  <a:pt x="9101" y="15753"/>
                </a:lnTo>
                <a:lnTo>
                  <a:pt x="9168" y="15362"/>
                </a:lnTo>
                <a:lnTo>
                  <a:pt x="9236" y="14971"/>
                </a:lnTo>
                <a:lnTo>
                  <a:pt x="9360" y="14580"/>
                </a:lnTo>
                <a:lnTo>
                  <a:pt x="9495" y="14244"/>
                </a:lnTo>
                <a:lnTo>
                  <a:pt x="9663" y="13891"/>
                </a:lnTo>
                <a:lnTo>
                  <a:pt x="9855" y="13611"/>
                </a:lnTo>
                <a:lnTo>
                  <a:pt x="10068" y="13351"/>
                </a:lnTo>
                <a:lnTo>
                  <a:pt x="10293" y="13146"/>
                </a:lnTo>
                <a:lnTo>
                  <a:pt x="10552" y="12997"/>
                </a:lnTo>
                <a:lnTo>
                  <a:pt x="10811" y="12885"/>
                </a:lnTo>
                <a:lnTo>
                  <a:pt x="11069" y="12866"/>
                </a:lnTo>
                <a:lnTo>
                  <a:pt x="11351" y="12885"/>
                </a:lnTo>
                <a:lnTo>
                  <a:pt x="11610" y="12997"/>
                </a:lnTo>
                <a:lnTo>
                  <a:pt x="11846" y="13183"/>
                </a:lnTo>
                <a:lnTo>
                  <a:pt x="12060" y="13388"/>
                </a:lnTo>
                <a:lnTo>
                  <a:pt x="12251" y="13648"/>
                </a:lnTo>
                <a:lnTo>
                  <a:pt x="12419" y="13928"/>
                </a:lnTo>
                <a:lnTo>
                  <a:pt x="12555" y="14244"/>
                </a:lnTo>
                <a:lnTo>
                  <a:pt x="12690" y="14617"/>
                </a:lnTo>
                <a:lnTo>
                  <a:pt x="12768" y="15008"/>
                </a:lnTo>
                <a:lnTo>
                  <a:pt x="12836" y="15399"/>
                </a:lnTo>
                <a:lnTo>
                  <a:pt x="12858" y="15753"/>
                </a:lnTo>
                <a:lnTo>
                  <a:pt x="12858" y="16144"/>
                </a:lnTo>
                <a:lnTo>
                  <a:pt x="12813" y="16535"/>
                </a:lnTo>
                <a:lnTo>
                  <a:pt x="12746" y="16888"/>
                </a:lnTo>
                <a:lnTo>
                  <a:pt x="12667" y="17224"/>
                </a:lnTo>
                <a:lnTo>
                  <a:pt x="12510" y="17503"/>
                </a:lnTo>
                <a:lnTo>
                  <a:pt x="12228" y="18043"/>
                </a:lnTo>
                <a:lnTo>
                  <a:pt x="11970" y="18546"/>
                </a:lnTo>
                <a:lnTo>
                  <a:pt x="11868" y="18751"/>
                </a:lnTo>
                <a:lnTo>
                  <a:pt x="11778" y="18974"/>
                </a:lnTo>
                <a:lnTo>
                  <a:pt x="11711" y="19179"/>
                </a:lnTo>
                <a:lnTo>
                  <a:pt x="11666" y="19365"/>
                </a:lnTo>
                <a:lnTo>
                  <a:pt x="11632" y="19570"/>
                </a:lnTo>
                <a:lnTo>
                  <a:pt x="11632" y="19756"/>
                </a:lnTo>
                <a:lnTo>
                  <a:pt x="11632" y="19942"/>
                </a:lnTo>
                <a:lnTo>
                  <a:pt x="11643" y="20110"/>
                </a:lnTo>
                <a:lnTo>
                  <a:pt x="11711" y="20296"/>
                </a:lnTo>
                <a:lnTo>
                  <a:pt x="11801" y="20464"/>
                </a:lnTo>
                <a:lnTo>
                  <a:pt x="11891" y="20650"/>
                </a:lnTo>
                <a:lnTo>
                  <a:pt x="12037" y="20836"/>
                </a:lnTo>
                <a:lnTo>
                  <a:pt x="12206" y="21004"/>
                </a:lnTo>
                <a:lnTo>
                  <a:pt x="12419" y="21190"/>
                </a:lnTo>
                <a:lnTo>
                  <a:pt x="12667" y="21320"/>
                </a:lnTo>
                <a:lnTo>
                  <a:pt x="12960" y="21432"/>
                </a:lnTo>
                <a:lnTo>
                  <a:pt x="13286" y="21544"/>
                </a:lnTo>
                <a:lnTo>
                  <a:pt x="13612" y="21655"/>
                </a:lnTo>
                <a:lnTo>
                  <a:pt x="13983" y="21693"/>
                </a:lnTo>
                <a:lnTo>
                  <a:pt x="14343" y="21730"/>
                </a:lnTo>
                <a:lnTo>
                  <a:pt x="14715" y="21730"/>
                </a:lnTo>
                <a:lnTo>
                  <a:pt x="15075" y="21730"/>
                </a:lnTo>
                <a:lnTo>
                  <a:pt x="15446" y="21655"/>
                </a:lnTo>
                <a:lnTo>
                  <a:pt x="15794" y="21581"/>
                </a:lnTo>
                <a:lnTo>
                  <a:pt x="16132" y="21432"/>
                </a:lnTo>
                <a:lnTo>
                  <a:pt x="16458" y="21302"/>
                </a:lnTo>
                <a:lnTo>
                  <a:pt x="16740" y="21078"/>
                </a:lnTo>
                <a:lnTo>
                  <a:pt x="16976" y="20836"/>
                </a:lnTo>
                <a:lnTo>
                  <a:pt x="17043" y="20650"/>
                </a:lnTo>
                <a:lnTo>
                  <a:pt x="17088" y="20426"/>
                </a:lnTo>
                <a:lnTo>
                  <a:pt x="17133" y="20222"/>
                </a:lnTo>
                <a:lnTo>
                  <a:pt x="17156" y="19980"/>
                </a:lnTo>
                <a:lnTo>
                  <a:pt x="17167" y="19477"/>
                </a:lnTo>
                <a:lnTo>
                  <a:pt x="17167" y="18974"/>
                </a:lnTo>
                <a:lnTo>
                  <a:pt x="17156" y="18397"/>
                </a:lnTo>
                <a:lnTo>
                  <a:pt x="17111" y="17820"/>
                </a:lnTo>
                <a:lnTo>
                  <a:pt x="17066" y="17261"/>
                </a:lnTo>
                <a:lnTo>
                  <a:pt x="16998" y="16646"/>
                </a:lnTo>
                <a:lnTo>
                  <a:pt x="16852" y="15511"/>
                </a:lnTo>
                <a:lnTo>
                  <a:pt x="16740" y="14393"/>
                </a:lnTo>
                <a:lnTo>
                  <a:pt x="16717" y="13928"/>
                </a:lnTo>
                <a:lnTo>
                  <a:pt x="16695" y="13462"/>
                </a:lnTo>
                <a:lnTo>
                  <a:pt x="16717" y="13071"/>
                </a:lnTo>
                <a:lnTo>
                  <a:pt x="16785" y="12755"/>
                </a:lnTo>
                <a:lnTo>
                  <a:pt x="16852" y="12419"/>
                </a:lnTo>
                <a:lnTo>
                  <a:pt x="16953" y="12140"/>
                </a:lnTo>
                <a:lnTo>
                  <a:pt x="17088" y="11898"/>
                </a:lnTo>
                <a:lnTo>
                  <a:pt x="17212" y="11675"/>
                </a:lnTo>
                <a:lnTo>
                  <a:pt x="17370" y="11470"/>
                </a:lnTo>
                <a:lnTo>
                  <a:pt x="17516" y="11284"/>
                </a:lnTo>
                <a:lnTo>
                  <a:pt x="17696" y="11135"/>
                </a:lnTo>
                <a:lnTo>
                  <a:pt x="17865" y="11042"/>
                </a:lnTo>
                <a:lnTo>
                  <a:pt x="18033" y="10930"/>
                </a:lnTo>
                <a:lnTo>
                  <a:pt x="18213" y="10893"/>
                </a:lnTo>
                <a:lnTo>
                  <a:pt x="18382" y="10893"/>
                </a:lnTo>
                <a:lnTo>
                  <a:pt x="18551" y="10967"/>
                </a:lnTo>
                <a:lnTo>
                  <a:pt x="18708" y="11042"/>
                </a:lnTo>
                <a:lnTo>
                  <a:pt x="18855" y="11172"/>
                </a:lnTo>
                <a:lnTo>
                  <a:pt x="19012" y="11358"/>
                </a:lnTo>
                <a:lnTo>
                  <a:pt x="19136" y="11600"/>
                </a:lnTo>
                <a:lnTo>
                  <a:pt x="19271" y="11861"/>
                </a:lnTo>
                <a:lnTo>
                  <a:pt x="19440" y="12028"/>
                </a:lnTo>
                <a:lnTo>
                  <a:pt x="19608" y="12177"/>
                </a:lnTo>
                <a:lnTo>
                  <a:pt x="19822" y="12289"/>
                </a:lnTo>
                <a:lnTo>
                  <a:pt x="20025" y="12289"/>
                </a:lnTo>
                <a:lnTo>
                  <a:pt x="20238" y="12289"/>
                </a:lnTo>
                <a:lnTo>
                  <a:pt x="20452" y="12215"/>
                </a:lnTo>
                <a:lnTo>
                  <a:pt x="20643" y="12103"/>
                </a:lnTo>
                <a:lnTo>
                  <a:pt x="20846" y="11973"/>
                </a:lnTo>
                <a:lnTo>
                  <a:pt x="21037" y="11786"/>
                </a:lnTo>
                <a:lnTo>
                  <a:pt x="21206" y="11563"/>
                </a:lnTo>
                <a:lnTo>
                  <a:pt x="21363" y="11321"/>
                </a:lnTo>
                <a:lnTo>
                  <a:pt x="21465" y="11079"/>
                </a:lnTo>
                <a:lnTo>
                  <a:pt x="21577" y="10744"/>
                </a:lnTo>
                <a:lnTo>
                  <a:pt x="21622" y="10427"/>
                </a:lnTo>
                <a:lnTo>
                  <a:pt x="21645" y="10111"/>
                </a:lnTo>
                <a:lnTo>
                  <a:pt x="21622" y="9608"/>
                </a:lnTo>
                <a:lnTo>
                  <a:pt x="21577" y="9142"/>
                </a:lnTo>
                <a:lnTo>
                  <a:pt x="21465" y="8751"/>
                </a:lnTo>
                <a:lnTo>
                  <a:pt x="21363" y="8397"/>
                </a:lnTo>
                <a:lnTo>
                  <a:pt x="21206" y="8062"/>
                </a:lnTo>
                <a:lnTo>
                  <a:pt x="21037" y="7820"/>
                </a:lnTo>
                <a:lnTo>
                  <a:pt x="20846" y="7597"/>
                </a:lnTo>
                <a:lnTo>
                  <a:pt x="20643" y="7429"/>
                </a:lnTo>
                <a:lnTo>
                  <a:pt x="20452" y="7317"/>
                </a:lnTo>
                <a:lnTo>
                  <a:pt x="20238" y="7206"/>
                </a:lnTo>
                <a:lnTo>
                  <a:pt x="20025" y="7168"/>
                </a:lnTo>
                <a:lnTo>
                  <a:pt x="19822" y="7206"/>
                </a:lnTo>
                <a:lnTo>
                  <a:pt x="19608" y="7243"/>
                </a:lnTo>
                <a:lnTo>
                  <a:pt x="19440" y="7355"/>
                </a:lnTo>
                <a:lnTo>
                  <a:pt x="19271" y="7504"/>
                </a:lnTo>
                <a:lnTo>
                  <a:pt x="19136" y="7708"/>
                </a:lnTo>
                <a:lnTo>
                  <a:pt x="19012" y="7895"/>
                </a:lnTo>
                <a:lnTo>
                  <a:pt x="18832" y="8025"/>
                </a:lnTo>
                <a:lnTo>
                  <a:pt x="18663" y="8174"/>
                </a:lnTo>
                <a:lnTo>
                  <a:pt x="18472" y="8248"/>
                </a:lnTo>
                <a:lnTo>
                  <a:pt x="18270" y="8286"/>
                </a:lnTo>
                <a:lnTo>
                  <a:pt x="18078" y="8323"/>
                </a:lnTo>
                <a:lnTo>
                  <a:pt x="17887" y="8323"/>
                </a:lnTo>
                <a:lnTo>
                  <a:pt x="17696" y="8248"/>
                </a:lnTo>
                <a:lnTo>
                  <a:pt x="17493" y="8174"/>
                </a:lnTo>
                <a:lnTo>
                  <a:pt x="17302" y="8062"/>
                </a:lnTo>
                <a:lnTo>
                  <a:pt x="17133" y="7969"/>
                </a:lnTo>
                <a:lnTo>
                  <a:pt x="16976" y="7783"/>
                </a:lnTo>
                <a:lnTo>
                  <a:pt x="16852" y="7597"/>
                </a:lnTo>
                <a:lnTo>
                  <a:pt x="16740" y="7429"/>
                </a:lnTo>
                <a:lnTo>
                  <a:pt x="16672" y="7168"/>
                </a:lnTo>
                <a:lnTo>
                  <a:pt x="16638" y="6926"/>
                </a:lnTo>
                <a:lnTo>
                  <a:pt x="16616" y="6498"/>
                </a:lnTo>
                <a:lnTo>
                  <a:pt x="16616" y="5772"/>
                </a:lnTo>
                <a:lnTo>
                  <a:pt x="16650" y="4915"/>
                </a:lnTo>
                <a:lnTo>
                  <a:pt x="16695" y="3928"/>
                </a:lnTo>
                <a:lnTo>
                  <a:pt x="16762" y="2960"/>
                </a:lnTo>
                <a:lnTo>
                  <a:pt x="16830" y="1992"/>
                </a:lnTo>
                <a:lnTo>
                  <a:pt x="16908" y="1173"/>
                </a:lnTo>
                <a:lnTo>
                  <a:pt x="16976" y="521"/>
                </a:lnTo>
                <a:lnTo>
                  <a:pt x="16953" y="521"/>
                </a:lnTo>
                <a:lnTo>
                  <a:pt x="16931" y="521"/>
                </a:lnTo>
                <a:lnTo>
                  <a:pt x="16267" y="484"/>
                </a:lnTo>
                <a:lnTo>
                  <a:pt x="15637" y="428"/>
                </a:lnTo>
                <a:lnTo>
                  <a:pt x="15063" y="353"/>
                </a:lnTo>
                <a:lnTo>
                  <a:pt x="14523" y="279"/>
                </a:lnTo>
                <a:lnTo>
                  <a:pt x="14040" y="167"/>
                </a:lnTo>
                <a:lnTo>
                  <a:pt x="13635" y="93"/>
                </a:lnTo>
                <a:lnTo>
                  <a:pt x="13331" y="18"/>
                </a:lnTo>
                <a:lnTo>
                  <a:pt x="13117" y="18"/>
                </a:lnTo>
                <a:lnTo>
                  <a:pt x="12982" y="18"/>
                </a:lnTo>
                <a:lnTo>
                  <a:pt x="12858" y="130"/>
                </a:lnTo>
                <a:lnTo>
                  <a:pt x="12723" y="279"/>
                </a:lnTo>
                <a:lnTo>
                  <a:pt x="12622" y="446"/>
                </a:lnTo>
                <a:lnTo>
                  <a:pt x="12510" y="670"/>
                </a:lnTo>
                <a:lnTo>
                  <a:pt x="12419" y="912"/>
                </a:lnTo>
                <a:lnTo>
                  <a:pt x="12363" y="1210"/>
                </a:lnTo>
                <a:lnTo>
                  <a:pt x="12318" y="1526"/>
                </a:lnTo>
                <a:lnTo>
                  <a:pt x="12273" y="1843"/>
                </a:lnTo>
                <a:lnTo>
                  <a:pt x="12251" y="2215"/>
                </a:lnTo>
                <a:lnTo>
                  <a:pt x="12273" y="2532"/>
                </a:lnTo>
                <a:lnTo>
                  <a:pt x="12318" y="2886"/>
                </a:lnTo>
                <a:lnTo>
                  <a:pt x="12386" y="3240"/>
                </a:lnTo>
                <a:lnTo>
                  <a:pt x="12464" y="3556"/>
                </a:lnTo>
                <a:lnTo>
                  <a:pt x="12577" y="3891"/>
                </a:lnTo>
                <a:lnTo>
                  <a:pt x="12746" y="4171"/>
                </a:lnTo>
                <a:lnTo>
                  <a:pt x="12926" y="4487"/>
                </a:lnTo>
                <a:lnTo>
                  <a:pt x="13050" y="4860"/>
                </a:lnTo>
                <a:lnTo>
                  <a:pt x="13162" y="5251"/>
                </a:lnTo>
                <a:lnTo>
                  <a:pt x="13218" y="5604"/>
                </a:lnTo>
                <a:lnTo>
                  <a:pt x="13263" y="5995"/>
                </a:lnTo>
                <a:lnTo>
                  <a:pt x="13241" y="6386"/>
                </a:lnTo>
                <a:lnTo>
                  <a:pt x="13218" y="6740"/>
                </a:lnTo>
                <a:lnTo>
                  <a:pt x="13139" y="7094"/>
                </a:lnTo>
                <a:lnTo>
                  <a:pt x="13050" y="7429"/>
                </a:lnTo>
                <a:lnTo>
                  <a:pt x="12903" y="7746"/>
                </a:lnTo>
                <a:lnTo>
                  <a:pt x="12723" y="8025"/>
                </a:lnTo>
                <a:lnTo>
                  <a:pt x="12532" y="8286"/>
                </a:lnTo>
                <a:lnTo>
                  <a:pt x="12318" y="8491"/>
                </a:lnTo>
                <a:lnTo>
                  <a:pt x="12060" y="8677"/>
                </a:lnTo>
                <a:lnTo>
                  <a:pt x="11756" y="8788"/>
                </a:lnTo>
                <a:lnTo>
                  <a:pt x="11452" y="8826"/>
                </a:lnTo>
                <a:lnTo>
                  <a:pt x="11283" y="8826"/>
                </a:lnTo>
                <a:lnTo>
                  <a:pt x="11126" y="8826"/>
                </a:lnTo>
                <a:lnTo>
                  <a:pt x="11002" y="8788"/>
                </a:lnTo>
                <a:lnTo>
                  <a:pt x="10845" y="8714"/>
                </a:lnTo>
                <a:lnTo>
                  <a:pt x="10721" y="8640"/>
                </a:lnTo>
                <a:lnTo>
                  <a:pt x="10608" y="8565"/>
                </a:lnTo>
                <a:lnTo>
                  <a:pt x="10485" y="8453"/>
                </a:lnTo>
                <a:lnTo>
                  <a:pt x="10372" y="8323"/>
                </a:lnTo>
                <a:lnTo>
                  <a:pt x="10181" y="8062"/>
                </a:lnTo>
                <a:lnTo>
                  <a:pt x="10035" y="7746"/>
                </a:lnTo>
                <a:lnTo>
                  <a:pt x="9900" y="7392"/>
                </a:lnTo>
                <a:lnTo>
                  <a:pt x="9787" y="7001"/>
                </a:lnTo>
                <a:lnTo>
                  <a:pt x="9731" y="6610"/>
                </a:lnTo>
                <a:lnTo>
                  <a:pt x="9686" y="6219"/>
                </a:lnTo>
                <a:lnTo>
                  <a:pt x="9663" y="5772"/>
                </a:lnTo>
                <a:lnTo>
                  <a:pt x="9686" y="5381"/>
                </a:lnTo>
                <a:lnTo>
                  <a:pt x="9753" y="4990"/>
                </a:lnTo>
                <a:lnTo>
                  <a:pt x="9832" y="4636"/>
                </a:lnTo>
                <a:lnTo>
                  <a:pt x="9945" y="4320"/>
                </a:lnTo>
                <a:lnTo>
                  <a:pt x="10068" y="4022"/>
                </a:lnTo>
                <a:lnTo>
                  <a:pt x="10203" y="3817"/>
                </a:lnTo>
                <a:lnTo>
                  <a:pt x="10316" y="3593"/>
                </a:lnTo>
                <a:lnTo>
                  <a:pt x="10395" y="3351"/>
                </a:lnTo>
                <a:lnTo>
                  <a:pt x="10462" y="3109"/>
                </a:lnTo>
                <a:lnTo>
                  <a:pt x="10507" y="2848"/>
                </a:lnTo>
                <a:lnTo>
                  <a:pt x="10530" y="2606"/>
                </a:lnTo>
                <a:lnTo>
                  <a:pt x="10507" y="2346"/>
                </a:lnTo>
                <a:lnTo>
                  <a:pt x="10462" y="2141"/>
                </a:lnTo>
                <a:lnTo>
                  <a:pt x="10395" y="1880"/>
                </a:lnTo>
                <a:lnTo>
                  <a:pt x="10293" y="1638"/>
                </a:lnTo>
                <a:lnTo>
                  <a:pt x="10158" y="1415"/>
                </a:lnTo>
                <a:lnTo>
                  <a:pt x="9967" y="1210"/>
                </a:lnTo>
                <a:lnTo>
                  <a:pt x="9753" y="986"/>
                </a:lnTo>
                <a:lnTo>
                  <a:pt x="9495" y="819"/>
                </a:lnTo>
                <a:lnTo>
                  <a:pt x="9191" y="670"/>
                </a:lnTo>
                <a:lnTo>
                  <a:pt x="8842" y="521"/>
                </a:lnTo>
                <a:lnTo>
                  <a:pt x="8471" y="446"/>
                </a:lnTo>
                <a:lnTo>
                  <a:pt x="7998" y="428"/>
                </a:lnTo>
                <a:lnTo>
                  <a:pt x="7413" y="428"/>
                </a:lnTo>
                <a:lnTo>
                  <a:pt x="6817" y="446"/>
                </a:lnTo>
                <a:lnTo>
                  <a:pt x="6187" y="521"/>
                </a:lnTo>
                <a:lnTo>
                  <a:pt x="5602" y="633"/>
                </a:lnTo>
                <a:lnTo>
                  <a:pt x="5107" y="744"/>
                </a:lnTo>
                <a:lnTo>
                  <a:pt x="4725" y="856"/>
                </a:lnTo>
                <a:lnTo>
                  <a:pt x="4848" y="1564"/>
                </a:lnTo>
                <a:lnTo>
                  <a:pt x="5028" y="2495"/>
                </a:lnTo>
                <a:lnTo>
                  <a:pt x="5175" y="3556"/>
                </a:lnTo>
                <a:lnTo>
                  <a:pt x="5298" y="4673"/>
                </a:lnTo>
                <a:lnTo>
                  <a:pt x="5343" y="5213"/>
                </a:lnTo>
                <a:lnTo>
                  <a:pt x="5388" y="5753"/>
                </a:lnTo>
                <a:lnTo>
                  <a:pt x="5411" y="6275"/>
                </a:lnTo>
                <a:lnTo>
                  <a:pt x="5411" y="6740"/>
                </a:lnTo>
                <a:lnTo>
                  <a:pt x="5366" y="7168"/>
                </a:lnTo>
                <a:lnTo>
                  <a:pt x="5321" y="7541"/>
                </a:lnTo>
                <a:lnTo>
                  <a:pt x="5287" y="7708"/>
                </a:lnTo>
                <a:lnTo>
                  <a:pt x="5242" y="7857"/>
                </a:lnTo>
                <a:lnTo>
                  <a:pt x="5197" y="7969"/>
                </a:lnTo>
                <a:lnTo>
                  <a:pt x="5130" y="8062"/>
                </a:lnTo>
                <a:lnTo>
                  <a:pt x="5006" y="8248"/>
                </a:lnTo>
                <a:lnTo>
                  <a:pt x="4848" y="8397"/>
                </a:lnTo>
                <a:lnTo>
                  <a:pt x="4725" y="8528"/>
                </a:lnTo>
                <a:lnTo>
                  <a:pt x="4567" y="8640"/>
                </a:lnTo>
                <a:lnTo>
                  <a:pt x="4421" y="8714"/>
                </a:lnTo>
                <a:lnTo>
                  <a:pt x="4263" y="8751"/>
                </a:lnTo>
                <a:lnTo>
                  <a:pt x="4095" y="8788"/>
                </a:lnTo>
                <a:lnTo>
                  <a:pt x="3948" y="8788"/>
                </a:lnTo>
                <a:lnTo>
                  <a:pt x="3791" y="8751"/>
                </a:lnTo>
                <a:lnTo>
                  <a:pt x="3667" y="8714"/>
                </a:lnTo>
                <a:lnTo>
                  <a:pt x="3510" y="8677"/>
                </a:lnTo>
                <a:lnTo>
                  <a:pt x="3386" y="8602"/>
                </a:lnTo>
                <a:lnTo>
                  <a:pt x="3251" y="8491"/>
                </a:lnTo>
                <a:lnTo>
                  <a:pt x="3127" y="8360"/>
                </a:lnTo>
                <a:lnTo>
                  <a:pt x="3015" y="8248"/>
                </a:lnTo>
                <a:lnTo>
                  <a:pt x="2925" y="8062"/>
                </a:lnTo>
                <a:lnTo>
                  <a:pt x="2778" y="7857"/>
                </a:lnTo>
                <a:lnTo>
                  <a:pt x="2610" y="7671"/>
                </a:lnTo>
                <a:lnTo>
                  <a:pt x="2407" y="7541"/>
                </a:lnTo>
                <a:lnTo>
                  <a:pt x="2171" y="7466"/>
                </a:lnTo>
                <a:lnTo>
                  <a:pt x="1957" y="7429"/>
                </a:lnTo>
                <a:lnTo>
                  <a:pt x="1698" y="7429"/>
                </a:lnTo>
                <a:lnTo>
                  <a:pt x="1462" y="7466"/>
                </a:lnTo>
                <a:lnTo>
                  <a:pt x="1226" y="7559"/>
                </a:lnTo>
                <a:lnTo>
                  <a:pt x="989" y="7708"/>
                </a:lnTo>
                <a:lnTo>
                  <a:pt x="776" y="7932"/>
                </a:lnTo>
                <a:lnTo>
                  <a:pt x="551" y="8211"/>
                </a:lnTo>
                <a:lnTo>
                  <a:pt x="382" y="8528"/>
                </a:lnTo>
                <a:lnTo>
                  <a:pt x="315" y="8714"/>
                </a:lnTo>
                <a:lnTo>
                  <a:pt x="236" y="8919"/>
                </a:lnTo>
                <a:lnTo>
                  <a:pt x="191" y="9142"/>
                </a:lnTo>
                <a:lnTo>
                  <a:pt x="123" y="9347"/>
                </a:lnTo>
                <a:lnTo>
                  <a:pt x="78" y="9608"/>
                </a:lnTo>
                <a:lnTo>
                  <a:pt x="56" y="9887"/>
                </a:lnTo>
                <a:lnTo>
                  <a:pt x="33" y="10185"/>
                </a:lnTo>
                <a:lnTo>
                  <a:pt x="33" y="10464"/>
                </a:lnTo>
                <a:lnTo>
                  <a:pt x="33" y="10706"/>
                </a:lnTo>
                <a:lnTo>
                  <a:pt x="56" y="10967"/>
                </a:lnTo>
                <a:lnTo>
                  <a:pt x="78" y="11172"/>
                </a:lnTo>
                <a:lnTo>
                  <a:pt x="123" y="11395"/>
                </a:lnTo>
                <a:lnTo>
                  <a:pt x="168" y="11600"/>
                </a:lnTo>
                <a:lnTo>
                  <a:pt x="236" y="11786"/>
                </a:lnTo>
                <a:lnTo>
                  <a:pt x="292" y="11973"/>
                </a:lnTo>
                <a:lnTo>
                  <a:pt x="382" y="12140"/>
                </a:lnTo>
                <a:lnTo>
                  <a:pt x="540" y="12419"/>
                </a:lnTo>
                <a:lnTo>
                  <a:pt x="731" y="12680"/>
                </a:lnTo>
                <a:lnTo>
                  <a:pt x="944" y="12866"/>
                </a:lnTo>
                <a:lnTo>
                  <a:pt x="1158" y="12997"/>
                </a:lnTo>
                <a:lnTo>
                  <a:pt x="1395" y="13108"/>
                </a:lnTo>
                <a:lnTo>
                  <a:pt x="1608" y="13183"/>
                </a:lnTo>
                <a:lnTo>
                  <a:pt x="1856" y="13183"/>
                </a:lnTo>
                <a:lnTo>
                  <a:pt x="2070" y="13146"/>
                </a:lnTo>
                <a:lnTo>
                  <a:pt x="2261" y="13071"/>
                </a:lnTo>
                <a:lnTo>
                  <a:pt x="2430" y="12960"/>
                </a:lnTo>
                <a:lnTo>
                  <a:pt x="2587" y="12792"/>
                </a:lnTo>
                <a:lnTo>
                  <a:pt x="2688" y="12606"/>
                </a:lnTo>
                <a:lnTo>
                  <a:pt x="2801" y="12419"/>
                </a:lnTo>
                <a:lnTo>
                  <a:pt x="2925" y="12289"/>
                </a:lnTo>
                <a:lnTo>
                  <a:pt x="3082" y="12177"/>
                </a:lnTo>
                <a:lnTo>
                  <a:pt x="3228" y="12103"/>
                </a:lnTo>
                <a:lnTo>
                  <a:pt x="3408" y="12103"/>
                </a:lnTo>
                <a:lnTo>
                  <a:pt x="3577" y="12103"/>
                </a:lnTo>
                <a:lnTo>
                  <a:pt x="3723" y="12177"/>
                </a:lnTo>
                <a:lnTo>
                  <a:pt x="3903" y="12252"/>
                </a:lnTo>
                <a:lnTo>
                  <a:pt x="4072" y="12364"/>
                </a:lnTo>
                <a:lnTo>
                  <a:pt x="4230" y="12494"/>
                </a:lnTo>
                <a:lnTo>
                  <a:pt x="4353" y="12643"/>
                </a:lnTo>
                <a:lnTo>
                  <a:pt x="4488" y="12829"/>
                </a:lnTo>
                <a:lnTo>
                  <a:pt x="4567" y="13034"/>
                </a:lnTo>
                <a:lnTo>
                  <a:pt x="4657" y="13257"/>
                </a:lnTo>
                <a:lnTo>
                  <a:pt x="4702" y="13462"/>
                </a:lnTo>
                <a:lnTo>
                  <a:pt x="4725" y="13686"/>
                </a:lnTo>
                <a:lnTo>
                  <a:pt x="4702" y="14282"/>
                </a:lnTo>
                <a:lnTo>
                  <a:pt x="4657" y="15045"/>
                </a:lnTo>
                <a:lnTo>
                  <a:pt x="4612" y="15976"/>
                </a:lnTo>
                <a:lnTo>
                  <a:pt x="4590" y="16926"/>
                </a:lnTo>
                <a:lnTo>
                  <a:pt x="4567" y="17968"/>
                </a:lnTo>
                <a:lnTo>
                  <a:pt x="4567" y="19011"/>
                </a:lnTo>
                <a:lnTo>
                  <a:pt x="4590" y="19514"/>
                </a:lnTo>
                <a:lnTo>
                  <a:pt x="4612" y="19980"/>
                </a:lnTo>
                <a:lnTo>
                  <a:pt x="4657" y="20426"/>
                </a:lnTo>
                <a:lnTo>
                  <a:pt x="4725" y="20836"/>
                </a:lnTo>
                <a:lnTo>
                  <a:pt x="4848" y="20929"/>
                </a:lnTo>
                <a:lnTo>
                  <a:pt x="5040" y="21004"/>
                </a:lnTo>
                <a:lnTo>
                  <a:pt x="5265" y="21078"/>
                </a:lnTo>
                <a:lnTo>
                  <a:pt x="5478" y="21115"/>
                </a:lnTo>
                <a:lnTo>
                  <a:pt x="6041" y="21115"/>
                </a:lnTo>
                <a:lnTo>
                  <a:pt x="6637" y="21078"/>
                </a:lnTo>
                <a:lnTo>
                  <a:pt x="7312" y="21004"/>
                </a:lnTo>
                <a:lnTo>
                  <a:pt x="7998" y="20929"/>
                </a:lnTo>
                <a:lnTo>
                  <a:pt x="8696" y="20855"/>
                </a:lnTo>
                <a:lnTo>
                  <a:pt x="9360" y="20836"/>
                </a:lnTo>
                <a:close/>
              </a:path>
            </a:pathLst>
          </a:custGeom>
          <a:solidFill>
            <a:srgbClr val="0070C0"/>
          </a:solidFill>
          <a:ln w="28575">
            <a:solidFill>
              <a:srgbClr val="FFFFFF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cxnSp>
        <p:nvCxnSpPr>
          <p:cNvPr id="16" name="MH_Other_6"/>
          <p:cNvCxnSpPr>
            <a:cxnSpLocks noChangeShapeType="1"/>
          </p:cNvCxnSpPr>
          <p:nvPr>
            <p:custDataLst>
              <p:tags r:id="rId7"/>
            </p:custDataLst>
          </p:nvPr>
        </p:nvCxnSpPr>
        <p:spPr bwMode="auto">
          <a:xfrm>
            <a:off x="6792596" y="2205673"/>
            <a:ext cx="2570163" cy="284162"/>
          </a:xfrm>
          <a:prstGeom prst="bentConnector3">
            <a:avLst>
              <a:gd name="adj1" fmla="val 34458"/>
            </a:avLst>
          </a:prstGeom>
          <a:noFill/>
          <a:ln w="3175" algn="ctr">
            <a:solidFill>
              <a:srgbClr val="014076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MH_Text_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785941" y="2815021"/>
            <a:ext cx="315363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defTabSz="508000" eaLnBrk="0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导航布局合理且直观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符合用户习惯。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0" name="MH_Text_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088496" y="4759168"/>
            <a:ext cx="3391323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defTabSz="508000" eaLnBrk="0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导航与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界面结构、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菜单、风格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是否一致。</a:t>
            </a:r>
          </a:p>
        </p:txBody>
      </p:sp>
      <p:sp>
        <p:nvSpPr>
          <p:cNvPr id="22" name="MH_Text_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44848" y="4591159"/>
            <a:ext cx="3318358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lvl="0" defTabSz="508000"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cs typeface="+mn-ea"/>
              </a:rPr>
              <a:t>导航帮助是否准确，是否需要搜索引擎。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cxnSp>
        <p:nvCxnSpPr>
          <p:cNvPr id="23" name="MH_Other_7"/>
          <p:cNvCxnSpPr>
            <a:cxnSpLocks noChangeShapeType="1"/>
          </p:cNvCxnSpPr>
          <p:nvPr>
            <p:custDataLst>
              <p:tags r:id="rId11"/>
            </p:custDataLst>
          </p:nvPr>
        </p:nvCxnSpPr>
        <p:spPr bwMode="auto">
          <a:xfrm>
            <a:off x="7726046" y="4241165"/>
            <a:ext cx="1420813" cy="0"/>
          </a:xfrm>
          <a:prstGeom prst="line">
            <a:avLst/>
          </a:prstGeom>
          <a:noFill/>
          <a:ln w="3175" algn="ctr">
            <a:solidFill>
              <a:srgbClr val="014076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MH_Other_8"/>
          <p:cNvCxnSpPr>
            <a:cxnSpLocks noChangeShapeType="1"/>
          </p:cNvCxnSpPr>
          <p:nvPr>
            <p:custDataLst>
              <p:tags r:id="rId12"/>
            </p:custDataLst>
          </p:nvPr>
        </p:nvCxnSpPr>
        <p:spPr bwMode="auto">
          <a:xfrm>
            <a:off x="2665096" y="3059748"/>
            <a:ext cx="1673225" cy="0"/>
          </a:xfrm>
          <a:prstGeom prst="line">
            <a:avLst/>
          </a:prstGeom>
          <a:noFill/>
          <a:ln w="3175" algn="ctr">
            <a:solidFill>
              <a:srgbClr val="014076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303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5303206" y="1413794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3931605" y="2635109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Freeform 9"/>
          <p:cNvSpPr>
            <a:spLocks noChangeArrowheads="1"/>
          </p:cNvSpPr>
          <p:nvPr/>
        </p:nvSpPr>
        <p:spPr bwMode="auto">
          <a:xfrm>
            <a:off x="4719006" y="3955910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10"/>
          <p:cNvSpPr>
            <a:spLocks noChangeArrowheads="1"/>
          </p:cNvSpPr>
          <p:nvPr/>
        </p:nvSpPr>
        <p:spPr bwMode="auto">
          <a:xfrm>
            <a:off x="5993239" y="3955910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Freeform 11"/>
          <p:cNvSpPr>
            <a:spLocks noChangeArrowheads="1"/>
          </p:cNvSpPr>
          <p:nvPr/>
        </p:nvSpPr>
        <p:spPr bwMode="auto">
          <a:xfrm>
            <a:off x="6687505" y="2635109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631719" y="1972594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8"/>
          <p:cNvSpPr>
            <a:spLocks noChangeArrowheads="1"/>
          </p:cNvSpPr>
          <p:nvPr/>
        </p:nvSpPr>
        <p:spPr bwMode="auto">
          <a:xfrm>
            <a:off x="6833555" y="2843102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9"/>
          <p:cNvSpPr>
            <a:spLocks noChangeArrowheads="1"/>
          </p:cNvSpPr>
          <p:nvPr/>
        </p:nvSpPr>
        <p:spPr bwMode="auto">
          <a:xfrm>
            <a:off x="6477955" y="4399806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10"/>
          <p:cNvSpPr>
            <a:spLocks noChangeArrowheads="1"/>
          </p:cNvSpPr>
          <p:nvPr/>
        </p:nvSpPr>
        <p:spPr bwMode="auto">
          <a:xfrm>
            <a:off x="4877756" y="4423693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1"/>
          <p:cNvSpPr>
            <a:spLocks noChangeArrowheads="1"/>
          </p:cNvSpPr>
          <p:nvPr/>
        </p:nvSpPr>
        <p:spPr bwMode="auto">
          <a:xfrm>
            <a:off x="4479823" y="2897576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Box 22"/>
          <p:cNvSpPr>
            <a:spLocks noChangeArrowheads="1"/>
          </p:cNvSpPr>
          <p:nvPr/>
        </p:nvSpPr>
        <p:spPr bwMode="auto">
          <a:xfrm>
            <a:off x="5133077" y="3207450"/>
            <a:ext cx="1724557" cy="743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zh-CN" altLang="en-US" sz="20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图形测试通常需要考虑</a:t>
            </a:r>
            <a:r>
              <a:rPr lang="en-US" altLang="zh-CN" sz="20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</a:t>
            </a:r>
            <a:endParaRPr lang="zh-CN" altLang="en-US" sz="2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53461" y="1387735"/>
            <a:ext cx="32879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图片质量高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尺寸符合设计要求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显示清晰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0979" y="3850107"/>
            <a:ext cx="3224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界面字体与标签风格一致。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78767" y="5348677"/>
            <a:ext cx="52174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字体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图片颜色搭配得当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，整体使用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颜色不宜过多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用户视觉体验良好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39214" y="3683947"/>
            <a:ext cx="2895527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界面中横向与竖向的控件操作方式统一。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58807" y="1413794"/>
            <a:ext cx="34769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适应界面设计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，界面展示的内容根据窗口大小自适应。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UI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23"/>
          <p:cNvSpPr txBox="1"/>
          <p:nvPr/>
        </p:nvSpPr>
        <p:spPr>
          <a:xfrm>
            <a:off x="894966" y="981710"/>
            <a:ext cx="4751836" cy="552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内容测试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通常需要考虑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7" name="Group 14"/>
          <p:cNvGrpSpPr/>
          <p:nvPr/>
        </p:nvGrpSpPr>
        <p:grpSpPr>
          <a:xfrm>
            <a:off x="5379143" y="3421074"/>
            <a:ext cx="1414667" cy="1619124"/>
            <a:chOff x="5379142" y="2991066"/>
            <a:chExt cx="1414667" cy="1619124"/>
          </a:xfrm>
        </p:grpSpPr>
        <p:sp>
          <p:nvSpPr>
            <p:cNvPr id="8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63871" y="3629417"/>
            <a:ext cx="1414667" cy="1619124"/>
            <a:chOff x="3563871" y="3199409"/>
            <a:chExt cx="1414666" cy="1619124"/>
          </a:xfrm>
        </p:grpSpPr>
        <p:sp>
          <p:nvSpPr>
            <p:cNvPr id="13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11"/>
          <p:cNvGrpSpPr/>
          <p:nvPr/>
        </p:nvGrpSpPr>
        <p:grpSpPr>
          <a:xfrm>
            <a:off x="1743076" y="3421074"/>
            <a:ext cx="1414667" cy="1619124"/>
            <a:chOff x="1743076" y="2991066"/>
            <a:chExt cx="1414666" cy="1619124"/>
          </a:xfrm>
        </p:grpSpPr>
        <p:sp>
          <p:nvSpPr>
            <p:cNvPr id="17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9" name="Group 15"/>
          <p:cNvGrpSpPr/>
          <p:nvPr/>
        </p:nvGrpSpPr>
        <p:grpSpPr>
          <a:xfrm>
            <a:off x="7199937" y="3629417"/>
            <a:ext cx="1414667" cy="1619125"/>
            <a:chOff x="7199937" y="3199409"/>
            <a:chExt cx="1414666" cy="1619125"/>
          </a:xfrm>
        </p:grpSpPr>
        <p:sp>
          <p:nvSpPr>
            <p:cNvPr id="20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9015209" y="3421074"/>
            <a:ext cx="1414667" cy="1619124"/>
            <a:chOff x="9015209" y="2991066"/>
            <a:chExt cx="1414666" cy="1619124"/>
          </a:xfrm>
        </p:grpSpPr>
        <p:sp>
          <p:nvSpPr>
            <p:cNvPr id="23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0" name="TextBox 21"/>
          <p:cNvSpPr txBox="1"/>
          <p:nvPr/>
        </p:nvSpPr>
        <p:spPr>
          <a:xfrm>
            <a:off x="942620" y="1952370"/>
            <a:ext cx="3015578" cy="11975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文字是否表达准确</a:t>
            </a: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，例如，输入框或提示框中的说明文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字是否对应</a:t>
            </a:r>
            <a:r>
              <a:rPr lang="zh-CN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当前的功能。</a:t>
            </a:r>
          </a:p>
        </p:txBody>
      </p:sp>
      <p:sp>
        <p:nvSpPr>
          <p:cNvPr id="32" name="TextBox 22"/>
          <p:cNvSpPr txBox="1"/>
          <p:nvPr/>
        </p:nvSpPr>
        <p:spPr>
          <a:xfrm>
            <a:off x="3283751" y="5567521"/>
            <a:ext cx="2328369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文字是否有错别字。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23"/>
          <p:cNvSpPr txBox="1"/>
          <p:nvPr/>
        </p:nvSpPr>
        <p:spPr>
          <a:xfrm>
            <a:off x="5061823" y="2407095"/>
            <a:ext cx="2351979" cy="662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文字用语是否简洁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友好，是否存在表意不明。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TextBox 24"/>
          <p:cNvSpPr txBox="1"/>
          <p:nvPr/>
        </p:nvSpPr>
        <p:spPr>
          <a:xfrm>
            <a:off x="6753874" y="5587199"/>
            <a:ext cx="2328369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文字是否有敏感性词汇。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TextBox 25"/>
          <p:cNvSpPr txBox="1"/>
          <p:nvPr/>
        </p:nvSpPr>
        <p:spPr>
          <a:xfrm>
            <a:off x="8722221" y="2633694"/>
            <a:ext cx="2328369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文字长度是否有限制。</a:t>
            </a:r>
            <a:endParaRPr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功能测试，能够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功能测试的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个要点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3174" y="993205"/>
            <a:ext cx="9936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功能测试主要根据软件需求说明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验证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的功能是否得到了正确的实现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功能测试要点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206" y="2178020"/>
            <a:ext cx="5222522" cy="4109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4651" y="2349794"/>
            <a:ext cx="993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在测试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的注册功能时，测试人员需要根据软件需求说明，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测试用户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注册信息是否符合规范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如用户名、密码、手机号等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是否符合规范。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此外，还需要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测试用户注册成功或失败时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是否给出相关提示信息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6600" y="1096246"/>
            <a:ext cx="53835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的登录功能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，通常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714295" y="2163537"/>
            <a:ext cx="7036381" cy="2948400"/>
            <a:chOff x="2601063" y="2772565"/>
            <a:chExt cx="7064875" cy="2239462"/>
          </a:xfrm>
        </p:grpSpPr>
        <p:sp>
          <p:nvSpPr>
            <p:cNvPr id="10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2" name="MH_Other_2"/>
            <p:cNvSpPr/>
            <p:nvPr>
              <p:custDataLst>
                <p:tags r:id="rId2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3" name="MH_SubTitle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 flipH="1">
              <a:off x="2601063" y="2772565"/>
              <a:ext cx="1125240" cy="305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登录方式</a:t>
              </a:r>
            </a:p>
          </p:txBody>
        </p:sp>
        <p:sp>
          <p:nvSpPr>
            <p:cNvPr id="14" name="MH_Other_3"/>
            <p:cNvSpPr/>
            <p:nvPr>
              <p:custDataLst>
                <p:tags r:id="rId4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4"/>
            <p:cNvSpPr/>
            <p:nvPr>
              <p:custDataLst>
                <p:tags r:id="rId5"/>
              </p:custDataLst>
            </p:nvPr>
          </p:nvSpPr>
          <p:spPr>
            <a:xfrm flipH="1" flipV="1">
              <a:off x="4143575" y="466833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6" name="MH_Other_5"/>
            <p:cNvSpPr/>
            <p:nvPr>
              <p:custDataLst>
                <p:tags r:id="rId6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7" name="MH_Other_6"/>
            <p:cNvSpPr/>
            <p:nvPr>
              <p:custDataLst>
                <p:tags r:id="rId7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8" name="MH_Other_7"/>
            <p:cNvSpPr/>
            <p:nvPr>
              <p:custDataLst>
                <p:tags r:id="rId8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9" name="MH_Other_8"/>
            <p:cNvSpPr/>
            <p:nvPr>
              <p:custDataLst>
                <p:tags r:id="rId9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0" name="MH_SubTitle_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500631" y="4477890"/>
              <a:ext cx="1165307" cy="321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超时登录</a:t>
              </a:r>
            </a:p>
          </p:txBody>
        </p:sp>
        <p:sp>
          <p:nvSpPr>
            <p:cNvPr id="21" name="MH_SubTitle_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2601063" y="4710935"/>
              <a:ext cx="1345217" cy="301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多平台登录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8552495" y="216353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切换账号登录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78953" y="2515034"/>
            <a:ext cx="38679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登录方式有很多种，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用户名与密码登录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短信验证登录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手势登录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人脸识别登录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指纹登录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第三方登录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QQ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、微信）等，具体的测试实施过程，需要测试人员根据软件需求说明设计测试用例后再展开。</a:t>
            </a:r>
          </a:p>
        </p:txBody>
      </p:sp>
      <p:sp>
        <p:nvSpPr>
          <p:cNvPr id="23" name="矩形 22"/>
          <p:cNvSpPr/>
          <p:nvPr/>
        </p:nvSpPr>
        <p:spPr>
          <a:xfrm>
            <a:off x="7977268" y="2727927"/>
            <a:ext cx="2725938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当切换账号登录时，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测试登录的信息是否及时更新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4" name="矩形 23"/>
          <p:cNvSpPr/>
          <p:nvPr/>
        </p:nvSpPr>
        <p:spPr>
          <a:xfrm>
            <a:off x="1415206" y="5187087"/>
            <a:ext cx="39198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有一些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可以同时在移动端和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端登录，在测试多平台同时登录时，需要关注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是否允许登录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是否给出提示信息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是否及时看到数据的更新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</a:p>
        </p:txBody>
      </p:sp>
      <p:sp>
        <p:nvSpPr>
          <p:cNvPr id="25" name="矩形 24"/>
          <p:cNvSpPr/>
          <p:nvPr/>
        </p:nvSpPr>
        <p:spPr>
          <a:xfrm>
            <a:off x="7815278" y="4940536"/>
            <a:ext cx="319798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当用户登录的持续时间太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长时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，账号信息会在一定时间内过期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超时登录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的情况下，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是否给出提示信息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7672" y="2349794"/>
            <a:ext cx="101355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运行测试包括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不同网络环境下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，运行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是否正常；在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不同系统环境下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，运行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是否正常；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强行关闭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，再次运行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是否正常；在运行过程中，如果有来电、短信等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信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中断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是否能暂停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优先处理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通信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在处理完后正常恢复运行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MH_SubTitle_1"/>
          <p:cNvSpPr/>
          <p:nvPr>
            <p:custDataLst>
              <p:tags r:id="rId1"/>
            </p:custDataLst>
          </p:nvPr>
        </p:nvSpPr>
        <p:spPr>
          <a:xfrm>
            <a:off x="2446399" y="2553101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后台切换</a:t>
            </a:r>
          </a:p>
        </p:txBody>
      </p:sp>
      <p:sp>
        <p:nvSpPr>
          <p:cNvPr id="10" name="MH_Other_1"/>
          <p:cNvSpPr/>
          <p:nvPr>
            <p:custDataLst>
              <p:tags r:id="rId2"/>
            </p:custDataLst>
          </p:nvPr>
        </p:nvSpPr>
        <p:spPr>
          <a:xfrm>
            <a:off x="4565710" y="2593423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1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38235" y="1989920"/>
            <a:ext cx="2976027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/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当移动设备同时运行多个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在多个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之间进行切换，要确保再次切换回来时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还保持在原来的界面上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MH_SubTitle_2"/>
          <p:cNvSpPr/>
          <p:nvPr>
            <p:custDataLst>
              <p:tags r:id="rId4"/>
            </p:custDataLst>
          </p:nvPr>
        </p:nvSpPr>
        <p:spPr>
          <a:xfrm>
            <a:off x="2446399" y="3758647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删除进程</a:t>
            </a:r>
          </a:p>
        </p:txBody>
      </p:sp>
      <p:sp>
        <p:nvSpPr>
          <p:cNvPr id="13" name="MH_Other_2"/>
          <p:cNvSpPr/>
          <p:nvPr>
            <p:custDataLst>
              <p:tags r:id="rId5"/>
            </p:custDataLst>
          </p:nvPr>
        </p:nvSpPr>
        <p:spPr>
          <a:xfrm>
            <a:off x="4565710" y="3798333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" name="MH_Text_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38235" y="3285920"/>
            <a:ext cx="2904978" cy="1621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/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测试从后台直接删除进程后，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当再次打开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时是否符合概要设计描述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同时测试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删除进程时是否将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建立的会话一起删除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MH_SubTitle_3"/>
          <p:cNvSpPr/>
          <p:nvPr>
            <p:custDataLst>
              <p:tags r:id="rId7"/>
            </p:custDataLst>
          </p:nvPr>
        </p:nvSpPr>
        <p:spPr>
          <a:xfrm>
            <a:off x="2446399" y="4978903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锁屏</a:t>
            </a:r>
            <a:endParaRPr lang="zh-CN" altLang="en-US" sz="2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MH_Other_3"/>
          <p:cNvSpPr/>
          <p:nvPr>
            <p:custDataLst>
              <p:tags r:id="rId8"/>
            </p:custDataLst>
          </p:nvPr>
        </p:nvSpPr>
        <p:spPr>
          <a:xfrm>
            <a:off x="4565710" y="5018589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" name="MH_Text_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38235" y="4907394"/>
            <a:ext cx="2904975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MH_Title_1"/>
          <p:cNvSpPr/>
          <p:nvPr>
            <p:custDataLst>
              <p:tags r:id="rId10"/>
            </p:custDataLst>
          </p:nvPr>
        </p:nvSpPr>
        <p:spPr>
          <a:xfrm>
            <a:off x="1679375" y="2896966"/>
            <a:ext cx="498260" cy="24177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的切换测试</a:t>
            </a:r>
          </a:p>
        </p:txBody>
      </p:sp>
      <p:cxnSp>
        <p:nvCxnSpPr>
          <p:cNvPr id="19" name="PA_直接连接符 2"/>
          <p:cNvCxnSpPr/>
          <p:nvPr>
            <p:custDataLst>
              <p:tags r:id="rId11"/>
            </p:custDataLst>
          </p:nvPr>
        </p:nvCxnSpPr>
        <p:spPr>
          <a:xfrm>
            <a:off x="1658629" y="2583164"/>
            <a:ext cx="0" cy="3045363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_直接连接符 2"/>
          <p:cNvCxnSpPr/>
          <p:nvPr>
            <p:custDataLst>
              <p:tags r:id="rId12"/>
            </p:custDataLst>
          </p:nvPr>
        </p:nvCxnSpPr>
        <p:spPr>
          <a:xfrm>
            <a:off x="2177635" y="2583162"/>
            <a:ext cx="0" cy="3045363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_StraightArrowConnector 4"/>
          <p:cNvCxnSpPr/>
          <p:nvPr>
            <p:custDataLst>
              <p:tags r:id="rId13"/>
            </p:custDataLst>
          </p:nvPr>
        </p:nvCxnSpPr>
        <p:spPr>
          <a:xfrm>
            <a:off x="8043214" y="2808688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A_StraightArrowConnector 4"/>
          <p:cNvCxnSpPr/>
          <p:nvPr>
            <p:custDataLst>
              <p:tags r:id="rId14"/>
            </p:custDataLst>
          </p:nvPr>
        </p:nvCxnSpPr>
        <p:spPr>
          <a:xfrm>
            <a:off x="8043213" y="4058484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A_StraightArrowConnector 4"/>
          <p:cNvCxnSpPr/>
          <p:nvPr>
            <p:custDataLst>
              <p:tags r:id="rId15"/>
            </p:custDataLst>
          </p:nvPr>
        </p:nvCxnSpPr>
        <p:spPr>
          <a:xfrm>
            <a:off x="8043210" y="5314723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-on-target_68291"/>
          <p:cNvSpPr>
            <a:spLocks noChangeAspect="1"/>
          </p:cNvSpPr>
          <p:nvPr/>
        </p:nvSpPr>
        <p:spPr bwMode="auto">
          <a:xfrm>
            <a:off x="9366817" y="5018840"/>
            <a:ext cx="609685" cy="609685"/>
          </a:xfrm>
          <a:custGeom>
            <a:avLst/>
            <a:gdLst>
              <a:gd name="connsiteX0" fmla="*/ 157638 w 338138"/>
              <a:gd name="connsiteY0" fmla="*/ 144463 h 338138"/>
              <a:gd name="connsiteX1" fmla="*/ 165544 w 338138"/>
              <a:gd name="connsiteY1" fmla="*/ 148443 h 338138"/>
              <a:gd name="connsiteX2" fmla="*/ 249865 w 338138"/>
              <a:gd name="connsiteY2" fmla="*/ 233341 h 338138"/>
              <a:gd name="connsiteX3" fmla="*/ 280167 w 338138"/>
              <a:gd name="connsiteY3" fmla="*/ 232015 h 338138"/>
              <a:gd name="connsiteX4" fmla="*/ 286755 w 338138"/>
              <a:gd name="connsiteY4" fmla="*/ 234668 h 338138"/>
              <a:gd name="connsiteX5" fmla="*/ 335503 w 338138"/>
              <a:gd name="connsiteY5" fmla="*/ 283750 h 338138"/>
              <a:gd name="connsiteX6" fmla="*/ 338138 w 338138"/>
              <a:gd name="connsiteY6" fmla="*/ 293036 h 338138"/>
              <a:gd name="connsiteX7" fmla="*/ 330233 w 338138"/>
              <a:gd name="connsiteY7" fmla="*/ 298342 h 338138"/>
              <a:gd name="connsiteX8" fmla="*/ 311788 w 338138"/>
              <a:gd name="connsiteY8" fmla="*/ 303648 h 338138"/>
              <a:gd name="connsiteX9" fmla="*/ 303883 w 338138"/>
              <a:gd name="connsiteY9" fmla="*/ 310281 h 338138"/>
              <a:gd name="connsiteX10" fmla="*/ 299930 w 338138"/>
              <a:gd name="connsiteY10" fmla="*/ 331505 h 338138"/>
              <a:gd name="connsiteX11" fmla="*/ 293343 w 338138"/>
              <a:gd name="connsiteY11" fmla="*/ 338138 h 338138"/>
              <a:gd name="connsiteX12" fmla="*/ 290708 w 338138"/>
              <a:gd name="connsiteY12" fmla="*/ 338138 h 338138"/>
              <a:gd name="connsiteX13" fmla="*/ 284120 w 338138"/>
              <a:gd name="connsiteY13" fmla="*/ 335485 h 338138"/>
              <a:gd name="connsiteX14" fmla="*/ 235372 w 338138"/>
              <a:gd name="connsiteY14" fmla="*/ 286403 h 338138"/>
              <a:gd name="connsiteX15" fmla="*/ 232737 w 338138"/>
              <a:gd name="connsiteY15" fmla="*/ 279770 h 338138"/>
              <a:gd name="connsiteX16" fmla="*/ 234054 w 338138"/>
              <a:gd name="connsiteY16" fmla="*/ 249260 h 338138"/>
              <a:gd name="connsiteX17" fmla="*/ 149733 w 338138"/>
              <a:gd name="connsiteY17" fmla="*/ 164361 h 338138"/>
              <a:gd name="connsiteX18" fmla="*/ 149733 w 338138"/>
              <a:gd name="connsiteY18" fmla="*/ 148443 h 338138"/>
              <a:gd name="connsiteX19" fmla="*/ 157638 w 338138"/>
              <a:gd name="connsiteY19" fmla="*/ 144463 h 338138"/>
              <a:gd name="connsiteX20" fmla="*/ 145922 w 338138"/>
              <a:gd name="connsiteY20" fmla="*/ 120650 h 338138"/>
              <a:gd name="connsiteX21" fmla="*/ 169863 w 338138"/>
              <a:gd name="connsiteY21" fmla="*/ 137383 h 338138"/>
              <a:gd name="connsiteX22" fmla="*/ 157893 w 338138"/>
              <a:gd name="connsiteY22" fmla="*/ 133522 h 338138"/>
              <a:gd name="connsiteX23" fmla="*/ 141931 w 338138"/>
              <a:gd name="connsiteY23" fmla="*/ 141245 h 338138"/>
              <a:gd name="connsiteX24" fmla="*/ 137941 w 338138"/>
              <a:gd name="connsiteY24" fmla="*/ 168275 h 338138"/>
              <a:gd name="connsiteX25" fmla="*/ 120650 w 338138"/>
              <a:gd name="connsiteY25" fmla="*/ 145106 h 338138"/>
              <a:gd name="connsiteX26" fmla="*/ 145922 w 338138"/>
              <a:gd name="connsiteY26" fmla="*/ 120650 h 338138"/>
              <a:gd name="connsiteX27" fmla="*/ 146051 w 338138"/>
              <a:gd name="connsiteY27" fmla="*/ 60325 h 338138"/>
              <a:gd name="connsiteX28" fmla="*/ 230188 w 338138"/>
              <a:gd name="connsiteY28" fmla="*/ 145257 h 338138"/>
              <a:gd name="connsiteX29" fmla="*/ 219671 w 338138"/>
              <a:gd name="connsiteY29" fmla="*/ 186395 h 338138"/>
              <a:gd name="connsiteX30" fmla="*/ 193378 w 338138"/>
              <a:gd name="connsiteY30" fmla="*/ 161181 h 338138"/>
              <a:gd name="connsiteX31" fmla="*/ 196007 w 338138"/>
              <a:gd name="connsiteY31" fmla="*/ 145257 h 338138"/>
              <a:gd name="connsiteX32" fmla="*/ 146051 w 338138"/>
              <a:gd name="connsiteY32" fmla="*/ 94828 h 338138"/>
              <a:gd name="connsiteX33" fmla="*/ 96094 w 338138"/>
              <a:gd name="connsiteY33" fmla="*/ 145257 h 338138"/>
              <a:gd name="connsiteX34" fmla="*/ 146051 w 338138"/>
              <a:gd name="connsiteY34" fmla="*/ 195685 h 338138"/>
              <a:gd name="connsiteX35" fmla="*/ 161827 w 338138"/>
              <a:gd name="connsiteY35" fmla="*/ 193031 h 338138"/>
              <a:gd name="connsiteX36" fmla="*/ 188119 w 338138"/>
              <a:gd name="connsiteY36" fmla="*/ 219572 h 338138"/>
              <a:gd name="connsiteX37" fmla="*/ 146051 w 338138"/>
              <a:gd name="connsiteY37" fmla="*/ 230188 h 338138"/>
              <a:gd name="connsiteX38" fmla="*/ 61913 w 338138"/>
              <a:gd name="connsiteY38" fmla="*/ 145257 h 338138"/>
              <a:gd name="connsiteX39" fmla="*/ 146051 w 338138"/>
              <a:gd name="connsiteY39" fmla="*/ 60325 h 338138"/>
              <a:gd name="connsiteX40" fmla="*/ 145257 w 338138"/>
              <a:gd name="connsiteY40" fmla="*/ 0 h 338138"/>
              <a:gd name="connsiteX41" fmla="*/ 290513 w 338138"/>
              <a:gd name="connsiteY41" fmla="*/ 145257 h 338138"/>
              <a:gd name="connsiteX42" fmla="*/ 269385 w 338138"/>
              <a:gd name="connsiteY42" fmla="*/ 221846 h 338138"/>
              <a:gd name="connsiteX43" fmla="*/ 254859 w 338138"/>
              <a:gd name="connsiteY43" fmla="*/ 221846 h 338138"/>
              <a:gd name="connsiteX44" fmla="*/ 239013 w 338138"/>
              <a:gd name="connsiteY44" fmla="*/ 206000 h 338138"/>
              <a:gd name="connsiteX45" fmla="*/ 256180 w 338138"/>
              <a:gd name="connsiteY45" fmla="*/ 145257 h 338138"/>
              <a:gd name="connsiteX46" fmla="*/ 145257 w 338138"/>
              <a:gd name="connsiteY46" fmla="*/ 34333 h 338138"/>
              <a:gd name="connsiteX47" fmla="*/ 34333 w 338138"/>
              <a:gd name="connsiteY47" fmla="*/ 145257 h 338138"/>
              <a:gd name="connsiteX48" fmla="*/ 145257 w 338138"/>
              <a:gd name="connsiteY48" fmla="*/ 256180 h 338138"/>
              <a:gd name="connsiteX49" fmla="*/ 206000 w 338138"/>
              <a:gd name="connsiteY49" fmla="*/ 239013 h 338138"/>
              <a:gd name="connsiteX50" fmla="*/ 221847 w 338138"/>
              <a:gd name="connsiteY50" fmla="*/ 254859 h 338138"/>
              <a:gd name="connsiteX51" fmla="*/ 221847 w 338138"/>
              <a:gd name="connsiteY51" fmla="*/ 269385 h 338138"/>
              <a:gd name="connsiteX52" fmla="*/ 145257 w 338138"/>
              <a:gd name="connsiteY52" fmla="*/ 290513 h 338138"/>
              <a:gd name="connsiteX53" fmla="*/ 0 w 338138"/>
              <a:gd name="connsiteY53" fmla="*/ 145257 h 338138"/>
              <a:gd name="connsiteX54" fmla="*/ 145257 w 338138"/>
              <a:gd name="connsiteY5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38138" h="338138">
                <a:moveTo>
                  <a:pt x="157638" y="144463"/>
                </a:moveTo>
                <a:cubicBezTo>
                  <a:pt x="160273" y="144463"/>
                  <a:pt x="162908" y="145790"/>
                  <a:pt x="165544" y="148443"/>
                </a:cubicBezTo>
                <a:cubicBezTo>
                  <a:pt x="165544" y="148443"/>
                  <a:pt x="165544" y="148443"/>
                  <a:pt x="249865" y="233341"/>
                </a:cubicBezTo>
                <a:cubicBezTo>
                  <a:pt x="249865" y="233341"/>
                  <a:pt x="249865" y="233341"/>
                  <a:pt x="280167" y="232015"/>
                </a:cubicBezTo>
                <a:cubicBezTo>
                  <a:pt x="282803" y="232015"/>
                  <a:pt x="285438" y="233341"/>
                  <a:pt x="286755" y="234668"/>
                </a:cubicBezTo>
                <a:cubicBezTo>
                  <a:pt x="286755" y="234668"/>
                  <a:pt x="286755" y="234668"/>
                  <a:pt x="335503" y="283750"/>
                </a:cubicBezTo>
                <a:cubicBezTo>
                  <a:pt x="338138" y="286403"/>
                  <a:pt x="338138" y="289056"/>
                  <a:pt x="338138" y="293036"/>
                </a:cubicBezTo>
                <a:cubicBezTo>
                  <a:pt x="336821" y="295689"/>
                  <a:pt x="334186" y="298342"/>
                  <a:pt x="330233" y="298342"/>
                </a:cubicBezTo>
                <a:cubicBezTo>
                  <a:pt x="330233" y="298342"/>
                  <a:pt x="330233" y="298342"/>
                  <a:pt x="311788" y="303648"/>
                </a:cubicBezTo>
                <a:cubicBezTo>
                  <a:pt x="307835" y="303648"/>
                  <a:pt x="305200" y="306301"/>
                  <a:pt x="303883" y="310281"/>
                </a:cubicBezTo>
                <a:cubicBezTo>
                  <a:pt x="303883" y="310281"/>
                  <a:pt x="303883" y="310281"/>
                  <a:pt x="299930" y="331505"/>
                </a:cubicBezTo>
                <a:cubicBezTo>
                  <a:pt x="298613" y="334158"/>
                  <a:pt x="295978" y="336812"/>
                  <a:pt x="293343" y="338138"/>
                </a:cubicBezTo>
                <a:cubicBezTo>
                  <a:pt x="292025" y="338138"/>
                  <a:pt x="292025" y="338138"/>
                  <a:pt x="290708" y="338138"/>
                </a:cubicBezTo>
                <a:cubicBezTo>
                  <a:pt x="288073" y="338138"/>
                  <a:pt x="285438" y="336812"/>
                  <a:pt x="284120" y="335485"/>
                </a:cubicBezTo>
                <a:cubicBezTo>
                  <a:pt x="284120" y="335485"/>
                  <a:pt x="284120" y="335485"/>
                  <a:pt x="235372" y="286403"/>
                </a:cubicBezTo>
                <a:cubicBezTo>
                  <a:pt x="232737" y="283750"/>
                  <a:pt x="232737" y="281097"/>
                  <a:pt x="232737" y="279770"/>
                </a:cubicBezTo>
                <a:cubicBezTo>
                  <a:pt x="232737" y="279770"/>
                  <a:pt x="232737" y="279770"/>
                  <a:pt x="234054" y="249260"/>
                </a:cubicBezTo>
                <a:cubicBezTo>
                  <a:pt x="234054" y="249260"/>
                  <a:pt x="234054" y="249260"/>
                  <a:pt x="149733" y="164361"/>
                </a:cubicBezTo>
                <a:cubicBezTo>
                  <a:pt x="144463" y="159055"/>
                  <a:pt x="144463" y="152422"/>
                  <a:pt x="149733" y="148443"/>
                </a:cubicBezTo>
                <a:cubicBezTo>
                  <a:pt x="151051" y="145790"/>
                  <a:pt x="155003" y="144463"/>
                  <a:pt x="157638" y="144463"/>
                </a:cubicBezTo>
                <a:close/>
                <a:moveTo>
                  <a:pt x="145922" y="120650"/>
                </a:moveTo>
                <a:cubicBezTo>
                  <a:pt x="157893" y="120650"/>
                  <a:pt x="167203" y="128373"/>
                  <a:pt x="169863" y="137383"/>
                </a:cubicBezTo>
                <a:cubicBezTo>
                  <a:pt x="167203" y="134809"/>
                  <a:pt x="161883" y="133522"/>
                  <a:pt x="157893" y="133522"/>
                </a:cubicBezTo>
                <a:cubicBezTo>
                  <a:pt x="151242" y="133522"/>
                  <a:pt x="145922" y="136096"/>
                  <a:pt x="141931" y="141245"/>
                </a:cubicBezTo>
                <a:cubicBezTo>
                  <a:pt x="133951" y="147680"/>
                  <a:pt x="132620" y="160552"/>
                  <a:pt x="137941" y="168275"/>
                </a:cubicBezTo>
                <a:cubicBezTo>
                  <a:pt x="128630" y="165701"/>
                  <a:pt x="120650" y="156691"/>
                  <a:pt x="120650" y="145106"/>
                </a:cubicBezTo>
                <a:cubicBezTo>
                  <a:pt x="120650" y="132234"/>
                  <a:pt x="132620" y="120650"/>
                  <a:pt x="145922" y="120650"/>
                </a:cubicBezTo>
                <a:close/>
                <a:moveTo>
                  <a:pt x="146051" y="60325"/>
                </a:moveTo>
                <a:cubicBezTo>
                  <a:pt x="192063" y="60325"/>
                  <a:pt x="230188" y="98810"/>
                  <a:pt x="230188" y="145257"/>
                </a:cubicBezTo>
                <a:cubicBezTo>
                  <a:pt x="230188" y="159854"/>
                  <a:pt x="226244" y="174452"/>
                  <a:pt x="219671" y="186395"/>
                </a:cubicBezTo>
                <a:lnTo>
                  <a:pt x="193378" y="161181"/>
                </a:lnTo>
                <a:cubicBezTo>
                  <a:pt x="196007" y="155873"/>
                  <a:pt x="196007" y="150565"/>
                  <a:pt x="196007" y="145257"/>
                </a:cubicBezTo>
                <a:cubicBezTo>
                  <a:pt x="196007" y="117388"/>
                  <a:pt x="173658" y="94828"/>
                  <a:pt x="146051" y="94828"/>
                </a:cubicBezTo>
                <a:cubicBezTo>
                  <a:pt x="118443" y="94828"/>
                  <a:pt x="96094" y="117388"/>
                  <a:pt x="96094" y="145257"/>
                </a:cubicBezTo>
                <a:cubicBezTo>
                  <a:pt x="96094" y="173125"/>
                  <a:pt x="118443" y="195685"/>
                  <a:pt x="146051" y="195685"/>
                </a:cubicBezTo>
                <a:cubicBezTo>
                  <a:pt x="151309" y="195685"/>
                  <a:pt x="156568" y="194358"/>
                  <a:pt x="161827" y="193031"/>
                </a:cubicBezTo>
                <a:cubicBezTo>
                  <a:pt x="161827" y="193031"/>
                  <a:pt x="161827" y="193031"/>
                  <a:pt x="188119" y="219572"/>
                </a:cubicBezTo>
                <a:cubicBezTo>
                  <a:pt x="174973" y="226207"/>
                  <a:pt x="161827" y="230188"/>
                  <a:pt x="146051" y="230188"/>
                </a:cubicBezTo>
                <a:cubicBezTo>
                  <a:pt x="100038" y="230188"/>
                  <a:pt x="61913" y="191703"/>
                  <a:pt x="61913" y="145257"/>
                </a:cubicBezTo>
                <a:cubicBezTo>
                  <a:pt x="61913" y="98810"/>
                  <a:pt x="100038" y="60325"/>
                  <a:pt x="146051" y="60325"/>
                </a:cubicBezTo>
                <a:close/>
                <a:moveTo>
                  <a:pt x="145257" y="0"/>
                </a:moveTo>
                <a:cubicBezTo>
                  <a:pt x="225808" y="0"/>
                  <a:pt x="290513" y="64705"/>
                  <a:pt x="290513" y="145257"/>
                </a:cubicBezTo>
                <a:cubicBezTo>
                  <a:pt x="290513" y="172987"/>
                  <a:pt x="282590" y="199398"/>
                  <a:pt x="269385" y="221846"/>
                </a:cubicBezTo>
                <a:cubicBezTo>
                  <a:pt x="269385" y="221846"/>
                  <a:pt x="269385" y="221846"/>
                  <a:pt x="254859" y="221846"/>
                </a:cubicBezTo>
                <a:cubicBezTo>
                  <a:pt x="254859" y="221846"/>
                  <a:pt x="254859" y="221846"/>
                  <a:pt x="239013" y="206000"/>
                </a:cubicBezTo>
                <a:cubicBezTo>
                  <a:pt x="249577" y="188833"/>
                  <a:pt x="256180" y="167705"/>
                  <a:pt x="256180" y="145257"/>
                </a:cubicBezTo>
                <a:cubicBezTo>
                  <a:pt x="256180" y="84513"/>
                  <a:pt x="207321" y="34333"/>
                  <a:pt x="145257" y="34333"/>
                </a:cubicBezTo>
                <a:cubicBezTo>
                  <a:pt x="84513" y="34333"/>
                  <a:pt x="34333" y="84513"/>
                  <a:pt x="34333" y="145257"/>
                </a:cubicBezTo>
                <a:cubicBezTo>
                  <a:pt x="34333" y="207321"/>
                  <a:pt x="84513" y="256180"/>
                  <a:pt x="145257" y="256180"/>
                </a:cubicBezTo>
                <a:cubicBezTo>
                  <a:pt x="167705" y="256180"/>
                  <a:pt x="188834" y="249577"/>
                  <a:pt x="206000" y="239013"/>
                </a:cubicBezTo>
                <a:cubicBezTo>
                  <a:pt x="206000" y="239013"/>
                  <a:pt x="206000" y="239013"/>
                  <a:pt x="221847" y="254859"/>
                </a:cubicBezTo>
                <a:cubicBezTo>
                  <a:pt x="221847" y="254859"/>
                  <a:pt x="221847" y="254859"/>
                  <a:pt x="221847" y="269385"/>
                </a:cubicBezTo>
                <a:cubicBezTo>
                  <a:pt x="199398" y="282590"/>
                  <a:pt x="172988" y="290513"/>
                  <a:pt x="145257" y="290513"/>
                </a:cubicBezTo>
                <a:cubicBezTo>
                  <a:pt x="64705" y="290513"/>
                  <a:pt x="0" y="225808"/>
                  <a:pt x="0" y="145257"/>
                </a:cubicBezTo>
                <a:cubicBezTo>
                  <a:pt x="0" y="64705"/>
                  <a:pt x="64705" y="0"/>
                  <a:pt x="14525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5" name="computer-service_78951"/>
          <p:cNvSpPr>
            <a:spLocks noChangeAspect="1"/>
          </p:cNvSpPr>
          <p:nvPr/>
        </p:nvSpPr>
        <p:spPr bwMode="auto">
          <a:xfrm>
            <a:off x="9366817" y="2459365"/>
            <a:ext cx="609685" cy="565858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graph_134483"/>
          <p:cNvSpPr>
            <a:spLocks noChangeAspect="1"/>
          </p:cNvSpPr>
          <p:nvPr/>
        </p:nvSpPr>
        <p:spPr bwMode="auto">
          <a:xfrm>
            <a:off x="9366817" y="3667032"/>
            <a:ext cx="609685" cy="555432"/>
          </a:xfrm>
          <a:custGeom>
            <a:avLst/>
            <a:gdLst>
              <a:gd name="connsiteX0" fmla="*/ 260506 w 331788"/>
              <a:gd name="connsiteY0" fmla="*/ 76839 h 302264"/>
              <a:gd name="connsiteX1" fmla="*/ 326604 w 331788"/>
              <a:gd name="connsiteY1" fmla="*/ 76839 h 302264"/>
              <a:gd name="connsiteX2" fmla="*/ 326604 w 331788"/>
              <a:gd name="connsiteY2" fmla="*/ 291959 h 302264"/>
              <a:gd name="connsiteX3" fmla="*/ 331788 w 331788"/>
              <a:gd name="connsiteY3" fmla="*/ 297111 h 302264"/>
              <a:gd name="connsiteX4" fmla="*/ 326604 w 331788"/>
              <a:gd name="connsiteY4" fmla="*/ 302264 h 302264"/>
              <a:gd name="connsiteX5" fmla="*/ 5184 w 331788"/>
              <a:gd name="connsiteY5" fmla="*/ 302264 h 302264"/>
              <a:gd name="connsiteX6" fmla="*/ 0 w 331788"/>
              <a:gd name="connsiteY6" fmla="*/ 297111 h 302264"/>
              <a:gd name="connsiteX7" fmla="*/ 5184 w 331788"/>
              <a:gd name="connsiteY7" fmla="*/ 291959 h 302264"/>
              <a:gd name="connsiteX8" fmla="*/ 11664 w 331788"/>
              <a:gd name="connsiteY8" fmla="*/ 291959 h 302264"/>
              <a:gd name="connsiteX9" fmla="*/ 11664 w 331788"/>
              <a:gd name="connsiteY9" fmla="*/ 214670 h 302264"/>
              <a:gd name="connsiteX10" fmla="*/ 77763 w 331788"/>
              <a:gd name="connsiteY10" fmla="*/ 214670 h 302264"/>
              <a:gd name="connsiteX11" fmla="*/ 77763 w 331788"/>
              <a:gd name="connsiteY11" fmla="*/ 291959 h 302264"/>
              <a:gd name="connsiteX12" fmla="*/ 94612 w 331788"/>
              <a:gd name="connsiteY12" fmla="*/ 291959 h 302264"/>
              <a:gd name="connsiteX13" fmla="*/ 94612 w 331788"/>
              <a:gd name="connsiteY13" fmla="*/ 165721 h 302264"/>
              <a:gd name="connsiteX14" fmla="*/ 160710 w 331788"/>
              <a:gd name="connsiteY14" fmla="*/ 165721 h 302264"/>
              <a:gd name="connsiteX15" fmla="*/ 160710 w 331788"/>
              <a:gd name="connsiteY15" fmla="*/ 291959 h 302264"/>
              <a:gd name="connsiteX16" fmla="*/ 177559 w 331788"/>
              <a:gd name="connsiteY16" fmla="*/ 291959 h 302264"/>
              <a:gd name="connsiteX17" fmla="*/ 177559 w 331788"/>
              <a:gd name="connsiteY17" fmla="*/ 121924 h 302264"/>
              <a:gd name="connsiteX18" fmla="*/ 243657 w 331788"/>
              <a:gd name="connsiteY18" fmla="*/ 121924 h 302264"/>
              <a:gd name="connsiteX19" fmla="*/ 243657 w 331788"/>
              <a:gd name="connsiteY19" fmla="*/ 291959 h 302264"/>
              <a:gd name="connsiteX20" fmla="*/ 260506 w 331788"/>
              <a:gd name="connsiteY20" fmla="*/ 291959 h 302264"/>
              <a:gd name="connsiteX21" fmla="*/ 260506 w 331788"/>
              <a:gd name="connsiteY21" fmla="*/ 76839 h 302264"/>
              <a:gd name="connsiteX22" fmla="*/ 212230 w 331788"/>
              <a:gd name="connsiteY22" fmla="*/ 334 h 302264"/>
              <a:gd name="connsiteX23" fmla="*/ 259954 w 331788"/>
              <a:gd name="connsiteY23" fmla="*/ 4179 h 302264"/>
              <a:gd name="connsiteX24" fmla="*/ 261244 w 331788"/>
              <a:gd name="connsiteY24" fmla="*/ 5460 h 302264"/>
              <a:gd name="connsiteX25" fmla="*/ 262534 w 331788"/>
              <a:gd name="connsiteY25" fmla="*/ 5460 h 302264"/>
              <a:gd name="connsiteX26" fmla="*/ 263823 w 331788"/>
              <a:gd name="connsiteY26" fmla="*/ 6742 h 302264"/>
              <a:gd name="connsiteX27" fmla="*/ 263823 w 331788"/>
              <a:gd name="connsiteY27" fmla="*/ 8024 h 302264"/>
              <a:gd name="connsiteX28" fmla="*/ 265113 w 331788"/>
              <a:gd name="connsiteY28" fmla="*/ 8024 h 302264"/>
              <a:gd name="connsiteX29" fmla="*/ 265113 w 331788"/>
              <a:gd name="connsiteY29" fmla="*/ 9305 h 302264"/>
              <a:gd name="connsiteX30" fmla="*/ 265113 w 331788"/>
              <a:gd name="connsiteY30" fmla="*/ 10587 h 302264"/>
              <a:gd name="connsiteX31" fmla="*/ 265113 w 331788"/>
              <a:gd name="connsiteY31" fmla="*/ 11869 h 302264"/>
              <a:gd name="connsiteX32" fmla="*/ 263823 w 331788"/>
              <a:gd name="connsiteY32" fmla="*/ 11869 h 302264"/>
              <a:gd name="connsiteX33" fmla="*/ 244476 w 331788"/>
              <a:gd name="connsiteY33" fmla="*/ 55445 h 302264"/>
              <a:gd name="connsiteX34" fmla="*/ 239316 w 331788"/>
              <a:gd name="connsiteY34" fmla="*/ 58008 h 302264"/>
              <a:gd name="connsiteX35" fmla="*/ 238026 w 331788"/>
              <a:gd name="connsiteY35" fmla="*/ 58008 h 302264"/>
              <a:gd name="connsiteX36" fmla="*/ 234157 w 331788"/>
              <a:gd name="connsiteY36" fmla="*/ 50318 h 302264"/>
              <a:gd name="connsiteX37" fmla="*/ 247055 w 331788"/>
              <a:gd name="connsiteY37" fmla="*/ 23403 h 302264"/>
              <a:gd name="connsiteX38" fmla="*/ 47129 w 331788"/>
              <a:gd name="connsiteY38" fmla="*/ 137470 h 302264"/>
              <a:gd name="connsiteX39" fmla="*/ 44549 w 331788"/>
              <a:gd name="connsiteY39" fmla="*/ 138752 h 302264"/>
              <a:gd name="connsiteX40" fmla="*/ 40680 w 331788"/>
              <a:gd name="connsiteY40" fmla="*/ 136189 h 302264"/>
              <a:gd name="connsiteX41" fmla="*/ 41970 w 331788"/>
              <a:gd name="connsiteY41" fmla="*/ 128499 h 302264"/>
              <a:gd name="connsiteX42" fmla="*/ 241896 w 331788"/>
              <a:gd name="connsiteY42" fmla="*/ 13150 h 302264"/>
              <a:gd name="connsiteX43" fmla="*/ 212230 w 331788"/>
              <a:gd name="connsiteY43" fmla="*/ 10587 h 302264"/>
              <a:gd name="connsiteX44" fmla="*/ 207070 w 331788"/>
              <a:gd name="connsiteY44" fmla="*/ 5460 h 302264"/>
              <a:gd name="connsiteX45" fmla="*/ 212230 w 331788"/>
              <a:gd name="connsiteY45" fmla="*/ 334 h 30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31788" h="302264">
                <a:moveTo>
                  <a:pt x="260506" y="76839"/>
                </a:moveTo>
                <a:cubicBezTo>
                  <a:pt x="260506" y="76839"/>
                  <a:pt x="260506" y="76839"/>
                  <a:pt x="326604" y="76839"/>
                </a:cubicBezTo>
                <a:cubicBezTo>
                  <a:pt x="326604" y="76839"/>
                  <a:pt x="326604" y="76839"/>
                  <a:pt x="326604" y="291959"/>
                </a:cubicBezTo>
                <a:cubicBezTo>
                  <a:pt x="329196" y="291959"/>
                  <a:pt x="331788" y="294535"/>
                  <a:pt x="331788" y="297111"/>
                </a:cubicBezTo>
                <a:cubicBezTo>
                  <a:pt x="331788" y="299688"/>
                  <a:pt x="329196" y="302264"/>
                  <a:pt x="326604" y="302264"/>
                </a:cubicBezTo>
                <a:cubicBezTo>
                  <a:pt x="326604" y="302264"/>
                  <a:pt x="326604" y="302264"/>
                  <a:pt x="5184" y="302264"/>
                </a:cubicBezTo>
                <a:cubicBezTo>
                  <a:pt x="2592" y="302264"/>
                  <a:pt x="0" y="299688"/>
                  <a:pt x="0" y="297111"/>
                </a:cubicBezTo>
                <a:cubicBezTo>
                  <a:pt x="0" y="294535"/>
                  <a:pt x="2592" y="291959"/>
                  <a:pt x="5184" y="291959"/>
                </a:cubicBezTo>
                <a:cubicBezTo>
                  <a:pt x="5184" y="291959"/>
                  <a:pt x="5184" y="291959"/>
                  <a:pt x="11664" y="291959"/>
                </a:cubicBezTo>
                <a:cubicBezTo>
                  <a:pt x="11664" y="291959"/>
                  <a:pt x="11664" y="291959"/>
                  <a:pt x="11664" y="214670"/>
                </a:cubicBezTo>
                <a:cubicBezTo>
                  <a:pt x="11664" y="214670"/>
                  <a:pt x="11664" y="214670"/>
                  <a:pt x="77763" y="214670"/>
                </a:cubicBezTo>
                <a:cubicBezTo>
                  <a:pt x="77763" y="214670"/>
                  <a:pt x="77763" y="214670"/>
                  <a:pt x="77763" y="291959"/>
                </a:cubicBezTo>
                <a:cubicBezTo>
                  <a:pt x="77763" y="291959"/>
                  <a:pt x="77763" y="291959"/>
                  <a:pt x="94612" y="291959"/>
                </a:cubicBezTo>
                <a:cubicBezTo>
                  <a:pt x="94612" y="291959"/>
                  <a:pt x="94612" y="291959"/>
                  <a:pt x="94612" y="165721"/>
                </a:cubicBezTo>
                <a:cubicBezTo>
                  <a:pt x="94612" y="165721"/>
                  <a:pt x="94612" y="165721"/>
                  <a:pt x="160710" y="165721"/>
                </a:cubicBezTo>
                <a:cubicBezTo>
                  <a:pt x="160710" y="165721"/>
                  <a:pt x="160710" y="165721"/>
                  <a:pt x="160710" y="291959"/>
                </a:cubicBezTo>
                <a:cubicBezTo>
                  <a:pt x="160710" y="291959"/>
                  <a:pt x="160710" y="291959"/>
                  <a:pt x="177559" y="291959"/>
                </a:cubicBezTo>
                <a:cubicBezTo>
                  <a:pt x="177559" y="291959"/>
                  <a:pt x="177559" y="291959"/>
                  <a:pt x="177559" y="121924"/>
                </a:cubicBezTo>
                <a:cubicBezTo>
                  <a:pt x="177559" y="121924"/>
                  <a:pt x="177559" y="121924"/>
                  <a:pt x="243657" y="121924"/>
                </a:cubicBezTo>
                <a:cubicBezTo>
                  <a:pt x="243657" y="121924"/>
                  <a:pt x="243657" y="121924"/>
                  <a:pt x="243657" y="291959"/>
                </a:cubicBezTo>
                <a:cubicBezTo>
                  <a:pt x="243657" y="291959"/>
                  <a:pt x="243657" y="291959"/>
                  <a:pt x="260506" y="291959"/>
                </a:cubicBezTo>
                <a:cubicBezTo>
                  <a:pt x="260506" y="291959"/>
                  <a:pt x="260506" y="291959"/>
                  <a:pt x="260506" y="76839"/>
                </a:cubicBezTo>
                <a:close/>
                <a:moveTo>
                  <a:pt x="212230" y="334"/>
                </a:moveTo>
                <a:cubicBezTo>
                  <a:pt x="212230" y="334"/>
                  <a:pt x="212230" y="334"/>
                  <a:pt x="259954" y="4179"/>
                </a:cubicBezTo>
                <a:cubicBezTo>
                  <a:pt x="259954" y="4179"/>
                  <a:pt x="261244" y="4179"/>
                  <a:pt x="261244" y="5460"/>
                </a:cubicBezTo>
                <a:cubicBezTo>
                  <a:pt x="262534" y="5460"/>
                  <a:pt x="262534" y="5460"/>
                  <a:pt x="262534" y="5460"/>
                </a:cubicBezTo>
                <a:cubicBezTo>
                  <a:pt x="262534" y="5460"/>
                  <a:pt x="263823" y="6742"/>
                  <a:pt x="263823" y="6742"/>
                </a:cubicBezTo>
                <a:cubicBezTo>
                  <a:pt x="263823" y="6742"/>
                  <a:pt x="263823" y="8024"/>
                  <a:pt x="263823" y="8024"/>
                </a:cubicBezTo>
                <a:cubicBezTo>
                  <a:pt x="263823" y="8024"/>
                  <a:pt x="265113" y="8024"/>
                  <a:pt x="265113" y="8024"/>
                </a:cubicBezTo>
                <a:cubicBezTo>
                  <a:pt x="265113" y="8024"/>
                  <a:pt x="265113" y="8024"/>
                  <a:pt x="265113" y="9305"/>
                </a:cubicBezTo>
                <a:cubicBezTo>
                  <a:pt x="265113" y="9305"/>
                  <a:pt x="265113" y="10587"/>
                  <a:pt x="265113" y="10587"/>
                </a:cubicBezTo>
                <a:cubicBezTo>
                  <a:pt x="265113" y="10587"/>
                  <a:pt x="265113" y="11869"/>
                  <a:pt x="265113" y="11869"/>
                </a:cubicBezTo>
                <a:cubicBezTo>
                  <a:pt x="263823" y="11869"/>
                  <a:pt x="263823" y="11869"/>
                  <a:pt x="263823" y="11869"/>
                </a:cubicBezTo>
                <a:cubicBezTo>
                  <a:pt x="263823" y="11869"/>
                  <a:pt x="263823" y="11869"/>
                  <a:pt x="244476" y="55445"/>
                </a:cubicBezTo>
                <a:cubicBezTo>
                  <a:pt x="244476" y="56726"/>
                  <a:pt x="241896" y="58008"/>
                  <a:pt x="239316" y="58008"/>
                </a:cubicBezTo>
                <a:cubicBezTo>
                  <a:pt x="239316" y="58008"/>
                  <a:pt x="238026" y="58008"/>
                  <a:pt x="238026" y="58008"/>
                </a:cubicBezTo>
                <a:cubicBezTo>
                  <a:pt x="234157" y="56726"/>
                  <a:pt x="232867" y="52881"/>
                  <a:pt x="234157" y="50318"/>
                </a:cubicBezTo>
                <a:cubicBezTo>
                  <a:pt x="234157" y="50318"/>
                  <a:pt x="234157" y="50318"/>
                  <a:pt x="247055" y="23403"/>
                </a:cubicBezTo>
                <a:cubicBezTo>
                  <a:pt x="247055" y="23403"/>
                  <a:pt x="247055" y="23403"/>
                  <a:pt x="47129" y="137470"/>
                </a:cubicBezTo>
                <a:cubicBezTo>
                  <a:pt x="47129" y="138752"/>
                  <a:pt x="45839" y="138752"/>
                  <a:pt x="44549" y="138752"/>
                </a:cubicBezTo>
                <a:cubicBezTo>
                  <a:pt x="43260" y="138752"/>
                  <a:pt x="40680" y="137470"/>
                  <a:pt x="40680" y="136189"/>
                </a:cubicBezTo>
                <a:cubicBezTo>
                  <a:pt x="38100" y="133625"/>
                  <a:pt x="39390" y="129780"/>
                  <a:pt x="41970" y="128499"/>
                </a:cubicBezTo>
                <a:cubicBezTo>
                  <a:pt x="41970" y="128499"/>
                  <a:pt x="41970" y="128499"/>
                  <a:pt x="241896" y="13150"/>
                </a:cubicBezTo>
                <a:cubicBezTo>
                  <a:pt x="241896" y="13150"/>
                  <a:pt x="241896" y="13150"/>
                  <a:pt x="212230" y="10587"/>
                </a:cubicBezTo>
                <a:cubicBezTo>
                  <a:pt x="208360" y="10587"/>
                  <a:pt x="207070" y="8024"/>
                  <a:pt x="207070" y="5460"/>
                </a:cubicBezTo>
                <a:cubicBezTo>
                  <a:pt x="207070" y="1615"/>
                  <a:pt x="209650" y="-948"/>
                  <a:pt x="212230" y="33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90523" y="4978903"/>
            <a:ext cx="29237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锁屏包括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手动锁屏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自动锁屏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测试锁屏之后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响应是否符合概要设计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，例如再次打开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时，它还保持显示锁屏前的界面，并且可以继续使用。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切换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2349794"/>
            <a:ext cx="95569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使用计算机时，经常会收到推送信息，这些推送信息通常是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系统或软件推送的。在移动设备中，很多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也会发送推送消息，例如支付宝推送一个红包、今日头条推送实时热点新闻等。在对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进行测试时也需要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测试推送功能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确保用户可以及时收到推送消息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推送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5112" y="2277794"/>
            <a:ext cx="955690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的更新测试主要从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旧功能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新需求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这两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方面展开，即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确保旧功能可以正常使用的同时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，还需要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实现新需求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有新版本时，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是否有更新提示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，如果进行更新操作，则需要对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更新后的功能展开测试，确保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更新后的功能可以正常使用。如果取消更新，则需要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确保旧版本的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也能正常使用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，并且在下次运行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时，仍然出现更新提示。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专项测试，能够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专项测试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要点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383788" y="2088729"/>
            <a:ext cx="676800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专项测试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升级测试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交互性测试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弱网测试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耗电量测试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49862" y="2133794"/>
            <a:ext cx="969683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的安装方式与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端软件的安装方式稍有不同，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安装测试要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考虑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对移动设备的兼容性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9862" y="3442878"/>
            <a:ext cx="96968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的安装渠道比较多，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如谷歌应用商店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Google Play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、应用宝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 Store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等，甚至可以通过扫码安装。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对于多渠道的安装方式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，在测试时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每个渠道都进行测试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，以确保通过每个渠道都能正常安装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对于已经安装的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再次安装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弹出已安装或更新的提示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，而不是产生冲突。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安装测试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99448" y="981794"/>
            <a:ext cx="9991515" cy="511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移动设备的种类比较多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，例如一个品牌的手机会有不同的系列，每个系列也会有多个型号。此外，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所依赖的平台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也比较多，在测试时要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考虑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对不同手机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的兼容性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在安装过程中是否可以取消安装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如果可以取消安装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确保取消安装的处理要与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概要设计描述一致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 例如，如果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概要设计描述取消安装的处理过程为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取消安装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进行回滚处理，将已经安装的文件全部删除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，那么在实际取消安装时也必须如此处理。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）如果安装过程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出现意外情况，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死机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电量耗尽关机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安装的处理是否与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概要设计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概要设计描述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安装过程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出现意外情况的处理过程为“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安装过程中电量耗尽关机，安装中断，当再次开机时继续安装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那么在实际安装过程中也必须如此处理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125794"/>
            <a:ext cx="9711677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如果移动设备空间不足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要确保有相应提示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。例如，当剩下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100MB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空间时，要安装一个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200MB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，有的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直接提示空间不足，无法安装；有的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会先安装，待空间用尽时再提示。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安装过程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要进行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，例如在安装过程中给用户提供进度条提示。</a:t>
            </a: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安装完成之后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测试其是否能正常运行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安装后的文件夹及文件是否写入指定目录。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Shape 333"/>
          <p:cNvSpPr/>
          <p:nvPr/>
        </p:nvSpPr>
        <p:spPr>
          <a:xfrm>
            <a:off x="1126648" y="2305543"/>
            <a:ext cx="2196431" cy="1436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030" y="10904"/>
                </a:lnTo>
                <a:lnTo>
                  <a:pt x="0" y="21600"/>
                </a:lnTo>
                <a:lnTo>
                  <a:pt x="16497" y="21600"/>
                </a:lnTo>
                <a:lnTo>
                  <a:pt x="21600" y="10886"/>
                </a:lnTo>
                <a:lnTo>
                  <a:pt x="16483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11200"/>
            </a:pPr>
            <a:endParaRPr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Shape 338"/>
          <p:cNvSpPr/>
          <p:nvPr/>
        </p:nvSpPr>
        <p:spPr>
          <a:xfrm>
            <a:off x="3039627" y="2305543"/>
            <a:ext cx="2196431" cy="1436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030" y="10904"/>
                </a:lnTo>
                <a:lnTo>
                  <a:pt x="0" y="21600"/>
                </a:lnTo>
                <a:lnTo>
                  <a:pt x="16497" y="21600"/>
                </a:lnTo>
                <a:lnTo>
                  <a:pt x="21600" y="10886"/>
                </a:lnTo>
                <a:lnTo>
                  <a:pt x="1648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11200"/>
            </a:pPr>
            <a:endParaRPr sz="1600">
              <a:cs typeface="+mn-ea"/>
              <a:sym typeface="+mn-lt"/>
            </a:endParaRPr>
          </a:p>
        </p:txBody>
      </p:sp>
      <p:sp>
        <p:nvSpPr>
          <p:cNvPr id="12" name="Shape 343"/>
          <p:cNvSpPr/>
          <p:nvPr/>
        </p:nvSpPr>
        <p:spPr>
          <a:xfrm>
            <a:off x="4999868" y="2305543"/>
            <a:ext cx="2196431" cy="1436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030" y="10904"/>
                </a:lnTo>
                <a:lnTo>
                  <a:pt x="0" y="21600"/>
                </a:lnTo>
                <a:lnTo>
                  <a:pt x="16497" y="21600"/>
                </a:lnTo>
                <a:lnTo>
                  <a:pt x="21600" y="10886"/>
                </a:lnTo>
                <a:lnTo>
                  <a:pt x="16483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11200"/>
            </a:pPr>
            <a:endParaRPr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Shape 348"/>
          <p:cNvSpPr/>
          <p:nvPr/>
        </p:nvSpPr>
        <p:spPr>
          <a:xfrm>
            <a:off x="6943961" y="2305543"/>
            <a:ext cx="2196429" cy="1436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030" y="10904"/>
                </a:lnTo>
                <a:lnTo>
                  <a:pt x="0" y="21600"/>
                </a:lnTo>
                <a:lnTo>
                  <a:pt x="16497" y="21600"/>
                </a:lnTo>
                <a:lnTo>
                  <a:pt x="21600" y="10886"/>
                </a:lnTo>
                <a:lnTo>
                  <a:pt x="1648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11200"/>
            </a:pPr>
            <a:endParaRPr sz="1600">
              <a:cs typeface="+mn-ea"/>
              <a:sym typeface="+mn-lt"/>
            </a:endParaRPr>
          </a:p>
        </p:txBody>
      </p:sp>
      <p:sp>
        <p:nvSpPr>
          <p:cNvPr id="18" name="Shape 353"/>
          <p:cNvSpPr/>
          <p:nvPr/>
        </p:nvSpPr>
        <p:spPr>
          <a:xfrm>
            <a:off x="8915328" y="2305543"/>
            <a:ext cx="2196429" cy="1436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030" y="10904"/>
                </a:lnTo>
                <a:lnTo>
                  <a:pt x="0" y="21600"/>
                </a:lnTo>
                <a:lnTo>
                  <a:pt x="16497" y="21600"/>
                </a:lnTo>
                <a:lnTo>
                  <a:pt x="21600" y="10886"/>
                </a:lnTo>
                <a:lnTo>
                  <a:pt x="16483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11200"/>
            </a:pPr>
            <a:endParaRPr sz="16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Group 360"/>
          <p:cNvGrpSpPr/>
          <p:nvPr/>
        </p:nvGrpSpPr>
        <p:grpSpPr>
          <a:xfrm>
            <a:off x="2012215" y="3536418"/>
            <a:ext cx="425297" cy="425297"/>
            <a:chOff x="0" y="0"/>
            <a:chExt cx="850594" cy="850594"/>
          </a:xfrm>
        </p:grpSpPr>
        <p:sp>
          <p:nvSpPr>
            <p:cNvPr id="21" name="Shape 358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Shape 359"/>
            <p:cNvSpPr/>
            <p:nvPr/>
          </p:nvSpPr>
          <p:spPr>
            <a:xfrm>
              <a:off x="300082" y="114147"/>
              <a:ext cx="250430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23" name="Group 363"/>
          <p:cNvGrpSpPr/>
          <p:nvPr/>
        </p:nvGrpSpPr>
        <p:grpSpPr>
          <a:xfrm>
            <a:off x="3929231" y="3536418"/>
            <a:ext cx="425297" cy="425297"/>
            <a:chOff x="0" y="0"/>
            <a:chExt cx="850594" cy="850594"/>
          </a:xfrm>
        </p:grpSpPr>
        <p:sp>
          <p:nvSpPr>
            <p:cNvPr id="24" name="Shape 361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25" name="Shape 362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26" name="Group 366"/>
          <p:cNvGrpSpPr/>
          <p:nvPr/>
        </p:nvGrpSpPr>
        <p:grpSpPr>
          <a:xfrm>
            <a:off x="5885435" y="3536418"/>
            <a:ext cx="425297" cy="425297"/>
            <a:chOff x="0" y="0"/>
            <a:chExt cx="850594" cy="850594"/>
          </a:xfrm>
        </p:grpSpPr>
        <p:sp>
          <p:nvSpPr>
            <p:cNvPr id="27" name="Shape 364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Shape 365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29" name="Group 369"/>
          <p:cNvGrpSpPr/>
          <p:nvPr/>
        </p:nvGrpSpPr>
        <p:grpSpPr>
          <a:xfrm>
            <a:off x="7829527" y="3536418"/>
            <a:ext cx="425297" cy="425297"/>
            <a:chOff x="0" y="0"/>
            <a:chExt cx="850594" cy="850594"/>
          </a:xfrm>
        </p:grpSpPr>
        <p:sp>
          <p:nvSpPr>
            <p:cNvPr id="30" name="Shape 367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32" name="Shape 368"/>
            <p:cNvSpPr/>
            <p:nvPr/>
          </p:nvSpPr>
          <p:spPr>
            <a:xfrm>
              <a:off x="243825" y="114147"/>
              <a:ext cx="36294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4</a:t>
              </a:r>
            </a:p>
          </p:txBody>
        </p:sp>
      </p:grpSp>
      <p:grpSp>
        <p:nvGrpSpPr>
          <p:cNvPr id="33" name="Group 372"/>
          <p:cNvGrpSpPr/>
          <p:nvPr/>
        </p:nvGrpSpPr>
        <p:grpSpPr>
          <a:xfrm>
            <a:off x="9800895" y="3536418"/>
            <a:ext cx="425297" cy="425297"/>
            <a:chOff x="0" y="0"/>
            <a:chExt cx="850594" cy="850594"/>
          </a:xfrm>
        </p:grpSpPr>
        <p:sp>
          <p:nvSpPr>
            <p:cNvPr id="34" name="Shape 370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Shape 371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</p:grpSp>
      <p:sp>
        <p:nvSpPr>
          <p:cNvPr id="36" name="Shape 373"/>
          <p:cNvSpPr/>
          <p:nvPr/>
        </p:nvSpPr>
        <p:spPr>
          <a:xfrm>
            <a:off x="1035255" y="4259574"/>
            <a:ext cx="1441073" cy="56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卸载时，有卸载提示信息。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Shape 376"/>
          <p:cNvSpPr/>
          <p:nvPr/>
        </p:nvSpPr>
        <p:spPr>
          <a:xfrm>
            <a:off x="2783206" y="4259575"/>
            <a:ext cx="2016000" cy="17727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在卸载过程中是否支持取消卸载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，如果支持取消卸载，要确保取消卸载的处理与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概要设计描述一致。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Shape 379"/>
          <p:cNvSpPr/>
          <p:nvPr/>
        </p:nvSpPr>
        <p:spPr>
          <a:xfrm>
            <a:off x="5088439" y="4259575"/>
            <a:ext cx="2244533" cy="2462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卸载的过程中如果出现意外情况，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死机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重启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电量耗尽关机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等，要有相应的处理措施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进行回滚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，当再次开机时需要重新卸载；中断卸载，当再次开机时继续卸载；启动后台进程守护卸载，当再次开机时提示卸载完成。</a:t>
            </a:r>
          </a:p>
        </p:txBody>
      </p:sp>
      <p:sp>
        <p:nvSpPr>
          <p:cNvPr id="39" name="Shape 382"/>
          <p:cNvSpPr/>
          <p:nvPr/>
        </p:nvSpPr>
        <p:spPr>
          <a:xfrm>
            <a:off x="7497526" y="4259574"/>
            <a:ext cx="1889125" cy="984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606B83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/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卸载过程要进行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，例如在卸载过程中，给用户提供进度条提示。</a:t>
            </a:r>
          </a:p>
        </p:txBody>
      </p:sp>
      <p:sp>
        <p:nvSpPr>
          <p:cNvPr id="40" name="Shape 385"/>
          <p:cNvSpPr/>
          <p:nvPr/>
        </p:nvSpPr>
        <p:spPr>
          <a:xfrm>
            <a:off x="9551205" y="4259574"/>
            <a:ext cx="2160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/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卸载完成后，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关于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相应的安装文件是否要全部删除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，应当给用户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提示信息，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提示相应文件全部删除或者让用户自己选择是否删除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1" name="文本框 23"/>
          <p:cNvSpPr txBox="1"/>
          <p:nvPr/>
        </p:nvSpPr>
        <p:spPr>
          <a:xfrm>
            <a:off x="3136498" y="1214378"/>
            <a:ext cx="4931745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卸载测试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卸载测试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3087465" y="1197711"/>
            <a:ext cx="720000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升级测试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是在已安装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的基础上进行的，测试要点有以下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点。</a:t>
            </a:r>
          </a:p>
        </p:txBody>
      </p:sp>
      <p:sp>
        <p:nvSpPr>
          <p:cNvPr id="6" name="Shape 1452"/>
          <p:cNvSpPr/>
          <p:nvPr/>
        </p:nvSpPr>
        <p:spPr>
          <a:xfrm>
            <a:off x="1138822" y="3641090"/>
            <a:ext cx="2292817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1454"/>
          <p:cNvSpPr/>
          <p:nvPr/>
        </p:nvSpPr>
        <p:spPr>
          <a:xfrm>
            <a:off x="3686151" y="3641090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Shape 1456"/>
          <p:cNvSpPr/>
          <p:nvPr/>
        </p:nvSpPr>
        <p:spPr>
          <a:xfrm>
            <a:off x="6213032" y="3641090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1458"/>
          <p:cNvSpPr/>
          <p:nvPr/>
        </p:nvSpPr>
        <p:spPr>
          <a:xfrm>
            <a:off x="8760361" y="3641090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1460"/>
          <p:cNvSpPr/>
          <p:nvPr/>
        </p:nvSpPr>
        <p:spPr>
          <a:xfrm>
            <a:off x="1441325" y="2548070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Group 20"/>
          <p:cNvGrpSpPr/>
          <p:nvPr/>
        </p:nvGrpSpPr>
        <p:grpSpPr>
          <a:xfrm>
            <a:off x="1369089" y="2588302"/>
            <a:ext cx="474017" cy="474017"/>
            <a:chOff x="1369087" y="2088729"/>
            <a:chExt cx="474017" cy="474016"/>
          </a:xfrm>
        </p:grpSpPr>
        <p:sp>
          <p:nvSpPr>
            <p:cNvPr id="14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6" name="Shape 1465"/>
          <p:cNvSpPr/>
          <p:nvPr/>
        </p:nvSpPr>
        <p:spPr>
          <a:xfrm>
            <a:off x="3988655" y="2548070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Shape 1468"/>
          <p:cNvSpPr/>
          <p:nvPr/>
        </p:nvSpPr>
        <p:spPr>
          <a:xfrm>
            <a:off x="6533405" y="2548207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Shape 1471"/>
          <p:cNvSpPr/>
          <p:nvPr/>
        </p:nvSpPr>
        <p:spPr>
          <a:xfrm>
            <a:off x="9085044" y="2549797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Group 32"/>
          <p:cNvGrpSpPr/>
          <p:nvPr/>
        </p:nvGrpSpPr>
        <p:grpSpPr>
          <a:xfrm>
            <a:off x="3906592" y="2588301"/>
            <a:ext cx="474017" cy="474017"/>
            <a:chOff x="3906591" y="2088732"/>
            <a:chExt cx="474017" cy="474017"/>
          </a:xfrm>
        </p:grpSpPr>
        <p:sp>
          <p:nvSpPr>
            <p:cNvPr id="20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21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22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4" name="Group 40"/>
          <p:cNvGrpSpPr/>
          <p:nvPr/>
        </p:nvGrpSpPr>
        <p:grpSpPr>
          <a:xfrm>
            <a:off x="8994966" y="2588301"/>
            <a:ext cx="474017" cy="474017"/>
            <a:chOff x="8994965" y="2088732"/>
            <a:chExt cx="474017" cy="474017"/>
          </a:xfrm>
        </p:grpSpPr>
        <p:sp>
          <p:nvSpPr>
            <p:cNvPr id="25" name="Shape 1476"/>
            <p:cNvSpPr/>
            <p:nvPr/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7" name="Text Placeholder 5"/>
          <p:cNvSpPr txBox="1"/>
          <p:nvPr/>
        </p:nvSpPr>
        <p:spPr>
          <a:xfrm>
            <a:off x="1403729" y="3103034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Text Placeholder 6"/>
          <p:cNvSpPr txBox="1"/>
          <p:nvPr/>
        </p:nvSpPr>
        <p:spPr>
          <a:xfrm>
            <a:off x="1258214" y="4386279"/>
            <a:ext cx="2054032" cy="13475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如果有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新版本升级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，打开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有相应提示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 Placeholder 5"/>
          <p:cNvSpPr txBox="1"/>
          <p:nvPr/>
        </p:nvSpPr>
        <p:spPr>
          <a:xfrm>
            <a:off x="4076442" y="3103034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 Placeholder 5"/>
          <p:cNvSpPr txBox="1"/>
          <p:nvPr/>
        </p:nvSpPr>
        <p:spPr>
          <a:xfrm>
            <a:off x="9171102" y="3103034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Text Placeholder 6"/>
          <p:cNvSpPr txBox="1"/>
          <p:nvPr/>
        </p:nvSpPr>
        <p:spPr>
          <a:xfrm>
            <a:off x="3950335" y="4274006"/>
            <a:ext cx="1815465" cy="19637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升级包下载中断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时要有相应处理措施，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支持继续下载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重新下载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 Placeholder 6"/>
          <p:cNvSpPr txBox="1"/>
          <p:nvPr/>
        </p:nvSpPr>
        <p:spPr>
          <a:xfrm>
            <a:off x="6229172" y="4282438"/>
            <a:ext cx="2292819" cy="20019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安装渠道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有多种，相应的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升级渠道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也有多种，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要对多渠道升级进行测试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确保每个渠道的升级都能顺利完成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Text Placeholder 6"/>
          <p:cNvSpPr txBox="1"/>
          <p:nvPr/>
        </p:nvSpPr>
        <p:spPr>
          <a:xfrm>
            <a:off x="9019598" y="4282438"/>
            <a:ext cx="1815245" cy="19553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测试不同操作系统版本中的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升级是否都能通过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35" name="Text Placeholder 5"/>
          <p:cNvSpPr txBox="1"/>
          <p:nvPr/>
        </p:nvSpPr>
        <p:spPr>
          <a:xfrm>
            <a:off x="6614486" y="3103034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Shape 1475"/>
          <p:cNvSpPr/>
          <p:nvPr/>
        </p:nvSpPr>
        <p:spPr>
          <a:xfrm>
            <a:off x="6450780" y="2588301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Shape 1480"/>
          <p:cNvSpPr/>
          <p:nvPr/>
        </p:nvSpPr>
        <p:spPr>
          <a:xfrm>
            <a:off x="6594292" y="2711359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升级测试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2493794"/>
            <a:ext cx="95569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移动设备通常都有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电话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短信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蓝牙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等软件，App在使用时难免会受到干扰。例如，在使用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App 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的过程中，如果需要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拨打电话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接听电话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启动蓝牙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相机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手电筒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等，App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要做好相应的处理措施，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确保自身不会产生功能性错误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2100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交互性测试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5112" y="2277794"/>
            <a:ext cx="958809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App在移动设备上使用时，通常需要连接移动网络，由于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移动网络的情况复杂多变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网络信号会受到环境的影响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，所以容易出现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网络不稳定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的情况。然而很多App 的一些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隐藏问题只有在复杂的网络环境下才会显现出来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。例如，正在使用的App遇到网络信号切换或变弱时，不能响应或产生功能性错误，在测试时要特别对App进行弱网测试，尽早发现问题。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15112" y="1048804"/>
            <a:ext cx="1800000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弱网测试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专项测试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37159" y="2349794"/>
            <a:ext cx="95160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移动设备的电量有限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一直是困扰用户的一个问题，同时也是移动设备发展的一个瓶颈。如果App架构设计不好，或者代码有缺陷，就可能导致电量消耗比较大，因此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App耗电量测试也很重要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。如果App耗电量较大，应改进App，使其在电量不足的情况下释放掉一部分性能以节省电量。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2100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耗电量测试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性能测试，能够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的性能测试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要点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5231206" y="2205794"/>
            <a:ext cx="6337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性能测试主要测试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在边界、压力等极端条件下运行是否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满足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在电量不足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访问量增大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等情况下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运行是否正常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6942" y="1192953"/>
            <a:ext cx="401128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要点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如下。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67206" y="2160279"/>
            <a:ext cx="7632002" cy="2756402"/>
            <a:chOff x="2601061" y="2772564"/>
            <a:chExt cx="7662908" cy="2093629"/>
          </a:xfrm>
        </p:grpSpPr>
        <p:sp>
          <p:nvSpPr>
            <p:cNvPr id="8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2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2" name="MH_SubTitle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 flipH="1">
              <a:off x="2601063" y="2772564"/>
              <a:ext cx="1125240" cy="305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边界测试</a:t>
              </a:r>
            </a:p>
          </p:txBody>
        </p:sp>
        <p:sp>
          <p:nvSpPr>
            <p:cNvPr id="13" name="MH_Other_3"/>
            <p:cNvSpPr/>
            <p:nvPr>
              <p:custDataLst>
                <p:tags r:id="rId4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5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5"/>
            <p:cNvSpPr/>
            <p:nvPr>
              <p:custDataLst>
                <p:tags r:id="rId6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7" name="MH_Other_6"/>
            <p:cNvSpPr/>
            <p:nvPr>
              <p:custDataLst>
                <p:tags r:id="rId7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8" name="MH_Other_7"/>
            <p:cNvSpPr/>
            <p:nvPr>
              <p:custDataLst>
                <p:tags r:id="rId8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9" name="MH_Other_8"/>
            <p:cNvSpPr/>
            <p:nvPr>
              <p:custDataLst>
                <p:tags r:id="rId9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0" name="MH_SubTitle_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500631" y="4450794"/>
              <a:ext cx="1763338" cy="348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响应能力测试</a:t>
              </a:r>
            </a:p>
          </p:txBody>
        </p:sp>
        <p:sp>
          <p:nvSpPr>
            <p:cNvPr id="21" name="MH_SubTitle_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2601061" y="4450794"/>
              <a:ext cx="1125241" cy="348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耗能测试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8405408" y="21602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压力测试</a:t>
            </a:r>
          </a:p>
        </p:txBody>
      </p:sp>
      <p:sp>
        <p:nvSpPr>
          <p:cNvPr id="23" name="矩形 22"/>
          <p:cNvSpPr/>
          <p:nvPr/>
        </p:nvSpPr>
        <p:spPr>
          <a:xfrm>
            <a:off x="1079474" y="2613513"/>
            <a:ext cx="338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在各种边界压力下，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电量不足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存储空间不足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网络不稳定时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是否能正确响应和正常运行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4" name="矩形 23"/>
          <p:cNvSpPr/>
          <p:nvPr/>
        </p:nvSpPr>
        <p:spPr>
          <a:xfrm>
            <a:off x="7466380" y="2421794"/>
            <a:ext cx="381599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不断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施加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压力，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不断增加负载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不断增大数据吞吐量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以确定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的服务瓶颈，获得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能提供的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最强性能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确定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性能是否满足用户需求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5" name="矩形 24"/>
          <p:cNvSpPr/>
          <p:nvPr/>
        </p:nvSpPr>
        <p:spPr>
          <a:xfrm>
            <a:off x="947402" y="4916681"/>
            <a:ext cx="40847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运行时对移动设备的资源占用情况，包括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内存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使用率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耗能测试时需要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验证</a:t>
            </a:r>
            <a:r>
              <a:rPr lang="en-US" altLang="zh-CN" sz="1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App在长期运行时的耗电量是否满足用户需求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6" name="矩形 25"/>
          <p:cNvSpPr/>
          <p:nvPr/>
        </p:nvSpPr>
        <p:spPr>
          <a:xfrm>
            <a:off x="7470436" y="4858651"/>
            <a:ext cx="38119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响应能力测试实质上也是一种压力测试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即测试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在一定条件下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是否可以正确响应，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以及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响应时间是否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满足用户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需求。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的兼容性测试，能够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的兼容性测试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要点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4943206" y="2082915"/>
            <a:ext cx="65471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兼容性是指软件之间、硬件之间或软硬件组合系统之间相互协调工作的程度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。对于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的兼容性，如果某个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能够稳定地工作在若干个操作系统中，并且不会出现频繁崩溃、意外退出等问题，则说明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的兼容性比较好。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263810" y="1605137"/>
            <a:ext cx="6847396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应用的范围越来越大，用户群体逐渐增多，用户使用的移动设备型号也越来越多，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兼容性测试成为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质量保证必须要考虑的测试要点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。兼容性测试的目的是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产品的质量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，尽可能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达到平台无关性，使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产品的市场更广阔。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App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兼容性测试的要点主要有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屏幕分辨率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屏幕尺寸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品牌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8441" y="2421794"/>
            <a:ext cx="96903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系统兼容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测试主要涉及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，其中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系统又分为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14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15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等版本；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又分为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17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18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26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等版本。由于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不同的系统版本有不同的特征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在不同的系统上使用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时都有可能产生各种各样的兼容问题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，例如，某一款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系统上能够正常安装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使用，而在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上却无法安装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使用，所以在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兼容性测试时需要覆盖系统兼容。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2388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系统兼容测试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3206" y="2349794"/>
            <a:ext cx="971868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目前手机的屏幕种类很多，常见的有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全面屏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刘海屏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水滴屏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折叠屏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等，不同的手机屏幕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分辨率也有所不同。在不同分辨率的设备上使用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时，呈现的界面效果也会有所差异。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如果没有适配不同手机的屏幕分辨率，则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可能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会影响用户的使用体验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。例如，在分辨率为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1920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像素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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1080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像素的屏幕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中显示的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界面样式清晰美观，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满足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用户的使用需求，而在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1280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像素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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720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像素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的分辨率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的屏幕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中可能出现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界面样式显示不全、图片模糊等问题，所以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兼容性测试时需要在不同分辨率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设备上测试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观察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用户界面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的效果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115112" y="1048804"/>
            <a:ext cx="3324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屏幕分辨率兼容测试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6380" y="2349794"/>
            <a:ext cx="9556907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在分辨率相同但屏幕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尺寸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不同的移动设备上使用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时，容易出现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图片显示不完整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字体大小不一致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等问题，因此需要测试屏幕大小的兼容性。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3324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屏幕尺寸兼容测试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5206" y="2349794"/>
            <a:ext cx="95569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很多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的使用需要连接网络，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在测试网络兼容性时要保证网络环境能够全部覆盖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Wi-Fi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2G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3G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4G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5G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，同时需要考虑电信、移动、联通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运营商的网络环境。在切换网络环境时，测试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能否兼容不同的网络环境。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3324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网络兼容测试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6349" y="2493794"/>
            <a:ext cx="95569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在不同品牌的移动设备上使用时，也可能出现缺陷，常见的移动设备品牌有华为、小米、三星、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OPPO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vivo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苹果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等。由于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不同品牌的移动设备在运行速度、软件兼容上有区别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需要测试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是否可以在不同品牌的移动设备上使用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15112" y="1048804"/>
            <a:ext cx="3324094" cy="791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品牌兼容性测试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1872933" y="1608089"/>
            <a:ext cx="3142273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07206" y="1701794"/>
            <a:ext cx="24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第三方测试平台</a:t>
            </a:r>
            <a:endParaRPr lang="zh-CN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31206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18905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8044" y="3213794"/>
            <a:ext cx="9720000" cy="172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可以使用第三方平台进行测试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，第三方平台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EasyTest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贯众云测试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提供了全面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专业的测试服务，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可选择品牌机型、操作系统版本、性能测试、功能测试等，极大地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测试效率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兼容性测试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搭建</a:t>
            </a:r>
            <a:r>
              <a:rPr lang="en-US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App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测试环境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79474" y="3362995"/>
            <a:ext cx="5669299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JDK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 SDK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，能够独立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JDK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 SDK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0" y="266995"/>
            <a:ext cx="459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 SDK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 SDK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5122637" y="2417712"/>
            <a:ext cx="6337138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 defTabSz="121666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安卓手机的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是基于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系统开发的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语言是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，所以在运行或测试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时需要使用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环境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，搭建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环境也就是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JDK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的过程中，还需要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，此时需要使用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 SDK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，所以还需要安装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 SDK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70" y="18457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7F8B-C12F-BA7A-33A0-455F2F3D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29E7525C-E560-A5BB-78D7-353763F4EAB7}"/>
              </a:ext>
            </a:extLst>
          </p:cNvPr>
          <p:cNvSpPr txBox="1"/>
          <p:nvPr/>
        </p:nvSpPr>
        <p:spPr>
          <a:xfrm>
            <a:off x="1143691" y="266995"/>
            <a:ext cx="456386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 SDK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原创设计师QQ598969553          _7">
            <a:extLst>
              <a:ext uri="{FF2B5EF4-FFF2-40B4-BE49-F238E27FC236}">
                <a16:creationId xmlns:a16="http://schemas.microsoft.com/office/drawing/2014/main" id="{5E544525-8AF2-63A5-8C3F-BC44B6703466}"/>
              </a:ext>
            </a:extLst>
          </p:cNvPr>
          <p:cNvSpPr txBox="1"/>
          <p:nvPr/>
        </p:nvSpPr>
        <p:spPr>
          <a:xfrm>
            <a:off x="4045331" y="1963443"/>
            <a:ext cx="3324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QPS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TPS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3B61B5-4E90-B4B8-5F3A-07E300590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015" y="1225405"/>
            <a:ext cx="2952381" cy="2857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2E9CC2-E69B-D5E0-0130-AA61B6FE7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06" y="2772110"/>
            <a:ext cx="4405399" cy="316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195FF1-A86D-27EB-B350-8CB2D4FC6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783" y="2736110"/>
            <a:ext cx="4042569" cy="324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436721-8C95-2151-78FB-3AF202F5B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206" y="1741364"/>
            <a:ext cx="1761905" cy="342857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CDEE0269-FEC2-5CD9-99FE-5065A4087E2A}"/>
              </a:ext>
            </a:extLst>
          </p:cNvPr>
          <p:cNvSpPr/>
          <p:nvPr/>
        </p:nvSpPr>
        <p:spPr>
          <a:xfrm>
            <a:off x="3853508" y="1127474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D4222E7-0DDF-3898-B6EB-59A216CE83EC}"/>
              </a:ext>
            </a:extLst>
          </p:cNvPr>
          <p:cNvSpPr/>
          <p:nvPr/>
        </p:nvSpPr>
        <p:spPr>
          <a:xfrm>
            <a:off x="4445688" y="1713187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4D38188-21EE-22CE-BA31-4DD9DCBBCE2F}"/>
              </a:ext>
            </a:extLst>
          </p:cNvPr>
          <p:cNvSpPr/>
          <p:nvPr/>
        </p:nvSpPr>
        <p:spPr>
          <a:xfrm>
            <a:off x="394416" y="2736110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3F13D7A-DBF6-C41D-CEF6-A1C2E090E915}"/>
              </a:ext>
            </a:extLst>
          </p:cNvPr>
          <p:cNvSpPr/>
          <p:nvPr/>
        </p:nvSpPr>
        <p:spPr>
          <a:xfrm>
            <a:off x="6887206" y="2736110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99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3F86-E5A0-4D81-42F4-94838B86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5700B75C-9C98-4C8C-B3C9-A11F65F5C399}"/>
              </a:ext>
            </a:extLst>
          </p:cNvPr>
          <p:cNvSpPr txBox="1"/>
          <p:nvPr/>
        </p:nvSpPr>
        <p:spPr>
          <a:xfrm>
            <a:off x="1143691" y="266995"/>
            <a:ext cx="456386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7.3.1 Android SDK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原创设计师QQ598969553          _7">
            <a:extLst>
              <a:ext uri="{FF2B5EF4-FFF2-40B4-BE49-F238E27FC236}">
                <a16:creationId xmlns:a16="http://schemas.microsoft.com/office/drawing/2014/main" id="{44AC9102-D393-058D-D97D-94B7A5D4EC84}"/>
              </a:ext>
            </a:extLst>
          </p:cNvPr>
          <p:cNvSpPr txBox="1"/>
          <p:nvPr/>
        </p:nvSpPr>
        <p:spPr>
          <a:xfrm>
            <a:off x="4045331" y="1963443"/>
            <a:ext cx="3324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QPS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TPS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35DA32-3F76-BE1F-55C8-53BAE45AE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015" y="1197794"/>
            <a:ext cx="7952381" cy="20476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3BCAD7-BB79-A6E5-F4B6-08216074E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106" y="3933794"/>
            <a:ext cx="2619048" cy="7714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0DD7D4-89E9-F451-3B09-921AD9581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296" y="5517794"/>
            <a:ext cx="4466667" cy="761905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CF71A234-A918-BA51-13CC-33159BC43562}"/>
              </a:ext>
            </a:extLst>
          </p:cNvPr>
          <p:cNvSpPr/>
          <p:nvPr/>
        </p:nvSpPr>
        <p:spPr>
          <a:xfrm>
            <a:off x="1271206" y="1197794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7023FA-4225-625D-DF1E-F658933E87A0}"/>
              </a:ext>
            </a:extLst>
          </p:cNvPr>
          <p:cNvSpPr/>
          <p:nvPr/>
        </p:nvSpPr>
        <p:spPr>
          <a:xfrm>
            <a:off x="3791206" y="4127685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F6BE427-87FF-D18F-5B5E-AF0508241662}"/>
              </a:ext>
            </a:extLst>
          </p:cNvPr>
          <p:cNvSpPr/>
          <p:nvPr/>
        </p:nvSpPr>
        <p:spPr>
          <a:xfrm>
            <a:off x="3018893" y="5706923"/>
            <a:ext cx="383645" cy="3836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0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79474" y="3362995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模拟器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，能够独立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下载与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雷电模拟器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0" y="266995"/>
            <a:ext cx="459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模拟器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模拟器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235207" y="1710633"/>
            <a:ext cx="676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时，需要将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系统的其他设备上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中的各项功能是否会出现缺陷。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第三方的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雷电模拟器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该模拟器的安装步骤比较简单，没有复杂的操作，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直接单击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下一步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就可以完成安装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，所以此处不再详细描述雷电模拟器的安装步骤。</a:t>
            </a:r>
          </a:p>
        </p:txBody>
      </p:sp>
      <p:pic>
        <p:nvPicPr>
          <p:cNvPr id="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1872933" y="1608089"/>
            <a:ext cx="3142273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35206" y="1701794"/>
            <a:ext cx="24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zh-CN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31206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18905" y="1613373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43690" y="2997794"/>
            <a:ext cx="9720000" cy="302359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Debug Bridge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），本质上是一个客户端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服务器端程序。其中客户端是用来操作的电脑，服务端是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设备。它是一个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用于管理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设备（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模拟器、手机等）的调试工具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，位于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 SDK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安装目录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platform-tools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中。当配置完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的环境变量后，可以直接在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命令提示符窗口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命令对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设备进行操作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获取设备上安装的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，例如，在设备上安装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、卸载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、连接某个设备、获取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的包名和界面名等信息。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2980" y="1485794"/>
            <a:ext cx="10440226" cy="10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测试时经常会使用一些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启动或停止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的日志信息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连接或断开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  <p:sp>
        <p:nvSpPr>
          <p:cNvPr id="6" name="矩形 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3899280"/>
              </p:ext>
            </p:extLst>
          </p:nvPr>
        </p:nvGraphicFramePr>
        <p:xfrm>
          <a:off x="2893343" y="2637794"/>
          <a:ext cx="6619499" cy="3669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adb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start-server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启动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服务器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kill-server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停止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服务器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devices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查看设备名称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logcat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获取日志信息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marR="0" indent="0" algn="just" defTabSz="1219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connect IP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1219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连接某个设备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  <p:sp>
        <p:nvSpPr>
          <p:cNvPr id="6" name="矩形 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135206" y="1989794"/>
          <a:ext cx="8640000" cy="390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adb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install 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apk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的文件路径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安装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uninstall App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的包名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卸载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--help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查看</a:t>
                      </a:r>
                      <a:r>
                        <a:rPr lang="en-US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zh-CN" alt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命令的</a:t>
                      </a:r>
                      <a:r>
                        <a:rPr lang="zh-CN" alt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帮助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shell 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dumpsys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window windows  | 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findstr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mFocusedApp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的包名和界面名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adb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shell 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dumpsys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activity | find "</a:t>
                      </a: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mFocusedActivity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"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的包名和界面名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63447" y="1409414"/>
            <a:ext cx="10063516" cy="22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获取雷电模拟器中“通讯录”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的包名和界面名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的使用。首先打开雷电模拟器，然后在该模拟器中找到“通讯录”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，双击该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进入通讯录界面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，如右图所示。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  <p:sp>
        <p:nvSpPr>
          <p:cNvPr id="6" name="矩形 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3EEC77-739F-C84C-489B-625AE9980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206" y="2900296"/>
            <a:ext cx="6561275" cy="3754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1206" y="2205794"/>
            <a:ext cx="8748001" cy="72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打开计算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命令提示符窗口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命令。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  <p:sp>
        <p:nvSpPr>
          <p:cNvPr id="11" name="文本框 5"/>
          <p:cNvSpPr txBox="1"/>
          <p:nvPr/>
        </p:nvSpPr>
        <p:spPr>
          <a:xfrm>
            <a:off x="910959" y="3035982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adb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shell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dumpsys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window windows 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mFocusedApp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0097" y="3789794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5"/>
          <p:cNvSpPr txBox="1"/>
          <p:nvPr/>
        </p:nvSpPr>
        <p:spPr>
          <a:xfrm>
            <a:off x="910960" y="4581794"/>
            <a:ext cx="9704987" cy="4001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adb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shell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dumpsys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activity | find 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mFocusedActivity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8917" y="1080582"/>
            <a:ext cx="8526289" cy="115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命令成功获取了通讯录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的包名和界面名，其中包名为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com.android.contacts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，界面名为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activities.PeopleActivity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0" y="266995"/>
            <a:ext cx="4519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Android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环境变量</a:t>
            </a:r>
          </a:p>
        </p:txBody>
      </p:sp>
      <p:sp>
        <p:nvSpPr>
          <p:cNvPr id="6" name="矩形 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81D78B-4302-C80B-CA81-18D1C9779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1" y="2925794"/>
            <a:ext cx="9661788" cy="1365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91985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库的安装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0" y="266995"/>
            <a:ext cx="711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265565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711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143690" y="1040050"/>
            <a:ext cx="6768000" cy="5116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是一个开源的、跨平台的移动端自动化测试工具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，它支持使用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协议驱动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系统上安装的应用程序。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支持多系统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Linux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支持多语言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Appium-Python-Client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语言的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客户端库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，它实现了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协议，允许开发者或测试人员使用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代码与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服务器进行通信，从而编写自动化脚本控制移动应用（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iOS/Android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）的操作，比如模拟点击、输入文本、获取元素属性等，是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开发者进行移动应用自动化测试的核心工具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15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0" y="266995"/>
            <a:ext cx="694442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  <p:sp>
        <p:nvSpPr>
          <p:cNvPr id="20" name="MH_SubTitle_1"/>
          <p:cNvSpPr/>
          <p:nvPr>
            <p:custDataLst>
              <p:tags r:id="rId1"/>
            </p:custDataLst>
          </p:nvPr>
        </p:nvSpPr>
        <p:spPr>
          <a:xfrm>
            <a:off x="2420256" y="2048975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原生应用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MH_Other_1"/>
          <p:cNvSpPr/>
          <p:nvPr>
            <p:custDataLst>
              <p:tags r:id="rId2"/>
            </p:custDataLst>
          </p:nvPr>
        </p:nvSpPr>
        <p:spPr>
          <a:xfrm>
            <a:off x="4539567" y="2089297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2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12092" y="1485794"/>
            <a:ext cx="2976027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indent="457200" algn="just"/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系统中运行的应用，可直接通过应用商店下载与安装。</a:t>
            </a:r>
          </a:p>
        </p:txBody>
      </p:sp>
      <p:sp>
        <p:nvSpPr>
          <p:cNvPr id="23" name="MH_SubTitle_2"/>
          <p:cNvSpPr/>
          <p:nvPr>
            <p:custDataLst>
              <p:tags r:id="rId4"/>
            </p:custDataLst>
          </p:nvPr>
        </p:nvSpPr>
        <p:spPr>
          <a:xfrm>
            <a:off x="2420256" y="3254521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</a:t>
            </a:r>
            <a:r>
              <a:rPr lang="en-US" altLang="zh-CN" sz="200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200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endParaRPr lang="zh-CN" altLang="en-US" sz="2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MH_Other_2"/>
          <p:cNvSpPr/>
          <p:nvPr>
            <p:custDataLst>
              <p:tags r:id="rId5"/>
            </p:custDataLst>
          </p:nvPr>
        </p:nvSpPr>
        <p:spPr>
          <a:xfrm>
            <a:off x="4539567" y="3294207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5" name="MH_Text_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90990" y="2959239"/>
            <a:ext cx="3143114" cy="144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indent="457200" algn="just"/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在移动端浏览器中可以访问的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应用，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系统中安装的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Safari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，以及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系统中的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内置浏览器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6" name="MH_SubTitle_3"/>
          <p:cNvSpPr/>
          <p:nvPr>
            <p:custDataLst>
              <p:tags r:id="rId7"/>
            </p:custDataLst>
          </p:nvPr>
        </p:nvSpPr>
        <p:spPr>
          <a:xfrm>
            <a:off x="2420256" y="4474777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混合应用</a:t>
            </a:r>
            <a:endParaRPr lang="zh-CN" altLang="en-US" sz="2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MH_Other_3"/>
          <p:cNvSpPr/>
          <p:nvPr>
            <p:custDataLst>
              <p:tags r:id="rId8"/>
            </p:custDataLst>
          </p:nvPr>
        </p:nvSpPr>
        <p:spPr>
          <a:xfrm>
            <a:off x="4539567" y="4514463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8" name="MH_Text_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12092" y="4403268"/>
            <a:ext cx="2904975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MH_Title_1"/>
          <p:cNvSpPr/>
          <p:nvPr>
            <p:custDataLst>
              <p:tags r:id="rId10"/>
            </p:custDataLst>
          </p:nvPr>
        </p:nvSpPr>
        <p:spPr>
          <a:xfrm>
            <a:off x="1653232" y="2392840"/>
            <a:ext cx="498260" cy="24177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的测试对象</a:t>
            </a:r>
          </a:p>
        </p:txBody>
      </p:sp>
      <p:cxnSp>
        <p:nvCxnSpPr>
          <p:cNvPr id="30" name="PA_直接连接符 2"/>
          <p:cNvCxnSpPr/>
          <p:nvPr>
            <p:custDataLst>
              <p:tags r:id="rId11"/>
            </p:custDataLst>
          </p:nvPr>
        </p:nvCxnSpPr>
        <p:spPr>
          <a:xfrm>
            <a:off x="1632486" y="2079038"/>
            <a:ext cx="0" cy="3045363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A_直接连接符 2"/>
          <p:cNvCxnSpPr/>
          <p:nvPr>
            <p:custDataLst>
              <p:tags r:id="rId12"/>
            </p:custDataLst>
          </p:nvPr>
        </p:nvCxnSpPr>
        <p:spPr>
          <a:xfrm>
            <a:off x="2151492" y="2079036"/>
            <a:ext cx="0" cy="3045363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A_StraightArrowConnector 4"/>
          <p:cNvCxnSpPr/>
          <p:nvPr>
            <p:custDataLst>
              <p:tags r:id="rId13"/>
            </p:custDataLst>
          </p:nvPr>
        </p:nvCxnSpPr>
        <p:spPr>
          <a:xfrm>
            <a:off x="8017071" y="2304562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A_StraightArrowConnector 4"/>
          <p:cNvCxnSpPr/>
          <p:nvPr>
            <p:custDataLst>
              <p:tags r:id="rId14"/>
            </p:custDataLst>
          </p:nvPr>
        </p:nvCxnSpPr>
        <p:spPr>
          <a:xfrm>
            <a:off x="8017070" y="3554358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A_StraightArrowConnector 4"/>
          <p:cNvCxnSpPr/>
          <p:nvPr>
            <p:custDataLst>
              <p:tags r:id="rId15"/>
            </p:custDataLst>
          </p:nvPr>
        </p:nvCxnSpPr>
        <p:spPr>
          <a:xfrm>
            <a:off x="8017067" y="4810597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row-on-target_68291"/>
          <p:cNvSpPr>
            <a:spLocks noChangeAspect="1"/>
          </p:cNvSpPr>
          <p:nvPr/>
        </p:nvSpPr>
        <p:spPr bwMode="auto">
          <a:xfrm>
            <a:off x="9340674" y="4514714"/>
            <a:ext cx="609685" cy="609685"/>
          </a:xfrm>
          <a:custGeom>
            <a:avLst/>
            <a:gdLst>
              <a:gd name="connsiteX0" fmla="*/ 157638 w 338138"/>
              <a:gd name="connsiteY0" fmla="*/ 144463 h 338138"/>
              <a:gd name="connsiteX1" fmla="*/ 165544 w 338138"/>
              <a:gd name="connsiteY1" fmla="*/ 148443 h 338138"/>
              <a:gd name="connsiteX2" fmla="*/ 249865 w 338138"/>
              <a:gd name="connsiteY2" fmla="*/ 233341 h 338138"/>
              <a:gd name="connsiteX3" fmla="*/ 280167 w 338138"/>
              <a:gd name="connsiteY3" fmla="*/ 232015 h 338138"/>
              <a:gd name="connsiteX4" fmla="*/ 286755 w 338138"/>
              <a:gd name="connsiteY4" fmla="*/ 234668 h 338138"/>
              <a:gd name="connsiteX5" fmla="*/ 335503 w 338138"/>
              <a:gd name="connsiteY5" fmla="*/ 283750 h 338138"/>
              <a:gd name="connsiteX6" fmla="*/ 338138 w 338138"/>
              <a:gd name="connsiteY6" fmla="*/ 293036 h 338138"/>
              <a:gd name="connsiteX7" fmla="*/ 330233 w 338138"/>
              <a:gd name="connsiteY7" fmla="*/ 298342 h 338138"/>
              <a:gd name="connsiteX8" fmla="*/ 311788 w 338138"/>
              <a:gd name="connsiteY8" fmla="*/ 303648 h 338138"/>
              <a:gd name="connsiteX9" fmla="*/ 303883 w 338138"/>
              <a:gd name="connsiteY9" fmla="*/ 310281 h 338138"/>
              <a:gd name="connsiteX10" fmla="*/ 299930 w 338138"/>
              <a:gd name="connsiteY10" fmla="*/ 331505 h 338138"/>
              <a:gd name="connsiteX11" fmla="*/ 293343 w 338138"/>
              <a:gd name="connsiteY11" fmla="*/ 338138 h 338138"/>
              <a:gd name="connsiteX12" fmla="*/ 290708 w 338138"/>
              <a:gd name="connsiteY12" fmla="*/ 338138 h 338138"/>
              <a:gd name="connsiteX13" fmla="*/ 284120 w 338138"/>
              <a:gd name="connsiteY13" fmla="*/ 335485 h 338138"/>
              <a:gd name="connsiteX14" fmla="*/ 235372 w 338138"/>
              <a:gd name="connsiteY14" fmla="*/ 286403 h 338138"/>
              <a:gd name="connsiteX15" fmla="*/ 232737 w 338138"/>
              <a:gd name="connsiteY15" fmla="*/ 279770 h 338138"/>
              <a:gd name="connsiteX16" fmla="*/ 234054 w 338138"/>
              <a:gd name="connsiteY16" fmla="*/ 249260 h 338138"/>
              <a:gd name="connsiteX17" fmla="*/ 149733 w 338138"/>
              <a:gd name="connsiteY17" fmla="*/ 164361 h 338138"/>
              <a:gd name="connsiteX18" fmla="*/ 149733 w 338138"/>
              <a:gd name="connsiteY18" fmla="*/ 148443 h 338138"/>
              <a:gd name="connsiteX19" fmla="*/ 157638 w 338138"/>
              <a:gd name="connsiteY19" fmla="*/ 144463 h 338138"/>
              <a:gd name="connsiteX20" fmla="*/ 145922 w 338138"/>
              <a:gd name="connsiteY20" fmla="*/ 120650 h 338138"/>
              <a:gd name="connsiteX21" fmla="*/ 169863 w 338138"/>
              <a:gd name="connsiteY21" fmla="*/ 137383 h 338138"/>
              <a:gd name="connsiteX22" fmla="*/ 157893 w 338138"/>
              <a:gd name="connsiteY22" fmla="*/ 133522 h 338138"/>
              <a:gd name="connsiteX23" fmla="*/ 141931 w 338138"/>
              <a:gd name="connsiteY23" fmla="*/ 141245 h 338138"/>
              <a:gd name="connsiteX24" fmla="*/ 137941 w 338138"/>
              <a:gd name="connsiteY24" fmla="*/ 168275 h 338138"/>
              <a:gd name="connsiteX25" fmla="*/ 120650 w 338138"/>
              <a:gd name="connsiteY25" fmla="*/ 145106 h 338138"/>
              <a:gd name="connsiteX26" fmla="*/ 145922 w 338138"/>
              <a:gd name="connsiteY26" fmla="*/ 120650 h 338138"/>
              <a:gd name="connsiteX27" fmla="*/ 146051 w 338138"/>
              <a:gd name="connsiteY27" fmla="*/ 60325 h 338138"/>
              <a:gd name="connsiteX28" fmla="*/ 230188 w 338138"/>
              <a:gd name="connsiteY28" fmla="*/ 145257 h 338138"/>
              <a:gd name="connsiteX29" fmla="*/ 219671 w 338138"/>
              <a:gd name="connsiteY29" fmla="*/ 186395 h 338138"/>
              <a:gd name="connsiteX30" fmla="*/ 193378 w 338138"/>
              <a:gd name="connsiteY30" fmla="*/ 161181 h 338138"/>
              <a:gd name="connsiteX31" fmla="*/ 196007 w 338138"/>
              <a:gd name="connsiteY31" fmla="*/ 145257 h 338138"/>
              <a:gd name="connsiteX32" fmla="*/ 146051 w 338138"/>
              <a:gd name="connsiteY32" fmla="*/ 94828 h 338138"/>
              <a:gd name="connsiteX33" fmla="*/ 96094 w 338138"/>
              <a:gd name="connsiteY33" fmla="*/ 145257 h 338138"/>
              <a:gd name="connsiteX34" fmla="*/ 146051 w 338138"/>
              <a:gd name="connsiteY34" fmla="*/ 195685 h 338138"/>
              <a:gd name="connsiteX35" fmla="*/ 161827 w 338138"/>
              <a:gd name="connsiteY35" fmla="*/ 193031 h 338138"/>
              <a:gd name="connsiteX36" fmla="*/ 188119 w 338138"/>
              <a:gd name="connsiteY36" fmla="*/ 219572 h 338138"/>
              <a:gd name="connsiteX37" fmla="*/ 146051 w 338138"/>
              <a:gd name="connsiteY37" fmla="*/ 230188 h 338138"/>
              <a:gd name="connsiteX38" fmla="*/ 61913 w 338138"/>
              <a:gd name="connsiteY38" fmla="*/ 145257 h 338138"/>
              <a:gd name="connsiteX39" fmla="*/ 146051 w 338138"/>
              <a:gd name="connsiteY39" fmla="*/ 60325 h 338138"/>
              <a:gd name="connsiteX40" fmla="*/ 145257 w 338138"/>
              <a:gd name="connsiteY40" fmla="*/ 0 h 338138"/>
              <a:gd name="connsiteX41" fmla="*/ 290513 w 338138"/>
              <a:gd name="connsiteY41" fmla="*/ 145257 h 338138"/>
              <a:gd name="connsiteX42" fmla="*/ 269385 w 338138"/>
              <a:gd name="connsiteY42" fmla="*/ 221846 h 338138"/>
              <a:gd name="connsiteX43" fmla="*/ 254859 w 338138"/>
              <a:gd name="connsiteY43" fmla="*/ 221846 h 338138"/>
              <a:gd name="connsiteX44" fmla="*/ 239013 w 338138"/>
              <a:gd name="connsiteY44" fmla="*/ 206000 h 338138"/>
              <a:gd name="connsiteX45" fmla="*/ 256180 w 338138"/>
              <a:gd name="connsiteY45" fmla="*/ 145257 h 338138"/>
              <a:gd name="connsiteX46" fmla="*/ 145257 w 338138"/>
              <a:gd name="connsiteY46" fmla="*/ 34333 h 338138"/>
              <a:gd name="connsiteX47" fmla="*/ 34333 w 338138"/>
              <a:gd name="connsiteY47" fmla="*/ 145257 h 338138"/>
              <a:gd name="connsiteX48" fmla="*/ 145257 w 338138"/>
              <a:gd name="connsiteY48" fmla="*/ 256180 h 338138"/>
              <a:gd name="connsiteX49" fmla="*/ 206000 w 338138"/>
              <a:gd name="connsiteY49" fmla="*/ 239013 h 338138"/>
              <a:gd name="connsiteX50" fmla="*/ 221847 w 338138"/>
              <a:gd name="connsiteY50" fmla="*/ 254859 h 338138"/>
              <a:gd name="connsiteX51" fmla="*/ 221847 w 338138"/>
              <a:gd name="connsiteY51" fmla="*/ 269385 h 338138"/>
              <a:gd name="connsiteX52" fmla="*/ 145257 w 338138"/>
              <a:gd name="connsiteY52" fmla="*/ 290513 h 338138"/>
              <a:gd name="connsiteX53" fmla="*/ 0 w 338138"/>
              <a:gd name="connsiteY53" fmla="*/ 145257 h 338138"/>
              <a:gd name="connsiteX54" fmla="*/ 145257 w 338138"/>
              <a:gd name="connsiteY5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38138" h="338138">
                <a:moveTo>
                  <a:pt x="157638" y="144463"/>
                </a:moveTo>
                <a:cubicBezTo>
                  <a:pt x="160273" y="144463"/>
                  <a:pt x="162908" y="145790"/>
                  <a:pt x="165544" y="148443"/>
                </a:cubicBezTo>
                <a:cubicBezTo>
                  <a:pt x="165544" y="148443"/>
                  <a:pt x="165544" y="148443"/>
                  <a:pt x="249865" y="233341"/>
                </a:cubicBezTo>
                <a:cubicBezTo>
                  <a:pt x="249865" y="233341"/>
                  <a:pt x="249865" y="233341"/>
                  <a:pt x="280167" y="232015"/>
                </a:cubicBezTo>
                <a:cubicBezTo>
                  <a:pt x="282803" y="232015"/>
                  <a:pt x="285438" y="233341"/>
                  <a:pt x="286755" y="234668"/>
                </a:cubicBezTo>
                <a:cubicBezTo>
                  <a:pt x="286755" y="234668"/>
                  <a:pt x="286755" y="234668"/>
                  <a:pt x="335503" y="283750"/>
                </a:cubicBezTo>
                <a:cubicBezTo>
                  <a:pt x="338138" y="286403"/>
                  <a:pt x="338138" y="289056"/>
                  <a:pt x="338138" y="293036"/>
                </a:cubicBezTo>
                <a:cubicBezTo>
                  <a:pt x="336821" y="295689"/>
                  <a:pt x="334186" y="298342"/>
                  <a:pt x="330233" y="298342"/>
                </a:cubicBezTo>
                <a:cubicBezTo>
                  <a:pt x="330233" y="298342"/>
                  <a:pt x="330233" y="298342"/>
                  <a:pt x="311788" y="303648"/>
                </a:cubicBezTo>
                <a:cubicBezTo>
                  <a:pt x="307835" y="303648"/>
                  <a:pt x="305200" y="306301"/>
                  <a:pt x="303883" y="310281"/>
                </a:cubicBezTo>
                <a:cubicBezTo>
                  <a:pt x="303883" y="310281"/>
                  <a:pt x="303883" y="310281"/>
                  <a:pt x="299930" y="331505"/>
                </a:cubicBezTo>
                <a:cubicBezTo>
                  <a:pt x="298613" y="334158"/>
                  <a:pt x="295978" y="336812"/>
                  <a:pt x="293343" y="338138"/>
                </a:cubicBezTo>
                <a:cubicBezTo>
                  <a:pt x="292025" y="338138"/>
                  <a:pt x="292025" y="338138"/>
                  <a:pt x="290708" y="338138"/>
                </a:cubicBezTo>
                <a:cubicBezTo>
                  <a:pt x="288073" y="338138"/>
                  <a:pt x="285438" y="336812"/>
                  <a:pt x="284120" y="335485"/>
                </a:cubicBezTo>
                <a:cubicBezTo>
                  <a:pt x="284120" y="335485"/>
                  <a:pt x="284120" y="335485"/>
                  <a:pt x="235372" y="286403"/>
                </a:cubicBezTo>
                <a:cubicBezTo>
                  <a:pt x="232737" y="283750"/>
                  <a:pt x="232737" y="281097"/>
                  <a:pt x="232737" y="279770"/>
                </a:cubicBezTo>
                <a:cubicBezTo>
                  <a:pt x="232737" y="279770"/>
                  <a:pt x="232737" y="279770"/>
                  <a:pt x="234054" y="249260"/>
                </a:cubicBezTo>
                <a:cubicBezTo>
                  <a:pt x="234054" y="249260"/>
                  <a:pt x="234054" y="249260"/>
                  <a:pt x="149733" y="164361"/>
                </a:cubicBezTo>
                <a:cubicBezTo>
                  <a:pt x="144463" y="159055"/>
                  <a:pt x="144463" y="152422"/>
                  <a:pt x="149733" y="148443"/>
                </a:cubicBezTo>
                <a:cubicBezTo>
                  <a:pt x="151051" y="145790"/>
                  <a:pt x="155003" y="144463"/>
                  <a:pt x="157638" y="144463"/>
                </a:cubicBezTo>
                <a:close/>
                <a:moveTo>
                  <a:pt x="145922" y="120650"/>
                </a:moveTo>
                <a:cubicBezTo>
                  <a:pt x="157893" y="120650"/>
                  <a:pt x="167203" y="128373"/>
                  <a:pt x="169863" y="137383"/>
                </a:cubicBezTo>
                <a:cubicBezTo>
                  <a:pt x="167203" y="134809"/>
                  <a:pt x="161883" y="133522"/>
                  <a:pt x="157893" y="133522"/>
                </a:cubicBezTo>
                <a:cubicBezTo>
                  <a:pt x="151242" y="133522"/>
                  <a:pt x="145922" y="136096"/>
                  <a:pt x="141931" y="141245"/>
                </a:cubicBezTo>
                <a:cubicBezTo>
                  <a:pt x="133951" y="147680"/>
                  <a:pt x="132620" y="160552"/>
                  <a:pt x="137941" y="168275"/>
                </a:cubicBezTo>
                <a:cubicBezTo>
                  <a:pt x="128630" y="165701"/>
                  <a:pt x="120650" y="156691"/>
                  <a:pt x="120650" y="145106"/>
                </a:cubicBezTo>
                <a:cubicBezTo>
                  <a:pt x="120650" y="132234"/>
                  <a:pt x="132620" y="120650"/>
                  <a:pt x="145922" y="120650"/>
                </a:cubicBezTo>
                <a:close/>
                <a:moveTo>
                  <a:pt x="146051" y="60325"/>
                </a:moveTo>
                <a:cubicBezTo>
                  <a:pt x="192063" y="60325"/>
                  <a:pt x="230188" y="98810"/>
                  <a:pt x="230188" y="145257"/>
                </a:cubicBezTo>
                <a:cubicBezTo>
                  <a:pt x="230188" y="159854"/>
                  <a:pt x="226244" y="174452"/>
                  <a:pt x="219671" y="186395"/>
                </a:cubicBezTo>
                <a:lnTo>
                  <a:pt x="193378" y="161181"/>
                </a:lnTo>
                <a:cubicBezTo>
                  <a:pt x="196007" y="155873"/>
                  <a:pt x="196007" y="150565"/>
                  <a:pt x="196007" y="145257"/>
                </a:cubicBezTo>
                <a:cubicBezTo>
                  <a:pt x="196007" y="117388"/>
                  <a:pt x="173658" y="94828"/>
                  <a:pt x="146051" y="94828"/>
                </a:cubicBezTo>
                <a:cubicBezTo>
                  <a:pt x="118443" y="94828"/>
                  <a:pt x="96094" y="117388"/>
                  <a:pt x="96094" y="145257"/>
                </a:cubicBezTo>
                <a:cubicBezTo>
                  <a:pt x="96094" y="173125"/>
                  <a:pt x="118443" y="195685"/>
                  <a:pt x="146051" y="195685"/>
                </a:cubicBezTo>
                <a:cubicBezTo>
                  <a:pt x="151309" y="195685"/>
                  <a:pt x="156568" y="194358"/>
                  <a:pt x="161827" y="193031"/>
                </a:cubicBezTo>
                <a:cubicBezTo>
                  <a:pt x="161827" y="193031"/>
                  <a:pt x="161827" y="193031"/>
                  <a:pt x="188119" y="219572"/>
                </a:cubicBezTo>
                <a:cubicBezTo>
                  <a:pt x="174973" y="226207"/>
                  <a:pt x="161827" y="230188"/>
                  <a:pt x="146051" y="230188"/>
                </a:cubicBezTo>
                <a:cubicBezTo>
                  <a:pt x="100038" y="230188"/>
                  <a:pt x="61913" y="191703"/>
                  <a:pt x="61913" y="145257"/>
                </a:cubicBezTo>
                <a:cubicBezTo>
                  <a:pt x="61913" y="98810"/>
                  <a:pt x="100038" y="60325"/>
                  <a:pt x="146051" y="60325"/>
                </a:cubicBezTo>
                <a:close/>
                <a:moveTo>
                  <a:pt x="145257" y="0"/>
                </a:moveTo>
                <a:cubicBezTo>
                  <a:pt x="225808" y="0"/>
                  <a:pt x="290513" y="64705"/>
                  <a:pt x="290513" y="145257"/>
                </a:cubicBezTo>
                <a:cubicBezTo>
                  <a:pt x="290513" y="172987"/>
                  <a:pt x="282590" y="199398"/>
                  <a:pt x="269385" y="221846"/>
                </a:cubicBezTo>
                <a:cubicBezTo>
                  <a:pt x="269385" y="221846"/>
                  <a:pt x="269385" y="221846"/>
                  <a:pt x="254859" y="221846"/>
                </a:cubicBezTo>
                <a:cubicBezTo>
                  <a:pt x="254859" y="221846"/>
                  <a:pt x="254859" y="221846"/>
                  <a:pt x="239013" y="206000"/>
                </a:cubicBezTo>
                <a:cubicBezTo>
                  <a:pt x="249577" y="188833"/>
                  <a:pt x="256180" y="167705"/>
                  <a:pt x="256180" y="145257"/>
                </a:cubicBezTo>
                <a:cubicBezTo>
                  <a:pt x="256180" y="84513"/>
                  <a:pt x="207321" y="34333"/>
                  <a:pt x="145257" y="34333"/>
                </a:cubicBezTo>
                <a:cubicBezTo>
                  <a:pt x="84513" y="34333"/>
                  <a:pt x="34333" y="84513"/>
                  <a:pt x="34333" y="145257"/>
                </a:cubicBezTo>
                <a:cubicBezTo>
                  <a:pt x="34333" y="207321"/>
                  <a:pt x="84513" y="256180"/>
                  <a:pt x="145257" y="256180"/>
                </a:cubicBezTo>
                <a:cubicBezTo>
                  <a:pt x="167705" y="256180"/>
                  <a:pt x="188834" y="249577"/>
                  <a:pt x="206000" y="239013"/>
                </a:cubicBezTo>
                <a:cubicBezTo>
                  <a:pt x="206000" y="239013"/>
                  <a:pt x="206000" y="239013"/>
                  <a:pt x="221847" y="254859"/>
                </a:cubicBezTo>
                <a:cubicBezTo>
                  <a:pt x="221847" y="254859"/>
                  <a:pt x="221847" y="254859"/>
                  <a:pt x="221847" y="269385"/>
                </a:cubicBezTo>
                <a:cubicBezTo>
                  <a:pt x="199398" y="282590"/>
                  <a:pt x="172988" y="290513"/>
                  <a:pt x="145257" y="290513"/>
                </a:cubicBezTo>
                <a:cubicBezTo>
                  <a:pt x="64705" y="290513"/>
                  <a:pt x="0" y="225808"/>
                  <a:pt x="0" y="145257"/>
                </a:cubicBezTo>
                <a:cubicBezTo>
                  <a:pt x="0" y="64705"/>
                  <a:pt x="64705" y="0"/>
                  <a:pt x="14525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7" name="computer-service_78951"/>
          <p:cNvSpPr>
            <a:spLocks noChangeAspect="1"/>
          </p:cNvSpPr>
          <p:nvPr/>
        </p:nvSpPr>
        <p:spPr bwMode="auto">
          <a:xfrm>
            <a:off x="9340674" y="1955239"/>
            <a:ext cx="609685" cy="565858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graph_134483"/>
          <p:cNvSpPr>
            <a:spLocks noChangeAspect="1"/>
          </p:cNvSpPr>
          <p:nvPr/>
        </p:nvSpPr>
        <p:spPr bwMode="auto">
          <a:xfrm>
            <a:off x="9340674" y="3162906"/>
            <a:ext cx="609685" cy="555432"/>
          </a:xfrm>
          <a:custGeom>
            <a:avLst/>
            <a:gdLst>
              <a:gd name="connsiteX0" fmla="*/ 260506 w 331788"/>
              <a:gd name="connsiteY0" fmla="*/ 76839 h 302264"/>
              <a:gd name="connsiteX1" fmla="*/ 326604 w 331788"/>
              <a:gd name="connsiteY1" fmla="*/ 76839 h 302264"/>
              <a:gd name="connsiteX2" fmla="*/ 326604 w 331788"/>
              <a:gd name="connsiteY2" fmla="*/ 291959 h 302264"/>
              <a:gd name="connsiteX3" fmla="*/ 331788 w 331788"/>
              <a:gd name="connsiteY3" fmla="*/ 297111 h 302264"/>
              <a:gd name="connsiteX4" fmla="*/ 326604 w 331788"/>
              <a:gd name="connsiteY4" fmla="*/ 302264 h 302264"/>
              <a:gd name="connsiteX5" fmla="*/ 5184 w 331788"/>
              <a:gd name="connsiteY5" fmla="*/ 302264 h 302264"/>
              <a:gd name="connsiteX6" fmla="*/ 0 w 331788"/>
              <a:gd name="connsiteY6" fmla="*/ 297111 h 302264"/>
              <a:gd name="connsiteX7" fmla="*/ 5184 w 331788"/>
              <a:gd name="connsiteY7" fmla="*/ 291959 h 302264"/>
              <a:gd name="connsiteX8" fmla="*/ 11664 w 331788"/>
              <a:gd name="connsiteY8" fmla="*/ 291959 h 302264"/>
              <a:gd name="connsiteX9" fmla="*/ 11664 w 331788"/>
              <a:gd name="connsiteY9" fmla="*/ 214670 h 302264"/>
              <a:gd name="connsiteX10" fmla="*/ 77763 w 331788"/>
              <a:gd name="connsiteY10" fmla="*/ 214670 h 302264"/>
              <a:gd name="connsiteX11" fmla="*/ 77763 w 331788"/>
              <a:gd name="connsiteY11" fmla="*/ 291959 h 302264"/>
              <a:gd name="connsiteX12" fmla="*/ 94612 w 331788"/>
              <a:gd name="connsiteY12" fmla="*/ 291959 h 302264"/>
              <a:gd name="connsiteX13" fmla="*/ 94612 w 331788"/>
              <a:gd name="connsiteY13" fmla="*/ 165721 h 302264"/>
              <a:gd name="connsiteX14" fmla="*/ 160710 w 331788"/>
              <a:gd name="connsiteY14" fmla="*/ 165721 h 302264"/>
              <a:gd name="connsiteX15" fmla="*/ 160710 w 331788"/>
              <a:gd name="connsiteY15" fmla="*/ 291959 h 302264"/>
              <a:gd name="connsiteX16" fmla="*/ 177559 w 331788"/>
              <a:gd name="connsiteY16" fmla="*/ 291959 h 302264"/>
              <a:gd name="connsiteX17" fmla="*/ 177559 w 331788"/>
              <a:gd name="connsiteY17" fmla="*/ 121924 h 302264"/>
              <a:gd name="connsiteX18" fmla="*/ 243657 w 331788"/>
              <a:gd name="connsiteY18" fmla="*/ 121924 h 302264"/>
              <a:gd name="connsiteX19" fmla="*/ 243657 w 331788"/>
              <a:gd name="connsiteY19" fmla="*/ 291959 h 302264"/>
              <a:gd name="connsiteX20" fmla="*/ 260506 w 331788"/>
              <a:gd name="connsiteY20" fmla="*/ 291959 h 302264"/>
              <a:gd name="connsiteX21" fmla="*/ 260506 w 331788"/>
              <a:gd name="connsiteY21" fmla="*/ 76839 h 302264"/>
              <a:gd name="connsiteX22" fmla="*/ 212230 w 331788"/>
              <a:gd name="connsiteY22" fmla="*/ 334 h 302264"/>
              <a:gd name="connsiteX23" fmla="*/ 259954 w 331788"/>
              <a:gd name="connsiteY23" fmla="*/ 4179 h 302264"/>
              <a:gd name="connsiteX24" fmla="*/ 261244 w 331788"/>
              <a:gd name="connsiteY24" fmla="*/ 5460 h 302264"/>
              <a:gd name="connsiteX25" fmla="*/ 262534 w 331788"/>
              <a:gd name="connsiteY25" fmla="*/ 5460 h 302264"/>
              <a:gd name="connsiteX26" fmla="*/ 263823 w 331788"/>
              <a:gd name="connsiteY26" fmla="*/ 6742 h 302264"/>
              <a:gd name="connsiteX27" fmla="*/ 263823 w 331788"/>
              <a:gd name="connsiteY27" fmla="*/ 8024 h 302264"/>
              <a:gd name="connsiteX28" fmla="*/ 265113 w 331788"/>
              <a:gd name="connsiteY28" fmla="*/ 8024 h 302264"/>
              <a:gd name="connsiteX29" fmla="*/ 265113 w 331788"/>
              <a:gd name="connsiteY29" fmla="*/ 9305 h 302264"/>
              <a:gd name="connsiteX30" fmla="*/ 265113 w 331788"/>
              <a:gd name="connsiteY30" fmla="*/ 10587 h 302264"/>
              <a:gd name="connsiteX31" fmla="*/ 265113 w 331788"/>
              <a:gd name="connsiteY31" fmla="*/ 11869 h 302264"/>
              <a:gd name="connsiteX32" fmla="*/ 263823 w 331788"/>
              <a:gd name="connsiteY32" fmla="*/ 11869 h 302264"/>
              <a:gd name="connsiteX33" fmla="*/ 244476 w 331788"/>
              <a:gd name="connsiteY33" fmla="*/ 55445 h 302264"/>
              <a:gd name="connsiteX34" fmla="*/ 239316 w 331788"/>
              <a:gd name="connsiteY34" fmla="*/ 58008 h 302264"/>
              <a:gd name="connsiteX35" fmla="*/ 238026 w 331788"/>
              <a:gd name="connsiteY35" fmla="*/ 58008 h 302264"/>
              <a:gd name="connsiteX36" fmla="*/ 234157 w 331788"/>
              <a:gd name="connsiteY36" fmla="*/ 50318 h 302264"/>
              <a:gd name="connsiteX37" fmla="*/ 247055 w 331788"/>
              <a:gd name="connsiteY37" fmla="*/ 23403 h 302264"/>
              <a:gd name="connsiteX38" fmla="*/ 47129 w 331788"/>
              <a:gd name="connsiteY38" fmla="*/ 137470 h 302264"/>
              <a:gd name="connsiteX39" fmla="*/ 44549 w 331788"/>
              <a:gd name="connsiteY39" fmla="*/ 138752 h 302264"/>
              <a:gd name="connsiteX40" fmla="*/ 40680 w 331788"/>
              <a:gd name="connsiteY40" fmla="*/ 136189 h 302264"/>
              <a:gd name="connsiteX41" fmla="*/ 41970 w 331788"/>
              <a:gd name="connsiteY41" fmla="*/ 128499 h 302264"/>
              <a:gd name="connsiteX42" fmla="*/ 241896 w 331788"/>
              <a:gd name="connsiteY42" fmla="*/ 13150 h 302264"/>
              <a:gd name="connsiteX43" fmla="*/ 212230 w 331788"/>
              <a:gd name="connsiteY43" fmla="*/ 10587 h 302264"/>
              <a:gd name="connsiteX44" fmla="*/ 207070 w 331788"/>
              <a:gd name="connsiteY44" fmla="*/ 5460 h 302264"/>
              <a:gd name="connsiteX45" fmla="*/ 212230 w 331788"/>
              <a:gd name="connsiteY45" fmla="*/ 334 h 30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31788" h="302264">
                <a:moveTo>
                  <a:pt x="260506" y="76839"/>
                </a:moveTo>
                <a:cubicBezTo>
                  <a:pt x="260506" y="76839"/>
                  <a:pt x="260506" y="76839"/>
                  <a:pt x="326604" y="76839"/>
                </a:cubicBezTo>
                <a:cubicBezTo>
                  <a:pt x="326604" y="76839"/>
                  <a:pt x="326604" y="76839"/>
                  <a:pt x="326604" y="291959"/>
                </a:cubicBezTo>
                <a:cubicBezTo>
                  <a:pt x="329196" y="291959"/>
                  <a:pt x="331788" y="294535"/>
                  <a:pt x="331788" y="297111"/>
                </a:cubicBezTo>
                <a:cubicBezTo>
                  <a:pt x="331788" y="299688"/>
                  <a:pt x="329196" y="302264"/>
                  <a:pt x="326604" y="302264"/>
                </a:cubicBezTo>
                <a:cubicBezTo>
                  <a:pt x="326604" y="302264"/>
                  <a:pt x="326604" y="302264"/>
                  <a:pt x="5184" y="302264"/>
                </a:cubicBezTo>
                <a:cubicBezTo>
                  <a:pt x="2592" y="302264"/>
                  <a:pt x="0" y="299688"/>
                  <a:pt x="0" y="297111"/>
                </a:cubicBezTo>
                <a:cubicBezTo>
                  <a:pt x="0" y="294535"/>
                  <a:pt x="2592" y="291959"/>
                  <a:pt x="5184" y="291959"/>
                </a:cubicBezTo>
                <a:cubicBezTo>
                  <a:pt x="5184" y="291959"/>
                  <a:pt x="5184" y="291959"/>
                  <a:pt x="11664" y="291959"/>
                </a:cubicBezTo>
                <a:cubicBezTo>
                  <a:pt x="11664" y="291959"/>
                  <a:pt x="11664" y="291959"/>
                  <a:pt x="11664" y="214670"/>
                </a:cubicBezTo>
                <a:cubicBezTo>
                  <a:pt x="11664" y="214670"/>
                  <a:pt x="11664" y="214670"/>
                  <a:pt x="77763" y="214670"/>
                </a:cubicBezTo>
                <a:cubicBezTo>
                  <a:pt x="77763" y="214670"/>
                  <a:pt x="77763" y="214670"/>
                  <a:pt x="77763" y="291959"/>
                </a:cubicBezTo>
                <a:cubicBezTo>
                  <a:pt x="77763" y="291959"/>
                  <a:pt x="77763" y="291959"/>
                  <a:pt x="94612" y="291959"/>
                </a:cubicBezTo>
                <a:cubicBezTo>
                  <a:pt x="94612" y="291959"/>
                  <a:pt x="94612" y="291959"/>
                  <a:pt x="94612" y="165721"/>
                </a:cubicBezTo>
                <a:cubicBezTo>
                  <a:pt x="94612" y="165721"/>
                  <a:pt x="94612" y="165721"/>
                  <a:pt x="160710" y="165721"/>
                </a:cubicBezTo>
                <a:cubicBezTo>
                  <a:pt x="160710" y="165721"/>
                  <a:pt x="160710" y="165721"/>
                  <a:pt x="160710" y="291959"/>
                </a:cubicBezTo>
                <a:cubicBezTo>
                  <a:pt x="160710" y="291959"/>
                  <a:pt x="160710" y="291959"/>
                  <a:pt x="177559" y="291959"/>
                </a:cubicBezTo>
                <a:cubicBezTo>
                  <a:pt x="177559" y="291959"/>
                  <a:pt x="177559" y="291959"/>
                  <a:pt x="177559" y="121924"/>
                </a:cubicBezTo>
                <a:cubicBezTo>
                  <a:pt x="177559" y="121924"/>
                  <a:pt x="177559" y="121924"/>
                  <a:pt x="243657" y="121924"/>
                </a:cubicBezTo>
                <a:cubicBezTo>
                  <a:pt x="243657" y="121924"/>
                  <a:pt x="243657" y="121924"/>
                  <a:pt x="243657" y="291959"/>
                </a:cubicBezTo>
                <a:cubicBezTo>
                  <a:pt x="243657" y="291959"/>
                  <a:pt x="243657" y="291959"/>
                  <a:pt x="260506" y="291959"/>
                </a:cubicBezTo>
                <a:cubicBezTo>
                  <a:pt x="260506" y="291959"/>
                  <a:pt x="260506" y="291959"/>
                  <a:pt x="260506" y="76839"/>
                </a:cubicBezTo>
                <a:close/>
                <a:moveTo>
                  <a:pt x="212230" y="334"/>
                </a:moveTo>
                <a:cubicBezTo>
                  <a:pt x="212230" y="334"/>
                  <a:pt x="212230" y="334"/>
                  <a:pt x="259954" y="4179"/>
                </a:cubicBezTo>
                <a:cubicBezTo>
                  <a:pt x="259954" y="4179"/>
                  <a:pt x="261244" y="4179"/>
                  <a:pt x="261244" y="5460"/>
                </a:cubicBezTo>
                <a:cubicBezTo>
                  <a:pt x="262534" y="5460"/>
                  <a:pt x="262534" y="5460"/>
                  <a:pt x="262534" y="5460"/>
                </a:cubicBezTo>
                <a:cubicBezTo>
                  <a:pt x="262534" y="5460"/>
                  <a:pt x="263823" y="6742"/>
                  <a:pt x="263823" y="6742"/>
                </a:cubicBezTo>
                <a:cubicBezTo>
                  <a:pt x="263823" y="6742"/>
                  <a:pt x="263823" y="8024"/>
                  <a:pt x="263823" y="8024"/>
                </a:cubicBezTo>
                <a:cubicBezTo>
                  <a:pt x="263823" y="8024"/>
                  <a:pt x="265113" y="8024"/>
                  <a:pt x="265113" y="8024"/>
                </a:cubicBezTo>
                <a:cubicBezTo>
                  <a:pt x="265113" y="8024"/>
                  <a:pt x="265113" y="8024"/>
                  <a:pt x="265113" y="9305"/>
                </a:cubicBezTo>
                <a:cubicBezTo>
                  <a:pt x="265113" y="9305"/>
                  <a:pt x="265113" y="10587"/>
                  <a:pt x="265113" y="10587"/>
                </a:cubicBezTo>
                <a:cubicBezTo>
                  <a:pt x="265113" y="10587"/>
                  <a:pt x="265113" y="11869"/>
                  <a:pt x="265113" y="11869"/>
                </a:cubicBezTo>
                <a:cubicBezTo>
                  <a:pt x="263823" y="11869"/>
                  <a:pt x="263823" y="11869"/>
                  <a:pt x="263823" y="11869"/>
                </a:cubicBezTo>
                <a:cubicBezTo>
                  <a:pt x="263823" y="11869"/>
                  <a:pt x="263823" y="11869"/>
                  <a:pt x="244476" y="55445"/>
                </a:cubicBezTo>
                <a:cubicBezTo>
                  <a:pt x="244476" y="56726"/>
                  <a:pt x="241896" y="58008"/>
                  <a:pt x="239316" y="58008"/>
                </a:cubicBezTo>
                <a:cubicBezTo>
                  <a:pt x="239316" y="58008"/>
                  <a:pt x="238026" y="58008"/>
                  <a:pt x="238026" y="58008"/>
                </a:cubicBezTo>
                <a:cubicBezTo>
                  <a:pt x="234157" y="56726"/>
                  <a:pt x="232867" y="52881"/>
                  <a:pt x="234157" y="50318"/>
                </a:cubicBezTo>
                <a:cubicBezTo>
                  <a:pt x="234157" y="50318"/>
                  <a:pt x="234157" y="50318"/>
                  <a:pt x="247055" y="23403"/>
                </a:cubicBezTo>
                <a:cubicBezTo>
                  <a:pt x="247055" y="23403"/>
                  <a:pt x="247055" y="23403"/>
                  <a:pt x="47129" y="137470"/>
                </a:cubicBezTo>
                <a:cubicBezTo>
                  <a:pt x="47129" y="138752"/>
                  <a:pt x="45839" y="138752"/>
                  <a:pt x="44549" y="138752"/>
                </a:cubicBezTo>
                <a:cubicBezTo>
                  <a:pt x="43260" y="138752"/>
                  <a:pt x="40680" y="137470"/>
                  <a:pt x="40680" y="136189"/>
                </a:cubicBezTo>
                <a:cubicBezTo>
                  <a:pt x="38100" y="133625"/>
                  <a:pt x="39390" y="129780"/>
                  <a:pt x="41970" y="128499"/>
                </a:cubicBezTo>
                <a:cubicBezTo>
                  <a:pt x="41970" y="128499"/>
                  <a:pt x="41970" y="128499"/>
                  <a:pt x="241896" y="13150"/>
                </a:cubicBezTo>
                <a:cubicBezTo>
                  <a:pt x="241896" y="13150"/>
                  <a:pt x="241896" y="13150"/>
                  <a:pt x="212230" y="10587"/>
                </a:cubicBezTo>
                <a:cubicBezTo>
                  <a:pt x="208360" y="10587"/>
                  <a:pt x="207070" y="8024"/>
                  <a:pt x="207070" y="5460"/>
                </a:cubicBezTo>
                <a:cubicBezTo>
                  <a:pt x="207070" y="1615"/>
                  <a:pt x="209650" y="-948"/>
                  <a:pt x="212230" y="33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62878" y="4539624"/>
            <a:ext cx="292373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原生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封装网页视图的应用程序。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比如微信的聊天和朋友圈为原生代码，公众号、部分小程序等则通过网页技术（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）实现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502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694442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  <p:sp>
        <p:nvSpPr>
          <p:cNvPr id="3" name="矩形 2"/>
          <p:cNvSpPr/>
          <p:nvPr/>
        </p:nvSpPr>
        <p:spPr>
          <a:xfrm>
            <a:off x="1143050" y="1341794"/>
            <a:ext cx="10496155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官方网站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17365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https://github.com/appium/appium-desktop/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releases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，在该页面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Appium-Server-GUI-windows-1.22.3-4.exe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即可下载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的安装文件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，如下图所示。</a:t>
            </a:r>
          </a:p>
        </p:txBody>
      </p:sp>
      <p:sp>
        <p:nvSpPr>
          <p:cNvPr id="2" name="矩形 1"/>
          <p:cNvSpPr/>
          <p:nvPr/>
        </p:nvSpPr>
        <p:spPr>
          <a:xfrm>
            <a:off x="1143051" y="981794"/>
            <a:ext cx="1959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65D085-5345-AA5C-DF63-5F2BB9B4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792" y="2997794"/>
            <a:ext cx="7198828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6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75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  <p:sp>
        <p:nvSpPr>
          <p:cNvPr id="3" name="矩形 2"/>
          <p:cNvSpPr/>
          <p:nvPr/>
        </p:nvSpPr>
        <p:spPr>
          <a:xfrm>
            <a:off x="1055206" y="1102076"/>
            <a:ext cx="10368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Appium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安装完成后，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Appium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启动页面的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startServer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按钮进入服务器运行页面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Welcome to Appium v1.22.3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等启动信息，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50F73A-B14B-81B6-2AC7-6B4FFC02A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206" y="2560859"/>
            <a:ext cx="4134112" cy="38273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438D80-42B6-B27D-62C1-D41536A7C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206" y="2560859"/>
            <a:ext cx="4139737" cy="382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6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7.3.4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</a:p>
        </p:txBody>
      </p:sp>
      <p:sp>
        <p:nvSpPr>
          <p:cNvPr id="3" name="矩形 2"/>
          <p:cNvSpPr/>
          <p:nvPr/>
        </p:nvSpPr>
        <p:spPr>
          <a:xfrm>
            <a:off x="1143690" y="2061794"/>
            <a:ext cx="9432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在计算机中打开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命令提示符窗口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命令安装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，具体安装命令如下。</a:t>
            </a:r>
          </a:p>
        </p:txBody>
      </p:sp>
      <p:sp>
        <p:nvSpPr>
          <p:cNvPr id="8" name="文本框 5"/>
          <p:cNvSpPr txBox="1"/>
          <p:nvPr/>
        </p:nvSpPr>
        <p:spPr>
          <a:xfrm>
            <a:off x="1143690" y="3285794"/>
            <a:ext cx="9704987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pip install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246427"/>
            <a:ext cx="4107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E643F5-0099-4DAA-C093-082A04340825}"/>
              </a:ext>
            </a:extLst>
          </p:cNvPr>
          <p:cNvSpPr/>
          <p:nvPr/>
        </p:nvSpPr>
        <p:spPr>
          <a:xfrm>
            <a:off x="1199206" y="4311796"/>
            <a:ext cx="9432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Appium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-Python-Client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库后，可以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pip 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”命令验证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-Python-Client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库是否安装成功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ECCBCC6D-5805-07ED-8F13-141A3397606C}"/>
              </a:ext>
            </a:extLst>
          </p:cNvPr>
          <p:cNvSpPr txBox="1"/>
          <p:nvPr/>
        </p:nvSpPr>
        <p:spPr>
          <a:xfrm>
            <a:off x="1143690" y="5877794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pip list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566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919852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，能够灵活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工具定位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界面的元素</a:t>
            </a: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0" y="266995"/>
            <a:ext cx="6319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/>
          <p:cNvSpPr/>
          <p:nvPr/>
        </p:nvSpPr>
        <p:spPr>
          <a:xfrm>
            <a:off x="4871206" y="2133794"/>
            <a:ext cx="6669572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框架配套的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可视化调试工具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，能直观展示移动应用的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UI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结构，支持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实时识别按钮、文本框等界面元素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，便于测试人员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定位元素、调试自动化脚本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，还可跨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iOS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平台使用，部分版本具备操作录制生成脚本框架的功能。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86" y="1413456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/>
          <p:cNvSpPr/>
          <p:nvPr/>
        </p:nvSpPr>
        <p:spPr>
          <a:xfrm>
            <a:off x="911206" y="856779"/>
            <a:ext cx="10512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工具定位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软件，启动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（勾选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Allow CORS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选项，让网页版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Inspector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跨域连接到本地服务器）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CB7D2C-54C5-4F5F-87ED-D1CC29D12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761" y="2061794"/>
            <a:ext cx="4842889" cy="447738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1D19EE3-5F65-F5D5-9D2C-41A30B5BA2AB}"/>
              </a:ext>
            </a:extLst>
          </p:cNvPr>
          <p:cNvSpPr/>
          <p:nvPr/>
        </p:nvSpPr>
        <p:spPr>
          <a:xfrm>
            <a:off x="3647206" y="5157794"/>
            <a:ext cx="1098889" cy="2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2D4C-6ED5-4DF7-E42B-96265AA9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A0FE-22F6-896A-13BF-4AE0DE2FC7F8}"/>
              </a:ext>
            </a:extLst>
          </p:cNvPr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7CB686-2F82-D794-B161-10BDF44CD52A}"/>
              </a:ext>
            </a:extLst>
          </p:cNvPr>
          <p:cNvSpPr/>
          <p:nvPr/>
        </p:nvSpPr>
        <p:spPr>
          <a:xfrm>
            <a:off x="839206" y="909794"/>
            <a:ext cx="10512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https://inspector.appiumpro.com/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输入配置信息连接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B532AA-6372-08AF-6196-5C690012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90" y="1989794"/>
            <a:ext cx="9898388" cy="47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2EB0E5D-6D49-C884-4896-59BC189144D9}"/>
              </a:ext>
            </a:extLst>
          </p:cNvPr>
          <p:cNvSpPr/>
          <p:nvPr/>
        </p:nvSpPr>
        <p:spPr>
          <a:xfrm>
            <a:off x="1143690" y="2493794"/>
            <a:ext cx="8293409" cy="2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14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E466-747B-707A-7193-571D0144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C3FD-79F4-84DC-70BA-7CBAD0ED767A}"/>
              </a:ext>
            </a:extLst>
          </p:cNvPr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158DE7-E0CC-DC6D-0661-70244806E5C9}"/>
              </a:ext>
            </a:extLst>
          </p:cNvPr>
          <p:cNvSpPr/>
          <p:nvPr/>
        </p:nvSpPr>
        <p:spPr>
          <a:xfrm>
            <a:off x="839206" y="1269794"/>
            <a:ext cx="10512000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localhost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127.0.0.1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）：表示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运行在本地计算机（与模拟器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设备同一台电脑），如果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部署在其他服务器上，这里需要替换为对应服务器的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IP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地址（例如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hlinkClick r:id="rId3"/>
              </a:rPr>
              <a:t>http://192.168.1.100:4723/wd/hub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4723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的默认端口号。启动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Server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时，默认会监听这个端口（可在启动时自定义端口，例如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4725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，此时地址需改为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hlinkClick r:id="rId4"/>
              </a:rPr>
              <a:t>http://localhost:4725/wd/hub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/wd/hub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遵循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协议的固定路径，必须包含，不可省略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1965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FEE6-6025-3A15-F6D7-B65EFCD2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350D-21B2-D70E-94AC-3271B765FA86}"/>
              </a:ext>
            </a:extLst>
          </p:cNvPr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07FFBF-2141-3278-C2A4-4ACCB738414F}"/>
              </a:ext>
            </a:extLst>
          </p:cNvPr>
          <p:cNvSpPr/>
          <p:nvPr/>
        </p:nvSpPr>
        <p:spPr>
          <a:xfrm>
            <a:off x="839206" y="909794"/>
            <a:ext cx="10512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接下来在“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Capability Builder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”中设置连接设备所需的参数（如平台、设备名、应用包名等），生成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JSON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格式的配置用于启动会话。最后点击“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 Session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892FED-D48E-D075-6FDF-56C63F54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90" y="1989794"/>
            <a:ext cx="9898388" cy="47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C03B2E3-2807-D940-527D-C2E0E42AB993}"/>
              </a:ext>
            </a:extLst>
          </p:cNvPr>
          <p:cNvSpPr/>
          <p:nvPr/>
        </p:nvSpPr>
        <p:spPr>
          <a:xfrm>
            <a:off x="1143690" y="2493794"/>
            <a:ext cx="8293409" cy="2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19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C87C-E313-8343-AAF0-8C67D79D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BF3F-9921-136E-9141-0F70C7A27987}"/>
              </a:ext>
            </a:extLst>
          </p:cNvPr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011638-81A8-7CC1-CDB7-461D15BA6710}"/>
              </a:ext>
            </a:extLst>
          </p:cNvPr>
          <p:cNvSpPr/>
          <p:nvPr/>
        </p:nvSpPr>
        <p:spPr>
          <a:xfrm>
            <a:off x="839206" y="1269794"/>
            <a:ext cx="10512000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：固定值为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（因为是安卓设备），无需额外获取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platformVersion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（安卓系统版本）：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adb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shell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getprop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ro.build.version.release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deviceName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（设备名称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端口）：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adb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devices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，雷电模拟器默认端口通常是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5554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，所以设备名常写为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emulator:5554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emulator-5554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appPackage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 </a:t>
            </a: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appActivity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（应用包名和启动页）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：这两个参数用于指定要启动的应用（这里是 “设置”）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97EDF82B-C200-3672-AE11-949256C48022}"/>
              </a:ext>
            </a:extLst>
          </p:cNvPr>
          <p:cNvSpPr txBox="1"/>
          <p:nvPr/>
        </p:nvSpPr>
        <p:spPr>
          <a:xfrm>
            <a:off x="911206" y="4221794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adb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shell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dumpsys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window 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mCurrentFocus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31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/>
          <p:nvPr/>
        </p:nvSpPr>
        <p:spPr>
          <a:xfrm>
            <a:off x="1143690" y="266995"/>
            <a:ext cx="6247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7.3.5 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工具的简单使用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206" y="922835"/>
            <a:ext cx="10152000" cy="70695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Inspector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工具获取雷电模拟器中“设置”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的界面布局信息。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E215A1-E76D-20FA-867F-67183AD89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99" y="1773794"/>
            <a:ext cx="10127207" cy="48618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91985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测试入门示例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自动化测试脚本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0" y="266995"/>
            <a:ext cx="711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7.3.6 App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测试入门示例</a:t>
            </a:r>
            <a:endParaRPr lang="zh-CN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711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7.3.6 App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测试入门示例</a:t>
            </a:r>
            <a:endParaRPr lang="zh-CN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9382" y="989802"/>
            <a:ext cx="1029382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测试的入门示例具体实现步骤如下。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9" name="形状 38"/>
          <p:cNvSpPr/>
          <p:nvPr/>
        </p:nvSpPr>
        <p:spPr>
          <a:xfrm>
            <a:off x="3363003" y="3023756"/>
            <a:ext cx="2361565" cy="2361565"/>
          </a:xfrm>
          <a:prstGeom prst="leftCircularArrow">
            <a:avLst>
              <a:gd name="adj1" fmla="val 2872"/>
              <a:gd name="adj2" fmla="val 351158"/>
              <a:gd name="adj3" fmla="val 2126668"/>
              <a:gd name="adj4" fmla="val 9024489"/>
              <a:gd name="adj5" fmla="val 3351"/>
            </a:avLst>
          </a:prstGeom>
          <a:solidFill>
            <a:srgbClr val="0070C0"/>
          </a:solidFill>
          <a:ln w="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t">
            <a:noAutofit/>
          </a:bodyPr>
          <a:lstStyle/>
          <a:p>
            <a:pPr marL="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0" name="形状 16501"/>
          <p:cNvSpPr/>
          <p:nvPr/>
        </p:nvSpPr>
        <p:spPr>
          <a:xfrm>
            <a:off x="2260008" y="2764676"/>
            <a:ext cx="1938655" cy="1598930"/>
          </a:xfrm>
          <a:custGeom>
            <a:avLst/>
            <a:gdLst>
              <a:gd name="TX0" fmla="*/ 0 w 1281168"/>
              <a:gd name="TY0" fmla="*/ 105669 h 1056696"/>
              <a:gd name="TX1" fmla="*/ 105669 w 1281168"/>
              <a:gd name="TY1" fmla="*/ 0 h 1056696"/>
              <a:gd name="TX2" fmla="*/ 1175497 w 1281168"/>
              <a:gd name="TY2" fmla="*/ 0 h 1056696"/>
              <a:gd name="TX3" fmla="*/ 1281166 w 1281168"/>
              <a:gd name="TY3" fmla="*/ 105669 h 1056696"/>
              <a:gd name="TX4" fmla="*/ 1281166 w 1281168"/>
              <a:gd name="TY4" fmla="*/ 951025 h 1056696"/>
              <a:gd name="TX5" fmla="*/ 1175497 w 1281168"/>
              <a:gd name="TY5" fmla="*/ 1056694 h 1056696"/>
              <a:gd name="TX6" fmla="*/ 105669 w 1281168"/>
              <a:gd name="TY6" fmla="*/ 1056694 h 1056696"/>
              <a:gd name="TX7" fmla="*/ 0 w 1281168"/>
              <a:gd name="TY7" fmla="*/ 951025 h 1056696"/>
              <a:gd name="TX8" fmla="*/ 0 w 1281168"/>
              <a:gd name="TY8" fmla="*/ 105669 h 1056696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281168" h="1056696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ln w="28575" cap="flat" cmpd="sng">
            <a:solidFill>
              <a:srgbClr val="014076"/>
            </a:solidFill>
            <a:prstDash val="solid"/>
            <a:round/>
          </a:ln>
        </p:spPr>
        <p:txBody>
          <a:bodyPr vert="horz" wrap="square" lIns="91440" tIns="66040" rIns="66040" bIns="91440" anchor="t">
            <a:noAutofit/>
          </a:bodyPr>
          <a:lstStyle/>
          <a:p>
            <a:pPr marL="228600" marR="0" lvl="0" indent="-228600" algn="l" defTabSz="97790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±¼¸²"/>
              <a:buChar char="•"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1" name="形状 16502"/>
          <p:cNvSpPr/>
          <p:nvPr/>
        </p:nvSpPr>
        <p:spPr>
          <a:xfrm>
            <a:off x="2690538" y="4013721"/>
            <a:ext cx="1723390" cy="685800"/>
          </a:xfrm>
          <a:custGeom>
            <a:avLst/>
            <a:gdLst>
              <a:gd name="TX0" fmla="*/ 0 w 1138816"/>
              <a:gd name="TY0" fmla="*/ 45287 h 452871"/>
              <a:gd name="TX1" fmla="*/ 45287 w 1138816"/>
              <a:gd name="TY1" fmla="*/ 0 h 452871"/>
              <a:gd name="TX2" fmla="*/ 1093527 w 1138816"/>
              <a:gd name="TY2" fmla="*/ 0 h 452871"/>
              <a:gd name="TX3" fmla="*/ 1138814 w 1138816"/>
              <a:gd name="TY3" fmla="*/ 45287 h 452871"/>
              <a:gd name="TX4" fmla="*/ 1138814 w 1138816"/>
              <a:gd name="TY4" fmla="*/ 407582 h 452871"/>
              <a:gd name="TX5" fmla="*/ 1093527 w 1138816"/>
              <a:gd name="TY5" fmla="*/ 452869 h 452871"/>
              <a:gd name="TX6" fmla="*/ 45287 w 1138816"/>
              <a:gd name="TY6" fmla="*/ 452869 h 452871"/>
              <a:gd name="TX7" fmla="*/ 0 w 1138816"/>
              <a:gd name="TY7" fmla="*/ 407582 h 452871"/>
              <a:gd name="TX8" fmla="*/ 0 w 1138816"/>
              <a:gd name="TY8" fmla="*/ 45287 h 452871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138816" h="452871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txBody>
          <a:bodyPr vert="horz" wrap="square" lIns="60960" tIns="45085" rIns="60960" bIns="45085" anchor="ctr">
            <a:noAutofit/>
          </a:bodyPr>
          <a:lstStyle/>
          <a:p>
            <a:pPr marL="0" marR="0" lvl="0" indent="0" algn="ctr" defTabSz="111125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2" name="形状 16503"/>
          <p:cNvSpPr/>
          <p:nvPr/>
        </p:nvSpPr>
        <p:spPr>
          <a:xfrm>
            <a:off x="5669323" y="1718250"/>
            <a:ext cx="2642870" cy="2642870"/>
          </a:xfrm>
          <a:prstGeom prst="circularArrow">
            <a:avLst>
              <a:gd name="adj1" fmla="val 2567"/>
              <a:gd name="adj2" fmla="val 311540"/>
              <a:gd name="adj3" fmla="val 19512949"/>
              <a:gd name="adj4" fmla="val 12575511"/>
              <a:gd name="adj5" fmla="val 2994"/>
            </a:avLst>
          </a:prstGeom>
          <a:solidFill>
            <a:srgbClr val="0070C0"/>
          </a:solidFill>
          <a:ln w="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t">
            <a:noAutofit/>
          </a:bodyPr>
          <a:lstStyle/>
          <a:p>
            <a:pPr marL="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3" name="形状 16504"/>
          <p:cNvSpPr/>
          <p:nvPr/>
        </p:nvSpPr>
        <p:spPr>
          <a:xfrm>
            <a:off x="4728253" y="2764041"/>
            <a:ext cx="1938655" cy="1598930"/>
          </a:xfrm>
          <a:custGeom>
            <a:avLst/>
            <a:gdLst>
              <a:gd name="TX0" fmla="*/ 0 w 1281168"/>
              <a:gd name="TY0" fmla="*/ 105669 h 1056696"/>
              <a:gd name="TX1" fmla="*/ 105669 w 1281168"/>
              <a:gd name="TY1" fmla="*/ 0 h 1056696"/>
              <a:gd name="TX2" fmla="*/ 1175497 w 1281168"/>
              <a:gd name="TY2" fmla="*/ 0 h 1056696"/>
              <a:gd name="TX3" fmla="*/ 1281166 w 1281168"/>
              <a:gd name="TY3" fmla="*/ 105669 h 1056696"/>
              <a:gd name="TX4" fmla="*/ 1281166 w 1281168"/>
              <a:gd name="TY4" fmla="*/ 951025 h 1056696"/>
              <a:gd name="TX5" fmla="*/ 1175497 w 1281168"/>
              <a:gd name="TY5" fmla="*/ 1056694 h 1056696"/>
              <a:gd name="TX6" fmla="*/ 105669 w 1281168"/>
              <a:gd name="TY6" fmla="*/ 1056694 h 1056696"/>
              <a:gd name="TX7" fmla="*/ 0 w 1281168"/>
              <a:gd name="TY7" fmla="*/ 951025 h 1056696"/>
              <a:gd name="TX8" fmla="*/ 0 w 1281168"/>
              <a:gd name="TY8" fmla="*/ 105669 h 1056696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281168" h="1056696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ln w="28575" cap="flat" cmpd="sng">
            <a:solidFill>
              <a:srgbClr val="014076"/>
            </a:solidFill>
            <a:prstDash val="solid"/>
            <a:round/>
          </a:ln>
        </p:spPr>
        <p:txBody>
          <a:bodyPr vert="horz" wrap="square" lIns="66040" tIns="292735" rIns="66040" bIns="66040" anchor="b">
            <a:noAutofit/>
          </a:bodyPr>
          <a:lstStyle/>
          <a:p>
            <a:pPr marL="228600" marR="0" lvl="0" indent="-228600" algn="l" defTabSz="97790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±¼¸²"/>
              <a:buChar char="•"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4" name="形状 16505"/>
          <p:cNvSpPr/>
          <p:nvPr/>
        </p:nvSpPr>
        <p:spPr>
          <a:xfrm>
            <a:off x="5158148" y="2421141"/>
            <a:ext cx="1723390" cy="685800"/>
          </a:xfrm>
          <a:custGeom>
            <a:avLst/>
            <a:gdLst>
              <a:gd name="TX0" fmla="*/ 0 w 1138816"/>
              <a:gd name="TY0" fmla="*/ 45287 h 452871"/>
              <a:gd name="TX1" fmla="*/ 45287 w 1138816"/>
              <a:gd name="TY1" fmla="*/ 0 h 452871"/>
              <a:gd name="TX2" fmla="*/ 1093527 w 1138816"/>
              <a:gd name="TY2" fmla="*/ 0 h 452871"/>
              <a:gd name="TX3" fmla="*/ 1138814 w 1138816"/>
              <a:gd name="TY3" fmla="*/ 45287 h 452871"/>
              <a:gd name="TX4" fmla="*/ 1138814 w 1138816"/>
              <a:gd name="TY4" fmla="*/ 407582 h 452871"/>
              <a:gd name="TX5" fmla="*/ 1093527 w 1138816"/>
              <a:gd name="TY5" fmla="*/ 452869 h 452871"/>
              <a:gd name="TX6" fmla="*/ 45287 w 1138816"/>
              <a:gd name="TY6" fmla="*/ 452869 h 452871"/>
              <a:gd name="TX7" fmla="*/ 0 w 1138816"/>
              <a:gd name="TY7" fmla="*/ 407582 h 452871"/>
              <a:gd name="TX8" fmla="*/ 0 w 1138816"/>
              <a:gd name="TY8" fmla="*/ 45287 h 452871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138816" h="452871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txBody>
          <a:bodyPr vert="horz" wrap="square" lIns="60960" tIns="45085" rIns="60960" bIns="45085" anchor="ctr">
            <a:noAutofit/>
          </a:bodyPr>
          <a:lstStyle/>
          <a:p>
            <a:pPr marL="0" marR="0" lvl="0" indent="0" algn="ctr" defTabSz="111125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5" name="形状 16506"/>
          <p:cNvSpPr/>
          <p:nvPr/>
        </p:nvSpPr>
        <p:spPr>
          <a:xfrm>
            <a:off x="7179988" y="2783091"/>
            <a:ext cx="2247545" cy="1598930"/>
          </a:xfrm>
          <a:custGeom>
            <a:avLst/>
            <a:gdLst>
              <a:gd name="TX0" fmla="*/ 0 w 1281168"/>
              <a:gd name="TY0" fmla="*/ 105669 h 1056696"/>
              <a:gd name="TX1" fmla="*/ 105669 w 1281168"/>
              <a:gd name="TY1" fmla="*/ 0 h 1056696"/>
              <a:gd name="TX2" fmla="*/ 1175497 w 1281168"/>
              <a:gd name="TY2" fmla="*/ 0 h 1056696"/>
              <a:gd name="TX3" fmla="*/ 1281166 w 1281168"/>
              <a:gd name="TY3" fmla="*/ 105669 h 1056696"/>
              <a:gd name="TX4" fmla="*/ 1281166 w 1281168"/>
              <a:gd name="TY4" fmla="*/ 951025 h 1056696"/>
              <a:gd name="TX5" fmla="*/ 1175497 w 1281168"/>
              <a:gd name="TY5" fmla="*/ 1056694 h 1056696"/>
              <a:gd name="TX6" fmla="*/ 105669 w 1281168"/>
              <a:gd name="TY6" fmla="*/ 1056694 h 1056696"/>
              <a:gd name="TX7" fmla="*/ 0 w 1281168"/>
              <a:gd name="TY7" fmla="*/ 951025 h 1056696"/>
              <a:gd name="TX8" fmla="*/ 0 w 1281168"/>
              <a:gd name="TY8" fmla="*/ 105669 h 1056696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281168" h="1056696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ln w="28575" cap="flat" cmpd="sng">
            <a:solidFill>
              <a:srgbClr val="014076"/>
            </a:solidFill>
            <a:prstDash val="solid"/>
            <a:round/>
          </a:ln>
        </p:spPr>
        <p:txBody>
          <a:bodyPr vert="horz" wrap="square" lIns="91440" tIns="66040" rIns="66040" bIns="91440" anchor="t">
            <a:noAutofit/>
          </a:bodyPr>
          <a:lstStyle/>
          <a:p>
            <a:pPr marL="228600" marR="0" lvl="0" indent="-228600" algn="l" defTabSz="97790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±¼¸²"/>
              <a:buChar char="•"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6" name="形状 16507"/>
          <p:cNvSpPr/>
          <p:nvPr/>
        </p:nvSpPr>
        <p:spPr>
          <a:xfrm>
            <a:off x="8002593" y="4048669"/>
            <a:ext cx="1723390" cy="685800"/>
          </a:xfrm>
          <a:custGeom>
            <a:avLst/>
            <a:gdLst>
              <a:gd name="TX0" fmla="*/ 0 w 1138816"/>
              <a:gd name="TY0" fmla="*/ 45287 h 452871"/>
              <a:gd name="TX1" fmla="*/ 45287 w 1138816"/>
              <a:gd name="TY1" fmla="*/ 0 h 452871"/>
              <a:gd name="TX2" fmla="*/ 1093527 w 1138816"/>
              <a:gd name="TY2" fmla="*/ 0 h 452871"/>
              <a:gd name="TX3" fmla="*/ 1138814 w 1138816"/>
              <a:gd name="TY3" fmla="*/ 45287 h 452871"/>
              <a:gd name="TX4" fmla="*/ 1138814 w 1138816"/>
              <a:gd name="TY4" fmla="*/ 407582 h 452871"/>
              <a:gd name="TX5" fmla="*/ 1093527 w 1138816"/>
              <a:gd name="TY5" fmla="*/ 452869 h 452871"/>
              <a:gd name="TX6" fmla="*/ 45287 w 1138816"/>
              <a:gd name="TY6" fmla="*/ 452869 h 452871"/>
              <a:gd name="TX7" fmla="*/ 0 w 1138816"/>
              <a:gd name="TY7" fmla="*/ 407582 h 452871"/>
              <a:gd name="TX8" fmla="*/ 0 w 1138816"/>
              <a:gd name="TY8" fmla="*/ 45287 h 452871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138816" h="452871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txBody>
          <a:bodyPr vert="horz" wrap="square" lIns="60960" tIns="45085" rIns="60960" bIns="45085" anchor="ctr">
            <a:noAutofit/>
          </a:bodyPr>
          <a:lstStyle/>
          <a:p>
            <a:pPr marL="0" marR="0" lvl="0" indent="0" algn="ctr" defTabSz="111125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49" name="文本框 52"/>
          <p:cNvSpPr txBox="1"/>
          <p:nvPr/>
        </p:nvSpPr>
        <p:spPr>
          <a:xfrm>
            <a:off x="2918503" y="4171201"/>
            <a:ext cx="1266190" cy="39878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步骤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</p:txBody>
      </p:sp>
      <p:sp>
        <p:nvSpPr>
          <p:cNvPr id="50" name="文本框 53"/>
          <p:cNvSpPr txBox="1"/>
          <p:nvPr/>
        </p:nvSpPr>
        <p:spPr>
          <a:xfrm>
            <a:off x="5299753" y="2533015"/>
            <a:ext cx="1316990" cy="39878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步骤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</p:txBody>
      </p:sp>
      <p:sp>
        <p:nvSpPr>
          <p:cNvPr id="51" name="文本框 54"/>
          <p:cNvSpPr txBox="1"/>
          <p:nvPr/>
        </p:nvSpPr>
        <p:spPr>
          <a:xfrm>
            <a:off x="8248973" y="4186464"/>
            <a:ext cx="1230630" cy="40011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步骤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3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7"/>
          <p:cNvSpPr txBox="1"/>
          <p:nvPr/>
        </p:nvSpPr>
        <p:spPr>
          <a:xfrm>
            <a:off x="2331993" y="3212435"/>
            <a:ext cx="1794684" cy="460191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打开雷电模拟器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5" name="文本框 58"/>
          <p:cNvSpPr txBox="1"/>
          <p:nvPr/>
        </p:nvSpPr>
        <p:spPr>
          <a:xfrm>
            <a:off x="7188503" y="3164754"/>
            <a:ext cx="2247545" cy="460191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6" name="文本框 59"/>
          <p:cNvSpPr txBox="1"/>
          <p:nvPr/>
        </p:nvSpPr>
        <p:spPr>
          <a:xfrm>
            <a:off x="4843917" y="3041911"/>
            <a:ext cx="1894842" cy="13401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，获取需要测试的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包名和界面名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marL="0" lvl="2" defTabSz="914400">
              <a:spcBef>
                <a:spcPct val="0"/>
              </a:spcBef>
            </a:pP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7.3.6 App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测试入门示例</a:t>
            </a:r>
            <a:endParaRPr lang="zh-CN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5206" y="714773"/>
            <a:ext cx="1036800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下面以雷电模拟器中的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为例，演示如何打开“设置”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。首先创建一个名为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Test1.py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的文件，在该文件中编写自动化测试代码实现自动打开“设置”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2084959" y="2123840"/>
            <a:ext cx="8020494" cy="425539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time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appium.options.android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UiAutomator2Options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platformName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'Android'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platformVersion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'9'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deviceName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'emulator:5554'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appPackage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appActivity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'.Settings'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Options = UiAutomator2Options().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load_capabilities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 =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webdriver.Remote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("http://localhost:4723/wd/hub", options = Options)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driver.quit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766908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Appium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的基本应用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元素定位的方法，能够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界面中的元素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5" y="2408501"/>
            <a:ext cx="979347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如果测试的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界面元素有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resource-id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属性，并且该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属性唯一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，则可以调用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方法定位元素，该方法的语法格式如下。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55206" y="1197794"/>
            <a:ext cx="3168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resource-id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143690" y="3917763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(AppiumBy.ID, “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resource_id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5" y="2408501"/>
            <a:ext cx="9704987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定位的方法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方法定位元素，该方法的语法格式如下。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55206" y="1197794"/>
            <a:ext cx="2376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class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143690" y="3917763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AppiumBy.CLASS_NAME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“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class_name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89" y="4869794"/>
            <a:ext cx="9704987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上述方法中的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class_name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，需要注意的是，在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的同一个界面中，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通常有多个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，因此在调用该方法定位元素时，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需要验证元素的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是否唯一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5" y="2408501"/>
            <a:ext cx="979347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当测试的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界面元素有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content-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方法定位元素，该方法的语法格式如下。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55206" y="1197794"/>
            <a:ext cx="3168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content-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desc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143690" y="3917763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AppiumBy.ACCESSIBILITY_ID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“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accessibility_id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89" y="4869794"/>
            <a:ext cx="10063517" cy="496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上述方法中的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accessibility_id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的取值是属性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content-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6" y="2277794"/>
            <a:ext cx="957600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定位是根据元素的路径表达式选取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文档中的节点或节点集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，如果需要通过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定位元素时，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依然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方法，该方法的语法格式如下。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055206" y="1197794"/>
            <a:ext cx="2952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xpath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143690" y="3917763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find_element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89" y="4869794"/>
            <a:ext cx="100635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上述方法中的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表示元素的相对路径或绝对路径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绝对路径是从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根节点开始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相对路径则是从任意节点开始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3" name="矩形 2"/>
          <p:cNvSpPr/>
          <p:nvPr/>
        </p:nvSpPr>
        <p:spPr>
          <a:xfrm>
            <a:off x="1135448" y="1927274"/>
            <a:ext cx="9847516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下面以雷电模拟器中的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元素定位方法来定位“设置”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中设置界面的元素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，并对这些元素进行相应的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单击与输入操作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，以定位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放大镜图标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返回图标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等元素为例进行演示。创建一个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Test2.py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文件，在该文件中对设置界面元素进行定位与操作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39206" y="1664216"/>
            <a:ext cx="10440000" cy="291757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矩形 93"/>
          <p:cNvSpPr/>
          <p:nvPr/>
        </p:nvSpPr>
        <p:spPr>
          <a:xfrm>
            <a:off x="748995" y="1616719"/>
            <a:ext cx="409364" cy="602149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 rot="10800000">
            <a:off x="10869842" y="3979645"/>
            <a:ext cx="409364" cy="602149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/>
          <p:cNvSpPr txBox="1"/>
          <p:nvPr/>
        </p:nvSpPr>
        <p:spPr>
          <a:xfrm>
            <a:off x="1343206" y="981794"/>
            <a:ext cx="9704987" cy="544488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time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appium.options.android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UiAutomator2Options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appium.webdriver.common.appiumby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'Android'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platformVersion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'9'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deviceName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'emulator:5554'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appPackage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appActivity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'.Settings'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automationName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'UiAutomator2'  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明确指定自动化引擎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Options = UiAutomator2Options().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load_capabilities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webdriver.Remote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("http://localhost:4723/wd/hub", options = Options)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/>
          <p:cNvSpPr txBox="1"/>
          <p:nvPr/>
        </p:nvSpPr>
        <p:spPr>
          <a:xfrm>
            <a:off x="752959" y="960578"/>
            <a:ext cx="10684494" cy="58603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resource-id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定位放大镜图标并单击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(AppiumBy.ID,"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com.android.settings:id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search_bar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").click()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定位输入框并输入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input_box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(AppiumBy.ID,"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android:id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search_src_text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input_box.send_keys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电池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定位返回图标并单击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return_icon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,"//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android.widget.ImageButton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[@content-desc='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向上导航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‘]“).click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content-desc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定位放大镜图标并单击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AppiumBy.ACCESSIBILITY_ID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向上导航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").click()</a:t>
            </a: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秒后退出“设置”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并关闭驱动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driver.quit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元素操作的方法，能够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界面中的元素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</a:p>
        </p:txBody>
      </p:sp>
      <p:sp>
        <p:nvSpPr>
          <p:cNvPr id="10" name="矩形 9"/>
          <p:cNvSpPr/>
          <p:nvPr/>
        </p:nvSpPr>
        <p:spPr>
          <a:xfrm>
            <a:off x="4403208" y="2083337"/>
            <a:ext cx="7272000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中基本元素操作通过定位元素（如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XPath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等方式）后进行，常用方法包括：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click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点击元素、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send_keys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输入文本、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清空输入框、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get_text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获取元素文本、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is_displayed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判断元素是否可见、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get_attribute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获取元素属性，这些方法通过客户端库（如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Appium-Python-Client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）调用，实现对移动应用界面元素的自动化控制。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8" y="1484232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</a:p>
        </p:txBody>
      </p:sp>
      <p:sp>
        <p:nvSpPr>
          <p:cNvPr id="2" name="矩形 1"/>
          <p:cNvSpPr/>
          <p:nvPr/>
        </p:nvSpPr>
        <p:spPr>
          <a:xfrm>
            <a:off x="1143635" y="1197794"/>
            <a:ext cx="5264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元素操作的常用方法和属性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3696930"/>
              </p:ext>
            </p:extLst>
          </p:nvPr>
        </p:nvGraphicFramePr>
        <p:xfrm>
          <a:off x="1156334" y="2061794"/>
          <a:ext cx="9991571" cy="302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0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is_displayed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()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该方法用于判断元素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是否可见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，返回结果为布尔值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is_enabled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()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该方法用于判断元素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是否可用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，返回结果为布尔值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is_selected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()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该方法用于判断元素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是否被选中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，返回结果为布尔值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text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该属性用于获取元素的</a:t>
                      </a:r>
                      <a:r>
                        <a:rPr lang="en-US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text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值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，返回结果为元素的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text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属性值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8927798"/>
              </p:ext>
            </p:extLst>
          </p:nvPr>
        </p:nvGraphicFramePr>
        <p:xfrm>
          <a:off x="1143635" y="1845794"/>
          <a:ext cx="9991571" cy="3219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tag_name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该属性用于获取元素的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标签名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App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中的原生应用没有标签名，默认为</a:t>
                      </a: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None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size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该属性用于获取元素的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宽和高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，返回结果为字典类型的数据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location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该属性用于获取元素的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坐标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，返回结果为字典类型的数据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rect</a:t>
                      </a:r>
                      <a:endParaRPr lang="zh-CN" alt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该属性用于获取元素的</a:t>
                      </a:r>
                      <a:r>
                        <a:rPr lang="zh-CN" altLang="zh-CN" sz="2000" kern="12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宽、高和坐标</a:t>
                      </a:r>
                      <a:r>
                        <a:rPr lang="zh-CN" alt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，返回结果为字典类型的数据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元素操作</a:t>
            </a:r>
          </a:p>
        </p:txBody>
      </p:sp>
      <p:sp>
        <p:nvSpPr>
          <p:cNvPr id="3" name="矩形 2"/>
          <p:cNvSpPr/>
          <p:nvPr/>
        </p:nvSpPr>
        <p:spPr>
          <a:xfrm>
            <a:off x="983206" y="1386414"/>
            <a:ext cx="107835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下面以雷电模拟器中的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为例，演示常用的方法和属性。创建一个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Test3.py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文件，在该文件中首先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中设置界面的蓝牙“开启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关闭”按钮是否可见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被选中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依次输出判断结果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获取蓝牙“开启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关闭”按钮的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依次输出获取结果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BEC7-E46B-21C0-4318-E02269D6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7FE0-205E-93D0-BE31-AF2ED7503BB7}"/>
              </a:ext>
            </a:extLst>
          </p:cNvPr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FE9253D7-4196-56BF-EDA0-27CFDEFE0F00}"/>
              </a:ext>
            </a:extLst>
          </p:cNvPr>
          <p:cNvSpPr txBox="1"/>
          <p:nvPr/>
        </p:nvSpPr>
        <p:spPr>
          <a:xfrm>
            <a:off x="1343206" y="981794"/>
            <a:ext cx="9704987" cy="544488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time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appium.options.android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UiAutomator2Options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appium.webdriver.common.appiumby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'Android'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platformVersion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'9'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deviceName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'emulator:5554'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appPackage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appActivity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'.Settings'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automationName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'UiAutomator2'  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明确指定自动化引擎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Options = UiAutomator2Options().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load_capabilities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webdriver.Remote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("http://localhost:4723/wd/hub", options = Options)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924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3C1D-82A8-A947-A1B9-41D796FA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9450-EEC5-AE59-A6EE-9330D73AA483}"/>
              </a:ext>
            </a:extLst>
          </p:cNvPr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BE896428-E31B-2280-8C59-4B2D324CF2B7}"/>
              </a:ext>
            </a:extLst>
          </p:cNvPr>
          <p:cNvSpPr txBox="1"/>
          <p:nvPr/>
        </p:nvSpPr>
        <p:spPr>
          <a:xfrm>
            <a:off x="752959" y="773081"/>
            <a:ext cx="10684494" cy="58603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1.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定位并点击网络选项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Internet_Options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,"//*[@text='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网络和互联网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']").click()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2.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定位网络开关按钮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(AppiumBy.ID,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com.android.settings:id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switchWidget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3.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执行各项属性检查并输出结果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网络开关是否可见：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Internet_button.is_displayed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网络开关是否可用：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Internet_button.is_enabled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网络开关是否被选中（开启状态）：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Internet_button.is_selected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网络开关的文本内容：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Internet_button.text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网络开关的标签名：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Internet_button.tag_name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网络开关的宽高：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Internet_button.size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网络开关的坐标：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Internet_button.location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print("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网络开关的宽高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Internet_button.rect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986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手势操作的方法，能够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界面中的元素进行手势操作</a:t>
            </a:r>
          </a:p>
          <a:p>
            <a:pPr lvl="0">
              <a:lnSpc>
                <a:spcPct val="150000"/>
              </a:lnSpc>
              <a:defRPr/>
            </a:pPr>
            <a:endParaRPr lang="zh-CN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7111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235207" y="1671979"/>
            <a:ext cx="6768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使用智能手机、平板电脑等移动设备时，为了保护个人隐私，通常会设置锁屏密码，如果设置数字锁屏密码，则需要通过手指按下屏幕中的数字按键，输入正确的密码完成开锁；如果设置图案锁屏密码，则需要通过手指完成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抬起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的操作，最后绘制开锁的图案。除此之外，在使用移动设备时，还会经常进行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拖曳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等操作，在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中这些操作统一称为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手势操作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16" name="Picture 2" descr="C:\Users\admin\Desktop\QQ截图202011091636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>
            <a:fillRect/>
          </a:stretch>
        </p:blipFill>
        <p:spPr bwMode="auto">
          <a:xfrm flipH="1">
            <a:off x="8458200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111174" y="1896678"/>
            <a:ext cx="979347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轻敲操作指的是模拟手指对某个元素或点按下并快速抬起的操作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，实现轻敲操作时需要调用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clickGesture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方法，该方法的语法格式如下所示。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43690" y="1188885"/>
            <a:ext cx="1872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轻敲操作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1174" y="5420891"/>
            <a:ext cx="9750921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为屏幕绝对坐标；也可传入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对元素中心点击。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F5C0E690-6983-6CD7-BD1F-DAD328A2D47B}"/>
              </a:ext>
            </a:extLst>
          </p:cNvPr>
          <p:cNvSpPr txBox="1"/>
          <p:nvPr/>
        </p:nvSpPr>
        <p:spPr>
          <a:xfrm>
            <a:off x="1242712" y="3429794"/>
            <a:ext cx="9704987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("mobile: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clickGesture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{ "x": 300,  "y": 600})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143690" y="2247087"/>
            <a:ext cx="921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长按操作是模拟手指按下元素或坐标后，等待一段时间的操作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。例如，长按某个按钮一段时间后会弹出菜单。实现长按操作时需要调用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longClickGesture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方法，该方法的语法格式如下所示。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308633" y="3724415"/>
            <a:ext cx="8890573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(“mobile: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longClickGesture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”,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{“x”: 300,“y”: 600,“duration”: 2000})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6793" y="4941794"/>
            <a:ext cx="931041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duration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为按住时长，单位毫秒；可结合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对元素长按。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143690" y="1188885"/>
            <a:ext cx="1872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长按操作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143689" y="2205794"/>
            <a:ext cx="9616503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个方法实现滑动操作，这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个方法分别是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swipeGesture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scrollGesture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方法，其中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方法实现的滑动操作也可以称为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滚动操作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143690" y="1188885"/>
            <a:ext cx="1872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滑动操作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242712" y="2834307"/>
            <a:ext cx="9704987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("mobile: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swipeGesture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{   "left": 100, "top": 500, "width": 900, "height": 200,    "direction": "down",    "percent": 0.8,    "speed": 5000})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1415" y="927909"/>
            <a:ext cx="10351516" cy="17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）通过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swipeGesture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方法实现滑动操作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swipeGesture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模拟手指在屏幕限定区域内快速滑动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的手势命令。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执行时，手指会按照指定的方向与距离完成一次滑移操作，并在抬起后产生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惯性滚动效果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，适用于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快速翻页、快速浏览列表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等场景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9B23B5-12D9-7995-02B0-56F648438089}"/>
              </a:ext>
            </a:extLst>
          </p:cNvPr>
          <p:cNvSpPr txBox="1"/>
          <p:nvPr/>
        </p:nvSpPr>
        <p:spPr>
          <a:xfrm>
            <a:off x="1041415" y="4005794"/>
            <a:ext cx="10507124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其中，参数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width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用于定义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滑动手势的可视区域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，表示手指滑动操作的有效范围；</a:t>
            </a:r>
            <a:b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direction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表示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滑动方向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，可选值为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"up"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"down"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"left"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或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"right"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控制手指滑动的朝向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b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percent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表示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滑动距离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，单位为可视区域高度或宽度的倍数，例如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0.8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表示滑动距离为区域高度的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80%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b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speed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为可选参数，用于设置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滑动速度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，单位为像素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秒，数值越大滑动越快。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1274223" y="2783716"/>
            <a:ext cx="9704987" cy="87440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("mobile: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scrollGesture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{    "left": 100,    "top": 100,    "width": 900,    "height": 1600,    "direction": "down",    "percent": 0.5})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11201" y="909794"/>
            <a:ext cx="9768009" cy="17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）通过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scrollGesture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方法实现滑动操作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scrollGesture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模拟手指在屏幕限定区域内持续滑动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的手势命令。</a:t>
            </a:r>
          </a:p>
          <a:p>
            <a:pPr indent="457200"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与快速滑动不同，该命令更适合用于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需要多次滑动或平滑滚动到指定位置的场景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，如长列表滚动、网页内容浏览等。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35205" y="3754424"/>
            <a:ext cx="9720000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其中，参数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width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height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表示滑动区域的位置和大小；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direction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表示滑动方向（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down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）；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percent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表示滑动距离，单位为可视区域高度的倍数；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可选参数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speed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用于控制滑动速度，单位为像素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38F4A3-8081-44D0-552B-A2E1FF46F54D}"/>
              </a:ext>
            </a:extLst>
          </p:cNvPr>
          <p:cNvSpPr txBox="1"/>
          <p:nvPr/>
        </p:nvSpPr>
        <p:spPr>
          <a:xfrm>
            <a:off x="1255931" y="5464898"/>
            <a:ext cx="6096000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它也支持“起点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终点”形式的参数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F5B1F4-DA05-F380-B702-C15F560FC932}"/>
              </a:ext>
            </a:extLst>
          </p:cNvPr>
          <p:cNvSpPr txBox="1"/>
          <p:nvPr/>
        </p:nvSpPr>
        <p:spPr>
          <a:xfrm>
            <a:off x="1255931" y="6069762"/>
            <a:ext cx="9879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('mobile: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swipeGesture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{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': 900,'startY': 500,'endX': 100,'endY': 500, 'duration': 500  # 0.5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秒内完成滑动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/>
          <p:cNvSpPr txBox="1"/>
          <p:nvPr/>
        </p:nvSpPr>
        <p:spPr>
          <a:xfrm>
            <a:off x="1055206" y="2013692"/>
            <a:ext cx="9648000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mobile: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dragGesture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是一种用于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模拟手指在屏幕上拖拽元素或对象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的手势命令。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执行时，手指会从一个起始位置按下并持续移动至目标位置，再抬起手指，整个过程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无惯性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，适用于拖拽排序、拖拽文件、拖拽图标等场景。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1055206" y="3662096"/>
            <a:ext cx="9288000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driver.execute_script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("mobile: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dragGesture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", {    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100,    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500,    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300,    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500,    "steps": 50})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206" y="4759095"/>
            <a:ext cx="9576000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其中，参数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表示拖拽起始位置的屏幕坐标；</a:t>
            </a:r>
          </a:p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表示拖拽目标位置的屏幕坐标；</a:t>
            </a:r>
          </a:p>
          <a:p>
            <a:pPr indent="457200"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steps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为可选参数，用于控制拖拽过程的平滑程度，表示从起始位置到目标位置中间插入的步数，数值越大拖拽过程越平滑，一般建议使用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至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之间。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43690" y="1188885"/>
            <a:ext cx="1872000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拖曳操作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4E3B-101F-AB2F-05F0-D957596D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D8A414C9-0EAE-AE66-922A-5D799EB5AD8E}"/>
              </a:ext>
            </a:extLst>
          </p:cNvPr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10" name="原创设计师QQ598969553          _9">
            <a:extLst>
              <a:ext uri="{FF2B5EF4-FFF2-40B4-BE49-F238E27FC236}">
                <a16:creationId xmlns:a16="http://schemas.microsoft.com/office/drawing/2014/main" id="{F35B8F1B-DCAC-0688-156B-2478C4B2E889}"/>
              </a:ext>
            </a:extLst>
          </p:cNvPr>
          <p:cNvSpPr txBox="1"/>
          <p:nvPr/>
        </p:nvSpPr>
        <p:spPr>
          <a:xfrm>
            <a:off x="839206" y="2281008"/>
            <a:ext cx="10044000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PointerInput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是一种低级手势模拟方式，可用于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构建包含多个中间点、停顿、长按、曲线等复杂路径的触摸操作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适用于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需要精确控制手势轨迹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的场景，如绘制图案、密码手势解锁、连续折线滑动等。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该方式通过构建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ActionBuilder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对象并添加多个触摸事件实现，语法格式如下：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914BE86-3112-01C6-2277-407300C559C4}"/>
              </a:ext>
            </a:extLst>
          </p:cNvPr>
          <p:cNvSpPr/>
          <p:nvPr/>
        </p:nvSpPr>
        <p:spPr>
          <a:xfrm>
            <a:off x="1143690" y="1188885"/>
            <a:ext cx="2143516" cy="664743"/>
          </a:xfrm>
          <a:prstGeom prst="roundRect">
            <a:avLst/>
          </a:prstGeom>
          <a:solidFill>
            <a:srgbClr val="1369B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复杂路径手势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80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41CF-1C70-0F3F-ADDF-434ACBE5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26E3BAC2-F284-9E18-23A8-1991AA109F75}"/>
              </a:ext>
            </a:extLst>
          </p:cNvPr>
          <p:cNvSpPr txBox="1"/>
          <p:nvPr/>
        </p:nvSpPr>
        <p:spPr>
          <a:xfrm>
            <a:off x="1143690" y="266995"/>
            <a:ext cx="423151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8B332B39-5718-7D85-64BC-9A5A4A1F14B6}"/>
              </a:ext>
            </a:extLst>
          </p:cNvPr>
          <p:cNvSpPr txBox="1"/>
          <p:nvPr/>
        </p:nvSpPr>
        <p:spPr>
          <a:xfrm>
            <a:off x="1343206" y="895154"/>
            <a:ext cx="9288000" cy="37312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PointerInput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interaction.POINTER_TOUCH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"finger")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ActionBuilder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(driver, mouse=pointer)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(240, 976)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actions.pointer_action.pointer_down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(840, 1576)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actions.pointer_action.pause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(0.5)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actions.pointer_action.release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actions.perform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1E5DD2-8E1D-E0A6-E2DB-C38685A9A669}"/>
              </a:ext>
            </a:extLst>
          </p:cNvPr>
          <p:cNvSpPr txBox="1"/>
          <p:nvPr/>
        </p:nvSpPr>
        <p:spPr>
          <a:xfrm>
            <a:off x="551206" y="4626432"/>
            <a:ext cx="109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：用于定义一个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“指针输入源”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，这里指定为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interaction.POINTER_TOUCH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（触摸类型），名称为 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finger”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ActionBuilder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构建一系列连续的手势动作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，将指针输入与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驱动（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）绑定，后续的手势操作都通过它来定义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move_to_location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用于移动手指到指定坐标；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pointer_down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表示手指按下；</a:t>
            </a:r>
            <a:b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pointer_up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表示手指抬起；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pause()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表示手指停留时间，单位为秒；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release()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表示释放当前手势。</a:t>
            </a:r>
          </a:p>
        </p:txBody>
      </p:sp>
    </p:spTree>
    <p:extLst>
      <p:ext uri="{BB962C8B-B14F-4D97-AF65-F5344CB8AC3E}">
        <p14:creationId xmlns:p14="http://schemas.microsoft.com/office/powerpoint/2010/main" val="156940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手势操作</a:t>
            </a:r>
          </a:p>
        </p:txBody>
      </p:sp>
      <p:sp>
        <p:nvSpPr>
          <p:cNvPr id="3" name="矩形 2"/>
          <p:cNvSpPr/>
          <p:nvPr/>
        </p:nvSpPr>
        <p:spPr>
          <a:xfrm>
            <a:off x="1135448" y="1053794"/>
            <a:ext cx="9847516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雷电模拟器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“设置”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为例，演示如何在程序中调用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Appium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手势操作的方法。创建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Test4.py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文件，然后在该文件中实现以下操作。</a:t>
            </a:r>
          </a:p>
        </p:txBody>
      </p:sp>
      <p:sp>
        <p:nvSpPr>
          <p:cNvPr id="4" name="矩形 3"/>
          <p:cNvSpPr/>
          <p:nvPr/>
        </p:nvSpPr>
        <p:spPr>
          <a:xfrm>
            <a:off x="1559206" y="2565794"/>
            <a:ext cx="7704000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在设置界面滑动屏幕找到安全选项并点击。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在安全界面点击屏幕锁定。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在选择屏幕锁定方式界面点击图案选项。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在绘制解锁图案界面中绘制“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”解屏图案，等待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秒后退出雷电模拟器。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23F7-9485-EE95-9BBE-1B96A962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BB07-CCE5-9279-C631-B05BD66BAEE7}"/>
              </a:ext>
            </a:extLst>
          </p:cNvPr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51230185-8E6A-C621-6629-FF5B01DE89BF}"/>
              </a:ext>
            </a:extLst>
          </p:cNvPr>
          <p:cNvSpPr txBox="1"/>
          <p:nvPr/>
        </p:nvSpPr>
        <p:spPr>
          <a:xfrm>
            <a:off x="1343206" y="981794"/>
            <a:ext cx="9704987" cy="544488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time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appium.options.android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UiAutomator2Options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appium.webdriver.common.appiumby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'Android'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platformVersion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'9'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deviceName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'emulator:5554'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appPackage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com.android.settings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appActivity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'.Settings'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automationName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= 'UiAutomator2'  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明确指定自动化引擎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Options = UiAutomator2Options().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load_capabilities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desired_caps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webdriver.Remote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("http://localhost:4723/wd/hub", options = Options)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876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48A8-00C9-D257-6231-3D814612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F4CB-BA1D-A745-99B1-66A2E7B0DDDB}"/>
              </a:ext>
            </a:extLst>
          </p:cNvPr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2F3834A7-0B72-4D72-2924-19AD41AF0E5E}"/>
              </a:ext>
            </a:extLst>
          </p:cNvPr>
          <p:cNvSpPr txBox="1"/>
          <p:nvPr/>
        </p:nvSpPr>
        <p:spPr>
          <a:xfrm>
            <a:off x="752959" y="773081"/>
            <a:ext cx="10684494" cy="544488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# 1.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滑动屏幕找“安全”选项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driver.swipe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start_x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=900,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start_y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=250,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end_x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=900,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end_y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=100, duration=1000)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driver.swipe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start_x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=900,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start_y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=500,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end_x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=900,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end_y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=250, duration=1000)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# 2.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点击“安全”选项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"//*[@text='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安全性和位置信息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']").click()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# 3.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点击“屏幕锁定”选项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"//*[@text='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屏幕锁定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']").click()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# 5.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选择“图案”锁屏方式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driver.find_element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AppiumBy.XPATH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"//*[@text='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']").click()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  #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等待图案绘制界面加载完成</a:t>
            </a:r>
          </a:p>
        </p:txBody>
      </p:sp>
    </p:spTree>
    <p:extLst>
      <p:ext uri="{BB962C8B-B14F-4D97-AF65-F5344CB8AC3E}">
        <p14:creationId xmlns:p14="http://schemas.microsoft.com/office/powerpoint/2010/main" val="62080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4EF0-A77D-EFB5-C612-B7F98810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E74E-85B7-5DB4-A6ED-63B1B50AF352}"/>
              </a:ext>
            </a:extLst>
          </p:cNvPr>
          <p:cNvSpPr txBox="1"/>
          <p:nvPr/>
        </p:nvSpPr>
        <p:spPr>
          <a:xfrm>
            <a:off x="1143690" y="266995"/>
            <a:ext cx="682351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7.4.1 </a:t>
            </a: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Appium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</a:t>
            </a: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A22D6E48-D1AD-0DD0-6F52-A4CEF5ABF985}"/>
              </a:ext>
            </a:extLst>
          </p:cNvPr>
          <p:cNvSpPr txBox="1"/>
          <p:nvPr/>
        </p:nvSpPr>
        <p:spPr>
          <a:xfrm>
            <a:off x="752959" y="773081"/>
            <a:ext cx="10684494" cy="587122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初始化指针输入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 =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PointerInput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interaction.POINTER_TOUCH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"finger")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actions =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ActionBuilder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(driver, mouse=pointer)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# 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开始手势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(810, 540)  # 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移动到起始点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actions.pointer_action.pointer_down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              # 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按下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 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每次移动后暂停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0.5</a:t>
            </a: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秒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(810, 680)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actions.pointer_action.pause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(0.5)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(810, 820)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actions.pointer_action.pause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(0.5)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(950, 820)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actions.pointer_action.pause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(0.5)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actions.pointer_action.move_to_location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(1090, 820)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actions.pointer_action.pause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(0.5)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actions.pointer_action.release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actions.perform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time.sleep</a:t>
            </a:r>
            <a:r>
              <a:rPr lang="en-US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(5)</a:t>
            </a:r>
          </a:p>
        </p:txBody>
      </p:sp>
    </p:spTree>
    <p:extLst>
      <p:ext uri="{BB962C8B-B14F-4D97-AF65-F5344CB8AC3E}">
        <p14:creationId xmlns:p14="http://schemas.microsoft.com/office/powerpoint/2010/main" val="115138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7f8e4a56fc57c2e92e6fdc581ab83ee55365e"/>
  <p:tag name="KSO_WPP_MARK_KEY" val="f71d5144-0573-45f9-bb21-9102466a32de"/>
  <p:tag name="COMMONDATA" val="eyJoZGlkIjoiNDY0OTc4MTEzM2QwNzhhZWVhYWUxYmE3MGYxNjJl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89*367"/>
  <p:tag name="TABLE_ENDDRAG_RECT" val="148*117*689*36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89*367"/>
  <p:tag name="TABLE_ENDDRAG_RECT" val="148*117*689*36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89*367"/>
  <p:tag name="TABLE_ENDDRAG_RECT" val="148*117*689*36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689*367"/>
  <p:tag name="TABLE_ENDDRAG_RECT" val="148*117*689*367"/>
</p:tagLst>
</file>

<file path=ppt/theme/theme1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</TotalTime>
  <Words>8807</Words>
  <Application>Microsoft Office PowerPoint</Application>
  <PresentationFormat>自定义</PresentationFormat>
  <Paragraphs>701</Paragraphs>
  <Slides>108</Slides>
  <Notes>108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15" baseType="lpstr">
      <vt:lpstr>±¼¸²</vt:lpstr>
      <vt:lpstr>微软雅黑</vt:lpstr>
      <vt:lpstr>字魂105号-简雅黑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磊 饶</cp:lastModifiedBy>
  <cp:revision>14</cp:revision>
  <dcterms:created xsi:type="dcterms:W3CDTF">2020-09-03T07:01:00Z</dcterms:created>
  <dcterms:modified xsi:type="dcterms:W3CDTF">2025-12-14T13:38:29Z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73267FFA9B5E4B43A6BD5025191E9EAE_13</vt:lpwstr>
  </property>
</Properties>
</file>